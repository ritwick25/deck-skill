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1pPr>
    <a:lvl2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2pPr>
    <a:lvl3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3pPr>
    <a:lvl4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4pPr>
    <a:lvl5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5pPr>
    <a:lvl6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6pPr>
    <a:lvl7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7pPr>
    <a:lvl8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8pPr>
    <a:lvl9pPr marL="0" indent="0" algn="l" defTabSz="914400" rtl="0" eaLnBrk="1" latinLnBrk="0" hangingPunct="1">
      <a:lnSpc>
        <a:spcPct val="100000"/>
      </a:lnSpc>
      <a:spcBef>
        <a:spcPts val="0"/>
      </a:spcBef>
      <a:buNone/>
      <a:defRPr sz="110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2100" b="1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sz="11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olution-architecture:bounded-core-side-columns">
    <p:spTree>
      <p:nvGrpSpPr>
        <p:cNvPr id="1" name=""/>
        <p:cNvGrpSpPr/>
        <p:nvPr/>
      </p:nvGrpSpPr>
      <p:grpSpPr/>
      <p:sp>
        <p:nvSpPr>
          <p:cNvPr id="2" name="struct.page"/>
          <p:cNvSpPr/>
          <p:nvPr/>
        </p:nvSpPr>
        <p:spPr>
          <a:xfrm>
            <a:off x="0" y="0"/>
            <a:ext cx="12191695" cy="685782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slot.title"/>
          <p:cNvSpPr txBox="1"/>
          <p:nvPr/>
        </p:nvSpPr>
        <p:spPr>
          <a:xfrm>
            <a:off x="118872" y="91440"/>
            <a:ext cx="11951208" cy="457200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kern="0" dirty="0">
                <a:solidFill>
                  <a:schemeClr val="accent1"/>
                </a:solidFill>
                <a:latin typeface="Arial"/>
                <a:ea typeface="Arial"/>
                <a:cs typeface="Arial"/>
              </a:rPr>
              <a:t>One governed platform</a:t>
            </a:r>
            <a:r>
              <a:rPr lang="en-US" sz="2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 serves every agent from shared, certified data</a:t>
            </a:r>
            <a:endParaRPr lang="en-US" sz="2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truct.sources.frame"/>
          <p:cNvSpPr/>
          <p:nvPr/>
        </p:nvSpPr>
        <p:spPr>
          <a:xfrm>
            <a:off x="121917" y="609585"/>
            <a:ext cx="1463003" cy="612632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slot.sources.tab"/>
          <p:cNvSpPr/>
          <p:nvPr/>
        </p:nvSpPr>
        <p:spPr>
          <a:xfrm>
            <a:off x="121917" y="609585"/>
            <a:ext cx="1463003" cy="2926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Sources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slot.sources.group.1"/>
          <p:cNvSpPr txBox="1"/>
          <p:nvPr/>
        </p:nvSpPr>
        <p:spPr>
          <a:xfrm>
            <a:off x="195067" y="999719"/>
            <a:ext cx="1316703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Operational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struct.source.1.card"/>
          <p:cNvSpPr/>
          <p:nvPr/>
        </p:nvSpPr>
        <p:spPr>
          <a:xfrm>
            <a:off x="195067" y="1170403"/>
            <a:ext cx="1316703" cy="38048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slot.source.1.label"/>
          <p:cNvSpPr txBox="1"/>
          <p:nvPr/>
        </p:nvSpPr>
        <p:spPr>
          <a:xfrm>
            <a:off x="499860" y="1170403"/>
            <a:ext cx="963144" cy="38048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ERP ledger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" name="struct.source.2.card"/>
          <p:cNvSpPr/>
          <p:nvPr/>
        </p:nvSpPr>
        <p:spPr>
          <a:xfrm>
            <a:off x="195067" y="1587460"/>
            <a:ext cx="1316703" cy="38048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" name="slot.source.2.label"/>
          <p:cNvSpPr txBox="1"/>
          <p:nvPr/>
        </p:nvSpPr>
        <p:spPr>
          <a:xfrm>
            <a:off x="499860" y="1587460"/>
            <a:ext cx="963144" cy="38048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CRM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struct.source.3.card"/>
          <p:cNvSpPr/>
          <p:nvPr/>
        </p:nvSpPr>
        <p:spPr>
          <a:xfrm>
            <a:off x="195067" y="2004518"/>
            <a:ext cx="1316703" cy="38048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slot.source.3.label"/>
          <p:cNvSpPr txBox="1"/>
          <p:nvPr/>
        </p:nvSpPr>
        <p:spPr>
          <a:xfrm>
            <a:off x="499860" y="2004518"/>
            <a:ext cx="963144" cy="380482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Orders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lot.sources.more.1"/>
          <p:cNvSpPr/>
          <p:nvPr/>
        </p:nvSpPr>
        <p:spPr>
          <a:xfrm>
            <a:off x="195067" y="2421575"/>
            <a:ext cx="1316703" cy="380482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54864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+4 more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slot.sources.group.2"/>
          <p:cNvSpPr txBox="1"/>
          <p:nvPr/>
        </p:nvSpPr>
        <p:spPr>
          <a:xfrm>
            <a:off x="195067" y="2887400"/>
            <a:ext cx="1316703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Documents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truct.source.4.card"/>
          <p:cNvSpPr/>
          <p:nvPr/>
        </p:nvSpPr>
        <p:spPr>
          <a:xfrm>
            <a:off x="192024" y="3058084"/>
            <a:ext cx="1316736" cy="493776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8" name="slot.source.4.label"/>
          <p:cNvSpPr txBox="1"/>
          <p:nvPr/>
        </p:nvSpPr>
        <p:spPr>
          <a:xfrm>
            <a:off x="502920" y="3058084"/>
            <a:ext cx="960120" cy="49377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Contracts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truct.source.5.card"/>
          <p:cNvSpPr/>
          <p:nvPr/>
        </p:nvSpPr>
        <p:spPr>
          <a:xfrm>
            <a:off x="192024" y="3629584"/>
            <a:ext cx="1316736" cy="493776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0" name="slot.source.5.label"/>
          <p:cNvSpPr txBox="1"/>
          <p:nvPr/>
        </p:nvSpPr>
        <p:spPr>
          <a:xfrm>
            <a:off x="502920" y="3629584"/>
            <a:ext cx="960120" cy="49377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Tickets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slot.sources.more.2"/>
          <p:cNvSpPr/>
          <p:nvPr/>
        </p:nvSpPr>
        <p:spPr>
          <a:xfrm>
            <a:off x="192024" y="4201083"/>
            <a:ext cx="1316736" cy="493776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54864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+2 more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slot.sources.group.3"/>
          <p:cNvSpPr txBox="1"/>
          <p:nvPr/>
        </p:nvSpPr>
        <p:spPr>
          <a:xfrm>
            <a:off x="195067" y="4775081"/>
            <a:ext cx="1316703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External feeds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struct.source.6.card"/>
          <p:cNvSpPr/>
          <p:nvPr/>
        </p:nvSpPr>
        <p:spPr>
          <a:xfrm>
            <a:off x="192024" y="4945764"/>
            <a:ext cx="1316736" cy="493776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4" name="slot.source.6.label"/>
          <p:cNvSpPr txBox="1"/>
          <p:nvPr/>
        </p:nvSpPr>
        <p:spPr>
          <a:xfrm>
            <a:off x="502920" y="4945764"/>
            <a:ext cx="960120" cy="49377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Market prices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struct.source.7.card"/>
          <p:cNvSpPr/>
          <p:nvPr/>
        </p:nvSpPr>
        <p:spPr>
          <a:xfrm>
            <a:off x="192024" y="5517264"/>
            <a:ext cx="1316736" cy="493776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6" name="slot.source.7.label"/>
          <p:cNvSpPr txBox="1"/>
          <p:nvPr/>
        </p:nvSpPr>
        <p:spPr>
          <a:xfrm>
            <a:off x="502920" y="5517264"/>
            <a:ext cx="960120" cy="49377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Partner files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slot.sources.more.3"/>
          <p:cNvSpPr/>
          <p:nvPr/>
        </p:nvSpPr>
        <p:spPr>
          <a:xfrm>
            <a:off x="192024" y="6088764"/>
            <a:ext cx="1316736" cy="493776"/>
          </a:xfrm>
          <a:prstGeom prst="rect">
            <a:avLst/>
          </a:prstGeom>
          <a:solidFill>
            <a:schemeClr val="bg1"/>
          </a:solidFill>
          <a:ln w="381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54864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+3 more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truct.consumers.frame"/>
          <p:cNvSpPr/>
          <p:nvPr/>
        </p:nvSpPr>
        <p:spPr>
          <a:xfrm>
            <a:off x="10606773" y="609585"/>
            <a:ext cx="1463003" cy="612632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9" name="slot.consumers.tab"/>
          <p:cNvSpPr/>
          <p:nvPr/>
        </p:nvSpPr>
        <p:spPr>
          <a:xfrm>
            <a:off x="10606773" y="609585"/>
            <a:ext cx="1463003" cy="2926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Consumers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slot.consumers.group.1"/>
          <p:cNvSpPr txBox="1"/>
          <p:nvPr/>
        </p:nvSpPr>
        <p:spPr>
          <a:xfrm>
            <a:off x="10707624" y="1005840"/>
            <a:ext cx="1271016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Channels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struct.consumer.1.card"/>
          <p:cNvSpPr/>
          <p:nvPr/>
        </p:nvSpPr>
        <p:spPr>
          <a:xfrm>
            <a:off x="10707624" y="1197864"/>
            <a:ext cx="1271016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slot.consumer.1.text"/>
          <p:cNvSpPr txBox="1"/>
          <p:nvPr/>
        </p:nvSpPr>
        <p:spPr>
          <a:xfrm>
            <a:off x="11091672" y="1197864"/>
            <a:ext cx="8686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Sales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CRM copilot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struct.consumer.2.card"/>
          <p:cNvSpPr/>
          <p:nvPr/>
        </p:nvSpPr>
        <p:spPr>
          <a:xfrm>
            <a:off x="10707624" y="1819656"/>
            <a:ext cx="1271016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5" name="slot.consumer.2.text"/>
          <p:cNvSpPr txBox="1"/>
          <p:nvPr/>
        </p:nvSpPr>
        <p:spPr>
          <a:xfrm>
            <a:off x="11091672" y="1819656"/>
            <a:ext cx="8686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Service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Case replies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struct.consumer.3.card"/>
          <p:cNvSpPr/>
          <p:nvPr/>
        </p:nvSpPr>
        <p:spPr>
          <a:xfrm>
            <a:off x="10707624" y="2441448"/>
            <a:ext cx="1271016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7" name="slot.consumer.3.text"/>
          <p:cNvSpPr txBox="1"/>
          <p:nvPr/>
        </p:nvSpPr>
        <p:spPr>
          <a:xfrm>
            <a:off x="11091672" y="2441448"/>
            <a:ext cx="868680" cy="548640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Finance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Close checks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lot.consumers.group.2"/>
          <p:cNvSpPr txBox="1"/>
          <p:nvPr/>
        </p:nvSpPr>
        <p:spPr>
          <a:xfrm>
            <a:off x="10707624" y="3108959"/>
            <a:ext cx="1271016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Integrations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struct.consumer.4.card"/>
          <p:cNvSpPr/>
          <p:nvPr/>
        </p:nvSpPr>
        <p:spPr>
          <a:xfrm>
            <a:off x="10707624" y="3300983"/>
            <a:ext cx="1271016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0" name="slot.consumer.4.text"/>
          <p:cNvSpPr txBox="1"/>
          <p:nvPr/>
        </p:nvSpPr>
        <p:spPr>
          <a:xfrm>
            <a:off x="11091672" y="3300983"/>
            <a:ext cx="8686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APIs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Partner apps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truct.consumer.5.card"/>
          <p:cNvSpPr/>
          <p:nvPr/>
        </p:nvSpPr>
        <p:spPr>
          <a:xfrm>
            <a:off x="10707624" y="3922775"/>
            <a:ext cx="1271016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2" name="slot.consumer.5.text"/>
          <p:cNvSpPr txBox="1"/>
          <p:nvPr/>
        </p:nvSpPr>
        <p:spPr>
          <a:xfrm>
            <a:off x="11091672" y="3922775"/>
            <a:ext cx="8686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Reports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BI views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struct.consumer.6.card"/>
          <p:cNvSpPr/>
          <p:nvPr/>
        </p:nvSpPr>
        <p:spPr>
          <a:xfrm>
            <a:off x="10707624" y="4544567"/>
            <a:ext cx="1271016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4" name="slot.consumer.6.text"/>
          <p:cNvSpPr txBox="1"/>
          <p:nvPr/>
        </p:nvSpPr>
        <p:spPr>
          <a:xfrm>
            <a:off x="11091672" y="4544567"/>
            <a:ext cx="8686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Alerts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Team chat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truct.access.frame"/>
          <p:cNvSpPr/>
          <p:nvPr/>
        </p:nvSpPr>
        <p:spPr>
          <a:xfrm>
            <a:off x="1706837" y="609585"/>
            <a:ext cx="8778021" cy="999719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6" name="slot.access.tab"/>
          <p:cNvSpPr/>
          <p:nvPr/>
        </p:nvSpPr>
        <p:spPr>
          <a:xfrm>
            <a:off x="1706837" y="609585"/>
            <a:ext cx="8778021" cy="29260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bg1"/>
                </a:solidFill>
                <a:latin typeface="Arial"/>
                <a:ea typeface="Arial"/>
                <a:cs typeface="Arial"/>
              </a:rPr>
              <a:t>Access layer</a:t>
            </a:r>
            <a:endParaRPr lang="en-US" sz="1200" b="1" i="0" kern="0" dirty="0">
              <a:solidFill>
                <a:schemeClr val="bg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truct.access.1.card"/>
          <p:cNvSpPr/>
          <p:nvPr/>
        </p:nvSpPr>
        <p:spPr>
          <a:xfrm>
            <a:off x="1828754" y="999719"/>
            <a:ext cx="2042109" cy="5364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8" name="slot.access.1.text"/>
          <p:cNvSpPr txBox="1"/>
          <p:nvPr/>
        </p:nvSpPr>
        <p:spPr>
          <a:xfrm>
            <a:off x="2389572" y="999719"/>
            <a:ext cx="1432524" cy="536433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 gateway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Routes every request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truct.access.2.card"/>
          <p:cNvSpPr/>
          <p:nvPr/>
        </p:nvSpPr>
        <p:spPr>
          <a:xfrm>
            <a:off x="3992780" y="999719"/>
            <a:ext cx="2042109" cy="5364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" name="slot.access.2.text"/>
          <p:cNvSpPr txBox="1"/>
          <p:nvPr/>
        </p:nvSpPr>
        <p:spPr>
          <a:xfrm>
            <a:off x="4553598" y="999719"/>
            <a:ext cx="1432524" cy="536433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Identity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Single sign-on, roles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struct.access.3.card"/>
          <p:cNvSpPr/>
          <p:nvPr/>
        </p:nvSpPr>
        <p:spPr>
          <a:xfrm>
            <a:off x="6156806" y="999719"/>
            <a:ext cx="2042109" cy="5364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2" name="slot.access.3.text"/>
          <p:cNvSpPr txBox="1"/>
          <p:nvPr/>
        </p:nvSpPr>
        <p:spPr>
          <a:xfrm>
            <a:off x="6717624" y="999719"/>
            <a:ext cx="1432524" cy="536433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Orchestrator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Plans multi-step tasks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struct.access.4.card"/>
          <p:cNvSpPr/>
          <p:nvPr/>
        </p:nvSpPr>
        <p:spPr>
          <a:xfrm>
            <a:off x="8320832" y="999719"/>
            <a:ext cx="2042109" cy="5364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4" name="slot.access.4.text"/>
          <p:cNvSpPr txBox="1"/>
          <p:nvPr/>
        </p:nvSpPr>
        <p:spPr>
          <a:xfrm>
            <a:off x="8881650" y="999719"/>
            <a:ext cx="1432524" cy="536433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Guardrails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Checks every output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struct.pipelines.frame"/>
          <p:cNvSpPr/>
          <p:nvPr/>
        </p:nvSpPr>
        <p:spPr>
          <a:xfrm>
            <a:off x="1706837" y="1728216"/>
            <a:ext cx="3970589" cy="380390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6" name="slot.pipelines.tab"/>
          <p:cNvSpPr/>
          <p:nvPr/>
        </p:nvSpPr>
        <p:spPr>
          <a:xfrm>
            <a:off x="1706837" y="1731221"/>
            <a:ext cx="3970590" cy="2926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Data pipelines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struct.runtime.frame"/>
          <p:cNvSpPr/>
          <p:nvPr/>
        </p:nvSpPr>
        <p:spPr>
          <a:xfrm>
            <a:off x="5823728" y="1728216"/>
            <a:ext cx="4661129" cy="380390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9" name="slot.runtime.tab"/>
          <p:cNvSpPr/>
          <p:nvPr/>
        </p:nvSpPr>
        <p:spPr>
          <a:xfrm>
            <a:off x="5823728" y="1731221"/>
            <a:ext cx="4661129" cy="29260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Agent runtime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slot.lane.1.label"/>
          <p:cNvSpPr txBox="1"/>
          <p:nvPr/>
        </p:nvSpPr>
        <p:spPr>
          <a:xfrm>
            <a:off x="1783080" y="2093976"/>
            <a:ext cx="3822191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Batch ingest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struct.lane.1.step.1.card"/>
          <p:cNvSpPr/>
          <p:nvPr/>
        </p:nvSpPr>
        <p:spPr>
          <a:xfrm>
            <a:off x="1783080" y="2286000"/>
            <a:ext cx="886968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3" name="slot.lane.1.step.1.text"/>
          <p:cNvSpPr txBox="1"/>
          <p:nvPr/>
        </p:nvSpPr>
        <p:spPr>
          <a:xfrm>
            <a:off x="1810512" y="2670048"/>
            <a:ext cx="832103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Extract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Nightly loads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struct.lane.1.step.2.card"/>
          <p:cNvSpPr/>
          <p:nvPr/>
        </p:nvSpPr>
        <p:spPr>
          <a:xfrm>
            <a:off x="2761488" y="2286000"/>
            <a:ext cx="886968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5" name="slot.lane.1.step.2.text"/>
          <p:cNvSpPr txBox="1"/>
          <p:nvPr/>
        </p:nvSpPr>
        <p:spPr>
          <a:xfrm>
            <a:off x="2788920" y="2670048"/>
            <a:ext cx="832103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Validate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Rules and tests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struct.lane.1.step.3.card"/>
          <p:cNvSpPr/>
          <p:nvPr/>
        </p:nvSpPr>
        <p:spPr>
          <a:xfrm>
            <a:off x="3739896" y="2286000"/>
            <a:ext cx="886968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7" name="slot.lane.1.step.3.text"/>
          <p:cNvSpPr txBox="1"/>
          <p:nvPr/>
        </p:nvSpPr>
        <p:spPr>
          <a:xfrm>
            <a:off x="3767328" y="2670048"/>
            <a:ext cx="832103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Model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Shared tables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8" name="struct.lane.1.step.4.card"/>
          <p:cNvSpPr/>
          <p:nvPr/>
        </p:nvSpPr>
        <p:spPr>
          <a:xfrm>
            <a:off x="4718304" y="2286000"/>
            <a:ext cx="886968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9" name="slot.lane.1.step.4.text"/>
          <p:cNvSpPr txBox="1"/>
          <p:nvPr/>
        </p:nvSpPr>
        <p:spPr>
          <a:xfrm>
            <a:off x="4745736" y="2670048"/>
            <a:ext cx="832103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Publish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Certified sets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70" name="struct.lane.1.arrow.1"/>
          <p:cNvCxnSpPr/>
          <p:nvPr/>
        </p:nvCxnSpPr>
        <p:spPr>
          <a:xfrm>
            <a:off x="2660904" y="2715768"/>
            <a:ext cx="109728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72" name="struct.lane.1.arrow.2"/>
          <p:cNvCxnSpPr/>
          <p:nvPr/>
        </p:nvCxnSpPr>
        <p:spPr>
          <a:xfrm>
            <a:off x="3639312" y="2715768"/>
            <a:ext cx="109727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74" name="struct.lane.1.arrow.3"/>
          <p:cNvCxnSpPr/>
          <p:nvPr/>
        </p:nvCxnSpPr>
        <p:spPr>
          <a:xfrm>
            <a:off x="4617720" y="2715768"/>
            <a:ext cx="109728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76" name="slot.lane.2.label"/>
          <p:cNvSpPr txBox="1"/>
          <p:nvPr/>
        </p:nvSpPr>
        <p:spPr>
          <a:xfrm>
            <a:off x="1783080" y="3236976"/>
            <a:ext cx="3822191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Streaming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7" name="struct.lane.2.step.1.card"/>
          <p:cNvSpPr/>
          <p:nvPr/>
        </p:nvSpPr>
        <p:spPr>
          <a:xfrm>
            <a:off x="1783080" y="3429000"/>
            <a:ext cx="886968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8" name="slot.lane.2.step.1.text"/>
          <p:cNvSpPr txBox="1"/>
          <p:nvPr/>
        </p:nvSpPr>
        <p:spPr>
          <a:xfrm>
            <a:off x="1810512" y="3813048"/>
            <a:ext cx="832103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Capture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Change events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9" name="struct.lane.2.step.2.card"/>
          <p:cNvSpPr/>
          <p:nvPr/>
        </p:nvSpPr>
        <p:spPr>
          <a:xfrm>
            <a:off x="2761488" y="3429000"/>
            <a:ext cx="886968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0" name="slot.lane.2.step.2.text"/>
          <p:cNvSpPr txBox="1"/>
          <p:nvPr/>
        </p:nvSpPr>
        <p:spPr>
          <a:xfrm>
            <a:off x="2788920" y="3813048"/>
            <a:ext cx="832103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Enrich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Join reference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1" name="struct.lane.2.step.3.card"/>
          <p:cNvSpPr/>
          <p:nvPr/>
        </p:nvSpPr>
        <p:spPr>
          <a:xfrm>
            <a:off x="3739896" y="3429000"/>
            <a:ext cx="886968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2" name="slot.lane.2.step.3.text"/>
          <p:cNvSpPr txBox="1"/>
          <p:nvPr/>
        </p:nvSpPr>
        <p:spPr>
          <a:xfrm>
            <a:off x="3767328" y="3813048"/>
            <a:ext cx="832103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Score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Live features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3" name="struct.lane.2.step.4.card"/>
          <p:cNvSpPr/>
          <p:nvPr/>
        </p:nvSpPr>
        <p:spPr>
          <a:xfrm>
            <a:off x="4718304" y="3429000"/>
            <a:ext cx="886968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84" name="slot.lane.2.step.4.text"/>
          <p:cNvSpPr txBox="1"/>
          <p:nvPr/>
        </p:nvSpPr>
        <p:spPr>
          <a:xfrm>
            <a:off x="4745736" y="3813048"/>
            <a:ext cx="832103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Land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Hot store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85" name="struct.lane.2.arrow.1"/>
          <p:cNvCxnSpPr/>
          <p:nvPr/>
        </p:nvCxnSpPr>
        <p:spPr>
          <a:xfrm>
            <a:off x="2660904" y="3858768"/>
            <a:ext cx="109728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87" name="struct.lane.2.arrow.2"/>
          <p:cNvCxnSpPr/>
          <p:nvPr/>
        </p:nvCxnSpPr>
        <p:spPr>
          <a:xfrm>
            <a:off x="3639312" y="3858768"/>
            <a:ext cx="109727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89" name="struct.lane.2.arrow.3"/>
          <p:cNvCxnSpPr/>
          <p:nvPr/>
        </p:nvCxnSpPr>
        <p:spPr>
          <a:xfrm>
            <a:off x="4617720" y="3858768"/>
            <a:ext cx="109728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91" name="slot.models.label"/>
          <p:cNvSpPr txBox="1"/>
          <p:nvPr/>
        </p:nvSpPr>
        <p:spPr>
          <a:xfrm>
            <a:off x="5896878" y="2096972"/>
            <a:ext cx="4514828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Model access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2" name="struct.models.card"/>
          <p:cNvSpPr/>
          <p:nvPr/>
        </p:nvSpPr>
        <p:spPr>
          <a:xfrm>
            <a:off x="5896878" y="2267655"/>
            <a:ext cx="4514828" cy="512051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3" name="slot.models.text"/>
          <p:cNvSpPr txBox="1"/>
          <p:nvPr/>
        </p:nvSpPr>
        <p:spPr>
          <a:xfrm>
            <a:off x="6384546" y="2267655"/>
            <a:ext cx="3978394" cy="512051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Model router</a:t>
            </a:r>
            <a:endParaRPr lang="en-US" sz="11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10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Every call logged</a:t>
            </a:r>
            <a:endParaRPr lang="en-US" sz="10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4" name="slot.services.label"/>
          <p:cNvSpPr txBox="1"/>
          <p:nvPr/>
        </p:nvSpPr>
        <p:spPr>
          <a:xfrm>
            <a:off x="5896878" y="2950390"/>
            <a:ext cx="4514828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Shared services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5" name="struct.service.1.card"/>
          <p:cNvSpPr/>
          <p:nvPr/>
        </p:nvSpPr>
        <p:spPr>
          <a:xfrm>
            <a:off x="5896878" y="3121074"/>
            <a:ext cx="1456176" cy="755885"/>
          </a:xfrm>
          <a:prstGeom prst="roundRect">
            <a:avLst>
              <a:gd name="adj" fmla="val 6049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6" name="slot.service.1.text"/>
          <p:cNvSpPr txBox="1"/>
          <p:nvPr/>
        </p:nvSpPr>
        <p:spPr>
          <a:xfrm>
            <a:off x="6354078" y="3157650"/>
            <a:ext cx="962400" cy="682733"/>
          </a:xfrm>
          <a:prstGeom prst="rect">
            <a:avLst/>
          </a:prstGeom>
          <a:noFill/>
          <a:effectLst/>
        </p:spPr>
        <p:txBody>
          <a:bodyPr wrap="square" tIns="0" bIns="0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Memory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Session context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7" name="struct.service.2.card"/>
          <p:cNvSpPr/>
          <p:nvPr/>
        </p:nvSpPr>
        <p:spPr>
          <a:xfrm>
            <a:off x="7426205" y="3121074"/>
            <a:ext cx="1456176" cy="755885"/>
          </a:xfrm>
          <a:prstGeom prst="roundRect">
            <a:avLst>
              <a:gd name="adj" fmla="val 6049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8" name="slot.service.2.text"/>
          <p:cNvSpPr txBox="1"/>
          <p:nvPr/>
        </p:nvSpPr>
        <p:spPr>
          <a:xfrm>
            <a:off x="7883404" y="3157650"/>
            <a:ext cx="962400" cy="682733"/>
          </a:xfrm>
          <a:prstGeom prst="rect">
            <a:avLst/>
          </a:prstGeom>
          <a:noFill/>
          <a:effectLst/>
        </p:spPr>
        <p:txBody>
          <a:bodyPr wrap="square" tIns="0" bIns="0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Retrieval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Indexed documents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9" name="struct.service.3.card"/>
          <p:cNvSpPr/>
          <p:nvPr/>
        </p:nvSpPr>
        <p:spPr>
          <a:xfrm>
            <a:off x="8955531" y="3121074"/>
            <a:ext cx="1456176" cy="755885"/>
          </a:xfrm>
          <a:prstGeom prst="roundRect">
            <a:avLst>
              <a:gd name="adj" fmla="val 6049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0" name="slot.service.3.text"/>
          <p:cNvSpPr txBox="1"/>
          <p:nvPr/>
        </p:nvSpPr>
        <p:spPr>
          <a:xfrm>
            <a:off x="9412731" y="3157650"/>
            <a:ext cx="962400" cy="682733"/>
          </a:xfrm>
          <a:prstGeom prst="rect">
            <a:avLst/>
          </a:prstGeom>
          <a:noFill/>
          <a:effectLst/>
        </p:spPr>
        <p:txBody>
          <a:bodyPr wrap="square" tIns="0" bIns="0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Evaluation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Scores each answer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1" name="slot.tools.label"/>
          <p:cNvSpPr txBox="1"/>
          <p:nvPr/>
        </p:nvSpPr>
        <p:spPr>
          <a:xfrm>
            <a:off x="5896878" y="4047643"/>
            <a:ext cx="4514828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Agent tools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2" name="struct.tool.1.card"/>
          <p:cNvSpPr/>
          <p:nvPr/>
        </p:nvSpPr>
        <p:spPr>
          <a:xfrm>
            <a:off x="5896878" y="4215384"/>
            <a:ext cx="863952" cy="1261872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3" name="slot.tool.1.text"/>
          <p:cNvSpPr txBox="1"/>
          <p:nvPr/>
        </p:nvSpPr>
        <p:spPr>
          <a:xfrm>
            <a:off x="5915166" y="4782312"/>
            <a:ext cx="827376" cy="621792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Search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Catalog and files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4" name="struct.tool.2.card"/>
          <p:cNvSpPr/>
          <p:nvPr/>
        </p:nvSpPr>
        <p:spPr>
          <a:xfrm>
            <a:off x="6809598" y="4215384"/>
            <a:ext cx="863952" cy="1261872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5" name="slot.tool.2.text"/>
          <p:cNvSpPr txBox="1"/>
          <p:nvPr/>
        </p:nvSpPr>
        <p:spPr>
          <a:xfrm>
            <a:off x="6827886" y="4782312"/>
            <a:ext cx="827376" cy="621792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Compute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Governed metrics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6" name="struct.tool.3.card"/>
          <p:cNvSpPr/>
          <p:nvPr/>
        </p:nvSpPr>
        <p:spPr>
          <a:xfrm>
            <a:off x="7722316" y="4215384"/>
            <a:ext cx="863952" cy="1261872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7" name="slot.tool.3.text"/>
          <p:cNvSpPr txBox="1"/>
          <p:nvPr/>
        </p:nvSpPr>
        <p:spPr>
          <a:xfrm>
            <a:off x="7740604" y="4782312"/>
            <a:ext cx="827376" cy="621792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Draft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Replies for review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8" name="struct.tool.4.card"/>
          <p:cNvSpPr/>
          <p:nvPr/>
        </p:nvSpPr>
        <p:spPr>
          <a:xfrm>
            <a:off x="8635036" y="4215384"/>
            <a:ext cx="863952" cy="1261872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9" name="slot.tool.4.text"/>
          <p:cNvSpPr txBox="1"/>
          <p:nvPr/>
        </p:nvSpPr>
        <p:spPr>
          <a:xfrm>
            <a:off x="8653324" y="4782312"/>
            <a:ext cx="827376" cy="621792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Escalate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Hand off to a person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0" name="struct.tool.5.card"/>
          <p:cNvSpPr/>
          <p:nvPr/>
        </p:nvSpPr>
        <p:spPr>
          <a:xfrm>
            <a:off x="9547755" y="4215384"/>
            <a:ext cx="863952" cy="1261872"/>
          </a:xfrm>
          <a:prstGeom prst="roundRect">
            <a:avLst>
              <a:gd name="adj" fmla="val 10000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accent1"/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1" name="slot.tool.5.text"/>
          <p:cNvSpPr txBox="1"/>
          <p:nvPr/>
        </p:nvSpPr>
        <p:spPr>
          <a:xfrm>
            <a:off x="9566043" y="4782312"/>
            <a:ext cx="827376" cy="621792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Act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Gated writes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2" name="struct.platform.frame"/>
          <p:cNvSpPr/>
          <p:nvPr/>
        </p:nvSpPr>
        <p:spPr>
          <a:xfrm>
            <a:off x="1709928" y="5632704"/>
            <a:ext cx="8778240" cy="110642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3" name="slot.platform.tab"/>
          <p:cNvSpPr/>
          <p:nvPr/>
        </p:nvSpPr>
        <p:spPr>
          <a:xfrm>
            <a:off x="1709928" y="5632704"/>
            <a:ext cx="8778240" cy="29260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  <a:effectLst/>
        </p:spPr>
        <p:txBody>
          <a:bodyPr wrap="square" lIns="109728" tIns="9144" rIns="27432" bIns="9144" rtlCol="0" anchor="ctr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Shared platform and governance</a:t>
            </a:r>
            <a:endParaRPr lang="en-US" sz="12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5" name="struct.platform.1.card"/>
          <p:cNvSpPr/>
          <p:nvPr/>
        </p:nvSpPr>
        <p:spPr>
          <a:xfrm>
            <a:off x="1804371" y="6048756"/>
            <a:ext cx="1008863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6" name="slot.platform.1.label"/>
          <p:cNvSpPr txBox="1"/>
          <p:nvPr/>
        </p:nvSpPr>
        <p:spPr>
          <a:xfrm>
            <a:off x="2142699" y="6048756"/>
            <a:ext cx="652247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Code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7" name="struct.platform.2.card"/>
          <p:cNvSpPr/>
          <p:nvPr/>
        </p:nvSpPr>
        <p:spPr>
          <a:xfrm>
            <a:off x="2886384" y="6048756"/>
            <a:ext cx="1008863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18" name="slot.platform.2.label"/>
          <p:cNvSpPr txBox="1"/>
          <p:nvPr/>
        </p:nvSpPr>
        <p:spPr>
          <a:xfrm>
            <a:off x="3224712" y="6048756"/>
            <a:ext cx="652247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Deploy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19" name="struct.platform.3.card"/>
          <p:cNvSpPr/>
          <p:nvPr/>
        </p:nvSpPr>
        <p:spPr>
          <a:xfrm>
            <a:off x="3968397" y="6048756"/>
            <a:ext cx="1008863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0" name="slot.platform.3.label"/>
          <p:cNvSpPr txBox="1"/>
          <p:nvPr/>
        </p:nvSpPr>
        <p:spPr>
          <a:xfrm>
            <a:off x="4306725" y="6048756"/>
            <a:ext cx="652247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Catalog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1" name="struct.platform.4.card"/>
          <p:cNvSpPr/>
          <p:nvPr/>
        </p:nvSpPr>
        <p:spPr>
          <a:xfrm>
            <a:off x="5050410" y="6048756"/>
            <a:ext cx="1008863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2" name="slot.platform.4.label"/>
          <p:cNvSpPr txBox="1"/>
          <p:nvPr/>
        </p:nvSpPr>
        <p:spPr>
          <a:xfrm>
            <a:off x="5388738" y="6048756"/>
            <a:ext cx="652247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Lineage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3" name="struct.platform.5.card"/>
          <p:cNvSpPr/>
          <p:nvPr/>
        </p:nvSpPr>
        <p:spPr>
          <a:xfrm>
            <a:off x="6132423" y="6048756"/>
            <a:ext cx="1008863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4" name="slot.platform.5.label"/>
          <p:cNvSpPr txBox="1"/>
          <p:nvPr/>
        </p:nvSpPr>
        <p:spPr>
          <a:xfrm>
            <a:off x="6470751" y="6048756"/>
            <a:ext cx="652247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Access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5" name="struct.platform.6.card"/>
          <p:cNvSpPr/>
          <p:nvPr/>
        </p:nvSpPr>
        <p:spPr>
          <a:xfrm>
            <a:off x="7214436" y="6048756"/>
            <a:ext cx="1008863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6" name="slot.platform.6.label"/>
          <p:cNvSpPr txBox="1"/>
          <p:nvPr/>
        </p:nvSpPr>
        <p:spPr>
          <a:xfrm>
            <a:off x="7552763" y="6048756"/>
            <a:ext cx="652247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Audit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7" name="struct.platform.7.card"/>
          <p:cNvSpPr/>
          <p:nvPr/>
        </p:nvSpPr>
        <p:spPr>
          <a:xfrm>
            <a:off x="8296449" y="6048756"/>
            <a:ext cx="1008863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28" name="slot.platform.7.label"/>
          <p:cNvSpPr txBox="1"/>
          <p:nvPr/>
        </p:nvSpPr>
        <p:spPr>
          <a:xfrm>
            <a:off x="8634777" y="6048756"/>
            <a:ext cx="652247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Monitor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9" name="struct.platform.8.card"/>
          <p:cNvSpPr/>
          <p:nvPr/>
        </p:nvSpPr>
        <p:spPr>
          <a:xfrm>
            <a:off x="9378462" y="6048756"/>
            <a:ext cx="1008863" cy="566928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0" name="slot.platform.8.label"/>
          <p:cNvSpPr txBox="1"/>
          <p:nvPr/>
        </p:nvSpPr>
        <p:spPr>
          <a:xfrm>
            <a:off x="9716789" y="6048756"/>
            <a:ext cx="652247" cy="566928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Spend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31" name="struct.flow.in"/>
          <p:cNvCxnSpPr/>
          <p:nvPr/>
        </p:nvCxnSpPr>
        <p:spPr>
          <a:xfrm>
            <a:off x="1591016" y="3758090"/>
            <a:ext cx="109725" cy="0"/>
          </a:xfrm>
          <a:prstGeom prst="line">
            <a:avLst/>
          </a:prstGeom>
          <a:ln w="1524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133" name="struct.flow.out"/>
          <p:cNvCxnSpPr/>
          <p:nvPr/>
        </p:nvCxnSpPr>
        <p:spPr>
          <a:xfrm>
            <a:off x="10490954" y="3758090"/>
            <a:ext cx="109724" cy="0"/>
          </a:xfrm>
          <a:prstGeom prst="line">
            <a:avLst/>
          </a:prstGeom>
          <a:ln w="1524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135" name="struct.flow.across"/>
          <p:cNvCxnSpPr/>
          <p:nvPr/>
        </p:nvCxnSpPr>
        <p:spPr>
          <a:xfrm>
            <a:off x="5683523" y="3758090"/>
            <a:ext cx="134109" cy="0"/>
          </a:xfrm>
          <a:prstGeom prst="line">
            <a:avLst/>
          </a:prstGeom>
          <a:ln w="1524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136" name="slot.access.1.icon"/>
          <p:cNvSpPr/>
          <p:nvPr/>
        </p:nvSpPr>
        <p:spPr>
          <a:xfrm>
            <a:off x="1920194" y="104241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7000" y="16000"/>
                </a:moveTo>
                <a:lnTo>
                  <a:pt x="21000" y="16000"/>
                </a:lnTo>
                <a:cubicBezTo>
                  <a:pt x="21552" y="16000"/>
                  <a:pt x="22000" y="16448"/>
                  <a:pt x="22000" y="17000"/>
                </a:cubicBezTo>
                <a:lnTo>
                  <a:pt x="22000" y="21000"/>
                </a:lnTo>
                <a:cubicBezTo>
                  <a:pt x="22000" y="21552"/>
                  <a:pt x="21552" y="22000"/>
                  <a:pt x="21000" y="22000"/>
                </a:cubicBezTo>
                <a:lnTo>
                  <a:pt x="17000" y="22000"/>
                </a:lnTo>
                <a:cubicBezTo>
                  <a:pt x="16448" y="22000"/>
                  <a:pt x="16000" y="21552"/>
                  <a:pt x="16000" y="21000"/>
                </a:cubicBezTo>
                <a:lnTo>
                  <a:pt x="16000" y="17000"/>
                </a:lnTo>
                <a:cubicBezTo>
                  <a:pt x="16000" y="16448"/>
                  <a:pt x="16448" y="16000"/>
                  <a:pt x="17000" y="16000"/>
                </a:cubicBezTo>
                <a:close/>
                <a:moveTo>
                  <a:pt x="3000" y="16000"/>
                </a:moveTo>
                <a:lnTo>
                  <a:pt x="7000" y="16000"/>
                </a:lnTo>
                <a:cubicBezTo>
                  <a:pt x="7552" y="16000"/>
                  <a:pt x="8000" y="16448"/>
                  <a:pt x="8000" y="17000"/>
                </a:cubicBezTo>
                <a:lnTo>
                  <a:pt x="8000" y="21000"/>
                </a:lnTo>
                <a:cubicBezTo>
                  <a:pt x="8000" y="21552"/>
                  <a:pt x="7552" y="22000"/>
                  <a:pt x="7000" y="22000"/>
                </a:cubicBezTo>
                <a:lnTo>
                  <a:pt x="3000" y="22000"/>
                </a:lnTo>
                <a:cubicBezTo>
                  <a:pt x="2448" y="22000"/>
                  <a:pt x="2000" y="21552"/>
                  <a:pt x="2000" y="21000"/>
                </a:cubicBezTo>
                <a:lnTo>
                  <a:pt x="2000" y="17000"/>
                </a:lnTo>
                <a:cubicBezTo>
                  <a:pt x="2000" y="16448"/>
                  <a:pt x="2448" y="16000"/>
                  <a:pt x="3000" y="16000"/>
                </a:cubicBezTo>
                <a:close/>
                <a:moveTo>
                  <a:pt x="10000" y="2000"/>
                </a:moveTo>
                <a:lnTo>
                  <a:pt x="14000" y="2000"/>
                </a:lnTo>
                <a:cubicBezTo>
                  <a:pt x="14552" y="2000"/>
                  <a:pt x="15000" y="2448"/>
                  <a:pt x="15000" y="3000"/>
                </a:cubicBezTo>
                <a:lnTo>
                  <a:pt x="15000" y="7000"/>
                </a:lnTo>
                <a:cubicBezTo>
                  <a:pt x="15000" y="7552"/>
                  <a:pt x="14552" y="8000"/>
                  <a:pt x="14000" y="8000"/>
                </a:cubicBezTo>
                <a:lnTo>
                  <a:pt x="10000" y="8000"/>
                </a:lnTo>
                <a:cubicBezTo>
                  <a:pt x="9448" y="8000"/>
                  <a:pt x="9000" y="7552"/>
                  <a:pt x="9000" y="7000"/>
                </a:cubicBezTo>
                <a:lnTo>
                  <a:pt x="9000" y="3000"/>
                </a:lnTo>
                <a:cubicBezTo>
                  <a:pt x="9000" y="2448"/>
                  <a:pt x="9448" y="2000"/>
                  <a:pt x="10000" y="2000"/>
                </a:cubicBezTo>
                <a:close/>
                <a:moveTo>
                  <a:pt x="5000" y="16000"/>
                </a:moveTo>
                <a:lnTo>
                  <a:pt x="5000" y="13000"/>
                </a:lnTo>
                <a:cubicBezTo>
                  <a:pt x="5000" y="12448"/>
                  <a:pt x="5448" y="12000"/>
                  <a:pt x="6000" y="12000"/>
                </a:cubicBezTo>
                <a:lnTo>
                  <a:pt x="18000" y="12000"/>
                </a:lnTo>
                <a:cubicBezTo>
                  <a:pt x="18552" y="12000"/>
                  <a:pt x="19000" y="12448"/>
                  <a:pt x="19000" y="13000"/>
                </a:cubicBezTo>
                <a:lnTo>
                  <a:pt x="19000" y="16000"/>
                </a:lnTo>
                <a:moveTo>
                  <a:pt x="12000" y="12000"/>
                </a:moveTo>
                <a:lnTo>
                  <a:pt x="12000" y="8000"/>
                </a:lnTo>
              </a:path>
            </a:pathLst>
          </a:custGeom>
          <a:noFill/>
          <a:ln w="36830" cap="rnd">
            <a:solidFill>
              <a:schemeClr val="accent1"/>
            </a:solidFill>
            <a:round/>
          </a:ln>
          <a:effectLst/>
        </p:spPr>
      </p:sp>
      <p:sp>
        <p:nvSpPr>
          <p:cNvPr id="137" name="slot.access.2.icon"/>
          <p:cNvSpPr/>
          <p:nvPr/>
        </p:nvSpPr>
        <p:spPr>
          <a:xfrm>
            <a:off x="4084220" y="104241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586" y="17414"/>
                </a:moveTo>
                <a:cubicBezTo>
                  <a:pt x="2211" y="17789"/>
                  <a:pt x="2000" y="18298"/>
                  <a:pt x="2000" y="18828"/>
                </a:cubicBezTo>
                <a:lnTo>
                  <a:pt x="2000" y="21000"/>
                </a:lnTo>
                <a:cubicBezTo>
                  <a:pt x="2000" y="21552"/>
                  <a:pt x="2448" y="22000"/>
                  <a:pt x="3000" y="22000"/>
                </a:cubicBezTo>
                <a:lnTo>
                  <a:pt x="6000" y="22000"/>
                </a:lnTo>
                <a:cubicBezTo>
                  <a:pt x="6552" y="22000"/>
                  <a:pt x="7000" y="21552"/>
                  <a:pt x="7000" y="21000"/>
                </a:cubicBezTo>
                <a:lnTo>
                  <a:pt x="7000" y="20000"/>
                </a:lnTo>
                <a:cubicBezTo>
                  <a:pt x="7000" y="19448"/>
                  <a:pt x="7448" y="19000"/>
                  <a:pt x="8000" y="19000"/>
                </a:cubicBezTo>
                <a:lnTo>
                  <a:pt x="9000" y="19000"/>
                </a:lnTo>
                <a:cubicBezTo>
                  <a:pt x="9552" y="19000"/>
                  <a:pt x="10000" y="18552"/>
                  <a:pt x="10000" y="18000"/>
                </a:cubicBezTo>
                <a:lnTo>
                  <a:pt x="10000" y="17000"/>
                </a:lnTo>
                <a:cubicBezTo>
                  <a:pt x="10000" y="16448"/>
                  <a:pt x="10448" y="16000"/>
                  <a:pt x="11000" y="16000"/>
                </a:cubicBezTo>
                <a:lnTo>
                  <a:pt x="11172" y="16000"/>
                </a:lnTo>
                <a:cubicBezTo>
                  <a:pt x="11702" y="16000"/>
                  <a:pt x="12211" y="15789"/>
                  <a:pt x="12586" y="15414"/>
                </a:cubicBezTo>
                <a:lnTo>
                  <a:pt x="13400" y="14600"/>
                </a:lnTo>
                <a:cubicBezTo>
                  <a:pt x="16262" y="15597"/>
                  <a:pt x="19434" y="14484"/>
                  <a:pt x="21044" y="11916"/>
                </a:cubicBezTo>
                <a:cubicBezTo>
                  <a:pt x="22655" y="9349"/>
                  <a:pt x="22278" y="6009"/>
                  <a:pt x="20134" y="3866"/>
                </a:cubicBezTo>
                <a:cubicBezTo>
                  <a:pt x="17991" y="1722"/>
                  <a:pt x="14651" y="1345"/>
                  <a:pt x="12084" y="2956"/>
                </a:cubicBezTo>
                <a:cubicBezTo>
                  <a:pt x="9516" y="4566"/>
                  <a:pt x="8403" y="7738"/>
                  <a:pt x="9400" y="10600"/>
                </a:cubicBezTo>
                <a:close/>
              </a:path>
              <a:path w="24000" h="24000">
                <a:moveTo>
                  <a:pt x="17000" y="7500"/>
                </a:moveTo>
                <a:cubicBezTo>
                  <a:pt x="17000" y="7776"/>
                  <a:pt x="16776" y="8000"/>
                  <a:pt x="16500" y="8000"/>
                </a:cubicBezTo>
                <a:cubicBezTo>
                  <a:pt x="16224" y="8000"/>
                  <a:pt x="16000" y="7776"/>
                  <a:pt x="16000" y="7500"/>
                </a:cubicBezTo>
                <a:cubicBezTo>
                  <a:pt x="16000" y="7224"/>
                  <a:pt x="16224" y="7000"/>
                  <a:pt x="16500" y="7000"/>
                </a:cubicBezTo>
                <a:cubicBezTo>
                  <a:pt x="16776" y="7000"/>
                  <a:pt x="17000" y="7224"/>
                  <a:pt x="17000" y="7500"/>
                </a:cubicBezTo>
                <a:close/>
              </a:path>
            </a:pathLst>
          </a:custGeom>
          <a:solidFill>
            <a:schemeClr val="accent1"/>
          </a:solidFill>
          <a:ln w="36830" cap="rnd">
            <a:solidFill>
              <a:schemeClr val="accent1"/>
            </a:solidFill>
            <a:round/>
          </a:ln>
          <a:effectLst/>
        </p:spPr>
      </p:sp>
      <p:sp>
        <p:nvSpPr>
          <p:cNvPr id="138" name="slot.access.3.icon"/>
          <p:cNvSpPr/>
          <p:nvPr/>
        </p:nvSpPr>
        <p:spPr>
          <a:xfrm>
            <a:off x="6248246" y="104241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3000"/>
                </a:moveTo>
                <a:lnTo>
                  <a:pt x="9000" y="3000"/>
                </a:lnTo>
                <a:cubicBezTo>
                  <a:pt x="10105" y="3000"/>
                  <a:pt x="11000" y="3895"/>
                  <a:pt x="11000" y="5000"/>
                </a:cubicBezTo>
                <a:lnTo>
                  <a:pt x="11000" y="9000"/>
                </a:lnTo>
                <a:cubicBezTo>
                  <a:pt x="11000" y="10105"/>
                  <a:pt x="10105" y="11000"/>
                  <a:pt x="9000" y="11000"/>
                </a:cubicBezTo>
                <a:lnTo>
                  <a:pt x="5000" y="11000"/>
                </a:lnTo>
                <a:cubicBezTo>
                  <a:pt x="3895" y="11000"/>
                  <a:pt x="3000" y="10105"/>
                  <a:pt x="3000" y="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7000" y="11000"/>
                </a:moveTo>
                <a:lnTo>
                  <a:pt x="7000" y="15000"/>
                </a:lnTo>
                <a:cubicBezTo>
                  <a:pt x="7000" y="16105"/>
                  <a:pt x="7895" y="17000"/>
                  <a:pt x="9000" y="17000"/>
                </a:cubicBezTo>
                <a:lnTo>
                  <a:pt x="13000" y="17000"/>
                </a:lnTo>
                <a:moveTo>
                  <a:pt x="15000" y="13000"/>
                </a:moveTo>
                <a:lnTo>
                  <a:pt x="19000" y="13000"/>
                </a:lnTo>
                <a:cubicBezTo>
                  <a:pt x="20105" y="13000"/>
                  <a:pt x="21000" y="13895"/>
                  <a:pt x="21000" y="1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5000" y="21000"/>
                </a:lnTo>
                <a:cubicBezTo>
                  <a:pt x="13895" y="21000"/>
                  <a:pt x="13000" y="20105"/>
                  <a:pt x="13000" y="19000"/>
                </a:cubicBezTo>
                <a:lnTo>
                  <a:pt x="13000" y="15000"/>
                </a:lnTo>
                <a:cubicBezTo>
                  <a:pt x="13000" y="13895"/>
                  <a:pt x="13895" y="13000"/>
                  <a:pt x="15000" y="13000"/>
                </a:cubicBezTo>
                <a:close/>
              </a:path>
            </a:pathLst>
          </a:custGeom>
          <a:noFill/>
          <a:ln w="36830" cap="rnd">
            <a:solidFill>
              <a:schemeClr val="accent1"/>
            </a:solidFill>
            <a:round/>
          </a:ln>
          <a:effectLst/>
        </p:spPr>
      </p:sp>
      <p:sp>
        <p:nvSpPr>
          <p:cNvPr id="139" name="slot.access.4.icon"/>
          <p:cNvSpPr/>
          <p:nvPr/>
        </p:nvSpPr>
        <p:spPr>
          <a:xfrm>
            <a:off x="8412272" y="1042416"/>
            <a:ext cx="438912" cy="438912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13000"/>
                </a:moveTo>
                <a:cubicBezTo>
                  <a:pt x="20000" y="18000"/>
                  <a:pt x="16500" y="20500"/>
                  <a:pt x="12340" y="21950"/>
                </a:cubicBezTo>
                <a:cubicBezTo>
                  <a:pt x="12122" y="22024"/>
                  <a:pt x="11886" y="22020"/>
                  <a:pt x="11670" y="21940"/>
                </a:cubicBezTo>
                <a:cubicBezTo>
                  <a:pt x="7500" y="20500"/>
                  <a:pt x="4000" y="18000"/>
                  <a:pt x="4000" y="13000"/>
                </a:cubicBezTo>
                <a:lnTo>
                  <a:pt x="4000" y="6000"/>
                </a:lnTo>
                <a:cubicBezTo>
                  <a:pt x="4000" y="5448"/>
                  <a:pt x="4448" y="5000"/>
                  <a:pt x="5000" y="5000"/>
                </a:cubicBezTo>
                <a:cubicBezTo>
                  <a:pt x="7000" y="5000"/>
                  <a:pt x="9500" y="3800"/>
                  <a:pt x="11240" y="2280"/>
                </a:cubicBezTo>
                <a:cubicBezTo>
                  <a:pt x="11678" y="1906"/>
                  <a:pt x="12322" y="1906"/>
                  <a:pt x="12760" y="2280"/>
                </a:cubicBezTo>
                <a:cubicBezTo>
                  <a:pt x="14510" y="3810"/>
                  <a:pt x="17000" y="5000"/>
                  <a:pt x="19000" y="5000"/>
                </a:cubicBezTo>
                <a:cubicBezTo>
                  <a:pt x="19552" y="5000"/>
                  <a:pt x="20000" y="5448"/>
                  <a:pt x="20000" y="6000"/>
                </a:cubicBezTo>
                <a:close/>
                <a:moveTo>
                  <a:pt x="9000" y="12000"/>
                </a:moveTo>
                <a:lnTo>
                  <a:pt x="11000" y="14000"/>
                </a:lnTo>
                <a:lnTo>
                  <a:pt x="15000" y="10000"/>
                </a:lnTo>
              </a:path>
            </a:pathLst>
          </a:custGeom>
          <a:noFill/>
          <a:ln w="36830" cap="rnd">
            <a:solidFill>
              <a:schemeClr val="accent1"/>
            </a:solidFill>
            <a:round/>
          </a:ln>
          <a:effectLst/>
        </p:spPr>
      </p:sp>
      <p:sp>
        <p:nvSpPr>
          <p:cNvPr id="140" name="slot.source.1.icon"/>
          <p:cNvSpPr/>
          <p:nvPr/>
        </p:nvSpPr>
        <p:spPr>
          <a:xfrm>
            <a:off x="246888" y="1250916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  <a:moveTo>
                  <a:pt x="3000" y="5000"/>
                </a:moveTo>
                <a:lnTo>
                  <a:pt x="3000" y="19000"/>
                </a:lnTo>
                <a:cubicBezTo>
                  <a:pt x="3000" y="20657"/>
                  <a:pt x="7029" y="22000"/>
                  <a:pt x="12000" y="22000"/>
                </a:cubicBezTo>
                <a:cubicBezTo>
                  <a:pt x="16971" y="22000"/>
                  <a:pt x="21000" y="20657"/>
                  <a:pt x="21000" y="19000"/>
                </a:cubicBezTo>
                <a:lnTo>
                  <a:pt x="21000" y="5000"/>
                </a:lnTo>
                <a:moveTo>
                  <a:pt x="3000" y="12000"/>
                </a:moveTo>
                <a:cubicBezTo>
                  <a:pt x="3000" y="13657"/>
                  <a:pt x="7029" y="15000"/>
                  <a:pt x="12000" y="15000"/>
                </a:cubicBezTo>
                <a:cubicBezTo>
                  <a:pt x="16971" y="15000"/>
                  <a:pt x="21000" y="13657"/>
                  <a:pt x="21000" y="12000"/>
                </a:cubicBez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1" name="slot.source.2.icon"/>
          <p:cNvSpPr/>
          <p:nvPr/>
        </p:nvSpPr>
        <p:spPr>
          <a:xfrm>
            <a:off x="246888" y="1667973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000"/>
                </a:moveTo>
                <a:lnTo>
                  <a:pt x="16000" y="4000"/>
                </a:lnTo>
                <a:moveTo>
                  <a:pt x="7000" y="21000"/>
                </a:moveTo>
                <a:lnTo>
                  <a:pt x="7000" y="19000"/>
                </a:lnTo>
                <a:cubicBezTo>
                  <a:pt x="7000" y="17895"/>
                  <a:pt x="7895" y="17000"/>
                  <a:pt x="9000" y="17000"/>
                </a:cubicBezTo>
                <a:lnTo>
                  <a:pt x="15000" y="17000"/>
                </a:lnTo>
                <a:cubicBezTo>
                  <a:pt x="16105" y="17000"/>
                  <a:pt x="17000" y="17895"/>
                  <a:pt x="17000" y="19000"/>
                </a:cubicBezTo>
                <a:lnTo>
                  <a:pt x="17000" y="21000"/>
                </a:lnTo>
                <a:moveTo>
                  <a:pt x="8000" y="2000"/>
                </a:moveTo>
                <a:lnTo>
                  <a:pt x="8000" y="4000"/>
                </a:lnTo>
                <a:moveTo>
                  <a:pt x="15000" y="10000"/>
                </a:moveTo>
                <a:cubicBezTo>
                  <a:pt x="15000" y="11657"/>
                  <a:pt x="13657" y="13000"/>
                  <a:pt x="12000" y="13000"/>
                </a:cubicBezTo>
                <a:cubicBezTo>
                  <a:pt x="10343" y="13000"/>
                  <a:pt x="9000" y="11657"/>
                  <a:pt x="9000" y="10000"/>
                </a:cubicBezTo>
                <a:cubicBezTo>
                  <a:pt x="9000" y="8343"/>
                  <a:pt x="10343" y="7000"/>
                  <a:pt x="12000" y="7000"/>
                </a:cubicBezTo>
                <a:cubicBezTo>
                  <a:pt x="13657" y="7000"/>
                  <a:pt x="15000" y="8343"/>
                  <a:pt x="15000" y="10000"/>
                </a:cubicBezTo>
                <a:close/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2" name="slot.source.3.icon"/>
          <p:cNvSpPr/>
          <p:nvPr/>
        </p:nvSpPr>
        <p:spPr>
          <a:xfrm>
            <a:off x="246888" y="2085031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50" y="2050"/>
                </a:moveTo>
                <a:lnTo>
                  <a:pt x="3149" y="2022"/>
                </a:lnTo>
                <a:cubicBezTo>
                  <a:pt x="3639" y="2010"/>
                  <a:pt x="4066" y="2355"/>
                  <a:pt x="4157" y="2837"/>
                </a:cubicBezTo>
                <a:lnTo>
                  <a:pt x="6847" y="17184"/>
                </a:lnTo>
                <a:cubicBezTo>
                  <a:pt x="6936" y="17657"/>
                  <a:pt x="7349" y="18000"/>
                  <a:pt x="7830" y="18000"/>
                </a:cubicBezTo>
                <a:lnTo>
                  <a:pt x="18000" y="18000"/>
                </a:lnTo>
                <a:moveTo>
                  <a:pt x="4563" y="5000"/>
                </a:moveTo>
                <a:lnTo>
                  <a:pt x="20998" y="5000"/>
                </a:lnTo>
                <a:cubicBezTo>
                  <a:pt x="21299" y="4999"/>
                  <a:pt x="21585" y="5135"/>
                  <a:pt x="21775" y="5368"/>
                </a:cubicBezTo>
                <a:cubicBezTo>
                  <a:pt x="21966" y="5602"/>
                  <a:pt x="22040" y="5909"/>
                  <a:pt x="21979" y="6204"/>
                </a:cubicBezTo>
                <a:lnTo>
                  <a:pt x="20953" y="12430"/>
                </a:lnTo>
                <a:cubicBezTo>
                  <a:pt x="20748" y="13361"/>
                  <a:pt x="19915" y="14018"/>
                  <a:pt x="18962" y="14000"/>
                </a:cubicBezTo>
                <a:lnTo>
                  <a:pt x="6250" y="14000"/>
                </a:lnTo>
                <a:moveTo>
                  <a:pt x="20000" y="20000"/>
                </a:moveTo>
                <a:cubicBezTo>
                  <a:pt x="20000" y="21105"/>
                  <a:pt x="19105" y="22000"/>
                  <a:pt x="18000" y="22000"/>
                </a:cubicBezTo>
                <a:cubicBezTo>
                  <a:pt x="16895" y="22000"/>
                  <a:pt x="16000" y="21105"/>
                  <a:pt x="16000" y="20000"/>
                </a:cubicBezTo>
                <a:cubicBezTo>
                  <a:pt x="16000" y="18895"/>
                  <a:pt x="16895" y="18000"/>
                  <a:pt x="18000" y="18000"/>
                </a:cubicBezTo>
                <a:cubicBezTo>
                  <a:pt x="19105" y="18000"/>
                  <a:pt x="20000" y="18895"/>
                  <a:pt x="20000" y="20000"/>
                </a:cubicBezTo>
                <a:close/>
                <a:moveTo>
                  <a:pt x="10000" y="20000"/>
                </a:moveTo>
                <a:cubicBezTo>
                  <a:pt x="10000" y="21105"/>
                  <a:pt x="9105" y="22000"/>
                  <a:pt x="8000" y="22000"/>
                </a:cubicBezTo>
                <a:cubicBezTo>
                  <a:pt x="6895" y="22000"/>
                  <a:pt x="6000" y="21105"/>
                  <a:pt x="6000" y="20000"/>
                </a:cubicBezTo>
                <a:cubicBezTo>
                  <a:pt x="6000" y="18895"/>
                  <a:pt x="6895" y="18000"/>
                  <a:pt x="8000" y="18000"/>
                </a:cubicBezTo>
                <a:cubicBezTo>
                  <a:pt x="9105" y="18000"/>
                  <a:pt x="10000" y="18895"/>
                  <a:pt x="10000" y="20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3" name="slot.source.4.icon"/>
          <p:cNvSpPr/>
          <p:nvPr/>
        </p:nvSpPr>
        <p:spPr>
          <a:xfrm>
            <a:off x="246888" y="3195244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4" name="slot.source.5.icon"/>
          <p:cNvSpPr/>
          <p:nvPr/>
        </p:nvSpPr>
        <p:spPr>
          <a:xfrm>
            <a:off x="246888" y="3766744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7000"/>
                </a:moveTo>
                <a:cubicBezTo>
                  <a:pt x="22000" y="18105"/>
                  <a:pt x="21105" y="19000"/>
                  <a:pt x="20000" y="19000"/>
                </a:cubicBezTo>
                <a:lnTo>
                  <a:pt x="6828" y="19000"/>
                </a:lnTo>
                <a:cubicBezTo>
                  <a:pt x="6298" y="19000"/>
                  <a:pt x="5789" y="19211"/>
                  <a:pt x="5414" y="19586"/>
                </a:cubicBezTo>
                <a:lnTo>
                  <a:pt x="3212" y="21788"/>
                </a:lnTo>
                <a:cubicBezTo>
                  <a:pt x="3009" y="21991"/>
                  <a:pt x="2704" y="22052"/>
                  <a:pt x="2438" y="21942"/>
                </a:cubicBezTo>
                <a:cubicBezTo>
                  <a:pt x="2173" y="21832"/>
                  <a:pt x="2000" y="21573"/>
                  <a:pt x="2000" y="21286"/>
                </a:cubicBezTo>
                <a:lnTo>
                  <a:pt x="2000" y="5000"/>
                </a:lnTo>
                <a:cubicBezTo>
                  <a:pt x="2000" y="3895"/>
                  <a:pt x="2895" y="3000"/>
                  <a:pt x="4000" y="3000"/>
                </a:cubicBezTo>
                <a:lnTo>
                  <a:pt x="20000" y="3000"/>
                </a:lnTo>
                <a:cubicBezTo>
                  <a:pt x="21105" y="3000"/>
                  <a:pt x="22000" y="3895"/>
                  <a:pt x="22000" y="5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5" name="slot.source.6.icon"/>
          <p:cNvSpPr/>
          <p:nvPr/>
        </p:nvSpPr>
        <p:spPr>
          <a:xfrm>
            <a:off x="246888" y="5082924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7000"/>
                </a:moveTo>
                <a:lnTo>
                  <a:pt x="22000" y="7000"/>
                </a:lnTo>
                <a:lnTo>
                  <a:pt x="22000" y="13000"/>
                </a:lnTo>
                <a:moveTo>
                  <a:pt x="22000" y="7000"/>
                </a:moveTo>
                <a:lnTo>
                  <a:pt x="13500" y="15500"/>
                </a:lnTo>
                <a:lnTo>
                  <a:pt x="8500" y="10500"/>
                </a:lnTo>
                <a:lnTo>
                  <a:pt x="2000" y="17000"/>
                </a:lnTo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6" name="slot.source.7.icon"/>
          <p:cNvSpPr/>
          <p:nvPr/>
        </p:nvSpPr>
        <p:spPr>
          <a:xfrm>
            <a:off x="246888" y="5654424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20000"/>
                </a:moveTo>
                <a:cubicBezTo>
                  <a:pt x="21105" y="20000"/>
                  <a:pt x="22000" y="19105"/>
                  <a:pt x="22000" y="18000"/>
                </a:cubicBezTo>
                <a:lnTo>
                  <a:pt x="22000" y="8000"/>
                </a:lnTo>
                <a:cubicBezTo>
                  <a:pt x="22000" y="6895"/>
                  <a:pt x="21105" y="6000"/>
                  <a:pt x="20000" y="6000"/>
                </a:cubicBezTo>
                <a:lnTo>
                  <a:pt x="12100" y="6000"/>
                </a:lnTo>
                <a:cubicBezTo>
                  <a:pt x="11420" y="6007"/>
                  <a:pt x="10784" y="5668"/>
                  <a:pt x="10410" y="5100"/>
                </a:cubicBezTo>
                <a:lnTo>
                  <a:pt x="9600" y="3900"/>
                </a:lnTo>
                <a:cubicBezTo>
                  <a:pt x="9230" y="3338"/>
                  <a:pt x="8603" y="3000"/>
                  <a:pt x="7930" y="3000"/>
                </a:cubicBezTo>
                <a:lnTo>
                  <a:pt x="4000" y="3000"/>
                </a:lnTo>
                <a:cubicBezTo>
                  <a:pt x="2895" y="3000"/>
                  <a:pt x="2000" y="3895"/>
                  <a:pt x="2000" y="5000"/>
                </a:cubicBezTo>
                <a:lnTo>
                  <a:pt x="2000" y="18000"/>
                </a:lnTo>
                <a:cubicBezTo>
                  <a:pt x="2000" y="19105"/>
                  <a:pt x="2895" y="20000"/>
                  <a:pt x="4000" y="20000"/>
                </a:cubicBezTo>
                <a:close/>
              </a:path>
            </a:pathLst>
          </a:custGeom>
          <a:noFill/>
          <a:ln w="18415" cap="rnd">
            <a:solidFill>
              <a:schemeClr val="accent1"/>
            </a:solidFill>
            <a:round/>
          </a:ln>
          <a:effectLst/>
        </p:spPr>
      </p:sp>
      <p:sp>
        <p:nvSpPr>
          <p:cNvPr id="147" name="slot.consumers.group.3"/>
          <p:cNvSpPr txBox="1"/>
          <p:nvPr/>
        </p:nvSpPr>
        <p:spPr>
          <a:xfrm>
            <a:off x="10707624" y="5212079"/>
            <a:ext cx="1271016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People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8" name="struct.consumer.7.card"/>
          <p:cNvSpPr/>
          <p:nvPr/>
        </p:nvSpPr>
        <p:spPr>
          <a:xfrm>
            <a:off x="10707624" y="5404103"/>
            <a:ext cx="1271016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9" name="slot.consumer.7.text"/>
          <p:cNvSpPr txBox="1"/>
          <p:nvPr/>
        </p:nvSpPr>
        <p:spPr>
          <a:xfrm>
            <a:off x="11091672" y="5404103"/>
            <a:ext cx="8686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Analysts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Self-serve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0" name="struct.consumer.8.card"/>
          <p:cNvSpPr/>
          <p:nvPr/>
        </p:nvSpPr>
        <p:spPr>
          <a:xfrm>
            <a:off x="10707624" y="6025895"/>
            <a:ext cx="1271016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51" name="slot.consumer.8.text"/>
          <p:cNvSpPr txBox="1"/>
          <p:nvPr/>
        </p:nvSpPr>
        <p:spPr>
          <a:xfrm>
            <a:off x="11091672" y="6025895"/>
            <a:ext cx="868680" cy="548640"/>
          </a:xfrm>
          <a:prstGeom prst="rect">
            <a:avLst/>
          </a:prstGeom>
          <a:noFill/>
          <a:effectLst/>
        </p:spPr>
        <p:txBody>
          <a:bodyPr wrap="square" tIns="9144" bIns="9144" anchor="ctr" lIns="91440" rIns="91440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Leads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Final sign-off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2" name="slot.consumer.1.icon"/>
          <p:cNvSpPr/>
          <p:nvPr/>
        </p:nvSpPr>
        <p:spPr>
          <a:xfrm>
            <a:off x="10780776" y="132588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0000"/>
                </a:moveTo>
                <a:lnTo>
                  <a:pt x="16000" y="4000"/>
                </a:lnTo>
                <a:cubicBezTo>
                  <a:pt x="16000" y="2895"/>
                  <a:pt x="15105" y="2000"/>
                  <a:pt x="14000" y="2000"/>
                </a:cubicBezTo>
                <a:lnTo>
                  <a:pt x="10000" y="2000"/>
                </a:lnTo>
                <a:cubicBezTo>
                  <a:pt x="8895" y="2000"/>
                  <a:pt x="8000" y="2895"/>
                  <a:pt x="8000" y="4000"/>
                </a:cubicBezTo>
                <a:lnTo>
                  <a:pt x="8000" y="20000"/>
                </a:lnTo>
                <a:moveTo>
                  <a:pt x="4000" y="6000"/>
                </a:moveTo>
                <a:lnTo>
                  <a:pt x="20000" y="6000"/>
                </a:lnTo>
                <a:cubicBezTo>
                  <a:pt x="21105" y="6000"/>
                  <a:pt x="22000" y="6895"/>
                  <a:pt x="22000" y="8000"/>
                </a:cubicBezTo>
                <a:lnTo>
                  <a:pt x="22000" y="18000"/>
                </a:lnTo>
                <a:cubicBezTo>
                  <a:pt x="22000" y="19105"/>
                  <a:pt x="21105" y="20000"/>
                  <a:pt x="20000" y="20000"/>
                </a:cubicBezTo>
                <a:lnTo>
                  <a:pt x="4000" y="20000"/>
                </a:lnTo>
                <a:cubicBezTo>
                  <a:pt x="2895" y="20000"/>
                  <a:pt x="2000" y="19105"/>
                  <a:pt x="2000" y="18000"/>
                </a:cubicBezTo>
                <a:lnTo>
                  <a:pt x="2000" y="8000"/>
                </a:lnTo>
                <a:cubicBezTo>
                  <a:pt x="2000" y="6895"/>
                  <a:pt x="2895" y="6000"/>
                  <a:pt x="4000" y="6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3" name="slot.consumer.2.icon"/>
          <p:cNvSpPr/>
          <p:nvPr/>
        </p:nvSpPr>
        <p:spPr>
          <a:xfrm>
            <a:off x="10780776" y="194767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14000"/>
                </a:moveTo>
                <a:lnTo>
                  <a:pt x="6000" y="14000"/>
                </a:lnTo>
                <a:cubicBezTo>
                  <a:pt x="7105" y="14000"/>
                  <a:pt x="8000" y="14895"/>
                  <a:pt x="8000" y="16000"/>
                </a:cubicBezTo>
                <a:lnTo>
                  <a:pt x="8000" y="19000"/>
                </a:lnTo>
                <a:cubicBezTo>
                  <a:pt x="8000" y="20105"/>
                  <a:pt x="7105" y="21000"/>
                  <a:pt x="6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12000"/>
                </a:lnTo>
                <a:cubicBezTo>
                  <a:pt x="3000" y="7029"/>
                  <a:pt x="7029" y="3000"/>
                  <a:pt x="12000" y="3000"/>
                </a:cubicBezTo>
                <a:cubicBezTo>
                  <a:pt x="16971" y="3000"/>
                  <a:pt x="21000" y="7029"/>
                  <a:pt x="21000" y="12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18000" y="21000"/>
                </a:lnTo>
                <a:cubicBezTo>
                  <a:pt x="16895" y="21000"/>
                  <a:pt x="16000" y="20105"/>
                  <a:pt x="16000" y="19000"/>
                </a:cubicBezTo>
                <a:lnTo>
                  <a:pt x="16000" y="16000"/>
                </a:lnTo>
                <a:cubicBezTo>
                  <a:pt x="16000" y="14895"/>
                  <a:pt x="16895" y="14000"/>
                  <a:pt x="18000" y="14000"/>
                </a:cubicBezTo>
                <a:lnTo>
                  <a:pt x="21000" y="14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4" name="slot.consumer.3.icon"/>
          <p:cNvSpPr/>
          <p:nvPr/>
        </p:nvSpPr>
        <p:spPr>
          <a:xfrm>
            <a:off x="10780776" y="256946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000"/>
                </a:moveTo>
                <a:lnTo>
                  <a:pt x="18000" y="2000"/>
                </a:lnTo>
                <a:cubicBezTo>
                  <a:pt x="19105" y="2000"/>
                  <a:pt x="20000" y="2895"/>
                  <a:pt x="20000" y="4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close/>
                <a:moveTo>
                  <a:pt x="8000" y="6000"/>
                </a:moveTo>
                <a:lnTo>
                  <a:pt x="16000" y="6000"/>
                </a:lnTo>
                <a:moveTo>
                  <a:pt x="16000" y="14000"/>
                </a:moveTo>
                <a:lnTo>
                  <a:pt x="16000" y="18000"/>
                </a:lnTo>
                <a:moveTo>
                  <a:pt x="16000" y="10000"/>
                </a:moveTo>
                <a:lnTo>
                  <a:pt x="16010" y="10000"/>
                </a:lnTo>
                <a:moveTo>
                  <a:pt x="12000" y="10000"/>
                </a:moveTo>
                <a:lnTo>
                  <a:pt x="12010" y="10000"/>
                </a:lnTo>
                <a:moveTo>
                  <a:pt x="8000" y="10000"/>
                </a:moveTo>
                <a:lnTo>
                  <a:pt x="8010" y="10000"/>
                </a:lnTo>
                <a:moveTo>
                  <a:pt x="12000" y="14000"/>
                </a:moveTo>
                <a:lnTo>
                  <a:pt x="12010" y="14000"/>
                </a:lnTo>
                <a:moveTo>
                  <a:pt x="8000" y="14000"/>
                </a:moveTo>
                <a:lnTo>
                  <a:pt x="8010" y="14000"/>
                </a:lnTo>
                <a:moveTo>
                  <a:pt x="12000" y="18000"/>
                </a:moveTo>
                <a:lnTo>
                  <a:pt x="12010" y="18000"/>
                </a:lnTo>
                <a:moveTo>
                  <a:pt x="8000" y="18000"/>
                </a:moveTo>
                <a:lnTo>
                  <a:pt x="8010" y="18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5" name="slot.consumer.4.icon"/>
          <p:cNvSpPr/>
          <p:nvPr/>
        </p:nvSpPr>
        <p:spPr>
          <a:xfrm>
            <a:off x="10780776" y="342900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2000"/>
                </a:moveTo>
                <a:lnTo>
                  <a:pt x="12000" y="17000"/>
                </a:lnTo>
                <a:moveTo>
                  <a:pt x="15000" y="8000"/>
                </a:moveTo>
                <a:lnTo>
                  <a:pt x="15000" y="2000"/>
                </a:lnTo>
                <a:moveTo>
                  <a:pt x="17000" y="8000"/>
                </a:moveTo>
                <a:cubicBezTo>
                  <a:pt x="17552" y="8000"/>
                  <a:pt x="18000" y="8448"/>
                  <a:pt x="18000" y="9000"/>
                </a:cubicBezTo>
                <a:lnTo>
                  <a:pt x="18000" y="13000"/>
                </a:lnTo>
                <a:cubicBezTo>
                  <a:pt x="18000" y="15209"/>
                  <a:pt x="16209" y="17000"/>
                  <a:pt x="14000" y="17000"/>
                </a:cubicBezTo>
                <a:lnTo>
                  <a:pt x="10000" y="17000"/>
                </a:lnTo>
                <a:cubicBezTo>
                  <a:pt x="7791" y="17000"/>
                  <a:pt x="6000" y="15209"/>
                  <a:pt x="6000" y="13000"/>
                </a:cubicBezTo>
                <a:lnTo>
                  <a:pt x="6000" y="9000"/>
                </a:lnTo>
                <a:cubicBezTo>
                  <a:pt x="6000" y="8448"/>
                  <a:pt x="6448" y="8000"/>
                  <a:pt x="7000" y="8000"/>
                </a:cubicBezTo>
                <a:close/>
                <a:moveTo>
                  <a:pt x="9000" y="8000"/>
                </a:moveTo>
                <a:lnTo>
                  <a:pt x="9000" y="2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6" name="slot.consumer.5.icon"/>
          <p:cNvSpPr/>
          <p:nvPr/>
        </p:nvSpPr>
        <p:spPr>
          <a:xfrm>
            <a:off x="10780776" y="405079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8000" y="17000"/>
                </a:moveTo>
                <a:lnTo>
                  <a:pt x="18000" y="9000"/>
                </a:lnTo>
                <a:moveTo>
                  <a:pt x="13000" y="17000"/>
                </a:moveTo>
                <a:lnTo>
                  <a:pt x="13000" y="5000"/>
                </a:lnTo>
                <a:moveTo>
                  <a:pt x="8000" y="17000"/>
                </a:moveTo>
                <a:lnTo>
                  <a:pt x="8000" y="14000"/>
                </a:ln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7" name="slot.consumer.6.icon"/>
          <p:cNvSpPr/>
          <p:nvPr/>
        </p:nvSpPr>
        <p:spPr>
          <a:xfrm>
            <a:off x="10780776" y="4672584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268" y="21000"/>
                </a:moveTo>
                <a:cubicBezTo>
                  <a:pt x="10625" y="21619"/>
                  <a:pt x="11286" y="22000"/>
                  <a:pt x="12000" y="22000"/>
                </a:cubicBezTo>
                <a:cubicBezTo>
                  <a:pt x="12714" y="22000"/>
                  <a:pt x="13375" y="21619"/>
                  <a:pt x="13732" y="21000"/>
                </a:cubicBezTo>
                <a:moveTo>
                  <a:pt x="3262" y="15326"/>
                </a:moveTo>
                <a:cubicBezTo>
                  <a:pt x="2995" y="15619"/>
                  <a:pt x="2926" y="16041"/>
                  <a:pt x="3086" y="16403"/>
                </a:cubicBezTo>
                <a:cubicBezTo>
                  <a:pt x="3245" y="16766"/>
                  <a:pt x="3604" y="17000"/>
                  <a:pt x="4000" y="17000"/>
                </a:cubicBezTo>
                <a:lnTo>
                  <a:pt x="20000" y="17000"/>
                </a:lnTo>
                <a:cubicBezTo>
                  <a:pt x="20396" y="17000"/>
                  <a:pt x="20755" y="16767"/>
                  <a:pt x="20915" y="16405"/>
                </a:cubicBezTo>
                <a:cubicBezTo>
                  <a:pt x="21075" y="16042"/>
                  <a:pt x="21006" y="15620"/>
                  <a:pt x="20740" y="15327"/>
                </a:cubicBezTo>
                <a:cubicBezTo>
                  <a:pt x="19410" y="13956"/>
                  <a:pt x="18000" y="12499"/>
                  <a:pt x="18000" y="8000"/>
                </a:cubicBezTo>
                <a:cubicBezTo>
                  <a:pt x="18000" y="4686"/>
                  <a:pt x="15314" y="2000"/>
                  <a:pt x="12000" y="2000"/>
                </a:cubicBezTo>
                <a:cubicBezTo>
                  <a:pt x="8686" y="2000"/>
                  <a:pt x="6000" y="4686"/>
                  <a:pt x="6000" y="8000"/>
                </a:cubicBezTo>
                <a:cubicBezTo>
                  <a:pt x="6000" y="12499"/>
                  <a:pt x="4589" y="13956"/>
                  <a:pt x="3262" y="15326"/>
                </a:cubicBezTo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8" name="slot.consumer.7.icon"/>
          <p:cNvSpPr/>
          <p:nvPr/>
        </p:nvSpPr>
        <p:spPr>
          <a:xfrm>
            <a:off x="10780776" y="5532120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6000" y="3128"/>
                </a:moveTo>
                <a:cubicBezTo>
                  <a:pt x="17764" y="3585"/>
                  <a:pt x="18996" y="5177"/>
                  <a:pt x="18996" y="7000"/>
                </a:cubicBezTo>
                <a:cubicBezTo>
                  <a:pt x="18996" y="8823"/>
                  <a:pt x="17764" y="10415"/>
                  <a:pt x="16000" y="10872"/>
                </a:cubicBezTo>
                <a:moveTo>
                  <a:pt x="22000" y="21000"/>
                </a:moveTo>
                <a:lnTo>
                  <a:pt x="22000" y="19000"/>
                </a:lnTo>
                <a:cubicBezTo>
                  <a:pt x="21999" y="17177"/>
                  <a:pt x="20765" y="15586"/>
                  <a:pt x="19000" y="15130"/>
                </a:cubicBez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59" name="slot.consumer.8.icon"/>
          <p:cNvSpPr/>
          <p:nvPr/>
        </p:nvSpPr>
        <p:spPr>
          <a:xfrm>
            <a:off x="10780776" y="6153912"/>
            <a:ext cx="292608" cy="292608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11000"/>
                </a:moveTo>
                <a:lnTo>
                  <a:pt x="18000" y="13000"/>
                </a:lnTo>
                <a:lnTo>
                  <a:pt x="22000" y="9000"/>
                </a:lnTo>
                <a:moveTo>
                  <a:pt x="16000" y="21000"/>
                </a:moveTo>
                <a:lnTo>
                  <a:pt x="16000" y="19000"/>
                </a:lnTo>
                <a:cubicBezTo>
                  <a:pt x="16000" y="16791"/>
                  <a:pt x="14209" y="15000"/>
                  <a:pt x="12000" y="15000"/>
                </a:cubicBezTo>
                <a:lnTo>
                  <a:pt x="6000" y="15000"/>
                </a:lnTo>
                <a:cubicBezTo>
                  <a:pt x="3791" y="15000"/>
                  <a:pt x="2000" y="16791"/>
                  <a:pt x="2000" y="19000"/>
                </a:cubicBezTo>
                <a:lnTo>
                  <a:pt x="2000" y="21000"/>
                </a:lnTo>
                <a:moveTo>
                  <a:pt x="13000" y="7000"/>
                </a:moveTo>
                <a:cubicBezTo>
                  <a:pt x="13000" y="9209"/>
                  <a:pt x="11209" y="11000"/>
                  <a:pt x="9000" y="11000"/>
                </a:cubicBezTo>
                <a:cubicBezTo>
                  <a:pt x="6791" y="11000"/>
                  <a:pt x="5000" y="9209"/>
                  <a:pt x="5000" y="7000"/>
                </a:cubicBezTo>
                <a:cubicBezTo>
                  <a:pt x="5000" y="4791"/>
                  <a:pt x="6791" y="3000"/>
                  <a:pt x="9000" y="3000"/>
                </a:cubicBezTo>
                <a:cubicBezTo>
                  <a:pt x="11209" y="3000"/>
                  <a:pt x="13000" y="4791"/>
                  <a:pt x="13000" y="7000"/>
                </a:cubicBezTo>
                <a:close/>
              </a:path>
            </a:pathLst>
          </a:custGeom>
          <a:noFill/>
          <a:ln w="24130" cap="rnd">
            <a:solidFill>
              <a:schemeClr val="accent1"/>
            </a:solidFill>
            <a:round/>
          </a:ln>
          <a:effectLst/>
        </p:spPr>
      </p:sp>
      <p:sp>
        <p:nvSpPr>
          <p:cNvPr id="160" name="slot.lane.3.label"/>
          <p:cNvSpPr txBox="1"/>
          <p:nvPr/>
        </p:nvSpPr>
        <p:spPr>
          <a:xfrm>
            <a:off x="1783080" y="4379976"/>
            <a:ext cx="3822191" cy="173736"/>
          </a:xfrm>
          <a:prstGeom prst="rect">
            <a:avLst/>
          </a:prstGeom>
          <a:noFill/>
          <a:effectLst/>
        </p:spPr>
        <p:txBody>
          <a:bodyPr wrap="square" lIns="27432" tIns="9144" rIns="27432" bIns="9144" anchor="ctr" rtlCol="0">
            <a:noAutofit/>
          </a:bodyPr>
          <a:lstStyle/>
          <a:p>
            <a:pPr marL="0" indent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Document intake</a:t>
            </a:r>
            <a:endParaRPr lang="en-US" sz="1000" b="1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struct.lane.3.step.1.card"/>
          <p:cNvSpPr/>
          <p:nvPr/>
        </p:nvSpPr>
        <p:spPr>
          <a:xfrm>
            <a:off x="1783080" y="4572000"/>
            <a:ext cx="886968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2" name="struct.lane.3.step.2.card"/>
          <p:cNvSpPr/>
          <p:nvPr/>
        </p:nvSpPr>
        <p:spPr>
          <a:xfrm>
            <a:off x="2761488" y="4572000"/>
            <a:ext cx="886968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3" name="struct.lane.3.step.3.card"/>
          <p:cNvSpPr/>
          <p:nvPr/>
        </p:nvSpPr>
        <p:spPr>
          <a:xfrm>
            <a:off x="3739896" y="4572000"/>
            <a:ext cx="886968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4" name="struct.lane.3.step.4.card"/>
          <p:cNvSpPr/>
          <p:nvPr/>
        </p:nvSpPr>
        <p:spPr>
          <a:xfrm>
            <a:off x="4718304" y="4572000"/>
            <a:ext cx="886968" cy="859536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5080">
            <a:solidFill>
              <a:schemeClr val="bg1">
                <a:lumMod val="75000"/>
              </a:schemeClr>
            </a:solidFill>
          </a:ln>
          <a:effectLst/>
        </p:spPr>
        <p:txBody>
          <a:bodyPr lIns="27432" tIns="9144" rIns="27432" bIns="9144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5" name="slot.lane.3.step.1.text"/>
          <p:cNvSpPr txBox="1"/>
          <p:nvPr/>
        </p:nvSpPr>
        <p:spPr>
          <a:xfrm>
            <a:off x="1810512" y="4956048"/>
            <a:ext cx="832103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Parse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Text and tables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lot.lane.3.step.2.text"/>
          <p:cNvSpPr txBox="1"/>
          <p:nvPr/>
        </p:nvSpPr>
        <p:spPr>
          <a:xfrm>
            <a:off x="2788920" y="4956048"/>
            <a:ext cx="832103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Chunk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By section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slot.lane.3.step.3.text"/>
          <p:cNvSpPr txBox="1"/>
          <p:nvPr/>
        </p:nvSpPr>
        <p:spPr>
          <a:xfrm>
            <a:off x="3767328" y="4956048"/>
            <a:ext cx="832103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Embed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Vector per chunk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slot.lane.3.step.4.text"/>
          <p:cNvSpPr txBox="1"/>
          <p:nvPr/>
        </p:nvSpPr>
        <p:spPr>
          <a:xfrm>
            <a:off x="4745736" y="4956048"/>
            <a:ext cx="832103" cy="457200"/>
          </a:xfrm>
          <a:prstGeom prst="rect">
            <a:avLst/>
          </a:prstGeom>
          <a:noFill/>
          <a:effectLst/>
        </p:spPr>
        <p:txBody>
          <a:bodyPr wrap="square" tIns="0" bIns="0" anchor="t" lIns="91440" rIns="91440" rtlCol="0">
            <a:noAutofit/>
          </a:bodyPr>
          <a:lstStyle/>
          <a:p>
            <a:pPr marL="0" indent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kern="0" dirty="0">
                <a:solidFill>
                  <a:schemeClr val="tx1">
                    <a:lumMod val="90000"/>
                    <a:lumOff val="10000"/>
                  </a:schemeClr>
                </a:solidFill>
                <a:latin typeface="Arial"/>
                <a:ea typeface="Arial"/>
                <a:cs typeface="Arial"/>
              </a:rPr>
              <a:t>Index</a:t>
            </a:r>
            <a:endParaRPr lang="en-US" sz="1000" b="1" i="0" kern="0" dirty="0">
              <a:solidFill>
                <a:schemeClr val="tx1">
                  <a:lumMod val="90000"/>
                  <a:lumOff val="10000"/>
                </a:schemeClr>
              </a:solidFill>
              <a:latin typeface="Arial"/>
              <a:ea typeface="Arial"/>
              <a:cs typeface="Arial"/>
            </a:endParaRPr>
          </a:p>
          <a:p>
            <a:pPr marL="0" indent="0" lv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en-US" sz="900" b="0" i="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rPr>
              <a:t>Search ready</a:t>
            </a:r>
            <a:endParaRPr lang="en-US" sz="900" b="0" i="0" kern="0" dirty="0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cxnSp>
        <p:nvCxnSpPr>
          <p:cNvPr id="169" name="struct.lane.3.arrow.1"/>
          <p:cNvCxnSpPr/>
          <p:nvPr/>
        </p:nvCxnSpPr>
        <p:spPr>
          <a:xfrm>
            <a:off x="2660904" y="5001768"/>
            <a:ext cx="109728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170" name="struct.lane.3.arrow.2"/>
          <p:cNvCxnSpPr/>
          <p:nvPr/>
        </p:nvCxnSpPr>
        <p:spPr>
          <a:xfrm>
            <a:off x="3639312" y="5001768"/>
            <a:ext cx="109727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cxnSp>
        <p:nvCxnSpPr>
          <p:cNvPr id="171" name="struct.lane.3.arrow.3"/>
          <p:cNvCxnSpPr/>
          <p:nvPr/>
        </p:nvCxnSpPr>
        <p:spPr>
          <a:xfrm>
            <a:off x="4617720" y="5001768"/>
            <a:ext cx="109728" cy="0"/>
          </a:xfrm>
          <a:prstGeom prst="line">
            <a:avLst/>
          </a:prstGeom>
          <a:ln w="10160">
            <a:solidFill>
              <a:schemeClr val="bg1">
                <a:lumMod val="55000"/>
              </a:schemeClr>
            </a:solidFill>
            <a:tailEnd type="triangle" w="sm"/>
          </a:ln>
          <a:effectLst/>
        </p:spPr>
      </p:cxnSp>
      <p:sp>
        <p:nvSpPr>
          <p:cNvPr id="172" name="slot.lane.1.step.1.icon"/>
          <p:cNvSpPr/>
          <p:nvPr/>
        </p:nvSpPr>
        <p:spPr>
          <a:xfrm>
            <a:off x="2071116" y="2350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3000"/>
                </a:moveTo>
                <a:lnTo>
                  <a:pt x="12000" y="21000"/>
                </a:lnTo>
                <a:lnTo>
                  <a:pt x="8000" y="17000"/>
                </a:lnTo>
                <a:moveTo>
                  <a:pt x="12000" y="21000"/>
                </a:moveTo>
                <a:lnTo>
                  <a:pt x="16000" y="17000"/>
                </a:lnTo>
                <a:moveTo>
                  <a:pt x="4393" y="15269"/>
                </a:moveTo>
                <a:cubicBezTo>
                  <a:pt x="2153" y="13310"/>
                  <a:pt x="1397" y="10148"/>
                  <a:pt x="2508" y="7387"/>
                </a:cubicBezTo>
                <a:cubicBezTo>
                  <a:pt x="3619" y="4627"/>
                  <a:pt x="6354" y="2870"/>
                  <a:pt x="9326" y="3008"/>
                </a:cubicBezTo>
                <a:cubicBezTo>
                  <a:pt x="12299" y="3146"/>
                  <a:pt x="14860" y="5148"/>
                  <a:pt x="15710" y="8000"/>
                </a:cubicBezTo>
                <a:lnTo>
                  <a:pt x="17500" y="8000"/>
                </a:lnTo>
                <a:cubicBezTo>
                  <a:pt x="19497" y="8000"/>
                  <a:pt x="21255" y="9315"/>
                  <a:pt x="21818" y="11230"/>
                </a:cubicBezTo>
                <a:cubicBezTo>
                  <a:pt x="22381" y="13146"/>
                  <a:pt x="21615" y="15203"/>
                  <a:pt x="19936" y="16284"/>
                </a:cubicBez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3" name="slot.lane.1.step.2.icon"/>
          <p:cNvSpPr/>
          <p:nvPr/>
        </p:nvSpPr>
        <p:spPr>
          <a:xfrm>
            <a:off x="3049524" y="2350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000" y="5000"/>
                </a:moveTo>
                <a:lnTo>
                  <a:pt x="21000" y="5000"/>
                </a:lnTo>
                <a:moveTo>
                  <a:pt x="13000" y="12000"/>
                </a:moveTo>
                <a:lnTo>
                  <a:pt x="21000" y="12000"/>
                </a:lnTo>
                <a:moveTo>
                  <a:pt x="13000" y="19000"/>
                </a:moveTo>
                <a:lnTo>
                  <a:pt x="21000" y="19000"/>
                </a:lnTo>
                <a:moveTo>
                  <a:pt x="3000" y="17000"/>
                </a:moveTo>
                <a:lnTo>
                  <a:pt x="5000" y="19000"/>
                </a:lnTo>
                <a:lnTo>
                  <a:pt x="9000" y="15000"/>
                </a:lnTo>
                <a:moveTo>
                  <a:pt x="3000" y="7000"/>
                </a:moveTo>
                <a:lnTo>
                  <a:pt x="5000" y="9000"/>
                </a:lnTo>
                <a:lnTo>
                  <a:pt x="9000" y="5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4" name="slot.lane.1.step.3.icon"/>
          <p:cNvSpPr/>
          <p:nvPr/>
        </p:nvSpPr>
        <p:spPr>
          <a:xfrm>
            <a:off x="4027932" y="2350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3000"/>
                </a:moveTo>
                <a:lnTo>
                  <a:pt x="12000" y="21000"/>
                </a:lnTo>
                <a:moveTo>
                  <a:pt x="5000" y="3000"/>
                </a:moveTo>
                <a:lnTo>
                  <a:pt x="19000" y="3000"/>
                </a:lnTo>
                <a:cubicBezTo>
                  <a:pt x="20105" y="3000"/>
                  <a:pt x="21000" y="3895"/>
                  <a:pt x="21000" y="5000"/>
                </a:cubicBezTo>
                <a:lnTo>
                  <a:pt x="21000" y="19000"/>
                </a:lnTo>
                <a:cubicBezTo>
                  <a:pt x="21000" y="20105"/>
                  <a:pt x="20105" y="21000"/>
                  <a:pt x="19000" y="21000"/>
                </a:cubicBezTo>
                <a:lnTo>
                  <a:pt x="5000" y="21000"/>
                </a:lnTo>
                <a:cubicBezTo>
                  <a:pt x="3895" y="21000"/>
                  <a:pt x="3000" y="20105"/>
                  <a:pt x="3000" y="19000"/>
                </a:cubicBezTo>
                <a:lnTo>
                  <a:pt x="3000" y="5000"/>
                </a:lnTo>
                <a:cubicBezTo>
                  <a:pt x="3000" y="3895"/>
                  <a:pt x="3895" y="3000"/>
                  <a:pt x="5000" y="3000"/>
                </a:cubicBezTo>
                <a:close/>
                <a:moveTo>
                  <a:pt x="3000" y="9000"/>
                </a:moveTo>
                <a:lnTo>
                  <a:pt x="21000" y="9000"/>
                </a:lnTo>
                <a:moveTo>
                  <a:pt x="3000" y="15000"/>
                </a:moveTo>
                <a:lnTo>
                  <a:pt x="21000" y="15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5" name="slot.lane.1.step.4.icon"/>
          <p:cNvSpPr/>
          <p:nvPr/>
        </p:nvSpPr>
        <p:spPr>
          <a:xfrm>
            <a:off x="5006340" y="2350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2000"/>
                </a:moveTo>
                <a:lnTo>
                  <a:pt x="12000" y="12000"/>
                </a:lnTo>
                <a:moveTo>
                  <a:pt x="16000" y="17000"/>
                </a:moveTo>
                <a:lnTo>
                  <a:pt x="18000" y="19000"/>
                </a:lnTo>
                <a:lnTo>
                  <a:pt x="22000" y="15000"/>
                </a:lnTo>
                <a:moveTo>
                  <a:pt x="21000" y="11127"/>
                </a:moveTo>
                <a:lnTo>
                  <a:pt x="21000" y="8000"/>
                </a:lnTo>
                <a:cubicBezTo>
                  <a:pt x="20999" y="7286"/>
                  <a:pt x="20618" y="6627"/>
                  <a:pt x="20000" y="6270"/>
                </a:cubicBezTo>
                <a:lnTo>
                  <a:pt x="13000" y="2270"/>
                </a:lnTo>
                <a:cubicBezTo>
                  <a:pt x="12381" y="1913"/>
                  <a:pt x="11619" y="1913"/>
                  <a:pt x="11000" y="2270"/>
                </a:cubicBezTo>
                <a:lnTo>
                  <a:pt x="4000" y="6270"/>
                </a:lnTo>
                <a:cubicBezTo>
                  <a:pt x="3382" y="6627"/>
                  <a:pt x="3001" y="7286"/>
                  <a:pt x="3000" y="8000"/>
                </a:cubicBezTo>
                <a:lnTo>
                  <a:pt x="3000" y="16000"/>
                </a:lnTo>
                <a:cubicBezTo>
                  <a:pt x="3001" y="16713"/>
                  <a:pt x="3382" y="17372"/>
                  <a:pt x="4000" y="17729"/>
                </a:cubicBezTo>
                <a:lnTo>
                  <a:pt x="11000" y="21729"/>
                </a:lnTo>
                <a:cubicBezTo>
                  <a:pt x="11619" y="22087"/>
                  <a:pt x="12381" y="22087"/>
                  <a:pt x="13000" y="21730"/>
                </a:cubicBezTo>
                <a:lnTo>
                  <a:pt x="14320" y="20977"/>
                </a:lnTo>
                <a:moveTo>
                  <a:pt x="3290" y="7000"/>
                </a:moveTo>
                <a:lnTo>
                  <a:pt x="12000" y="12000"/>
                </a:lnTo>
                <a:lnTo>
                  <a:pt x="20710" y="7000"/>
                </a:lnTo>
                <a:moveTo>
                  <a:pt x="7500" y="4270"/>
                </a:moveTo>
                <a:lnTo>
                  <a:pt x="16497" y="9418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6" name="slot.lane.2.step.1.icon"/>
          <p:cNvSpPr/>
          <p:nvPr/>
        </p:nvSpPr>
        <p:spPr>
          <a:xfrm>
            <a:off x="2071116" y="3493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7" name="slot.lane.2.step.2.icon"/>
          <p:cNvSpPr/>
          <p:nvPr/>
        </p:nvSpPr>
        <p:spPr>
          <a:xfrm>
            <a:off x="3049524" y="3493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8000" y="6000"/>
                </a:moveTo>
                <a:lnTo>
                  <a:pt x="12000" y="2000"/>
                </a:lnTo>
                <a:lnTo>
                  <a:pt x="16000" y="6000"/>
                </a:lnTo>
                <a:moveTo>
                  <a:pt x="12000" y="2000"/>
                </a:moveTo>
                <a:lnTo>
                  <a:pt x="12000" y="12300"/>
                </a:lnTo>
                <a:cubicBezTo>
                  <a:pt x="12012" y="13376"/>
                  <a:pt x="11589" y="14411"/>
                  <a:pt x="10828" y="15172"/>
                </a:cubicBezTo>
                <a:lnTo>
                  <a:pt x="4000" y="22000"/>
                </a:lnTo>
                <a:moveTo>
                  <a:pt x="20000" y="22000"/>
                </a:moveTo>
                <a:lnTo>
                  <a:pt x="15000" y="17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8" name="slot.lane.2.step.3.icon"/>
          <p:cNvSpPr/>
          <p:nvPr/>
        </p:nvSpPr>
        <p:spPr>
          <a:xfrm>
            <a:off x="4027932" y="3493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4000"/>
                </a:moveTo>
                <a:lnTo>
                  <a:pt x="16000" y="10000"/>
                </a:lnTo>
                <a:moveTo>
                  <a:pt x="3340" y="19000"/>
                </a:moveTo>
                <a:cubicBezTo>
                  <a:pt x="913" y="14797"/>
                  <a:pt x="1854" y="9459"/>
                  <a:pt x="5572" y="6339"/>
                </a:cubicBezTo>
                <a:cubicBezTo>
                  <a:pt x="9290" y="3220"/>
                  <a:pt x="14710" y="3220"/>
                  <a:pt x="18428" y="6339"/>
                </a:cubicBezTo>
                <a:cubicBezTo>
                  <a:pt x="22146" y="9459"/>
                  <a:pt x="23087" y="14797"/>
                  <a:pt x="20660" y="19000"/>
                </a:cubicBez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79" name="slot.lane.2.step.4.icon"/>
          <p:cNvSpPr/>
          <p:nvPr/>
        </p:nvSpPr>
        <p:spPr>
          <a:xfrm>
            <a:off x="5006340" y="3493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0000" y="16000"/>
                </a:moveTo>
                <a:lnTo>
                  <a:pt x="10010" y="16000"/>
                </a:lnTo>
                <a:moveTo>
                  <a:pt x="2212" y="11577"/>
                </a:moveTo>
                <a:cubicBezTo>
                  <a:pt x="2073" y="11855"/>
                  <a:pt x="2000" y="12162"/>
                  <a:pt x="2000" y="12473"/>
                </a:cubicBezTo>
                <a:lnTo>
                  <a:pt x="2000" y="18000"/>
                </a:lnTo>
                <a:cubicBezTo>
                  <a:pt x="2000" y="19105"/>
                  <a:pt x="2895" y="20000"/>
                  <a:pt x="4000" y="20000"/>
                </a:cubicBezTo>
                <a:lnTo>
                  <a:pt x="20000" y="20000"/>
                </a:lnTo>
                <a:cubicBezTo>
                  <a:pt x="21105" y="20000"/>
                  <a:pt x="22000" y="19105"/>
                  <a:pt x="22000" y="18000"/>
                </a:cubicBezTo>
                <a:lnTo>
                  <a:pt x="22000" y="12473"/>
                </a:lnTo>
                <a:cubicBezTo>
                  <a:pt x="22000" y="12162"/>
                  <a:pt x="21927" y="11855"/>
                  <a:pt x="21788" y="11577"/>
                </a:cubicBezTo>
                <a:lnTo>
                  <a:pt x="18550" y="5110"/>
                </a:lnTo>
                <a:cubicBezTo>
                  <a:pt x="18212" y="4430"/>
                  <a:pt x="17519" y="4000"/>
                  <a:pt x="16760" y="4000"/>
                </a:cubicBezTo>
                <a:lnTo>
                  <a:pt x="7240" y="4000"/>
                </a:lnTo>
                <a:cubicBezTo>
                  <a:pt x="6481" y="4000"/>
                  <a:pt x="5788" y="4430"/>
                  <a:pt x="5450" y="5110"/>
                </a:cubicBezTo>
                <a:close/>
                <a:moveTo>
                  <a:pt x="21946" y="12013"/>
                </a:moveTo>
                <a:lnTo>
                  <a:pt x="2054" y="12013"/>
                </a:lnTo>
                <a:moveTo>
                  <a:pt x="6000" y="16000"/>
                </a:moveTo>
                <a:lnTo>
                  <a:pt x="6010" y="16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80" name="slot.lane.3.step.1.icon"/>
          <p:cNvSpPr/>
          <p:nvPr/>
        </p:nvSpPr>
        <p:spPr>
          <a:xfrm>
            <a:off x="2071116" y="4636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4000" y="14500"/>
                </a:moveTo>
                <a:cubicBezTo>
                  <a:pt x="14000" y="15881"/>
                  <a:pt x="12881" y="17000"/>
                  <a:pt x="11500" y="17000"/>
                </a:cubicBezTo>
                <a:cubicBezTo>
                  <a:pt x="10119" y="17000"/>
                  <a:pt x="9000" y="15881"/>
                  <a:pt x="9000" y="14500"/>
                </a:cubicBezTo>
                <a:cubicBezTo>
                  <a:pt x="9000" y="13119"/>
                  <a:pt x="10119" y="12000"/>
                  <a:pt x="11500" y="12000"/>
                </a:cubicBezTo>
                <a:cubicBezTo>
                  <a:pt x="12881" y="12000"/>
                  <a:pt x="14000" y="13119"/>
                  <a:pt x="14000" y="14500"/>
                </a:cubicBezTo>
                <a:close/>
                <a:moveTo>
                  <a:pt x="13300" y="16300"/>
                </a:moveTo>
                <a:lnTo>
                  <a:pt x="15000" y="18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81" name="slot.lane.3.step.2.icon"/>
          <p:cNvSpPr/>
          <p:nvPr/>
        </p:nvSpPr>
        <p:spPr>
          <a:xfrm>
            <a:off x="3049524" y="4636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3000"/>
                </a:moveTo>
                <a:lnTo>
                  <a:pt x="21000" y="3000"/>
                </a:lnTo>
                <a:lnTo>
                  <a:pt x="21000" y="8000"/>
                </a:lnTo>
                <a:moveTo>
                  <a:pt x="8000" y="3000"/>
                </a:moveTo>
                <a:lnTo>
                  <a:pt x="3000" y="3000"/>
                </a:lnTo>
                <a:lnTo>
                  <a:pt x="3000" y="8000"/>
                </a:lnTo>
                <a:moveTo>
                  <a:pt x="12000" y="22000"/>
                </a:moveTo>
                <a:lnTo>
                  <a:pt x="12000" y="13700"/>
                </a:lnTo>
                <a:cubicBezTo>
                  <a:pt x="12012" y="12624"/>
                  <a:pt x="11589" y="11589"/>
                  <a:pt x="10828" y="10828"/>
                </a:cubicBezTo>
                <a:lnTo>
                  <a:pt x="3000" y="3000"/>
                </a:lnTo>
                <a:moveTo>
                  <a:pt x="15000" y="9000"/>
                </a:moveTo>
                <a:lnTo>
                  <a:pt x="21000" y="3000"/>
                </a:lnTo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82" name="slot.lane.3.step.3.icon"/>
          <p:cNvSpPr/>
          <p:nvPr/>
        </p:nvSpPr>
        <p:spPr>
          <a:xfrm>
            <a:off x="4027932" y="4636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5000"/>
                </a:moveTo>
                <a:cubicBezTo>
                  <a:pt x="12003" y="3911"/>
                  <a:pt x="11416" y="2906"/>
                  <a:pt x="10466" y="2374"/>
                </a:cubicBezTo>
                <a:cubicBezTo>
                  <a:pt x="9516" y="1842"/>
                  <a:pt x="8353" y="1866"/>
                  <a:pt x="7426" y="2437"/>
                </a:cubicBezTo>
                <a:cubicBezTo>
                  <a:pt x="6499" y="3009"/>
                  <a:pt x="5954" y="4037"/>
                  <a:pt x="6003" y="5125"/>
                </a:cubicBez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  <a:cubicBezTo>
                  <a:pt x="2450" y="11729"/>
                  <a:pt x="1902" y="13018"/>
                  <a:pt x="2013" y="14336"/>
                </a:cubicBezTo>
                <a:cubicBezTo>
                  <a:pt x="2125" y="15654"/>
                  <a:pt x="2881" y="16833"/>
                  <a:pt x="4033" y="17483"/>
                </a:cubicBezTo>
                <a:cubicBezTo>
                  <a:pt x="3842" y="18961"/>
                  <a:pt x="4488" y="20422"/>
                  <a:pt x="5710" y="21275"/>
                </a:cubicBezTo>
                <a:cubicBezTo>
                  <a:pt x="6931" y="22128"/>
                  <a:pt x="8526" y="22232"/>
                  <a:pt x="9847" y="21544"/>
                </a:cubicBezTo>
                <a:cubicBezTo>
                  <a:pt x="11169" y="20856"/>
                  <a:pt x="11998" y="19490"/>
                  <a:pt x="12000" y="18000"/>
                </a:cubicBezTo>
                <a:close/>
                <a:moveTo>
                  <a:pt x="9000" y="13000"/>
                </a:moveTo>
                <a:cubicBezTo>
                  <a:pt x="10717" y="12396"/>
                  <a:pt x="11901" y="10817"/>
                  <a:pt x="12000" y="9000"/>
                </a:cubicBezTo>
                <a:moveTo>
                  <a:pt x="6003" y="5125"/>
                </a:moveTo>
                <a:cubicBezTo>
                  <a:pt x="6023" y="5609"/>
                  <a:pt x="6159" y="6080"/>
                  <a:pt x="6401" y="6500"/>
                </a:cubicBezTo>
                <a:moveTo>
                  <a:pt x="3477" y="10896"/>
                </a:moveTo>
                <a:cubicBezTo>
                  <a:pt x="3660" y="10747"/>
                  <a:pt x="3856" y="10614"/>
                  <a:pt x="4062" y="10500"/>
                </a:cubicBezTo>
                <a:moveTo>
                  <a:pt x="6000" y="18000"/>
                </a:moveTo>
                <a:cubicBezTo>
                  <a:pt x="5311" y="18000"/>
                  <a:pt x="4633" y="17823"/>
                  <a:pt x="4033" y="17484"/>
                </a:cubicBezTo>
                <a:moveTo>
                  <a:pt x="12000" y="13000"/>
                </a:moveTo>
                <a:lnTo>
                  <a:pt x="16000" y="13000"/>
                </a:lnTo>
                <a:moveTo>
                  <a:pt x="12000" y="18000"/>
                </a:moveTo>
                <a:lnTo>
                  <a:pt x="18000" y="18000"/>
                </a:lnTo>
                <a:cubicBezTo>
                  <a:pt x="19105" y="18000"/>
                  <a:pt x="20000" y="18895"/>
                  <a:pt x="20000" y="20000"/>
                </a:cubicBezTo>
                <a:lnTo>
                  <a:pt x="20000" y="21000"/>
                </a:lnTo>
                <a:moveTo>
                  <a:pt x="12000" y="8000"/>
                </a:moveTo>
                <a:lnTo>
                  <a:pt x="20000" y="8000"/>
                </a:lnTo>
                <a:moveTo>
                  <a:pt x="16000" y="8000"/>
                </a:moveTo>
                <a:lnTo>
                  <a:pt x="16000" y="5000"/>
                </a:lnTo>
                <a:cubicBezTo>
                  <a:pt x="16000" y="3895"/>
                  <a:pt x="16895" y="3000"/>
                  <a:pt x="18000" y="3000"/>
                </a:cubicBezTo>
                <a:moveTo>
                  <a:pt x="16500" y="13000"/>
                </a:moveTo>
                <a:cubicBezTo>
                  <a:pt x="16500" y="13276"/>
                  <a:pt x="16276" y="13500"/>
                  <a:pt x="16000" y="13500"/>
                </a:cubicBezTo>
                <a:cubicBezTo>
                  <a:pt x="15724" y="13500"/>
                  <a:pt x="15500" y="13276"/>
                  <a:pt x="15500" y="13000"/>
                </a:cubicBezTo>
                <a:cubicBezTo>
                  <a:pt x="15500" y="12724"/>
                  <a:pt x="15724" y="12500"/>
                  <a:pt x="16000" y="12500"/>
                </a:cubicBezTo>
                <a:cubicBezTo>
                  <a:pt x="16276" y="12500"/>
                  <a:pt x="16500" y="12724"/>
                  <a:pt x="16500" y="13000"/>
                </a:cubicBezTo>
                <a:close/>
                <a:moveTo>
                  <a:pt x="18500" y="3000"/>
                </a:moveTo>
                <a:cubicBezTo>
                  <a:pt x="18500" y="3276"/>
                  <a:pt x="18276" y="3500"/>
                  <a:pt x="18000" y="3500"/>
                </a:cubicBezTo>
                <a:cubicBezTo>
                  <a:pt x="17724" y="3500"/>
                  <a:pt x="17500" y="3276"/>
                  <a:pt x="17500" y="3000"/>
                </a:cubicBezTo>
                <a:cubicBezTo>
                  <a:pt x="17500" y="2724"/>
                  <a:pt x="17724" y="2500"/>
                  <a:pt x="18000" y="2500"/>
                </a:cubicBezTo>
                <a:cubicBezTo>
                  <a:pt x="18276" y="2500"/>
                  <a:pt x="18500" y="2724"/>
                  <a:pt x="18500" y="3000"/>
                </a:cubicBezTo>
                <a:close/>
                <a:moveTo>
                  <a:pt x="20500" y="21000"/>
                </a:moveTo>
                <a:cubicBezTo>
                  <a:pt x="20500" y="21276"/>
                  <a:pt x="20276" y="21500"/>
                  <a:pt x="20000" y="21500"/>
                </a:cubicBezTo>
                <a:cubicBezTo>
                  <a:pt x="19724" y="21500"/>
                  <a:pt x="19500" y="21276"/>
                  <a:pt x="19500" y="21000"/>
                </a:cubicBezTo>
                <a:cubicBezTo>
                  <a:pt x="19500" y="20724"/>
                  <a:pt x="19724" y="20500"/>
                  <a:pt x="20000" y="20500"/>
                </a:cubicBezTo>
                <a:cubicBezTo>
                  <a:pt x="20276" y="20500"/>
                  <a:pt x="20500" y="20724"/>
                  <a:pt x="20500" y="21000"/>
                </a:cubicBezTo>
                <a:close/>
                <a:moveTo>
                  <a:pt x="20500" y="8000"/>
                </a:moveTo>
                <a:cubicBezTo>
                  <a:pt x="20500" y="8276"/>
                  <a:pt x="20276" y="8500"/>
                  <a:pt x="20000" y="8500"/>
                </a:cubicBezTo>
                <a:cubicBezTo>
                  <a:pt x="19724" y="8500"/>
                  <a:pt x="19500" y="8276"/>
                  <a:pt x="19500" y="8000"/>
                </a:cubicBezTo>
                <a:cubicBezTo>
                  <a:pt x="19500" y="7724"/>
                  <a:pt x="19724" y="7500"/>
                  <a:pt x="20000" y="7500"/>
                </a:cubicBezTo>
                <a:cubicBezTo>
                  <a:pt x="20276" y="7500"/>
                  <a:pt x="20500" y="7724"/>
                  <a:pt x="20500" y="8000"/>
                </a:cubicBezTo>
                <a:close/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83" name="slot.lane.3.step.4.icon"/>
          <p:cNvSpPr/>
          <p:nvPr/>
        </p:nvSpPr>
        <p:spPr>
          <a:xfrm>
            <a:off x="5006340" y="4636008"/>
            <a:ext cx="310896" cy="310896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11693"/>
                </a:moveTo>
                <a:lnTo>
                  <a:pt x="21000" y="5000"/>
                </a:lnTo>
                <a:moveTo>
                  <a:pt x="22000" y="22000"/>
                </a:moveTo>
                <a:lnTo>
                  <a:pt x="20125" y="20125"/>
                </a:lnTo>
                <a:moveTo>
                  <a:pt x="3000" y="12000"/>
                </a:moveTo>
                <a:cubicBezTo>
                  <a:pt x="3000" y="13617"/>
                  <a:pt x="6847" y="14944"/>
                  <a:pt x="11697" y="14998"/>
                </a:cubicBezTo>
                <a:moveTo>
                  <a:pt x="3000" y="5000"/>
                </a:moveTo>
                <a:lnTo>
                  <a:pt x="3000" y="19000"/>
                </a:lnTo>
                <a:cubicBezTo>
                  <a:pt x="3000" y="19812"/>
                  <a:pt x="3987" y="20589"/>
                  <a:pt x="5735" y="21154"/>
                </a:cubicBezTo>
                <a:cubicBezTo>
                  <a:pt x="7484" y="21720"/>
                  <a:pt x="9845" y="22024"/>
                  <a:pt x="12280" y="21999"/>
                </a:cubicBezTo>
                <a:moveTo>
                  <a:pt x="21000" y="18000"/>
                </a:moveTo>
                <a:cubicBezTo>
                  <a:pt x="21000" y="19657"/>
                  <a:pt x="19657" y="21000"/>
                  <a:pt x="18000" y="21000"/>
                </a:cubicBezTo>
                <a:cubicBezTo>
                  <a:pt x="16343" y="21000"/>
                  <a:pt x="15000" y="19657"/>
                  <a:pt x="15000" y="18000"/>
                </a:cubicBezTo>
                <a:cubicBezTo>
                  <a:pt x="15000" y="16343"/>
                  <a:pt x="16343" y="15000"/>
                  <a:pt x="18000" y="15000"/>
                </a:cubicBezTo>
                <a:cubicBezTo>
                  <a:pt x="19657" y="15000"/>
                  <a:pt x="21000" y="16343"/>
                  <a:pt x="21000" y="18000"/>
                </a:cubicBezTo>
                <a:close/>
                <a:moveTo>
                  <a:pt x="21000" y="5000"/>
                </a:moveTo>
                <a:cubicBezTo>
                  <a:pt x="21000" y="6657"/>
                  <a:pt x="16971" y="8000"/>
                  <a:pt x="12000" y="8000"/>
                </a:cubicBezTo>
                <a:cubicBezTo>
                  <a:pt x="7029" y="8000"/>
                  <a:pt x="3000" y="6657"/>
                  <a:pt x="3000" y="5000"/>
                </a:cubicBezTo>
                <a:cubicBezTo>
                  <a:pt x="3000" y="3343"/>
                  <a:pt x="7029" y="2000"/>
                  <a:pt x="12000" y="2000"/>
                </a:cubicBezTo>
                <a:cubicBezTo>
                  <a:pt x="16971" y="2000"/>
                  <a:pt x="21000" y="3343"/>
                  <a:pt x="21000" y="5000"/>
                </a:cubicBezTo>
                <a:close/>
              </a:path>
            </a:pathLst>
          </a:custGeom>
          <a:noFill/>
          <a:ln w="26035" cap="rnd">
            <a:solidFill>
              <a:schemeClr val="accent1"/>
            </a:solidFill>
            <a:round/>
          </a:ln>
          <a:effectLst/>
        </p:spPr>
      </p:sp>
      <p:sp>
        <p:nvSpPr>
          <p:cNvPr id="184" name="slot.models.icon"/>
          <p:cNvSpPr/>
          <p:nvPr/>
        </p:nvSpPr>
        <p:spPr>
          <a:xfrm>
            <a:off x="5971032" y="2340864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20000"/>
                </a:moveTo>
                <a:lnTo>
                  <a:pt x="12000" y="22000"/>
                </a:lnTo>
                <a:moveTo>
                  <a:pt x="12000" y="2000"/>
                </a:moveTo>
                <a:lnTo>
                  <a:pt x="12000" y="4000"/>
                </a:lnTo>
                <a:moveTo>
                  <a:pt x="17000" y="20000"/>
                </a:moveTo>
                <a:lnTo>
                  <a:pt x="17000" y="22000"/>
                </a:lnTo>
                <a:moveTo>
                  <a:pt x="17000" y="2000"/>
                </a:moveTo>
                <a:lnTo>
                  <a:pt x="17000" y="4000"/>
                </a:lnTo>
                <a:moveTo>
                  <a:pt x="2000" y="12000"/>
                </a:moveTo>
                <a:lnTo>
                  <a:pt x="4000" y="12000"/>
                </a:lnTo>
                <a:moveTo>
                  <a:pt x="2000" y="17000"/>
                </a:moveTo>
                <a:lnTo>
                  <a:pt x="4000" y="17000"/>
                </a:lnTo>
                <a:moveTo>
                  <a:pt x="2000" y="7000"/>
                </a:moveTo>
                <a:lnTo>
                  <a:pt x="4000" y="7000"/>
                </a:lnTo>
                <a:moveTo>
                  <a:pt x="20000" y="12000"/>
                </a:moveTo>
                <a:lnTo>
                  <a:pt x="22000" y="12000"/>
                </a:lnTo>
                <a:moveTo>
                  <a:pt x="20000" y="17000"/>
                </a:moveTo>
                <a:lnTo>
                  <a:pt x="22000" y="17000"/>
                </a:lnTo>
                <a:moveTo>
                  <a:pt x="20000" y="7000"/>
                </a:moveTo>
                <a:lnTo>
                  <a:pt x="22000" y="7000"/>
                </a:lnTo>
                <a:moveTo>
                  <a:pt x="7000" y="20000"/>
                </a:moveTo>
                <a:lnTo>
                  <a:pt x="7000" y="22000"/>
                </a:lnTo>
                <a:moveTo>
                  <a:pt x="7000" y="2000"/>
                </a:moveTo>
                <a:lnTo>
                  <a:pt x="7000" y="4000"/>
                </a:lnTo>
                <a:moveTo>
                  <a:pt x="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18000"/>
                </a:lnTo>
                <a:cubicBezTo>
                  <a:pt x="20000" y="19105"/>
                  <a:pt x="19105" y="20000"/>
                  <a:pt x="18000" y="20000"/>
                </a:cubicBezTo>
                <a:lnTo>
                  <a:pt x="6000" y="20000"/>
                </a:lnTo>
                <a:cubicBezTo>
                  <a:pt x="4895" y="20000"/>
                  <a:pt x="4000" y="19105"/>
                  <a:pt x="4000" y="18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close/>
                <a:moveTo>
                  <a:pt x="9000" y="8000"/>
                </a:moveTo>
                <a:lnTo>
                  <a:pt x="15000" y="8000"/>
                </a:lnTo>
                <a:cubicBezTo>
                  <a:pt x="15552" y="8000"/>
                  <a:pt x="16000" y="8448"/>
                  <a:pt x="16000" y="9000"/>
                </a:cubicBezTo>
                <a:lnTo>
                  <a:pt x="16000" y="15000"/>
                </a:lnTo>
                <a:cubicBezTo>
                  <a:pt x="16000" y="15552"/>
                  <a:pt x="15552" y="16000"/>
                  <a:pt x="15000" y="16000"/>
                </a:cubicBezTo>
                <a:lnTo>
                  <a:pt x="9000" y="16000"/>
                </a:lnTo>
                <a:cubicBezTo>
                  <a:pt x="8448" y="16000"/>
                  <a:pt x="8000" y="15552"/>
                  <a:pt x="8000" y="15000"/>
                </a:cubicBezTo>
                <a:lnTo>
                  <a:pt x="8000" y="9000"/>
                </a:lnTo>
                <a:cubicBezTo>
                  <a:pt x="8000" y="8448"/>
                  <a:pt x="8448" y="8000"/>
                  <a:pt x="9000" y="8000"/>
                </a:cubicBezTo>
                <a:close/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185" name="slot.service.1.icon"/>
          <p:cNvSpPr/>
          <p:nvPr/>
        </p:nvSpPr>
        <p:spPr>
          <a:xfrm>
            <a:off x="5988318" y="333442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8000"/>
                </a:moveTo>
                <a:lnTo>
                  <a:pt x="12000" y="5000"/>
                </a:lnTo>
                <a:moveTo>
                  <a:pt x="15000" y="13000"/>
                </a:moveTo>
                <a:cubicBezTo>
                  <a:pt x="13223" y="12481"/>
                  <a:pt x="12001" y="10851"/>
                  <a:pt x="12000" y="9000"/>
                </a:cubicBezTo>
                <a:cubicBezTo>
                  <a:pt x="11999" y="10851"/>
                  <a:pt x="10777" y="12481"/>
                  <a:pt x="9000" y="13000"/>
                </a:cubicBezTo>
                <a:moveTo>
                  <a:pt x="17598" y="6500"/>
                </a:moveTo>
                <a:cubicBezTo>
                  <a:pt x="18229" y="5408"/>
                  <a:pt x="18109" y="4038"/>
                  <a:pt x="17298" y="3072"/>
                </a:cubicBezTo>
                <a:cubicBezTo>
                  <a:pt x="16487" y="2105"/>
                  <a:pt x="15159" y="1749"/>
                  <a:pt x="13974" y="2181"/>
                </a:cubicBezTo>
                <a:cubicBezTo>
                  <a:pt x="12789" y="2612"/>
                  <a:pt x="12000" y="3739"/>
                  <a:pt x="12000" y="5000"/>
                </a:cubicBezTo>
                <a:cubicBezTo>
                  <a:pt x="12000" y="3739"/>
                  <a:pt x="11211" y="2612"/>
                  <a:pt x="10026" y="2181"/>
                </a:cubicBezTo>
                <a:cubicBezTo>
                  <a:pt x="8841" y="1749"/>
                  <a:pt x="7513" y="2105"/>
                  <a:pt x="6702" y="3072"/>
                </a:cubicBezTo>
                <a:cubicBezTo>
                  <a:pt x="5891" y="4038"/>
                  <a:pt x="5771" y="5408"/>
                  <a:pt x="6402" y="6500"/>
                </a:cubicBezTo>
                <a:moveTo>
                  <a:pt x="17997" y="5125"/>
                </a:moveTo>
                <a:cubicBezTo>
                  <a:pt x="19188" y="5431"/>
                  <a:pt x="20172" y="6268"/>
                  <a:pt x="20665" y="7395"/>
                </a:cubicBezTo>
                <a:cubicBezTo>
                  <a:pt x="21158" y="8521"/>
                  <a:pt x="21106" y="9812"/>
                  <a:pt x="20523" y="10895"/>
                </a:cubicBezTo>
                <a:moveTo>
                  <a:pt x="18000" y="18000"/>
                </a:moveTo>
                <a:cubicBezTo>
                  <a:pt x="19810" y="18000"/>
                  <a:pt x="21395" y="16784"/>
                  <a:pt x="21864" y="15035"/>
                </a:cubicBezTo>
                <a:cubicBezTo>
                  <a:pt x="22332" y="13287"/>
                  <a:pt x="21568" y="11441"/>
                  <a:pt x="20000" y="10536"/>
                </a:cubicBezTo>
                <a:moveTo>
                  <a:pt x="19967" y="17483"/>
                </a:moveTo>
                <a:cubicBezTo>
                  <a:pt x="20158" y="18961"/>
                  <a:pt x="19512" y="20422"/>
                  <a:pt x="18290" y="21275"/>
                </a:cubicBezTo>
                <a:cubicBezTo>
                  <a:pt x="17069" y="22128"/>
                  <a:pt x="15474" y="22232"/>
                  <a:pt x="14153" y="21544"/>
                </a:cubicBezTo>
                <a:cubicBezTo>
                  <a:pt x="12831" y="20856"/>
                  <a:pt x="12002" y="19490"/>
                  <a:pt x="12000" y="18000"/>
                </a:cubicBezTo>
                <a:cubicBezTo>
                  <a:pt x="11998" y="19490"/>
                  <a:pt x="11169" y="20856"/>
                  <a:pt x="9847" y="21544"/>
                </a:cubicBezTo>
                <a:cubicBezTo>
                  <a:pt x="8526" y="22232"/>
                  <a:pt x="6931" y="22128"/>
                  <a:pt x="5710" y="21275"/>
                </a:cubicBezTo>
                <a:cubicBezTo>
                  <a:pt x="4488" y="20422"/>
                  <a:pt x="3842" y="18961"/>
                  <a:pt x="4033" y="17483"/>
                </a:cubicBezTo>
                <a:moveTo>
                  <a:pt x="6000" y="18000"/>
                </a:moveTo>
                <a:cubicBezTo>
                  <a:pt x="4190" y="18000"/>
                  <a:pt x="2605" y="16784"/>
                  <a:pt x="2136" y="15035"/>
                </a:cubicBezTo>
                <a:cubicBezTo>
                  <a:pt x="1668" y="13287"/>
                  <a:pt x="2432" y="11441"/>
                  <a:pt x="4000" y="10536"/>
                </a:cubicBezTo>
                <a:moveTo>
                  <a:pt x="6003" y="5125"/>
                </a:moveTo>
                <a:cubicBezTo>
                  <a:pt x="4812" y="5431"/>
                  <a:pt x="3828" y="6268"/>
                  <a:pt x="3335" y="7395"/>
                </a:cubicBezTo>
                <a:cubicBezTo>
                  <a:pt x="2842" y="8521"/>
                  <a:pt x="2894" y="9812"/>
                  <a:pt x="3477" y="10895"/>
                </a:cubicBez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186" name="slot.service.2.icon"/>
          <p:cNvSpPr/>
          <p:nvPr/>
        </p:nvSpPr>
        <p:spPr>
          <a:xfrm>
            <a:off x="7517645" y="333442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21000"/>
                </a:moveTo>
                <a:lnTo>
                  <a:pt x="16660" y="16660"/>
                </a:lnTo>
                <a:moveTo>
                  <a:pt x="19000" y="11000"/>
                </a:moveTo>
                <a:cubicBezTo>
                  <a:pt x="19000" y="15418"/>
                  <a:pt x="15418" y="19000"/>
                  <a:pt x="11000" y="19000"/>
                </a:cubicBezTo>
                <a:cubicBezTo>
                  <a:pt x="6582" y="19000"/>
                  <a:pt x="3000" y="15418"/>
                  <a:pt x="3000" y="11000"/>
                </a:cubicBezTo>
                <a:cubicBezTo>
                  <a:pt x="3000" y="6582"/>
                  <a:pt x="6582" y="3000"/>
                  <a:pt x="11000" y="3000"/>
                </a:cubicBezTo>
                <a:cubicBezTo>
                  <a:pt x="15418" y="3000"/>
                  <a:pt x="19000" y="6582"/>
                  <a:pt x="19000" y="11000"/>
                </a:cubicBezTo>
                <a:close/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187" name="slot.service.3.icon"/>
          <p:cNvSpPr/>
          <p:nvPr/>
        </p:nvSpPr>
        <p:spPr>
          <a:xfrm>
            <a:off x="9046971" y="3334424"/>
            <a:ext cx="329184" cy="329184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3000" y="3000"/>
                </a:moveTo>
                <a:lnTo>
                  <a:pt x="3000" y="19000"/>
                </a:lnTo>
                <a:cubicBezTo>
                  <a:pt x="3000" y="20105"/>
                  <a:pt x="3895" y="21000"/>
                  <a:pt x="5000" y="21000"/>
                </a:cubicBezTo>
                <a:lnTo>
                  <a:pt x="21000" y="21000"/>
                </a:lnTo>
                <a:moveTo>
                  <a:pt x="19000" y="9000"/>
                </a:moveTo>
                <a:lnTo>
                  <a:pt x="14000" y="14000"/>
                </a:lnTo>
                <a:lnTo>
                  <a:pt x="10000" y="10000"/>
                </a:lnTo>
                <a:lnTo>
                  <a:pt x="7000" y="13000"/>
                </a:lnTo>
              </a:path>
            </a:pathLst>
          </a:custGeom>
          <a:noFill/>
          <a:ln w="27305" cap="rnd">
            <a:solidFill>
              <a:schemeClr val="accent1"/>
            </a:solidFill>
            <a:round/>
          </a:ln>
          <a:effectLst/>
        </p:spPr>
      </p:sp>
      <p:sp>
        <p:nvSpPr>
          <p:cNvPr id="188" name="slot.tool.1.icon"/>
          <p:cNvSpPr/>
          <p:nvPr/>
        </p:nvSpPr>
        <p:spPr>
          <a:xfrm>
            <a:off x="6145974" y="4343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4000" y="14500"/>
                </a:moveTo>
                <a:cubicBezTo>
                  <a:pt x="14000" y="15881"/>
                  <a:pt x="12881" y="17000"/>
                  <a:pt x="11500" y="17000"/>
                </a:cubicBezTo>
                <a:cubicBezTo>
                  <a:pt x="10119" y="17000"/>
                  <a:pt x="9000" y="15881"/>
                  <a:pt x="9000" y="14500"/>
                </a:cubicBezTo>
                <a:cubicBezTo>
                  <a:pt x="9000" y="13119"/>
                  <a:pt x="10119" y="12000"/>
                  <a:pt x="11500" y="12000"/>
                </a:cubicBezTo>
                <a:cubicBezTo>
                  <a:pt x="12881" y="12000"/>
                  <a:pt x="14000" y="13119"/>
                  <a:pt x="14000" y="14500"/>
                </a:cubicBezTo>
                <a:close/>
                <a:moveTo>
                  <a:pt x="13300" y="16300"/>
                </a:moveTo>
                <a:lnTo>
                  <a:pt x="15000" y="18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189" name="slot.tool.2.icon"/>
          <p:cNvSpPr/>
          <p:nvPr/>
        </p:nvSpPr>
        <p:spPr>
          <a:xfrm>
            <a:off x="7058694" y="4343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000"/>
                </a:moveTo>
                <a:lnTo>
                  <a:pt x="18000" y="2000"/>
                </a:lnTo>
                <a:cubicBezTo>
                  <a:pt x="19105" y="2000"/>
                  <a:pt x="20000" y="2895"/>
                  <a:pt x="20000" y="4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close/>
                <a:moveTo>
                  <a:pt x="8000" y="6000"/>
                </a:moveTo>
                <a:lnTo>
                  <a:pt x="16000" y="6000"/>
                </a:lnTo>
                <a:moveTo>
                  <a:pt x="16000" y="14000"/>
                </a:moveTo>
                <a:lnTo>
                  <a:pt x="16000" y="18000"/>
                </a:lnTo>
                <a:moveTo>
                  <a:pt x="16000" y="10000"/>
                </a:moveTo>
                <a:lnTo>
                  <a:pt x="16010" y="10000"/>
                </a:lnTo>
                <a:moveTo>
                  <a:pt x="12000" y="10000"/>
                </a:moveTo>
                <a:lnTo>
                  <a:pt x="12010" y="10000"/>
                </a:lnTo>
                <a:moveTo>
                  <a:pt x="8000" y="10000"/>
                </a:moveTo>
                <a:lnTo>
                  <a:pt x="8010" y="10000"/>
                </a:lnTo>
                <a:moveTo>
                  <a:pt x="12000" y="14000"/>
                </a:moveTo>
                <a:lnTo>
                  <a:pt x="12010" y="14000"/>
                </a:lnTo>
                <a:moveTo>
                  <a:pt x="8000" y="14000"/>
                </a:moveTo>
                <a:lnTo>
                  <a:pt x="8010" y="14000"/>
                </a:lnTo>
                <a:moveTo>
                  <a:pt x="12000" y="18000"/>
                </a:moveTo>
                <a:lnTo>
                  <a:pt x="12010" y="18000"/>
                </a:lnTo>
                <a:moveTo>
                  <a:pt x="8000" y="18000"/>
                </a:moveTo>
                <a:lnTo>
                  <a:pt x="8010" y="18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190" name="slot.tool.3.icon"/>
          <p:cNvSpPr/>
          <p:nvPr/>
        </p:nvSpPr>
        <p:spPr>
          <a:xfrm>
            <a:off x="7971412" y="4343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6000" y="22000"/>
                </a:moveTo>
                <a:cubicBezTo>
                  <a:pt x="4895" y="22000"/>
                  <a:pt x="4000" y="21105"/>
                  <a:pt x="4000" y="20000"/>
                </a:cubicBezTo>
                <a:lnTo>
                  <a:pt x="4000" y="4000"/>
                </a:lnTo>
                <a:cubicBezTo>
                  <a:pt x="4000" y="2895"/>
                  <a:pt x="4895" y="2000"/>
                  <a:pt x="6000" y="2000"/>
                </a:cubicBezTo>
                <a:lnTo>
                  <a:pt x="14000" y="2000"/>
                </a:lnTo>
                <a:cubicBezTo>
                  <a:pt x="14639" y="1999"/>
                  <a:pt x="15253" y="2253"/>
                  <a:pt x="15704" y="2706"/>
                </a:cubicBezTo>
                <a:lnTo>
                  <a:pt x="19292" y="6294"/>
                </a:lnTo>
                <a:cubicBezTo>
                  <a:pt x="19746" y="6745"/>
                  <a:pt x="20001" y="7360"/>
                  <a:pt x="20000" y="8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close/>
                <a:moveTo>
                  <a:pt x="14000" y="2000"/>
                </a:moveTo>
                <a:lnTo>
                  <a:pt x="14000" y="7000"/>
                </a:lnTo>
                <a:cubicBezTo>
                  <a:pt x="14000" y="7552"/>
                  <a:pt x="14448" y="8000"/>
                  <a:pt x="15000" y="8000"/>
                </a:cubicBezTo>
                <a:lnTo>
                  <a:pt x="20000" y="8000"/>
                </a:lnTo>
                <a:moveTo>
                  <a:pt x="10000" y="9000"/>
                </a:moveTo>
                <a:lnTo>
                  <a:pt x="8000" y="9000"/>
                </a:lnTo>
                <a:moveTo>
                  <a:pt x="16000" y="13000"/>
                </a:moveTo>
                <a:lnTo>
                  <a:pt x="8000" y="13000"/>
                </a:lnTo>
                <a:moveTo>
                  <a:pt x="16000" y="17000"/>
                </a:moveTo>
                <a:lnTo>
                  <a:pt x="8000" y="17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191" name="slot.tool.4.icon"/>
          <p:cNvSpPr/>
          <p:nvPr/>
        </p:nvSpPr>
        <p:spPr>
          <a:xfrm>
            <a:off x="8884132" y="4343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19000"/>
                </a:moveTo>
                <a:cubicBezTo>
                  <a:pt x="9000" y="20657"/>
                  <a:pt x="7657" y="22000"/>
                  <a:pt x="6000" y="22000"/>
                </a:cubicBezTo>
                <a:cubicBezTo>
                  <a:pt x="4343" y="22000"/>
                  <a:pt x="3000" y="20657"/>
                  <a:pt x="3000" y="19000"/>
                </a:cubicBezTo>
                <a:cubicBezTo>
                  <a:pt x="3000" y="17343"/>
                  <a:pt x="4343" y="16000"/>
                  <a:pt x="6000" y="16000"/>
                </a:cubicBezTo>
                <a:cubicBezTo>
                  <a:pt x="7657" y="16000"/>
                  <a:pt x="9000" y="17343"/>
                  <a:pt x="9000" y="19000"/>
                </a:cubicBezTo>
                <a:close/>
                <a:moveTo>
                  <a:pt x="9000" y="19000"/>
                </a:moveTo>
                <a:lnTo>
                  <a:pt x="17500" y="19000"/>
                </a:lnTo>
                <a:cubicBezTo>
                  <a:pt x="19433" y="19000"/>
                  <a:pt x="21000" y="17433"/>
                  <a:pt x="21000" y="15500"/>
                </a:cubicBezTo>
                <a:cubicBezTo>
                  <a:pt x="21000" y="13567"/>
                  <a:pt x="19433" y="12000"/>
                  <a:pt x="17500" y="12000"/>
                </a:cubicBezTo>
                <a:lnTo>
                  <a:pt x="6500" y="12000"/>
                </a:lnTo>
                <a:cubicBezTo>
                  <a:pt x="4567" y="12000"/>
                  <a:pt x="3000" y="10433"/>
                  <a:pt x="3000" y="8500"/>
                </a:cubicBezTo>
                <a:cubicBezTo>
                  <a:pt x="3000" y="6567"/>
                  <a:pt x="4567" y="5000"/>
                  <a:pt x="6500" y="5000"/>
                </a:cubicBezTo>
                <a:lnTo>
                  <a:pt x="15000" y="5000"/>
                </a:lnTo>
                <a:moveTo>
                  <a:pt x="21000" y="5000"/>
                </a:moveTo>
                <a:cubicBezTo>
                  <a:pt x="21000" y="6657"/>
                  <a:pt x="19657" y="8000"/>
                  <a:pt x="18000" y="8000"/>
                </a:cubicBezTo>
                <a:cubicBezTo>
                  <a:pt x="16343" y="8000"/>
                  <a:pt x="15000" y="6657"/>
                  <a:pt x="15000" y="5000"/>
                </a:cubicBezTo>
                <a:cubicBezTo>
                  <a:pt x="15000" y="3343"/>
                  <a:pt x="16343" y="2000"/>
                  <a:pt x="18000" y="2000"/>
                </a:cubicBezTo>
                <a:cubicBezTo>
                  <a:pt x="19657" y="2000"/>
                  <a:pt x="21000" y="3343"/>
                  <a:pt x="21000" y="5000"/>
                </a:cubicBezTo>
                <a:close/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192" name="slot.tool.5.icon"/>
          <p:cNvSpPr/>
          <p:nvPr/>
        </p:nvSpPr>
        <p:spPr>
          <a:xfrm>
            <a:off x="9796851" y="4343400"/>
            <a:ext cx="365760" cy="36576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0000" y="6000"/>
                </a:moveTo>
                <a:lnTo>
                  <a:pt x="9000" y="17000"/>
                </a:lnTo>
                <a:lnTo>
                  <a:pt x="4000" y="12000"/>
                </a:lnTo>
              </a:path>
            </a:pathLst>
          </a:custGeom>
          <a:noFill/>
          <a:ln w="30480" cap="rnd">
            <a:solidFill>
              <a:schemeClr val="accent1"/>
            </a:solidFill>
            <a:round/>
          </a:ln>
          <a:effectLst/>
        </p:spPr>
      </p:sp>
      <p:sp>
        <p:nvSpPr>
          <p:cNvPr id="193" name="slot.platform.1.icon"/>
          <p:cNvSpPr/>
          <p:nvPr/>
        </p:nvSpPr>
        <p:spPr>
          <a:xfrm>
            <a:off x="1868379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5000" y="6000"/>
                </a:moveTo>
                <a:cubicBezTo>
                  <a:pt x="10029" y="6000"/>
                  <a:pt x="6000" y="10029"/>
                  <a:pt x="6000" y="15000"/>
                </a:cubicBezTo>
                <a:lnTo>
                  <a:pt x="6000" y="3000"/>
                </a:lnTo>
                <a:moveTo>
                  <a:pt x="21000" y="6000"/>
                </a:moveTo>
                <a:cubicBezTo>
                  <a:pt x="21000" y="7657"/>
                  <a:pt x="19657" y="9000"/>
                  <a:pt x="18000" y="9000"/>
                </a:cubicBezTo>
                <a:cubicBezTo>
                  <a:pt x="16343" y="9000"/>
                  <a:pt x="15000" y="7657"/>
                  <a:pt x="15000" y="6000"/>
                </a:cubicBezTo>
                <a:cubicBezTo>
                  <a:pt x="15000" y="4343"/>
                  <a:pt x="16343" y="3000"/>
                  <a:pt x="18000" y="3000"/>
                </a:cubicBezTo>
                <a:cubicBezTo>
                  <a:pt x="19657" y="3000"/>
                  <a:pt x="21000" y="4343"/>
                  <a:pt x="21000" y="6000"/>
                </a:cubicBezTo>
                <a:close/>
                <a:moveTo>
                  <a:pt x="9000" y="18000"/>
                </a:moveTo>
                <a:cubicBezTo>
                  <a:pt x="9000" y="19657"/>
                  <a:pt x="7657" y="21000"/>
                  <a:pt x="6000" y="21000"/>
                </a:cubicBezTo>
                <a:cubicBezTo>
                  <a:pt x="4343" y="21000"/>
                  <a:pt x="3000" y="19657"/>
                  <a:pt x="3000" y="18000"/>
                </a:cubicBezTo>
                <a:cubicBezTo>
                  <a:pt x="3000" y="16343"/>
                  <a:pt x="4343" y="15000"/>
                  <a:pt x="6000" y="15000"/>
                </a:cubicBezTo>
                <a:cubicBezTo>
                  <a:pt x="7657" y="15000"/>
                  <a:pt x="9000" y="16343"/>
                  <a:pt x="9000" y="18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94" name="slot.platform.2.icon"/>
          <p:cNvSpPr/>
          <p:nvPr/>
        </p:nvSpPr>
        <p:spPr>
          <a:xfrm>
            <a:off x="2950392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2000" y="15000"/>
                </a:moveTo>
                <a:lnTo>
                  <a:pt x="12000" y="20000"/>
                </a:lnTo>
                <a:cubicBezTo>
                  <a:pt x="12000" y="20000"/>
                  <a:pt x="15030" y="19450"/>
                  <a:pt x="16000" y="18000"/>
                </a:cubicBezTo>
                <a:cubicBezTo>
                  <a:pt x="17080" y="16380"/>
                  <a:pt x="16000" y="13000"/>
                  <a:pt x="16000" y="13000"/>
                </a:cubicBezTo>
                <a:moveTo>
                  <a:pt x="4500" y="16500"/>
                </a:moveTo>
                <a:cubicBezTo>
                  <a:pt x="3000" y="17760"/>
                  <a:pt x="2500" y="21500"/>
                  <a:pt x="2500" y="21500"/>
                </a:cubicBezTo>
                <a:cubicBezTo>
                  <a:pt x="2500" y="21500"/>
                  <a:pt x="6240" y="21000"/>
                  <a:pt x="7500" y="19500"/>
                </a:cubicBezTo>
                <a:cubicBezTo>
                  <a:pt x="8210" y="18660"/>
                  <a:pt x="8200" y="17370"/>
                  <a:pt x="7410" y="16590"/>
                </a:cubicBezTo>
                <a:cubicBezTo>
                  <a:pt x="6605" y="15822"/>
                  <a:pt x="5351" y="15783"/>
                  <a:pt x="4500" y="16500"/>
                </a:cubicBezTo>
                <a:moveTo>
                  <a:pt x="9000" y="12000"/>
                </a:moveTo>
                <a:cubicBezTo>
                  <a:pt x="9532" y="10619"/>
                  <a:pt x="10202" y="9296"/>
                  <a:pt x="11000" y="8050"/>
                </a:cubicBezTo>
                <a:cubicBezTo>
                  <a:pt x="13369" y="4262"/>
                  <a:pt x="17532" y="1972"/>
                  <a:pt x="22000" y="2000"/>
                </a:cubicBezTo>
                <a:cubicBezTo>
                  <a:pt x="22000" y="4720"/>
                  <a:pt x="21220" y="9500"/>
                  <a:pt x="16000" y="13000"/>
                </a:cubicBezTo>
                <a:cubicBezTo>
                  <a:pt x="14737" y="13798"/>
                  <a:pt x="13397" y="14468"/>
                  <a:pt x="12000" y="15000"/>
                </a:cubicBezTo>
                <a:close/>
                <a:moveTo>
                  <a:pt x="9000" y="12000"/>
                </a:moveTo>
                <a:lnTo>
                  <a:pt x="4000" y="12000"/>
                </a:lnTo>
                <a:cubicBezTo>
                  <a:pt x="4000" y="12000"/>
                  <a:pt x="4550" y="8970"/>
                  <a:pt x="6000" y="8000"/>
                </a:cubicBezTo>
                <a:cubicBezTo>
                  <a:pt x="7620" y="6920"/>
                  <a:pt x="11000" y="8050"/>
                  <a:pt x="11000" y="8050"/>
                </a:cubicBez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95" name="slot.platform.3.icon"/>
          <p:cNvSpPr/>
          <p:nvPr/>
        </p:nvSpPr>
        <p:spPr>
          <a:xfrm>
            <a:off x="4032405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6000" y="6000"/>
                </a:moveTo>
                <a:lnTo>
                  <a:pt x="20000" y="20000"/>
                </a:lnTo>
                <a:moveTo>
                  <a:pt x="12000" y="6000"/>
                </a:moveTo>
                <a:lnTo>
                  <a:pt x="12000" y="20000"/>
                </a:lnTo>
                <a:moveTo>
                  <a:pt x="8000" y="8000"/>
                </a:moveTo>
                <a:lnTo>
                  <a:pt x="8000" y="20000"/>
                </a:lnTo>
                <a:moveTo>
                  <a:pt x="4000" y="4000"/>
                </a:moveTo>
                <a:lnTo>
                  <a:pt x="4000" y="20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96" name="slot.platform.4.icon"/>
          <p:cNvSpPr/>
          <p:nvPr/>
        </p:nvSpPr>
        <p:spPr>
          <a:xfrm>
            <a:off x="5114418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1000" y="5000"/>
                </a:moveTo>
                <a:cubicBezTo>
                  <a:pt x="21000" y="6657"/>
                  <a:pt x="19657" y="8000"/>
                  <a:pt x="18000" y="8000"/>
                </a:cubicBezTo>
                <a:cubicBezTo>
                  <a:pt x="16343" y="8000"/>
                  <a:pt x="15000" y="6657"/>
                  <a:pt x="15000" y="5000"/>
                </a:cubicBezTo>
                <a:cubicBezTo>
                  <a:pt x="15000" y="3343"/>
                  <a:pt x="16343" y="2000"/>
                  <a:pt x="18000" y="2000"/>
                </a:cubicBezTo>
                <a:cubicBezTo>
                  <a:pt x="19657" y="2000"/>
                  <a:pt x="21000" y="3343"/>
                  <a:pt x="21000" y="5000"/>
                </a:cubicBezTo>
                <a:close/>
                <a:moveTo>
                  <a:pt x="9000" y="12000"/>
                </a:moveTo>
                <a:cubicBezTo>
                  <a:pt x="9000" y="13657"/>
                  <a:pt x="7657" y="15000"/>
                  <a:pt x="6000" y="15000"/>
                </a:cubicBezTo>
                <a:cubicBezTo>
                  <a:pt x="4343" y="15000"/>
                  <a:pt x="3000" y="13657"/>
                  <a:pt x="3000" y="12000"/>
                </a:cubicBezTo>
                <a:cubicBezTo>
                  <a:pt x="3000" y="10343"/>
                  <a:pt x="4343" y="9000"/>
                  <a:pt x="6000" y="9000"/>
                </a:cubicBezTo>
                <a:cubicBezTo>
                  <a:pt x="7657" y="9000"/>
                  <a:pt x="9000" y="10343"/>
                  <a:pt x="9000" y="12000"/>
                </a:cubicBezTo>
                <a:close/>
                <a:moveTo>
                  <a:pt x="21000" y="19000"/>
                </a:moveTo>
                <a:cubicBezTo>
                  <a:pt x="21000" y="20657"/>
                  <a:pt x="19657" y="22000"/>
                  <a:pt x="18000" y="22000"/>
                </a:cubicBezTo>
                <a:cubicBezTo>
                  <a:pt x="16343" y="22000"/>
                  <a:pt x="15000" y="20657"/>
                  <a:pt x="15000" y="19000"/>
                </a:cubicBezTo>
                <a:cubicBezTo>
                  <a:pt x="15000" y="17343"/>
                  <a:pt x="16343" y="16000"/>
                  <a:pt x="18000" y="16000"/>
                </a:cubicBezTo>
                <a:cubicBezTo>
                  <a:pt x="19657" y="16000"/>
                  <a:pt x="21000" y="17343"/>
                  <a:pt x="21000" y="19000"/>
                </a:cubicBezTo>
                <a:close/>
                <a:moveTo>
                  <a:pt x="8590" y="13510"/>
                </a:moveTo>
                <a:lnTo>
                  <a:pt x="15420" y="17490"/>
                </a:lnTo>
                <a:moveTo>
                  <a:pt x="15410" y="6510"/>
                </a:moveTo>
                <a:lnTo>
                  <a:pt x="8590" y="1049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97" name="slot.platform.5.icon"/>
          <p:cNvSpPr/>
          <p:nvPr/>
        </p:nvSpPr>
        <p:spPr>
          <a:xfrm>
            <a:off x="6196431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5000" y="11000"/>
                </a:moveTo>
                <a:lnTo>
                  <a:pt x="19000" y="11000"/>
                </a:lnTo>
                <a:cubicBezTo>
                  <a:pt x="20105" y="11000"/>
                  <a:pt x="21000" y="11895"/>
                  <a:pt x="21000" y="13000"/>
                </a:cubicBezTo>
                <a:lnTo>
                  <a:pt x="21000" y="20000"/>
                </a:lnTo>
                <a:cubicBezTo>
                  <a:pt x="21000" y="21105"/>
                  <a:pt x="20105" y="22000"/>
                  <a:pt x="19000" y="22000"/>
                </a:cubicBezTo>
                <a:lnTo>
                  <a:pt x="5000" y="22000"/>
                </a:lnTo>
                <a:cubicBezTo>
                  <a:pt x="3895" y="22000"/>
                  <a:pt x="3000" y="21105"/>
                  <a:pt x="3000" y="20000"/>
                </a:cubicBezTo>
                <a:lnTo>
                  <a:pt x="3000" y="13000"/>
                </a:lnTo>
                <a:cubicBezTo>
                  <a:pt x="3000" y="11895"/>
                  <a:pt x="3895" y="11000"/>
                  <a:pt x="5000" y="11000"/>
                </a:cubicBezTo>
                <a:close/>
                <a:moveTo>
                  <a:pt x="7000" y="11000"/>
                </a:moveTo>
                <a:lnTo>
                  <a:pt x="7000" y="7000"/>
                </a:lnTo>
                <a:cubicBezTo>
                  <a:pt x="7000" y="4239"/>
                  <a:pt x="9239" y="2000"/>
                  <a:pt x="12000" y="2000"/>
                </a:cubicBezTo>
                <a:cubicBezTo>
                  <a:pt x="14761" y="2000"/>
                  <a:pt x="17000" y="4239"/>
                  <a:pt x="17000" y="7000"/>
                </a:cubicBezTo>
                <a:lnTo>
                  <a:pt x="17000" y="11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98" name="slot.platform.6.icon"/>
          <p:cNvSpPr/>
          <p:nvPr/>
        </p:nvSpPr>
        <p:spPr>
          <a:xfrm>
            <a:off x="7278444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9000" y="2000"/>
                </a:moveTo>
                <a:lnTo>
                  <a:pt x="15000" y="2000"/>
                </a:lnTo>
                <a:cubicBezTo>
                  <a:pt x="15552" y="2000"/>
                  <a:pt x="16000" y="2448"/>
                  <a:pt x="16000" y="3000"/>
                </a:cubicBezTo>
                <a:lnTo>
                  <a:pt x="16000" y="5000"/>
                </a:lnTo>
                <a:cubicBezTo>
                  <a:pt x="16000" y="5552"/>
                  <a:pt x="15552" y="6000"/>
                  <a:pt x="15000" y="6000"/>
                </a:cubicBezTo>
                <a:lnTo>
                  <a:pt x="9000" y="6000"/>
                </a:lnTo>
                <a:cubicBezTo>
                  <a:pt x="8448" y="6000"/>
                  <a:pt x="8000" y="5552"/>
                  <a:pt x="8000" y="5000"/>
                </a:cubicBezTo>
                <a:lnTo>
                  <a:pt x="8000" y="3000"/>
                </a:lnTo>
                <a:cubicBezTo>
                  <a:pt x="8000" y="2448"/>
                  <a:pt x="8448" y="2000"/>
                  <a:pt x="9000" y="2000"/>
                </a:cubicBezTo>
                <a:close/>
                <a:moveTo>
                  <a:pt x="16000" y="4000"/>
                </a:moveTo>
                <a:lnTo>
                  <a:pt x="18000" y="4000"/>
                </a:lnTo>
                <a:cubicBezTo>
                  <a:pt x="19105" y="4000"/>
                  <a:pt x="20000" y="4895"/>
                  <a:pt x="20000" y="6000"/>
                </a:cubicBezTo>
                <a:lnTo>
                  <a:pt x="20000" y="20000"/>
                </a:lnTo>
                <a:cubicBezTo>
                  <a:pt x="20000" y="21105"/>
                  <a:pt x="19105" y="22000"/>
                  <a:pt x="18000" y="22000"/>
                </a:cubicBezTo>
                <a:lnTo>
                  <a:pt x="6000" y="22000"/>
                </a:lnTo>
                <a:cubicBezTo>
                  <a:pt x="4895" y="22000"/>
                  <a:pt x="4000" y="21105"/>
                  <a:pt x="4000" y="20000"/>
                </a:cubicBezTo>
                <a:lnTo>
                  <a:pt x="4000" y="6000"/>
                </a:lnTo>
                <a:cubicBezTo>
                  <a:pt x="4000" y="4895"/>
                  <a:pt x="4895" y="4000"/>
                  <a:pt x="6000" y="4000"/>
                </a:cubicBezTo>
                <a:lnTo>
                  <a:pt x="8000" y="4000"/>
                </a:lnTo>
                <a:moveTo>
                  <a:pt x="9000" y="14000"/>
                </a:moveTo>
                <a:lnTo>
                  <a:pt x="11000" y="16000"/>
                </a:lnTo>
                <a:lnTo>
                  <a:pt x="15000" y="12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199" name="slot.platform.7.icon"/>
          <p:cNvSpPr/>
          <p:nvPr/>
        </p:nvSpPr>
        <p:spPr>
          <a:xfrm>
            <a:off x="8360457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22000" y="12000"/>
                </a:moveTo>
                <a:lnTo>
                  <a:pt x="19520" y="12000"/>
                </a:lnTo>
                <a:cubicBezTo>
                  <a:pt x="18622" y="11998"/>
                  <a:pt x="17833" y="12595"/>
                  <a:pt x="17590" y="13460"/>
                </a:cubicBezTo>
                <a:lnTo>
                  <a:pt x="15240" y="21820"/>
                </a:lnTo>
                <a:cubicBezTo>
                  <a:pt x="15209" y="21927"/>
                  <a:pt x="15111" y="22000"/>
                  <a:pt x="15000" y="22000"/>
                </a:cubicBezTo>
                <a:cubicBezTo>
                  <a:pt x="14889" y="22000"/>
                  <a:pt x="14791" y="21927"/>
                  <a:pt x="14760" y="21820"/>
                </a:cubicBezTo>
                <a:lnTo>
                  <a:pt x="9240" y="2180"/>
                </a:lnTo>
                <a:cubicBezTo>
                  <a:pt x="9209" y="2073"/>
                  <a:pt x="9111" y="2000"/>
                  <a:pt x="9000" y="2000"/>
                </a:cubicBezTo>
                <a:cubicBezTo>
                  <a:pt x="8889" y="2000"/>
                  <a:pt x="8791" y="2073"/>
                  <a:pt x="8760" y="2180"/>
                </a:cubicBezTo>
                <a:lnTo>
                  <a:pt x="6410" y="10540"/>
                </a:lnTo>
                <a:cubicBezTo>
                  <a:pt x="6168" y="11401"/>
                  <a:pt x="5384" y="11997"/>
                  <a:pt x="4490" y="12000"/>
                </a:cubicBezTo>
                <a:lnTo>
                  <a:pt x="2000" y="12000"/>
                </a:lnTo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  <p:sp>
        <p:nvSpPr>
          <p:cNvPr id="200" name="slot.platform.8.icon"/>
          <p:cNvSpPr/>
          <p:nvPr/>
        </p:nvSpPr>
        <p:spPr>
          <a:xfrm>
            <a:off x="9442470" y="619506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4000" h="24000" fill="none">
                <a:moveTo>
                  <a:pt x="13744" y="17736"/>
                </a:moveTo>
                <a:cubicBezTo>
                  <a:pt x="12915" y="20477"/>
                  <a:pt x="10264" y="22250"/>
                  <a:pt x="7414" y="21970"/>
                </a:cubicBezTo>
                <a:cubicBezTo>
                  <a:pt x="4564" y="21690"/>
                  <a:pt x="2310" y="19436"/>
                  <a:pt x="2030" y="16586"/>
                </a:cubicBezTo>
                <a:cubicBezTo>
                  <a:pt x="1750" y="13736"/>
                  <a:pt x="3523" y="11085"/>
                  <a:pt x="6264" y="10256"/>
                </a:cubicBezTo>
                <a:moveTo>
                  <a:pt x="15000" y="6000"/>
                </a:moveTo>
                <a:lnTo>
                  <a:pt x="16000" y="6000"/>
                </a:lnTo>
                <a:lnTo>
                  <a:pt x="16000" y="10000"/>
                </a:lnTo>
                <a:moveTo>
                  <a:pt x="6134" y="14768"/>
                </a:moveTo>
                <a:lnTo>
                  <a:pt x="7000" y="14268"/>
                </a:lnTo>
                <a:lnTo>
                  <a:pt x="9000" y="17732"/>
                </a:lnTo>
                <a:moveTo>
                  <a:pt x="22000" y="8000"/>
                </a:moveTo>
                <a:cubicBezTo>
                  <a:pt x="22000" y="11314"/>
                  <a:pt x="19314" y="14000"/>
                  <a:pt x="16000" y="14000"/>
                </a:cubicBezTo>
                <a:cubicBezTo>
                  <a:pt x="12686" y="14000"/>
                  <a:pt x="10000" y="11314"/>
                  <a:pt x="10000" y="8000"/>
                </a:cubicBezTo>
                <a:cubicBezTo>
                  <a:pt x="10000" y="4686"/>
                  <a:pt x="12686" y="2000"/>
                  <a:pt x="16000" y="2000"/>
                </a:cubicBezTo>
                <a:cubicBezTo>
                  <a:pt x="19314" y="2000"/>
                  <a:pt x="22000" y="4686"/>
                  <a:pt x="22000" y="8000"/>
                </a:cubicBezTo>
                <a:close/>
              </a:path>
            </a:pathLst>
          </a:custGeom>
          <a:noFill/>
          <a:ln w="22860" cap="rnd">
            <a:solidFill>
              <a:schemeClr val="accent1"/>
            </a:solidFill>
            <a:round/>
          </a:ln>
          <a:effectLst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neutral">
  <a:themeElements>
    <a:clrScheme name="neutral">
      <a:dk1>
        <a:srgbClr val="000000"/>
      </a:dk1>
      <a:lt1>
        <a:srgbClr val="FFFFFF"/>
      </a:lt1>
      <a:dk2>
        <a:srgbClr val="4B5960"/>
      </a:dk2>
      <a:lt2>
        <a:srgbClr val="E7E6E6"/>
      </a:lt2>
      <a:accent1>
        <a:srgbClr val="1E3C7D"/>
      </a:accent1>
      <a:accent2>
        <a:srgbClr val="00A0E9"/>
      </a:accent2>
      <a:accent3>
        <a:srgbClr val="4B5960"/>
      </a:accent3>
      <a:accent4>
        <a:srgbClr val="6B7983"/>
      </a:accent4>
      <a:accent5>
        <a:srgbClr val="A6A6A6"/>
      </a:accent5>
      <a:accent6>
        <a:srgbClr val="D9D9D9"/>
      </a:accent6>
      <a:hlink>
        <a:srgbClr val="1E3C7D"/>
      </a:hlink>
      <a:folHlink>
        <a:srgbClr val="6B7983"/>
      </a:folHlink>
    </a:clrScheme>
    <a:fontScheme name="neutr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neutr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Microsoft Office PowerPoint</Application>
  <PresentationFormat>Custom</PresentationFormat>
  <Slides>1</Slides>
  <Company>Sigmoid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Device DL31</dc:title>
  <dc:creator>Sigmoid</dc:creator>
  <cp:lastModifiedBy>Sigmoid</cp:lastModifiedBy>
  <cp:revision>1</cp:revision>
  <dcterms:created xsi:type="dcterms:W3CDTF">2026-10-03T00:00:00Z</dcterms:created>
  <dcterms:modified xsi:type="dcterms:W3CDTF">2026-10-03T00:00:00Z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eckkit:256">
    <vt:lpwstr>solution-architecture:bounded-core-side-columns</vt:lpwstr>
  </property>
</Properties>
</file>