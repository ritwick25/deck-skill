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2pPr>
    <a:lvl3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3pPr>
    <a:lvl4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4pPr>
    <a:lvl5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lnSpc>
        <a:spcPct val="100000"/>
      </a:lnSpc>
      <a:spcBef>
        <a:spcPts val="0"/>
      </a:spcBef>
      <a:buNone/>
      <a:defRPr sz="1100" kern="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b="1" kern="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100" kern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he-ask:decision-cards-rail">
    <p:spTree>
      <p:nvGrpSpPr>
        <p:cNvPr id="1" name=""/>
        <p:cNvGrpSpPr/>
        <p:nvPr/>
      </p:nvGrpSpPr>
      <p:grpSpPr/>
      <p:sp>
        <p:nvSpPr>
          <p:cNvPr id="2" name="struct.rail.panel"/>
          <p:cNvSpPr/>
          <p:nvPr/>
        </p:nvSpPr>
        <p:spPr>
          <a:xfrm>
            <a:off x="411480" y="3108960"/>
            <a:ext cx="11375136" cy="2359152"/>
          </a:xfrm>
          <a:prstGeom prst="roundRect">
            <a:avLst>
              <a:gd name="adj" fmla="val 193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3" name="slot.title"/>
          <p:cNvSpPr txBox="1"/>
          <p:nvPr/>
        </p:nvSpPr>
        <p:spPr>
          <a:xfrm>
            <a:off x="438912" y="329184"/>
            <a:ext cx="1133856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Four decisions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this month put the forecasting pilot live by week fourteen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ot.milestone.1"/>
          <p:cNvSpPr txBox="1"/>
          <p:nvPr/>
        </p:nvSpPr>
        <p:spPr>
          <a:xfrm>
            <a:off x="579856" y="4370831"/>
            <a:ext cx="2286000" cy="8229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2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Scope and business owner confirmed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lot.milestone.2"/>
          <p:cNvSpPr txBox="1"/>
          <p:nvPr/>
        </p:nvSpPr>
        <p:spPr>
          <a:xfrm>
            <a:off x="3503650" y="4370831"/>
            <a:ext cx="2286000" cy="8229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 6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First forecasts run beside the current plan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milestone.3"/>
          <p:cNvSpPr txBox="1"/>
          <p:nvPr/>
        </p:nvSpPr>
        <p:spPr>
          <a:xfrm>
            <a:off x="6427444" y="4370831"/>
            <a:ext cx="2286000" cy="8229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 10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Accuracy checked against the gate thresholds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milestone.4"/>
          <p:cNvSpPr txBox="1"/>
          <p:nvPr/>
        </p:nvSpPr>
        <p:spPr>
          <a:xfrm>
            <a:off x="9351238" y="4370831"/>
            <a:ext cx="2286000" cy="8229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 14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Planners act on pilot forecasts each month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" name="struct.rail.line"/>
          <p:cNvCxnSpPr>
            <a:cxnSpLocks/>
          </p:cNvCxnSpPr>
          <p:nvPr/>
        </p:nvCxnSpPr>
        <p:spPr>
          <a:xfrm>
            <a:off x="1828800" y="4133087"/>
            <a:ext cx="8558784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  <a:effectLst/>
        </p:spPr>
      </p:cxnSp>
      <p:grpSp>
        <p:nvGrpSpPr>
          <p:cNvPr id="9" name="struct.rail.dot.4.1"/>
          <p:cNvGrpSpPr/>
          <p:nvPr/>
        </p:nvGrpSpPr>
        <p:grpSpPr>
          <a:xfrm>
            <a:off x="10388727" y="4032503"/>
            <a:ext cx="201168" cy="201168"/>
            <a:chOff x="10388727" y="4364312"/>
            <a:chExt cx="201168" cy="201168"/>
          </a:xfrm>
          <a:effectLst/>
        </p:grpSpPr>
        <p:sp>
          <p:nvSpPr>
            <p:cNvPr id="10" name="struct.rail.dot.4.2"/>
            <p:cNvSpPr/>
            <p:nvPr/>
          </p:nvSpPr>
          <p:spPr>
            <a:xfrm>
              <a:off x="10388727" y="4364312"/>
              <a:ext cx="201168" cy="201168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  <a:prstDash val="solid"/>
            </a:ln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1" name="struct.rail.dot.4.3"/>
            <p:cNvSpPr/>
            <p:nvPr/>
          </p:nvSpPr>
          <p:spPr>
            <a:xfrm>
              <a:off x="10439019" y="4414604"/>
              <a:ext cx="100584" cy="10058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2" name="struct.rail.dot.3.1"/>
          <p:cNvGrpSpPr/>
          <p:nvPr/>
        </p:nvGrpSpPr>
        <p:grpSpPr>
          <a:xfrm>
            <a:off x="7471599" y="4032503"/>
            <a:ext cx="201168" cy="201168"/>
            <a:chOff x="7471599" y="4364312"/>
            <a:chExt cx="201168" cy="201168"/>
          </a:xfrm>
          <a:effectLst/>
        </p:grpSpPr>
        <p:sp>
          <p:nvSpPr>
            <p:cNvPr id="13" name="struct.rail.dot.3.2"/>
            <p:cNvSpPr/>
            <p:nvPr/>
          </p:nvSpPr>
          <p:spPr>
            <a:xfrm>
              <a:off x="7471599" y="4364312"/>
              <a:ext cx="201168" cy="201168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  <a:prstDash val="solid"/>
            </a:ln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4" name="struct.rail.dot.3.3"/>
            <p:cNvSpPr/>
            <p:nvPr/>
          </p:nvSpPr>
          <p:spPr>
            <a:xfrm>
              <a:off x="7521891" y="4414604"/>
              <a:ext cx="100584" cy="10058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5" name="struct.rail.dot.2.1"/>
          <p:cNvGrpSpPr/>
          <p:nvPr/>
        </p:nvGrpSpPr>
        <p:grpSpPr>
          <a:xfrm>
            <a:off x="4547805" y="4032503"/>
            <a:ext cx="201168" cy="201168"/>
            <a:chOff x="4547805" y="4364312"/>
            <a:chExt cx="201168" cy="201168"/>
          </a:xfrm>
          <a:effectLst/>
        </p:grpSpPr>
        <p:sp>
          <p:nvSpPr>
            <p:cNvPr id="16" name="struct.rail.dot.2.2"/>
            <p:cNvSpPr/>
            <p:nvPr/>
          </p:nvSpPr>
          <p:spPr>
            <a:xfrm>
              <a:off x="4547805" y="4364312"/>
              <a:ext cx="201168" cy="201168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  <a:prstDash val="solid"/>
            </a:ln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7" name="struct.rail.dot.2.3"/>
            <p:cNvSpPr/>
            <p:nvPr/>
          </p:nvSpPr>
          <p:spPr>
            <a:xfrm>
              <a:off x="4598097" y="4414604"/>
              <a:ext cx="100584" cy="10058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8" name="struct.rail.dot.1.1"/>
          <p:cNvGrpSpPr/>
          <p:nvPr/>
        </p:nvGrpSpPr>
        <p:grpSpPr>
          <a:xfrm>
            <a:off x="1624011" y="4032503"/>
            <a:ext cx="201168" cy="201168"/>
            <a:chOff x="1624011" y="4364312"/>
            <a:chExt cx="201168" cy="201168"/>
          </a:xfrm>
          <a:effectLst/>
        </p:grpSpPr>
        <p:sp>
          <p:nvSpPr>
            <p:cNvPr id="19" name="struct.rail.dot.1.2"/>
            <p:cNvSpPr/>
            <p:nvPr/>
          </p:nvSpPr>
          <p:spPr>
            <a:xfrm>
              <a:off x="1624011" y="4364312"/>
              <a:ext cx="201168" cy="201168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0" name="struct.rail.dot.1.3"/>
            <p:cNvSpPr/>
            <p:nvPr/>
          </p:nvSpPr>
          <p:spPr>
            <a:xfrm>
              <a:off x="1674303" y="4414604"/>
              <a:ext cx="100584" cy="100584"/>
            </a:xfrm>
            <a:prstGeom prst="ellipse">
              <a:avLst/>
            </a:prstGeom>
            <a:solidFill>
              <a:schemeClr val="tx1">
                <a:lumMod val="90000"/>
                <a:lumOff val="10000"/>
              </a:schemeClr>
            </a:solidFill>
            <a:ln/>
          </p:spPr>
          <p:txBody>
            <a:bodyPr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Tx/>
                <a:buFont typeface="Arial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1" name="struct.card.1"/>
          <p:cNvSpPr/>
          <p:nvPr/>
        </p:nvSpPr>
        <p:spPr>
          <a:xfrm>
            <a:off x="411480" y="1097280"/>
            <a:ext cx="2340864" cy="1883664"/>
          </a:xfrm>
          <a:prstGeom prst="roundRect">
            <a:avLst>
              <a:gd name="adj" fmla="val 2427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" name="struct.card.3"/>
          <p:cNvSpPr/>
          <p:nvPr/>
        </p:nvSpPr>
        <p:spPr>
          <a:xfrm>
            <a:off x="6432986" y="1097280"/>
            <a:ext cx="2340864" cy="1883664"/>
          </a:xfrm>
          <a:prstGeom prst="roundRect">
            <a:avLst>
              <a:gd name="adj" fmla="val 2427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3" name="struct.card.4"/>
          <p:cNvSpPr/>
          <p:nvPr/>
        </p:nvSpPr>
        <p:spPr>
          <a:xfrm>
            <a:off x="9443738" y="1097280"/>
            <a:ext cx="2340864" cy="1883664"/>
          </a:xfrm>
          <a:prstGeom prst="roundRect">
            <a:avLst>
              <a:gd name="adj" fmla="val 2427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4" name="struct.card.2"/>
          <p:cNvSpPr/>
          <p:nvPr/>
        </p:nvSpPr>
        <p:spPr>
          <a:xfrm>
            <a:off x="3422233" y="1097280"/>
            <a:ext cx="2340864" cy="1883664"/>
          </a:xfrm>
          <a:prstGeom prst="roundRect">
            <a:avLst>
              <a:gd name="adj" fmla="val 2427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0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5" name="slot.card.1.body"/>
          <p:cNvSpPr txBox="1"/>
          <p:nvPr/>
        </p:nvSpPr>
        <p:spPr>
          <a:xfrm>
            <a:off x="548640" y="2249424"/>
            <a:ext cx="2066543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product lines and three regions in wave one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card.2.body"/>
          <p:cNvSpPr txBox="1"/>
          <p:nvPr/>
        </p:nvSpPr>
        <p:spPr>
          <a:xfrm>
            <a:off x="3559393" y="2249424"/>
            <a:ext cx="2066543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 planning lead who signs off accuracy targets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card.3.body"/>
          <p:cNvSpPr txBox="1"/>
          <p:nvPr/>
        </p:nvSpPr>
        <p:spPr>
          <a:xfrm>
            <a:off x="6570146" y="2249424"/>
            <a:ext cx="2066543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Three years of order history ready by week two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card.1.head"/>
          <p:cNvSpPr txBox="1"/>
          <p:nvPr/>
        </p:nvSpPr>
        <p:spPr>
          <a:xfrm>
            <a:off x="548640" y="1938528"/>
            <a:ext cx="2066543" cy="31089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Endorse the scope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card.2.head"/>
          <p:cNvSpPr txBox="1"/>
          <p:nvPr/>
        </p:nvSpPr>
        <p:spPr>
          <a:xfrm>
            <a:off x="3559393" y="1938528"/>
            <a:ext cx="2066543" cy="31089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Nominate one owner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card.3.head"/>
          <p:cNvSpPr txBox="1"/>
          <p:nvPr/>
        </p:nvSpPr>
        <p:spPr>
          <a:xfrm>
            <a:off x="6570146" y="1938528"/>
            <a:ext cx="2066543" cy="31089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Grant data access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card.4.head"/>
          <p:cNvSpPr txBox="1"/>
          <p:nvPr/>
        </p:nvSpPr>
        <p:spPr>
          <a:xfrm>
            <a:off x="9580898" y="1938528"/>
            <a:ext cx="2066543" cy="31089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Agree the gate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card.4.body"/>
          <p:cNvSpPr txBox="1"/>
          <p:nvPr/>
        </p:nvSpPr>
        <p:spPr>
          <a:xfrm>
            <a:off x="9580898" y="2249424"/>
            <a:ext cx="2066543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Go live once accuracy holds for four weeks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3" name="struct.chevrons"/>
          <p:cNvGrpSpPr/>
          <p:nvPr/>
        </p:nvGrpSpPr>
        <p:grpSpPr>
          <a:xfrm>
            <a:off x="2959633" y="1917566"/>
            <a:ext cx="6272510" cy="243091"/>
            <a:chOff x="2959633" y="2219409"/>
            <a:chExt cx="6272510" cy="243091"/>
          </a:xfrm>
          <a:effectLst/>
        </p:grpSpPr>
        <p:grpSp>
          <p:nvGrpSpPr>
            <p:cNvPr id="34" name="struct.chevron.1.1"/>
            <p:cNvGrpSpPr/>
            <p:nvPr/>
          </p:nvGrpSpPr>
          <p:grpSpPr>
            <a:xfrm>
              <a:off x="2959633" y="2219409"/>
              <a:ext cx="251005" cy="243091"/>
              <a:chOff x="2959633" y="2219409"/>
              <a:chExt cx="251005" cy="243091"/>
            </a:xfrm>
            <a:solidFill>
              <a:schemeClr val="accent1"/>
            </a:solidFill>
          </p:grpSpPr>
          <p:sp>
            <p:nvSpPr>
              <p:cNvPr id="35" name="struct.chevron.1.2"/>
              <p:cNvSpPr/>
              <p:nvPr/>
            </p:nvSpPr>
            <p:spPr>
              <a:xfrm>
                <a:off x="3058561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  <p:sp>
            <p:nvSpPr>
              <p:cNvPr id="36" name="struct.chevron.1.3"/>
              <p:cNvSpPr/>
              <p:nvPr/>
            </p:nvSpPr>
            <p:spPr>
              <a:xfrm>
                <a:off x="2959633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</p:grpSp>
        <p:grpSp>
          <p:nvGrpSpPr>
            <p:cNvPr id="37" name="struct.chevron.2.1"/>
            <p:cNvGrpSpPr/>
            <p:nvPr/>
          </p:nvGrpSpPr>
          <p:grpSpPr>
            <a:xfrm>
              <a:off x="5970386" y="2219409"/>
              <a:ext cx="251005" cy="243091"/>
              <a:chOff x="5970386" y="2219409"/>
              <a:chExt cx="251005" cy="243091"/>
            </a:xfrm>
            <a:solidFill>
              <a:schemeClr val="accent1"/>
            </a:solidFill>
          </p:grpSpPr>
          <p:sp>
            <p:nvSpPr>
              <p:cNvPr id="38" name="struct.chevron.2.2"/>
              <p:cNvSpPr/>
              <p:nvPr/>
            </p:nvSpPr>
            <p:spPr>
              <a:xfrm>
                <a:off x="6069314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  <p:sp>
            <p:nvSpPr>
              <p:cNvPr id="39" name="struct.chevron.2.3"/>
              <p:cNvSpPr/>
              <p:nvPr/>
            </p:nvSpPr>
            <p:spPr>
              <a:xfrm>
                <a:off x="5970386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</p:grpSp>
        <p:grpSp>
          <p:nvGrpSpPr>
            <p:cNvPr id="40" name="struct.chevron.3.1"/>
            <p:cNvGrpSpPr/>
            <p:nvPr/>
          </p:nvGrpSpPr>
          <p:grpSpPr>
            <a:xfrm>
              <a:off x="8981138" y="2219409"/>
              <a:ext cx="251005" cy="243091"/>
              <a:chOff x="8981138" y="2219409"/>
              <a:chExt cx="251005" cy="243091"/>
            </a:xfrm>
            <a:solidFill>
              <a:schemeClr val="accent1"/>
            </a:solidFill>
          </p:grpSpPr>
          <p:sp>
            <p:nvSpPr>
              <p:cNvPr id="41" name="struct.chevron.3.2"/>
              <p:cNvSpPr/>
              <p:nvPr/>
            </p:nvSpPr>
            <p:spPr>
              <a:xfrm>
                <a:off x="9080066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  <p:sp>
            <p:nvSpPr>
              <p:cNvPr id="42" name="struct.chevron.3.3"/>
              <p:cNvSpPr/>
              <p:nvPr/>
            </p:nvSpPr>
            <p:spPr>
              <a:xfrm>
                <a:off x="8981138" y="2219409"/>
                <a:ext cx="152077" cy="243091"/>
              </a:xfrm>
              <a:prstGeom prst="chevron">
                <a:avLst/>
              </a:prstGeom>
              <a:grpFill/>
              <a:ln>
                <a:noFill/>
              </a:ln>
            </p:spPr>
            <p:txBody>
              <a:bodyPr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+mn-ea"/>
                  <a:cs typeface="+mn-cs"/>
                  <a:sym typeface="Arial"/>
                </a:endParaRPr>
              </a:p>
            </p:txBody>
          </p:sp>
        </p:grpSp>
      </p:grpSp>
      <p:sp>
        <p:nvSpPr>
          <p:cNvPr id="43" name="slot.card.1.num"/>
          <p:cNvSpPr txBox="1"/>
          <p:nvPr/>
        </p:nvSpPr>
        <p:spPr>
          <a:xfrm>
            <a:off x="548640" y="1298448"/>
            <a:ext cx="640080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01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card.2.num"/>
          <p:cNvSpPr txBox="1"/>
          <p:nvPr/>
        </p:nvSpPr>
        <p:spPr>
          <a:xfrm>
            <a:off x="3559393" y="1298448"/>
            <a:ext cx="640080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card.3.num"/>
          <p:cNvSpPr txBox="1"/>
          <p:nvPr/>
        </p:nvSpPr>
        <p:spPr>
          <a:xfrm>
            <a:off x="6570146" y="1298448"/>
            <a:ext cx="640080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03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card.4.num"/>
          <p:cNvSpPr txBox="1"/>
          <p:nvPr/>
        </p:nvSpPr>
        <p:spPr>
          <a:xfrm>
            <a:off x="9580898" y="1298448"/>
            <a:ext cx="640080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04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rail.label"/>
          <p:cNvSpPr txBox="1"/>
          <p:nvPr/>
        </p:nvSpPr>
        <p:spPr>
          <a:xfrm>
            <a:off x="566928" y="3346704"/>
            <a:ext cx="3657600" cy="31089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Outcomes by date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card.1.icon"/>
          <p:cNvSpPr/>
          <p:nvPr/>
        </p:nvSpPr>
        <p:spPr>
          <a:xfrm>
            <a:off x="2066544" y="1261872"/>
            <a:ext cx="502920" cy="5029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41910" cap="rnd">
            <a:solidFill>
              <a:schemeClr val="accent1"/>
            </a:solidFill>
            <a:round/>
          </a:ln>
          <a:effectLst/>
        </p:spPr>
      </p:sp>
      <p:sp>
        <p:nvSpPr>
          <p:cNvPr id="49" name="slot.card.2.icon"/>
          <p:cNvSpPr/>
          <p:nvPr/>
        </p:nvSpPr>
        <p:spPr>
          <a:xfrm>
            <a:off x="5077297" y="1261872"/>
            <a:ext cx="502920" cy="5029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41910" cap="rnd">
            <a:solidFill>
              <a:schemeClr val="accent1"/>
            </a:solidFill>
            <a:round/>
          </a:ln>
          <a:effectLst/>
        </p:spPr>
      </p:sp>
      <p:sp>
        <p:nvSpPr>
          <p:cNvPr id="50" name="slot.card.3.icon"/>
          <p:cNvSpPr/>
          <p:nvPr/>
        </p:nvSpPr>
        <p:spPr>
          <a:xfrm>
            <a:off x="8088050" y="1261872"/>
            <a:ext cx="502920" cy="5029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41910" cap="rnd">
            <a:solidFill>
              <a:schemeClr val="accent1"/>
            </a:solidFill>
            <a:round/>
          </a:ln>
          <a:effectLst/>
        </p:spPr>
      </p:sp>
      <p:sp>
        <p:nvSpPr>
          <p:cNvPr id="51" name="slot.card.4.icon"/>
          <p:cNvSpPr/>
          <p:nvPr/>
        </p:nvSpPr>
        <p:spPr>
          <a:xfrm>
            <a:off x="11098802" y="1261872"/>
            <a:ext cx="502920" cy="5029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4191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eep-dive:stage-band-brief-rail">
    <p:spTree>
      <p:nvGrpSpPr>
        <p:cNvPr id="1" name=""/>
        <p:cNvGrpSpPr/>
        <p:nvPr/>
      </p:nvGrpSpPr>
      <p:grpSpPr/>
      <p:cxnSp>
        <p:nvCxnSpPr>
          <p:cNvPr id="2" name="struct.capture.link"/>
          <p:cNvCxnSpPr/>
          <p:nvPr/>
        </p:nvCxnSpPr>
        <p:spPr>
          <a:xfrm>
            <a:off x="1124042" y="3719078"/>
            <a:ext cx="122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3" name="struct.capture.node"/>
          <p:cNvSpPr/>
          <p:nvPr/>
        </p:nvSpPr>
        <p:spPr>
          <a:xfrm>
            <a:off x="1425661" y="3291840"/>
            <a:ext cx="626689" cy="78903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truct.outcomes"/>
          <p:cNvSpPr/>
          <p:nvPr/>
        </p:nvSpPr>
        <p:spPr>
          <a:xfrm>
            <a:off x="6143125" y="4371340"/>
            <a:ext cx="2355046" cy="790987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rtlCol="0" anchor="ctr">
            <a:noAutofit/>
          </a:bodyPr>
          <a:lstStyle/>
          <a:p>
            <a:pPr>
              <a:lnSpc>
                <a:spcPct val="110000"/>
              </a:lnSpc>
            </a:pP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5" name="slot.title"/>
          <p:cNvSpPr txBox="1"/>
          <p:nvPr/>
        </p:nvSpPr>
        <p:spPr>
          <a:xfrm>
            <a:off x="457200" y="182880"/>
            <a:ext cx="113385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Rule passes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clear routine invoices and reviewers settle the rest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uct.brief"/>
          <p:cNvSpPr/>
          <p:nvPr/>
        </p:nvSpPr>
        <p:spPr>
          <a:xfrm>
            <a:off x="9088016" y="727788"/>
            <a:ext cx="2706830" cy="5523723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12700">
            <a:solidFill>
              <a:schemeClr val="accent1"/>
            </a:solidFill>
          </a:ln>
          <a:effectLst/>
        </p:spPr>
        <p:txBody>
          <a:bodyPr wrap="square" tIns="72000" bIns="72000" rtlCol="0" anchor="ctr">
            <a:noAutofit/>
          </a:bodyPr>
          <a:lstStyle/>
          <a:p>
            <a:pPr algn="ctr">
              <a:lnSpc>
                <a:spcPct val="110000"/>
              </a:lnSpc>
            </a:pP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7" name="slot.brief.head"/>
          <p:cNvSpPr txBox="1"/>
          <p:nvPr/>
        </p:nvSpPr>
        <p:spPr>
          <a:xfrm>
            <a:off x="9242631" y="939800"/>
            <a:ext cx="2397600" cy="230832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Use case brief</a:t>
            </a:r>
            <a:endParaRPr lang="en-US" sz="15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brief.problem"/>
          <p:cNvSpPr txBox="1"/>
          <p:nvPr/>
        </p:nvSpPr>
        <p:spPr>
          <a:xfrm>
            <a:off x="9244584" y="1298448"/>
            <a:ext cx="2395728" cy="475488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Supplier invoices stall in manual matching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brief.why"/>
          <p:cNvSpPr txBox="1"/>
          <p:nvPr/>
        </p:nvSpPr>
        <p:spPr>
          <a:xfrm>
            <a:off x="9244584" y="2011680"/>
            <a:ext cx="2395728" cy="804672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Why it matters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Held invoices delay payment runs and miss discount windows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brief.approach"/>
          <p:cNvSpPr txBox="1"/>
          <p:nvPr/>
        </p:nvSpPr>
        <p:spPr>
          <a:xfrm>
            <a:off x="9244584" y="3017520"/>
            <a:ext cx="2395728" cy="804672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Approach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Rule passes match routine lines and reviewers clear the rest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brief.scope"/>
          <p:cNvSpPr txBox="1"/>
          <p:nvPr/>
        </p:nvSpPr>
        <p:spPr>
          <a:xfrm>
            <a:off x="9244584" y="4023360"/>
            <a:ext cx="2395728" cy="804672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Scope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ledger, three entities and twelve weeks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brief.decision"/>
          <p:cNvSpPr/>
          <p:nvPr/>
        </p:nvSpPr>
        <p:spPr>
          <a:xfrm>
            <a:off x="9244584" y="5084064"/>
            <a:ext cx="2395728" cy="98755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txBody>
          <a:bodyPr lIns="108000" rIns="108000" anchor="ctr" wrap="square" tIns="45720" bIns="4572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Decision supported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Fund a twelve-week pilot on one ledger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challenge"/>
          <p:cNvSpPr/>
          <p:nvPr/>
        </p:nvSpPr>
        <p:spPr>
          <a:xfrm>
            <a:off x="457200" y="914400"/>
            <a:ext cx="8238744" cy="1005840"/>
          </a:xfrm>
          <a:prstGeom prst="rect">
            <a:avLst/>
          </a:prstGeom>
          <a:noFill/>
          <a:ln w="12700">
            <a:solidFill>
              <a:schemeClr val="accent1"/>
            </a:solidFill>
          </a:ln>
          <a:effectLst/>
        </p:spPr>
        <p:txBody>
          <a:bodyPr wrap="square" tIns="72000" bIns="72000" rtlCol="0" anchor="ctr">
            <a:noAutofit/>
          </a:bodyPr>
          <a:lstStyle/>
          <a:p>
            <a:pPr algn="ctr">
              <a:lnSpc>
                <a:spcPct val="110000"/>
              </a:lnSpc>
            </a:pP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14" name="slot.challenge.label"/>
          <p:cNvSpPr txBox="1"/>
          <p:nvPr/>
        </p:nvSpPr>
        <p:spPr>
          <a:xfrm>
            <a:off x="457200" y="658368"/>
            <a:ext cx="1673352" cy="219456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Challenge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pain.1.body"/>
          <p:cNvSpPr txBox="1"/>
          <p:nvPr/>
        </p:nvSpPr>
        <p:spPr>
          <a:xfrm>
            <a:off x="1444752" y="1024128"/>
            <a:ext cx="2011680" cy="786384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 days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to clear one held invoice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pain.2.body"/>
          <p:cNvSpPr txBox="1"/>
          <p:nvPr/>
        </p:nvSpPr>
        <p:spPr>
          <a:xfrm>
            <a:off x="4526280" y="1024128"/>
            <a:ext cx="1554480" cy="786384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Matching rules live in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personal spreadsheets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pain.3.body"/>
          <p:cNvSpPr txBox="1"/>
          <p:nvPr/>
        </p:nvSpPr>
        <p:spPr>
          <a:xfrm>
            <a:off x="7095744" y="1024128"/>
            <a:ext cx="1527048" cy="786384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Late payments forfeit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early-pay discounts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8" name="struct.challenge.rule.1"/>
          <p:cNvCxnSpPr>
            <a:cxnSpLocks/>
          </p:cNvCxnSpPr>
          <p:nvPr/>
        </p:nvCxnSpPr>
        <p:spPr>
          <a:xfrm>
            <a:off x="3538728" y="1133856"/>
            <a:ext cx="0" cy="5760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9" name="struct.challenge.rule.2"/>
          <p:cNvCxnSpPr>
            <a:cxnSpLocks/>
          </p:cNvCxnSpPr>
          <p:nvPr/>
        </p:nvCxnSpPr>
        <p:spPr>
          <a:xfrm>
            <a:off x="6135624" y="1133856"/>
            <a:ext cx="0" cy="5760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20" name="slot.work.head"/>
          <p:cNvSpPr/>
          <p:nvPr/>
        </p:nvSpPr>
        <p:spPr>
          <a:xfrm>
            <a:off x="454850" y="2047678"/>
            <a:ext cx="8240263" cy="38735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  <a:effectLst/>
        </p:spPr>
        <p:txBody>
          <a:bodyPr wrap="square" tIns="72000" bIns="72000" rtlCol="0" anchor="ctr" lIns="91440" rIns="9144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How invoice matching works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truct.stage.1"/>
          <p:cNvSpPr/>
          <p:nvPr/>
        </p:nvSpPr>
        <p:spPr>
          <a:xfrm>
            <a:off x="454850" y="2531750"/>
            <a:ext cx="2883247" cy="506506"/>
          </a:xfrm>
          <a:prstGeom prst="homePlate">
            <a:avLst>
              <a:gd name="adj" fmla="val 33575"/>
            </a:avLst>
          </a:prstGeom>
          <a:solidFill>
            <a:schemeClr val="bg1">
              <a:lumMod val="85000"/>
            </a:schemeClr>
          </a:solidFill>
          <a:ln w="9525"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struct.stage.2"/>
          <p:cNvSpPr/>
          <p:nvPr/>
        </p:nvSpPr>
        <p:spPr>
          <a:xfrm>
            <a:off x="3218029" y="2531750"/>
            <a:ext cx="2883247" cy="506506"/>
          </a:xfrm>
          <a:prstGeom prst="chevron">
            <a:avLst>
              <a:gd name="adj" fmla="val 33575"/>
            </a:avLst>
          </a:prstGeom>
          <a:solidFill>
            <a:schemeClr val="bg1">
              <a:lumMod val="85000"/>
            </a:schemeClr>
          </a:solidFill>
          <a:ln w="9525"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struct.stage.3"/>
          <p:cNvSpPr/>
          <p:nvPr/>
        </p:nvSpPr>
        <p:spPr>
          <a:xfrm>
            <a:off x="5981209" y="2531750"/>
            <a:ext cx="2883247" cy="506506"/>
          </a:xfrm>
          <a:prstGeom prst="chevron">
            <a:avLst>
              <a:gd name="adj" fmla="val 33575"/>
            </a:avLst>
          </a:prstGeom>
          <a:solidFill>
            <a:schemeClr val="bg1">
              <a:lumMod val="85000"/>
            </a:schemeClr>
          </a:solidFill>
          <a:ln w="9525"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slot.value.label"/>
          <p:cNvSpPr/>
          <p:nvPr/>
        </p:nvSpPr>
        <p:spPr>
          <a:xfrm>
            <a:off x="454850" y="5655395"/>
            <a:ext cx="8240263" cy="509039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  <a:effectLst/>
        </p:spPr>
        <p:txBody>
          <a:bodyPr wrap="square" lIns="144000" tIns="72000" rIns="144000" bIns="72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Value</a:t>
            </a:r>
            <a:endParaRPr lang="en-US" sz="14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truct.value.panel"/>
          <p:cNvSpPr/>
          <p:nvPr/>
        </p:nvSpPr>
        <p:spPr>
          <a:xfrm>
            <a:off x="1689937" y="5655395"/>
            <a:ext cx="7005175" cy="50903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txBody>
          <a:bodyPr wrap="square" tIns="72000" bIns="72000" rtlCol="0" anchor="ctr">
            <a:noAutofit/>
          </a:bodyPr>
          <a:lstStyle/>
          <a:p>
            <a:pPr algn="just">
              <a:lnSpc>
                <a:spcPct val="110000"/>
              </a:lnSpc>
            </a:pPr>
            <a:endParaRPr lang="en-US" b="1">
              <a:solidFill>
                <a:schemeClr val="bg1"/>
              </a:solidFill>
            </a:endParaRPr>
          </a:p>
        </p:txBody>
      </p:sp>
      <p:cxnSp>
        <p:nvCxnSpPr>
          <p:cNvPr id="26" name="struct.column.rule.1"/>
          <p:cNvCxnSpPr/>
          <p:nvPr/>
        </p:nvCxnSpPr>
        <p:spPr>
          <a:xfrm>
            <a:off x="3218029" y="3084750"/>
            <a:ext cx="0" cy="207757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7" name="struct.column.rule.2"/>
          <p:cNvCxnSpPr/>
          <p:nvPr/>
        </p:nvCxnSpPr>
        <p:spPr>
          <a:xfrm>
            <a:off x="5948254" y="3084750"/>
            <a:ext cx="0" cy="207757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28" name="slot.stage.1.num"/>
          <p:cNvSpPr txBox="1"/>
          <p:nvPr/>
        </p:nvSpPr>
        <p:spPr>
          <a:xfrm>
            <a:off x="530352" y="2660904"/>
            <a:ext cx="329184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01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stage.1.head"/>
          <p:cNvSpPr txBox="1"/>
          <p:nvPr/>
        </p:nvSpPr>
        <p:spPr>
          <a:xfrm>
            <a:off x="1015116" y="2677281"/>
            <a:ext cx="2057787" cy="200055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Capture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0" name="struct.stage.1.rule"/>
          <p:cNvCxnSpPr>
            <a:cxnSpLocks/>
          </p:cNvCxnSpPr>
          <p:nvPr/>
        </p:nvCxnSpPr>
        <p:spPr>
          <a:xfrm>
            <a:off x="892205" y="2615965"/>
            <a:ext cx="0" cy="338076"/>
          </a:xfrm>
          <a:prstGeom prst="line">
            <a:avLst/>
          </a:prstGeom>
          <a:ln>
            <a:solidFill>
              <a:schemeClr val="accent1"/>
            </a:solidFill>
            <a:prstDash val="solid"/>
          </a:ln>
          <a:effectLst/>
        </p:spPr>
      </p:cxnSp>
      <p:sp>
        <p:nvSpPr>
          <p:cNvPr id="31" name="slot.stage.2.num"/>
          <p:cNvSpPr txBox="1"/>
          <p:nvPr/>
        </p:nvSpPr>
        <p:spPr>
          <a:xfrm>
            <a:off x="3538135" y="2661893"/>
            <a:ext cx="285899" cy="246221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stage.2.head"/>
          <p:cNvSpPr txBox="1"/>
          <p:nvPr/>
        </p:nvSpPr>
        <p:spPr>
          <a:xfrm>
            <a:off x="4062217" y="2677281"/>
            <a:ext cx="1773865" cy="200055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Match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" name="struct.stage.2.rule"/>
          <p:cNvCxnSpPr>
            <a:cxnSpLocks/>
          </p:cNvCxnSpPr>
          <p:nvPr/>
        </p:nvCxnSpPr>
        <p:spPr>
          <a:xfrm>
            <a:off x="3929050" y="2615965"/>
            <a:ext cx="0" cy="338076"/>
          </a:xfrm>
          <a:prstGeom prst="line">
            <a:avLst/>
          </a:prstGeom>
          <a:ln>
            <a:solidFill>
              <a:schemeClr val="accent1"/>
            </a:solidFill>
            <a:prstDash val="solid"/>
          </a:ln>
          <a:effectLst/>
        </p:spPr>
      </p:cxnSp>
      <p:sp>
        <p:nvSpPr>
          <p:cNvPr id="34" name="slot.stage.3.num"/>
          <p:cNvSpPr txBox="1"/>
          <p:nvPr/>
        </p:nvSpPr>
        <p:spPr>
          <a:xfrm>
            <a:off x="6315437" y="2661893"/>
            <a:ext cx="285899" cy="246221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03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stage.3.head"/>
          <p:cNvSpPr txBox="1"/>
          <p:nvPr/>
        </p:nvSpPr>
        <p:spPr>
          <a:xfrm>
            <a:off x="6839519" y="2677281"/>
            <a:ext cx="1773865" cy="200055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Review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6" name="struct.stage.3.rule"/>
          <p:cNvCxnSpPr>
            <a:cxnSpLocks/>
          </p:cNvCxnSpPr>
          <p:nvPr/>
        </p:nvCxnSpPr>
        <p:spPr>
          <a:xfrm>
            <a:off x="6706352" y="2615965"/>
            <a:ext cx="0" cy="338076"/>
          </a:xfrm>
          <a:prstGeom prst="line">
            <a:avLst/>
          </a:prstGeom>
          <a:ln>
            <a:solidFill>
              <a:schemeClr val="accent1"/>
            </a:solidFill>
            <a:prstDash val="solid"/>
          </a:ln>
          <a:effectLst/>
        </p:spPr>
      </p:cxnSp>
      <p:sp>
        <p:nvSpPr>
          <p:cNvPr id="37" name="slot.rule.1"/>
          <p:cNvSpPr txBox="1"/>
          <p:nvPr/>
        </p:nvSpPr>
        <p:spPr>
          <a:xfrm>
            <a:off x="3371947" y="3331426"/>
            <a:ext cx="2422390" cy="376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5000"/>
              </a:schemeClr>
            </a:solidFill>
          </a:ln>
          <a:effectLst/>
        </p:spPr>
        <p:txBody>
          <a:bodyPr wrap="square" lIns="72000" tIns="72000" rIns="72000" bIns="7200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Exact order and amount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rule.2"/>
          <p:cNvSpPr txBox="1"/>
          <p:nvPr/>
        </p:nvSpPr>
        <p:spPr>
          <a:xfrm>
            <a:off x="3371947" y="3864710"/>
            <a:ext cx="2422390" cy="376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5000"/>
              </a:schemeClr>
            </a:solidFill>
          </a:ln>
          <a:effectLst/>
        </p:spPr>
        <p:txBody>
          <a:bodyPr wrap="square" lIns="72000" tIns="72000" rIns="72000" bIns="7200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within tolerance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rule.3"/>
          <p:cNvSpPr txBox="1"/>
          <p:nvPr/>
        </p:nvSpPr>
        <p:spPr>
          <a:xfrm>
            <a:off x="3371947" y="4397994"/>
            <a:ext cx="2422390" cy="376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5000"/>
              </a:schemeClr>
            </a:solidFill>
          </a:ln>
          <a:effectLst/>
        </p:spPr>
        <p:txBody>
          <a:bodyPr wrap="square" lIns="72000" tIns="72000" rIns="72000" bIns="7200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Fuzzy supplier and line text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review.body"/>
          <p:cNvSpPr txBox="1"/>
          <p:nvPr/>
        </p:nvSpPr>
        <p:spPr>
          <a:xfrm>
            <a:off x="6143125" y="3662491"/>
            <a:ext cx="2355046" cy="169277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Unmatched lines go to review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outcome.1"/>
          <p:cNvSpPr txBox="1"/>
          <p:nvPr/>
        </p:nvSpPr>
        <p:spPr>
          <a:xfrm>
            <a:off x="6217920" y="4489704"/>
            <a:ext cx="105156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Approve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and post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outcome.2"/>
          <p:cNvSpPr txBox="1"/>
          <p:nvPr/>
        </p:nvSpPr>
        <p:spPr>
          <a:xfrm>
            <a:off x="7379208" y="4489704"/>
            <a:ext cx="105156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Return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with a reason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outcomes.rule"/>
          <p:cNvCxnSpPr>
            <a:cxnSpLocks/>
          </p:cNvCxnSpPr>
          <p:nvPr/>
        </p:nvCxnSpPr>
        <p:spPr>
          <a:xfrm>
            <a:off x="7324344" y="4489704"/>
            <a:ext cx="0" cy="56692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44" name="struct.exceptions"/>
          <p:cNvSpPr/>
          <p:nvPr/>
        </p:nvSpPr>
        <p:spPr>
          <a:xfrm>
            <a:off x="795528" y="4133087"/>
            <a:ext cx="1600200" cy="65836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rtlCol="0" anchor="ctr">
            <a:noAutofit/>
          </a:bodyPr>
          <a:lstStyle/>
          <a:p>
            <a:pPr>
              <a:lnSpc>
                <a:spcPct val="110000"/>
              </a:lnSpc>
            </a:pP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45" name="slot.exceptions.body"/>
          <p:cNvSpPr txBox="1"/>
          <p:nvPr/>
        </p:nvSpPr>
        <p:spPr>
          <a:xfrm>
            <a:off x="850392" y="4187952"/>
            <a:ext cx="1490472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Held lines return with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 reason code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capture.label.1"/>
          <p:cNvSpPr txBox="1"/>
          <p:nvPr/>
        </p:nvSpPr>
        <p:spPr>
          <a:xfrm>
            <a:off x="454851" y="3911600"/>
            <a:ext cx="871794" cy="169277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Invoices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capture.label.2"/>
          <p:cNvSpPr txBox="1"/>
          <p:nvPr/>
        </p:nvSpPr>
        <p:spPr>
          <a:xfrm>
            <a:off x="2151365" y="3911600"/>
            <a:ext cx="871794" cy="169277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Ledger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value.1.body"/>
          <p:cNvSpPr txBox="1"/>
          <p:nvPr/>
        </p:nvSpPr>
        <p:spPr>
          <a:xfrm>
            <a:off x="2377440" y="5788152"/>
            <a:ext cx="1325880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Discounts kept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value.2.body"/>
          <p:cNvSpPr txBox="1"/>
          <p:nvPr/>
        </p:nvSpPr>
        <p:spPr>
          <a:xfrm>
            <a:off x="4498848" y="5788152"/>
            <a:ext cx="1371600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rule set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value.3.body"/>
          <p:cNvSpPr txBox="1"/>
          <p:nvPr/>
        </p:nvSpPr>
        <p:spPr>
          <a:xfrm>
            <a:off x="6647688" y="5788152"/>
            <a:ext cx="1920240" cy="24688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Same-day clearing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" name="struct.value.rule.2"/>
          <p:cNvCxnSpPr/>
          <p:nvPr/>
        </p:nvCxnSpPr>
        <p:spPr>
          <a:xfrm>
            <a:off x="5904320" y="5745951"/>
            <a:ext cx="0" cy="3276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52" name="struct.value.rule.1"/>
          <p:cNvCxnSpPr/>
          <p:nvPr/>
        </p:nvCxnSpPr>
        <p:spPr>
          <a:xfrm>
            <a:off x="3787906" y="5745951"/>
            <a:ext cx="0" cy="3276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53" name="slot.work.tag"/>
          <p:cNvSpPr txBox="1"/>
          <p:nvPr/>
        </p:nvSpPr>
        <p:spPr>
          <a:xfrm>
            <a:off x="7429823" y="2156717"/>
            <a:ext cx="1063294" cy="169277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Illustrative</a:t>
            </a:r>
            <a:endParaRPr lang="en-US" sz="1100" b="0" i="1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rule.caption"/>
          <p:cNvSpPr txBox="1"/>
          <p:nvPr/>
        </p:nvSpPr>
        <p:spPr>
          <a:xfrm>
            <a:off x="3295738" y="4890266"/>
            <a:ext cx="2574809" cy="1692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The first pass to match wins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pain.1.icon"/>
          <p:cNvSpPr/>
          <p:nvPr/>
        </p:nvSpPr>
        <p:spPr>
          <a:xfrm>
            <a:off x="768096" y="1152144"/>
            <a:ext cx="530352" cy="5303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22000"/>
                </a:moveTo>
                <a:lnTo>
                  <a:pt x="19000" y="22000"/>
                </a:lnTo>
                <a:moveTo>
                  <a:pt x="5000" y="2000"/>
                </a:moveTo>
                <a:lnTo>
                  <a:pt x="19000" y="2000"/>
                </a:lnTo>
                <a:moveTo>
                  <a:pt x="17000" y="22000"/>
                </a:moveTo>
                <a:lnTo>
                  <a:pt x="17000" y="17828"/>
                </a:lnTo>
                <a:cubicBezTo>
                  <a:pt x="17000" y="17298"/>
                  <a:pt x="16789" y="16789"/>
                  <a:pt x="16414" y="16414"/>
                </a:cubicBezTo>
                <a:lnTo>
                  <a:pt x="12000" y="12000"/>
                </a:lnTo>
                <a:lnTo>
                  <a:pt x="7586" y="16414"/>
                </a:lnTo>
                <a:cubicBezTo>
                  <a:pt x="7211" y="16789"/>
                  <a:pt x="7000" y="17298"/>
                  <a:pt x="7000" y="17828"/>
                </a:cubicBezTo>
                <a:lnTo>
                  <a:pt x="7000" y="22000"/>
                </a:lnTo>
                <a:moveTo>
                  <a:pt x="7000" y="2000"/>
                </a:moveTo>
                <a:lnTo>
                  <a:pt x="7000" y="6172"/>
                </a:lnTo>
                <a:cubicBezTo>
                  <a:pt x="7000" y="6702"/>
                  <a:pt x="7211" y="7211"/>
                  <a:pt x="7586" y="7586"/>
                </a:cubicBezTo>
                <a:lnTo>
                  <a:pt x="12000" y="12000"/>
                </a:lnTo>
                <a:lnTo>
                  <a:pt x="16414" y="7586"/>
                </a:lnTo>
                <a:cubicBezTo>
                  <a:pt x="16789" y="7211"/>
                  <a:pt x="17000" y="6702"/>
                  <a:pt x="17000" y="6172"/>
                </a:cubicBezTo>
                <a:lnTo>
                  <a:pt x="17000" y="2000"/>
                </a:lnTo>
              </a:path>
            </a:pathLst>
          </a:custGeom>
          <a:noFill/>
          <a:ln w="44450" cap="rnd">
            <a:solidFill>
              <a:schemeClr val="accent1"/>
            </a:solidFill>
            <a:round/>
          </a:ln>
          <a:effectLst/>
        </p:spPr>
      </p:sp>
      <p:sp>
        <p:nvSpPr>
          <p:cNvPr id="56" name="slot.pain.2.icon"/>
          <p:cNvSpPr/>
          <p:nvPr/>
        </p:nvSpPr>
        <p:spPr>
          <a:xfrm>
            <a:off x="3849624" y="1152144"/>
            <a:ext cx="530352" cy="5303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44450" cap="rnd">
            <a:solidFill>
              <a:schemeClr val="accent1"/>
            </a:solidFill>
            <a:round/>
          </a:ln>
          <a:effectLst/>
        </p:spPr>
      </p:sp>
      <p:sp>
        <p:nvSpPr>
          <p:cNvPr id="57" name="slot.pain.3.icon"/>
          <p:cNvSpPr/>
          <p:nvPr/>
        </p:nvSpPr>
        <p:spPr>
          <a:xfrm>
            <a:off x="6446520" y="1152144"/>
            <a:ext cx="530352" cy="5303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44450" cap="rnd">
            <a:solidFill>
              <a:schemeClr val="accent1"/>
            </a:solidFill>
            <a:round/>
          </a:ln>
          <a:effectLst/>
        </p:spPr>
      </p:sp>
      <p:sp>
        <p:nvSpPr>
          <p:cNvPr id="58" name="slot.capture.icon.1"/>
          <p:cNvSpPr/>
          <p:nvPr/>
        </p:nvSpPr>
        <p:spPr>
          <a:xfrm>
            <a:off x="740664" y="356616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54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59" name="slot.capture.icon.2"/>
          <p:cNvSpPr/>
          <p:nvPr/>
        </p:nvSpPr>
        <p:spPr>
          <a:xfrm>
            <a:off x="1472184" y="3447288"/>
            <a:ext cx="530352" cy="5303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7000"/>
                </a:move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lnTo>
                  <a:pt x="7000" y="3000"/>
                </a:lnTo>
                <a:moveTo>
                  <a:pt x="17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7000"/>
                </a:lnTo>
                <a:moveTo>
                  <a:pt x="21000" y="17000"/>
                </a:move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7000" y="21000"/>
                </a:lnTo>
                <a:moveTo>
                  <a:pt x="7000" y="21000"/>
                </a:move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7000"/>
                </a:lnTo>
                <a:moveTo>
                  <a:pt x="15000" y="12000"/>
                </a:moveTo>
                <a:cubicBezTo>
                  <a:pt x="15000" y="13657"/>
                  <a:pt x="13657" y="15000"/>
                  <a:pt x="12000" y="15000"/>
                </a:cubicBezTo>
                <a:cubicBezTo>
                  <a:pt x="10343" y="15000"/>
                  <a:pt x="9000" y="13657"/>
                  <a:pt x="9000" y="12000"/>
                </a:cubicBezTo>
                <a:cubicBezTo>
                  <a:pt x="9000" y="10343"/>
                  <a:pt x="10343" y="9000"/>
                  <a:pt x="12000" y="9000"/>
                </a:cubicBezTo>
                <a:cubicBezTo>
                  <a:pt x="13657" y="9000"/>
                  <a:pt x="15000" y="10343"/>
                  <a:pt x="15000" y="12000"/>
                </a:cubicBezTo>
                <a:close/>
                <a:moveTo>
                  <a:pt x="16000" y="16000"/>
                </a:moveTo>
                <a:lnTo>
                  <a:pt x="14100" y="14100"/>
                </a:lnTo>
              </a:path>
            </a:pathLst>
          </a:custGeom>
          <a:noFill/>
          <a:ln w="44450" cap="rnd">
            <a:solidFill>
              <a:schemeClr val="accent1"/>
            </a:solidFill>
            <a:round/>
          </a:ln>
          <a:effectLst/>
        </p:spPr>
      </p:sp>
      <p:sp>
        <p:nvSpPr>
          <p:cNvPr id="60" name="slot.capture.icon.3"/>
          <p:cNvSpPr/>
          <p:nvPr/>
        </p:nvSpPr>
        <p:spPr>
          <a:xfrm>
            <a:off x="2432304" y="356616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54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61" name="struct.capture.fan.1"/>
          <p:cNvSpPr/>
          <p:nvPr/>
        </p:nvSpPr>
        <p:spPr>
          <a:xfrm>
            <a:off x="2734056" y="3519726"/>
            <a:ext cx="637891" cy="197310"/>
          </a:xfrm>
          <a:custGeom>
            <a:avLst/>
            <a:gdLst/>
            <a:ahLst/>
            <a:cxnLst/>
            <a:rect l="l" t="t" r="r" b="b"/>
            <a:pathLst>
              <a:path w="637891" h="197310" fill="none">
                <a:moveTo>
                  <a:pt x="0" y="197310"/>
                </a:moveTo>
                <a:lnTo>
                  <a:pt x="320040" y="197310"/>
                </a:lnTo>
                <a:lnTo>
                  <a:pt x="320040" y="0"/>
                </a:lnTo>
                <a:lnTo>
                  <a:pt x="637891" y="0"/>
                </a:lnTo>
              </a:path>
            </a:pathLst>
          </a:custGeom>
          <a:noFill/>
          <a:ln w="12700">
            <a:solidFill>
              <a:schemeClr val="accent1"/>
            </a:solidFill>
            <a:miter lim="800000"/>
            <a:tailEnd type="triangle" w="med" len="med"/>
          </a:ln>
          <a:effectLst/>
        </p:spPr>
      </p:sp>
      <p:sp>
        <p:nvSpPr>
          <p:cNvPr id="62" name="struct.capture.fan.2"/>
          <p:cNvSpPr/>
          <p:nvPr/>
        </p:nvSpPr>
        <p:spPr>
          <a:xfrm>
            <a:off x="2734056" y="3717036"/>
            <a:ext cx="637891" cy="335974"/>
          </a:xfrm>
          <a:custGeom>
            <a:avLst/>
            <a:gdLst/>
            <a:ahLst/>
            <a:cxnLst/>
            <a:rect l="l" t="t" r="r" b="b"/>
            <a:pathLst>
              <a:path w="637891" h="335974" fill="none">
                <a:moveTo>
                  <a:pt x="0" y="0"/>
                </a:moveTo>
                <a:lnTo>
                  <a:pt x="320040" y="0"/>
                </a:lnTo>
                <a:lnTo>
                  <a:pt x="320040" y="335974"/>
                </a:lnTo>
                <a:lnTo>
                  <a:pt x="637891" y="335974"/>
                </a:lnTo>
              </a:path>
            </a:pathLst>
          </a:custGeom>
          <a:noFill/>
          <a:ln w="12700">
            <a:solidFill>
              <a:schemeClr val="accent1"/>
            </a:solidFill>
            <a:miter lim="800000"/>
            <a:tailEnd type="triangle" w="med" len="med"/>
          </a:ln>
          <a:effectLst/>
        </p:spPr>
      </p:sp>
      <p:sp>
        <p:nvSpPr>
          <p:cNvPr id="63" name="struct.capture.fan.3"/>
          <p:cNvSpPr/>
          <p:nvPr/>
        </p:nvSpPr>
        <p:spPr>
          <a:xfrm>
            <a:off x="2734056" y="3717036"/>
            <a:ext cx="637891" cy="869258"/>
          </a:xfrm>
          <a:custGeom>
            <a:avLst/>
            <a:gdLst/>
            <a:ahLst/>
            <a:cxnLst/>
            <a:rect l="l" t="t" r="r" b="b"/>
            <a:pathLst>
              <a:path w="637891" h="869258" fill="none">
                <a:moveTo>
                  <a:pt x="0" y="0"/>
                </a:moveTo>
                <a:lnTo>
                  <a:pt x="320040" y="0"/>
                </a:lnTo>
                <a:lnTo>
                  <a:pt x="320040" y="869258"/>
                </a:lnTo>
                <a:lnTo>
                  <a:pt x="637891" y="869258"/>
                </a:lnTo>
              </a:path>
            </a:pathLst>
          </a:custGeom>
          <a:noFill/>
          <a:ln w="12700">
            <a:solidFill>
              <a:schemeClr val="accent1"/>
            </a:solidFill>
            <a:miter lim="800000"/>
            <a:tailEnd type="triangle" w="med" len="med"/>
          </a:ln>
          <a:effectLst/>
        </p:spPr>
      </p:sp>
      <p:sp>
        <p:nvSpPr>
          <p:cNvPr id="64" name="slot.review.icon"/>
          <p:cNvSpPr/>
          <p:nvPr/>
        </p:nvSpPr>
        <p:spPr>
          <a:xfrm>
            <a:off x="7132320" y="3191256"/>
            <a:ext cx="374904" cy="3749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4000" y="14500"/>
                </a:moveTo>
                <a:cubicBezTo>
                  <a:pt x="14000" y="15881"/>
                  <a:pt x="12881" y="17000"/>
                  <a:pt x="11500" y="17000"/>
                </a:cubicBezTo>
                <a:cubicBezTo>
                  <a:pt x="10119" y="17000"/>
                  <a:pt x="9000" y="15881"/>
                  <a:pt x="9000" y="14500"/>
                </a:cubicBezTo>
                <a:cubicBezTo>
                  <a:pt x="9000" y="13119"/>
                  <a:pt x="10119" y="12000"/>
                  <a:pt x="11500" y="12000"/>
                </a:cubicBezTo>
                <a:cubicBezTo>
                  <a:pt x="12881" y="12000"/>
                  <a:pt x="14000" y="13119"/>
                  <a:pt x="14000" y="14500"/>
                </a:cubicBezTo>
                <a:close/>
                <a:moveTo>
                  <a:pt x="13300" y="16300"/>
                </a:moveTo>
                <a:lnTo>
                  <a:pt x="15000" y="18000"/>
                </a:lnTo>
              </a:path>
            </a:pathLst>
          </a:custGeom>
          <a:noFill/>
          <a:ln w="3111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65" name="struct.review.arrow"/>
          <p:cNvSpPr/>
          <p:nvPr/>
        </p:nvSpPr>
        <p:spPr>
          <a:xfrm>
            <a:off x="7187184" y="405079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lnTo>
                  <a:pt x="12000" y="19000"/>
                </a:lnTo>
                <a:moveTo>
                  <a:pt x="19000" y="12000"/>
                </a:moveTo>
                <a:lnTo>
                  <a:pt x="12000" y="19000"/>
                </a:lnTo>
                <a:lnTo>
                  <a:pt x="5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66" name="struct.loop"/>
          <p:cNvSpPr/>
          <p:nvPr/>
        </p:nvSpPr>
        <p:spPr>
          <a:xfrm>
            <a:off x="1595628" y="4791455"/>
            <a:ext cx="5725020" cy="589789"/>
          </a:xfrm>
          <a:custGeom>
            <a:avLst/>
            <a:gdLst/>
            <a:ahLst/>
            <a:cxnLst/>
            <a:rect l="l" t="t" r="r" b="b"/>
            <a:pathLst>
              <a:path w="5725020" h="589789" fill="none">
                <a:moveTo>
                  <a:pt x="5725020" y="370872"/>
                </a:moveTo>
                <a:lnTo>
                  <a:pt x="5725020" y="589789"/>
                </a:lnTo>
                <a:lnTo>
                  <a:pt x="0" y="589789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chemeClr val="accent1"/>
            </a:solidFill>
            <a:prstDash val="dash"/>
            <a:miter lim="800000"/>
            <a:tailEnd type="triangle" w="med" len="med"/>
          </a:ln>
          <a:effectLst/>
        </p:spPr>
      </p:sp>
      <p:sp>
        <p:nvSpPr>
          <p:cNvPr id="67" name="slot.loop.label"/>
          <p:cNvSpPr txBox="1"/>
          <p:nvPr/>
        </p:nvSpPr>
        <p:spPr>
          <a:xfrm>
            <a:off x="3163824" y="5294376"/>
            <a:ext cx="2834640" cy="173736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Reviewer decisions retune tolerances</a:t>
            </a:r>
            <a:endParaRPr lang="en-US" sz="1100" b="0" i="1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value.1.icon"/>
          <p:cNvSpPr/>
          <p:nvPr/>
        </p:nvSpPr>
        <p:spPr>
          <a:xfrm>
            <a:off x="1956816" y="574243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7000"/>
                </a:moveTo>
                <a:lnTo>
                  <a:pt x="14000" y="17000"/>
                </a:lnTo>
                <a:lnTo>
                  <a:pt x="14000" y="19000"/>
                </a:lnTo>
                <a:cubicBezTo>
                  <a:pt x="14000" y="19552"/>
                  <a:pt x="14448" y="20000"/>
                  <a:pt x="15000" y="20000"/>
                </a:cubicBezTo>
                <a:lnTo>
                  <a:pt x="17000" y="20000"/>
                </a:lnTo>
                <a:cubicBezTo>
                  <a:pt x="17552" y="20000"/>
                  <a:pt x="18000" y="19552"/>
                  <a:pt x="18000" y="19000"/>
                </a:cubicBezTo>
                <a:lnTo>
                  <a:pt x="18000" y="16000"/>
                </a:lnTo>
                <a:cubicBezTo>
                  <a:pt x="18944" y="15686"/>
                  <a:pt x="19686" y="14944"/>
                  <a:pt x="20000" y="14000"/>
                </a:cubicBezTo>
                <a:lnTo>
                  <a:pt x="21000" y="14000"/>
                </a:lnTo>
                <a:cubicBezTo>
                  <a:pt x="21552" y="14000"/>
                  <a:pt x="22000" y="13552"/>
                  <a:pt x="22000" y="13000"/>
                </a:cubicBezTo>
                <a:lnTo>
                  <a:pt x="22000" y="11000"/>
                </a:lnTo>
                <a:cubicBezTo>
                  <a:pt x="22000" y="10448"/>
                  <a:pt x="21552" y="10000"/>
                  <a:pt x="21000" y="10000"/>
                </a:cubicBezTo>
                <a:lnTo>
                  <a:pt x="20000" y="10000"/>
                </a:lnTo>
                <a:cubicBezTo>
                  <a:pt x="20000" y="8426"/>
                  <a:pt x="19259" y="6944"/>
                  <a:pt x="18000" y="6000"/>
                </a:cubicBezTo>
                <a:lnTo>
                  <a:pt x="18000" y="3000"/>
                </a:lnTo>
                <a:cubicBezTo>
                  <a:pt x="16741" y="3000"/>
                  <a:pt x="15555" y="3593"/>
                  <a:pt x="14800" y="4600"/>
                </a:cubicBezTo>
                <a:lnTo>
                  <a:pt x="14500" y="5000"/>
                </a:lnTo>
                <a:lnTo>
                  <a:pt x="11000" y="5000"/>
                </a:lnTo>
                <a:cubicBezTo>
                  <a:pt x="7686" y="5000"/>
                  <a:pt x="5000" y="7686"/>
                  <a:pt x="5000" y="11000"/>
                </a:cubicBezTo>
                <a:lnTo>
                  <a:pt x="5000" y="12000"/>
                </a:lnTo>
                <a:cubicBezTo>
                  <a:pt x="5000" y="13574"/>
                  <a:pt x="5741" y="15056"/>
                  <a:pt x="7000" y="16000"/>
                </a:cubicBezTo>
                <a:lnTo>
                  <a:pt x="7000" y="19000"/>
                </a:lnTo>
                <a:cubicBezTo>
                  <a:pt x="7000" y="19552"/>
                  <a:pt x="7448" y="20000"/>
                  <a:pt x="8000" y="20000"/>
                </a:cubicBezTo>
                <a:lnTo>
                  <a:pt x="10000" y="20000"/>
                </a:lnTo>
                <a:cubicBezTo>
                  <a:pt x="10552" y="20000"/>
                  <a:pt x="11000" y="19552"/>
                  <a:pt x="11000" y="19000"/>
                </a:cubicBezTo>
                <a:close/>
                <a:moveTo>
                  <a:pt x="16000" y="10000"/>
                </a:moveTo>
                <a:lnTo>
                  <a:pt x="16010" y="10000"/>
                </a:lnTo>
                <a:moveTo>
                  <a:pt x="2000" y="8000"/>
                </a:moveTo>
                <a:lnTo>
                  <a:pt x="2000" y="9000"/>
                </a:lnTo>
                <a:cubicBezTo>
                  <a:pt x="2000" y="10105"/>
                  <a:pt x="2895" y="11000"/>
                  <a:pt x="4000" y="11000"/>
                </a:cubicBezTo>
                <a:lnTo>
                  <a:pt x="5000" y="1100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69" name="slot.value.2.icon"/>
          <p:cNvSpPr/>
          <p:nvPr/>
        </p:nvSpPr>
        <p:spPr>
          <a:xfrm>
            <a:off x="4114800" y="574243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70" name="slot.value.3.icon"/>
          <p:cNvSpPr/>
          <p:nvPr/>
        </p:nvSpPr>
        <p:spPr>
          <a:xfrm>
            <a:off x="6227064" y="574243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2000"/>
                </a:moveTo>
                <a:lnTo>
                  <a:pt x="14000" y="2000"/>
                </a:lnTo>
                <a:moveTo>
                  <a:pt x="12000" y="14000"/>
                </a:moveTo>
                <a:lnTo>
                  <a:pt x="15000" y="11000"/>
                </a:lnTo>
                <a:moveTo>
                  <a:pt x="20000" y="14000"/>
                </a:moveTo>
                <a:cubicBezTo>
                  <a:pt x="20000" y="18418"/>
                  <a:pt x="16418" y="22000"/>
                  <a:pt x="12000" y="22000"/>
                </a:cubicBezTo>
                <a:cubicBezTo>
                  <a:pt x="7582" y="22000"/>
                  <a:pt x="4000" y="18418"/>
                  <a:pt x="4000" y="14000"/>
                </a:cubicBezTo>
                <a:cubicBezTo>
                  <a:pt x="4000" y="9582"/>
                  <a:pt x="7582" y="6000"/>
                  <a:pt x="12000" y="6000"/>
                </a:cubicBezTo>
                <a:cubicBezTo>
                  <a:pt x="16418" y="6000"/>
                  <a:pt x="20000" y="9582"/>
                  <a:pt x="20000" y="14000"/>
                </a:cubicBezTo>
                <a:close/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ase-study:context-flow-results-rail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38912" y="256032"/>
            <a:ext cx="1133856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Weekly demand sensing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cut stockouts by a third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across twelve plants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ot.context.head"/>
          <p:cNvSpPr/>
          <p:nvPr/>
        </p:nvSpPr>
        <p:spPr>
          <a:xfrm>
            <a:off x="440285" y="954414"/>
            <a:ext cx="2216775" cy="439094"/>
          </a:xfrm>
          <a:prstGeom prst="round2Same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Starting point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context.frame"/>
          <p:cNvSpPr/>
          <p:nvPr/>
        </p:nvSpPr>
        <p:spPr>
          <a:xfrm>
            <a:off x="440285" y="1393506"/>
            <a:ext cx="2216775" cy="3723879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slot.build.head"/>
          <p:cNvSpPr/>
          <p:nvPr/>
        </p:nvSpPr>
        <p:spPr>
          <a:xfrm>
            <a:off x="2788403" y="954414"/>
            <a:ext cx="6877396" cy="439094"/>
          </a:xfrm>
          <a:prstGeom prst="round2Same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What was built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uct.build.frame"/>
          <p:cNvSpPr/>
          <p:nvPr/>
        </p:nvSpPr>
        <p:spPr>
          <a:xfrm>
            <a:off x="2788403" y="1393508"/>
            <a:ext cx="6877396" cy="4784554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struct.results.rail"/>
          <p:cNvSpPr/>
          <p:nvPr/>
        </p:nvSpPr>
        <p:spPr>
          <a:xfrm>
            <a:off x="9797143" y="954414"/>
            <a:ext cx="2066035" cy="5223648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slot.results.head"/>
          <p:cNvSpPr txBox="1"/>
          <p:nvPr/>
        </p:nvSpPr>
        <p:spPr>
          <a:xfrm>
            <a:off x="9976104" y="1024128"/>
            <a:ext cx="1700784" cy="292608"/>
          </a:xfrm>
          <a:prstGeom prst="rect">
            <a:avLst/>
          </a:prstGeom>
          <a:noFill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Reported results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context.line.1"/>
          <p:cNvSpPr txBox="1"/>
          <p:nvPr/>
        </p:nvSpPr>
        <p:spPr>
          <a:xfrm>
            <a:off x="594360" y="3017520"/>
            <a:ext cx="190195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Monthly forecast built by hand in spreadsheets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context.line.2"/>
          <p:cNvSpPr txBox="1"/>
          <p:nvPr/>
        </p:nvSpPr>
        <p:spPr>
          <a:xfrm>
            <a:off x="594360" y="3511296"/>
            <a:ext cx="190195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order in eight shipped short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context.line.3"/>
          <p:cNvSpPr txBox="1"/>
          <p:nvPr/>
        </p:nvSpPr>
        <p:spPr>
          <a:xfrm>
            <a:off x="594360" y="4005072"/>
            <a:ext cx="190195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Planners reconciled four separate data sources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context.line.4"/>
          <p:cNvSpPr txBox="1"/>
          <p:nvPr/>
        </p:nvSpPr>
        <p:spPr>
          <a:xfrm>
            <a:off x="594360" y="4498848"/>
            <a:ext cx="190195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Excess stock held to cover forecast error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engagement.card"/>
          <p:cNvSpPr/>
          <p:nvPr/>
        </p:nvSpPr>
        <p:spPr>
          <a:xfrm>
            <a:off x="440285" y="5229050"/>
            <a:ext cx="2216775" cy="949012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slot.engagement.head"/>
          <p:cNvSpPr txBox="1"/>
          <p:nvPr/>
        </p:nvSpPr>
        <p:spPr>
          <a:xfrm>
            <a:off x="576072" y="5358384"/>
            <a:ext cx="1956816" cy="237744"/>
          </a:xfrm>
          <a:prstGeom prst="rect">
            <a:avLst/>
          </a:prstGeom>
          <a:noFill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Engagement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engagement.body"/>
          <p:cNvSpPr txBox="1"/>
          <p:nvPr/>
        </p:nvSpPr>
        <p:spPr>
          <a:xfrm>
            <a:off x="576072" y="5596128"/>
            <a:ext cx="1956816" cy="438912"/>
          </a:xfrm>
          <a:prstGeom prst="rect">
            <a:avLst/>
          </a:prstGeom>
          <a:noFill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Sixteen weeks with one central planning team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6" name="struct.context.rule.1"/>
          <p:cNvCxnSpPr>
            <a:cxnSpLocks/>
          </p:cNvCxnSpPr>
          <p:nvPr/>
        </p:nvCxnSpPr>
        <p:spPr>
          <a:xfrm>
            <a:off x="594360" y="3456432"/>
            <a:ext cx="19019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7" name="struct.context.rule.2"/>
          <p:cNvCxnSpPr>
            <a:cxnSpLocks/>
          </p:cNvCxnSpPr>
          <p:nvPr/>
        </p:nvCxnSpPr>
        <p:spPr>
          <a:xfrm>
            <a:off x="594360" y="3950208"/>
            <a:ext cx="19019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" name="struct.context.rule.3"/>
          <p:cNvCxnSpPr>
            <a:cxnSpLocks/>
          </p:cNvCxnSpPr>
          <p:nvPr/>
        </p:nvCxnSpPr>
        <p:spPr>
          <a:xfrm>
            <a:off x="594360" y="4443984"/>
            <a:ext cx="19019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19" name="slot.result.1"/>
          <p:cNvSpPr txBox="1"/>
          <p:nvPr/>
        </p:nvSpPr>
        <p:spPr>
          <a:xfrm>
            <a:off x="9978908" y="1767252"/>
            <a:ext cx="1702504" cy="1433148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108000" tIns="180000" rIns="108000" bIns="10800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33%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fewer stockouts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results.close"/>
          <p:cNvSpPr txBox="1"/>
          <p:nvPr/>
        </p:nvSpPr>
        <p:spPr>
          <a:xfrm>
            <a:off x="9939528" y="4937760"/>
            <a:ext cx="1773936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Planning cycle time fell from five days to two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context.fig.1"/>
          <p:cNvSpPr txBox="1"/>
          <p:nvPr/>
        </p:nvSpPr>
        <p:spPr>
          <a:xfrm>
            <a:off x="586861" y="2286000"/>
            <a:ext cx="868680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12</a:t>
            </a:r>
            <a:endParaRPr lang="en-US" sz="15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context.fig.2"/>
          <p:cNvSpPr txBox="1"/>
          <p:nvPr/>
        </p:nvSpPr>
        <p:spPr>
          <a:xfrm>
            <a:off x="1636160" y="2286000"/>
            <a:ext cx="868680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9 wk</a:t>
            </a:r>
            <a:endParaRPr lang="en-US" sz="15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 lag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3" name="struct.context.divider"/>
          <p:cNvCxnSpPr>
            <a:cxnSpLocks/>
          </p:cNvCxnSpPr>
          <p:nvPr/>
        </p:nvCxnSpPr>
        <p:spPr>
          <a:xfrm flipV="1">
            <a:off x="1545336" y="2340864"/>
            <a:ext cx="0" cy="4572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24" name="slot.result.1.detail"/>
          <p:cNvSpPr txBox="1"/>
          <p:nvPr/>
        </p:nvSpPr>
        <p:spPr>
          <a:xfrm>
            <a:off x="10058400" y="2699940"/>
            <a:ext cx="153619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quarters after go-live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result.2"/>
          <p:cNvSpPr txBox="1"/>
          <p:nvPr/>
        </p:nvSpPr>
        <p:spPr>
          <a:xfrm>
            <a:off x="9978908" y="3331939"/>
            <a:ext cx="1702504" cy="1433148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108000" tIns="180000" rIns="108000" bIns="10800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 pts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accuracy gain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result.2.detail"/>
          <p:cNvSpPr txBox="1"/>
          <p:nvPr/>
        </p:nvSpPr>
        <p:spPr>
          <a:xfrm>
            <a:off x="10058400" y="4264627"/>
            <a:ext cx="153619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Measured at item and week level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platform"/>
          <p:cNvSpPr/>
          <p:nvPr/>
        </p:nvSpPr>
        <p:spPr>
          <a:xfrm>
            <a:off x="2943369" y="5720853"/>
            <a:ext cx="6567465" cy="30698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5000"/>
              </a:schemeClr>
            </a:solidFill>
          </a:ln>
          <a:effectLst/>
        </p:spPr>
        <p:txBody>
          <a:bodyPr wrap="square" lIns="36000" tIns="72000" rIns="36000" bIns="72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Governed cloud data platform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inputs.frame"/>
          <p:cNvSpPr/>
          <p:nvPr/>
        </p:nvSpPr>
        <p:spPr>
          <a:xfrm>
            <a:off x="2943369" y="5303828"/>
            <a:ext cx="6567465" cy="335157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slot.input.1"/>
          <p:cNvSpPr txBox="1"/>
          <p:nvPr/>
        </p:nvSpPr>
        <p:spPr>
          <a:xfrm>
            <a:off x="2999232" y="5321808"/>
            <a:ext cx="1371599" cy="30175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 history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input.2"/>
          <p:cNvSpPr txBox="1"/>
          <p:nvPr/>
        </p:nvSpPr>
        <p:spPr>
          <a:xfrm>
            <a:off x="4480559" y="5321808"/>
            <a:ext cx="1417319" cy="30175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Promotion calendar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input.3"/>
          <p:cNvSpPr txBox="1"/>
          <p:nvPr/>
        </p:nvSpPr>
        <p:spPr>
          <a:xfrm>
            <a:off x="6007607" y="5321808"/>
            <a:ext cx="1600200" cy="30175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Inventory positions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input.4"/>
          <p:cNvSpPr txBox="1"/>
          <p:nvPr/>
        </p:nvSpPr>
        <p:spPr>
          <a:xfrm>
            <a:off x="7717536" y="5321808"/>
            <a:ext cx="1737359" cy="30175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Plant capacity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" name="struct.inputs.rule.1"/>
          <p:cNvCxnSpPr>
            <a:cxnSpLocks/>
          </p:cNvCxnSpPr>
          <p:nvPr/>
        </p:nvCxnSpPr>
        <p:spPr>
          <a:xfrm>
            <a:off x="4425413" y="5363720"/>
            <a:ext cx="0" cy="215373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34" name="struct.inputs.rule.2"/>
          <p:cNvCxnSpPr>
            <a:cxnSpLocks/>
          </p:cNvCxnSpPr>
          <p:nvPr/>
        </p:nvCxnSpPr>
        <p:spPr>
          <a:xfrm>
            <a:off x="5949551" y="5363720"/>
            <a:ext cx="0" cy="215373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35" name="struct.inputs.rule.3"/>
          <p:cNvCxnSpPr>
            <a:cxnSpLocks/>
          </p:cNvCxnSpPr>
          <p:nvPr/>
        </p:nvCxnSpPr>
        <p:spPr>
          <a:xfrm>
            <a:off x="7661497" y="5363720"/>
            <a:ext cx="0" cy="215373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36" name="struct.enablers.frame"/>
          <p:cNvSpPr/>
          <p:nvPr/>
        </p:nvSpPr>
        <p:spPr>
          <a:xfrm>
            <a:off x="2944368" y="4005072"/>
            <a:ext cx="6565392" cy="1179576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slot.enablers.head"/>
          <p:cNvSpPr txBox="1"/>
          <p:nvPr/>
        </p:nvSpPr>
        <p:spPr>
          <a:xfrm>
            <a:off x="3108960" y="4041648"/>
            <a:ext cx="6236208" cy="237744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What made it stick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enabler.1.label"/>
          <p:cNvSpPr txBox="1"/>
          <p:nvPr/>
        </p:nvSpPr>
        <p:spPr>
          <a:xfrm>
            <a:off x="3017520" y="4736592"/>
            <a:ext cx="1170432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Shared data model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enabler.2.label"/>
          <p:cNvSpPr txBox="1"/>
          <p:nvPr/>
        </p:nvSpPr>
        <p:spPr>
          <a:xfrm>
            <a:off x="4330598" y="4736592"/>
            <a:ext cx="1170432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Accuracy dashboard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enabler.3.label"/>
          <p:cNvSpPr txBox="1"/>
          <p:nvPr/>
        </p:nvSpPr>
        <p:spPr>
          <a:xfrm>
            <a:off x="5643676" y="4736592"/>
            <a:ext cx="1170432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Planner playbook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enabler.4.label"/>
          <p:cNvSpPr txBox="1"/>
          <p:nvPr/>
        </p:nvSpPr>
        <p:spPr>
          <a:xfrm>
            <a:off x="6956755" y="4736592"/>
            <a:ext cx="1170432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Weekly review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enabler.5.label"/>
          <p:cNvSpPr txBox="1"/>
          <p:nvPr/>
        </p:nvSpPr>
        <p:spPr>
          <a:xfrm>
            <a:off x="8269833" y="4736592"/>
            <a:ext cx="1170432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 monitoring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enablers.rule.1"/>
          <p:cNvCxnSpPr>
            <a:cxnSpLocks/>
          </p:cNvCxnSpPr>
          <p:nvPr/>
        </p:nvCxnSpPr>
        <p:spPr>
          <a:xfrm>
            <a:off x="4256863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4" name="struct.enablers.rule.2"/>
          <p:cNvCxnSpPr>
            <a:cxnSpLocks/>
          </p:cNvCxnSpPr>
          <p:nvPr/>
        </p:nvCxnSpPr>
        <p:spPr>
          <a:xfrm>
            <a:off x="5570357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5" name="struct.enablers.rule.3"/>
          <p:cNvCxnSpPr>
            <a:cxnSpLocks/>
          </p:cNvCxnSpPr>
          <p:nvPr/>
        </p:nvCxnSpPr>
        <p:spPr>
          <a:xfrm>
            <a:off x="6883851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6" name="struct.enablers.rule.4"/>
          <p:cNvCxnSpPr>
            <a:cxnSpLocks/>
          </p:cNvCxnSpPr>
          <p:nvPr/>
        </p:nvCxnSpPr>
        <p:spPr>
          <a:xfrm>
            <a:off x="8197345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7" name="struct.enablers.rule.5"/>
          <p:cNvCxnSpPr>
            <a:cxnSpLocks/>
          </p:cNvCxnSpPr>
          <p:nvPr/>
        </p:nvCxnSpPr>
        <p:spPr>
          <a:xfrm>
            <a:off x="9510834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8" name="struct.enablers.rule.6"/>
          <p:cNvCxnSpPr>
            <a:cxnSpLocks/>
          </p:cNvCxnSpPr>
          <p:nvPr/>
        </p:nvCxnSpPr>
        <p:spPr>
          <a:xfrm>
            <a:off x="2943369" y="4385156"/>
            <a:ext cx="0" cy="755649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49" name="slot.build.scope"/>
          <p:cNvSpPr/>
          <p:nvPr/>
        </p:nvSpPr>
        <p:spPr>
          <a:xfrm>
            <a:off x="2943369" y="1500863"/>
            <a:ext cx="6567465" cy="331134"/>
          </a:xfrm>
          <a:prstGeom prst="round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wrap="square" lIns="36000" tIns="72000" rIns="36000" bIns="72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weekly planning cycle replaced the monthly spreadsheet forecast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step.1"/>
          <p:cNvSpPr txBox="1"/>
          <p:nvPr/>
        </p:nvSpPr>
        <p:spPr>
          <a:xfrm>
            <a:off x="2999232" y="2743200"/>
            <a:ext cx="1161288" cy="10607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Audit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Map data sources and forecast error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step.2"/>
          <p:cNvSpPr txBox="1"/>
          <p:nvPr/>
        </p:nvSpPr>
        <p:spPr>
          <a:xfrm>
            <a:off x="4270248" y="2743200"/>
            <a:ext cx="1188719" cy="10607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Model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Train demand models on order history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step.3"/>
          <p:cNvSpPr txBox="1"/>
          <p:nvPr/>
        </p:nvSpPr>
        <p:spPr>
          <a:xfrm>
            <a:off x="5568696" y="2743200"/>
            <a:ext cx="1188719" cy="10607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Sense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Add weekly orders and promotion signals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lot.step.4"/>
          <p:cNvSpPr txBox="1"/>
          <p:nvPr/>
        </p:nvSpPr>
        <p:spPr>
          <a:xfrm>
            <a:off x="6867144" y="2743200"/>
            <a:ext cx="1234439" cy="10607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Plan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Review exceptions, not every line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step.5"/>
          <p:cNvSpPr txBox="1"/>
          <p:nvPr/>
        </p:nvSpPr>
        <p:spPr>
          <a:xfrm>
            <a:off x="8211312" y="2743200"/>
            <a:ext cx="1243584" cy="10607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Scale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Roll out plant by plant over six weeks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5" name="struct.step.rule.1"/>
          <p:cNvCxnSpPr>
            <a:cxnSpLocks/>
          </p:cNvCxnSpPr>
          <p:nvPr/>
        </p:nvCxnSpPr>
        <p:spPr>
          <a:xfrm>
            <a:off x="4212516" y="2749119"/>
            <a:ext cx="0" cy="10620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56" name="struct.step.rule.2"/>
          <p:cNvCxnSpPr>
            <a:cxnSpLocks/>
          </p:cNvCxnSpPr>
          <p:nvPr/>
        </p:nvCxnSpPr>
        <p:spPr>
          <a:xfrm>
            <a:off x="5516915" y="2749119"/>
            <a:ext cx="0" cy="10620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57" name="struct.step.rule.3"/>
          <p:cNvCxnSpPr>
            <a:cxnSpLocks/>
          </p:cNvCxnSpPr>
          <p:nvPr/>
        </p:nvCxnSpPr>
        <p:spPr>
          <a:xfrm>
            <a:off x="6811193" y="2749119"/>
            <a:ext cx="0" cy="10620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58" name="struct.step.rule.4"/>
          <p:cNvCxnSpPr>
            <a:cxnSpLocks/>
          </p:cNvCxnSpPr>
          <p:nvPr/>
        </p:nvCxnSpPr>
        <p:spPr>
          <a:xfrm>
            <a:off x="8157817" y="2749119"/>
            <a:ext cx="0" cy="10620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59" name="struct.step.1.disc"/>
          <p:cNvSpPr/>
          <p:nvPr/>
        </p:nvSpPr>
        <p:spPr>
          <a:xfrm>
            <a:off x="3313371" y="2064857"/>
            <a:ext cx="573489" cy="57348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struct.step.2.disc"/>
          <p:cNvSpPr/>
          <p:nvPr/>
        </p:nvSpPr>
        <p:spPr>
          <a:xfrm>
            <a:off x="4577971" y="2064857"/>
            <a:ext cx="573489" cy="57348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" name="struct.step.3.disc"/>
          <p:cNvSpPr/>
          <p:nvPr/>
        </p:nvSpPr>
        <p:spPr>
          <a:xfrm>
            <a:off x="5877310" y="2064857"/>
            <a:ext cx="573489" cy="57348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2" name="struct.step.4.disc"/>
          <p:cNvSpPr/>
          <p:nvPr/>
        </p:nvSpPr>
        <p:spPr>
          <a:xfrm>
            <a:off x="7197761" y="2064857"/>
            <a:ext cx="573489" cy="57348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3" name="struct.step.5.disc"/>
          <p:cNvSpPr/>
          <p:nvPr/>
        </p:nvSpPr>
        <p:spPr>
          <a:xfrm>
            <a:off x="8607915" y="2064857"/>
            <a:ext cx="573489" cy="57348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64" name="struct.chevron.1"/>
          <p:cNvGrpSpPr/>
          <p:nvPr/>
        </p:nvGrpSpPr>
        <p:grpSpPr>
          <a:xfrm>
            <a:off x="4122053" y="2271484"/>
            <a:ext cx="220724" cy="178960"/>
            <a:chOff x="4122053" y="2271484"/>
            <a:chExt cx="220724" cy="178960"/>
          </a:xfrm>
          <a:solidFill>
            <a:schemeClr val="tx1">
              <a:lumMod val="90000"/>
              <a:lumOff val="10000"/>
            </a:schemeClr>
          </a:solidFill>
          <a:effectLst/>
        </p:grpSpPr>
        <p:sp>
          <p:nvSpPr>
            <p:cNvPr id="65" name="struct.chevron.1.1"/>
            <p:cNvSpPr/>
            <p:nvPr/>
          </p:nvSpPr>
          <p:spPr>
            <a:xfrm>
              <a:off x="4205939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66" name="struct.chevron.1.2"/>
            <p:cNvSpPr/>
            <p:nvPr/>
          </p:nvSpPr>
          <p:spPr>
            <a:xfrm>
              <a:off x="4122053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</p:grpSp>
      <p:grpSp>
        <p:nvGrpSpPr>
          <p:cNvPr id="67" name="struct.chevron.2"/>
          <p:cNvGrpSpPr/>
          <p:nvPr/>
        </p:nvGrpSpPr>
        <p:grpSpPr>
          <a:xfrm>
            <a:off x="5404023" y="2271484"/>
            <a:ext cx="220724" cy="178960"/>
            <a:chOff x="5404023" y="2271484"/>
            <a:chExt cx="220724" cy="178960"/>
          </a:xfrm>
          <a:solidFill>
            <a:schemeClr val="tx1">
              <a:lumMod val="90000"/>
              <a:lumOff val="10000"/>
            </a:schemeClr>
          </a:solidFill>
          <a:effectLst/>
        </p:grpSpPr>
        <p:sp>
          <p:nvSpPr>
            <p:cNvPr id="68" name="struct.chevron.2.1"/>
            <p:cNvSpPr/>
            <p:nvPr/>
          </p:nvSpPr>
          <p:spPr>
            <a:xfrm>
              <a:off x="5487909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69" name="struct.chevron.2.2"/>
            <p:cNvSpPr/>
            <p:nvPr/>
          </p:nvSpPr>
          <p:spPr>
            <a:xfrm>
              <a:off x="5404023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</p:grpSp>
      <p:grpSp>
        <p:nvGrpSpPr>
          <p:cNvPr id="70" name="struct.chevron.3"/>
          <p:cNvGrpSpPr/>
          <p:nvPr/>
        </p:nvGrpSpPr>
        <p:grpSpPr>
          <a:xfrm>
            <a:off x="6713918" y="2271484"/>
            <a:ext cx="220724" cy="178960"/>
            <a:chOff x="6713918" y="2271484"/>
            <a:chExt cx="220724" cy="178960"/>
          </a:xfrm>
          <a:solidFill>
            <a:schemeClr val="tx1">
              <a:lumMod val="90000"/>
              <a:lumOff val="10000"/>
            </a:schemeClr>
          </a:solidFill>
          <a:effectLst/>
        </p:grpSpPr>
        <p:sp>
          <p:nvSpPr>
            <p:cNvPr id="71" name="struct.chevron.3.1"/>
            <p:cNvSpPr/>
            <p:nvPr/>
          </p:nvSpPr>
          <p:spPr>
            <a:xfrm>
              <a:off x="6797804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72" name="struct.chevron.3.2"/>
            <p:cNvSpPr/>
            <p:nvPr/>
          </p:nvSpPr>
          <p:spPr>
            <a:xfrm>
              <a:off x="6713918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</p:grpSp>
      <p:grpSp>
        <p:nvGrpSpPr>
          <p:cNvPr id="73" name="struct.chevron.4"/>
          <p:cNvGrpSpPr/>
          <p:nvPr/>
        </p:nvGrpSpPr>
        <p:grpSpPr>
          <a:xfrm>
            <a:off x="8079221" y="2271484"/>
            <a:ext cx="220724" cy="178960"/>
            <a:chOff x="8079221" y="2271484"/>
            <a:chExt cx="220724" cy="178960"/>
          </a:xfrm>
          <a:solidFill>
            <a:schemeClr val="tx1">
              <a:lumMod val="90000"/>
              <a:lumOff val="10000"/>
            </a:schemeClr>
          </a:solidFill>
          <a:effectLst/>
        </p:grpSpPr>
        <p:sp>
          <p:nvSpPr>
            <p:cNvPr id="74" name="struct.chevron.4.1"/>
            <p:cNvSpPr/>
            <p:nvPr/>
          </p:nvSpPr>
          <p:spPr>
            <a:xfrm>
              <a:off x="8163107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75" name="struct.chevron.4.2"/>
            <p:cNvSpPr/>
            <p:nvPr/>
          </p:nvSpPr>
          <p:spPr>
            <a:xfrm>
              <a:off x="8079221" y="2271484"/>
              <a:ext cx="136838" cy="178960"/>
            </a:xfrm>
            <a:prstGeom prst="chevron">
              <a:avLst/>
            </a:prstGeom>
            <a:grpFill/>
            <a:ln>
              <a:noFill/>
            </a:ln>
          </p:spPr>
          <p:txBody>
            <a:bodyPr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90000"/>
                    <a:lumOff val="10000"/>
                  </a:schemeClr>
                </a:solidFill>
              </a:endParaRPr>
            </a:p>
          </p:txBody>
        </p:sp>
      </p:grpSp>
      <p:sp>
        <p:nvSpPr>
          <p:cNvPr id="76" name="slot.context.fig.1.icon"/>
          <p:cNvSpPr/>
          <p:nvPr/>
        </p:nvSpPr>
        <p:spPr>
          <a:xfrm>
            <a:off x="833933" y="178308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33655" cap="rnd">
            <a:solidFill>
              <a:schemeClr val="accent1"/>
            </a:solidFill>
            <a:round/>
          </a:ln>
          <a:effectLst/>
        </p:spPr>
      </p:sp>
      <p:sp>
        <p:nvSpPr>
          <p:cNvPr id="77" name="slot.context.fig.2.icon"/>
          <p:cNvSpPr/>
          <p:nvPr/>
        </p:nvSpPr>
        <p:spPr>
          <a:xfrm>
            <a:off x="1857146" y="178308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22000"/>
                </a:moveTo>
                <a:lnTo>
                  <a:pt x="19000" y="22000"/>
                </a:lnTo>
                <a:moveTo>
                  <a:pt x="5000" y="2000"/>
                </a:moveTo>
                <a:lnTo>
                  <a:pt x="19000" y="2000"/>
                </a:lnTo>
                <a:moveTo>
                  <a:pt x="17000" y="22000"/>
                </a:moveTo>
                <a:lnTo>
                  <a:pt x="17000" y="17828"/>
                </a:lnTo>
                <a:cubicBezTo>
                  <a:pt x="17000" y="17298"/>
                  <a:pt x="16789" y="16789"/>
                  <a:pt x="16414" y="16414"/>
                </a:cubicBezTo>
                <a:lnTo>
                  <a:pt x="12000" y="12000"/>
                </a:lnTo>
                <a:lnTo>
                  <a:pt x="7586" y="16414"/>
                </a:lnTo>
                <a:cubicBezTo>
                  <a:pt x="7211" y="16789"/>
                  <a:pt x="7000" y="17298"/>
                  <a:pt x="7000" y="17828"/>
                </a:cubicBezTo>
                <a:lnTo>
                  <a:pt x="7000" y="22000"/>
                </a:lnTo>
                <a:moveTo>
                  <a:pt x="7000" y="2000"/>
                </a:moveTo>
                <a:lnTo>
                  <a:pt x="7000" y="6172"/>
                </a:lnTo>
                <a:cubicBezTo>
                  <a:pt x="7000" y="6702"/>
                  <a:pt x="7211" y="7211"/>
                  <a:pt x="7586" y="7586"/>
                </a:cubicBezTo>
                <a:lnTo>
                  <a:pt x="12000" y="12000"/>
                </a:lnTo>
                <a:lnTo>
                  <a:pt x="16414" y="7586"/>
                </a:lnTo>
                <a:cubicBezTo>
                  <a:pt x="16789" y="7211"/>
                  <a:pt x="17000" y="6702"/>
                  <a:pt x="17000" y="6172"/>
                </a:cubicBezTo>
                <a:lnTo>
                  <a:pt x="17000" y="2000"/>
                </a:lnTo>
              </a:path>
            </a:pathLst>
          </a:custGeom>
          <a:noFill/>
          <a:ln w="33655" cap="rnd">
            <a:solidFill>
              <a:schemeClr val="accent1"/>
            </a:solidFill>
            <a:round/>
          </a:ln>
          <a:effectLst/>
        </p:spPr>
      </p:sp>
      <p:sp>
        <p:nvSpPr>
          <p:cNvPr id="78" name="slot.step.1.icon"/>
          <p:cNvSpPr/>
          <p:nvPr/>
        </p:nvSpPr>
        <p:spPr>
          <a:xfrm>
            <a:off x="3435524" y="218701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4000" y="14500"/>
                </a:moveTo>
                <a:cubicBezTo>
                  <a:pt x="14000" y="15881"/>
                  <a:pt x="12881" y="17000"/>
                  <a:pt x="11500" y="17000"/>
                </a:cubicBezTo>
                <a:cubicBezTo>
                  <a:pt x="10119" y="17000"/>
                  <a:pt x="9000" y="15881"/>
                  <a:pt x="9000" y="14500"/>
                </a:cubicBezTo>
                <a:cubicBezTo>
                  <a:pt x="9000" y="13119"/>
                  <a:pt x="10119" y="12000"/>
                  <a:pt x="11500" y="12000"/>
                </a:cubicBezTo>
                <a:cubicBezTo>
                  <a:pt x="12881" y="12000"/>
                  <a:pt x="14000" y="13119"/>
                  <a:pt x="14000" y="14500"/>
                </a:cubicBezTo>
                <a:close/>
                <a:moveTo>
                  <a:pt x="13300" y="16300"/>
                </a:moveTo>
                <a:lnTo>
                  <a:pt x="15000" y="18000"/>
                </a:lnTo>
              </a:path>
            </a:pathLst>
          </a:custGeom>
          <a:noFill/>
          <a:ln w="27305" cap="rnd">
            <a:solidFill>
              <a:schemeClr val="bg1"/>
            </a:solidFill>
            <a:round/>
          </a:ln>
          <a:effectLst/>
        </p:spPr>
      </p:sp>
      <p:sp>
        <p:nvSpPr>
          <p:cNvPr id="79" name="slot.step.2.icon"/>
          <p:cNvSpPr/>
          <p:nvPr/>
        </p:nvSpPr>
        <p:spPr>
          <a:xfrm>
            <a:off x="4700124" y="218701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27305" cap="rnd">
            <a:solidFill>
              <a:schemeClr val="bg1"/>
            </a:solidFill>
            <a:round/>
          </a:ln>
          <a:effectLst/>
        </p:spPr>
      </p:sp>
      <p:sp>
        <p:nvSpPr>
          <p:cNvPr id="80" name="slot.step.3.icon"/>
          <p:cNvSpPr/>
          <p:nvPr/>
        </p:nvSpPr>
        <p:spPr>
          <a:xfrm>
            <a:off x="5999462" y="218701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27305" cap="rnd">
            <a:solidFill>
              <a:schemeClr val="bg1"/>
            </a:solidFill>
            <a:round/>
          </a:ln>
          <a:effectLst/>
        </p:spPr>
      </p:sp>
      <p:sp>
        <p:nvSpPr>
          <p:cNvPr id="81" name="slot.step.4.icon"/>
          <p:cNvSpPr/>
          <p:nvPr/>
        </p:nvSpPr>
        <p:spPr>
          <a:xfrm>
            <a:off x="7319914" y="218701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7305" cap="rnd">
            <a:solidFill>
              <a:schemeClr val="bg1"/>
            </a:solidFill>
            <a:round/>
          </a:ln>
          <a:effectLst/>
        </p:spPr>
      </p:sp>
      <p:sp>
        <p:nvSpPr>
          <p:cNvPr id="82" name="slot.step.5.icon"/>
          <p:cNvSpPr/>
          <p:nvPr/>
        </p:nvSpPr>
        <p:spPr>
          <a:xfrm>
            <a:off x="8730067" y="218701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5000"/>
                </a:moveTo>
                <a:lnTo>
                  <a:pt x="12000" y="20000"/>
                </a:lnTo>
                <a:cubicBezTo>
                  <a:pt x="12000" y="20000"/>
                  <a:pt x="15030" y="19450"/>
                  <a:pt x="16000" y="18000"/>
                </a:cubicBezTo>
                <a:cubicBezTo>
                  <a:pt x="17080" y="16380"/>
                  <a:pt x="16000" y="13000"/>
                  <a:pt x="16000" y="13000"/>
                </a:cubicBezTo>
                <a:moveTo>
                  <a:pt x="4500" y="16500"/>
                </a:moveTo>
                <a:cubicBezTo>
                  <a:pt x="3000" y="17760"/>
                  <a:pt x="2500" y="21500"/>
                  <a:pt x="2500" y="21500"/>
                </a:cubicBezTo>
                <a:cubicBezTo>
                  <a:pt x="2500" y="21500"/>
                  <a:pt x="6240" y="21000"/>
                  <a:pt x="7500" y="19500"/>
                </a:cubicBezTo>
                <a:cubicBezTo>
                  <a:pt x="8210" y="18660"/>
                  <a:pt x="8200" y="17370"/>
                  <a:pt x="7410" y="16590"/>
                </a:cubicBezTo>
                <a:cubicBezTo>
                  <a:pt x="6605" y="15822"/>
                  <a:pt x="5351" y="15783"/>
                  <a:pt x="4500" y="16500"/>
                </a:cubicBezTo>
                <a:moveTo>
                  <a:pt x="9000" y="12000"/>
                </a:moveTo>
                <a:cubicBezTo>
                  <a:pt x="9532" y="10619"/>
                  <a:pt x="10202" y="9296"/>
                  <a:pt x="11000" y="8050"/>
                </a:cubicBezTo>
                <a:cubicBezTo>
                  <a:pt x="13369" y="4262"/>
                  <a:pt x="17532" y="1972"/>
                  <a:pt x="22000" y="2000"/>
                </a:cubicBezTo>
                <a:cubicBezTo>
                  <a:pt x="22000" y="4720"/>
                  <a:pt x="21220" y="9500"/>
                  <a:pt x="16000" y="13000"/>
                </a:cubicBezTo>
                <a:cubicBezTo>
                  <a:pt x="14737" y="13798"/>
                  <a:pt x="13397" y="14468"/>
                  <a:pt x="12000" y="15000"/>
                </a:cubicBezTo>
                <a:close/>
                <a:moveTo>
                  <a:pt x="9000" y="12000"/>
                </a:moveTo>
                <a:lnTo>
                  <a:pt x="4000" y="12000"/>
                </a:lnTo>
                <a:cubicBezTo>
                  <a:pt x="4000" y="12000"/>
                  <a:pt x="4550" y="8970"/>
                  <a:pt x="6000" y="8000"/>
                </a:cubicBezTo>
                <a:cubicBezTo>
                  <a:pt x="7620" y="6920"/>
                  <a:pt x="11000" y="8050"/>
                  <a:pt x="11000" y="8050"/>
                </a:cubicBezTo>
              </a:path>
            </a:pathLst>
          </a:custGeom>
          <a:noFill/>
          <a:ln w="27305" cap="rnd">
            <a:solidFill>
              <a:schemeClr val="bg1"/>
            </a:solidFill>
            <a:round/>
          </a:ln>
          <a:effectLst/>
        </p:spPr>
      </p:sp>
      <p:sp>
        <p:nvSpPr>
          <p:cNvPr id="83" name="slot.enabler.1.icon"/>
          <p:cNvSpPr/>
          <p:nvPr/>
        </p:nvSpPr>
        <p:spPr>
          <a:xfrm>
            <a:off x="3436315" y="435254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84" name="slot.enabler.2.icon"/>
          <p:cNvSpPr/>
          <p:nvPr/>
        </p:nvSpPr>
        <p:spPr>
          <a:xfrm>
            <a:off x="4749394" y="435254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85" name="slot.enabler.3.icon"/>
          <p:cNvSpPr/>
          <p:nvPr/>
        </p:nvSpPr>
        <p:spPr>
          <a:xfrm>
            <a:off x="6062472" y="435254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86" name="slot.enabler.4.icon"/>
          <p:cNvSpPr/>
          <p:nvPr/>
        </p:nvSpPr>
        <p:spPr>
          <a:xfrm>
            <a:off x="7375550" y="435254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87" name="slot.enabler.5.icon"/>
          <p:cNvSpPr/>
          <p:nvPr/>
        </p:nvSpPr>
        <p:spPr>
          <a:xfrm>
            <a:off x="8688629" y="435254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852" y="14772"/>
                </a:moveTo>
                <a:lnTo>
                  <a:pt x="10469" y="15695"/>
                </a:lnTo>
                <a:moveTo>
                  <a:pt x="13148" y="14772"/>
                </a:moveTo>
                <a:cubicBezTo>
                  <a:pt x="14679" y="14138"/>
                  <a:pt x="15406" y="12383"/>
                  <a:pt x="14772" y="10852"/>
                </a:cubicBezTo>
                <a:cubicBezTo>
                  <a:pt x="14138" y="9321"/>
                  <a:pt x="12383" y="8594"/>
                  <a:pt x="10852" y="9228"/>
                </a:cubicBezTo>
                <a:lnTo>
                  <a:pt x="10469" y="8305"/>
                </a:lnTo>
                <a:moveTo>
                  <a:pt x="13148" y="9228"/>
                </a:moveTo>
                <a:lnTo>
                  <a:pt x="13531" y="8305"/>
                </a:lnTo>
                <a:moveTo>
                  <a:pt x="13530" y="15696"/>
                </a:moveTo>
                <a:lnTo>
                  <a:pt x="13148" y="14772"/>
                </a:lnTo>
                <a:cubicBezTo>
                  <a:pt x="11617" y="15406"/>
                  <a:pt x="9862" y="14679"/>
                  <a:pt x="9228" y="13148"/>
                </a:cubicBezTo>
                <a:cubicBezTo>
                  <a:pt x="8594" y="11617"/>
                  <a:pt x="9321" y="9862"/>
                  <a:pt x="10852" y="9228"/>
                </a:cubicBezTo>
                <a:moveTo>
                  <a:pt x="14772" y="10852"/>
                </a:moveTo>
                <a:lnTo>
                  <a:pt x="15695" y="10469"/>
                </a:lnTo>
                <a:moveTo>
                  <a:pt x="14772" y="13148"/>
                </a:moveTo>
                <a:lnTo>
                  <a:pt x="15695" y="13531"/>
                </a:lnTo>
                <a:moveTo>
                  <a:pt x="4500" y="10000"/>
                </a:moveTo>
                <a:lnTo>
                  <a:pt x="4000" y="10000"/>
                </a:lnTo>
                <a:cubicBezTo>
                  <a:pt x="2895" y="10000"/>
                  <a:pt x="2000" y="9105"/>
                  <a:pt x="2000" y="8000"/>
                </a:cubicBezTo>
                <a:lnTo>
                  <a:pt x="2000" y="4000"/>
                </a:lnTo>
                <a:cubicBezTo>
                  <a:pt x="2000" y="2895"/>
                  <a:pt x="2895" y="2000"/>
                  <a:pt x="4000" y="2000"/>
                </a:cubicBezTo>
                <a:lnTo>
                  <a:pt x="20000" y="2000"/>
                </a:lnTo>
                <a:cubicBezTo>
                  <a:pt x="21105" y="2000"/>
                  <a:pt x="22000" y="2895"/>
                  <a:pt x="22000" y="4000"/>
                </a:cubicBezTo>
                <a:lnTo>
                  <a:pt x="22000" y="8000"/>
                </a:lnTo>
                <a:cubicBezTo>
                  <a:pt x="22000" y="9105"/>
                  <a:pt x="21105" y="10000"/>
                  <a:pt x="20000" y="10000"/>
                </a:cubicBezTo>
                <a:lnTo>
                  <a:pt x="19500" y="10000"/>
                </a:lnTo>
                <a:moveTo>
                  <a:pt x="4500" y="14000"/>
                </a:moveTo>
                <a:lnTo>
                  <a:pt x="4000" y="14000"/>
                </a:lnTo>
                <a:cubicBezTo>
                  <a:pt x="2895" y="14000"/>
                  <a:pt x="2000" y="14895"/>
                  <a:pt x="2000" y="16000"/>
                </a:cubicBezTo>
                <a:lnTo>
                  <a:pt x="2000" y="20000"/>
                </a:lnTo>
                <a:cubicBezTo>
                  <a:pt x="2000" y="21105"/>
                  <a:pt x="2895" y="22000"/>
                  <a:pt x="4000" y="22000"/>
                </a:cubicBezTo>
                <a:lnTo>
                  <a:pt x="20000" y="22000"/>
                </a:lnTo>
                <a:cubicBezTo>
                  <a:pt x="21105" y="22000"/>
                  <a:pt x="22000" y="21105"/>
                  <a:pt x="22000" y="20000"/>
                </a:cubicBezTo>
                <a:lnTo>
                  <a:pt x="22000" y="16000"/>
                </a:lnTo>
                <a:cubicBezTo>
                  <a:pt x="22000" y="14895"/>
                  <a:pt x="21105" y="14000"/>
                  <a:pt x="20000" y="14000"/>
                </a:cubicBezTo>
                <a:lnTo>
                  <a:pt x="19500" y="14000"/>
                </a:lnTo>
                <a:moveTo>
                  <a:pt x="6000" y="18000"/>
                </a:moveTo>
                <a:lnTo>
                  <a:pt x="6010" y="18000"/>
                </a:lnTo>
                <a:moveTo>
                  <a:pt x="6000" y="6000"/>
                </a:moveTo>
                <a:lnTo>
                  <a:pt x="6010" y="6000"/>
                </a:lnTo>
                <a:moveTo>
                  <a:pt x="9228" y="10852"/>
                </a:moveTo>
                <a:lnTo>
                  <a:pt x="8305" y="10469"/>
                </a:lnTo>
                <a:moveTo>
                  <a:pt x="9228" y="13148"/>
                </a:moveTo>
                <a:lnTo>
                  <a:pt x="8305" y="13531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overnance-model:forum-calendars-escalation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38912" y="274320"/>
            <a:ext cx="113385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Four standing forums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take any escalation to a decision within ten days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ot.escalation.label"/>
          <p:cNvSpPr txBox="1"/>
          <p:nvPr/>
        </p:nvSpPr>
        <p:spPr>
          <a:xfrm>
            <a:off x="9262872" y="896112"/>
            <a:ext cx="2514600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b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Escalation path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" name="struct.divider"/>
          <p:cNvCxnSpPr>
            <a:cxnSpLocks/>
          </p:cNvCxnSpPr>
          <p:nvPr/>
        </p:nvCxnSpPr>
        <p:spPr>
          <a:xfrm>
            <a:off x="9048643" y="845746"/>
            <a:ext cx="0" cy="54200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5" name="slot.cadence.label"/>
          <p:cNvSpPr txBox="1"/>
          <p:nvPr/>
        </p:nvSpPr>
        <p:spPr>
          <a:xfrm>
            <a:off x="438912" y="896112"/>
            <a:ext cx="8394192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b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Forum cadence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" name="struct.cadence.rule"/>
          <p:cNvCxnSpPr>
            <a:cxnSpLocks/>
          </p:cNvCxnSpPr>
          <p:nvPr/>
        </p:nvCxnSpPr>
        <p:spPr>
          <a:xfrm>
            <a:off x="440285" y="1240127"/>
            <a:ext cx="8391307" cy="0"/>
          </a:xfrm>
          <a:prstGeom prst="line">
            <a:avLst/>
          </a:prstGeom>
          <a:ln w="12700">
            <a:solidFill>
              <a:schemeClr val="accent1"/>
            </a:solidFill>
            <a:prstDash val="solid"/>
          </a:ln>
          <a:effectLst/>
        </p:spPr>
      </p:cxnSp>
      <p:cxnSp>
        <p:nvCxnSpPr>
          <p:cNvPr id="7" name="struct.escalation.rule"/>
          <p:cNvCxnSpPr>
            <a:cxnSpLocks/>
          </p:cNvCxnSpPr>
          <p:nvPr/>
        </p:nvCxnSpPr>
        <p:spPr>
          <a:xfrm>
            <a:off x="9265686" y="1240127"/>
            <a:ext cx="2514600" cy="0"/>
          </a:xfrm>
          <a:prstGeom prst="line">
            <a:avLst/>
          </a:prstGeom>
          <a:ln w="12700">
            <a:solidFill>
              <a:schemeClr val="accent1"/>
            </a:solidFill>
            <a:prstDash val="solid"/>
          </a:ln>
          <a:effectLst/>
        </p:spPr>
      </p:cxnSp>
      <p:cxnSp>
        <p:nvCxnSpPr>
          <p:cNvPr id="8" name="struct.forum.divider.3"/>
          <p:cNvCxnSpPr/>
          <p:nvPr/>
        </p:nvCxnSpPr>
        <p:spPr>
          <a:xfrm>
            <a:off x="6681716" y="1344168"/>
            <a:ext cx="0" cy="3557016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9" name="struct.forum.divider.2"/>
          <p:cNvCxnSpPr/>
          <p:nvPr/>
        </p:nvCxnSpPr>
        <p:spPr>
          <a:xfrm>
            <a:off x="4490001" y="1344168"/>
            <a:ext cx="0" cy="3557016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0" name="struct.forum.divider.1"/>
          <p:cNvCxnSpPr/>
          <p:nvPr/>
        </p:nvCxnSpPr>
        <p:spPr>
          <a:xfrm>
            <a:off x="2298286" y="1344168"/>
            <a:ext cx="0" cy="3557016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11" name="slot.forum.2.name"/>
          <p:cNvSpPr/>
          <p:nvPr/>
        </p:nvSpPr>
        <p:spPr>
          <a:xfrm>
            <a:off x="2419460" y="1343170"/>
            <a:ext cx="1949369" cy="341551"/>
          </a:xfrm>
          <a:prstGeom prst="round2Same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384048" tIns="18288" rIns="73152" bIns="18288" wrap="square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Program board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forum.3.name"/>
          <p:cNvSpPr/>
          <p:nvPr/>
        </p:nvSpPr>
        <p:spPr>
          <a:xfrm>
            <a:off x="4611175" y="1343170"/>
            <a:ext cx="1949368" cy="341551"/>
          </a:xfrm>
          <a:prstGeom prst="round2Same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384048" tIns="18288" rIns="73152" bIns="18288" wrap="square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Design authority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forum.4.name"/>
          <p:cNvSpPr/>
          <p:nvPr/>
        </p:nvSpPr>
        <p:spPr>
          <a:xfrm>
            <a:off x="6802888" y="1343170"/>
            <a:ext cx="2028703" cy="341551"/>
          </a:xfrm>
          <a:prstGeom prst="round2Same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384048" tIns="18288" rIns="73152" bIns="18288" wrap="square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Delivery stand-up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forum.1.name"/>
          <p:cNvSpPr/>
          <p:nvPr/>
        </p:nvSpPr>
        <p:spPr>
          <a:xfrm>
            <a:off x="440285" y="1343170"/>
            <a:ext cx="1736828" cy="341551"/>
          </a:xfrm>
          <a:prstGeom prst="round2Same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384048" tIns="18288" rIns="73152" bIns="18288" wrap="square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Steering group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truct.forum.1.day.1"/>
          <p:cNvSpPr txBox="1"/>
          <p:nvPr/>
        </p:nvSpPr>
        <p:spPr>
          <a:xfrm>
            <a:off x="538022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uct.forum.1.day.2"/>
          <p:cNvSpPr txBox="1"/>
          <p:nvPr/>
        </p:nvSpPr>
        <p:spPr>
          <a:xfrm>
            <a:off x="763243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truct.forum.1.day.3"/>
          <p:cNvSpPr txBox="1"/>
          <p:nvPr/>
        </p:nvSpPr>
        <p:spPr>
          <a:xfrm>
            <a:off x="988464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uct.forum.1.day.4"/>
          <p:cNvSpPr txBox="1"/>
          <p:nvPr/>
        </p:nvSpPr>
        <p:spPr>
          <a:xfrm>
            <a:off x="1213684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truct.forum.1.day.5"/>
          <p:cNvSpPr txBox="1"/>
          <p:nvPr/>
        </p:nvSpPr>
        <p:spPr>
          <a:xfrm>
            <a:off x="1438905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truct.forum.1.day.6"/>
          <p:cNvSpPr txBox="1"/>
          <p:nvPr/>
        </p:nvSpPr>
        <p:spPr>
          <a:xfrm>
            <a:off x="1664126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truct.forum.1.day.7"/>
          <p:cNvSpPr txBox="1"/>
          <p:nvPr/>
        </p:nvSpPr>
        <p:spPr>
          <a:xfrm>
            <a:off x="1889347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forum.2.day.1"/>
          <p:cNvSpPr txBox="1"/>
          <p:nvPr/>
        </p:nvSpPr>
        <p:spPr>
          <a:xfrm>
            <a:off x="2707535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forum.2.day.2"/>
          <p:cNvSpPr txBox="1"/>
          <p:nvPr/>
        </p:nvSpPr>
        <p:spPr>
          <a:xfrm>
            <a:off x="2932756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truct.forum.2.day.3"/>
          <p:cNvSpPr txBox="1"/>
          <p:nvPr/>
        </p:nvSpPr>
        <p:spPr>
          <a:xfrm>
            <a:off x="3157977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truct.forum.2.day.4"/>
          <p:cNvSpPr txBox="1"/>
          <p:nvPr/>
        </p:nvSpPr>
        <p:spPr>
          <a:xfrm>
            <a:off x="3383197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truct.forum.2.day.5"/>
          <p:cNvSpPr txBox="1"/>
          <p:nvPr/>
        </p:nvSpPr>
        <p:spPr>
          <a:xfrm>
            <a:off x="3608418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truct.forum.2.day.6"/>
          <p:cNvSpPr txBox="1"/>
          <p:nvPr/>
        </p:nvSpPr>
        <p:spPr>
          <a:xfrm>
            <a:off x="3833639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forum.2.day.7"/>
          <p:cNvSpPr txBox="1"/>
          <p:nvPr/>
        </p:nvSpPr>
        <p:spPr>
          <a:xfrm>
            <a:off x="4058860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forum.3.day.1"/>
          <p:cNvSpPr txBox="1"/>
          <p:nvPr/>
        </p:nvSpPr>
        <p:spPr>
          <a:xfrm>
            <a:off x="4877048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truct.forum.3.day.2"/>
          <p:cNvSpPr txBox="1"/>
          <p:nvPr/>
        </p:nvSpPr>
        <p:spPr>
          <a:xfrm>
            <a:off x="5102269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forum.3.day.3"/>
          <p:cNvSpPr txBox="1"/>
          <p:nvPr/>
        </p:nvSpPr>
        <p:spPr>
          <a:xfrm>
            <a:off x="5327490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forum.3.day.4"/>
          <p:cNvSpPr txBox="1"/>
          <p:nvPr/>
        </p:nvSpPr>
        <p:spPr>
          <a:xfrm>
            <a:off x="5552710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forum.3.day.5"/>
          <p:cNvSpPr txBox="1"/>
          <p:nvPr/>
        </p:nvSpPr>
        <p:spPr>
          <a:xfrm>
            <a:off x="5777931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truct.forum.3.day.6"/>
          <p:cNvSpPr txBox="1"/>
          <p:nvPr/>
        </p:nvSpPr>
        <p:spPr>
          <a:xfrm>
            <a:off x="6003152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truct.forum.3.day.7"/>
          <p:cNvSpPr txBox="1"/>
          <p:nvPr/>
        </p:nvSpPr>
        <p:spPr>
          <a:xfrm>
            <a:off x="6228373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uct.forum.4.day.1"/>
          <p:cNvSpPr txBox="1"/>
          <p:nvPr/>
        </p:nvSpPr>
        <p:spPr>
          <a:xfrm>
            <a:off x="7046562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forum.4.day.2"/>
          <p:cNvSpPr txBox="1"/>
          <p:nvPr/>
        </p:nvSpPr>
        <p:spPr>
          <a:xfrm>
            <a:off x="7271783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ruct.forum.4.day.3"/>
          <p:cNvSpPr txBox="1"/>
          <p:nvPr/>
        </p:nvSpPr>
        <p:spPr>
          <a:xfrm>
            <a:off x="7497004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truct.forum.4.day.4"/>
          <p:cNvSpPr txBox="1"/>
          <p:nvPr/>
        </p:nvSpPr>
        <p:spPr>
          <a:xfrm>
            <a:off x="7722224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uct.forum.4.day.5"/>
          <p:cNvSpPr txBox="1"/>
          <p:nvPr/>
        </p:nvSpPr>
        <p:spPr>
          <a:xfrm>
            <a:off x="7947445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truct.forum.4.day.6"/>
          <p:cNvSpPr txBox="1"/>
          <p:nvPr/>
        </p:nvSpPr>
        <p:spPr>
          <a:xfrm>
            <a:off x="8172666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truct.forum.4.day.7"/>
          <p:cNvSpPr txBox="1"/>
          <p:nvPr/>
        </p:nvSpPr>
        <p:spPr>
          <a:xfrm>
            <a:off x="8397887" y="1771160"/>
            <a:ext cx="190030" cy="14630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</a:t>
            </a:r>
            <a:endParaRPr lang="en-US" sz="8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forum.1.day.1.1"/>
          <p:cNvSpPr/>
          <p:nvPr/>
        </p:nvSpPr>
        <p:spPr>
          <a:xfrm>
            <a:off x="542633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4" name="slot.forum.1.day.1.2"/>
          <p:cNvSpPr/>
          <p:nvPr/>
        </p:nvSpPr>
        <p:spPr>
          <a:xfrm>
            <a:off x="767854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5" name="slot.forum.1.day.1.3"/>
          <p:cNvSpPr/>
          <p:nvPr/>
        </p:nvSpPr>
        <p:spPr>
          <a:xfrm>
            <a:off x="993075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6" name="slot.forum.1.day.1.4"/>
          <p:cNvSpPr/>
          <p:nvPr/>
        </p:nvSpPr>
        <p:spPr>
          <a:xfrm>
            <a:off x="1218295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7" name="slot.forum.1.day.1.5"/>
          <p:cNvSpPr/>
          <p:nvPr/>
        </p:nvSpPr>
        <p:spPr>
          <a:xfrm>
            <a:off x="1443516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8" name="slot.forum.1.day.1.6"/>
          <p:cNvSpPr/>
          <p:nvPr/>
        </p:nvSpPr>
        <p:spPr>
          <a:xfrm>
            <a:off x="1668737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49" name="slot.forum.1.day.1.7"/>
          <p:cNvSpPr/>
          <p:nvPr/>
        </p:nvSpPr>
        <p:spPr>
          <a:xfrm>
            <a:off x="1893958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0" name="slot.forum.1.day.2.1"/>
          <p:cNvSpPr/>
          <p:nvPr/>
        </p:nvSpPr>
        <p:spPr>
          <a:xfrm>
            <a:off x="542633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1" name="slot.forum.1.day.2.2"/>
          <p:cNvSpPr/>
          <p:nvPr/>
        </p:nvSpPr>
        <p:spPr>
          <a:xfrm>
            <a:off x="767854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2" name="slot.forum.1.day.2.3"/>
          <p:cNvSpPr/>
          <p:nvPr/>
        </p:nvSpPr>
        <p:spPr>
          <a:xfrm>
            <a:off x="993075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3" name="slot.forum.1.day.2.4"/>
          <p:cNvSpPr/>
          <p:nvPr/>
        </p:nvSpPr>
        <p:spPr>
          <a:xfrm>
            <a:off x="1218295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4" name="slot.forum.1.day.2.5"/>
          <p:cNvSpPr/>
          <p:nvPr/>
        </p:nvSpPr>
        <p:spPr>
          <a:xfrm>
            <a:off x="1443516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5" name="slot.forum.1.day.2.6"/>
          <p:cNvSpPr/>
          <p:nvPr/>
        </p:nvSpPr>
        <p:spPr>
          <a:xfrm>
            <a:off x="1668737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6" name="slot.forum.1.day.2.7"/>
          <p:cNvSpPr/>
          <p:nvPr/>
        </p:nvSpPr>
        <p:spPr>
          <a:xfrm>
            <a:off x="1893958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7" name="slot.forum.1.day.3.1"/>
          <p:cNvSpPr/>
          <p:nvPr/>
        </p:nvSpPr>
        <p:spPr>
          <a:xfrm>
            <a:off x="542633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8" name="slot.forum.1.day.3.2"/>
          <p:cNvSpPr/>
          <p:nvPr/>
        </p:nvSpPr>
        <p:spPr>
          <a:xfrm>
            <a:off x="767854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59" name="slot.forum.1.day.3.3"/>
          <p:cNvSpPr/>
          <p:nvPr/>
        </p:nvSpPr>
        <p:spPr>
          <a:xfrm>
            <a:off x="993075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0" name="slot.forum.1.day.3.4"/>
          <p:cNvSpPr/>
          <p:nvPr/>
        </p:nvSpPr>
        <p:spPr>
          <a:xfrm>
            <a:off x="1218295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1" name="slot.forum.1.day.3.5"/>
          <p:cNvSpPr/>
          <p:nvPr/>
        </p:nvSpPr>
        <p:spPr>
          <a:xfrm>
            <a:off x="1443516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2" name="slot.forum.1.day.3.6"/>
          <p:cNvSpPr/>
          <p:nvPr/>
        </p:nvSpPr>
        <p:spPr>
          <a:xfrm>
            <a:off x="1668737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3" name="slot.forum.1.day.3.7"/>
          <p:cNvSpPr/>
          <p:nvPr/>
        </p:nvSpPr>
        <p:spPr>
          <a:xfrm>
            <a:off x="1893958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4" name="slot.forum.1.day.4.1"/>
          <p:cNvSpPr/>
          <p:nvPr/>
        </p:nvSpPr>
        <p:spPr>
          <a:xfrm>
            <a:off x="542633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5" name="slot.forum.1.day.4.2"/>
          <p:cNvSpPr/>
          <p:nvPr/>
        </p:nvSpPr>
        <p:spPr>
          <a:xfrm>
            <a:off x="767854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6" name="slot.forum.1.day.4.3"/>
          <p:cNvSpPr/>
          <p:nvPr/>
        </p:nvSpPr>
        <p:spPr>
          <a:xfrm>
            <a:off x="993075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7" name="slot.forum.1.day.4.4"/>
          <p:cNvSpPr/>
          <p:nvPr/>
        </p:nvSpPr>
        <p:spPr>
          <a:xfrm>
            <a:off x="1218295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8" name="slot.forum.1.day.4.5"/>
          <p:cNvSpPr/>
          <p:nvPr/>
        </p:nvSpPr>
        <p:spPr>
          <a:xfrm>
            <a:off x="1443516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69" name="slot.forum.1.day.4.6"/>
          <p:cNvSpPr/>
          <p:nvPr/>
        </p:nvSpPr>
        <p:spPr>
          <a:xfrm>
            <a:off x="1668737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0" name="slot.forum.1.day.4.7"/>
          <p:cNvSpPr/>
          <p:nvPr/>
        </p:nvSpPr>
        <p:spPr>
          <a:xfrm>
            <a:off x="1893958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1" name="slot.forum.2.day.1.1"/>
          <p:cNvSpPr/>
          <p:nvPr/>
        </p:nvSpPr>
        <p:spPr>
          <a:xfrm>
            <a:off x="2712146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2" name="slot.forum.2.day.1.2"/>
          <p:cNvSpPr/>
          <p:nvPr/>
        </p:nvSpPr>
        <p:spPr>
          <a:xfrm>
            <a:off x="2937367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3" name="slot.forum.2.day.1.3"/>
          <p:cNvSpPr/>
          <p:nvPr/>
        </p:nvSpPr>
        <p:spPr>
          <a:xfrm>
            <a:off x="3162588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4" name="slot.forum.2.day.1.4"/>
          <p:cNvSpPr/>
          <p:nvPr/>
        </p:nvSpPr>
        <p:spPr>
          <a:xfrm>
            <a:off x="3387808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5" name="slot.forum.2.day.1.5"/>
          <p:cNvSpPr/>
          <p:nvPr/>
        </p:nvSpPr>
        <p:spPr>
          <a:xfrm>
            <a:off x="3613029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6" name="slot.forum.2.day.1.6"/>
          <p:cNvSpPr/>
          <p:nvPr/>
        </p:nvSpPr>
        <p:spPr>
          <a:xfrm>
            <a:off x="3838250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7" name="slot.forum.2.day.1.7"/>
          <p:cNvSpPr/>
          <p:nvPr/>
        </p:nvSpPr>
        <p:spPr>
          <a:xfrm>
            <a:off x="4063471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8" name="slot.forum.2.day.2.1"/>
          <p:cNvSpPr/>
          <p:nvPr/>
        </p:nvSpPr>
        <p:spPr>
          <a:xfrm>
            <a:off x="2712146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79" name="slot.forum.2.day.2.2"/>
          <p:cNvSpPr/>
          <p:nvPr/>
        </p:nvSpPr>
        <p:spPr>
          <a:xfrm>
            <a:off x="2937367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0" name="slot.forum.2.day.2.3"/>
          <p:cNvSpPr/>
          <p:nvPr/>
        </p:nvSpPr>
        <p:spPr>
          <a:xfrm>
            <a:off x="3162588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1" name="slot.forum.2.day.2.4"/>
          <p:cNvSpPr/>
          <p:nvPr/>
        </p:nvSpPr>
        <p:spPr>
          <a:xfrm>
            <a:off x="3387808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2" name="slot.forum.2.day.2.5"/>
          <p:cNvSpPr/>
          <p:nvPr/>
        </p:nvSpPr>
        <p:spPr>
          <a:xfrm>
            <a:off x="3613029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3" name="slot.forum.2.day.2.6"/>
          <p:cNvSpPr/>
          <p:nvPr/>
        </p:nvSpPr>
        <p:spPr>
          <a:xfrm>
            <a:off x="3838250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4" name="slot.forum.2.day.2.7"/>
          <p:cNvSpPr/>
          <p:nvPr/>
        </p:nvSpPr>
        <p:spPr>
          <a:xfrm>
            <a:off x="4063471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5" name="slot.forum.2.day.3.1"/>
          <p:cNvSpPr/>
          <p:nvPr/>
        </p:nvSpPr>
        <p:spPr>
          <a:xfrm>
            <a:off x="2712146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6" name="slot.forum.2.day.3.2"/>
          <p:cNvSpPr/>
          <p:nvPr/>
        </p:nvSpPr>
        <p:spPr>
          <a:xfrm>
            <a:off x="2937367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7" name="slot.forum.2.day.3.3"/>
          <p:cNvSpPr/>
          <p:nvPr/>
        </p:nvSpPr>
        <p:spPr>
          <a:xfrm>
            <a:off x="3162588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8" name="slot.forum.2.day.3.4"/>
          <p:cNvSpPr/>
          <p:nvPr/>
        </p:nvSpPr>
        <p:spPr>
          <a:xfrm>
            <a:off x="3387808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89" name="slot.forum.2.day.3.5"/>
          <p:cNvSpPr/>
          <p:nvPr/>
        </p:nvSpPr>
        <p:spPr>
          <a:xfrm>
            <a:off x="3613029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0" name="slot.forum.2.day.3.6"/>
          <p:cNvSpPr/>
          <p:nvPr/>
        </p:nvSpPr>
        <p:spPr>
          <a:xfrm>
            <a:off x="3838250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1" name="slot.forum.2.day.3.7"/>
          <p:cNvSpPr/>
          <p:nvPr/>
        </p:nvSpPr>
        <p:spPr>
          <a:xfrm>
            <a:off x="4063471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2" name="slot.forum.2.day.4.1"/>
          <p:cNvSpPr/>
          <p:nvPr/>
        </p:nvSpPr>
        <p:spPr>
          <a:xfrm>
            <a:off x="2712146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3" name="slot.forum.2.day.4.2"/>
          <p:cNvSpPr/>
          <p:nvPr/>
        </p:nvSpPr>
        <p:spPr>
          <a:xfrm>
            <a:off x="2937367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4" name="slot.forum.2.day.4.3"/>
          <p:cNvSpPr/>
          <p:nvPr/>
        </p:nvSpPr>
        <p:spPr>
          <a:xfrm>
            <a:off x="3162588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5" name="slot.forum.2.day.4.4"/>
          <p:cNvSpPr/>
          <p:nvPr/>
        </p:nvSpPr>
        <p:spPr>
          <a:xfrm>
            <a:off x="3387808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6" name="slot.forum.2.day.4.5"/>
          <p:cNvSpPr/>
          <p:nvPr/>
        </p:nvSpPr>
        <p:spPr>
          <a:xfrm>
            <a:off x="3613029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7" name="slot.forum.2.day.4.6"/>
          <p:cNvSpPr/>
          <p:nvPr/>
        </p:nvSpPr>
        <p:spPr>
          <a:xfrm>
            <a:off x="3838250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8" name="slot.forum.2.day.4.7"/>
          <p:cNvSpPr/>
          <p:nvPr/>
        </p:nvSpPr>
        <p:spPr>
          <a:xfrm>
            <a:off x="4063471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99" name="slot.forum.3.day.1.1"/>
          <p:cNvSpPr/>
          <p:nvPr/>
        </p:nvSpPr>
        <p:spPr>
          <a:xfrm>
            <a:off x="4881659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0" name="slot.forum.3.day.1.2"/>
          <p:cNvSpPr/>
          <p:nvPr/>
        </p:nvSpPr>
        <p:spPr>
          <a:xfrm>
            <a:off x="5106880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1" name="slot.forum.3.day.1.3"/>
          <p:cNvSpPr/>
          <p:nvPr/>
        </p:nvSpPr>
        <p:spPr>
          <a:xfrm>
            <a:off x="5332101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2" name="slot.forum.3.day.1.4"/>
          <p:cNvSpPr/>
          <p:nvPr/>
        </p:nvSpPr>
        <p:spPr>
          <a:xfrm>
            <a:off x="5557321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3" name="slot.forum.3.day.1.5"/>
          <p:cNvSpPr/>
          <p:nvPr/>
        </p:nvSpPr>
        <p:spPr>
          <a:xfrm>
            <a:off x="5782542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4" name="slot.forum.3.day.1.6"/>
          <p:cNvSpPr/>
          <p:nvPr/>
        </p:nvSpPr>
        <p:spPr>
          <a:xfrm>
            <a:off x="6007763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5" name="slot.forum.3.day.1.7"/>
          <p:cNvSpPr/>
          <p:nvPr/>
        </p:nvSpPr>
        <p:spPr>
          <a:xfrm>
            <a:off x="6232984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6" name="slot.forum.3.day.2.1"/>
          <p:cNvSpPr/>
          <p:nvPr/>
        </p:nvSpPr>
        <p:spPr>
          <a:xfrm>
            <a:off x="4881659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7" name="slot.forum.3.day.2.2"/>
          <p:cNvSpPr/>
          <p:nvPr/>
        </p:nvSpPr>
        <p:spPr>
          <a:xfrm>
            <a:off x="5106880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8" name="slot.forum.3.day.2.3"/>
          <p:cNvSpPr/>
          <p:nvPr/>
        </p:nvSpPr>
        <p:spPr>
          <a:xfrm>
            <a:off x="5332101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09" name="slot.forum.3.day.2.4"/>
          <p:cNvSpPr/>
          <p:nvPr/>
        </p:nvSpPr>
        <p:spPr>
          <a:xfrm>
            <a:off x="5557321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0" name="slot.forum.3.day.2.5"/>
          <p:cNvSpPr/>
          <p:nvPr/>
        </p:nvSpPr>
        <p:spPr>
          <a:xfrm>
            <a:off x="5782542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1" name="slot.forum.3.day.2.6"/>
          <p:cNvSpPr/>
          <p:nvPr/>
        </p:nvSpPr>
        <p:spPr>
          <a:xfrm>
            <a:off x="6007763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2" name="slot.forum.3.day.2.7"/>
          <p:cNvSpPr/>
          <p:nvPr/>
        </p:nvSpPr>
        <p:spPr>
          <a:xfrm>
            <a:off x="6232984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3" name="slot.forum.3.day.3.1"/>
          <p:cNvSpPr/>
          <p:nvPr/>
        </p:nvSpPr>
        <p:spPr>
          <a:xfrm>
            <a:off x="4881659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4" name="slot.forum.3.day.3.2"/>
          <p:cNvSpPr/>
          <p:nvPr/>
        </p:nvSpPr>
        <p:spPr>
          <a:xfrm>
            <a:off x="5106880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5" name="slot.forum.3.day.3.3"/>
          <p:cNvSpPr/>
          <p:nvPr/>
        </p:nvSpPr>
        <p:spPr>
          <a:xfrm>
            <a:off x="5332101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6" name="slot.forum.3.day.3.4"/>
          <p:cNvSpPr/>
          <p:nvPr/>
        </p:nvSpPr>
        <p:spPr>
          <a:xfrm>
            <a:off x="5557321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7" name="slot.forum.3.day.3.5"/>
          <p:cNvSpPr/>
          <p:nvPr/>
        </p:nvSpPr>
        <p:spPr>
          <a:xfrm>
            <a:off x="5782542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8" name="slot.forum.3.day.3.6"/>
          <p:cNvSpPr/>
          <p:nvPr/>
        </p:nvSpPr>
        <p:spPr>
          <a:xfrm>
            <a:off x="6007763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19" name="slot.forum.3.day.3.7"/>
          <p:cNvSpPr/>
          <p:nvPr/>
        </p:nvSpPr>
        <p:spPr>
          <a:xfrm>
            <a:off x="6232984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0" name="slot.forum.3.day.4.1"/>
          <p:cNvSpPr/>
          <p:nvPr/>
        </p:nvSpPr>
        <p:spPr>
          <a:xfrm>
            <a:off x="4881659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1" name="slot.forum.3.day.4.2"/>
          <p:cNvSpPr/>
          <p:nvPr/>
        </p:nvSpPr>
        <p:spPr>
          <a:xfrm>
            <a:off x="5106880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2" name="slot.forum.3.day.4.3"/>
          <p:cNvSpPr/>
          <p:nvPr/>
        </p:nvSpPr>
        <p:spPr>
          <a:xfrm>
            <a:off x="5332101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3" name="slot.forum.3.day.4.4"/>
          <p:cNvSpPr/>
          <p:nvPr/>
        </p:nvSpPr>
        <p:spPr>
          <a:xfrm>
            <a:off x="5557321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4" name="slot.forum.3.day.4.5"/>
          <p:cNvSpPr/>
          <p:nvPr/>
        </p:nvSpPr>
        <p:spPr>
          <a:xfrm>
            <a:off x="5782542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5" name="slot.forum.3.day.4.6"/>
          <p:cNvSpPr/>
          <p:nvPr/>
        </p:nvSpPr>
        <p:spPr>
          <a:xfrm>
            <a:off x="6007763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6" name="slot.forum.3.day.4.7"/>
          <p:cNvSpPr/>
          <p:nvPr/>
        </p:nvSpPr>
        <p:spPr>
          <a:xfrm>
            <a:off x="6232984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7" name="slot.forum.4.day.1.1"/>
          <p:cNvSpPr/>
          <p:nvPr/>
        </p:nvSpPr>
        <p:spPr>
          <a:xfrm>
            <a:off x="7051173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8" name="slot.forum.4.day.1.2"/>
          <p:cNvSpPr/>
          <p:nvPr/>
        </p:nvSpPr>
        <p:spPr>
          <a:xfrm>
            <a:off x="7276394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29" name="slot.forum.4.day.1.3"/>
          <p:cNvSpPr/>
          <p:nvPr/>
        </p:nvSpPr>
        <p:spPr>
          <a:xfrm>
            <a:off x="7501614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0" name="slot.forum.4.day.1.4"/>
          <p:cNvSpPr/>
          <p:nvPr/>
        </p:nvSpPr>
        <p:spPr>
          <a:xfrm>
            <a:off x="7726835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1" name="slot.forum.4.day.1.5"/>
          <p:cNvSpPr/>
          <p:nvPr/>
        </p:nvSpPr>
        <p:spPr>
          <a:xfrm>
            <a:off x="7952055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2" name="slot.forum.4.day.1.6"/>
          <p:cNvSpPr/>
          <p:nvPr/>
        </p:nvSpPr>
        <p:spPr>
          <a:xfrm>
            <a:off x="8177276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3" name="slot.forum.4.day.1.7"/>
          <p:cNvSpPr/>
          <p:nvPr/>
        </p:nvSpPr>
        <p:spPr>
          <a:xfrm>
            <a:off x="8402498" y="195681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4" name="slot.forum.4.day.2.1"/>
          <p:cNvSpPr/>
          <p:nvPr/>
        </p:nvSpPr>
        <p:spPr>
          <a:xfrm>
            <a:off x="7051173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5" name="slot.forum.4.day.2.2"/>
          <p:cNvSpPr/>
          <p:nvPr/>
        </p:nvSpPr>
        <p:spPr>
          <a:xfrm>
            <a:off x="7276394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6" name="slot.forum.4.day.2.3"/>
          <p:cNvSpPr/>
          <p:nvPr/>
        </p:nvSpPr>
        <p:spPr>
          <a:xfrm>
            <a:off x="7501614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7" name="slot.forum.4.day.2.4"/>
          <p:cNvSpPr/>
          <p:nvPr/>
        </p:nvSpPr>
        <p:spPr>
          <a:xfrm>
            <a:off x="7726835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8" name="slot.forum.4.day.2.5"/>
          <p:cNvSpPr/>
          <p:nvPr/>
        </p:nvSpPr>
        <p:spPr>
          <a:xfrm>
            <a:off x="7952055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39" name="slot.forum.4.day.2.6"/>
          <p:cNvSpPr/>
          <p:nvPr/>
        </p:nvSpPr>
        <p:spPr>
          <a:xfrm>
            <a:off x="8177276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0" name="slot.forum.4.day.2.7"/>
          <p:cNvSpPr/>
          <p:nvPr/>
        </p:nvSpPr>
        <p:spPr>
          <a:xfrm>
            <a:off x="8402498" y="223113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1" name="slot.forum.4.day.3.1"/>
          <p:cNvSpPr/>
          <p:nvPr/>
        </p:nvSpPr>
        <p:spPr>
          <a:xfrm>
            <a:off x="7051173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2" name="slot.forum.4.day.3.2"/>
          <p:cNvSpPr/>
          <p:nvPr/>
        </p:nvSpPr>
        <p:spPr>
          <a:xfrm>
            <a:off x="7276394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3" name="slot.forum.4.day.3.3"/>
          <p:cNvSpPr/>
          <p:nvPr/>
        </p:nvSpPr>
        <p:spPr>
          <a:xfrm>
            <a:off x="7501614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4" name="slot.forum.4.day.3.4"/>
          <p:cNvSpPr/>
          <p:nvPr/>
        </p:nvSpPr>
        <p:spPr>
          <a:xfrm>
            <a:off x="7726835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5" name="slot.forum.4.day.3.5"/>
          <p:cNvSpPr/>
          <p:nvPr/>
        </p:nvSpPr>
        <p:spPr>
          <a:xfrm>
            <a:off x="7952055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6" name="slot.forum.4.day.3.6"/>
          <p:cNvSpPr/>
          <p:nvPr/>
        </p:nvSpPr>
        <p:spPr>
          <a:xfrm>
            <a:off x="8177276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7" name="slot.forum.4.day.3.7"/>
          <p:cNvSpPr/>
          <p:nvPr/>
        </p:nvSpPr>
        <p:spPr>
          <a:xfrm>
            <a:off x="8402498" y="250545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8" name="slot.forum.4.day.4.1"/>
          <p:cNvSpPr/>
          <p:nvPr/>
        </p:nvSpPr>
        <p:spPr>
          <a:xfrm>
            <a:off x="7051173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49" name="slot.forum.4.day.4.2"/>
          <p:cNvSpPr/>
          <p:nvPr/>
        </p:nvSpPr>
        <p:spPr>
          <a:xfrm>
            <a:off x="7276394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0" name="slot.forum.4.day.4.3"/>
          <p:cNvSpPr/>
          <p:nvPr/>
        </p:nvSpPr>
        <p:spPr>
          <a:xfrm>
            <a:off x="7501614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1" name="slot.forum.4.day.4.4"/>
          <p:cNvSpPr/>
          <p:nvPr/>
        </p:nvSpPr>
        <p:spPr>
          <a:xfrm>
            <a:off x="7726835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2" name="slot.forum.4.day.4.5"/>
          <p:cNvSpPr/>
          <p:nvPr/>
        </p:nvSpPr>
        <p:spPr>
          <a:xfrm>
            <a:off x="7952055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3" name="slot.forum.4.day.4.6"/>
          <p:cNvSpPr/>
          <p:nvPr/>
        </p:nvSpPr>
        <p:spPr>
          <a:xfrm>
            <a:off x="8177276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4" name="slot.forum.4.day.4.7"/>
          <p:cNvSpPr/>
          <p:nvPr/>
        </p:nvSpPr>
        <p:spPr>
          <a:xfrm>
            <a:off x="8402498" y="2779776"/>
            <a:ext cx="180808" cy="219456"/>
          </a:xfrm>
          <a:prstGeom prst="roundRect">
            <a:avLst>
              <a:gd name="adj" fmla="val 11111"/>
            </a:avLst>
          </a:prstGeom>
          <a:solidFill>
            <a:schemeClr val="bg1">
              <a:lumMod val="75000"/>
            </a:schemeClr>
          </a:solidFill>
          <a:ln/>
          <a:effectLst/>
        </p:spPr>
        <p:txBody>
          <a:bodyPr>
            <a:noAutofit/>
          </a:bodyPr>
          <a:lstStyle/>
          <a:p>
            <a:pPr algn="ctr"/>
            <a:endParaRPr lang="en-US" sz="16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155" name="slot.forum.1.row.1.label"/>
          <p:cNvSpPr txBox="1"/>
          <p:nvPr/>
        </p:nvSpPr>
        <p:spPr>
          <a:xfrm>
            <a:off x="438912" y="3456432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Chair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lot.forum.1.row.1.value"/>
          <p:cNvSpPr txBox="1"/>
          <p:nvPr/>
        </p:nvSpPr>
        <p:spPr>
          <a:xfrm>
            <a:off x="1170432" y="3456432"/>
            <a:ext cx="1006681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Executive sponsor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slot.forum.2.row.1.value"/>
          <p:cNvSpPr txBox="1"/>
          <p:nvPr/>
        </p:nvSpPr>
        <p:spPr>
          <a:xfrm>
            <a:off x="3154680" y="3456432"/>
            <a:ext cx="1214148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Program director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lot.forum.4.row.1.label"/>
          <p:cNvSpPr txBox="1"/>
          <p:nvPr/>
        </p:nvSpPr>
        <p:spPr>
          <a:xfrm>
            <a:off x="6803136" y="3456432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Chair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slot.forum.4.row.1.value"/>
          <p:cNvSpPr txBox="1"/>
          <p:nvPr/>
        </p:nvSpPr>
        <p:spPr>
          <a:xfrm>
            <a:off x="7534656" y="3456432"/>
            <a:ext cx="1296934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Delivery manager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slot.forum.3.row.1.value"/>
          <p:cNvSpPr txBox="1"/>
          <p:nvPr/>
        </p:nvSpPr>
        <p:spPr>
          <a:xfrm>
            <a:off x="5340096" y="3456432"/>
            <a:ext cx="1220447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Lead architect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slot.forum.2.row.1.label"/>
          <p:cNvSpPr txBox="1"/>
          <p:nvPr/>
        </p:nvSpPr>
        <p:spPr>
          <a:xfrm>
            <a:off x="2423160" y="3456432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Chair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slot.forum.3.row.1.label"/>
          <p:cNvSpPr txBox="1"/>
          <p:nvPr/>
        </p:nvSpPr>
        <p:spPr>
          <a:xfrm>
            <a:off x="4608576" y="3456432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Chair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slot.forum.1.row.2.value"/>
          <p:cNvSpPr txBox="1"/>
          <p:nvPr/>
        </p:nvSpPr>
        <p:spPr>
          <a:xfrm>
            <a:off x="1170432" y="3931920"/>
            <a:ext cx="1006681" cy="49377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Both sponsors, program leads and finance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slot.forum.2.row.2.value"/>
          <p:cNvSpPr txBox="1"/>
          <p:nvPr/>
        </p:nvSpPr>
        <p:spPr>
          <a:xfrm>
            <a:off x="3154680" y="3931920"/>
            <a:ext cx="1214148" cy="49377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Workstream leads from both parties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slot.forum.4.row.2.label"/>
          <p:cNvSpPr txBox="1"/>
          <p:nvPr/>
        </p:nvSpPr>
        <p:spPr>
          <a:xfrm>
            <a:off x="6803136" y="3931920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Members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slot.forum.4.row.2.value"/>
          <p:cNvSpPr txBox="1"/>
          <p:nvPr/>
        </p:nvSpPr>
        <p:spPr>
          <a:xfrm>
            <a:off x="7534656" y="3931920"/>
            <a:ext cx="1296934" cy="49377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Squad leads and product owners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slot.forum.3.row.2.value"/>
          <p:cNvSpPr txBox="1"/>
          <p:nvPr/>
        </p:nvSpPr>
        <p:spPr>
          <a:xfrm>
            <a:off x="5340096" y="3931920"/>
            <a:ext cx="1220447" cy="49377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Architects, security and data owners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slot.forum.1.row.2.label"/>
          <p:cNvSpPr txBox="1"/>
          <p:nvPr/>
        </p:nvSpPr>
        <p:spPr>
          <a:xfrm>
            <a:off x="438912" y="3931920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Members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slot.forum.2.row.2.label"/>
          <p:cNvSpPr txBox="1"/>
          <p:nvPr/>
        </p:nvSpPr>
        <p:spPr>
          <a:xfrm>
            <a:off x="2423160" y="3931920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Members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slot.forum.3.row.2.label"/>
          <p:cNvSpPr txBox="1"/>
          <p:nvPr/>
        </p:nvSpPr>
        <p:spPr>
          <a:xfrm>
            <a:off x="4608576" y="3931920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Members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slot.forum.1.row.3.value"/>
          <p:cNvSpPr txBox="1"/>
          <p:nvPr/>
        </p:nvSpPr>
        <p:spPr>
          <a:xfrm>
            <a:off x="1170432" y="4535424"/>
            <a:ext cx="1006681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Budget and phase gates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slot.forum.2.row.3.value"/>
          <p:cNvSpPr txBox="1"/>
          <p:nvPr/>
        </p:nvSpPr>
        <p:spPr>
          <a:xfrm>
            <a:off x="3154680" y="4535424"/>
            <a:ext cx="1214148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 changes and staffing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slot.forum.3.row.3.value"/>
          <p:cNvSpPr txBox="1"/>
          <p:nvPr/>
        </p:nvSpPr>
        <p:spPr>
          <a:xfrm>
            <a:off x="5340096" y="4535424"/>
            <a:ext cx="1220447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Standards and design waivers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slot.forum.1.row.3.label"/>
          <p:cNvSpPr txBox="1"/>
          <p:nvPr/>
        </p:nvSpPr>
        <p:spPr>
          <a:xfrm>
            <a:off x="438912" y="4535424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Decides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slot.forum.2.row.3.label"/>
          <p:cNvSpPr txBox="1"/>
          <p:nvPr/>
        </p:nvSpPr>
        <p:spPr>
          <a:xfrm>
            <a:off x="2423160" y="4535424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Decides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lot.forum.3.row.3.label"/>
          <p:cNvSpPr txBox="1"/>
          <p:nvPr/>
        </p:nvSpPr>
        <p:spPr>
          <a:xfrm>
            <a:off x="4608576" y="4535424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Decides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slot.forum.4.row.3.label"/>
          <p:cNvSpPr txBox="1"/>
          <p:nvPr/>
        </p:nvSpPr>
        <p:spPr>
          <a:xfrm>
            <a:off x="6803136" y="4535424"/>
            <a:ext cx="676656" cy="21945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Decides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slot.forum.4.row.3.value"/>
          <p:cNvSpPr txBox="1"/>
          <p:nvPr/>
        </p:nvSpPr>
        <p:spPr>
          <a:xfrm>
            <a:off x="7534656" y="4535424"/>
            <a:ext cx="1296934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Blockers and daily priorities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79" name="struct.forum.1.rule.1"/>
          <p:cNvCxnSpPr>
            <a:cxnSpLocks/>
          </p:cNvCxnSpPr>
          <p:nvPr/>
        </p:nvCxnSpPr>
        <p:spPr>
          <a:xfrm>
            <a:off x="440285" y="3877055"/>
            <a:ext cx="1736828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0" name="struct.forum.1.rule.2"/>
          <p:cNvCxnSpPr>
            <a:cxnSpLocks/>
          </p:cNvCxnSpPr>
          <p:nvPr/>
        </p:nvCxnSpPr>
        <p:spPr>
          <a:xfrm>
            <a:off x="440285" y="4480559"/>
            <a:ext cx="1736828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1" name="struct.forum.2.rule.1"/>
          <p:cNvCxnSpPr>
            <a:cxnSpLocks/>
          </p:cNvCxnSpPr>
          <p:nvPr/>
        </p:nvCxnSpPr>
        <p:spPr>
          <a:xfrm>
            <a:off x="2419459" y="3877055"/>
            <a:ext cx="1949357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2" name="struct.forum.2.rule.2"/>
          <p:cNvCxnSpPr>
            <a:cxnSpLocks/>
          </p:cNvCxnSpPr>
          <p:nvPr/>
        </p:nvCxnSpPr>
        <p:spPr>
          <a:xfrm>
            <a:off x="2419459" y="4480559"/>
            <a:ext cx="1949357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3" name="struct.forum.3.rule.1"/>
          <p:cNvCxnSpPr>
            <a:cxnSpLocks/>
          </p:cNvCxnSpPr>
          <p:nvPr/>
        </p:nvCxnSpPr>
        <p:spPr>
          <a:xfrm>
            <a:off x="4611175" y="3877055"/>
            <a:ext cx="1949367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4" name="struct.forum.3.rule.2"/>
          <p:cNvCxnSpPr>
            <a:cxnSpLocks/>
          </p:cNvCxnSpPr>
          <p:nvPr/>
        </p:nvCxnSpPr>
        <p:spPr>
          <a:xfrm>
            <a:off x="4611175" y="4480559"/>
            <a:ext cx="1949367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5" name="struct.forum.4.rule.1"/>
          <p:cNvCxnSpPr>
            <a:cxnSpLocks/>
          </p:cNvCxnSpPr>
          <p:nvPr/>
        </p:nvCxnSpPr>
        <p:spPr>
          <a:xfrm>
            <a:off x="6802888" y="3877055"/>
            <a:ext cx="20287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86" name="struct.forum.4.rule.2"/>
          <p:cNvCxnSpPr>
            <a:cxnSpLocks/>
          </p:cNvCxnSpPr>
          <p:nvPr/>
        </p:nvCxnSpPr>
        <p:spPr>
          <a:xfrm>
            <a:off x="6802888" y="4480559"/>
            <a:ext cx="20287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187" name="slot.forum.2.cadence"/>
          <p:cNvSpPr/>
          <p:nvPr/>
        </p:nvSpPr>
        <p:spPr>
          <a:xfrm>
            <a:off x="2419460" y="3072384"/>
            <a:ext cx="1949369" cy="27432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Every two weeks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slot.forum.3.cadence"/>
          <p:cNvSpPr/>
          <p:nvPr/>
        </p:nvSpPr>
        <p:spPr>
          <a:xfrm>
            <a:off x="4611175" y="3072384"/>
            <a:ext cx="1949367" cy="27432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Weekly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slot.forum.4.cadence"/>
          <p:cNvSpPr/>
          <p:nvPr/>
        </p:nvSpPr>
        <p:spPr>
          <a:xfrm>
            <a:off x="6802888" y="3072384"/>
            <a:ext cx="2028703" cy="27432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Daily on weekdays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slot.forum.1.cadence"/>
          <p:cNvSpPr/>
          <p:nvPr/>
        </p:nvSpPr>
        <p:spPr>
          <a:xfrm>
            <a:off x="440285" y="3072384"/>
            <a:ext cx="1736828" cy="27432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Monthly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struct.rules.panel"/>
          <p:cNvSpPr/>
          <p:nvPr/>
        </p:nvSpPr>
        <p:spPr>
          <a:xfrm>
            <a:off x="438912" y="5138928"/>
            <a:ext cx="8394192" cy="1097280"/>
          </a:xfrm>
          <a:prstGeom prst="rect">
            <a:avLst/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 sz="900" b="1">
              <a:solidFill>
                <a:schemeClr val="bg1"/>
              </a:solidFill>
            </a:endParaRPr>
          </a:p>
        </p:txBody>
      </p:sp>
      <p:sp>
        <p:nvSpPr>
          <p:cNvPr id="192" name="slot.rules.1.num"/>
          <p:cNvSpPr txBox="1"/>
          <p:nvPr/>
        </p:nvSpPr>
        <p:spPr>
          <a:xfrm>
            <a:off x="630936" y="5650992"/>
            <a:ext cx="329184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01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slot.rules.1.body"/>
          <p:cNvSpPr txBox="1"/>
          <p:nvPr/>
        </p:nvSpPr>
        <p:spPr>
          <a:xfrm>
            <a:off x="996695" y="5650992"/>
            <a:ext cx="1490472" cy="47548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Decisions logged within one day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slot.rules.2.num"/>
          <p:cNvSpPr txBox="1"/>
          <p:nvPr/>
        </p:nvSpPr>
        <p:spPr>
          <a:xfrm>
            <a:off x="2633472" y="5650992"/>
            <a:ext cx="329184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slot.rules.2.body"/>
          <p:cNvSpPr txBox="1"/>
          <p:nvPr/>
        </p:nvSpPr>
        <p:spPr>
          <a:xfrm>
            <a:off x="2999232" y="5650992"/>
            <a:ext cx="1490472" cy="47548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Papers sent two days ahead of each session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slot.rules.3.num"/>
          <p:cNvSpPr txBox="1"/>
          <p:nvPr/>
        </p:nvSpPr>
        <p:spPr>
          <a:xfrm>
            <a:off x="4636008" y="5650992"/>
            <a:ext cx="329184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03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slot.rules.3.body"/>
          <p:cNvSpPr txBox="1"/>
          <p:nvPr/>
        </p:nvSpPr>
        <p:spPr>
          <a:xfrm>
            <a:off x="5001768" y="5650992"/>
            <a:ext cx="1490472" cy="47548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Quorum needs both parties present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slot.rules.4.num"/>
          <p:cNvSpPr txBox="1"/>
          <p:nvPr/>
        </p:nvSpPr>
        <p:spPr>
          <a:xfrm>
            <a:off x="6638544" y="5650992"/>
            <a:ext cx="329184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04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slot.rules.4.body"/>
          <p:cNvSpPr txBox="1"/>
          <p:nvPr/>
        </p:nvSpPr>
        <p:spPr>
          <a:xfrm>
            <a:off x="7004304" y="5650992"/>
            <a:ext cx="1490472" cy="47548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shared risk and action log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slot.rules.label"/>
          <p:cNvSpPr txBox="1"/>
          <p:nvPr/>
        </p:nvSpPr>
        <p:spPr>
          <a:xfrm>
            <a:off x="630936" y="5248656"/>
            <a:ext cx="3291840" cy="25603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Standing rules for every forum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01" name="struct.rules.rule"/>
          <p:cNvCxnSpPr>
            <a:cxnSpLocks/>
          </p:cNvCxnSpPr>
          <p:nvPr/>
        </p:nvCxnSpPr>
        <p:spPr>
          <a:xfrm flipV="1">
            <a:off x="4023360" y="5376672"/>
            <a:ext cx="4617720" cy="0"/>
          </a:xfrm>
          <a:prstGeom prst="line">
            <a:avLst/>
          </a:prstGeom>
          <a:ln w="12700">
            <a:solidFill>
              <a:schemeClr val="accent1"/>
            </a:solidFill>
            <a:prstDash val="solid"/>
          </a:ln>
          <a:effectLst/>
        </p:spPr>
      </p:cxnSp>
      <p:cxnSp>
        <p:nvCxnSpPr>
          <p:cNvPr id="202" name="struct.rules.sep.3"/>
          <p:cNvCxnSpPr>
            <a:cxnSpLocks/>
          </p:cNvCxnSpPr>
          <p:nvPr/>
        </p:nvCxnSpPr>
        <p:spPr>
          <a:xfrm>
            <a:off x="6547104" y="5650992"/>
            <a:ext cx="0" cy="438912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03" name="struct.rules.sep.2"/>
          <p:cNvCxnSpPr>
            <a:cxnSpLocks/>
          </p:cNvCxnSpPr>
          <p:nvPr/>
        </p:nvCxnSpPr>
        <p:spPr>
          <a:xfrm>
            <a:off x="4544568" y="5650992"/>
            <a:ext cx="0" cy="438912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04" name="struct.rules.sep.1"/>
          <p:cNvCxnSpPr>
            <a:cxnSpLocks/>
          </p:cNvCxnSpPr>
          <p:nvPr/>
        </p:nvCxnSpPr>
        <p:spPr>
          <a:xfrm>
            <a:off x="2542032" y="5650992"/>
            <a:ext cx="0" cy="438912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205" name="struct.step.1"/>
          <p:cNvSpPr/>
          <p:nvPr/>
        </p:nvSpPr>
        <p:spPr>
          <a:xfrm>
            <a:off x="9262872" y="1344168"/>
            <a:ext cx="2514600" cy="875995"/>
          </a:xfrm>
          <a:prstGeom prst="roundRect">
            <a:avLst>
              <a:gd name="adj" fmla="val 521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06" name="struct.step.2"/>
          <p:cNvSpPr/>
          <p:nvPr/>
        </p:nvSpPr>
        <p:spPr>
          <a:xfrm>
            <a:off x="9262872" y="2348179"/>
            <a:ext cx="2514600" cy="875995"/>
          </a:xfrm>
          <a:prstGeom prst="roundRect">
            <a:avLst>
              <a:gd name="adj" fmla="val 521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07" name="struct.step.3"/>
          <p:cNvSpPr/>
          <p:nvPr/>
        </p:nvSpPr>
        <p:spPr>
          <a:xfrm>
            <a:off x="9262872" y="3352190"/>
            <a:ext cx="2514600" cy="875995"/>
          </a:xfrm>
          <a:prstGeom prst="roundRect">
            <a:avLst>
              <a:gd name="adj" fmla="val 521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08" name="struct.step.4"/>
          <p:cNvSpPr/>
          <p:nvPr/>
        </p:nvSpPr>
        <p:spPr>
          <a:xfrm>
            <a:off x="9262872" y="4356201"/>
            <a:ext cx="2514600" cy="875995"/>
          </a:xfrm>
          <a:prstGeom prst="roundRect">
            <a:avLst>
              <a:gd name="adj" fmla="val 521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09" name="struct.step.5"/>
          <p:cNvSpPr/>
          <p:nvPr/>
        </p:nvSpPr>
        <p:spPr>
          <a:xfrm>
            <a:off x="9262872" y="5360212"/>
            <a:ext cx="2514600" cy="875995"/>
          </a:xfrm>
          <a:prstGeom prst="roundRect">
            <a:avLst>
              <a:gd name="adj" fmla="val 521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10" name="slot.step.1.who"/>
          <p:cNvSpPr txBox="1"/>
          <p:nvPr/>
        </p:nvSpPr>
        <p:spPr>
          <a:xfrm>
            <a:off x="9784080" y="1435608"/>
            <a:ext cx="950976" cy="693115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Workstream lead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slot.step.2.who"/>
          <p:cNvSpPr txBox="1"/>
          <p:nvPr/>
        </p:nvSpPr>
        <p:spPr>
          <a:xfrm>
            <a:off x="9784080" y="2439619"/>
            <a:ext cx="950976" cy="693115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Delivery manager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slot.step.3.who"/>
          <p:cNvSpPr txBox="1"/>
          <p:nvPr/>
        </p:nvSpPr>
        <p:spPr>
          <a:xfrm>
            <a:off x="9784080" y="3443630"/>
            <a:ext cx="950976" cy="693115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Design authority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slot.step.4.who"/>
          <p:cNvSpPr txBox="1"/>
          <p:nvPr/>
        </p:nvSpPr>
        <p:spPr>
          <a:xfrm>
            <a:off x="9784080" y="4447641"/>
            <a:ext cx="950976" cy="693115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Program board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slot.step.5.who"/>
          <p:cNvSpPr txBox="1"/>
          <p:nvPr/>
        </p:nvSpPr>
        <p:spPr>
          <a:xfrm>
            <a:off x="9784080" y="5451652"/>
            <a:ext cx="950976" cy="693115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Steering group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slot.step.1.when"/>
          <p:cNvSpPr/>
          <p:nvPr/>
        </p:nvSpPr>
        <p:spPr>
          <a:xfrm>
            <a:off x="10808208" y="1617573"/>
            <a:ext cx="859536" cy="329184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  <a:effectLst/>
        </p:spPr>
        <p:txBody>
          <a:bodyPr lIns="72000" tIns="72000" rIns="72000" bIns="72000" anchor="ctr" wrap="square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 1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slot.step.2.when"/>
          <p:cNvSpPr/>
          <p:nvPr/>
        </p:nvSpPr>
        <p:spPr>
          <a:xfrm>
            <a:off x="10808208" y="2621584"/>
            <a:ext cx="859536" cy="329184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  <a:effectLst/>
        </p:spPr>
        <p:txBody>
          <a:bodyPr lIns="72000" tIns="72000" rIns="72000" bIns="72000" anchor="ctr" wrap="square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 2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slot.step.3.when"/>
          <p:cNvSpPr/>
          <p:nvPr/>
        </p:nvSpPr>
        <p:spPr>
          <a:xfrm>
            <a:off x="10808208" y="3625596"/>
            <a:ext cx="859536" cy="329184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  <a:effectLst/>
        </p:spPr>
        <p:txBody>
          <a:bodyPr lIns="72000" tIns="72000" rIns="72000" bIns="72000" anchor="ctr" wrap="square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 5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slot.step.4.when"/>
          <p:cNvSpPr/>
          <p:nvPr/>
        </p:nvSpPr>
        <p:spPr>
          <a:xfrm>
            <a:off x="10808208" y="4629607"/>
            <a:ext cx="859536" cy="329184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  <a:effectLst/>
        </p:spPr>
        <p:txBody>
          <a:bodyPr lIns="72000" tIns="72000" rIns="72000" bIns="72000" anchor="ctr" wrap="square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 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slot.step.5.when"/>
          <p:cNvSpPr/>
          <p:nvPr/>
        </p:nvSpPr>
        <p:spPr>
          <a:xfrm>
            <a:off x="10808208" y="5633618"/>
            <a:ext cx="859536" cy="329184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  <a:effectLst/>
        </p:spPr>
        <p:txBody>
          <a:bodyPr lIns="72000" tIns="72000" rIns="72000" bIns="72000" anchor="ctr" wrap="square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 10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slot.step.1.num"/>
          <p:cNvSpPr/>
          <p:nvPr/>
        </p:nvSpPr>
        <p:spPr>
          <a:xfrm>
            <a:off x="9363456" y="1599285"/>
            <a:ext cx="365760" cy="365760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6350"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slot.step.2.num"/>
          <p:cNvSpPr/>
          <p:nvPr/>
        </p:nvSpPr>
        <p:spPr>
          <a:xfrm>
            <a:off x="9363456" y="2603296"/>
            <a:ext cx="365760" cy="365760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6350"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slot.step.3.num"/>
          <p:cNvSpPr/>
          <p:nvPr/>
        </p:nvSpPr>
        <p:spPr>
          <a:xfrm>
            <a:off x="9363456" y="3607308"/>
            <a:ext cx="365760" cy="365760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6350"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slot.step.4.num"/>
          <p:cNvSpPr/>
          <p:nvPr/>
        </p:nvSpPr>
        <p:spPr>
          <a:xfrm>
            <a:off x="9363456" y="4611319"/>
            <a:ext cx="365760" cy="365760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6350"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slot.step.5.num"/>
          <p:cNvSpPr/>
          <p:nvPr/>
        </p:nvSpPr>
        <p:spPr>
          <a:xfrm>
            <a:off x="9363456" y="5615330"/>
            <a:ext cx="365760" cy="365760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6350"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slot.forum.1.icon"/>
          <p:cNvSpPr/>
          <p:nvPr/>
        </p:nvSpPr>
        <p:spPr>
          <a:xfrm>
            <a:off x="550013" y="140421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18000"/>
                </a:moveTo>
                <a:lnTo>
                  <a:pt x="10000" y="11000"/>
                </a:lnTo>
                <a:moveTo>
                  <a:pt x="11119" y="2205"/>
                </a:moveTo>
                <a:cubicBezTo>
                  <a:pt x="11675" y="1932"/>
                  <a:pt x="12325" y="1932"/>
                  <a:pt x="12881" y="2205"/>
                </a:cubicBezTo>
                <a:lnTo>
                  <a:pt x="20721" y="6051"/>
                </a:lnTo>
                <a:cubicBezTo>
                  <a:pt x="20930" y="6153"/>
                  <a:pt x="21041" y="6387"/>
                  <a:pt x="20988" y="6613"/>
                </a:cubicBezTo>
                <a:cubicBezTo>
                  <a:pt x="20935" y="6840"/>
                  <a:pt x="20733" y="7000"/>
                  <a:pt x="20500" y="7000"/>
                </a:cubicBezTo>
                <a:lnTo>
                  <a:pt x="3500" y="7000"/>
                </a:lnTo>
                <a:cubicBezTo>
                  <a:pt x="3267" y="7000"/>
                  <a:pt x="3065" y="6840"/>
                  <a:pt x="3013" y="6613"/>
                </a:cubicBezTo>
                <a:cubicBezTo>
                  <a:pt x="2960" y="6386"/>
                  <a:pt x="3071" y="6153"/>
                  <a:pt x="3280" y="6051"/>
                </a:cubicBezTo>
                <a:close/>
                <a:moveTo>
                  <a:pt x="14000" y="18000"/>
                </a:moveTo>
                <a:lnTo>
                  <a:pt x="14000" y="11000"/>
                </a:lnTo>
                <a:moveTo>
                  <a:pt x="18000" y="18000"/>
                </a:moveTo>
                <a:lnTo>
                  <a:pt x="18000" y="11000"/>
                </a:lnTo>
                <a:moveTo>
                  <a:pt x="3000" y="22000"/>
                </a:moveTo>
                <a:lnTo>
                  <a:pt x="21000" y="22000"/>
                </a:lnTo>
                <a:moveTo>
                  <a:pt x="6000" y="18000"/>
                </a:moveTo>
                <a:lnTo>
                  <a:pt x="6000" y="11000"/>
                </a:lnTo>
              </a:path>
            </a:pathLst>
          </a:custGeom>
          <a:noFill/>
          <a:ln w="18415" cap="rnd">
            <a:solidFill>
              <a:schemeClr val="bg1"/>
            </a:solidFill>
            <a:round/>
          </a:ln>
          <a:effectLst/>
        </p:spPr>
      </p:sp>
      <p:sp>
        <p:nvSpPr>
          <p:cNvPr id="226" name="slot.forum.2.icon"/>
          <p:cNvSpPr/>
          <p:nvPr/>
        </p:nvSpPr>
        <p:spPr>
          <a:xfrm>
            <a:off x="2529188" y="140421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18415" cap="rnd">
            <a:solidFill>
              <a:schemeClr val="bg1"/>
            </a:solidFill>
            <a:round/>
          </a:ln>
          <a:effectLst/>
        </p:spPr>
      </p:sp>
      <p:sp>
        <p:nvSpPr>
          <p:cNvPr id="227" name="slot.forum.3.icon"/>
          <p:cNvSpPr/>
          <p:nvPr/>
        </p:nvSpPr>
        <p:spPr>
          <a:xfrm>
            <a:off x="4720903" y="140421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18415" cap="rnd">
            <a:solidFill>
              <a:schemeClr val="bg1"/>
            </a:solidFill>
            <a:round/>
          </a:ln>
          <a:effectLst/>
        </p:spPr>
      </p:sp>
      <p:sp>
        <p:nvSpPr>
          <p:cNvPr id="228" name="slot.forum.4.icon"/>
          <p:cNvSpPr/>
          <p:nvPr/>
        </p:nvSpPr>
        <p:spPr>
          <a:xfrm>
            <a:off x="6912616" y="140421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8415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ocess-flow:chevron-stages-detail-panel">
    <p:spTree>
      <p:nvGrpSpPr>
        <p:cNvPr id="1" name=""/>
        <p:cNvGrpSpPr/>
        <p:nvPr/>
      </p:nvGrpSpPr>
      <p:grpSpPr/>
      <p:sp>
        <p:nvSpPr>
          <p:cNvPr id="2" name="struct.current"/>
          <p:cNvSpPr/>
          <p:nvPr/>
        </p:nvSpPr>
        <p:spPr>
          <a:xfrm>
            <a:off x="6120913" y="1847088"/>
            <a:ext cx="1699542" cy="1298448"/>
          </a:xfrm>
          <a:prstGeom prst="roundRect">
            <a:avLst>
              <a:gd name="adj" fmla="val 3521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accent1"/>
            </a:solidFill>
            <a:prstDash val="solid"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slot.title"/>
          <p:cNvSpPr txBox="1"/>
          <p:nvPr/>
        </p:nvSpPr>
        <p:spPr>
          <a:xfrm>
            <a:off x="438912" y="274320"/>
            <a:ext cx="113385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Validation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is the gate that moves the forecasting pilot into launch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ot.stage.1.label"/>
          <p:cNvSpPr/>
          <p:nvPr/>
        </p:nvSpPr>
        <p:spPr>
          <a:xfrm>
            <a:off x="440286" y="1393292"/>
            <a:ext cx="1983932" cy="416791"/>
          </a:xfrm>
          <a:prstGeom prst="homePlate">
            <a:avLst>
              <a:gd name="adj" fmla="val 34771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Assess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lot.stage.2.label"/>
          <p:cNvSpPr/>
          <p:nvPr/>
        </p:nvSpPr>
        <p:spPr>
          <a:xfrm>
            <a:off x="2311499" y="1393292"/>
            <a:ext cx="1983932" cy="416791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Baseline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stage.3.label"/>
          <p:cNvSpPr/>
          <p:nvPr/>
        </p:nvSpPr>
        <p:spPr>
          <a:xfrm>
            <a:off x="4182713" y="1393292"/>
            <a:ext cx="1983932" cy="416791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Build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stage.4.label"/>
          <p:cNvSpPr/>
          <p:nvPr/>
        </p:nvSpPr>
        <p:spPr>
          <a:xfrm>
            <a:off x="6053926" y="1393292"/>
            <a:ext cx="1983932" cy="416791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Validate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stage.5.label"/>
          <p:cNvSpPr/>
          <p:nvPr/>
        </p:nvSpPr>
        <p:spPr>
          <a:xfrm>
            <a:off x="7925139" y="1393292"/>
            <a:ext cx="1983932" cy="416791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Launch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stage.6.label"/>
          <p:cNvSpPr/>
          <p:nvPr/>
        </p:nvSpPr>
        <p:spPr>
          <a:xfrm>
            <a:off x="9796354" y="1393292"/>
            <a:ext cx="1983932" cy="416791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Scale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" name="struct.stage.sep.1"/>
          <p:cNvCxnSpPr/>
          <p:nvPr/>
        </p:nvCxnSpPr>
        <p:spPr>
          <a:xfrm>
            <a:off x="2300349" y="1865376"/>
            <a:ext cx="0" cy="12618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1" name="struct.stage.sep.2"/>
          <p:cNvCxnSpPr/>
          <p:nvPr/>
        </p:nvCxnSpPr>
        <p:spPr>
          <a:xfrm>
            <a:off x="4182712" y="1865376"/>
            <a:ext cx="0" cy="12618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2" name="struct.stage.sep.3"/>
          <p:cNvCxnSpPr/>
          <p:nvPr/>
        </p:nvCxnSpPr>
        <p:spPr>
          <a:xfrm>
            <a:off x="6036938" y="1865376"/>
            <a:ext cx="0" cy="12618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3" name="struct.stage.sep.4"/>
          <p:cNvCxnSpPr/>
          <p:nvPr/>
        </p:nvCxnSpPr>
        <p:spPr>
          <a:xfrm>
            <a:off x="7904430" y="1865376"/>
            <a:ext cx="0" cy="12618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4" name="struct.stage.sep.5"/>
          <p:cNvCxnSpPr/>
          <p:nvPr/>
        </p:nvCxnSpPr>
        <p:spPr>
          <a:xfrm>
            <a:off x="9784080" y="1865376"/>
            <a:ext cx="0" cy="126187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15" name="slot.stage.1.action"/>
          <p:cNvSpPr txBox="1"/>
          <p:nvPr/>
        </p:nvSpPr>
        <p:spPr>
          <a:xfrm>
            <a:off x="582684" y="1938528"/>
            <a:ext cx="1575265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Size the value and pick the pilot lines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stage.2.action"/>
          <p:cNvSpPr txBox="1"/>
          <p:nvPr/>
        </p:nvSpPr>
        <p:spPr>
          <a:xfrm>
            <a:off x="2442748" y="1938528"/>
            <a:ext cx="1594849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Measure current forecast accuracy by line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stage.3.action"/>
          <p:cNvSpPr txBox="1"/>
          <p:nvPr/>
        </p:nvSpPr>
        <p:spPr>
          <a:xfrm>
            <a:off x="4326471" y="1938528"/>
            <a:ext cx="1566709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Train models on sales and promotion history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stage.4.action"/>
          <p:cNvSpPr txBox="1"/>
          <p:nvPr/>
        </p:nvSpPr>
        <p:spPr>
          <a:xfrm>
            <a:off x="6180698" y="1938528"/>
            <a:ext cx="1579974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Run beside the plan against gate criteria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stage.5.action"/>
          <p:cNvSpPr txBox="1"/>
          <p:nvPr/>
        </p:nvSpPr>
        <p:spPr>
          <a:xfrm>
            <a:off x="8048190" y="1938528"/>
            <a:ext cx="1592132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Move pilot lines onto model forecasts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stage.6.action"/>
          <p:cNvSpPr txBox="1"/>
          <p:nvPr/>
        </p:nvSpPr>
        <p:spPr>
          <a:xfrm>
            <a:off x="9927839" y="1938528"/>
            <a:ext cx="1592131" cy="56692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Extend to every region and category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1" name="struct.stage.1.rule"/>
          <p:cNvCxnSpPr>
            <a:cxnSpLocks/>
          </p:cNvCxnSpPr>
          <p:nvPr/>
        </p:nvCxnSpPr>
        <p:spPr>
          <a:xfrm flipH="1">
            <a:off x="582684" y="2578608"/>
            <a:ext cx="157526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2" name="struct.stage.2.rule"/>
          <p:cNvCxnSpPr>
            <a:cxnSpLocks/>
          </p:cNvCxnSpPr>
          <p:nvPr/>
        </p:nvCxnSpPr>
        <p:spPr>
          <a:xfrm flipH="1">
            <a:off x="2442748" y="2578608"/>
            <a:ext cx="159484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3" name="struct.stage.3.rule"/>
          <p:cNvCxnSpPr>
            <a:cxnSpLocks/>
          </p:cNvCxnSpPr>
          <p:nvPr/>
        </p:nvCxnSpPr>
        <p:spPr>
          <a:xfrm flipH="1">
            <a:off x="4326471" y="2578608"/>
            <a:ext cx="156670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4" name="struct.stage.4.rule"/>
          <p:cNvCxnSpPr>
            <a:cxnSpLocks/>
          </p:cNvCxnSpPr>
          <p:nvPr/>
        </p:nvCxnSpPr>
        <p:spPr>
          <a:xfrm flipH="1">
            <a:off x="6180698" y="2578608"/>
            <a:ext cx="157997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5" name="struct.stage.5.rule"/>
          <p:cNvCxnSpPr>
            <a:cxnSpLocks/>
          </p:cNvCxnSpPr>
          <p:nvPr/>
        </p:nvCxnSpPr>
        <p:spPr>
          <a:xfrm flipH="1">
            <a:off x="8048190" y="2578608"/>
            <a:ext cx="159213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26" name="struct.stage.6.rule"/>
          <p:cNvCxnSpPr>
            <a:cxnSpLocks/>
          </p:cNvCxnSpPr>
          <p:nvPr/>
        </p:nvCxnSpPr>
        <p:spPr>
          <a:xfrm flipH="1">
            <a:off x="9927839" y="2578608"/>
            <a:ext cx="159213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27" name="slot.stage.1.output"/>
          <p:cNvSpPr txBox="1"/>
          <p:nvPr/>
        </p:nvSpPr>
        <p:spPr>
          <a:xfrm>
            <a:off x="582684" y="2670048"/>
            <a:ext cx="1575265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Signed business case and scope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stage.2.output"/>
          <p:cNvSpPr txBox="1"/>
          <p:nvPr/>
        </p:nvSpPr>
        <p:spPr>
          <a:xfrm>
            <a:off x="2442748" y="2670048"/>
            <a:ext cx="1594849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Accuracy baseline by product line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stage.3.output"/>
          <p:cNvSpPr txBox="1"/>
          <p:nvPr/>
        </p:nvSpPr>
        <p:spPr>
          <a:xfrm>
            <a:off x="4326471" y="2670048"/>
            <a:ext cx="1566709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Pilot model ready for testing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stage.4.output"/>
          <p:cNvSpPr txBox="1"/>
          <p:nvPr/>
        </p:nvSpPr>
        <p:spPr>
          <a:xfrm>
            <a:off x="6180698" y="2670048"/>
            <a:ext cx="1579974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Gate decision note for launch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stage.5.output"/>
          <p:cNvSpPr txBox="1"/>
          <p:nvPr/>
        </p:nvSpPr>
        <p:spPr>
          <a:xfrm>
            <a:off x="8048190" y="2670048"/>
            <a:ext cx="1592132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Live forecasts on every pilot line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stage.6.output"/>
          <p:cNvSpPr txBox="1"/>
          <p:nvPr/>
        </p:nvSpPr>
        <p:spPr>
          <a:xfrm>
            <a:off x="9927839" y="2670048"/>
            <a:ext cx="1592131" cy="38404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Rollout plan by region and wave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panel"/>
          <p:cNvSpPr/>
          <p:nvPr/>
        </p:nvSpPr>
        <p:spPr>
          <a:xfrm>
            <a:off x="440286" y="3481756"/>
            <a:ext cx="11339994" cy="2909816"/>
          </a:xfrm>
          <a:prstGeom prst="roundRect">
            <a:avLst>
              <a:gd name="adj" fmla="val 1571"/>
            </a:avLst>
          </a:prstGeom>
          <a:solidFill>
            <a:schemeClr val="bg1">
              <a:lumMod val="95000"/>
            </a:schemeClr>
          </a:solidFill>
          <a:ln/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4" name="slot.panel.head"/>
          <p:cNvSpPr txBox="1"/>
          <p:nvPr/>
        </p:nvSpPr>
        <p:spPr>
          <a:xfrm>
            <a:off x="658368" y="3639312"/>
            <a:ext cx="10908792" cy="2743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Validate</a:t>
            </a:r>
            <a:r>
              <a:rPr lang="en-US" sz="13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passes when the pilot holds against the current plan for four straight weeks</a:t>
            </a:r>
            <a:endParaRPr lang="en-US" sz="13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col.1.head"/>
          <p:cNvSpPr txBox="1"/>
          <p:nvPr/>
        </p:nvSpPr>
        <p:spPr>
          <a:xfrm>
            <a:off x="655571" y="4067126"/>
            <a:ext cx="3376128" cy="18466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Gate criteria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criterion.1"/>
          <p:cNvSpPr txBox="1"/>
          <p:nvPr/>
        </p:nvSpPr>
        <p:spPr>
          <a:xfrm>
            <a:off x="658368" y="4425696"/>
            <a:ext cx="3364992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Accuracy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beats the current plan on most lines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criterion.2"/>
          <p:cNvSpPr txBox="1"/>
          <p:nvPr/>
        </p:nvSpPr>
        <p:spPr>
          <a:xfrm>
            <a:off x="658368" y="4750308"/>
            <a:ext cx="3364992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Bias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stays inside the agreed tolerance band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criterion.3"/>
          <p:cNvSpPr txBox="1"/>
          <p:nvPr/>
        </p:nvSpPr>
        <p:spPr>
          <a:xfrm>
            <a:off x="658368" y="5074920"/>
            <a:ext cx="3364992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Coverage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every pilot line carries a forecast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criterion.4"/>
          <p:cNvSpPr txBox="1"/>
          <p:nvPr/>
        </p:nvSpPr>
        <p:spPr>
          <a:xfrm>
            <a:off x="658368" y="5399531"/>
            <a:ext cx="3364992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Adoption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planners review outputs weekly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criterion.5"/>
          <p:cNvSpPr txBox="1"/>
          <p:nvPr/>
        </p:nvSpPr>
        <p:spPr>
          <a:xfrm>
            <a:off x="658368" y="5724144"/>
            <a:ext cx="3364992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Sign-off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business owner signs the gate note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col.3.head"/>
          <p:cNvSpPr txBox="1"/>
          <p:nvPr/>
        </p:nvSpPr>
        <p:spPr>
          <a:xfrm>
            <a:off x="8931166" y="4067126"/>
            <a:ext cx="2629898" cy="18466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Open risks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risk.3"/>
          <p:cNvSpPr/>
          <p:nvPr/>
        </p:nvSpPr>
        <p:spPr>
          <a:xfrm>
            <a:off x="8931167" y="5652975"/>
            <a:ext cx="2633830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Capacity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planner reviews clash with month end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risk.2"/>
          <p:cNvSpPr/>
          <p:nvPr/>
        </p:nvSpPr>
        <p:spPr>
          <a:xfrm>
            <a:off x="8931167" y="5031722"/>
            <a:ext cx="2633830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Promotions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uplift history is thin on new lines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risk.1"/>
          <p:cNvSpPr/>
          <p:nvPr/>
        </p:nvSpPr>
        <p:spPr>
          <a:xfrm>
            <a:off x="8931167" y="4410469"/>
            <a:ext cx="2633830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Late data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two regional feeds arrive after cutoff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" name="struct.col.3.rule"/>
          <p:cNvCxnSpPr>
            <a:cxnSpLocks/>
          </p:cNvCxnSpPr>
          <p:nvPr/>
        </p:nvCxnSpPr>
        <p:spPr>
          <a:xfrm flipH="1">
            <a:off x="8931167" y="4313351"/>
            <a:ext cx="2633830" cy="0"/>
          </a:xfrm>
          <a:prstGeom prst="line">
            <a:avLst/>
          </a:prstGeom>
          <a:ln w="12700">
            <a:solidFill>
              <a:schemeClr val="bg1">
                <a:lumMod val="55000"/>
              </a:schemeClr>
            </a:solidFill>
          </a:ln>
          <a:effectLst/>
        </p:spPr>
      </p:cxnSp>
      <p:cxnSp>
        <p:nvCxnSpPr>
          <p:cNvPr id="46" name="struct.col.sep.2"/>
          <p:cNvCxnSpPr>
            <a:cxnSpLocks/>
          </p:cNvCxnSpPr>
          <p:nvPr/>
        </p:nvCxnSpPr>
        <p:spPr>
          <a:xfrm flipH="1" flipV="1">
            <a:off x="8700628" y="4067126"/>
            <a:ext cx="1967" cy="2105719"/>
          </a:xfrm>
          <a:prstGeom prst="line">
            <a:avLst/>
          </a:prstGeom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47" name="slot.col.2.head"/>
          <p:cNvSpPr txBox="1"/>
          <p:nvPr/>
        </p:nvSpPr>
        <p:spPr>
          <a:xfrm>
            <a:off x="4488841" y="4067126"/>
            <a:ext cx="3983217" cy="18466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Owners and actions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uct.owner.3"/>
          <p:cNvSpPr/>
          <p:nvPr/>
        </p:nvSpPr>
        <p:spPr>
          <a:xfrm>
            <a:off x="4488841" y="5652975"/>
            <a:ext cx="3983217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>
            <a:noAutofit/>
          </a:bodyPr>
          <a:lstStyle/>
          <a:p>
            <a:pPr>
              <a:lnSpc>
                <a:spcPts val="1350"/>
              </a:lnSpc>
            </a:pPr>
            <a:endParaRPr lang="en-US" sz="1100">
              <a:solidFill>
                <a:schemeClr val="tx1">
                  <a:lumMod val="90000"/>
                  <a:lumOff val="10000"/>
                </a:schemeClr>
              </a:solidFill>
              <a:latin typeface="+mn-lt"/>
              <a:cs typeface="Calibri" pitchFamily="34" charset="-120"/>
            </a:endParaRPr>
          </a:p>
        </p:txBody>
      </p:sp>
      <p:sp>
        <p:nvSpPr>
          <p:cNvPr id="49" name="struct.owner.2"/>
          <p:cNvSpPr/>
          <p:nvPr/>
        </p:nvSpPr>
        <p:spPr>
          <a:xfrm>
            <a:off x="4488841" y="5031722"/>
            <a:ext cx="3983217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>
            <a:noAutofit/>
          </a:bodyPr>
          <a:lstStyle/>
          <a:p>
            <a:pPr>
              <a:lnSpc>
                <a:spcPts val="1350"/>
              </a:lnSpc>
            </a:pPr>
            <a:endParaRPr lang="en-US" sz="1100">
              <a:solidFill>
                <a:schemeClr val="tx1">
                  <a:lumMod val="90000"/>
                  <a:lumOff val="10000"/>
                </a:schemeClr>
              </a:solidFill>
              <a:latin typeface="+mn-lt"/>
              <a:cs typeface="Calibri" pitchFamily="34" charset="-120"/>
            </a:endParaRPr>
          </a:p>
        </p:txBody>
      </p:sp>
      <p:sp>
        <p:nvSpPr>
          <p:cNvPr id="50" name="struct.owner.1"/>
          <p:cNvSpPr/>
          <p:nvPr/>
        </p:nvSpPr>
        <p:spPr>
          <a:xfrm>
            <a:off x="4488841" y="4410469"/>
            <a:ext cx="3983217" cy="519870"/>
          </a:xfrm>
          <a:prstGeom prst="roundRect">
            <a:avLst>
              <a:gd name="adj" fmla="val 8795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tIns="72000" bIns="72000" anchor="ctr">
            <a:noAutofit/>
          </a:bodyPr>
          <a:lstStyle/>
          <a:p>
            <a:pPr>
              <a:lnSpc>
                <a:spcPts val="1350"/>
              </a:lnSpc>
            </a:pPr>
            <a:endParaRPr lang="en-US" sz="110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cxnSp>
        <p:nvCxnSpPr>
          <p:cNvPr id="51" name="struct.col.2.rule"/>
          <p:cNvCxnSpPr>
            <a:cxnSpLocks/>
          </p:cNvCxnSpPr>
          <p:nvPr/>
        </p:nvCxnSpPr>
        <p:spPr>
          <a:xfrm flipH="1">
            <a:off x="4488841" y="4313351"/>
            <a:ext cx="3983217" cy="0"/>
          </a:xfrm>
          <a:prstGeom prst="line">
            <a:avLst/>
          </a:prstGeom>
          <a:ln w="12700">
            <a:solidFill>
              <a:schemeClr val="bg1">
                <a:lumMod val="55000"/>
              </a:schemeClr>
            </a:solidFill>
          </a:ln>
          <a:effectLst/>
        </p:spPr>
      </p:cxnSp>
      <p:cxnSp>
        <p:nvCxnSpPr>
          <p:cNvPr id="52" name="struct.col.1.rule"/>
          <p:cNvCxnSpPr>
            <a:cxnSpLocks/>
          </p:cNvCxnSpPr>
          <p:nvPr/>
        </p:nvCxnSpPr>
        <p:spPr>
          <a:xfrm flipH="1">
            <a:off x="660320" y="4313351"/>
            <a:ext cx="3369414" cy="0"/>
          </a:xfrm>
          <a:prstGeom prst="line">
            <a:avLst/>
          </a:prstGeom>
          <a:ln w="12700">
            <a:solidFill>
              <a:schemeClr val="bg1">
                <a:lumMod val="55000"/>
              </a:schemeClr>
            </a:solidFill>
          </a:ln>
          <a:effectLst/>
        </p:spPr>
      </p:cxnSp>
      <p:cxnSp>
        <p:nvCxnSpPr>
          <p:cNvPr id="53" name="struct.col.sep.1"/>
          <p:cNvCxnSpPr>
            <a:cxnSpLocks/>
          </p:cNvCxnSpPr>
          <p:nvPr/>
        </p:nvCxnSpPr>
        <p:spPr>
          <a:xfrm flipH="1" flipV="1">
            <a:off x="4258304" y="4067126"/>
            <a:ext cx="1967" cy="2105719"/>
          </a:xfrm>
          <a:prstGeom prst="line">
            <a:avLst/>
          </a:prstGeom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54" name="slot.owner.1.tag"/>
          <p:cNvSpPr/>
          <p:nvPr/>
        </p:nvSpPr>
        <p:spPr>
          <a:xfrm>
            <a:off x="4562632" y="4485323"/>
            <a:ext cx="951689" cy="370162"/>
          </a:xfrm>
          <a:prstGeom prst="roundRect">
            <a:avLst>
              <a:gd name="adj" fmla="val 13641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Planning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owner.2.tag"/>
          <p:cNvSpPr/>
          <p:nvPr/>
        </p:nvSpPr>
        <p:spPr>
          <a:xfrm>
            <a:off x="4562632" y="5106576"/>
            <a:ext cx="951689" cy="370162"/>
          </a:xfrm>
          <a:prstGeom prst="roundRect">
            <a:avLst>
              <a:gd name="adj" fmla="val 13641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Data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owner.3.tag"/>
          <p:cNvSpPr/>
          <p:nvPr/>
        </p:nvSpPr>
        <p:spPr>
          <a:xfrm>
            <a:off x="4562632" y="5727829"/>
            <a:ext cx="951689" cy="370162"/>
          </a:xfrm>
          <a:prstGeom prst="roundRect">
            <a:avLst>
              <a:gd name="adj" fmla="val 13641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wrap="square" tIns="72000" bIns="72000" anchor="ctr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Finance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owner.1.body"/>
          <p:cNvSpPr txBox="1"/>
          <p:nvPr/>
        </p:nvSpPr>
        <p:spPr>
          <a:xfrm>
            <a:off x="5697469" y="4500486"/>
            <a:ext cx="2627006" cy="339837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Compare model and planner forecasts every week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owner.2.body"/>
          <p:cNvSpPr txBox="1"/>
          <p:nvPr/>
        </p:nvSpPr>
        <p:spPr>
          <a:xfrm>
            <a:off x="5697469" y="5121739"/>
            <a:ext cx="2627006" cy="339837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Fix late shipment feeds before each weekly run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owner.3.body"/>
          <p:cNvSpPr txBox="1"/>
          <p:nvPr/>
        </p:nvSpPr>
        <p:spPr>
          <a:xfrm>
            <a:off x="5697469" y="5742992"/>
            <a:ext cx="2627006" cy="339837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Confirm the savings logic behind the business case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stage.1.icon"/>
          <p:cNvSpPr/>
          <p:nvPr/>
        </p:nvSpPr>
        <p:spPr>
          <a:xfrm>
            <a:off x="1237183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sp>
        <p:nvSpPr>
          <p:cNvPr id="61" name="slot.stage.2.icon"/>
          <p:cNvSpPr/>
          <p:nvPr/>
        </p:nvSpPr>
        <p:spPr>
          <a:xfrm>
            <a:off x="3105302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sp>
        <p:nvSpPr>
          <p:cNvPr id="62" name="slot.stage.3.icon"/>
          <p:cNvSpPr/>
          <p:nvPr/>
        </p:nvSpPr>
        <p:spPr>
          <a:xfrm>
            <a:off x="4977994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sp>
        <p:nvSpPr>
          <p:cNvPr id="63" name="slot.stage.4.icon"/>
          <p:cNvSpPr/>
          <p:nvPr/>
        </p:nvSpPr>
        <p:spPr>
          <a:xfrm>
            <a:off x="6849770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9000" y="14000"/>
                </a:moveTo>
                <a:lnTo>
                  <a:pt x="11000" y="16000"/>
                </a:lnTo>
                <a:lnTo>
                  <a:pt x="15000" y="12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sp>
        <p:nvSpPr>
          <p:cNvPr id="64" name="slot.stage.5.icon"/>
          <p:cNvSpPr/>
          <p:nvPr/>
        </p:nvSpPr>
        <p:spPr>
          <a:xfrm>
            <a:off x="8722462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5000"/>
                </a:moveTo>
                <a:lnTo>
                  <a:pt x="12000" y="20000"/>
                </a:lnTo>
                <a:cubicBezTo>
                  <a:pt x="12000" y="20000"/>
                  <a:pt x="15030" y="19450"/>
                  <a:pt x="16000" y="18000"/>
                </a:cubicBezTo>
                <a:cubicBezTo>
                  <a:pt x="17080" y="16380"/>
                  <a:pt x="16000" y="13000"/>
                  <a:pt x="16000" y="13000"/>
                </a:cubicBezTo>
                <a:moveTo>
                  <a:pt x="4500" y="16500"/>
                </a:moveTo>
                <a:cubicBezTo>
                  <a:pt x="3000" y="17760"/>
                  <a:pt x="2500" y="21500"/>
                  <a:pt x="2500" y="21500"/>
                </a:cubicBezTo>
                <a:cubicBezTo>
                  <a:pt x="2500" y="21500"/>
                  <a:pt x="6240" y="21000"/>
                  <a:pt x="7500" y="19500"/>
                </a:cubicBezTo>
                <a:cubicBezTo>
                  <a:pt x="8210" y="18660"/>
                  <a:pt x="8200" y="17370"/>
                  <a:pt x="7410" y="16590"/>
                </a:cubicBezTo>
                <a:cubicBezTo>
                  <a:pt x="6605" y="15822"/>
                  <a:pt x="5351" y="15783"/>
                  <a:pt x="4500" y="16500"/>
                </a:cubicBezTo>
                <a:moveTo>
                  <a:pt x="9000" y="12000"/>
                </a:moveTo>
                <a:cubicBezTo>
                  <a:pt x="9532" y="10619"/>
                  <a:pt x="10202" y="9296"/>
                  <a:pt x="11000" y="8050"/>
                </a:cubicBezTo>
                <a:cubicBezTo>
                  <a:pt x="13369" y="4262"/>
                  <a:pt x="17532" y="1972"/>
                  <a:pt x="22000" y="2000"/>
                </a:cubicBezTo>
                <a:cubicBezTo>
                  <a:pt x="22000" y="4720"/>
                  <a:pt x="21220" y="9500"/>
                  <a:pt x="16000" y="13000"/>
                </a:cubicBezTo>
                <a:cubicBezTo>
                  <a:pt x="14737" y="13798"/>
                  <a:pt x="13397" y="14468"/>
                  <a:pt x="12000" y="15000"/>
                </a:cubicBezTo>
                <a:close/>
                <a:moveTo>
                  <a:pt x="9000" y="12000"/>
                </a:moveTo>
                <a:lnTo>
                  <a:pt x="4000" y="12000"/>
                </a:lnTo>
                <a:cubicBezTo>
                  <a:pt x="4000" y="12000"/>
                  <a:pt x="4550" y="8970"/>
                  <a:pt x="6000" y="8000"/>
                </a:cubicBezTo>
                <a:cubicBezTo>
                  <a:pt x="7620" y="6920"/>
                  <a:pt x="11000" y="8050"/>
                  <a:pt x="11000" y="8050"/>
                </a:cubicBez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sp>
        <p:nvSpPr>
          <p:cNvPr id="65" name="slot.stage.6.icon"/>
          <p:cNvSpPr/>
          <p:nvPr/>
        </p:nvSpPr>
        <p:spPr>
          <a:xfrm>
            <a:off x="10589666" y="905256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7000"/>
                </a:moveTo>
                <a:lnTo>
                  <a:pt x="22000" y="7000"/>
                </a:lnTo>
                <a:lnTo>
                  <a:pt x="22000" y="13000"/>
                </a:lnTo>
                <a:moveTo>
                  <a:pt x="22000" y="7000"/>
                </a:moveTo>
                <a:lnTo>
                  <a:pt x="13500" y="15500"/>
                </a:lnTo>
                <a:lnTo>
                  <a:pt x="8500" y="10500"/>
                </a:lnTo>
                <a:lnTo>
                  <a:pt x="2000" y="17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hased-roadmap:wave-fanout-sites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38912" y="201168"/>
            <a:ext cx="1133856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Four waves take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twelve sites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live in nine months on one foundation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panel"/>
          <p:cNvSpPr/>
          <p:nvPr/>
        </p:nvSpPr>
        <p:spPr>
          <a:xfrm>
            <a:off x="454851" y="883536"/>
            <a:ext cx="2411180" cy="3802763"/>
          </a:xfrm>
          <a:prstGeom prst="roundRect">
            <a:avLst>
              <a:gd name="adj" fmla="val 1896"/>
            </a:avLst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slot.panel.head"/>
          <p:cNvSpPr txBox="1"/>
          <p:nvPr/>
        </p:nvSpPr>
        <p:spPr>
          <a:xfrm>
            <a:off x="585216" y="950976"/>
            <a:ext cx="2194560" cy="36576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Go-live checks per site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lot.check.1.body"/>
          <p:cNvSpPr txBox="1"/>
          <p:nvPr/>
        </p:nvSpPr>
        <p:spPr>
          <a:xfrm>
            <a:off x="1005840" y="1344168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Data quality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Master data passes audit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check.2.body"/>
          <p:cNvSpPr txBox="1"/>
          <p:nvPr/>
        </p:nvSpPr>
        <p:spPr>
          <a:xfrm>
            <a:off x="1005840" y="1892807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Process fit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Steps mapped to standard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check.3.body"/>
          <p:cNvSpPr txBox="1"/>
          <p:nvPr/>
        </p:nvSpPr>
        <p:spPr>
          <a:xfrm>
            <a:off x="1005840" y="2441448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Super users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trained leads per shift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check.4.body"/>
          <p:cNvSpPr txBox="1"/>
          <p:nvPr/>
        </p:nvSpPr>
        <p:spPr>
          <a:xfrm>
            <a:off x="1005840" y="2990088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Cutover plan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Rollback proven in rehearsal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check.5.body"/>
          <p:cNvSpPr txBox="1"/>
          <p:nvPr/>
        </p:nvSpPr>
        <p:spPr>
          <a:xfrm>
            <a:off x="1005840" y="3538728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Interfaces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End-to-end tests signed off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check.6.body"/>
          <p:cNvSpPr txBox="1"/>
          <p:nvPr/>
        </p:nvSpPr>
        <p:spPr>
          <a:xfrm>
            <a:off x="1005840" y="4087368"/>
            <a:ext cx="1755648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Hypercare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Desk staffed for four weeks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" name="struct.check.rule.1"/>
          <p:cNvCxnSpPr>
            <a:cxnSpLocks/>
          </p:cNvCxnSpPr>
          <p:nvPr/>
        </p:nvCxnSpPr>
        <p:spPr>
          <a:xfrm>
            <a:off x="586728" y="1875801"/>
            <a:ext cx="2147426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2" name="struct.check.rule.2"/>
          <p:cNvCxnSpPr>
            <a:cxnSpLocks/>
          </p:cNvCxnSpPr>
          <p:nvPr/>
        </p:nvCxnSpPr>
        <p:spPr>
          <a:xfrm>
            <a:off x="586728" y="2423285"/>
            <a:ext cx="2147426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3" name="struct.check.rule.3"/>
          <p:cNvCxnSpPr>
            <a:cxnSpLocks/>
          </p:cNvCxnSpPr>
          <p:nvPr/>
        </p:nvCxnSpPr>
        <p:spPr>
          <a:xfrm>
            <a:off x="586728" y="2970769"/>
            <a:ext cx="2147426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4" name="struct.check.rule.4"/>
          <p:cNvCxnSpPr>
            <a:cxnSpLocks/>
          </p:cNvCxnSpPr>
          <p:nvPr/>
        </p:nvCxnSpPr>
        <p:spPr>
          <a:xfrm>
            <a:off x="586728" y="3521588"/>
            <a:ext cx="2147426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15" name="struct.check.rule.5"/>
          <p:cNvCxnSpPr>
            <a:cxnSpLocks/>
          </p:cNvCxnSpPr>
          <p:nvPr/>
        </p:nvCxnSpPr>
        <p:spPr>
          <a:xfrm>
            <a:off x="586728" y="4069072"/>
            <a:ext cx="2147426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16" name="slot.check.1.num"/>
          <p:cNvSpPr txBox="1"/>
          <p:nvPr/>
        </p:nvSpPr>
        <p:spPr>
          <a:xfrm>
            <a:off x="586728" y="1465325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01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check.2.num"/>
          <p:cNvSpPr txBox="1"/>
          <p:nvPr/>
        </p:nvSpPr>
        <p:spPr>
          <a:xfrm>
            <a:off x="586728" y="2012809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02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check.3.num"/>
          <p:cNvSpPr txBox="1"/>
          <p:nvPr/>
        </p:nvSpPr>
        <p:spPr>
          <a:xfrm>
            <a:off x="586728" y="2560293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03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check.4.num"/>
          <p:cNvSpPr txBox="1"/>
          <p:nvPr/>
        </p:nvSpPr>
        <p:spPr>
          <a:xfrm>
            <a:off x="586728" y="3109444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04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check.5.num"/>
          <p:cNvSpPr txBox="1"/>
          <p:nvPr/>
        </p:nvSpPr>
        <p:spPr>
          <a:xfrm>
            <a:off x="586728" y="3658596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05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check.6.num"/>
          <p:cNvSpPr txBox="1"/>
          <p:nvPr/>
        </p:nvSpPr>
        <p:spPr>
          <a:xfrm>
            <a:off x="586728" y="4206076"/>
            <a:ext cx="323732" cy="273470"/>
          </a:xfrm>
          <a:prstGeom prst="roundRect">
            <a:avLst/>
          </a:prstGeom>
          <a:solidFill>
            <a:schemeClr val="accent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06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foundation"/>
          <p:cNvSpPr/>
          <p:nvPr/>
        </p:nvSpPr>
        <p:spPr>
          <a:xfrm>
            <a:off x="3060400" y="883536"/>
            <a:ext cx="8734450" cy="734248"/>
          </a:xfrm>
          <a:prstGeom prst="roundRect">
            <a:avLst>
              <a:gd name="adj" fmla="val 5886"/>
            </a:avLst>
          </a:prstGeom>
          <a:solidFill>
            <a:schemeClr val="tx1">
              <a:lumMod val="90000"/>
              <a:lumOff val="10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3" name="slot.foundation.part.1"/>
          <p:cNvSpPr txBox="1"/>
          <p:nvPr/>
        </p:nvSpPr>
        <p:spPr>
          <a:xfrm>
            <a:off x="5323413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Data model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lot.foundation.part.2"/>
          <p:cNvSpPr txBox="1"/>
          <p:nvPr/>
        </p:nvSpPr>
        <p:spPr>
          <a:xfrm>
            <a:off x="6392498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Interfaces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foundation.part.3"/>
          <p:cNvSpPr txBox="1"/>
          <p:nvPr/>
        </p:nvSpPr>
        <p:spPr>
          <a:xfrm>
            <a:off x="7461583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Security roles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foundation.part.4"/>
          <p:cNvSpPr txBox="1"/>
          <p:nvPr/>
        </p:nvSpPr>
        <p:spPr>
          <a:xfrm>
            <a:off x="8530668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Reports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foundation.part.5"/>
          <p:cNvSpPr txBox="1"/>
          <p:nvPr/>
        </p:nvSpPr>
        <p:spPr>
          <a:xfrm>
            <a:off x="9599753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Training kit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foundation.part.6"/>
          <p:cNvSpPr txBox="1"/>
          <p:nvPr/>
        </p:nvSpPr>
        <p:spPr>
          <a:xfrm>
            <a:off x="10668838" y="1031909"/>
            <a:ext cx="961375" cy="437502"/>
          </a:xfrm>
          <a:prstGeom prst="roundRect">
            <a:avLst/>
          </a:prstGeom>
          <a:solidFill>
            <a:schemeClr val="bg1"/>
          </a:solidFill>
          <a:ln/>
          <a:effectLst/>
        </p:spPr>
        <p:txBody>
          <a:bodyPr wrap="square" lIns="36576" tIns="18288" rIns="36576" bIns="18288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Support desk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foundation.label"/>
          <p:cNvSpPr txBox="1"/>
          <p:nvPr/>
        </p:nvSpPr>
        <p:spPr>
          <a:xfrm>
            <a:off x="3712463" y="941832"/>
            <a:ext cx="1536192" cy="621792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 foundation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Built once, reused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0" name="struct.wave.1.fan.1"/>
          <p:cNvCxnSpPr>
            <a:cxnSpLocks/>
          </p:cNvCxnSpPr>
          <p:nvPr/>
        </p:nvCxnSpPr>
        <p:spPr>
          <a:xfrm rot="5400000">
            <a:off x="3258245" y="2582321"/>
            <a:ext cx="969103" cy="736965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1" name="struct.wave.1.fan.2"/>
          <p:cNvCxnSpPr>
            <a:cxnSpLocks/>
          </p:cNvCxnSpPr>
          <p:nvPr/>
        </p:nvCxnSpPr>
        <p:spPr>
          <a:xfrm>
            <a:off x="4111278" y="2466252"/>
            <a:ext cx="1" cy="969103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2" name="struct.wave.1.fan.3"/>
          <p:cNvCxnSpPr>
            <a:cxnSpLocks/>
          </p:cNvCxnSpPr>
          <p:nvPr/>
        </p:nvCxnSpPr>
        <p:spPr>
          <a:xfrm rot="16200000" flipH="1">
            <a:off x="3995210" y="2582319"/>
            <a:ext cx="969103" cy="736967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sp>
        <p:nvSpPr>
          <p:cNvPr id="33" name="slot.wave.2.head"/>
          <p:cNvSpPr/>
          <p:nvPr/>
        </p:nvSpPr>
        <p:spPr>
          <a:xfrm>
            <a:off x="5271298" y="2037055"/>
            <a:ext cx="2101755" cy="429197"/>
          </a:xfrm>
          <a:prstGeom prst="roundRect">
            <a:avLst>
              <a:gd name="adj" fmla="val 1153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2 · Months 3-5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" name="struct.wave.2.fan.1"/>
          <p:cNvCxnSpPr>
            <a:cxnSpLocks/>
          </p:cNvCxnSpPr>
          <p:nvPr/>
        </p:nvCxnSpPr>
        <p:spPr>
          <a:xfrm rot="5400000">
            <a:off x="5469143" y="2582321"/>
            <a:ext cx="969103" cy="736965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5" name="struct.wave.2.fan.2"/>
          <p:cNvCxnSpPr>
            <a:cxnSpLocks/>
          </p:cNvCxnSpPr>
          <p:nvPr/>
        </p:nvCxnSpPr>
        <p:spPr>
          <a:xfrm>
            <a:off x="6322176" y="2466252"/>
            <a:ext cx="1" cy="969103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6" name="struct.wave.2.fan.3"/>
          <p:cNvCxnSpPr>
            <a:cxnSpLocks/>
          </p:cNvCxnSpPr>
          <p:nvPr/>
        </p:nvCxnSpPr>
        <p:spPr>
          <a:xfrm rot="16200000" flipH="1">
            <a:off x="6206108" y="2582319"/>
            <a:ext cx="969103" cy="736967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7" name="struct.wave.3.fan.1"/>
          <p:cNvCxnSpPr>
            <a:cxnSpLocks/>
          </p:cNvCxnSpPr>
          <p:nvPr/>
        </p:nvCxnSpPr>
        <p:spPr>
          <a:xfrm rot="5400000">
            <a:off x="7680041" y="2582321"/>
            <a:ext cx="969103" cy="736965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8" name="struct.wave.3.fan.2"/>
          <p:cNvCxnSpPr>
            <a:cxnSpLocks/>
          </p:cNvCxnSpPr>
          <p:nvPr/>
        </p:nvCxnSpPr>
        <p:spPr>
          <a:xfrm>
            <a:off x="8533074" y="2466252"/>
            <a:ext cx="1" cy="969103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39" name="struct.wave.3.fan.3"/>
          <p:cNvCxnSpPr>
            <a:cxnSpLocks/>
          </p:cNvCxnSpPr>
          <p:nvPr/>
        </p:nvCxnSpPr>
        <p:spPr>
          <a:xfrm rot="16200000" flipH="1">
            <a:off x="8417006" y="2582319"/>
            <a:ext cx="969103" cy="736967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sp>
        <p:nvSpPr>
          <p:cNvPr id="40" name="slot.wave.1.head"/>
          <p:cNvSpPr/>
          <p:nvPr/>
        </p:nvSpPr>
        <p:spPr>
          <a:xfrm>
            <a:off x="3060400" y="2037055"/>
            <a:ext cx="2101755" cy="429197"/>
          </a:xfrm>
          <a:prstGeom prst="roundRect">
            <a:avLst>
              <a:gd name="adj" fmla="val 1153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1 · Months 1-3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wave.4.head"/>
          <p:cNvSpPr/>
          <p:nvPr/>
        </p:nvSpPr>
        <p:spPr>
          <a:xfrm>
            <a:off x="9693093" y="2037055"/>
            <a:ext cx="2101755" cy="429197"/>
          </a:xfrm>
          <a:prstGeom prst="roundRect">
            <a:avLst>
              <a:gd name="adj" fmla="val 1153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4 · Months 7-9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2" name="struct.wave.4.fan.1"/>
          <p:cNvCxnSpPr>
            <a:cxnSpLocks/>
          </p:cNvCxnSpPr>
          <p:nvPr/>
        </p:nvCxnSpPr>
        <p:spPr>
          <a:xfrm rot="5400000">
            <a:off x="9890938" y="2582321"/>
            <a:ext cx="969103" cy="736965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43" name="struct.wave.4.fan.2"/>
          <p:cNvCxnSpPr>
            <a:cxnSpLocks/>
          </p:cNvCxnSpPr>
          <p:nvPr/>
        </p:nvCxnSpPr>
        <p:spPr>
          <a:xfrm>
            <a:off x="10743971" y="2466252"/>
            <a:ext cx="1" cy="969103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44" name="struct.wave.4.fan.3"/>
          <p:cNvCxnSpPr>
            <a:cxnSpLocks/>
          </p:cNvCxnSpPr>
          <p:nvPr/>
        </p:nvCxnSpPr>
        <p:spPr>
          <a:xfrm rot="16200000" flipH="1">
            <a:off x="10627903" y="2582319"/>
            <a:ext cx="969103" cy="736967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sp>
        <p:nvSpPr>
          <p:cNvPr id="45" name="slot.wave.3.head"/>
          <p:cNvSpPr/>
          <p:nvPr/>
        </p:nvSpPr>
        <p:spPr>
          <a:xfrm>
            <a:off x="7482196" y="2037055"/>
            <a:ext cx="2101755" cy="429197"/>
          </a:xfrm>
          <a:prstGeom prst="roundRect">
            <a:avLst>
              <a:gd name="adj" fmla="val 1153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3 · Months 5-7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truct.site.1"/>
          <p:cNvSpPr/>
          <p:nvPr/>
        </p:nvSpPr>
        <p:spPr>
          <a:xfrm>
            <a:off x="3060401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7" name="struct.site.2"/>
          <p:cNvSpPr/>
          <p:nvPr/>
        </p:nvSpPr>
        <p:spPr>
          <a:xfrm>
            <a:off x="3797367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8" name="struct.site.3"/>
          <p:cNvSpPr/>
          <p:nvPr/>
        </p:nvSpPr>
        <p:spPr>
          <a:xfrm>
            <a:off x="4534333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9" name="struct.site.4"/>
          <p:cNvSpPr/>
          <p:nvPr/>
        </p:nvSpPr>
        <p:spPr>
          <a:xfrm>
            <a:off x="5271299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0" name="struct.site.5"/>
          <p:cNvSpPr/>
          <p:nvPr/>
        </p:nvSpPr>
        <p:spPr>
          <a:xfrm>
            <a:off x="6008265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1" name="struct.site.6"/>
          <p:cNvSpPr/>
          <p:nvPr/>
        </p:nvSpPr>
        <p:spPr>
          <a:xfrm>
            <a:off x="6745231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2" name="struct.site.7"/>
          <p:cNvSpPr/>
          <p:nvPr/>
        </p:nvSpPr>
        <p:spPr>
          <a:xfrm>
            <a:off x="7482197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3" name="struct.site.8"/>
          <p:cNvSpPr/>
          <p:nvPr/>
        </p:nvSpPr>
        <p:spPr>
          <a:xfrm>
            <a:off x="8219163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4" name="struct.site.9"/>
          <p:cNvSpPr/>
          <p:nvPr/>
        </p:nvSpPr>
        <p:spPr>
          <a:xfrm>
            <a:off x="8956129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5" name="struct.site.10"/>
          <p:cNvSpPr/>
          <p:nvPr/>
        </p:nvSpPr>
        <p:spPr>
          <a:xfrm>
            <a:off x="9693094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6" name="struct.site.11"/>
          <p:cNvSpPr/>
          <p:nvPr/>
        </p:nvSpPr>
        <p:spPr>
          <a:xfrm>
            <a:off x="10430060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struct.site.12"/>
          <p:cNvSpPr/>
          <p:nvPr/>
        </p:nvSpPr>
        <p:spPr>
          <a:xfrm>
            <a:off x="11167026" y="3435355"/>
            <a:ext cx="627824" cy="1250944"/>
          </a:xfrm>
          <a:prstGeom prst="roundRect">
            <a:avLst>
              <a:gd name="adj" fmla="val 5886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slot.site.1.chip"/>
          <p:cNvSpPr txBox="1"/>
          <p:nvPr/>
        </p:nvSpPr>
        <p:spPr>
          <a:xfrm>
            <a:off x="3115125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Jan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site.2.chip"/>
          <p:cNvSpPr txBox="1"/>
          <p:nvPr/>
        </p:nvSpPr>
        <p:spPr>
          <a:xfrm>
            <a:off x="3852091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Feb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site.3.chip"/>
          <p:cNvSpPr txBox="1"/>
          <p:nvPr/>
        </p:nvSpPr>
        <p:spPr>
          <a:xfrm>
            <a:off x="4589057" y="4399545"/>
            <a:ext cx="518376" cy="238379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Mar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site.4.chip"/>
          <p:cNvSpPr txBox="1"/>
          <p:nvPr/>
        </p:nvSpPr>
        <p:spPr>
          <a:xfrm>
            <a:off x="5326023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Mar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site.5.chip"/>
          <p:cNvSpPr txBox="1"/>
          <p:nvPr/>
        </p:nvSpPr>
        <p:spPr>
          <a:xfrm>
            <a:off x="6062989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Apr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site.6.chip"/>
          <p:cNvSpPr txBox="1"/>
          <p:nvPr/>
        </p:nvSpPr>
        <p:spPr>
          <a:xfrm>
            <a:off x="6799955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May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site.7.chip"/>
          <p:cNvSpPr txBox="1"/>
          <p:nvPr/>
        </p:nvSpPr>
        <p:spPr>
          <a:xfrm>
            <a:off x="7536921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May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lot.site.8.chip"/>
          <p:cNvSpPr txBox="1"/>
          <p:nvPr/>
        </p:nvSpPr>
        <p:spPr>
          <a:xfrm>
            <a:off x="8273887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Jun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site.9.chip"/>
          <p:cNvSpPr txBox="1"/>
          <p:nvPr/>
        </p:nvSpPr>
        <p:spPr>
          <a:xfrm>
            <a:off x="9010853" y="4399545"/>
            <a:ext cx="518376" cy="238379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Jul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site.10.chip"/>
          <p:cNvSpPr txBox="1"/>
          <p:nvPr/>
        </p:nvSpPr>
        <p:spPr>
          <a:xfrm>
            <a:off x="9747819" y="4399545"/>
            <a:ext cx="518376" cy="238379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Jul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ite.11.chip"/>
          <p:cNvSpPr txBox="1"/>
          <p:nvPr/>
        </p:nvSpPr>
        <p:spPr>
          <a:xfrm>
            <a:off x="10484785" y="4399545"/>
            <a:ext cx="518376" cy="238379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Aug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lot.site.12.chip"/>
          <p:cNvSpPr txBox="1"/>
          <p:nvPr/>
        </p:nvSpPr>
        <p:spPr>
          <a:xfrm>
            <a:off x="11221750" y="4400799"/>
            <a:ext cx="518376" cy="235871"/>
          </a:xfrm>
          <a:prstGeom prst="roundRect">
            <a:avLst>
              <a:gd name="adj" fmla="val 15278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wrap="square" lIns="18288" tIns="0" rIns="18288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175" algn="ctr">
              <a:lnSpc>
                <a:spcPct val="114000"/>
              </a:lnSpc>
              <a:defRPr sz="900" b="1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defRPr>
            </a:lvl1pPr>
          </a:lstStyle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Sep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site.1.value"/>
          <p:cNvSpPr txBox="1"/>
          <p:nvPr/>
        </p:nvSpPr>
        <p:spPr>
          <a:xfrm>
            <a:off x="3087833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140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lot.site.2.value"/>
          <p:cNvSpPr txBox="1"/>
          <p:nvPr/>
        </p:nvSpPr>
        <p:spPr>
          <a:xfrm>
            <a:off x="3824799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320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lot.site.3.value"/>
          <p:cNvSpPr txBox="1"/>
          <p:nvPr/>
        </p:nvSpPr>
        <p:spPr>
          <a:xfrm>
            <a:off x="4561765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90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lot.site.5.value"/>
          <p:cNvSpPr txBox="1"/>
          <p:nvPr/>
        </p:nvSpPr>
        <p:spPr>
          <a:xfrm>
            <a:off x="6035697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260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site.6.value"/>
          <p:cNvSpPr txBox="1"/>
          <p:nvPr/>
        </p:nvSpPr>
        <p:spPr>
          <a:xfrm>
            <a:off x="6772663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75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lot.site.4.value"/>
          <p:cNvSpPr txBox="1"/>
          <p:nvPr/>
        </p:nvSpPr>
        <p:spPr>
          <a:xfrm>
            <a:off x="5298731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110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lot.site.7.value"/>
          <p:cNvSpPr txBox="1"/>
          <p:nvPr/>
        </p:nvSpPr>
        <p:spPr>
          <a:xfrm>
            <a:off x="7509628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160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lot.site.8.value"/>
          <p:cNvSpPr txBox="1"/>
          <p:nvPr/>
        </p:nvSpPr>
        <p:spPr>
          <a:xfrm>
            <a:off x="8246594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410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lot.site.9.value"/>
          <p:cNvSpPr txBox="1"/>
          <p:nvPr/>
        </p:nvSpPr>
        <p:spPr>
          <a:xfrm>
            <a:off x="8983561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120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lot.site.10.value"/>
          <p:cNvSpPr txBox="1"/>
          <p:nvPr/>
        </p:nvSpPr>
        <p:spPr>
          <a:xfrm>
            <a:off x="9720526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95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site.12.value"/>
          <p:cNvSpPr txBox="1"/>
          <p:nvPr/>
        </p:nvSpPr>
        <p:spPr>
          <a:xfrm>
            <a:off x="11194458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60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lot.site.11.value"/>
          <p:cNvSpPr txBox="1"/>
          <p:nvPr/>
        </p:nvSpPr>
        <p:spPr>
          <a:xfrm>
            <a:off x="10457492" y="3904487"/>
            <a:ext cx="576072" cy="237744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230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site.1.label"/>
          <p:cNvSpPr txBox="1"/>
          <p:nvPr/>
        </p:nvSpPr>
        <p:spPr>
          <a:xfrm>
            <a:off x="3087833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site.2.label"/>
          <p:cNvSpPr txBox="1"/>
          <p:nvPr/>
        </p:nvSpPr>
        <p:spPr>
          <a:xfrm>
            <a:off x="3824799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site.3.label"/>
          <p:cNvSpPr txBox="1"/>
          <p:nvPr/>
        </p:nvSpPr>
        <p:spPr>
          <a:xfrm>
            <a:off x="4561765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ot.site.5.label"/>
          <p:cNvSpPr txBox="1"/>
          <p:nvPr/>
        </p:nvSpPr>
        <p:spPr>
          <a:xfrm>
            <a:off x="6035697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site.6.label"/>
          <p:cNvSpPr txBox="1"/>
          <p:nvPr/>
        </p:nvSpPr>
        <p:spPr>
          <a:xfrm>
            <a:off x="6772663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site.4.label"/>
          <p:cNvSpPr txBox="1"/>
          <p:nvPr/>
        </p:nvSpPr>
        <p:spPr>
          <a:xfrm>
            <a:off x="5298731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lot.site.7.label"/>
          <p:cNvSpPr txBox="1"/>
          <p:nvPr/>
        </p:nvSpPr>
        <p:spPr>
          <a:xfrm>
            <a:off x="7509628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slot.site.8.label"/>
          <p:cNvSpPr txBox="1"/>
          <p:nvPr/>
        </p:nvSpPr>
        <p:spPr>
          <a:xfrm>
            <a:off x="8246594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lot.site.9.label"/>
          <p:cNvSpPr txBox="1"/>
          <p:nvPr/>
        </p:nvSpPr>
        <p:spPr>
          <a:xfrm>
            <a:off x="8983561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slot.site.10.label"/>
          <p:cNvSpPr txBox="1"/>
          <p:nvPr/>
        </p:nvSpPr>
        <p:spPr>
          <a:xfrm>
            <a:off x="9720526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slot.site.12.label"/>
          <p:cNvSpPr txBox="1"/>
          <p:nvPr/>
        </p:nvSpPr>
        <p:spPr>
          <a:xfrm>
            <a:off x="11194458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slot.site.11.label"/>
          <p:cNvSpPr txBox="1"/>
          <p:nvPr/>
        </p:nvSpPr>
        <p:spPr>
          <a:xfrm>
            <a:off x="10457492" y="4142232"/>
            <a:ext cx="576072" cy="201168"/>
          </a:xfrm>
          <a:prstGeom prst="rect">
            <a:avLst/>
          </a:prstGeom>
          <a:noFill/>
          <a:ln/>
          <a:effectLst/>
        </p:spPr>
        <p:txBody>
          <a:bodyPr wrap="square" lIns="18288" tIns="0" rIns="18288" bIns="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users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slot.foundation.note"/>
          <p:cNvSpPr txBox="1"/>
          <p:nvPr/>
        </p:nvSpPr>
        <p:spPr>
          <a:xfrm>
            <a:off x="4297680" y="1691640"/>
            <a:ext cx="6400800" cy="274320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Built in wave 1,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configured by every later wave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slot.wave.note"/>
          <p:cNvSpPr txBox="1"/>
          <p:nvPr/>
        </p:nvSpPr>
        <p:spPr>
          <a:xfrm>
            <a:off x="4526280" y="2560320"/>
            <a:ext cx="5806440" cy="256032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36000" tIns="36000" rIns="36000" bIns="36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Three sites per wave: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office, plant, warehouse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struct.foundation.arrow"/>
          <p:cNvSpPr/>
          <p:nvPr/>
        </p:nvSpPr>
        <p:spPr>
          <a:xfrm>
            <a:off x="4023360" y="1618488"/>
            <a:ext cx="182880" cy="420624"/>
          </a:xfrm>
          <a:prstGeom prst="downArrow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7" name="struct.steps.frame"/>
          <p:cNvSpPr/>
          <p:nvPr/>
        </p:nvSpPr>
        <p:spPr>
          <a:xfrm>
            <a:off x="457200" y="4754880"/>
            <a:ext cx="11338560" cy="1371600"/>
          </a:xfrm>
          <a:prstGeom prst="roundRect">
            <a:avLst>
              <a:gd name="adj" fmla="val 3333"/>
            </a:avLst>
          </a:prstGeom>
          <a:noFill/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8" name="slot.steps.label"/>
          <p:cNvSpPr txBox="1"/>
          <p:nvPr/>
        </p:nvSpPr>
        <p:spPr>
          <a:xfrm>
            <a:off x="640080" y="4818888"/>
            <a:ext cx="3657600" cy="256032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72000" tIns="36000" rIns="72000" bIns="3600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Every wave runs the same four steps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slot.step.1.head"/>
          <p:cNvSpPr/>
          <p:nvPr/>
        </p:nvSpPr>
        <p:spPr>
          <a:xfrm>
            <a:off x="639409" y="5146990"/>
            <a:ext cx="2331272" cy="380010"/>
          </a:xfrm>
          <a:prstGeom prst="homePlate">
            <a:avLst>
              <a:gd name="adj" fmla="val 3125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Assess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slot.step.2.head"/>
          <p:cNvSpPr/>
          <p:nvPr/>
        </p:nvSpPr>
        <p:spPr>
          <a:xfrm>
            <a:off x="2880212" y="5146990"/>
            <a:ext cx="2331272" cy="380010"/>
          </a:xfrm>
          <a:prstGeom prst="chevron">
            <a:avLst>
              <a:gd name="adj" fmla="val 3184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Configure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slot.step.3.head"/>
          <p:cNvSpPr/>
          <p:nvPr/>
        </p:nvSpPr>
        <p:spPr>
          <a:xfrm>
            <a:off x="5121016" y="5146990"/>
            <a:ext cx="2331272" cy="380010"/>
          </a:xfrm>
          <a:prstGeom prst="chevron">
            <a:avLst>
              <a:gd name="adj" fmla="val 3184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Test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slot.step.4.head"/>
          <p:cNvSpPr/>
          <p:nvPr/>
        </p:nvSpPr>
        <p:spPr>
          <a:xfrm>
            <a:off x="7361821" y="5146990"/>
            <a:ext cx="2331272" cy="380010"/>
          </a:xfrm>
          <a:prstGeom prst="chevron">
            <a:avLst>
              <a:gd name="adj" fmla="val 3184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 live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lot.step.1.body"/>
          <p:cNvSpPr txBox="1"/>
          <p:nvPr/>
        </p:nvSpPr>
        <p:spPr>
          <a:xfrm>
            <a:off x="749137" y="5605272"/>
            <a:ext cx="2057400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Map steps, audit master data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lot.step.2.body"/>
          <p:cNvSpPr txBox="1"/>
          <p:nvPr/>
        </p:nvSpPr>
        <p:spPr>
          <a:xfrm>
            <a:off x="2989940" y="5605272"/>
            <a:ext cx="2057400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Set up roles, reports, interfaces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lot.step.3.body"/>
          <p:cNvSpPr txBox="1"/>
          <p:nvPr/>
        </p:nvSpPr>
        <p:spPr>
          <a:xfrm>
            <a:off x="5230744" y="5605272"/>
            <a:ext cx="2057400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Run tests and a cutover rehearsal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slot.step.4.body"/>
          <p:cNvSpPr txBox="1"/>
          <p:nvPr/>
        </p:nvSpPr>
        <p:spPr>
          <a:xfrm>
            <a:off x="7471548" y="5605272"/>
            <a:ext cx="2057400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Switch over, then hypercare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struct.gate"/>
          <p:cNvSpPr/>
          <p:nvPr/>
        </p:nvSpPr>
        <p:spPr>
          <a:xfrm>
            <a:off x="9802368" y="5084064"/>
            <a:ext cx="1865376" cy="932688"/>
          </a:xfrm>
          <a:prstGeom prst="roundRect">
            <a:avLst>
              <a:gd name="adj" fmla="val 4960"/>
            </a:avLst>
          </a:prstGeom>
          <a:solidFill>
            <a:schemeClr val="accent1">
              <a:lumMod val="10000"/>
              <a:lumOff val="90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/>
        </p:txBody>
      </p:sp>
      <p:sp>
        <p:nvSpPr>
          <p:cNvPr id="108" name="slot.foundation.icon"/>
          <p:cNvSpPr/>
          <p:nvPr/>
        </p:nvSpPr>
        <p:spPr>
          <a:xfrm>
            <a:off x="3246120" y="106984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30480" cap="rnd">
            <a:solidFill>
              <a:schemeClr val="bg1"/>
            </a:solidFill>
            <a:round/>
          </a:ln>
          <a:effectLst/>
        </p:spPr>
      </p:sp>
      <p:sp>
        <p:nvSpPr>
          <p:cNvPr id="109" name="slot.site.1.icon"/>
          <p:cNvSpPr/>
          <p:nvPr/>
        </p:nvSpPr>
        <p:spPr>
          <a:xfrm>
            <a:off x="3234137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0" name="slot.site.2.icon"/>
          <p:cNvSpPr/>
          <p:nvPr/>
        </p:nvSpPr>
        <p:spPr>
          <a:xfrm>
            <a:off x="3971103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1" name="slot.site.3.icon"/>
          <p:cNvSpPr/>
          <p:nvPr/>
        </p:nvSpPr>
        <p:spPr>
          <a:xfrm>
            <a:off x="4708069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2" name="slot.site.4.icon"/>
          <p:cNvSpPr/>
          <p:nvPr/>
        </p:nvSpPr>
        <p:spPr>
          <a:xfrm>
            <a:off x="5445035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3" name="slot.site.5.icon"/>
          <p:cNvSpPr/>
          <p:nvPr/>
        </p:nvSpPr>
        <p:spPr>
          <a:xfrm>
            <a:off x="6182001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4" name="slot.site.6.icon"/>
          <p:cNvSpPr/>
          <p:nvPr/>
        </p:nvSpPr>
        <p:spPr>
          <a:xfrm>
            <a:off x="6918967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5" name="slot.site.7.icon"/>
          <p:cNvSpPr/>
          <p:nvPr/>
        </p:nvSpPr>
        <p:spPr>
          <a:xfrm>
            <a:off x="7655933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6" name="slot.site.8.icon"/>
          <p:cNvSpPr/>
          <p:nvPr/>
        </p:nvSpPr>
        <p:spPr>
          <a:xfrm>
            <a:off x="8392899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7" name="slot.site.9.icon"/>
          <p:cNvSpPr/>
          <p:nvPr/>
        </p:nvSpPr>
        <p:spPr>
          <a:xfrm>
            <a:off x="9129865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8" name="slot.site.10.icon"/>
          <p:cNvSpPr/>
          <p:nvPr/>
        </p:nvSpPr>
        <p:spPr>
          <a:xfrm>
            <a:off x="9866830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9" name="slot.site.11.icon"/>
          <p:cNvSpPr/>
          <p:nvPr/>
        </p:nvSpPr>
        <p:spPr>
          <a:xfrm>
            <a:off x="10603796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20" name="slot.site.12.icon"/>
          <p:cNvSpPr/>
          <p:nvPr/>
        </p:nvSpPr>
        <p:spPr>
          <a:xfrm>
            <a:off x="11340762" y="3557016"/>
            <a:ext cx="283464" cy="28346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234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21" name="slot.gate.head"/>
          <p:cNvSpPr txBox="1"/>
          <p:nvPr/>
        </p:nvSpPr>
        <p:spPr>
          <a:xfrm>
            <a:off x="9912096" y="5157216"/>
            <a:ext cx="128016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Exit gate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slot.gate.body"/>
          <p:cNvSpPr txBox="1"/>
          <p:nvPr/>
        </p:nvSpPr>
        <p:spPr>
          <a:xfrm>
            <a:off x="9912096" y="5486400"/>
            <a:ext cx="1682496" cy="45720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Next wave starts after four stable weeks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lot.gate.icon"/>
          <p:cNvSpPr/>
          <p:nvPr/>
        </p:nvSpPr>
        <p:spPr>
          <a:xfrm>
            <a:off x="11265408" y="51572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2540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ocess-flow:gated-pipeline-stage-cards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29768" y="256032"/>
            <a:ext cx="113385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Routine supplier invoices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post the same day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through one gated pipeline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rail"/>
          <p:cNvSpPr/>
          <p:nvPr/>
        </p:nvSpPr>
        <p:spPr>
          <a:xfrm>
            <a:off x="457200" y="5486400"/>
            <a:ext cx="11338560" cy="749808"/>
          </a:xfrm>
          <a:prstGeom prst="roundRect">
            <a:avLst>
              <a:gd name="adj" fmla="val 6098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lot.rail.label"/>
          <p:cNvSpPr/>
          <p:nvPr/>
        </p:nvSpPr>
        <p:spPr>
          <a:xfrm>
            <a:off x="576072" y="5577840"/>
            <a:ext cx="1874519" cy="566928"/>
          </a:xfrm>
          <a:prstGeom prst="roundRect">
            <a:avLst>
              <a:gd name="adj" fmla="val 10722"/>
            </a:avLst>
          </a:prstGeom>
          <a:solidFill>
            <a:schemeClr val="tx1">
              <a:lumMod val="90000"/>
              <a:lumOff val="10000"/>
            </a:schemeClr>
          </a:solidFill>
          <a:ln w="9525">
            <a:noFill/>
          </a:ln>
          <a:effectLst/>
        </p:spPr>
        <p:txBody>
          <a:bodyPr rtlCol="0" anchor="ctr" wrap="square" lIns="91440" tIns="45720" rIns="91440" bIns="4572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 controls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under every step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lot.rail.item.1"/>
          <p:cNvSpPr txBox="1"/>
          <p:nvPr/>
        </p:nvSpPr>
        <p:spPr>
          <a:xfrm>
            <a:off x="3145536" y="5605272"/>
            <a:ext cx="1399031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 trail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Every action logged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rail.item.2"/>
          <p:cNvSpPr txBox="1"/>
          <p:nvPr/>
        </p:nvSpPr>
        <p:spPr>
          <a:xfrm>
            <a:off x="5477256" y="5605272"/>
            <a:ext cx="1325879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Exception desk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Held items cleared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rail.item.3"/>
          <p:cNvSpPr txBox="1"/>
          <p:nvPr/>
        </p:nvSpPr>
        <p:spPr>
          <a:xfrm>
            <a:off x="7735823" y="5605272"/>
            <a:ext cx="1289304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 watch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Accuracy read weekly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rail.item.4"/>
          <p:cNvSpPr txBox="1"/>
          <p:nvPr/>
        </p:nvSpPr>
        <p:spPr>
          <a:xfrm>
            <a:off x="9957816" y="5605272"/>
            <a:ext cx="1728215" cy="51206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Access rules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Approval by role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" name="struct.rail.rule.3"/>
          <p:cNvCxnSpPr>
            <a:cxnSpLocks/>
          </p:cNvCxnSpPr>
          <p:nvPr/>
        </p:nvCxnSpPr>
        <p:spPr>
          <a:xfrm>
            <a:off x="9098280" y="5632704"/>
            <a:ext cx="0" cy="45720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10" name="struct.rail.rule.2"/>
          <p:cNvCxnSpPr>
            <a:cxnSpLocks/>
          </p:cNvCxnSpPr>
          <p:nvPr/>
        </p:nvCxnSpPr>
        <p:spPr>
          <a:xfrm>
            <a:off x="6876288" y="5632704"/>
            <a:ext cx="0" cy="45720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11" name="struct.rail.rule.1"/>
          <p:cNvCxnSpPr>
            <a:cxnSpLocks/>
          </p:cNvCxnSpPr>
          <p:nvPr/>
        </p:nvCxnSpPr>
        <p:spPr>
          <a:xfrm>
            <a:off x="4617720" y="5632704"/>
            <a:ext cx="0" cy="45720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12" name="struct.flow.input"/>
          <p:cNvSpPr/>
          <p:nvPr/>
        </p:nvSpPr>
        <p:spPr>
          <a:xfrm>
            <a:off x="454848" y="1267702"/>
            <a:ext cx="1484917" cy="578734"/>
          </a:xfrm>
          <a:prstGeom prst="roundRect">
            <a:avLst>
              <a:gd name="adj" fmla="val 7900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struct.flow.group"/>
          <p:cNvSpPr/>
          <p:nvPr/>
        </p:nvSpPr>
        <p:spPr>
          <a:xfrm>
            <a:off x="3165675" y="1267702"/>
            <a:ext cx="5620516" cy="578734"/>
          </a:xfrm>
          <a:prstGeom prst="roundRect">
            <a:avLst>
              <a:gd name="adj" fmla="val 7900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struct.flow.output"/>
          <p:cNvSpPr/>
          <p:nvPr/>
        </p:nvSpPr>
        <p:spPr>
          <a:xfrm>
            <a:off x="10012101" y="1267702"/>
            <a:ext cx="1782748" cy="578734"/>
          </a:xfrm>
          <a:prstGeom prst="roundRect">
            <a:avLst>
              <a:gd name="adj" fmla="val 7900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struct.flow.gate.2"/>
          <p:cNvSpPr/>
          <p:nvPr/>
        </p:nvSpPr>
        <p:spPr>
          <a:xfrm>
            <a:off x="9156149" y="1312919"/>
            <a:ext cx="485994" cy="4883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struct.flow.gate.1"/>
          <p:cNvSpPr/>
          <p:nvPr/>
        </p:nvSpPr>
        <p:spPr>
          <a:xfrm>
            <a:off x="2309723" y="1312919"/>
            <a:ext cx="485994" cy="4883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7" name="struct.flow.link.1"/>
          <p:cNvCxnSpPr/>
          <p:nvPr/>
        </p:nvCxnSpPr>
        <p:spPr>
          <a:xfrm>
            <a:off x="1939765" y="1557069"/>
            <a:ext cx="369958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cxnSp>
        <p:nvCxnSpPr>
          <p:cNvPr id="18" name="struct.flow.link.2"/>
          <p:cNvCxnSpPr>
            <a:cxnSpLocks/>
          </p:cNvCxnSpPr>
          <p:nvPr/>
        </p:nvCxnSpPr>
        <p:spPr>
          <a:xfrm>
            <a:off x="2795717" y="1557069"/>
            <a:ext cx="369958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cxnSp>
        <p:nvCxnSpPr>
          <p:cNvPr id="19" name="struct.flow.link.5"/>
          <p:cNvCxnSpPr>
            <a:cxnSpLocks/>
          </p:cNvCxnSpPr>
          <p:nvPr/>
        </p:nvCxnSpPr>
        <p:spPr>
          <a:xfrm>
            <a:off x="8786191" y="1557069"/>
            <a:ext cx="369958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cxnSp>
        <p:nvCxnSpPr>
          <p:cNvPr id="20" name="struct.flow.link.6"/>
          <p:cNvCxnSpPr>
            <a:cxnSpLocks/>
          </p:cNvCxnSpPr>
          <p:nvPr/>
        </p:nvCxnSpPr>
        <p:spPr>
          <a:xfrm>
            <a:off x="9642143" y="1557069"/>
            <a:ext cx="369958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sp>
        <p:nvSpPr>
          <p:cNvPr id="21" name="slot.flow.input.label"/>
          <p:cNvSpPr txBox="1"/>
          <p:nvPr/>
        </p:nvSpPr>
        <p:spPr>
          <a:xfrm>
            <a:off x="1024128" y="1344168"/>
            <a:ext cx="859536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Supplier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invoices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flow.gate.1.label"/>
          <p:cNvSpPr txBox="1"/>
          <p:nvPr/>
        </p:nvSpPr>
        <p:spPr>
          <a:xfrm>
            <a:off x="2004079" y="1883664"/>
            <a:ext cx="109728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Intake gate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lot.flow.check.1.label"/>
          <p:cNvSpPr txBox="1"/>
          <p:nvPr/>
        </p:nvSpPr>
        <p:spPr>
          <a:xfrm>
            <a:off x="4506777" y="1883664"/>
            <a:ext cx="822960" cy="201168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Validated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lot.flow.check.2.label"/>
          <p:cNvSpPr txBox="1"/>
          <p:nvPr/>
        </p:nvSpPr>
        <p:spPr>
          <a:xfrm>
            <a:off x="6622129" y="1883664"/>
            <a:ext cx="822960" cy="201168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Matched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flow.stage.1"/>
          <p:cNvSpPr txBox="1"/>
          <p:nvPr/>
        </p:nvSpPr>
        <p:spPr>
          <a:xfrm>
            <a:off x="3220500" y="1400015"/>
            <a:ext cx="1280160" cy="314108"/>
          </a:xfrm>
          <a:prstGeom prst="roundRect">
            <a:avLst>
              <a:gd name="adj" fmla="val 14556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wrap="square" lIns="72000" tIns="72000" rIns="72000" bIns="72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Extract fields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flow.stage.2"/>
          <p:cNvSpPr txBox="1"/>
          <p:nvPr/>
        </p:nvSpPr>
        <p:spPr>
          <a:xfrm>
            <a:off x="5335853" y="1400015"/>
            <a:ext cx="1280160" cy="314108"/>
          </a:xfrm>
          <a:prstGeom prst="roundRect">
            <a:avLst>
              <a:gd name="adj" fmla="val 14556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wrap="square" lIns="72000" tIns="72000" rIns="72000" bIns="72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Match to order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flow.stage.3"/>
          <p:cNvSpPr txBox="1"/>
          <p:nvPr/>
        </p:nvSpPr>
        <p:spPr>
          <a:xfrm>
            <a:off x="7451205" y="1400015"/>
            <a:ext cx="1280160" cy="314108"/>
          </a:xfrm>
          <a:prstGeom prst="roundRect">
            <a:avLst>
              <a:gd name="adj" fmla="val 14556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wrap="square" lIns="72000" tIns="72000" rIns="72000" bIns="7200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Code to ledger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flow.output.label"/>
          <p:cNvSpPr txBox="1"/>
          <p:nvPr/>
        </p:nvSpPr>
        <p:spPr>
          <a:xfrm>
            <a:off x="10735056" y="1344168"/>
            <a:ext cx="1005840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Posted to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the ledger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flow.gate.2.label"/>
          <p:cNvSpPr txBox="1"/>
          <p:nvPr/>
        </p:nvSpPr>
        <p:spPr>
          <a:xfrm>
            <a:off x="8850506" y="1883664"/>
            <a:ext cx="109728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Approval gate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0" name="struct.flow.link.4"/>
          <p:cNvCxnSpPr>
            <a:cxnSpLocks/>
          </p:cNvCxnSpPr>
          <p:nvPr/>
        </p:nvCxnSpPr>
        <p:spPr>
          <a:xfrm>
            <a:off x="6616013" y="1557069"/>
            <a:ext cx="835192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cxnSp>
        <p:nvCxnSpPr>
          <p:cNvPr id="31" name="struct.flow.link.3"/>
          <p:cNvCxnSpPr>
            <a:cxnSpLocks/>
          </p:cNvCxnSpPr>
          <p:nvPr/>
        </p:nvCxnSpPr>
        <p:spPr>
          <a:xfrm>
            <a:off x="4500660" y="1557069"/>
            <a:ext cx="835193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</p:cxnSp>
      <p:sp>
        <p:nvSpPr>
          <p:cNvPr id="32" name="struct.flow.check.1"/>
          <p:cNvSpPr/>
          <p:nvPr/>
        </p:nvSpPr>
        <p:spPr>
          <a:xfrm>
            <a:off x="4812079" y="1448402"/>
            <a:ext cx="212356" cy="2133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struct.flow.check.2"/>
          <p:cNvSpPr/>
          <p:nvPr/>
        </p:nvSpPr>
        <p:spPr>
          <a:xfrm>
            <a:off x="6927431" y="1448402"/>
            <a:ext cx="212356" cy="2133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slot.flow.group.label"/>
          <p:cNvSpPr txBox="1"/>
          <p:nvPr/>
        </p:nvSpPr>
        <p:spPr>
          <a:xfrm>
            <a:off x="4901184" y="932688"/>
            <a:ext cx="2377440" cy="237744"/>
          </a:xfrm>
          <a:prstGeom prst="rect">
            <a:avLst/>
          </a:prstGeom>
          <a:solidFill>
            <a:schemeClr val="bg1"/>
          </a:solidFill>
          <a:ln/>
          <a:effectLst/>
        </p:spPr>
        <p:txBody>
          <a:bodyPr wrap="square" lIns="0" tIns="0" rIns="0" bIns="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Straight-through processing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5" name="struct.flow.output.rule"/>
          <p:cNvCxnSpPr/>
          <p:nvPr/>
        </p:nvCxnSpPr>
        <p:spPr>
          <a:xfrm>
            <a:off x="10645955" y="1312919"/>
            <a:ext cx="0" cy="459678"/>
          </a:xfrm>
          <a:prstGeom prst="line">
            <a:avLst/>
          </a:prstGeom>
          <a:effectLst/>
        </p:spPr>
      </p:cxnSp>
      <p:sp>
        <p:nvSpPr>
          <p:cNvPr id="36" name="struct.card.1"/>
          <p:cNvSpPr/>
          <p:nvPr/>
        </p:nvSpPr>
        <p:spPr>
          <a:xfrm>
            <a:off x="454846" y="2194560"/>
            <a:ext cx="2165175" cy="3127248"/>
          </a:xfrm>
          <a:prstGeom prst="roundRect">
            <a:avLst>
              <a:gd name="adj" fmla="val 211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7" name="struct.card.2"/>
          <p:cNvSpPr/>
          <p:nvPr/>
        </p:nvSpPr>
        <p:spPr>
          <a:xfrm>
            <a:off x="2797131" y="2194560"/>
            <a:ext cx="2165175" cy="3127248"/>
          </a:xfrm>
          <a:prstGeom prst="roundRect">
            <a:avLst>
              <a:gd name="adj" fmla="val 211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8" name="struct.card.3"/>
          <p:cNvSpPr/>
          <p:nvPr/>
        </p:nvSpPr>
        <p:spPr>
          <a:xfrm>
            <a:off x="5139417" y="2194560"/>
            <a:ext cx="4313143" cy="3127248"/>
          </a:xfrm>
          <a:prstGeom prst="roundRect">
            <a:avLst>
              <a:gd name="adj" fmla="val 146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9" name="struct.card.4"/>
          <p:cNvSpPr/>
          <p:nvPr/>
        </p:nvSpPr>
        <p:spPr>
          <a:xfrm>
            <a:off x="9629670" y="2194560"/>
            <a:ext cx="2165175" cy="3127248"/>
          </a:xfrm>
          <a:prstGeom prst="roundRect">
            <a:avLst>
              <a:gd name="adj" fmla="val 211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rtlCol="0" anchor="ctr">
            <a:noAutofit/>
          </a:bodyPr>
          <a:lstStyle/>
          <a:p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40" name="slot.card.1.row.1"/>
          <p:cNvSpPr txBox="1"/>
          <p:nvPr/>
        </p:nvSpPr>
        <p:spPr>
          <a:xfrm>
            <a:off x="637726" y="3200400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Invoices arrive by email, portal and scan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card.1.row.2"/>
          <p:cNvSpPr txBox="1"/>
          <p:nvPr/>
        </p:nvSpPr>
        <p:spPr>
          <a:xfrm>
            <a:off x="637726" y="3968496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inbox replaces six regional mailboxes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card.1.row.3"/>
          <p:cNvSpPr txBox="1"/>
          <p:nvPr/>
        </p:nvSpPr>
        <p:spPr>
          <a:xfrm>
            <a:off x="637726" y="4736592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Duplicates removed before any processing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card.2.row.1"/>
          <p:cNvSpPr txBox="1"/>
          <p:nvPr/>
        </p:nvSpPr>
        <p:spPr>
          <a:xfrm>
            <a:off x="2980011" y="3200400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Supplier verified against the master list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card.2.row.2"/>
          <p:cNvSpPr txBox="1"/>
          <p:nvPr/>
        </p:nvSpPr>
        <p:spPr>
          <a:xfrm>
            <a:off x="2980011" y="3968496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 missing purchase order sends it back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card.2.row.3"/>
          <p:cNvSpPr txBox="1"/>
          <p:nvPr/>
        </p:nvSpPr>
        <p:spPr>
          <a:xfrm>
            <a:off x="2980011" y="4736592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Fraud signals hold the invoice for review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card.4.row.1"/>
          <p:cNvSpPr txBox="1"/>
          <p:nvPr/>
        </p:nvSpPr>
        <p:spPr>
          <a:xfrm>
            <a:off x="9812549" y="3200400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Approved invoices post to the ledger daily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card.4.row.2"/>
          <p:cNvSpPr txBox="1"/>
          <p:nvPr/>
        </p:nvSpPr>
        <p:spPr>
          <a:xfrm>
            <a:off x="9812549" y="3968496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Payment runs on agreed supplier terms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card.4.row.3"/>
          <p:cNvSpPr txBox="1"/>
          <p:nvPr/>
        </p:nvSpPr>
        <p:spPr>
          <a:xfrm>
            <a:off x="9812549" y="4736592"/>
            <a:ext cx="180136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Routine invoices close the same day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card.1.head"/>
          <p:cNvSpPr txBox="1"/>
          <p:nvPr/>
        </p:nvSpPr>
        <p:spPr>
          <a:xfrm>
            <a:off x="637726" y="2779776"/>
            <a:ext cx="1801368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Capture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card.2.head"/>
          <p:cNvSpPr txBox="1"/>
          <p:nvPr/>
        </p:nvSpPr>
        <p:spPr>
          <a:xfrm>
            <a:off x="2980011" y="2779776"/>
            <a:ext cx="1801368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Check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card.4.head"/>
          <p:cNvSpPr txBox="1"/>
          <p:nvPr/>
        </p:nvSpPr>
        <p:spPr>
          <a:xfrm>
            <a:off x="9812549" y="2779776"/>
            <a:ext cx="1801368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Post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card.3.head"/>
          <p:cNvSpPr txBox="1"/>
          <p:nvPr/>
        </p:nvSpPr>
        <p:spPr>
          <a:xfrm>
            <a:off x="5321808" y="2779776"/>
            <a:ext cx="3950208" cy="23774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Process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lot.card.3.body"/>
          <p:cNvSpPr txBox="1"/>
          <p:nvPr/>
        </p:nvSpPr>
        <p:spPr>
          <a:xfrm>
            <a:off x="5321808" y="3145536"/>
            <a:ext cx="3950208" cy="42062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Five automated steps clear a routine invoice untouched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4" name="struct.card.1.rule.1"/>
          <p:cNvCxnSpPr>
            <a:cxnSpLocks/>
          </p:cNvCxnSpPr>
          <p:nvPr/>
        </p:nvCxnSpPr>
        <p:spPr>
          <a:xfrm>
            <a:off x="637726" y="3813048"/>
            <a:ext cx="1801368" cy="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55" name="struct.card.1.rule.2"/>
          <p:cNvCxnSpPr>
            <a:cxnSpLocks/>
          </p:cNvCxnSpPr>
          <p:nvPr/>
        </p:nvCxnSpPr>
        <p:spPr>
          <a:xfrm>
            <a:off x="637726" y="4581144"/>
            <a:ext cx="1801368" cy="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56" name="struct.card.2.rule.1"/>
          <p:cNvCxnSpPr>
            <a:cxnSpLocks/>
          </p:cNvCxnSpPr>
          <p:nvPr/>
        </p:nvCxnSpPr>
        <p:spPr>
          <a:xfrm>
            <a:off x="2980011" y="3813048"/>
            <a:ext cx="1801368" cy="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57" name="struct.card.2.rule.2"/>
          <p:cNvCxnSpPr>
            <a:cxnSpLocks/>
          </p:cNvCxnSpPr>
          <p:nvPr/>
        </p:nvCxnSpPr>
        <p:spPr>
          <a:xfrm>
            <a:off x="2980011" y="4581144"/>
            <a:ext cx="1801368" cy="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58" name="struct.card.4.rule.1"/>
          <p:cNvCxnSpPr>
            <a:cxnSpLocks/>
          </p:cNvCxnSpPr>
          <p:nvPr/>
        </p:nvCxnSpPr>
        <p:spPr>
          <a:xfrm>
            <a:off x="9812549" y="3813048"/>
            <a:ext cx="1801368" cy="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59" name="struct.card.4.rule.2"/>
          <p:cNvCxnSpPr>
            <a:cxnSpLocks/>
          </p:cNvCxnSpPr>
          <p:nvPr/>
        </p:nvCxnSpPr>
        <p:spPr>
          <a:xfrm>
            <a:off x="9812549" y="4581144"/>
            <a:ext cx="1801368" cy="0"/>
          </a:xfrm>
          <a:prstGeom prst="line">
            <a:avLst/>
          </a:prstGeom>
          <a:ln>
            <a:solidFill>
              <a:schemeClr val="accent1"/>
            </a:solidFill>
            <a:prstDash val="solid"/>
          </a:ln>
          <a:effectLst/>
        </p:spPr>
      </p:cxnSp>
      <p:sp>
        <p:nvSpPr>
          <p:cNvPr id="60" name="slot.card.3.step.1.label"/>
          <p:cNvSpPr txBox="1"/>
          <p:nvPr/>
        </p:nvSpPr>
        <p:spPr>
          <a:xfrm>
            <a:off x="5312664" y="4297680"/>
            <a:ext cx="73152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Read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card.3.step.2.label"/>
          <p:cNvSpPr txBox="1"/>
          <p:nvPr/>
        </p:nvSpPr>
        <p:spPr>
          <a:xfrm>
            <a:off x="6117336" y="4297680"/>
            <a:ext cx="73152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Extract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card.3.step.3.label"/>
          <p:cNvSpPr txBox="1"/>
          <p:nvPr/>
        </p:nvSpPr>
        <p:spPr>
          <a:xfrm>
            <a:off x="6931152" y="4297680"/>
            <a:ext cx="73152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Match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card.3.step.4.label"/>
          <p:cNvSpPr txBox="1"/>
          <p:nvPr/>
        </p:nvSpPr>
        <p:spPr>
          <a:xfrm>
            <a:off x="7744968" y="4297680"/>
            <a:ext cx="73152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Code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card.3.step.5.label"/>
          <p:cNvSpPr txBox="1"/>
          <p:nvPr/>
        </p:nvSpPr>
        <p:spPr>
          <a:xfrm>
            <a:off x="8558784" y="4297680"/>
            <a:ext cx="731520" cy="201168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Route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lot.card.3.step.1.desc"/>
          <p:cNvSpPr txBox="1"/>
          <p:nvPr/>
        </p:nvSpPr>
        <p:spPr>
          <a:xfrm>
            <a:off x="5312664" y="4535424"/>
            <a:ext cx="731520" cy="40233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Scan to text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card.3.step.2.desc"/>
          <p:cNvSpPr txBox="1"/>
          <p:nvPr/>
        </p:nvSpPr>
        <p:spPr>
          <a:xfrm>
            <a:off x="6117336" y="4535424"/>
            <a:ext cx="731520" cy="40233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Header and lines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card.3.step.3.desc"/>
          <p:cNvSpPr txBox="1"/>
          <p:nvPr/>
        </p:nvSpPr>
        <p:spPr>
          <a:xfrm>
            <a:off x="6931152" y="4535424"/>
            <a:ext cx="731520" cy="40233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and receipt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card.3.step.4.desc"/>
          <p:cNvSpPr txBox="1"/>
          <p:nvPr/>
        </p:nvSpPr>
        <p:spPr>
          <a:xfrm>
            <a:off x="7744968" y="4535424"/>
            <a:ext cx="731520" cy="40233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Ledger and tax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lot.card.3.step.5.desc"/>
          <p:cNvSpPr txBox="1"/>
          <p:nvPr/>
        </p:nvSpPr>
        <p:spPr>
          <a:xfrm>
            <a:off x="8558784" y="4535424"/>
            <a:ext cx="731520" cy="402336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Approver by value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0" name="struct.card.3.rule.1"/>
          <p:cNvCxnSpPr>
            <a:cxnSpLocks/>
          </p:cNvCxnSpPr>
          <p:nvPr/>
        </p:nvCxnSpPr>
        <p:spPr>
          <a:xfrm>
            <a:off x="6076188" y="4297680"/>
            <a:ext cx="0" cy="64008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71" name="struct.card.3.rule.2"/>
          <p:cNvCxnSpPr>
            <a:cxnSpLocks/>
          </p:cNvCxnSpPr>
          <p:nvPr/>
        </p:nvCxnSpPr>
        <p:spPr>
          <a:xfrm>
            <a:off x="6890004" y="4297680"/>
            <a:ext cx="0" cy="64008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72" name="struct.card.3.rule.3"/>
          <p:cNvCxnSpPr>
            <a:cxnSpLocks/>
          </p:cNvCxnSpPr>
          <p:nvPr/>
        </p:nvCxnSpPr>
        <p:spPr>
          <a:xfrm>
            <a:off x="7703820" y="4297680"/>
            <a:ext cx="0" cy="64008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73" name="struct.card.3.rule.4"/>
          <p:cNvCxnSpPr>
            <a:cxnSpLocks/>
          </p:cNvCxnSpPr>
          <p:nvPr/>
        </p:nvCxnSpPr>
        <p:spPr>
          <a:xfrm>
            <a:off x="8517636" y="4297680"/>
            <a:ext cx="0" cy="640080"/>
          </a:xfrm>
          <a:prstGeom prst="line">
            <a:avLst/>
          </a:prstGeom>
          <a:ln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74" name="slot.card.3.step.1.num"/>
          <p:cNvSpPr/>
          <p:nvPr/>
        </p:nvSpPr>
        <p:spPr>
          <a:xfrm>
            <a:off x="5541264" y="387705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lot.card.3.step.2.num"/>
          <p:cNvSpPr/>
          <p:nvPr/>
        </p:nvSpPr>
        <p:spPr>
          <a:xfrm>
            <a:off x="6345936" y="387705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lot.card.3.step.3.num"/>
          <p:cNvSpPr/>
          <p:nvPr/>
        </p:nvSpPr>
        <p:spPr>
          <a:xfrm>
            <a:off x="7159752" y="387705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lot.card.3.step.4.num"/>
          <p:cNvSpPr/>
          <p:nvPr/>
        </p:nvSpPr>
        <p:spPr>
          <a:xfrm>
            <a:off x="7973568" y="387705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lot.card.3.step.5.num"/>
          <p:cNvSpPr/>
          <p:nvPr/>
        </p:nvSpPr>
        <p:spPr>
          <a:xfrm>
            <a:off x="8787384" y="387705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0" tIns="0" rIns="0" bIns="0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truct.card.3.arrow.1"/>
          <p:cNvSpPr/>
          <p:nvPr/>
        </p:nvSpPr>
        <p:spPr>
          <a:xfrm>
            <a:off x="5824728" y="3959352"/>
            <a:ext cx="512064" cy="109728"/>
          </a:xfrm>
          <a:prstGeom prst="rightArrow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80" name="struct.card.3.arrow.2"/>
          <p:cNvSpPr/>
          <p:nvPr/>
        </p:nvSpPr>
        <p:spPr>
          <a:xfrm>
            <a:off x="6629400" y="3959352"/>
            <a:ext cx="521207" cy="109728"/>
          </a:xfrm>
          <a:prstGeom prst="rightArrow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81" name="struct.card.3.arrow.3"/>
          <p:cNvSpPr/>
          <p:nvPr/>
        </p:nvSpPr>
        <p:spPr>
          <a:xfrm>
            <a:off x="7443216" y="3959352"/>
            <a:ext cx="521208" cy="109728"/>
          </a:xfrm>
          <a:prstGeom prst="rightArrow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82" name="struct.card.3.arrow.4"/>
          <p:cNvSpPr/>
          <p:nvPr/>
        </p:nvSpPr>
        <p:spPr>
          <a:xfrm>
            <a:off x="8257032" y="3959352"/>
            <a:ext cx="521207" cy="109728"/>
          </a:xfrm>
          <a:prstGeom prst="rightArrow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 sz="900"/>
          </a:p>
        </p:txBody>
      </p:sp>
      <p:sp>
        <p:nvSpPr>
          <p:cNvPr id="83" name="slot.card.1.num"/>
          <p:cNvSpPr txBox="1"/>
          <p:nvPr/>
        </p:nvSpPr>
        <p:spPr>
          <a:xfrm>
            <a:off x="637726" y="2359152"/>
            <a:ext cx="548640" cy="32918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01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card.2.num"/>
          <p:cNvSpPr txBox="1"/>
          <p:nvPr/>
        </p:nvSpPr>
        <p:spPr>
          <a:xfrm>
            <a:off x="2980011" y="2359152"/>
            <a:ext cx="548640" cy="32918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ot.card.4.num"/>
          <p:cNvSpPr txBox="1"/>
          <p:nvPr/>
        </p:nvSpPr>
        <p:spPr>
          <a:xfrm>
            <a:off x="9812549" y="2359152"/>
            <a:ext cx="548640" cy="32918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04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card.3.num"/>
          <p:cNvSpPr txBox="1"/>
          <p:nvPr/>
        </p:nvSpPr>
        <p:spPr>
          <a:xfrm>
            <a:off x="5321808" y="2359152"/>
            <a:ext cx="548640" cy="329184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03</a:t>
            </a:r>
            <a:endParaRPr lang="en-US" sz="2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flow.input.icon"/>
          <p:cNvSpPr/>
          <p:nvPr/>
        </p:nvSpPr>
        <p:spPr>
          <a:xfrm>
            <a:off x="603504" y="138074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88" name="slot.flow.gate.1.icon"/>
          <p:cNvSpPr/>
          <p:nvPr/>
        </p:nvSpPr>
        <p:spPr>
          <a:xfrm>
            <a:off x="2406416" y="140817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89" name="slot.flow.gate.2.icon"/>
          <p:cNvSpPr/>
          <p:nvPr/>
        </p:nvSpPr>
        <p:spPr>
          <a:xfrm>
            <a:off x="9252842" y="140817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90" name="slot.flow.group.icon"/>
          <p:cNvSpPr/>
          <p:nvPr/>
        </p:nvSpPr>
        <p:spPr>
          <a:xfrm>
            <a:off x="4553712" y="91440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3000"/>
                </a:moveTo>
                <a:lnTo>
                  <a:pt x="9000" y="3000"/>
                </a:lnTo>
                <a:cubicBezTo>
                  <a:pt x="10105" y="3000"/>
                  <a:pt x="11000" y="3895"/>
                  <a:pt x="11000" y="5000"/>
                </a:cubicBezTo>
                <a:lnTo>
                  <a:pt x="11000" y="9000"/>
                </a:lnTo>
                <a:cubicBezTo>
                  <a:pt x="11000" y="10105"/>
                  <a:pt x="10105" y="11000"/>
                  <a:pt x="9000" y="11000"/>
                </a:cubicBezTo>
                <a:lnTo>
                  <a:pt x="5000" y="11000"/>
                </a:lnTo>
                <a:cubicBezTo>
                  <a:pt x="3895" y="11000"/>
                  <a:pt x="3000" y="10105"/>
                  <a:pt x="3000" y="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7000" y="11000"/>
                </a:moveTo>
                <a:lnTo>
                  <a:pt x="7000" y="15000"/>
                </a:lnTo>
                <a:cubicBezTo>
                  <a:pt x="7000" y="16105"/>
                  <a:pt x="7895" y="17000"/>
                  <a:pt x="9000" y="17000"/>
                </a:cubicBezTo>
                <a:lnTo>
                  <a:pt x="13000" y="17000"/>
                </a:lnTo>
                <a:moveTo>
                  <a:pt x="15000" y="13000"/>
                </a:moveTo>
                <a:lnTo>
                  <a:pt x="19000" y="13000"/>
                </a:lnTo>
                <a:cubicBezTo>
                  <a:pt x="20105" y="13000"/>
                  <a:pt x="21000" y="13895"/>
                  <a:pt x="21000" y="1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5000" y="21000"/>
                </a:lnTo>
                <a:cubicBezTo>
                  <a:pt x="13895" y="21000"/>
                  <a:pt x="13000" y="20105"/>
                  <a:pt x="13000" y="19000"/>
                </a:cubicBezTo>
                <a:lnTo>
                  <a:pt x="13000" y="15000"/>
                </a:lnTo>
                <a:cubicBezTo>
                  <a:pt x="13000" y="13895"/>
                  <a:pt x="13895" y="13000"/>
                  <a:pt x="15000" y="13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91" name="slot.flow.check.1.icon"/>
          <p:cNvSpPr/>
          <p:nvPr/>
        </p:nvSpPr>
        <p:spPr>
          <a:xfrm>
            <a:off x="4812079" y="1448402"/>
            <a:ext cx="212356" cy="2123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7780" cap="rnd">
            <a:solidFill>
              <a:schemeClr val="accent1"/>
            </a:solidFill>
            <a:round/>
          </a:ln>
          <a:effectLst/>
        </p:spPr>
      </p:sp>
      <p:sp>
        <p:nvSpPr>
          <p:cNvPr id="92" name="slot.flow.check.2.icon"/>
          <p:cNvSpPr/>
          <p:nvPr/>
        </p:nvSpPr>
        <p:spPr>
          <a:xfrm>
            <a:off x="6927431" y="1448402"/>
            <a:ext cx="212356" cy="2123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7780" cap="rnd">
            <a:solidFill>
              <a:schemeClr val="accent1"/>
            </a:solidFill>
            <a:round/>
          </a:ln>
          <a:effectLst/>
        </p:spPr>
      </p:sp>
      <p:sp>
        <p:nvSpPr>
          <p:cNvPr id="93" name="slot.flow.output.icon"/>
          <p:cNvSpPr/>
          <p:nvPr/>
        </p:nvSpPr>
        <p:spPr>
          <a:xfrm>
            <a:off x="10158984" y="138074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94" name="slot.card.1.icon"/>
          <p:cNvSpPr/>
          <p:nvPr/>
        </p:nvSpPr>
        <p:spPr>
          <a:xfrm>
            <a:off x="1356970" y="2340864"/>
            <a:ext cx="360274" cy="36027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000"/>
                </a:moveTo>
                <a:lnTo>
                  <a:pt x="11000" y="2000"/>
                </a:lnTo>
                <a:cubicBezTo>
                  <a:pt x="9895" y="2000"/>
                  <a:pt x="9000" y="2895"/>
                  <a:pt x="9000" y="4000"/>
                </a:cubicBezTo>
                <a:lnTo>
                  <a:pt x="9000" y="15000"/>
                </a:lnTo>
                <a:cubicBezTo>
                  <a:pt x="9000" y="16105"/>
                  <a:pt x="9895" y="17000"/>
                  <a:pt x="11000" y="17000"/>
                </a:cubicBezTo>
                <a:lnTo>
                  <a:pt x="19000" y="17000"/>
                </a:lnTo>
                <a:cubicBezTo>
                  <a:pt x="20105" y="17000"/>
                  <a:pt x="21000" y="16105"/>
                  <a:pt x="21000" y="15000"/>
                </a:cubicBezTo>
                <a:lnTo>
                  <a:pt x="21000" y="8000"/>
                </a:lnTo>
                <a:moveTo>
                  <a:pt x="16706" y="2706"/>
                </a:moveTo>
                <a:cubicBezTo>
                  <a:pt x="16254" y="2253"/>
                  <a:pt x="15640" y="1998"/>
                  <a:pt x="15000" y="2000"/>
                </a:cubicBezTo>
                <a:lnTo>
                  <a:pt x="15000" y="7000"/>
                </a:lnTo>
                <a:cubicBezTo>
                  <a:pt x="15000" y="7552"/>
                  <a:pt x="15448" y="8000"/>
                  <a:pt x="16000" y="8000"/>
                </a:cubicBezTo>
                <a:lnTo>
                  <a:pt x="21000" y="8000"/>
                </a:lnTo>
                <a:cubicBezTo>
                  <a:pt x="21002" y="7360"/>
                  <a:pt x="20747" y="6746"/>
                  <a:pt x="20294" y="6294"/>
                </a:cubicBezTo>
                <a:close/>
                <a:moveTo>
                  <a:pt x="5000" y="7000"/>
                </a:moveTo>
                <a:cubicBezTo>
                  <a:pt x="3895" y="7000"/>
                  <a:pt x="3000" y="7895"/>
                  <a:pt x="3000" y="9000"/>
                </a:cubicBezTo>
                <a:lnTo>
                  <a:pt x="3000" y="20000"/>
                </a:lnTo>
                <a:cubicBezTo>
                  <a:pt x="3000" y="21105"/>
                  <a:pt x="3895" y="22000"/>
                  <a:pt x="5000" y="22000"/>
                </a:cubicBezTo>
                <a:lnTo>
                  <a:pt x="13000" y="22000"/>
                </a:lnTo>
                <a:cubicBezTo>
                  <a:pt x="13715" y="22000"/>
                  <a:pt x="14375" y="21619"/>
                  <a:pt x="14732" y="21000"/>
                </a:cubicBezTo>
              </a:path>
            </a:pathLst>
          </a:custGeom>
          <a:noFill/>
          <a:ln w="2984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95" name="slot.card.2.icon"/>
          <p:cNvSpPr/>
          <p:nvPr/>
        </p:nvSpPr>
        <p:spPr>
          <a:xfrm>
            <a:off x="3699662" y="2340864"/>
            <a:ext cx="360274" cy="36027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984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96" name="slot.card.4.icon"/>
          <p:cNvSpPr/>
          <p:nvPr/>
        </p:nvSpPr>
        <p:spPr>
          <a:xfrm>
            <a:off x="10532059" y="2340864"/>
            <a:ext cx="360274" cy="36027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9000" y="14000"/>
                </a:moveTo>
                <a:lnTo>
                  <a:pt x="11000" y="16000"/>
                </a:lnTo>
                <a:lnTo>
                  <a:pt x="15000" y="12000"/>
                </a:lnTo>
              </a:path>
            </a:pathLst>
          </a:custGeom>
          <a:noFill/>
          <a:ln w="2984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97" name="slot.card.3.icon"/>
          <p:cNvSpPr/>
          <p:nvPr/>
        </p:nvSpPr>
        <p:spPr>
          <a:xfrm>
            <a:off x="7115861" y="2340864"/>
            <a:ext cx="360274" cy="36027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0000"/>
                </a:moveTo>
                <a:lnTo>
                  <a:pt x="12000" y="22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7000" y="20000"/>
                </a:moveTo>
                <a:lnTo>
                  <a:pt x="17000" y="22000"/>
                </a:lnTo>
                <a:moveTo>
                  <a:pt x="17000" y="2000"/>
                </a:moveTo>
                <a:lnTo>
                  <a:pt x="17000" y="400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00" y="17000"/>
                </a:moveTo>
                <a:lnTo>
                  <a:pt x="4000" y="17000"/>
                </a:lnTo>
                <a:moveTo>
                  <a:pt x="2000" y="7000"/>
                </a:moveTo>
                <a:lnTo>
                  <a:pt x="4000" y="7000"/>
                </a:lnTo>
                <a:moveTo>
                  <a:pt x="20000" y="12000"/>
                </a:moveTo>
                <a:lnTo>
                  <a:pt x="22000" y="12000"/>
                </a:lnTo>
                <a:moveTo>
                  <a:pt x="20000" y="17000"/>
                </a:moveTo>
                <a:lnTo>
                  <a:pt x="22000" y="17000"/>
                </a:lnTo>
                <a:moveTo>
                  <a:pt x="20000" y="7000"/>
                </a:moveTo>
                <a:lnTo>
                  <a:pt x="22000" y="7000"/>
                </a:lnTo>
                <a:moveTo>
                  <a:pt x="7000" y="20000"/>
                </a:moveTo>
                <a:lnTo>
                  <a:pt x="7000" y="22000"/>
                </a:lnTo>
                <a:moveTo>
                  <a:pt x="7000" y="2000"/>
                </a:moveTo>
                <a:lnTo>
                  <a:pt x="7000" y="4000"/>
                </a:lnTo>
                <a:moveTo>
                  <a:pt x="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close/>
                <a:moveTo>
                  <a:pt x="9000" y="8000"/>
                </a:moveTo>
                <a:lnTo>
                  <a:pt x="15000" y="8000"/>
                </a:lnTo>
                <a:cubicBezTo>
                  <a:pt x="15552" y="8000"/>
                  <a:pt x="16000" y="8448"/>
                  <a:pt x="16000" y="9000"/>
                </a:cubicBezTo>
                <a:lnTo>
                  <a:pt x="16000" y="15000"/>
                </a:lnTo>
                <a:cubicBezTo>
                  <a:pt x="16000" y="15552"/>
                  <a:pt x="15552" y="16000"/>
                  <a:pt x="15000" y="16000"/>
                </a:cubicBezTo>
                <a:lnTo>
                  <a:pt x="9000" y="16000"/>
                </a:lnTo>
                <a:cubicBezTo>
                  <a:pt x="8448" y="16000"/>
                  <a:pt x="8000" y="15552"/>
                  <a:pt x="8000" y="15000"/>
                </a:cubicBezTo>
                <a:lnTo>
                  <a:pt x="8000" y="9000"/>
                </a:lnTo>
                <a:cubicBezTo>
                  <a:pt x="8000" y="8448"/>
                  <a:pt x="8448" y="8000"/>
                  <a:pt x="9000" y="8000"/>
                </a:cubicBezTo>
                <a:close/>
              </a:path>
            </a:pathLst>
          </a:custGeom>
          <a:noFill/>
          <a:ln w="2984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98" name="slot.rail.item.1.icon"/>
          <p:cNvSpPr/>
          <p:nvPr/>
        </p:nvSpPr>
        <p:spPr>
          <a:xfrm>
            <a:off x="2615184" y="567842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3048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99" name="slot.rail.item.2.icon"/>
          <p:cNvSpPr/>
          <p:nvPr/>
        </p:nvSpPr>
        <p:spPr>
          <a:xfrm>
            <a:off x="4946904" y="567842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0" name="slot.rail.item.3.icon"/>
          <p:cNvSpPr/>
          <p:nvPr/>
        </p:nvSpPr>
        <p:spPr>
          <a:xfrm>
            <a:off x="7205472" y="567842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3048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1" name="slot.rail.item.4.icon"/>
          <p:cNvSpPr/>
          <p:nvPr/>
        </p:nvSpPr>
        <p:spPr>
          <a:xfrm>
            <a:off x="9427464" y="567842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3048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se-case-map:domain-tabs-agent-mesh">
    <p:spTree>
      <p:nvGrpSpPr>
        <p:cNvPr id="1" name=""/>
        <p:cNvGrpSpPr/>
        <p:nvPr/>
      </p:nvGrpSpPr>
      <p:grpSpPr/>
      <p:grpSp>
        <p:nvGrpSpPr>
          <p:cNvPr id="2" name="struct.dropline.1"/>
          <p:cNvGrpSpPr/>
          <p:nvPr/>
        </p:nvGrpSpPr>
        <p:grpSpPr>
          <a:xfrm>
            <a:off x="544345" y="2411525"/>
            <a:ext cx="2627543" cy="2410468"/>
            <a:chOff x="544345" y="2640125"/>
            <a:chExt cx="2627543" cy="2410468"/>
          </a:xfrm>
          <a:effectLst/>
        </p:grpSpPr>
        <p:cxnSp>
          <p:nvCxnSpPr>
            <p:cNvPr id="3" name="struct.dropline.2"/>
            <p:cNvCxnSpPr/>
            <p:nvPr/>
          </p:nvCxnSpPr>
          <p:spPr>
            <a:xfrm flipH="1">
              <a:off x="544345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4" name="struct.dropline.3"/>
            <p:cNvCxnSpPr/>
            <p:nvPr/>
          </p:nvCxnSpPr>
          <p:spPr>
            <a:xfrm>
              <a:off x="2766481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5" name="struct.dropline.4"/>
          <p:cNvGrpSpPr/>
          <p:nvPr/>
        </p:nvGrpSpPr>
        <p:grpSpPr>
          <a:xfrm>
            <a:off x="2654794" y="2411525"/>
            <a:ext cx="2627543" cy="2410468"/>
            <a:chOff x="2654794" y="2640125"/>
            <a:chExt cx="2627543" cy="2410468"/>
          </a:xfrm>
          <a:effectLst/>
        </p:grpSpPr>
        <p:cxnSp>
          <p:nvCxnSpPr>
            <p:cNvPr id="6" name="struct.dropline.5"/>
            <p:cNvCxnSpPr/>
            <p:nvPr/>
          </p:nvCxnSpPr>
          <p:spPr>
            <a:xfrm flipH="1">
              <a:off x="2654794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7" name="struct.dropline.6"/>
            <p:cNvCxnSpPr/>
            <p:nvPr/>
          </p:nvCxnSpPr>
          <p:spPr>
            <a:xfrm>
              <a:off x="4876930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8" name="struct.dropline.7"/>
          <p:cNvCxnSpPr/>
          <p:nvPr/>
        </p:nvCxnSpPr>
        <p:spPr>
          <a:xfrm flipH="1">
            <a:off x="4765427" y="2411436"/>
            <a:ext cx="405200" cy="24104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9" name="struct.dropline.8"/>
          <p:cNvCxnSpPr/>
          <p:nvPr/>
        </p:nvCxnSpPr>
        <p:spPr>
          <a:xfrm>
            <a:off x="6987300" y="2411436"/>
            <a:ext cx="405200" cy="24104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pSp>
        <p:nvGrpSpPr>
          <p:cNvPr id="10" name="struct.dropline.9"/>
          <p:cNvGrpSpPr/>
          <p:nvPr/>
        </p:nvGrpSpPr>
        <p:grpSpPr>
          <a:xfrm>
            <a:off x="6875693" y="2411525"/>
            <a:ext cx="2627543" cy="2410468"/>
            <a:chOff x="6875693" y="2640125"/>
            <a:chExt cx="2627543" cy="2410468"/>
          </a:xfrm>
          <a:effectLst/>
        </p:grpSpPr>
        <p:cxnSp>
          <p:nvCxnSpPr>
            <p:cNvPr id="11" name="struct.dropline.10"/>
            <p:cNvCxnSpPr/>
            <p:nvPr/>
          </p:nvCxnSpPr>
          <p:spPr>
            <a:xfrm flipH="1">
              <a:off x="6875693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12" name="struct.dropline.11"/>
            <p:cNvCxnSpPr/>
            <p:nvPr/>
          </p:nvCxnSpPr>
          <p:spPr>
            <a:xfrm>
              <a:off x="9097829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3" name="struct.dropline.12"/>
          <p:cNvGrpSpPr/>
          <p:nvPr/>
        </p:nvGrpSpPr>
        <p:grpSpPr>
          <a:xfrm>
            <a:off x="8986143" y="2411525"/>
            <a:ext cx="2627543" cy="2410468"/>
            <a:chOff x="8986143" y="2640125"/>
            <a:chExt cx="2627543" cy="2410468"/>
          </a:xfrm>
          <a:effectLst/>
        </p:grpSpPr>
        <p:cxnSp>
          <p:nvCxnSpPr>
            <p:cNvPr id="14" name="struct.dropline.13"/>
            <p:cNvCxnSpPr/>
            <p:nvPr/>
          </p:nvCxnSpPr>
          <p:spPr>
            <a:xfrm flipH="1">
              <a:off x="8986143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15" name="struct.dropline.14"/>
            <p:cNvCxnSpPr/>
            <p:nvPr/>
          </p:nvCxnSpPr>
          <p:spPr>
            <a:xfrm>
              <a:off x="11208279" y="2640125"/>
              <a:ext cx="405407" cy="2410468"/>
            </a:xfrm>
            <a:prstGeom prst="straightConnector1">
              <a:avLst/>
            </a:prstGeom>
            <a:noFill/>
            <a:ln w="9275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6" name="struct.platform"/>
          <p:cNvSpPr txBox="1"/>
          <p:nvPr/>
        </p:nvSpPr>
        <p:spPr>
          <a:xfrm flipH="1">
            <a:off x="548640" y="4809744"/>
            <a:ext cx="11073384" cy="1325880"/>
          </a:xfrm>
          <a:prstGeom prst="rect">
            <a:avLst/>
          </a:prstGeom>
          <a:noFill/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40200" tIns="93467" rIns="140200" bIns="93467" anchor="ctr" anchorCtr="0">
            <a:noAutofit/>
          </a:bodyPr>
          <a:lstStyle/>
          <a:p>
            <a:pPr algn="ctr">
              <a:buSzPts val="1400"/>
            </a:pPr>
            <a:endParaRPr sz="1867"/>
          </a:p>
        </p:txBody>
      </p:sp>
      <p:grpSp>
        <p:nvGrpSpPr>
          <p:cNvPr id="17" name="struct.platform.chips"/>
          <p:cNvGrpSpPr/>
          <p:nvPr/>
        </p:nvGrpSpPr>
        <p:grpSpPr>
          <a:xfrm>
            <a:off x="714264" y="5197063"/>
            <a:ext cx="10729960" cy="871820"/>
            <a:chOff x="714264" y="5425663"/>
            <a:chExt cx="10729960" cy="871820"/>
          </a:xfrm>
          <a:effectLst/>
        </p:grpSpPr>
        <p:sp>
          <p:nvSpPr>
            <p:cNvPr id="18" name="slot.platform.chip.1"/>
            <p:cNvSpPr/>
            <p:nvPr/>
          </p:nvSpPr>
          <p:spPr>
            <a:xfrm>
              <a:off x="714265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Product master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9" name="slot.platform.chip.4"/>
            <p:cNvSpPr/>
            <p:nvPr/>
          </p:nvSpPr>
          <p:spPr>
            <a:xfrm>
              <a:off x="4284573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Store visits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0" name="slot.platform.chip.7"/>
            <p:cNvSpPr/>
            <p:nvPr/>
          </p:nvSpPr>
          <p:spPr>
            <a:xfrm>
              <a:off x="7854881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Agent registry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1" name="slot.platform.chip.2"/>
            <p:cNvSpPr/>
            <p:nvPr/>
          </p:nvSpPr>
          <p:spPr>
            <a:xfrm>
              <a:off x="1904368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Customer master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2" name="slot.platform.chip.5"/>
            <p:cNvSpPr/>
            <p:nvPr/>
          </p:nvSpPr>
          <p:spPr>
            <a:xfrm>
              <a:off x="5474676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Order history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3" name="slot.platform.chip.8"/>
            <p:cNvSpPr/>
            <p:nvPr/>
          </p:nvSpPr>
          <p:spPr>
            <a:xfrm>
              <a:off x="9044984" y="5425663"/>
              <a:ext cx="1209211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Evaluation runs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4" name="slot.platform.chip.3"/>
            <p:cNvSpPr/>
            <p:nvPr/>
          </p:nvSpPr>
          <p:spPr>
            <a:xfrm>
              <a:off x="3094471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Price book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5" name="slot.platform.chip.6"/>
            <p:cNvSpPr/>
            <p:nvPr/>
          </p:nvSpPr>
          <p:spPr>
            <a:xfrm>
              <a:off x="6664779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Promo calendar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6" name="slot.platform.chip.9"/>
            <p:cNvSpPr/>
            <p:nvPr/>
          </p:nvSpPr>
          <p:spPr>
            <a:xfrm>
              <a:off x="10386505" y="5425663"/>
              <a:ext cx="1057719" cy="378924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0" tIns="18288" rIns="45720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Usage logs</a:t>
              </a:r>
              <a:endPara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7" name="slot.platform.service.1"/>
            <p:cNvSpPr/>
            <p:nvPr/>
          </p:nvSpPr>
          <p:spPr>
            <a:xfrm>
              <a:off x="714264" y="5920894"/>
              <a:ext cx="3437976" cy="376589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3152" tIns="18288" rIns="73152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Governed data products for every domain</a:t>
              </a:r>
              <a:endParaRPr lang="en-US" sz="9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8" name="slot.platform.service.2"/>
            <p:cNvSpPr/>
            <p:nvPr/>
          </p:nvSpPr>
          <p:spPr>
            <a:xfrm>
              <a:off x="4284573" y="5920894"/>
              <a:ext cx="3437976" cy="376589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3152" tIns="18288" rIns="73152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One agent runtime with shared evaluation</a:t>
              </a:r>
              <a:endParaRPr lang="en-US" sz="9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9" name="slot.platform.service.3"/>
            <p:cNvSpPr/>
            <p:nvPr/>
          </p:nvSpPr>
          <p:spPr>
            <a:xfrm>
              <a:off x="7854883" y="5920894"/>
              <a:ext cx="3589079" cy="376589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95000"/>
              </a:schemeClr>
            </a:solidFill>
            <a:ln w="927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3152" tIns="18288" rIns="73152" bIns="18288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Identity, access and audit trail on every call</a:t>
              </a:r>
              <a:endParaRPr lang="en-US" sz="9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30" name="slot.header"/>
          <p:cNvSpPr txBox="1"/>
          <p:nvPr/>
        </p:nvSpPr>
        <p:spPr>
          <a:xfrm flipH="1">
            <a:off x="544600" y="989904"/>
            <a:ext cx="11069200" cy="28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Commercial agent network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key"/>
          <p:cNvSpPr txBox="1"/>
          <p:nvPr/>
        </p:nvSpPr>
        <p:spPr>
          <a:xfrm flipH="1">
            <a:off x="544600" y="1328663"/>
            <a:ext cx="11069200" cy="533200"/>
          </a:xfrm>
          <a:prstGeom prst="rect">
            <a:avLst/>
          </a:prstGeom>
          <a:solidFill>
            <a:schemeClr val="bg1"/>
          </a:solidFill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40200" tIns="93467" rIns="140200" bIns="93467" anchor="ctr" anchorCtr="0">
            <a:noAutofit/>
          </a:bodyPr>
          <a:lstStyle/>
          <a:p>
            <a:pPr algn="ctr">
              <a:buSzPts val="1400"/>
            </a:pPr>
            <a:endParaRPr sz="1867"/>
          </a:p>
        </p:txBody>
      </p:sp>
      <p:sp>
        <p:nvSpPr>
          <p:cNvPr id="32" name="struct.legend.disc.3"/>
          <p:cNvSpPr/>
          <p:nvPr/>
        </p:nvSpPr>
        <p:spPr>
          <a:xfrm>
            <a:off x="7269480" y="1499616"/>
            <a:ext cx="182880" cy="182880"/>
          </a:xfrm>
          <a:prstGeom prst="ellipse">
            <a:avLst/>
          </a:prstGeom>
          <a:solidFill>
            <a:schemeClr val="bg1">
              <a:lumMod val="55000"/>
            </a:schemeClr>
          </a:solidFill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sp>
        <p:nvSpPr>
          <p:cNvPr id="33" name="struct.legend.disc.2"/>
          <p:cNvSpPr/>
          <p:nvPr/>
        </p:nvSpPr>
        <p:spPr>
          <a:xfrm>
            <a:off x="6126480" y="1499616"/>
            <a:ext cx="182880" cy="182880"/>
          </a:xfrm>
          <a:prstGeom prst="ellipse">
            <a:avLst/>
          </a:prstGeom>
          <a:solidFill>
            <a:schemeClr val="bg1"/>
          </a:solidFill>
          <a:ln w="92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sp>
        <p:nvSpPr>
          <p:cNvPr id="34" name="struct.legend.disc.1"/>
          <p:cNvSpPr/>
          <p:nvPr/>
        </p:nvSpPr>
        <p:spPr>
          <a:xfrm>
            <a:off x="4983480" y="1499616"/>
            <a:ext cx="182880" cy="18288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sp>
        <p:nvSpPr>
          <p:cNvPr id="35" name="struct.spotlight"/>
          <p:cNvSpPr/>
          <p:nvPr/>
        </p:nvSpPr>
        <p:spPr>
          <a:xfrm>
            <a:off x="4750031" y="2401756"/>
            <a:ext cx="2652160" cy="2417117"/>
          </a:xfrm>
          <a:custGeom>
            <a:avLst/>
            <a:gdLst/>
            <a:ahLst/>
            <a:cxnLst/>
            <a:rect l="l" t="t" r="r" b="b"/>
            <a:pathLst>
              <a:path w="2045368" h="1556084" extrusionOk="0">
                <a:moveTo>
                  <a:pt x="336884" y="0"/>
                </a:moveTo>
                <a:lnTo>
                  <a:pt x="1724526" y="0"/>
                </a:lnTo>
                <a:lnTo>
                  <a:pt x="2045368" y="1556084"/>
                </a:lnTo>
                <a:lnTo>
                  <a:pt x="0" y="1556084"/>
                </a:lnTo>
                <a:lnTo>
                  <a:pt x="336884" y="0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/>
          </a:p>
        </p:txBody>
      </p:sp>
      <p:sp>
        <p:nvSpPr>
          <p:cNvPr id="36" name="slot.domain.1"/>
          <p:cNvSpPr txBox="1"/>
          <p:nvPr/>
        </p:nvSpPr>
        <p:spPr>
          <a:xfrm flipH="1">
            <a:off x="926152" y="1947903"/>
            <a:ext cx="1816800" cy="4636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Demand planning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domain.3"/>
          <p:cNvSpPr txBox="1"/>
          <p:nvPr/>
        </p:nvSpPr>
        <p:spPr>
          <a:xfrm flipH="1">
            <a:off x="5170547" y="1947903"/>
            <a:ext cx="1816800" cy="463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Sales execution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domain.4"/>
          <p:cNvSpPr txBox="1"/>
          <p:nvPr/>
        </p:nvSpPr>
        <p:spPr>
          <a:xfrm flipH="1">
            <a:off x="7281020" y="1947903"/>
            <a:ext cx="1816800" cy="4636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Trade promotion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domain.5"/>
          <p:cNvSpPr txBox="1"/>
          <p:nvPr/>
        </p:nvSpPr>
        <p:spPr>
          <a:xfrm flipH="1">
            <a:off x="9391493" y="1947903"/>
            <a:ext cx="1816800" cy="4636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Customer service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domain.2"/>
          <p:cNvSpPr txBox="1"/>
          <p:nvPr/>
        </p:nvSpPr>
        <p:spPr>
          <a:xfrm flipH="1">
            <a:off x="2999100" y="1947900"/>
            <a:ext cx="1961200" cy="4636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54864" tIns="18288" rIns="54864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Pricing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key.1.label"/>
          <p:cNvSpPr txBox="1"/>
          <p:nvPr/>
        </p:nvSpPr>
        <p:spPr>
          <a:xfrm>
            <a:off x="2029968" y="1344168"/>
            <a:ext cx="932688" cy="4937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Serves reps and planners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key.2.label"/>
          <p:cNvSpPr txBox="1"/>
          <p:nvPr/>
        </p:nvSpPr>
        <p:spPr>
          <a:xfrm>
            <a:off x="3712463" y="1344168"/>
            <a:ext cx="1005840" cy="4937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 status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legend.1"/>
          <p:cNvSpPr txBox="1"/>
          <p:nvPr/>
        </p:nvSpPr>
        <p:spPr>
          <a:xfrm>
            <a:off x="5212080" y="1426464"/>
            <a:ext cx="86868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Live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legend.3"/>
          <p:cNvSpPr txBox="1"/>
          <p:nvPr/>
        </p:nvSpPr>
        <p:spPr>
          <a:xfrm>
            <a:off x="7498079" y="1426464"/>
            <a:ext cx="86868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Shared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legend.2"/>
          <p:cNvSpPr txBox="1"/>
          <p:nvPr/>
        </p:nvSpPr>
        <p:spPr>
          <a:xfrm>
            <a:off x="6355080" y="1426464"/>
            <a:ext cx="86868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Planned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6" name="struct.key.divider.1"/>
          <p:cNvCxnSpPr/>
          <p:nvPr/>
        </p:nvCxnSpPr>
        <p:spPr>
          <a:xfrm>
            <a:off x="2999243" y="1409257"/>
            <a:ext cx="0" cy="3720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47" name="struct.key.divider.2"/>
          <p:cNvCxnSpPr/>
          <p:nvPr/>
        </p:nvCxnSpPr>
        <p:spPr>
          <a:xfrm>
            <a:off x="8806669" y="1409257"/>
            <a:ext cx="0" cy="3720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48" name="slot.key.3.label"/>
          <p:cNvSpPr txBox="1"/>
          <p:nvPr/>
        </p:nvSpPr>
        <p:spPr>
          <a:xfrm>
            <a:off x="9509760" y="1344168"/>
            <a:ext cx="2011680" cy="4937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Start where data and owners are ready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platform.label"/>
          <p:cNvSpPr/>
          <p:nvPr/>
        </p:nvSpPr>
        <p:spPr>
          <a:xfrm>
            <a:off x="2770632" y="4873752"/>
            <a:ext cx="6629400" cy="31089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3467" tIns="46733" rIns="93467" bIns="46733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Shared platform services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0" name="struct.link.1"/>
          <p:cNvCxnSpPr/>
          <p:nvPr/>
        </p:nvCxnSpPr>
        <p:spPr>
          <a:xfrm flipH="1">
            <a:off x="1409120" y="2879008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1" name="struct.link.2"/>
          <p:cNvCxnSpPr/>
          <p:nvPr/>
        </p:nvCxnSpPr>
        <p:spPr>
          <a:xfrm>
            <a:off x="1844643" y="2879008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2" name="struct.link.3"/>
          <p:cNvCxnSpPr/>
          <p:nvPr/>
        </p:nvCxnSpPr>
        <p:spPr>
          <a:xfrm>
            <a:off x="2192488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3" name="struct.link.4"/>
          <p:cNvCxnSpPr/>
          <p:nvPr/>
        </p:nvCxnSpPr>
        <p:spPr>
          <a:xfrm flipH="1">
            <a:off x="1844965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4" name="struct.link.5"/>
          <p:cNvCxnSpPr/>
          <p:nvPr/>
        </p:nvCxnSpPr>
        <p:spPr>
          <a:xfrm flipH="1">
            <a:off x="1061273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5" name="struct.link.6"/>
          <p:cNvCxnSpPr/>
          <p:nvPr/>
        </p:nvCxnSpPr>
        <p:spPr>
          <a:xfrm>
            <a:off x="1496796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6" name="struct.link.7"/>
          <p:cNvCxnSpPr/>
          <p:nvPr/>
        </p:nvCxnSpPr>
        <p:spPr>
          <a:xfrm flipH="1">
            <a:off x="3620969" y="2878995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7" name="struct.link.8"/>
          <p:cNvCxnSpPr/>
          <p:nvPr/>
        </p:nvCxnSpPr>
        <p:spPr>
          <a:xfrm>
            <a:off x="4056493" y="2878995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8" name="struct.link.9"/>
          <p:cNvCxnSpPr/>
          <p:nvPr/>
        </p:nvCxnSpPr>
        <p:spPr>
          <a:xfrm>
            <a:off x="4404339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59" name="struct.link.10"/>
          <p:cNvCxnSpPr/>
          <p:nvPr/>
        </p:nvCxnSpPr>
        <p:spPr>
          <a:xfrm flipH="1">
            <a:off x="4056816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0" name="struct.link.11"/>
          <p:cNvCxnSpPr/>
          <p:nvPr/>
        </p:nvCxnSpPr>
        <p:spPr>
          <a:xfrm flipH="1">
            <a:off x="3273125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1" name="struct.link.12"/>
          <p:cNvCxnSpPr/>
          <p:nvPr/>
        </p:nvCxnSpPr>
        <p:spPr>
          <a:xfrm>
            <a:off x="3708648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uct.link.13"/>
          <p:cNvCxnSpPr/>
          <p:nvPr/>
        </p:nvCxnSpPr>
        <p:spPr>
          <a:xfrm flipH="1">
            <a:off x="5731444" y="2879320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3" name="struct.link.14"/>
          <p:cNvCxnSpPr/>
          <p:nvPr/>
        </p:nvCxnSpPr>
        <p:spPr>
          <a:xfrm>
            <a:off x="6166972" y="2879320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4" name="struct.link.15"/>
          <p:cNvCxnSpPr/>
          <p:nvPr/>
        </p:nvCxnSpPr>
        <p:spPr>
          <a:xfrm>
            <a:off x="6514812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5" name="struct.link.16"/>
          <p:cNvCxnSpPr/>
          <p:nvPr/>
        </p:nvCxnSpPr>
        <p:spPr>
          <a:xfrm flipH="1">
            <a:off x="6167289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6" name="struct.link.17"/>
          <p:cNvCxnSpPr/>
          <p:nvPr/>
        </p:nvCxnSpPr>
        <p:spPr>
          <a:xfrm flipH="1">
            <a:off x="5383597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uct.link.18"/>
          <p:cNvCxnSpPr/>
          <p:nvPr/>
        </p:nvCxnSpPr>
        <p:spPr>
          <a:xfrm>
            <a:off x="5819121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8" name="struct.link.19"/>
          <p:cNvCxnSpPr/>
          <p:nvPr/>
        </p:nvCxnSpPr>
        <p:spPr>
          <a:xfrm flipH="1">
            <a:off x="7841917" y="2879008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69" name="struct.link.20"/>
          <p:cNvCxnSpPr/>
          <p:nvPr/>
        </p:nvCxnSpPr>
        <p:spPr>
          <a:xfrm>
            <a:off x="8277440" y="2879008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0" name="struct.link.21"/>
          <p:cNvCxnSpPr/>
          <p:nvPr/>
        </p:nvCxnSpPr>
        <p:spPr>
          <a:xfrm>
            <a:off x="8625285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1" name="struct.link.22"/>
          <p:cNvCxnSpPr/>
          <p:nvPr/>
        </p:nvCxnSpPr>
        <p:spPr>
          <a:xfrm flipH="1">
            <a:off x="8277761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2" name="struct.link.23"/>
          <p:cNvCxnSpPr/>
          <p:nvPr/>
        </p:nvCxnSpPr>
        <p:spPr>
          <a:xfrm flipH="1">
            <a:off x="7494071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3" name="struct.link.24"/>
          <p:cNvCxnSpPr/>
          <p:nvPr/>
        </p:nvCxnSpPr>
        <p:spPr>
          <a:xfrm>
            <a:off x="7929593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uct.link.25"/>
          <p:cNvCxnSpPr/>
          <p:nvPr/>
        </p:nvCxnSpPr>
        <p:spPr>
          <a:xfrm flipH="1">
            <a:off x="9952391" y="2879320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5" name="struct.link.26"/>
          <p:cNvCxnSpPr/>
          <p:nvPr/>
        </p:nvCxnSpPr>
        <p:spPr>
          <a:xfrm>
            <a:off x="10387919" y="2879320"/>
            <a:ext cx="259600" cy="569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6" name="struct.link.27"/>
          <p:cNvCxnSpPr/>
          <p:nvPr/>
        </p:nvCxnSpPr>
        <p:spPr>
          <a:xfrm>
            <a:off x="10735759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7" name="struct.link.28"/>
          <p:cNvCxnSpPr/>
          <p:nvPr/>
        </p:nvCxnSpPr>
        <p:spPr>
          <a:xfrm flipH="1">
            <a:off x="10388236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8" name="struct.link.29"/>
          <p:cNvCxnSpPr/>
          <p:nvPr/>
        </p:nvCxnSpPr>
        <p:spPr>
          <a:xfrm flipH="1">
            <a:off x="9604545" y="3656521"/>
            <a:ext cx="259600" cy="343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79" name="struct.link.30"/>
          <p:cNvCxnSpPr/>
          <p:nvPr/>
        </p:nvCxnSpPr>
        <p:spPr>
          <a:xfrm>
            <a:off x="10040068" y="3656521"/>
            <a:ext cx="171600" cy="37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0" name="struct.link.31"/>
          <p:cNvCxnSpPr/>
          <p:nvPr/>
        </p:nvCxnSpPr>
        <p:spPr>
          <a:xfrm>
            <a:off x="1881077" y="2792875"/>
            <a:ext cx="1651600" cy="691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1" name="struct.link.32"/>
          <p:cNvCxnSpPr/>
          <p:nvPr/>
        </p:nvCxnSpPr>
        <p:spPr>
          <a:xfrm rot="10800000" flipH="1">
            <a:off x="2576768" y="2793125"/>
            <a:ext cx="1267200" cy="13288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2" name="struct.link.33"/>
          <p:cNvCxnSpPr/>
          <p:nvPr/>
        </p:nvCxnSpPr>
        <p:spPr>
          <a:xfrm>
            <a:off x="2228923" y="3570389"/>
            <a:ext cx="919600" cy="551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3" name="struct.link.34"/>
          <p:cNvCxnSpPr/>
          <p:nvPr/>
        </p:nvCxnSpPr>
        <p:spPr>
          <a:xfrm>
            <a:off x="4092928" y="2792863"/>
            <a:ext cx="1550400" cy="691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" name="struct.link.35"/>
          <p:cNvCxnSpPr/>
          <p:nvPr/>
        </p:nvCxnSpPr>
        <p:spPr>
          <a:xfrm rot="10800000" flipH="1">
            <a:off x="4751808" y="2793053"/>
            <a:ext cx="1202800" cy="12428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5" name="struct.link.36"/>
          <p:cNvCxnSpPr/>
          <p:nvPr/>
        </p:nvCxnSpPr>
        <p:spPr>
          <a:xfrm>
            <a:off x="4440773" y="3570389"/>
            <a:ext cx="818000" cy="551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6" name="struct.link.37"/>
          <p:cNvCxnSpPr/>
          <p:nvPr/>
        </p:nvCxnSpPr>
        <p:spPr>
          <a:xfrm flipH="1">
            <a:off x="6862283" y="2792875"/>
            <a:ext cx="1202800" cy="12428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7" name="struct.link.38"/>
          <p:cNvCxnSpPr/>
          <p:nvPr/>
        </p:nvCxnSpPr>
        <p:spPr>
          <a:xfrm>
            <a:off x="6203408" y="2793053"/>
            <a:ext cx="1514000" cy="777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8" name="struct.link.39"/>
          <p:cNvCxnSpPr/>
          <p:nvPr/>
        </p:nvCxnSpPr>
        <p:spPr>
          <a:xfrm>
            <a:off x="6551247" y="3570389"/>
            <a:ext cx="818000" cy="551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9" name="struct.link.40"/>
          <p:cNvCxnSpPr/>
          <p:nvPr/>
        </p:nvCxnSpPr>
        <p:spPr>
          <a:xfrm rot="10800000">
            <a:off x="8313875" y="2792875"/>
            <a:ext cx="1514000" cy="777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" name="struct.link.41"/>
          <p:cNvCxnSpPr/>
          <p:nvPr/>
        </p:nvCxnSpPr>
        <p:spPr>
          <a:xfrm flipH="1">
            <a:off x="9009955" y="2793053"/>
            <a:ext cx="1165600" cy="1329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1" name="struct.link.42"/>
          <p:cNvCxnSpPr/>
          <p:nvPr/>
        </p:nvCxnSpPr>
        <p:spPr>
          <a:xfrm rot="10800000">
            <a:off x="8661865" y="3570725"/>
            <a:ext cx="818000" cy="5512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grpSp>
        <p:nvGrpSpPr>
          <p:cNvPr id="92" name="struct.agent.group.1"/>
          <p:cNvGrpSpPr/>
          <p:nvPr/>
        </p:nvGrpSpPr>
        <p:grpSpPr>
          <a:xfrm>
            <a:off x="1632285" y="2671065"/>
            <a:ext cx="248792" cy="243620"/>
            <a:chOff x="1632285" y="2899665"/>
            <a:chExt cx="248792" cy="243620"/>
          </a:xfrm>
          <a:effectLst/>
        </p:grpSpPr>
        <p:sp>
          <p:nvSpPr>
            <p:cNvPr id="93" name="struct.agent.2"/>
            <p:cNvSpPr/>
            <p:nvPr/>
          </p:nvSpPr>
          <p:spPr>
            <a:xfrm>
              <a:off x="1632285" y="2899665"/>
              <a:ext cx="248792" cy="243620"/>
            </a:xfrm>
            <a:prstGeom prst="ellipse">
              <a:avLst/>
            </a:prstGeom>
            <a:solidFill>
              <a:schemeClr val="bg1"/>
            </a:solidFill>
            <a:ln w="92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</p:grpSp>
      <p:sp>
        <p:nvSpPr>
          <p:cNvPr id="94" name="struct.agent.4"/>
          <p:cNvSpPr/>
          <p:nvPr/>
        </p:nvSpPr>
        <p:spPr>
          <a:xfrm>
            <a:off x="5954608" y="2671053"/>
            <a:ext cx="248800" cy="24400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grpSp>
        <p:nvGrpSpPr>
          <p:cNvPr id="95" name="struct.agent.group.2"/>
          <p:cNvGrpSpPr/>
          <p:nvPr/>
        </p:nvGrpSpPr>
        <p:grpSpPr>
          <a:xfrm>
            <a:off x="8065083" y="2671065"/>
            <a:ext cx="248792" cy="243620"/>
            <a:chOff x="8065083" y="2899665"/>
            <a:chExt cx="248792" cy="243620"/>
          </a:xfrm>
          <a:effectLst/>
        </p:grpSpPr>
        <p:sp>
          <p:nvSpPr>
            <p:cNvPr id="96" name="struct.agent.5"/>
            <p:cNvSpPr/>
            <p:nvPr/>
          </p:nvSpPr>
          <p:spPr>
            <a:xfrm>
              <a:off x="8065083" y="2899665"/>
              <a:ext cx="248792" cy="243620"/>
            </a:xfrm>
            <a:prstGeom prst="ellipse">
              <a:avLst/>
            </a:prstGeom>
            <a:solidFill>
              <a:schemeClr val="bg1"/>
            </a:solidFill>
            <a:ln w="92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</p:grpSp>
      <p:sp>
        <p:nvSpPr>
          <p:cNvPr id="97" name="struct.agent.6"/>
          <p:cNvSpPr/>
          <p:nvPr/>
        </p:nvSpPr>
        <p:spPr>
          <a:xfrm>
            <a:off x="10175555" y="2671053"/>
            <a:ext cx="248800" cy="24400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grpSp>
        <p:nvGrpSpPr>
          <p:cNvPr id="98" name="struct.agent.group.3"/>
          <p:cNvGrpSpPr/>
          <p:nvPr/>
        </p:nvGrpSpPr>
        <p:grpSpPr>
          <a:xfrm>
            <a:off x="1284467" y="3448686"/>
            <a:ext cx="9488043" cy="243797"/>
            <a:chOff x="1284467" y="3677286"/>
            <a:chExt cx="9488043" cy="243797"/>
          </a:xfrm>
          <a:effectLst/>
        </p:grpSpPr>
        <p:grpSp>
          <p:nvGrpSpPr>
            <p:cNvPr id="99" name="struct.agent.group.4"/>
            <p:cNvGrpSpPr/>
            <p:nvPr/>
          </p:nvGrpSpPr>
          <p:grpSpPr>
            <a:xfrm>
              <a:off x="1284467" y="3677286"/>
              <a:ext cx="248799" cy="243627"/>
              <a:chOff x="1284467" y="3677286"/>
              <a:chExt cx="248799" cy="243627"/>
            </a:xfrm>
          </p:grpSpPr>
          <p:sp>
            <p:nvSpPr>
              <p:cNvPr id="100" name="struct.agent.8"/>
              <p:cNvSpPr/>
              <p:nvPr/>
            </p:nvSpPr>
            <p:spPr>
              <a:xfrm>
                <a:off x="1284467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01" name="struct.agent.group.5"/>
            <p:cNvGrpSpPr/>
            <p:nvPr/>
          </p:nvGrpSpPr>
          <p:grpSpPr>
            <a:xfrm>
              <a:off x="1980177" y="3677286"/>
              <a:ext cx="248799" cy="243627"/>
              <a:chOff x="1980177" y="3677286"/>
              <a:chExt cx="248799" cy="243627"/>
            </a:xfrm>
          </p:grpSpPr>
          <p:sp>
            <p:nvSpPr>
              <p:cNvPr id="102" name="struct.agent.9"/>
              <p:cNvSpPr/>
              <p:nvPr/>
            </p:nvSpPr>
            <p:spPr>
              <a:xfrm>
                <a:off x="1980177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03" name="struct.agent.group.6"/>
            <p:cNvGrpSpPr/>
            <p:nvPr/>
          </p:nvGrpSpPr>
          <p:grpSpPr>
            <a:xfrm>
              <a:off x="3496386" y="3677286"/>
              <a:ext cx="248799" cy="243627"/>
              <a:chOff x="3496386" y="3677286"/>
              <a:chExt cx="248799" cy="243627"/>
            </a:xfrm>
          </p:grpSpPr>
          <p:sp>
            <p:nvSpPr>
              <p:cNvPr id="104" name="struct.agent.10"/>
              <p:cNvSpPr/>
              <p:nvPr/>
            </p:nvSpPr>
            <p:spPr>
              <a:xfrm>
                <a:off x="3496386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05" name="struct.agent.group.7"/>
            <p:cNvGrpSpPr/>
            <p:nvPr/>
          </p:nvGrpSpPr>
          <p:grpSpPr>
            <a:xfrm>
              <a:off x="4192096" y="3677286"/>
              <a:ext cx="248799" cy="243627"/>
              <a:chOff x="4192096" y="3677286"/>
              <a:chExt cx="248799" cy="243627"/>
            </a:xfrm>
          </p:grpSpPr>
          <p:sp>
            <p:nvSpPr>
              <p:cNvPr id="106" name="struct.agent.11"/>
              <p:cNvSpPr/>
              <p:nvPr/>
            </p:nvSpPr>
            <p:spPr>
              <a:xfrm>
                <a:off x="4192096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7" name="struct.agent.12"/>
            <p:cNvSpPr/>
            <p:nvPr/>
          </p:nvSpPr>
          <p:spPr>
            <a:xfrm>
              <a:off x="5606929" y="3677294"/>
              <a:ext cx="248852" cy="243789"/>
            </a:xfrm>
            <a:prstGeom prst="ellipse">
              <a:avLst/>
            </a:prstGeom>
            <a:solidFill>
              <a:schemeClr val="bg1">
                <a:lumMod val="55000"/>
              </a:schemeClr>
            </a:solidFill>
            <a:ln w="9275" cap="flat" cmpd="sng">
              <a:solidFill>
                <a:schemeClr val="bg1">
                  <a:lumMod val="5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sp>
          <p:nvSpPr>
            <p:cNvPr id="108" name="struct.agent.13"/>
            <p:cNvSpPr/>
            <p:nvPr/>
          </p:nvSpPr>
          <p:spPr>
            <a:xfrm>
              <a:off x="6302642" y="3677294"/>
              <a:ext cx="248852" cy="243789"/>
            </a:xfrm>
            <a:prstGeom prst="ellipse">
              <a:avLst/>
            </a:prstGeom>
            <a:solidFill>
              <a:schemeClr val="bg1">
                <a:lumMod val="55000"/>
              </a:schemeClr>
            </a:solidFill>
            <a:ln w="9275" cap="flat" cmpd="sng">
              <a:solidFill>
                <a:schemeClr val="bg1">
                  <a:lumMod val="5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grpSp>
          <p:nvGrpSpPr>
            <p:cNvPr id="109" name="struct.agent.group.8"/>
            <p:cNvGrpSpPr/>
            <p:nvPr/>
          </p:nvGrpSpPr>
          <p:grpSpPr>
            <a:xfrm>
              <a:off x="7717462" y="3677286"/>
              <a:ext cx="248799" cy="243627"/>
              <a:chOff x="7717462" y="3677286"/>
              <a:chExt cx="248799" cy="243627"/>
            </a:xfrm>
          </p:grpSpPr>
          <p:sp>
            <p:nvSpPr>
              <p:cNvPr id="110" name="struct.agent.14"/>
              <p:cNvSpPr/>
              <p:nvPr/>
            </p:nvSpPr>
            <p:spPr>
              <a:xfrm>
                <a:off x="7717462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11" name="struct.agent.group.9"/>
            <p:cNvGrpSpPr/>
            <p:nvPr/>
          </p:nvGrpSpPr>
          <p:grpSpPr>
            <a:xfrm>
              <a:off x="8413172" y="3677286"/>
              <a:ext cx="248799" cy="243627"/>
              <a:chOff x="8413172" y="3677286"/>
              <a:chExt cx="248799" cy="243627"/>
            </a:xfrm>
          </p:grpSpPr>
          <p:sp>
            <p:nvSpPr>
              <p:cNvPr id="112" name="struct.agent.15"/>
              <p:cNvSpPr/>
              <p:nvPr/>
            </p:nvSpPr>
            <p:spPr>
              <a:xfrm>
                <a:off x="8413172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13" name="struct.agent.group.10"/>
            <p:cNvGrpSpPr/>
            <p:nvPr/>
          </p:nvGrpSpPr>
          <p:grpSpPr>
            <a:xfrm>
              <a:off x="9828001" y="3677286"/>
              <a:ext cx="248799" cy="243627"/>
              <a:chOff x="9828001" y="3677286"/>
              <a:chExt cx="248799" cy="243627"/>
            </a:xfrm>
          </p:grpSpPr>
          <p:sp>
            <p:nvSpPr>
              <p:cNvPr id="114" name="struct.agent.16"/>
              <p:cNvSpPr/>
              <p:nvPr/>
            </p:nvSpPr>
            <p:spPr>
              <a:xfrm>
                <a:off x="9828001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15" name="struct.agent.group.11"/>
            <p:cNvGrpSpPr/>
            <p:nvPr/>
          </p:nvGrpSpPr>
          <p:grpSpPr>
            <a:xfrm>
              <a:off x="10523711" y="3677286"/>
              <a:ext cx="248799" cy="243627"/>
              <a:chOff x="10523711" y="3677286"/>
              <a:chExt cx="248799" cy="243627"/>
            </a:xfrm>
          </p:grpSpPr>
          <p:sp>
            <p:nvSpPr>
              <p:cNvPr id="116" name="struct.agent.17"/>
              <p:cNvSpPr/>
              <p:nvPr/>
            </p:nvSpPr>
            <p:spPr>
              <a:xfrm>
                <a:off x="10523711" y="3677286"/>
                <a:ext cx="248799" cy="243627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17" name="struct.agent.group.12"/>
          <p:cNvGrpSpPr/>
          <p:nvPr/>
        </p:nvGrpSpPr>
        <p:grpSpPr>
          <a:xfrm>
            <a:off x="936612" y="4000241"/>
            <a:ext cx="10183752" cy="243799"/>
            <a:chOff x="936612" y="4228841"/>
            <a:chExt cx="10183752" cy="243799"/>
          </a:xfrm>
          <a:effectLst/>
        </p:grpSpPr>
        <p:grpSp>
          <p:nvGrpSpPr>
            <p:cNvPr id="118" name="struct.agent.group.13"/>
            <p:cNvGrpSpPr/>
            <p:nvPr/>
          </p:nvGrpSpPr>
          <p:grpSpPr>
            <a:xfrm>
              <a:off x="936612" y="4228841"/>
              <a:ext cx="248799" cy="243628"/>
              <a:chOff x="936612" y="4228841"/>
              <a:chExt cx="248799" cy="243628"/>
            </a:xfrm>
          </p:grpSpPr>
          <p:sp>
            <p:nvSpPr>
              <p:cNvPr id="119" name="struct.agent.18"/>
              <p:cNvSpPr/>
              <p:nvPr/>
            </p:nvSpPr>
            <p:spPr>
              <a:xfrm>
                <a:off x="936612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truct.agent.19"/>
            <p:cNvSpPr/>
            <p:nvPr/>
          </p:nvSpPr>
          <p:spPr>
            <a:xfrm>
              <a:off x="1632328" y="4228850"/>
              <a:ext cx="248852" cy="243790"/>
            </a:xfrm>
            <a:prstGeom prst="ellipse">
              <a:avLst/>
            </a:prstGeom>
            <a:solidFill>
              <a:schemeClr val="accent1"/>
            </a:solidFill>
            <a:ln w="92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grpSp>
          <p:nvGrpSpPr>
            <p:cNvPr id="121" name="struct.agent.group.14"/>
            <p:cNvGrpSpPr/>
            <p:nvPr/>
          </p:nvGrpSpPr>
          <p:grpSpPr>
            <a:xfrm>
              <a:off x="2328032" y="4228841"/>
              <a:ext cx="248799" cy="243628"/>
              <a:chOff x="2328032" y="4228841"/>
              <a:chExt cx="248799" cy="243628"/>
            </a:xfrm>
          </p:grpSpPr>
          <p:sp>
            <p:nvSpPr>
              <p:cNvPr id="122" name="struct.agent.20"/>
              <p:cNvSpPr/>
              <p:nvPr/>
            </p:nvSpPr>
            <p:spPr>
              <a:xfrm>
                <a:off x="2328032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3" name="struct.agent.group.15"/>
            <p:cNvGrpSpPr/>
            <p:nvPr/>
          </p:nvGrpSpPr>
          <p:grpSpPr>
            <a:xfrm>
              <a:off x="3148531" y="4228841"/>
              <a:ext cx="248799" cy="243628"/>
              <a:chOff x="3148531" y="4228841"/>
              <a:chExt cx="248799" cy="243628"/>
            </a:xfrm>
          </p:grpSpPr>
          <p:sp>
            <p:nvSpPr>
              <p:cNvPr id="124" name="struct.agent.21"/>
              <p:cNvSpPr/>
              <p:nvPr/>
            </p:nvSpPr>
            <p:spPr>
              <a:xfrm>
                <a:off x="3148531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5" name="struct.agent.group.16"/>
            <p:cNvGrpSpPr/>
            <p:nvPr/>
          </p:nvGrpSpPr>
          <p:grpSpPr>
            <a:xfrm>
              <a:off x="3844241" y="4228841"/>
              <a:ext cx="248799" cy="243628"/>
              <a:chOff x="3844241" y="4228841"/>
              <a:chExt cx="248799" cy="243628"/>
            </a:xfrm>
          </p:grpSpPr>
          <p:sp>
            <p:nvSpPr>
              <p:cNvPr id="126" name="struct.agent.22"/>
              <p:cNvSpPr/>
              <p:nvPr/>
            </p:nvSpPr>
            <p:spPr>
              <a:xfrm>
                <a:off x="3844241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struct.agent.group.17"/>
            <p:cNvGrpSpPr/>
            <p:nvPr/>
          </p:nvGrpSpPr>
          <p:grpSpPr>
            <a:xfrm>
              <a:off x="4539951" y="4228841"/>
              <a:ext cx="248799" cy="243628"/>
              <a:chOff x="4539951" y="4228841"/>
              <a:chExt cx="248799" cy="243628"/>
            </a:xfrm>
          </p:grpSpPr>
          <p:sp>
            <p:nvSpPr>
              <p:cNvPr id="128" name="struct.agent.23"/>
              <p:cNvSpPr/>
              <p:nvPr/>
            </p:nvSpPr>
            <p:spPr>
              <a:xfrm>
                <a:off x="4539951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9" name="struct.agent.24"/>
            <p:cNvSpPr/>
            <p:nvPr/>
          </p:nvSpPr>
          <p:spPr>
            <a:xfrm>
              <a:off x="5259073" y="4228850"/>
              <a:ext cx="248852" cy="243790"/>
            </a:xfrm>
            <a:prstGeom prst="ellipse">
              <a:avLst/>
            </a:prstGeom>
            <a:solidFill>
              <a:schemeClr val="accent1"/>
            </a:solidFill>
            <a:ln w="9275" cap="flat" cmpd="sng">
              <a:solidFill>
                <a:schemeClr val="bg1">
                  <a:lumMod val="5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sp>
          <p:nvSpPr>
            <p:cNvPr id="130" name="struct.agent.25"/>
            <p:cNvSpPr/>
            <p:nvPr/>
          </p:nvSpPr>
          <p:spPr>
            <a:xfrm>
              <a:off x="5954785" y="4228850"/>
              <a:ext cx="248852" cy="243790"/>
            </a:xfrm>
            <a:prstGeom prst="ellipse">
              <a:avLst/>
            </a:prstGeom>
            <a:solidFill>
              <a:schemeClr val="bg1">
                <a:lumMod val="55000"/>
              </a:schemeClr>
            </a:solidFill>
            <a:ln w="9275" cap="flat" cmpd="sng">
              <a:solidFill>
                <a:schemeClr val="bg1">
                  <a:lumMod val="5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sp>
          <p:nvSpPr>
            <p:cNvPr id="131" name="struct.agent.26"/>
            <p:cNvSpPr/>
            <p:nvPr/>
          </p:nvSpPr>
          <p:spPr>
            <a:xfrm>
              <a:off x="6650498" y="4228850"/>
              <a:ext cx="248852" cy="243790"/>
            </a:xfrm>
            <a:prstGeom prst="ellipse">
              <a:avLst/>
            </a:prstGeom>
            <a:solidFill>
              <a:schemeClr val="accent1"/>
            </a:solidFill>
            <a:ln w="9275" cap="flat" cmpd="sng">
              <a:solidFill>
                <a:schemeClr val="bg1">
                  <a:lumMod val="5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grpSp>
          <p:nvGrpSpPr>
            <p:cNvPr id="132" name="struct.agent.group.18"/>
            <p:cNvGrpSpPr/>
            <p:nvPr/>
          </p:nvGrpSpPr>
          <p:grpSpPr>
            <a:xfrm>
              <a:off x="7369606" y="4228841"/>
              <a:ext cx="248799" cy="243628"/>
              <a:chOff x="7369606" y="4228841"/>
              <a:chExt cx="248799" cy="243628"/>
            </a:xfrm>
          </p:grpSpPr>
          <p:sp>
            <p:nvSpPr>
              <p:cNvPr id="133" name="struct.agent.27"/>
              <p:cNvSpPr/>
              <p:nvPr/>
            </p:nvSpPr>
            <p:spPr>
              <a:xfrm>
                <a:off x="7369606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4" name="struct.agent.28"/>
            <p:cNvSpPr/>
            <p:nvPr/>
          </p:nvSpPr>
          <p:spPr>
            <a:xfrm>
              <a:off x="8065323" y="4228850"/>
              <a:ext cx="248852" cy="243790"/>
            </a:xfrm>
            <a:prstGeom prst="ellipse">
              <a:avLst/>
            </a:prstGeom>
            <a:solidFill>
              <a:schemeClr val="accent1"/>
            </a:solidFill>
            <a:ln w="92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18667" tIns="59333" rIns="118667" bIns="59333" anchor="ctr" anchorCtr="0">
              <a:noAutofit/>
            </a:bodyPr>
            <a:lstStyle/>
            <a:p>
              <a:pPr algn="ctr">
                <a:buSzPts val="1400"/>
              </a:pPr>
              <a:endParaRPr sz="1867">
                <a:solidFill>
                  <a:schemeClr val="bg1"/>
                </a:solidFill>
              </a:endParaRPr>
            </a:p>
          </p:txBody>
        </p:sp>
        <p:grpSp>
          <p:nvGrpSpPr>
            <p:cNvPr id="135" name="struct.agent.group.19"/>
            <p:cNvGrpSpPr/>
            <p:nvPr/>
          </p:nvGrpSpPr>
          <p:grpSpPr>
            <a:xfrm>
              <a:off x="8761026" y="4228841"/>
              <a:ext cx="248799" cy="243628"/>
              <a:chOff x="8761026" y="4228841"/>
              <a:chExt cx="248799" cy="243628"/>
            </a:xfrm>
          </p:grpSpPr>
          <p:sp>
            <p:nvSpPr>
              <p:cNvPr id="136" name="struct.agent.29"/>
              <p:cNvSpPr/>
              <p:nvPr/>
            </p:nvSpPr>
            <p:spPr>
              <a:xfrm>
                <a:off x="8761026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37" name="struct.agent.group.20"/>
            <p:cNvGrpSpPr/>
            <p:nvPr/>
          </p:nvGrpSpPr>
          <p:grpSpPr>
            <a:xfrm>
              <a:off x="9480145" y="4228841"/>
              <a:ext cx="248799" cy="243628"/>
              <a:chOff x="9480145" y="4228841"/>
              <a:chExt cx="248799" cy="243628"/>
            </a:xfrm>
          </p:grpSpPr>
          <p:sp>
            <p:nvSpPr>
              <p:cNvPr id="138" name="struct.agent.30"/>
              <p:cNvSpPr/>
              <p:nvPr/>
            </p:nvSpPr>
            <p:spPr>
              <a:xfrm>
                <a:off x="9480145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39" name="struct.agent.group.21"/>
            <p:cNvGrpSpPr/>
            <p:nvPr/>
          </p:nvGrpSpPr>
          <p:grpSpPr>
            <a:xfrm>
              <a:off x="10175855" y="4228841"/>
              <a:ext cx="248799" cy="243628"/>
              <a:chOff x="10175855" y="4228841"/>
              <a:chExt cx="248799" cy="243628"/>
            </a:xfrm>
          </p:grpSpPr>
          <p:sp>
            <p:nvSpPr>
              <p:cNvPr id="140" name="struct.agent.31"/>
              <p:cNvSpPr/>
              <p:nvPr/>
            </p:nvSpPr>
            <p:spPr>
              <a:xfrm>
                <a:off x="10175855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1" name="struct.agent.group.22"/>
            <p:cNvGrpSpPr/>
            <p:nvPr/>
          </p:nvGrpSpPr>
          <p:grpSpPr>
            <a:xfrm>
              <a:off x="10871565" y="4228841"/>
              <a:ext cx="248799" cy="243628"/>
              <a:chOff x="10871565" y="4228841"/>
              <a:chExt cx="248799" cy="243628"/>
            </a:xfrm>
          </p:grpSpPr>
          <p:sp>
            <p:nvSpPr>
              <p:cNvPr id="142" name="struct.agent.32"/>
              <p:cNvSpPr/>
              <p:nvPr/>
            </p:nvSpPr>
            <p:spPr>
              <a:xfrm>
                <a:off x="10871565" y="4228841"/>
                <a:ext cx="248799" cy="243628"/>
              </a:xfrm>
              <a:prstGeom prst="ellipse">
                <a:avLst/>
              </a:prstGeom>
              <a:solidFill>
                <a:schemeClr val="bg1"/>
              </a:solidFill>
              <a:ln w="92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18667" tIns="59333" rIns="118667" bIns="59333" anchor="ctr" anchorCtr="0">
                <a:noAutofit/>
              </a:bodyPr>
              <a:lstStyle/>
              <a:p>
                <a:pPr algn="ctr">
                  <a:buSzPts val="1400"/>
                </a:pPr>
                <a:endParaRPr sz="1867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143" name="slot.agent.6.name"/>
          <p:cNvSpPr txBox="1"/>
          <p:nvPr/>
        </p:nvSpPr>
        <p:spPr>
          <a:xfrm>
            <a:off x="1249769" y="4313798"/>
            <a:ext cx="1064000" cy="1608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Stock risk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slot.agent.6.task.1"/>
          <p:cNvSpPr/>
          <p:nvPr/>
        </p:nvSpPr>
        <p:spPr>
          <a:xfrm>
            <a:off x="1190112" y="4523555"/>
            <a:ext cx="11832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Stock-out watch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slot.agent.2.name"/>
          <p:cNvSpPr txBox="1"/>
          <p:nvPr/>
        </p:nvSpPr>
        <p:spPr>
          <a:xfrm>
            <a:off x="3108960" y="2475889"/>
            <a:ext cx="1600200" cy="1608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Price guardrail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slot.agent.2.task.1"/>
          <p:cNvSpPr/>
          <p:nvPr/>
        </p:nvSpPr>
        <p:spPr>
          <a:xfrm>
            <a:off x="2472616" y="2704893"/>
            <a:ext cx="12908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Discount floors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truct.agent.3"/>
          <p:cNvSpPr/>
          <p:nvPr/>
        </p:nvSpPr>
        <p:spPr>
          <a:xfrm>
            <a:off x="3844135" y="2671053"/>
            <a:ext cx="248800" cy="24400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sp>
        <p:nvSpPr>
          <p:cNvPr id="148" name="slot.agent.2.task.2"/>
          <p:cNvSpPr/>
          <p:nvPr/>
        </p:nvSpPr>
        <p:spPr>
          <a:xfrm>
            <a:off x="2472616" y="2991872"/>
            <a:ext cx="12908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Deal desk triage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slot.agent.3.name"/>
          <p:cNvSpPr txBox="1"/>
          <p:nvPr/>
        </p:nvSpPr>
        <p:spPr>
          <a:xfrm>
            <a:off x="6245352" y="2604243"/>
            <a:ext cx="114300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Visit planner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slot.agent.3.task.1"/>
          <p:cNvSpPr/>
          <p:nvPr/>
        </p:nvSpPr>
        <p:spPr>
          <a:xfrm>
            <a:off x="6245352" y="2801564"/>
            <a:ext cx="11430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Daily store route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slot.agent.3.task.2"/>
          <p:cNvSpPr/>
          <p:nvPr/>
        </p:nvSpPr>
        <p:spPr>
          <a:xfrm>
            <a:off x="6245352" y="3059376"/>
            <a:ext cx="11430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Shelf gap alerts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slot.agent.7.name"/>
          <p:cNvSpPr txBox="1"/>
          <p:nvPr/>
        </p:nvSpPr>
        <p:spPr>
          <a:xfrm>
            <a:off x="4773168" y="4313798"/>
            <a:ext cx="146304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 capture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slot.agent.7.task.1"/>
          <p:cNvSpPr/>
          <p:nvPr/>
        </p:nvSpPr>
        <p:spPr>
          <a:xfrm>
            <a:off x="4773168" y="4507673"/>
            <a:ext cx="1463040" cy="213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Voice and email orders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lot.agent.8.name"/>
          <p:cNvSpPr txBox="1"/>
          <p:nvPr/>
        </p:nvSpPr>
        <p:spPr>
          <a:xfrm>
            <a:off x="6355080" y="4313797"/>
            <a:ext cx="100584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Call notes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slot.agent.8.task.1"/>
          <p:cNvSpPr/>
          <p:nvPr/>
        </p:nvSpPr>
        <p:spPr>
          <a:xfrm>
            <a:off x="6409944" y="4523555"/>
            <a:ext cx="960120" cy="213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Visit notes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lot.agent.9.name"/>
          <p:cNvSpPr txBox="1"/>
          <p:nvPr/>
        </p:nvSpPr>
        <p:spPr>
          <a:xfrm>
            <a:off x="7733933" y="4313798"/>
            <a:ext cx="122160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Promo check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slot.agent.9.task.1"/>
          <p:cNvSpPr/>
          <p:nvPr/>
        </p:nvSpPr>
        <p:spPr>
          <a:xfrm>
            <a:off x="7783576" y="4523555"/>
            <a:ext cx="11224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Uplift readout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lot.agent.4.name"/>
          <p:cNvSpPr txBox="1"/>
          <p:nvPr/>
        </p:nvSpPr>
        <p:spPr>
          <a:xfrm>
            <a:off x="8871447" y="2547250"/>
            <a:ext cx="132440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 status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slot.agent.4.task.1"/>
          <p:cNvSpPr/>
          <p:nvPr/>
        </p:nvSpPr>
        <p:spPr>
          <a:xfrm>
            <a:off x="8983017" y="2744571"/>
            <a:ext cx="11012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Delay notices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slot.agent.4.task.2"/>
          <p:cNvSpPr/>
          <p:nvPr/>
        </p:nvSpPr>
        <p:spPr>
          <a:xfrm>
            <a:off x="8983017" y="3023212"/>
            <a:ext cx="1101200" cy="213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Claim intake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slot.agent.5.name"/>
          <p:cNvSpPr txBox="1"/>
          <p:nvPr/>
        </p:nvSpPr>
        <p:spPr>
          <a:xfrm>
            <a:off x="11105129" y="2830083"/>
            <a:ext cx="953600" cy="16087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Returns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slot.agent.5.task.1"/>
          <p:cNvSpPr/>
          <p:nvPr/>
        </p:nvSpPr>
        <p:spPr>
          <a:xfrm>
            <a:off x="11087065" y="2998044"/>
            <a:ext cx="974400" cy="3284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Credit note drafts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slot.agent.1.name"/>
          <p:cNvSpPr txBox="1"/>
          <p:nvPr/>
        </p:nvSpPr>
        <p:spPr>
          <a:xfrm>
            <a:off x="442815" y="2693614"/>
            <a:ext cx="1108800" cy="1608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Forecast 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slot.agent.1.task.1"/>
          <p:cNvSpPr/>
          <p:nvPr/>
        </p:nvSpPr>
        <p:spPr>
          <a:xfrm>
            <a:off x="347767" y="2879871"/>
            <a:ext cx="1228000" cy="197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Demand signal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slot.agent.1.task.2"/>
          <p:cNvSpPr/>
          <p:nvPr/>
        </p:nvSpPr>
        <p:spPr>
          <a:xfrm>
            <a:off x="347767" y="3144891"/>
            <a:ext cx="1228000" cy="197200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45720" tIns="9144" rIns="45720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Regional bias alerts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struct.agent.1"/>
          <p:cNvSpPr/>
          <p:nvPr/>
        </p:nvSpPr>
        <p:spPr>
          <a:xfrm>
            <a:off x="11456983" y="2585211"/>
            <a:ext cx="248800" cy="24400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cxnSp>
        <p:nvCxnSpPr>
          <p:cNvPr id="167" name="struct.link.43"/>
          <p:cNvCxnSpPr/>
          <p:nvPr/>
        </p:nvCxnSpPr>
        <p:spPr>
          <a:xfrm rot="10800000" flipH="1">
            <a:off x="10431553" y="2704057"/>
            <a:ext cx="1032000" cy="716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168" name="struct.agent.7"/>
          <p:cNvSpPr/>
          <p:nvPr/>
        </p:nvSpPr>
        <p:spPr>
          <a:xfrm>
            <a:off x="749656" y="3403007"/>
            <a:ext cx="248800" cy="244000"/>
          </a:xfrm>
          <a:prstGeom prst="ellipse">
            <a:avLst/>
          </a:prstGeom>
          <a:solidFill>
            <a:schemeClr val="accent1"/>
          </a:solidFill>
          <a:ln w="92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8667" tIns="59333" rIns="118667" bIns="59333" anchor="ctr" anchorCtr="0">
            <a:noAutofit/>
          </a:bodyPr>
          <a:lstStyle/>
          <a:p>
            <a:pPr algn="ctr">
              <a:buSzPts val="1400"/>
            </a:pPr>
            <a:endParaRPr sz="1867">
              <a:solidFill>
                <a:schemeClr val="bg1"/>
              </a:solidFill>
            </a:endParaRPr>
          </a:p>
        </p:txBody>
      </p:sp>
      <p:cxnSp>
        <p:nvCxnSpPr>
          <p:cNvPr id="169" name="struct.link.44"/>
          <p:cNvCxnSpPr/>
          <p:nvPr/>
        </p:nvCxnSpPr>
        <p:spPr>
          <a:xfrm rot="10800000">
            <a:off x="895347" y="3619727"/>
            <a:ext cx="138400" cy="366800"/>
          </a:xfrm>
          <a:prstGeom prst="straightConnector1">
            <a:avLst/>
          </a:prstGeom>
          <a:noFill/>
          <a:ln w="92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170" name="slot.title"/>
          <p:cNvSpPr txBox="1">
            <a:spLocks noGrp="1"/>
          </p:cNvSpPr>
          <p:nvPr/>
        </p:nvSpPr>
        <p:spPr>
          <a:xfrm>
            <a:off x="318294" y="178328"/>
            <a:ext cx="11555412" cy="48895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Sales execution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goes first, since its six agents feed the other four domains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slot.key.1.icon.2"/>
          <p:cNvSpPr/>
          <p:nvPr/>
        </p:nvSpPr>
        <p:spPr>
          <a:xfrm>
            <a:off x="1580998" y="1430579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1000"/>
                </a:moveTo>
                <a:lnTo>
                  <a:pt x="15000" y="16000"/>
                </a:lnTo>
                <a:cubicBezTo>
                  <a:pt x="15000" y="15448"/>
                  <a:pt x="14552" y="15000"/>
                  <a:pt x="14000" y="15000"/>
                </a:cubicBezTo>
                <a:lnTo>
                  <a:pt x="10000" y="15000"/>
                </a:lnTo>
                <a:cubicBezTo>
                  <a:pt x="9448" y="15000"/>
                  <a:pt x="9000" y="15448"/>
                  <a:pt x="9000" y="16000"/>
                </a:cubicBezTo>
                <a:lnTo>
                  <a:pt x="9000" y="21000"/>
                </a:lnTo>
                <a:moveTo>
                  <a:pt x="17774" y="10310"/>
                </a:moveTo>
                <a:cubicBezTo>
                  <a:pt x="17341" y="9895"/>
                  <a:pt x="16658" y="9895"/>
                  <a:pt x="16225" y="10310"/>
                </a:cubicBezTo>
                <a:cubicBezTo>
                  <a:pt x="15259" y="11231"/>
                  <a:pt x="13740" y="11231"/>
                  <a:pt x="12774" y="10310"/>
                </a:cubicBezTo>
                <a:cubicBezTo>
                  <a:pt x="12341" y="9896"/>
                  <a:pt x="11659" y="9896"/>
                  <a:pt x="11226" y="10310"/>
                </a:cubicBezTo>
                <a:cubicBezTo>
                  <a:pt x="10260" y="11232"/>
                  <a:pt x="8740" y="11232"/>
                  <a:pt x="7774" y="10310"/>
                </a:cubicBezTo>
                <a:cubicBezTo>
                  <a:pt x="7341" y="9895"/>
                  <a:pt x="6658" y="9895"/>
                  <a:pt x="6225" y="10310"/>
                </a:cubicBezTo>
                <a:cubicBezTo>
                  <a:pt x="5294" y="11198"/>
                  <a:pt x="3842" y="11235"/>
                  <a:pt x="2867" y="10395"/>
                </a:cubicBezTo>
                <a:cubicBezTo>
                  <a:pt x="1893" y="9556"/>
                  <a:pt x="1714" y="8114"/>
                  <a:pt x="2455" y="7062"/>
                </a:cubicBezTo>
                <a:lnTo>
                  <a:pt x="5344" y="2878"/>
                </a:lnTo>
                <a:cubicBezTo>
                  <a:pt x="5716" y="2329"/>
                  <a:pt x="6337" y="2000"/>
                  <a:pt x="7000" y="2000"/>
                </a:cubicBezTo>
                <a:lnTo>
                  <a:pt x="17000" y="2000"/>
                </a:lnTo>
                <a:cubicBezTo>
                  <a:pt x="17661" y="2000"/>
                  <a:pt x="18280" y="2327"/>
                  <a:pt x="18653" y="2873"/>
                </a:cubicBezTo>
                <a:lnTo>
                  <a:pt x="21548" y="7065"/>
                </a:lnTo>
                <a:cubicBezTo>
                  <a:pt x="22289" y="8118"/>
                  <a:pt x="22109" y="9561"/>
                  <a:pt x="21133" y="10400"/>
                </a:cubicBezTo>
                <a:cubicBezTo>
                  <a:pt x="20157" y="11239"/>
                  <a:pt x="18703" y="11199"/>
                  <a:pt x="17774" y="10309"/>
                </a:cubicBezTo>
                <a:moveTo>
                  <a:pt x="4000" y="10950"/>
                </a:moveTo>
                <a:lnTo>
                  <a:pt x="4000" y="19000"/>
                </a:lnTo>
                <a:cubicBezTo>
                  <a:pt x="4000" y="20105"/>
                  <a:pt x="4895" y="21000"/>
                  <a:pt x="6000" y="21000"/>
                </a:cubicBezTo>
                <a:lnTo>
                  <a:pt x="18000" y="21000"/>
                </a:lnTo>
                <a:cubicBezTo>
                  <a:pt x="19105" y="21000"/>
                  <a:pt x="20000" y="20105"/>
                  <a:pt x="20000" y="19000"/>
                </a:cubicBezTo>
                <a:lnTo>
                  <a:pt x="20000" y="1095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2" name="slot.key.2.icon"/>
          <p:cNvSpPr/>
          <p:nvPr/>
        </p:nvSpPr>
        <p:spPr>
          <a:xfrm>
            <a:off x="3296412" y="1430122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3000"/>
                </a:moveTo>
                <a:lnTo>
                  <a:pt x="12000" y="21000"/>
                </a:lnTo>
                <a:moveTo>
                  <a:pt x="19000" y="8000"/>
                </a:moveTo>
                <a:lnTo>
                  <a:pt x="22000" y="16000"/>
                </a:lnTo>
                <a:cubicBezTo>
                  <a:pt x="20222" y="17333"/>
                  <a:pt x="17778" y="17333"/>
                  <a:pt x="16000" y="16000"/>
                </a:cubicBezTo>
                <a:close/>
                <a:moveTo>
                  <a:pt x="19000" y="8000"/>
                </a:moveTo>
                <a:lnTo>
                  <a:pt x="19000" y="7000"/>
                </a:lnTo>
                <a:moveTo>
                  <a:pt x="3000" y="7000"/>
                </a:moveTo>
                <a:lnTo>
                  <a:pt x="4000" y="7000"/>
                </a:lnTo>
                <a:cubicBezTo>
                  <a:pt x="6790" y="7000"/>
                  <a:pt x="9538" y="6313"/>
                  <a:pt x="12000" y="5000"/>
                </a:cubicBezTo>
                <a:cubicBezTo>
                  <a:pt x="14462" y="6313"/>
                  <a:pt x="17210" y="7000"/>
                  <a:pt x="20000" y="7000"/>
                </a:cubicBezTo>
                <a:lnTo>
                  <a:pt x="21000" y="7000"/>
                </a:lnTo>
                <a:moveTo>
                  <a:pt x="5000" y="8000"/>
                </a:moveTo>
                <a:lnTo>
                  <a:pt x="8000" y="16000"/>
                </a:lnTo>
                <a:cubicBezTo>
                  <a:pt x="6222" y="17333"/>
                  <a:pt x="3778" y="17333"/>
                  <a:pt x="2000" y="16000"/>
                </a:cubicBezTo>
                <a:close/>
                <a:moveTo>
                  <a:pt x="5000" y="8000"/>
                </a:moveTo>
                <a:lnTo>
                  <a:pt x="5000" y="7000"/>
                </a:lnTo>
                <a:moveTo>
                  <a:pt x="7000" y="21000"/>
                </a:moveTo>
                <a:lnTo>
                  <a:pt x="17000" y="2100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3" name="slot.key.3.icon"/>
          <p:cNvSpPr/>
          <p:nvPr/>
        </p:nvSpPr>
        <p:spPr>
          <a:xfrm>
            <a:off x="9005011" y="141183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8000" y="12000"/>
                </a:moveTo>
                <a:cubicBezTo>
                  <a:pt x="18000" y="15314"/>
                  <a:pt x="15314" y="18000"/>
                  <a:pt x="12000" y="18000"/>
                </a:cubicBezTo>
                <a:cubicBezTo>
                  <a:pt x="8686" y="18000"/>
                  <a:pt x="6000" y="15314"/>
                  <a:pt x="6000" y="12000"/>
                </a:cubicBezTo>
                <a:cubicBezTo>
                  <a:pt x="6000" y="8686"/>
                  <a:pt x="8686" y="6000"/>
                  <a:pt x="12000" y="6000"/>
                </a:cubicBezTo>
                <a:cubicBezTo>
                  <a:pt x="15314" y="6000"/>
                  <a:pt x="18000" y="8686"/>
                  <a:pt x="18000" y="12000"/>
                </a:cubicBezTo>
                <a:close/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4" name="slot.key.1.icon.1"/>
          <p:cNvSpPr/>
          <p:nvPr/>
        </p:nvSpPr>
        <p:spPr>
          <a:xfrm>
            <a:off x="1098194" y="1420520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5" name="slot.agent.disc.2.icon"/>
          <p:cNvSpPr/>
          <p:nvPr/>
        </p:nvSpPr>
        <p:spPr>
          <a:xfrm>
            <a:off x="1678957" y="271515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6" name="slot.agent.disc.4.icon"/>
          <p:cNvSpPr/>
          <p:nvPr/>
        </p:nvSpPr>
        <p:spPr>
          <a:xfrm>
            <a:off x="6001284" y="271532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77" name="slot.agent.disc.5.icon"/>
          <p:cNvSpPr/>
          <p:nvPr/>
        </p:nvSpPr>
        <p:spPr>
          <a:xfrm>
            <a:off x="8111755" y="271515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8" name="slot.agent.disc.8.icon"/>
          <p:cNvSpPr/>
          <p:nvPr/>
        </p:nvSpPr>
        <p:spPr>
          <a:xfrm>
            <a:off x="1331142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9" name="slot.agent.disc.9.icon"/>
          <p:cNvSpPr/>
          <p:nvPr/>
        </p:nvSpPr>
        <p:spPr>
          <a:xfrm>
            <a:off x="2026853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0" name="slot.agent.disc.10.icon"/>
          <p:cNvSpPr/>
          <p:nvPr/>
        </p:nvSpPr>
        <p:spPr>
          <a:xfrm>
            <a:off x="3543062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1" name="slot.agent.disc.11.icon"/>
          <p:cNvSpPr/>
          <p:nvPr/>
        </p:nvSpPr>
        <p:spPr>
          <a:xfrm>
            <a:off x="4238772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2" name="slot.agent.disc.12.icon"/>
          <p:cNvSpPr/>
          <p:nvPr/>
        </p:nvSpPr>
        <p:spPr>
          <a:xfrm>
            <a:off x="5653631" y="34928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83" name="slot.agent.disc.13.icon"/>
          <p:cNvSpPr/>
          <p:nvPr/>
        </p:nvSpPr>
        <p:spPr>
          <a:xfrm>
            <a:off x="6349344" y="34928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84" name="slot.agent.disc.14.icon"/>
          <p:cNvSpPr/>
          <p:nvPr/>
        </p:nvSpPr>
        <p:spPr>
          <a:xfrm>
            <a:off x="7764138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5" name="slot.agent.disc.15.icon"/>
          <p:cNvSpPr/>
          <p:nvPr/>
        </p:nvSpPr>
        <p:spPr>
          <a:xfrm>
            <a:off x="8459848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6" name="slot.agent.disc.16.icon"/>
          <p:cNvSpPr/>
          <p:nvPr/>
        </p:nvSpPr>
        <p:spPr>
          <a:xfrm>
            <a:off x="9874676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7" name="slot.agent.disc.17.icon"/>
          <p:cNvSpPr/>
          <p:nvPr/>
        </p:nvSpPr>
        <p:spPr>
          <a:xfrm>
            <a:off x="10570386" y="349277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8" name="slot.agent.disc.18.icon"/>
          <p:cNvSpPr/>
          <p:nvPr/>
        </p:nvSpPr>
        <p:spPr>
          <a:xfrm>
            <a:off x="983288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89" name="slot.agent.disc.20.icon"/>
          <p:cNvSpPr/>
          <p:nvPr/>
        </p:nvSpPr>
        <p:spPr>
          <a:xfrm>
            <a:off x="2374708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0" name="slot.agent.disc.21.icon"/>
          <p:cNvSpPr/>
          <p:nvPr/>
        </p:nvSpPr>
        <p:spPr>
          <a:xfrm>
            <a:off x="3195206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1" name="slot.agent.disc.22.icon"/>
          <p:cNvSpPr/>
          <p:nvPr/>
        </p:nvSpPr>
        <p:spPr>
          <a:xfrm>
            <a:off x="3890916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2" name="slot.agent.disc.23.icon"/>
          <p:cNvSpPr/>
          <p:nvPr/>
        </p:nvSpPr>
        <p:spPr>
          <a:xfrm>
            <a:off x="4586626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3" name="slot.agent.disc.24.icon"/>
          <p:cNvSpPr/>
          <p:nvPr/>
        </p:nvSpPr>
        <p:spPr>
          <a:xfrm>
            <a:off x="5305775" y="404442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4" name="slot.agent.disc.25.icon"/>
          <p:cNvSpPr/>
          <p:nvPr/>
        </p:nvSpPr>
        <p:spPr>
          <a:xfrm>
            <a:off x="6001487" y="404442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5" name="slot.agent.disc.26.icon"/>
          <p:cNvSpPr/>
          <p:nvPr/>
        </p:nvSpPr>
        <p:spPr>
          <a:xfrm>
            <a:off x="6697200" y="404442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6" name="slot.agent.disc.27.icon"/>
          <p:cNvSpPr/>
          <p:nvPr/>
        </p:nvSpPr>
        <p:spPr>
          <a:xfrm>
            <a:off x="7416282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7" name="slot.agent.disc.29.icon"/>
          <p:cNvSpPr/>
          <p:nvPr/>
        </p:nvSpPr>
        <p:spPr>
          <a:xfrm>
            <a:off x="8807702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8" name="slot.agent.disc.30.icon"/>
          <p:cNvSpPr/>
          <p:nvPr/>
        </p:nvSpPr>
        <p:spPr>
          <a:xfrm>
            <a:off x="9526820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99" name="slot.agent.disc.31.icon"/>
          <p:cNvSpPr/>
          <p:nvPr/>
        </p:nvSpPr>
        <p:spPr>
          <a:xfrm>
            <a:off x="10222530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200" name="slot.agent.disc.32.icon"/>
          <p:cNvSpPr/>
          <p:nvPr/>
        </p:nvSpPr>
        <p:spPr>
          <a:xfrm>
            <a:off x="10918240" y="404433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201" name="slot.agent.disc.6.icon"/>
          <p:cNvSpPr/>
          <p:nvPr/>
        </p:nvSpPr>
        <p:spPr>
          <a:xfrm>
            <a:off x="10222231" y="271532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2" name="slot.agent.disc.28.icon"/>
          <p:cNvSpPr/>
          <p:nvPr/>
        </p:nvSpPr>
        <p:spPr>
          <a:xfrm>
            <a:off x="8112025" y="404442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3" name="slot.agent.disc.1.icon"/>
          <p:cNvSpPr/>
          <p:nvPr/>
        </p:nvSpPr>
        <p:spPr>
          <a:xfrm>
            <a:off x="11503659" y="2629487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4" name="slot.agent.disc.3.icon"/>
          <p:cNvSpPr/>
          <p:nvPr/>
        </p:nvSpPr>
        <p:spPr>
          <a:xfrm>
            <a:off x="3890811" y="271532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5" name="slot.agent.disc.19.icon"/>
          <p:cNvSpPr/>
          <p:nvPr/>
        </p:nvSpPr>
        <p:spPr>
          <a:xfrm>
            <a:off x="1679030" y="4044421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6" name="slot.agent.disc.7.icon"/>
          <p:cNvSpPr/>
          <p:nvPr/>
        </p:nvSpPr>
        <p:spPr>
          <a:xfrm>
            <a:off x="796332" y="344728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alue-horizons:s-curve-vignettes">
    <p:spTree>
      <p:nvGrpSpPr>
        <p:cNvPr id="1" name=""/>
        <p:cNvGrpSpPr/>
        <p:nvPr/>
      </p:nvGrpSpPr>
      <p:grpSpPr/>
      <p:sp>
        <p:nvSpPr>
          <p:cNvPr id="2" name="struct.climb.area.1"/>
          <p:cNvSpPr/>
          <p:nvPr/>
        </p:nvSpPr>
        <p:spPr>
          <a:xfrm>
            <a:off x="560220" y="4042186"/>
            <a:ext cx="2460435" cy="1334485"/>
          </a:xfrm>
          <a:custGeom>
            <a:avLst/>
            <a:gdLst/>
            <a:ahLst/>
            <a:cxnLst/>
            <a:rect l="0" t="0" r="r" b="b"/>
            <a:pathLst>
              <a:path w="2460435" h="1334485">
                <a:moveTo>
                  <a:pt x="0" y="933698"/>
                </a:moveTo>
                <a:lnTo>
                  <a:pt x="31714" y="928310"/>
                </a:lnTo>
                <a:lnTo>
                  <a:pt x="63407" y="922694"/>
                </a:lnTo>
                <a:lnTo>
                  <a:pt x="95080" y="916852"/>
                </a:lnTo>
                <a:lnTo>
                  <a:pt x="126734" y="910786"/>
                </a:lnTo>
                <a:lnTo>
                  <a:pt x="158371" y="904501"/>
                </a:lnTo>
                <a:lnTo>
                  <a:pt x="189990" y="897998"/>
                </a:lnTo>
                <a:lnTo>
                  <a:pt x="221594" y="891280"/>
                </a:lnTo>
                <a:lnTo>
                  <a:pt x="253183" y="884351"/>
                </a:lnTo>
                <a:lnTo>
                  <a:pt x="284759" y="877212"/>
                </a:lnTo>
                <a:lnTo>
                  <a:pt x="316323" y="869867"/>
                </a:lnTo>
                <a:lnTo>
                  <a:pt x="347875" y="862318"/>
                </a:lnTo>
                <a:lnTo>
                  <a:pt x="379418" y="854569"/>
                </a:lnTo>
                <a:lnTo>
                  <a:pt x="410951" y="846622"/>
                </a:lnTo>
                <a:lnTo>
                  <a:pt x="442477" y="838479"/>
                </a:lnTo>
                <a:lnTo>
                  <a:pt x="473996" y="830144"/>
                </a:lnTo>
                <a:lnTo>
                  <a:pt x="505509" y="821619"/>
                </a:lnTo>
                <a:lnTo>
                  <a:pt x="537018" y="812908"/>
                </a:lnTo>
                <a:lnTo>
                  <a:pt x="568524" y="804012"/>
                </a:lnTo>
                <a:lnTo>
                  <a:pt x="600027" y="794935"/>
                </a:lnTo>
                <a:lnTo>
                  <a:pt x="631529" y="785679"/>
                </a:lnTo>
                <a:lnTo>
                  <a:pt x="663032" y="776248"/>
                </a:lnTo>
                <a:lnTo>
                  <a:pt x="694535" y="766644"/>
                </a:lnTo>
                <a:lnTo>
                  <a:pt x="726040" y="756869"/>
                </a:lnTo>
                <a:lnTo>
                  <a:pt x="757549" y="746928"/>
                </a:lnTo>
                <a:lnTo>
                  <a:pt x="789063" y="736821"/>
                </a:lnTo>
                <a:lnTo>
                  <a:pt x="820582" y="726553"/>
                </a:lnTo>
                <a:lnTo>
                  <a:pt x="852107" y="716125"/>
                </a:lnTo>
                <a:lnTo>
                  <a:pt x="883641" y="705542"/>
                </a:lnTo>
                <a:lnTo>
                  <a:pt x="915183" y="694804"/>
                </a:lnTo>
                <a:lnTo>
                  <a:pt x="946736" y="683916"/>
                </a:lnTo>
                <a:lnTo>
                  <a:pt x="978300" y="672880"/>
                </a:lnTo>
                <a:lnTo>
                  <a:pt x="1009875" y="661699"/>
                </a:lnTo>
                <a:lnTo>
                  <a:pt x="1041465" y="650376"/>
                </a:lnTo>
                <a:lnTo>
                  <a:pt x="1073069" y="638913"/>
                </a:lnTo>
                <a:lnTo>
                  <a:pt x="1104688" y="627313"/>
                </a:lnTo>
                <a:lnTo>
                  <a:pt x="1136324" y="615579"/>
                </a:lnTo>
                <a:lnTo>
                  <a:pt x="1167978" y="603714"/>
                </a:lnTo>
                <a:lnTo>
                  <a:pt x="1199651" y="591720"/>
                </a:lnTo>
                <a:lnTo>
                  <a:pt x="1231344" y="579601"/>
                </a:lnTo>
                <a:lnTo>
                  <a:pt x="1263059" y="567358"/>
                </a:lnTo>
                <a:lnTo>
                  <a:pt x="1294795" y="554996"/>
                </a:lnTo>
                <a:lnTo>
                  <a:pt x="1326555" y="542516"/>
                </a:lnTo>
                <a:lnTo>
                  <a:pt x="1358340" y="529921"/>
                </a:lnTo>
                <a:lnTo>
                  <a:pt x="1390150" y="517215"/>
                </a:lnTo>
                <a:lnTo>
                  <a:pt x="1421987" y="504400"/>
                </a:lnTo>
                <a:lnTo>
                  <a:pt x="1453852" y="491478"/>
                </a:lnTo>
                <a:lnTo>
                  <a:pt x="1485746" y="478453"/>
                </a:lnTo>
                <a:lnTo>
                  <a:pt x="1517670" y="465328"/>
                </a:lnTo>
                <a:lnTo>
                  <a:pt x="1549626" y="452104"/>
                </a:lnTo>
                <a:lnTo>
                  <a:pt x="1581614" y="438785"/>
                </a:lnTo>
                <a:lnTo>
                  <a:pt x="1613635" y="425374"/>
                </a:lnTo>
                <a:lnTo>
                  <a:pt x="1645691" y="411874"/>
                </a:lnTo>
                <a:lnTo>
                  <a:pt x="1677782" y="398286"/>
                </a:lnTo>
                <a:lnTo>
                  <a:pt x="1709911" y="384615"/>
                </a:lnTo>
                <a:lnTo>
                  <a:pt x="1742077" y="370862"/>
                </a:lnTo>
                <a:lnTo>
                  <a:pt x="1774282" y="357031"/>
                </a:lnTo>
                <a:lnTo>
                  <a:pt x="1806528" y="343124"/>
                </a:lnTo>
                <a:lnTo>
                  <a:pt x="1838815" y="329145"/>
                </a:lnTo>
                <a:lnTo>
                  <a:pt x="1871144" y="315095"/>
                </a:lnTo>
                <a:lnTo>
                  <a:pt x="1903517" y="300978"/>
                </a:lnTo>
                <a:lnTo>
                  <a:pt x="1935864" y="286629"/>
                </a:lnTo>
                <a:lnTo>
                  <a:pt x="1968118" y="271893"/>
                </a:lnTo>
                <a:lnTo>
                  <a:pt x="2000286" y="256783"/>
                </a:lnTo>
                <a:lnTo>
                  <a:pt x="2032374" y="241314"/>
                </a:lnTo>
                <a:lnTo>
                  <a:pt x="2064387" y="225499"/>
                </a:lnTo>
                <a:lnTo>
                  <a:pt x="2096332" y="209353"/>
                </a:lnTo>
                <a:lnTo>
                  <a:pt x="2128215" y="192889"/>
                </a:lnTo>
                <a:lnTo>
                  <a:pt x="2160041" y="176122"/>
                </a:lnTo>
                <a:lnTo>
                  <a:pt x="2191818" y="159066"/>
                </a:lnTo>
                <a:lnTo>
                  <a:pt x="2223550" y="141735"/>
                </a:lnTo>
                <a:lnTo>
                  <a:pt x="2255244" y="124142"/>
                </a:lnTo>
                <a:lnTo>
                  <a:pt x="2286907" y="106303"/>
                </a:lnTo>
                <a:lnTo>
                  <a:pt x="2318543" y="88231"/>
                </a:lnTo>
                <a:lnTo>
                  <a:pt x="2350159" y="69940"/>
                </a:lnTo>
                <a:lnTo>
                  <a:pt x="2381762" y="51445"/>
                </a:lnTo>
                <a:lnTo>
                  <a:pt x="2413356" y="32759"/>
                </a:lnTo>
                <a:lnTo>
                  <a:pt x="2444949" y="13896"/>
                </a:lnTo>
                <a:lnTo>
                  <a:pt x="2460435" y="4572"/>
                </a:lnTo>
                <a:lnTo>
                  <a:pt x="2460435" y="1334485"/>
                </a:lnTo>
                <a:lnTo>
                  <a:pt x="0" y="1334485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467"/>
          </a:p>
        </p:txBody>
      </p:sp>
      <p:sp>
        <p:nvSpPr>
          <p:cNvPr id="3" name="struct.climb.area.2"/>
          <p:cNvSpPr/>
          <p:nvPr/>
        </p:nvSpPr>
        <p:spPr>
          <a:xfrm>
            <a:off x="3020655" y="2982222"/>
            <a:ext cx="2556432" cy="2394449"/>
          </a:xfrm>
          <a:custGeom>
            <a:avLst/>
            <a:gdLst/>
            <a:ahLst/>
            <a:cxnLst/>
            <a:rect l="0" t="0" r="r" b="b"/>
            <a:pathLst>
              <a:path w="2556432" h="2394449">
                <a:moveTo>
                  <a:pt x="0" y="1064536"/>
                </a:moveTo>
                <a:lnTo>
                  <a:pt x="16111" y="1054836"/>
                </a:lnTo>
                <a:lnTo>
                  <a:pt x="47718" y="1035662"/>
                </a:lnTo>
                <a:lnTo>
                  <a:pt x="79341" y="1016355"/>
                </a:lnTo>
                <a:lnTo>
                  <a:pt x="110987" y="996927"/>
                </a:lnTo>
                <a:lnTo>
                  <a:pt x="142661" y="977394"/>
                </a:lnTo>
                <a:lnTo>
                  <a:pt x="174370" y="957768"/>
                </a:lnTo>
                <a:lnTo>
                  <a:pt x="206119" y="938064"/>
                </a:lnTo>
                <a:lnTo>
                  <a:pt x="237914" y="918297"/>
                </a:lnTo>
                <a:lnTo>
                  <a:pt x="269762" y="898480"/>
                </a:lnTo>
                <a:lnTo>
                  <a:pt x="301668" y="878627"/>
                </a:lnTo>
                <a:lnTo>
                  <a:pt x="333640" y="858753"/>
                </a:lnTo>
                <a:lnTo>
                  <a:pt x="365681" y="838871"/>
                </a:lnTo>
                <a:lnTo>
                  <a:pt x="397800" y="818996"/>
                </a:lnTo>
                <a:lnTo>
                  <a:pt x="430001" y="799142"/>
                </a:lnTo>
                <a:lnTo>
                  <a:pt x="462291" y="779322"/>
                </a:lnTo>
                <a:lnTo>
                  <a:pt x="494675" y="759552"/>
                </a:lnTo>
                <a:lnTo>
                  <a:pt x="527161" y="739844"/>
                </a:lnTo>
                <a:lnTo>
                  <a:pt x="559753" y="720213"/>
                </a:lnTo>
                <a:lnTo>
                  <a:pt x="592459" y="700674"/>
                </a:lnTo>
                <a:lnTo>
                  <a:pt x="625283" y="681239"/>
                </a:lnTo>
                <a:lnTo>
                  <a:pt x="658232" y="661924"/>
                </a:lnTo>
                <a:lnTo>
                  <a:pt x="691312" y="642743"/>
                </a:lnTo>
                <a:lnTo>
                  <a:pt x="724530" y="623709"/>
                </a:lnTo>
                <a:lnTo>
                  <a:pt x="757890" y="604836"/>
                </a:lnTo>
                <a:lnTo>
                  <a:pt x="791400" y="586139"/>
                </a:lnTo>
                <a:lnTo>
                  <a:pt x="825064" y="567632"/>
                </a:lnTo>
                <a:lnTo>
                  <a:pt x="858890" y="549329"/>
                </a:lnTo>
                <a:lnTo>
                  <a:pt x="892884" y="531243"/>
                </a:lnTo>
                <a:lnTo>
                  <a:pt x="927050" y="513390"/>
                </a:lnTo>
                <a:lnTo>
                  <a:pt x="961396" y="495782"/>
                </a:lnTo>
                <a:lnTo>
                  <a:pt x="995928" y="478435"/>
                </a:lnTo>
                <a:lnTo>
                  <a:pt x="1030650" y="461362"/>
                </a:lnTo>
                <a:lnTo>
                  <a:pt x="1065570" y="444578"/>
                </a:lnTo>
                <a:lnTo>
                  <a:pt x="1100694" y="428095"/>
                </a:lnTo>
                <a:lnTo>
                  <a:pt x="1136027" y="411930"/>
                </a:lnTo>
                <a:lnTo>
                  <a:pt x="1171576" y="396095"/>
                </a:lnTo>
                <a:lnTo>
                  <a:pt x="1207346" y="380604"/>
                </a:lnTo>
                <a:lnTo>
                  <a:pt x="1243344" y="365473"/>
                </a:lnTo>
                <a:lnTo>
                  <a:pt x="1279576" y="350714"/>
                </a:lnTo>
                <a:lnTo>
                  <a:pt x="1316048" y="336342"/>
                </a:lnTo>
                <a:lnTo>
                  <a:pt x="1352765" y="322371"/>
                </a:lnTo>
                <a:lnTo>
                  <a:pt x="1389734" y="308815"/>
                </a:lnTo>
                <a:lnTo>
                  <a:pt x="1426961" y="295689"/>
                </a:lnTo>
                <a:lnTo>
                  <a:pt x="1464426" y="282884"/>
                </a:lnTo>
                <a:lnTo>
                  <a:pt x="1502103" y="270283"/>
                </a:lnTo>
                <a:lnTo>
                  <a:pt x="1539989" y="257883"/>
                </a:lnTo>
                <a:lnTo>
                  <a:pt x="1578079" y="245683"/>
                </a:lnTo>
                <a:lnTo>
                  <a:pt x="1616371" y="233679"/>
                </a:lnTo>
                <a:lnTo>
                  <a:pt x="1654860" y="221871"/>
                </a:lnTo>
                <a:lnTo>
                  <a:pt x="1693542" y="210254"/>
                </a:lnTo>
                <a:lnTo>
                  <a:pt x="1732416" y="198829"/>
                </a:lnTo>
                <a:lnTo>
                  <a:pt x="1771475" y="187591"/>
                </a:lnTo>
                <a:lnTo>
                  <a:pt x="1810718" y="176539"/>
                </a:lnTo>
                <a:lnTo>
                  <a:pt x="1850140" y="165671"/>
                </a:lnTo>
                <a:lnTo>
                  <a:pt x="1889738" y="154984"/>
                </a:lnTo>
                <a:lnTo>
                  <a:pt x="1929508" y="144477"/>
                </a:lnTo>
                <a:lnTo>
                  <a:pt x="1969447" y="134146"/>
                </a:lnTo>
                <a:lnTo>
                  <a:pt x="2009550" y="123991"/>
                </a:lnTo>
                <a:lnTo>
                  <a:pt x="2049815" y="114008"/>
                </a:lnTo>
                <a:lnTo>
                  <a:pt x="2090237" y="104196"/>
                </a:lnTo>
                <a:lnTo>
                  <a:pt x="2130814" y="94551"/>
                </a:lnTo>
                <a:lnTo>
                  <a:pt x="2171540" y="85073"/>
                </a:lnTo>
                <a:lnTo>
                  <a:pt x="2212414" y="75759"/>
                </a:lnTo>
                <a:lnTo>
                  <a:pt x="2253430" y="66606"/>
                </a:lnTo>
                <a:lnTo>
                  <a:pt x="2294586" y="57612"/>
                </a:lnTo>
                <a:lnTo>
                  <a:pt x="2335878" y="48776"/>
                </a:lnTo>
                <a:lnTo>
                  <a:pt x="2377302" y="40095"/>
                </a:lnTo>
                <a:lnTo>
                  <a:pt x="2418855" y="31566"/>
                </a:lnTo>
                <a:lnTo>
                  <a:pt x="2460532" y="23188"/>
                </a:lnTo>
                <a:lnTo>
                  <a:pt x="2502331" y="14958"/>
                </a:lnTo>
                <a:lnTo>
                  <a:pt x="2544248" y="6874"/>
                </a:lnTo>
                <a:lnTo>
                  <a:pt x="2556432" y="4572"/>
                </a:lnTo>
                <a:lnTo>
                  <a:pt x="2556432" y="2394449"/>
                </a:lnTo>
                <a:lnTo>
                  <a:pt x="0" y="2394449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467"/>
          </a:p>
        </p:txBody>
      </p:sp>
      <p:sp>
        <p:nvSpPr>
          <p:cNvPr id="4" name="struct.climb.area.3"/>
          <p:cNvSpPr/>
          <p:nvPr/>
        </p:nvSpPr>
        <p:spPr>
          <a:xfrm>
            <a:off x="5577087" y="2707426"/>
            <a:ext cx="2590937" cy="2669245"/>
          </a:xfrm>
          <a:custGeom>
            <a:avLst/>
            <a:gdLst/>
            <a:ahLst/>
            <a:cxnLst/>
            <a:rect l="0" t="0" r="r" b="b"/>
            <a:pathLst>
              <a:path w="2590937" h="2669245">
                <a:moveTo>
                  <a:pt x="0" y="279368"/>
                </a:moveTo>
                <a:lnTo>
                  <a:pt x="29847" y="273730"/>
                </a:lnTo>
                <a:lnTo>
                  <a:pt x="71988" y="265931"/>
                </a:lnTo>
                <a:lnTo>
                  <a:pt x="114236" y="258273"/>
                </a:lnTo>
                <a:lnTo>
                  <a:pt x="156587" y="250751"/>
                </a:lnTo>
                <a:lnTo>
                  <a:pt x="199038" y="243364"/>
                </a:lnTo>
                <a:lnTo>
                  <a:pt x="241585" y="236110"/>
                </a:lnTo>
                <a:lnTo>
                  <a:pt x="284224" y="228987"/>
                </a:lnTo>
                <a:lnTo>
                  <a:pt x="326952" y="221992"/>
                </a:lnTo>
                <a:lnTo>
                  <a:pt x="369765" y="215123"/>
                </a:lnTo>
                <a:lnTo>
                  <a:pt x="412659" y="208378"/>
                </a:lnTo>
                <a:lnTo>
                  <a:pt x="455631" y="201755"/>
                </a:lnTo>
                <a:lnTo>
                  <a:pt x="498677" y="195251"/>
                </a:lnTo>
                <a:lnTo>
                  <a:pt x="541794" y="188865"/>
                </a:lnTo>
                <a:lnTo>
                  <a:pt x="584978" y="182594"/>
                </a:lnTo>
                <a:lnTo>
                  <a:pt x="628225" y="176435"/>
                </a:lnTo>
                <a:lnTo>
                  <a:pt x="671532" y="170388"/>
                </a:lnTo>
                <a:lnTo>
                  <a:pt x="714894" y="164448"/>
                </a:lnTo>
                <a:lnTo>
                  <a:pt x="758310" y="158615"/>
                </a:lnTo>
                <a:lnTo>
                  <a:pt x="801774" y="152886"/>
                </a:lnTo>
                <a:lnTo>
                  <a:pt x="845283" y="147259"/>
                </a:lnTo>
                <a:lnTo>
                  <a:pt x="888833" y="141731"/>
                </a:lnTo>
                <a:lnTo>
                  <a:pt x="932422" y="136301"/>
                </a:lnTo>
                <a:lnTo>
                  <a:pt x="976045" y="130966"/>
                </a:lnTo>
                <a:lnTo>
                  <a:pt x="1019698" y="125724"/>
                </a:lnTo>
                <a:lnTo>
                  <a:pt x="1063379" y="120573"/>
                </a:lnTo>
                <a:lnTo>
                  <a:pt x="1107083" y="115510"/>
                </a:lnTo>
                <a:lnTo>
                  <a:pt x="1150806" y="110533"/>
                </a:lnTo>
                <a:lnTo>
                  <a:pt x="1194546" y="105641"/>
                </a:lnTo>
                <a:lnTo>
                  <a:pt x="1238298" y="100830"/>
                </a:lnTo>
                <a:lnTo>
                  <a:pt x="1282060" y="96100"/>
                </a:lnTo>
                <a:lnTo>
                  <a:pt x="1325826" y="91446"/>
                </a:lnTo>
                <a:lnTo>
                  <a:pt x="1369594" y="86868"/>
                </a:lnTo>
                <a:lnTo>
                  <a:pt x="1413551" y="82433"/>
                </a:lnTo>
                <a:lnTo>
                  <a:pt x="1457876" y="78208"/>
                </a:lnTo>
                <a:lnTo>
                  <a:pt x="1502554" y="74187"/>
                </a:lnTo>
                <a:lnTo>
                  <a:pt x="1547569" y="70366"/>
                </a:lnTo>
                <a:lnTo>
                  <a:pt x="1592905" y="66740"/>
                </a:lnTo>
                <a:lnTo>
                  <a:pt x="1638546" y="63304"/>
                </a:lnTo>
                <a:lnTo>
                  <a:pt x="1684477" y="60054"/>
                </a:lnTo>
                <a:lnTo>
                  <a:pt x="1730683" y="56983"/>
                </a:lnTo>
                <a:lnTo>
                  <a:pt x="1777147" y="54089"/>
                </a:lnTo>
                <a:lnTo>
                  <a:pt x="1823854" y="51365"/>
                </a:lnTo>
                <a:lnTo>
                  <a:pt x="1870789" y="48806"/>
                </a:lnTo>
                <a:lnTo>
                  <a:pt x="1917934" y="46409"/>
                </a:lnTo>
                <a:lnTo>
                  <a:pt x="1965276" y="44168"/>
                </a:lnTo>
                <a:lnTo>
                  <a:pt x="2012798" y="42078"/>
                </a:lnTo>
                <a:lnTo>
                  <a:pt x="2060485" y="40135"/>
                </a:lnTo>
                <a:lnTo>
                  <a:pt x="2108320" y="38333"/>
                </a:lnTo>
                <a:lnTo>
                  <a:pt x="2156289" y="36668"/>
                </a:lnTo>
                <a:lnTo>
                  <a:pt x="2204375" y="35134"/>
                </a:lnTo>
                <a:lnTo>
                  <a:pt x="2252563" y="33728"/>
                </a:lnTo>
                <a:lnTo>
                  <a:pt x="2300837" y="32444"/>
                </a:lnTo>
                <a:lnTo>
                  <a:pt x="2349182" y="31277"/>
                </a:lnTo>
                <a:lnTo>
                  <a:pt x="2397582" y="30223"/>
                </a:lnTo>
                <a:lnTo>
                  <a:pt x="2446021" y="29276"/>
                </a:lnTo>
                <a:lnTo>
                  <a:pt x="2494483" y="28432"/>
                </a:lnTo>
                <a:lnTo>
                  <a:pt x="2542953" y="27686"/>
                </a:lnTo>
                <a:lnTo>
                  <a:pt x="2590937" y="27039"/>
                </a:lnTo>
                <a:lnTo>
                  <a:pt x="2590937" y="2669245"/>
                </a:lnTo>
                <a:lnTo>
                  <a:pt x="0" y="2669245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467"/>
          </a:p>
        </p:txBody>
      </p:sp>
      <p:sp>
        <p:nvSpPr>
          <p:cNvPr id="5" name="struct.climb.area.4"/>
          <p:cNvSpPr/>
          <p:nvPr/>
        </p:nvSpPr>
        <p:spPr>
          <a:xfrm>
            <a:off x="8168024" y="2646094"/>
            <a:ext cx="3410708" cy="2730577"/>
          </a:xfrm>
          <a:custGeom>
            <a:avLst/>
            <a:gdLst/>
            <a:ahLst/>
            <a:cxnLst/>
            <a:rect l="0" t="0" r="r" b="b"/>
            <a:pathLst>
              <a:path w="3410708" h="2730577">
                <a:moveTo>
                  <a:pt x="0" y="88371"/>
                </a:moveTo>
                <a:lnTo>
                  <a:pt x="479" y="88365"/>
                </a:lnTo>
                <a:lnTo>
                  <a:pt x="48918" y="87800"/>
                </a:lnTo>
                <a:lnTo>
                  <a:pt x="97318" y="87318"/>
                </a:lnTo>
                <a:lnTo>
                  <a:pt x="145663" y="86915"/>
                </a:lnTo>
                <a:lnTo>
                  <a:pt x="193938" y="86586"/>
                </a:lnTo>
                <a:lnTo>
                  <a:pt x="242127" y="86325"/>
                </a:lnTo>
                <a:lnTo>
                  <a:pt x="290214" y="86128"/>
                </a:lnTo>
                <a:lnTo>
                  <a:pt x="338183" y="85990"/>
                </a:lnTo>
                <a:lnTo>
                  <a:pt x="386019" y="85907"/>
                </a:lnTo>
                <a:lnTo>
                  <a:pt x="433707" y="85873"/>
                </a:lnTo>
                <a:lnTo>
                  <a:pt x="481230" y="85883"/>
                </a:lnTo>
                <a:lnTo>
                  <a:pt x="528573" y="85933"/>
                </a:lnTo>
                <a:lnTo>
                  <a:pt x="575720" y="86018"/>
                </a:lnTo>
                <a:lnTo>
                  <a:pt x="622656" y="86133"/>
                </a:lnTo>
                <a:lnTo>
                  <a:pt x="669364" y="86273"/>
                </a:lnTo>
                <a:lnTo>
                  <a:pt x="715830" y="86433"/>
                </a:lnTo>
                <a:lnTo>
                  <a:pt x="762037" y="86608"/>
                </a:lnTo>
                <a:lnTo>
                  <a:pt x="807970" y="86794"/>
                </a:lnTo>
                <a:lnTo>
                  <a:pt x="853614" y="86986"/>
                </a:lnTo>
                <a:lnTo>
                  <a:pt x="898952" y="87179"/>
                </a:lnTo>
                <a:lnTo>
                  <a:pt x="943969" y="87367"/>
                </a:lnTo>
                <a:lnTo>
                  <a:pt x="988649" y="87547"/>
                </a:lnTo>
                <a:lnTo>
                  <a:pt x="1032976" y="87713"/>
                </a:lnTo>
                <a:lnTo>
                  <a:pt x="1076935" y="87860"/>
                </a:lnTo>
                <a:lnTo>
                  <a:pt x="1120511" y="87984"/>
                </a:lnTo>
                <a:lnTo>
                  <a:pt x="1163687" y="88080"/>
                </a:lnTo>
                <a:lnTo>
                  <a:pt x="1206448" y="88143"/>
                </a:lnTo>
                <a:lnTo>
                  <a:pt x="1248778" y="88167"/>
                </a:lnTo>
                <a:lnTo>
                  <a:pt x="1290662" y="88149"/>
                </a:lnTo>
                <a:lnTo>
                  <a:pt x="1332084" y="88083"/>
                </a:lnTo>
                <a:lnTo>
                  <a:pt x="1373027" y="87964"/>
                </a:lnTo>
                <a:lnTo>
                  <a:pt x="1413478" y="87789"/>
                </a:lnTo>
                <a:lnTo>
                  <a:pt x="1453419" y="87550"/>
                </a:lnTo>
                <a:lnTo>
                  <a:pt x="1492835" y="87245"/>
                </a:lnTo>
                <a:lnTo>
                  <a:pt x="1531711" y="86868"/>
                </a:lnTo>
                <a:lnTo>
                  <a:pt x="1570071" y="86475"/>
                </a:lnTo>
                <a:lnTo>
                  <a:pt x="1607957" y="86124"/>
                </a:lnTo>
                <a:lnTo>
                  <a:pt x="1645382" y="85815"/>
                </a:lnTo>
                <a:lnTo>
                  <a:pt x="1682357" y="85546"/>
                </a:lnTo>
                <a:lnTo>
                  <a:pt x="1718896" y="85316"/>
                </a:lnTo>
                <a:lnTo>
                  <a:pt x="1755010" y="85124"/>
                </a:lnTo>
                <a:lnTo>
                  <a:pt x="1790711" y="84968"/>
                </a:lnTo>
                <a:lnTo>
                  <a:pt x="1826012" y="84848"/>
                </a:lnTo>
                <a:lnTo>
                  <a:pt x="1860924" y="84763"/>
                </a:lnTo>
                <a:lnTo>
                  <a:pt x="1895459" y="84710"/>
                </a:lnTo>
                <a:lnTo>
                  <a:pt x="1929631" y="84689"/>
                </a:lnTo>
                <a:lnTo>
                  <a:pt x="1963450" y="84700"/>
                </a:lnTo>
                <a:lnTo>
                  <a:pt x="1996930" y="84740"/>
                </a:lnTo>
                <a:lnTo>
                  <a:pt x="2030081" y="84808"/>
                </a:lnTo>
                <a:lnTo>
                  <a:pt x="2062917" y="84903"/>
                </a:lnTo>
                <a:lnTo>
                  <a:pt x="2095450" y="85025"/>
                </a:lnTo>
                <a:lnTo>
                  <a:pt x="2127691" y="85172"/>
                </a:lnTo>
                <a:lnTo>
                  <a:pt x="2159653" y="85342"/>
                </a:lnTo>
                <a:lnTo>
                  <a:pt x="2191348" y="85535"/>
                </a:lnTo>
                <a:lnTo>
                  <a:pt x="2222788" y="85750"/>
                </a:lnTo>
                <a:lnTo>
                  <a:pt x="2253986" y="85984"/>
                </a:lnTo>
                <a:lnTo>
                  <a:pt x="2284952" y="86238"/>
                </a:lnTo>
                <a:lnTo>
                  <a:pt x="2315700" y="86510"/>
                </a:lnTo>
                <a:lnTo>
                  <a:pt x="2346242" y="86798"/>
                </a:lnTo>
                <a:lnTo>
                  <a:pt x="2376589" y="87102"/>
                </a:lnTo>
                <a:lnTo>
                  <a:pt x="2406755" y="87420"/>
                </a:lnTo>
                <a:lnTo>
                  <a:pt x="2436750" y="87752"/>
                </a:lnTo>
                <a:lnTo>
                  <a:pt x="2466588" y="88095"/>
                </a:lnTo>
                <a:lnTo>
                  <a:pt x="2496280" y="88450"/>
                </a:lnTo>
                <a:lnTo>
                  <a:pt x="2525838" y="88814"/>
                </a:lnTo>
                <a:lnTo>
                  <a:pt x="2555275" y="89187"/>
                </a:lnTo>
                <a:lnTo>
                  <a:pt x="2584603" y="89567"/>
                </a:lnTo>
                <a:lnTo>
                  <a:pt x="2613833" y="89953"/>
                </a:lnTo>
                <a:lnTo>
                  <a:pt x="2642979" y="90344"/>
                </a:lnTo>
                <a:lnTo>
                  <a:pt x="2672052" y="90739"/>
                </a:lnTo>
                <a:lnTo>
                  <a:pt x="2701064" y="91137"/>
                </a:lnTo>
                <a:lnTo>
                  <a:pt x="2730027" y="91536"/>
                </a:lnTo>
                <a:lnTo>
                  <a:pt x="2758955" y="91935"/>
                </a:lnTo>
                <a:lnTo>
                  <a:pt x="2787857" y="92334"/>
                </a:lnTo>
                <a:lnTo>
                  <a:pt x="2816748" y="92730"/>
                </a:lnTo>
                <a:lnTo>
                  <a:pt x="2845639" y="93124"/>
                </a:lnTo>
                <a:lnTo>
                  <a:pt x="2874542" y="93513"/>
                </a:lnTo>
                <a:lnTo>
                  <a:pt x="2903469" y="93896"/>
                </a:lnTo>
                <a:lnTo>
                  <a:pt x="2932432" y="94273"/>
                </a:lnTo>
                <a:lnTo>
                  <a:pt x="2961444" y="94641"/>
                </a:lnTo>
                <a:lnTo>
                  <a:pt x="2990517" y="95001"/>
                </a:lnTo>
                <a:lnTo>
                  <a:pt x="3019663" y="95350"/>
                </a:lnTo>
                <a:lnTo>
                  <a:pt x="3048894" y="95688"/>
                </a:lnTo>
                <a:lnTo>
                  <a:pt x="3078221" y="96014"/>
                </a:lnTo>
                <a:lnTo>
                  <a:pt x="3107658" y="96325"/>
                </a:lnTo>
                <a:lnTo>
                  <a:pt x="3137217" y="96622"/>
                </a:lnTo>
                <a:lnTo>
                  <a:pt x="3166909" y="96903"/>
                </a:lnTo>
                <a:lnTo>
                  <a:pt x="3196746" y="97166"/>
                </a:lnTo>
                <a:lnTo>
                  <a:pt x="3226742" y="97411"/>
                </a:lnTo>
                <a:lnTo>
                  <a:pt x="3256907" y="97636"/>
                </a:lnTo>
                <a:lnTo>
                  <a:pt x="3287254" y="97841"/>
                </a:lnTo>
                <a:lnTo>
                  <a:pt x="3317796" y="98023"/>
                </a:lnTo>
                <a:lnTo>
                  <a:pt x="3348544" y="98182"/>
                </a:lnTo>
                <a:lnTo>
                  <a:pt x="3379511" y="98317"/>
                </a:lnTo>
                <a:lnTo>
                  <a:pt x="3410708" y="98427"/>
                </a:lnTo>
                <a:lnTo>
                  <a:pt x="3410708" y="2730578"/>
                </a:lnTo>
                <a:lnTo>
                  <a:pt x="0" y="2730578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467"/>
          </a:p>
        </p:txBody>
      </p:sp>
      <p:sp>
        <p:nvSpPr>
          <p:cNvPr id="6" name="struct.climb.curve"/>
          <p:cNvSpPr/>
          <p:nvPr/>
        </p:nvSpPr>
        <p:spPr>
          <a:xfrm>
            <a:off x="560220" y="2732962"/>
            <a:ext cx="11018512" cy="2242922"/>
          </a:xfrm>
          <a:custGeom>
            <a:avLst/>
            <a:gdLst/>
            <a:ahLst/>
            <a:cxnLst/>
            <a:rect l="0" t="0" r="r" b="b"/>
            <a:pathLst>
              <a:path w="11018512" h="2242922" fill="none">
                <a:moveTo>
                  <a:pt x="0" y="2242923"/>
                </a:moveTo>
                <a:cubicBezTo>
                  <a:pt x="634506" y="2137469"/>
                  <a:pt x="1255618" y="1893198"/>
                  <a:pt x="1903517" y="1610202"/>
                </a:cubicBezTo>
                <a:cubicBezTo>
                  <a:pt x="2551416" y="1327207"/>
                  <a:pt x="3140239" y="803094"/>
                  <a:pt x="3887396" y="544949"/>
                </a:cubicBezTo>
                <a:cubicBezTo>
                  <a:pt x="4634553" y="286804"/>
                  <a:pt x="5511108" y="152157"/>
                  <a:pt x="6386461" y="61332"/>
                </a:cubicBezTo>
                <a:cubicBezTo>
                  <a:pt x="7261814" y="-29493"/>
                  <a:pt x="8367506" y="8296"/>
                  <a:pt x="9139515" y="0"/>
                </a:cubicBezTo>
                <a:cubicBezTo>
                  <a:pt x="9911524" y="-8296"/>
                  <a:pt x="10392180" y="9632"/>
                  <a:pt x="11018512" y="11559"/>
                </a:cubicBez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467">
              <a:solidFill>
                <a:schemeClr val="bg1"/>
              </a:solidFill>
            </a:endParaRPr>
          </a:p>
        </p:txBody>
      </p:sp>
      <p:cxnSp>
        <p:nvCxnSpPr>
          <p:cNvPr id="7" name="struct.guide.1"/>
          <p:cNvCxnSpPr/>
          <p:nvPr/>
        </p:nvCxnSpPr>
        <p:spPr>
          <a:xfrm>
            <a:off x="3020655" y="1481328"/>
            <a:ext cx="0" cy="389534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8" name="struct.guide.2"/>
          <p:cNvCxnSpPr/>
          <p:nvPr/>
        </p:nvCxnSpPr>
        <p:spPr>
          <a:xfrm>
            <a:off x="5577087" y="1481328"/>
            <a:ext cx="0" cy="389534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9" name="struct.guide.3"/>
          <p:cNvCxnSpPr/>
          <p:nvPr/>
        </p:nvCxnSpPr>
        <p:spPr>
          <a:xfrm>
            <a:off x="8168024" y="1481328"/>
            <a:ext cx="0" cy="389534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10" name="slot.title"/>
          <p:cNvSpPr txBox="1"/>
          <p:nvPr/>
        </p:nvSpPr>
        <p:spPr>
          <a:xfrm>
            <a:off x="353251" y="222325"/>
            <a:ext cx="11340000" cy="74841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Planning value climbs fastest once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agents take over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the routine steps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horizon.1"/>
          <p:cNvSpPr/>
          <p:nvPr/>
        </p:nvSpPr>
        <p:spPr>
          <a:xfrm>
            <a:off x="454851" y="1044487"/>
            <a:ext cx="2679600" cy="381200"/>
          </a:xfrm>
          <a:prstGeom prst="homePlate">
            <a:avLst>
              <a:gd name="adj" fmla="val 33721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Today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horizon.2"/>
          <p:cNvSpPr/>
          <p:nvPr/>
        </p:nvSpPr>
        <p:spPr>
          <a:xfrm>
            <a:off x="3045565" y="1042087"/>
            <a:ext cx="2637600" cy="385600"/>
          </a:xfrm>
          <a:prstGeom prst="chevron">
            <a:avLst>
              <a:gd name="adj" fmla="val 34079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Year 1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horizon.3"/>
          <p:cNvSpPr/>
          <p:nvPr/>
        </p:nvSpPr>
        <p:spPr>
          <a:xfrm>
            <a:off x="5594295" y="1042087"/>
            <a:ext cx="2637600" cy="385600"/>
          </a:xfrm>
          <a:prstGeom prst="chevron">
            <a:avLst>
              <a:gd name="adj" fmla="val 34079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Year 2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horizon.4"/>
          <p:cNvSpPr/>
          <p:nvPr/>
        </p:nvSpPr>
        <p:spPr>
          <a:xfrm>
            <a:off x="8143024" y="1042093"/>
            <a:ext cx="3502800" cy="385600"/>
          </a:xfrm>
          <a:prstGeom prst="chevron">
            <a:avLst>
              <a:gd name="adj" fmla="val 34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Year 3 onward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truct.value-row"/>
          <p:cNvSpPr/>
          <p:nvPr/>
        </p:nvSpPr>
        <p:spPr>
          <a:xfrm>
            <a:off x="475488" y="5468112"/>
            <a:ext cx="11311128" cy="73152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>
              <a:buSzPts val="1100"/>
            </a:pPr>
            <a:endParaRPr sz="1467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slot.value-row.label"/>
          <p:cNvSpPr/>
          <p:nvPr/>
        </p:nvSpPr>
        <p:spPr>
          <a:xfrm>
            <a:off x="585216" y="5559552"/>
            <a:ext cx="1810512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40" tIns="18288" rIns="91440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Value at full scale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value-row.1"/>
          <p:cNvSpPr txBox="1"/>
          <p:nvPr/>
        </p:nvSpPr>
        <p:spPr>
          <a:xfrm>
            <a:off x="2670048" y="5522976"/>
            <a:ext cx="1667865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Lower inventory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Less cover held across the network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value-row.2"/>
          <p:cNvSpPr txBox="1"/>
          <p:nvPr/>
        </p:nvSpPr>
        <p:spPr>
          <a:xfrm>
            <a:off x="4502505" y="5522976"/>
            <a:ext cx="1667865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Higher service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Fill rate steady through peaks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value-row.3"/>
          <p:cNvSpPr txBox="1"/>
          <p:nvPr/>
        </p:nvSpPr>
        <p:spPr>
          <a:xfrm>
            <a:off x="6334963" y="5522976"/>
            <a:ext cx="1667865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Less freight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Fewer rush loads every quarter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value-row.4"/>
          <p:cNvSpPr txBox="1"/>
          <p:nvPr/>
        </p:nvSpPr>
        <p:spPr>
          <a:xfrm>
            <a:off x="8167420" y="5522976"/>
            <a:ext cx="1667865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Faster cycle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Weekly plan becomes a daily one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value-row.5"/>
          <p:cNvSpPr txBox="1"/>
          <p:nvPr/>
        </p:nvSpPr>
        <p:spPr>
          <a:xfrm>
            <a:off x="9999878" y="5522976"/>
            <a:ext cx="1667865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Planner time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Shifted to supplier and customer issues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2" name="struct.value-row.divider.1"/>
          <p:cNvCxnSpPr/>
          <p:nvPr/>
        </p:nvCxnSpPr>
        <p:spPr>
          <a:xfrm>
            <a:off x="4411065" y="5577840"/>
            <a:ext cx="0" cy="51206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3" name="struct.value-row.divider.2"/>
          <p:cNvCxnSpPr/>
          <p:nvPr/>
        </p:nvCxnSpPr>
        <p:spPr>
          <a:xfrm>
            <a:off x="6243523" y="5577840"/>
            <a:ext cx="0" cy="51206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4" name="struct.value-row.divider.3"/>
          <p:cNvCxnSpPr/>
          <p:nvPr/>
        </p:nvCxnSpPr>
        <p:spPr>
          <a:xfrm>
            <a:off x="8075980" y="5577840"/>
            <a:ext cx="0" cy="51206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5" name="struct.value-row.divider.4"/>
          <p:cNvCxnSpPr/>
          <p:nvPr/>
        </p:nvCxnSpPr>
        <p:spPr>
          <a:xfrm>
            <a:off x="9908438" y="5577840"/>
            <a:ext cx="0" cy="512064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26" name="slot.start"/>
          <p:cNvSpPr txBox="1"/>
          <p:nvPr/>
        </p:nvSpPr>
        <p:spPr>
          <a:xfrm>
            <a:off x="1280160" y="4974336"/>
            <a:ext cx="1700784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Manual weekly cycle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truct.start.disc"/>
          <p:cNvSpPr/>
          <p:nvPr/>
        </p:nvSpPr>
        <p:spPr>
          <a:xfrm>
            <a:off x="896112" y="4992624"/>
            <a:ext cx="329184" cy="32918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83967" tIns="41967" rIns="83967" bIns="41967" anchor="ctr" anchorCtr="0">
            <a:noAutofit/>
          </a:bodyPr>
          <a:lstStyle/>
          <a:p>
            <a:pPr algn="ctr">
              <a:buSzPts val="600"/>
            </a:pPr>
            <a:endParaRPr sz="800">
              <a:solidFill>
                <a:schemeClr val="bg1"/>
              </a:solidFill>
            </a:endParaRPr>
          </a:p>
        </p:txBody>
      </p:sp>
      <p:sp>
        <p:nvSpPr>
          <p:cNvPr id="28" name="slot.value.2.text"/>
          <p:cNvSpPr txBox="1"/>
          <p:nvPr/>
        </p:nvSpPr>
        <p:spPr>
          <a:xfrm>
            <a:off x="3584448" y="4700016"/>
            <a:ext cx="1883664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Stock counts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reconciled every night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value.2.disc"/>
          <p:cNvSpPr/>
          <p:nvPr/>
        </p:nvSpPr>
        <p:spPr>
          <a:xfrm>
            <a:off x="3182112" y="4736592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30" name="slot.value.4.text"/>
          <p:cNvSpPr txBox="1"/>
          <p:nvPr/>
        </p:nvSpPr>
        <p:spPr>
          <a:xfrm>
            <a:off x="6126480" y="3968496"/>
            <a:ext cx="1883664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Forecast error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tracked by product family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value.1.text"/>
          <p:cNvSpPr txBox="1"/>
          <p:nvPr/>
        </p:nvSpPr>
        <p:spPr>
          <a:xfrm>
            <a:off x="3584448" y="4096511"/>
            <a:ext cx="1883664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Working capital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released from safety stock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value.1.disc"/>
          <p:cNvSpPr/>
          <p:nvPr/>
        </p:nvSpPr>
        <p:spPr>
          <a:xfrm>
            <a:off x="3182112" y="4133087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33" name="struct.value.4.disc"/>
          <p:cNvSpPr/>
          <p:nvPr/>
        </p:nvSpPr>
        <p:spPr>
          <a:xfrm>
            <a:off x="5724144" y="4005072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34" name="slot.value.3.text"/>
          <p:cNvSpPr txBox="1"/>
          <p:nvPr/>
        </p:nvSpPr>
        <p:spPr>
          <a:xfrm>
            <a:off x="6126480" y="3346704"/>
            <a:ext cx="1883664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Service level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held through demand swings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truct.value.3.disc"/>
          <p:cNvSpPr/>
          <p:nvPr/>
        </p:nvSpPr>
        <p:spPr>
          <a:xfrm>
            <a:off x="5724144" y="3383280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36" name="slot.value.6.text"/>
          <p:cNvSpPr txBox="1"/>
          <p:nvPr/>
        </p:nvSpPr>
        <p:spPr>
          <a:xfrm>
            <a:off x="8705088" y="3785615"/>
            <a:ext cx="2834640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Expedited freight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largely avoided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value.6.disc"/>
          <p:cNvSpPr/>
          <p:nvPr/>
        </p:nvSpPr>
        <p:spPr>
          <a:xfrm>
            <a:off x="8302752" y="3822191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/>
          </a:p>
        </p:txBody>
      </p:sp>
      <p:sp>
        <p:nvSpPr>
          <p:cNvPr id="38" name="slot.value.5.text"/>
          <p:cNvSpPr txBox="1"/>
          <p:nvPr/>
        </p:nvSpPr>
        <p:spPr>
          <a:xfrm>
            <a:off x="8705088" y="3182112"/>
            <a:ext cx="2834640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 cycle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cut from days to hours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truct.value.5.disc"/>
          <p:cNvSpPr/>
          <p:nvPr/>
        </p:nvSpPr>
        <p:spPr>
          <a:xfrm>
            <a:off x="8302752" y="3218688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40" name="slot.value.7.text"/>
          <p:cNvSpPr txBox="1"/>
          <p:nvPr/>
        </p:nvSpPr>
        <p:spPr>
          <a:xfrm>
            <a:off x="8705088" y="4389120"/>
            <a:ext cx="2834640" cy="40233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Plants</a:t>
            </a: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scheduled to live demand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truct.value.7.disc"/>
          <p:cNvSpPr/>
          <p:nvPr/>
        </p:nvSpPr>
        <p:spPr>
          <a:xfrm>
            <a:off x="8302752" y="4425696"/>
            <a:ext cx="329184" cy="329184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7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42" name="slot.vignette.a.head"/>
          <p:cNvSpPr/>
          <p:nvPr/>
        </p:nvSpPr>
        <p:spPr>
          <a:xfrm>
            <a:off x="291789" y="3088690"/>
            <a:ext cx="1990199" cy="3657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Planners run every step by hand</a:t>
            </a:r>
            <a:endParaRPr lang="en-US" sz="9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truct.vignette.a.card"/>
          <p:cNvSpPr/>
          <p:nvPr/>
        </p:nvSpPr>
        <p:spPr>
          <a:xfrm>
            <a:off x="291789" y="3491026"/>
            <a:ext cx="1990200" cy="621601"/>
          </a:xfrm>
          <a:prstGeom prst="roundRect">
            <a:avLst>
              <a:gd name="adj" fmla="val 7355"/>
            </a:avLst>
          </a:prstGeom>
          <a:solidFill>
            <a:schemeClr val="bg1">
              <a:lumMod val="95000"/>
            </a:schemeClr>
          </a:solidFill>
          <a:ln w="7150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67067" tIns="83500" rIns="167067" bIns="83500" anchor="ctr" anchorCtr="0">
            <a:noAutofit/>
          </a:bodyPr>
          <a:lstStyle/>
          <a:p>
            <a:pPr algn="ctr">
              <a:buSzPts val="19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44" name="struct.vignette.a.step.1"/>
          <p:cNvSpPr/>
          <p:nvPr/>
        </p:nvSpPr>
        <p:spPr>
          <a:xfrm>
            <a:off x="380617" y="3562484"/>
            <a:ext cx="544200" cy="248400"/>
          </a:xfrm>
          <a:prstGeom prst="homePlate">
            <a:avLst>
              <a:gd name="adj" fmla="val 3077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67067" tIns="83500" rIns="167067" bIns="83500" anchor="ctr" anchorCtr="0">
            <a:noAutofit/>
          </a:bodyPr>
          <a:lstStyle/>
          <a:p>
            <a:pPr algn="ctr">
              <a:buSzPts val="19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45" name="struct.vignette.a.step.2"/>
          <p:cNvSpPr/>
          <p:nvPr/>
        </p:nvSpPr>
        <p:spPr>
          <a:xfrm>
            <a:off x="867342" y="3562484"/>
            <a:ext cx="544200" cy="2484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67067" tIns="83500" rIns="167067" bIns="83500" anchor="ctr" anchorCtr="0">
            <a:noAutofit/>
          </a:bodyPr>
          <a:lstStyle/>
          <a:p>
            <a:pPr algn="ctr">
              <a:buSzPts val="19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46" name="struct.vignette.a.step.3"/>
          <p:cNvSpPr/>
          <p:nvPr/>
        </p:nvSpPr>
        <p:spPr>
          <a:xfrm>
            <a:off x="1354067" y="3562484"/>
            <a:ext cx="544200" cy="2484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67067" tIns="83500" rIns="167067" bIns="83500" anchor="ctr" anchorCtr="0">
            <a:noAutofit/>
          </a:bodyPr>
          <a:lstStyle/>
          <a:p>
            <a:pPr algn="ctr">
              <a:buSzPts val="1900"/>
            </a:pPr>
            <a:endParaRPr sz="933">
              <a:solidFill>
                <a:schemeClr val="bg1"/>
              </a:solidFill>
            </a:endParaRPr>
          </a:p>
        </p:txBody>
      </p:sp>
      <p:cxnSp>
        <p:nvCxnSpPr>
          <p:cNvPr id="47" name="struct.vignette.a.link.1"/>
          <p:cNvCxnSpPr/>
          <p:nvPr/>
        </p:nvCxnSpPr>
        <p:spPr>
          <a:xfrm rot="16200000" flipH="1">
            <a:off x="1245101" y="3180285"/>
            <a:ext cx="128100" cy="1389300"/>
          </a:xfrm>
          <a:prstGeom prst="bentConnector2">
            <a:avLst/>
          </a:prstGeom>
          <a:noFill/>
          <a:ln w="13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48" name="struct.vignette.a.link.2"/>
          <p:cNvCxnSpPr/>
          <p:nvPr/>
        </p:nvCxnSpPr>
        <p:spPr>
          <a:xfrm rot="16200000" flipH="1">
            <a:off x="1488235" y="3423585"/>
            <a:ext cx="128100" cy="902700"/>
          </a:xfrm>
          <a:prstGeom prst="bentConnector2">
            <a:avLst/>
          </a:prstGeom>
          <a:noFill/>
          <a:ln w="13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49" name="struct.vignette.a.link.3"/>
          <p:cNvCxnSpPr/>
          <p:nvPr/>
        </p:nvCxnSpPr>
        <p:spPr>
          <a:xfrm rot="16200000" flipH="1">
            <a:off x="1731660" y="3666885"/>
            <a:ext cx="128100" cy="416100"/>
          </a:xfrm>
          <a:prstGeom prst="bentConnector2">
            <a:avLst/>
          </a:prstGeom>
          <a:noFill/>
          <a:ln w="13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50" name="slot.vignette.d.head"/>
          <p:cNvSpPr/>
          <p:nvPr/>
        </p:nvSpPr>
        <p:spPr>
          <a:xfrm>
            <a:off x="9374563" y="1740875"/>
            <a:ext cx="2052800" cy="3548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run the cycle,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planner oversees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truct.vignette.d.card"/>
          <p:cNvSpPr/>
          <p:nvPr/>
        </p:nvSpPr>
        <p:spPr>
          <a:xfrm>
            <a:off x="7297539" y="1591355"/>
            <a:ext cx="1930400" cy="661600"/>
          </a:xfrm>
          <a:prstGeom prst="roundRect">
            <a:avLst>
              <a:gd name="adj" fmla="val 6911"/>
            </a:avLst>
          </a:prstGeom>
          <a:solidFill>
            <a:schemeClr val="bg1">
              <a:lumMod val="85000"/>
            </a:schemeClr>
          </a:solidFill>
          <a:ln w="9050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5633" tIns="57767" rIns="115633" bIns="57767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52" name="struct.vignette.d.step.1"/>
          <p:cNvSpPr/>
          <p:nvPr/>
        </p:nvSpPr>
        <p:spPr>
          <a:xfrm>
            <a:off x="7446059" y="1650107"/>
            <a:ext cx="452000" cy="204400"/>
          </a:xfrm>
          <a:prstGeom prst="homePlate">
            <a:avLst>
              <a:gd name="adj" fmla="val 3077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5633" tIns="57767" rIns="115633" bIns="57767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53" name="struct.vignette.d.step.2"/>
          <p:cNvSpPr/>
          <p:nvPr/>
        </p:nvSpPr>
        <p:spPr>
          <a:xfrm>
            <a:off x="7850303" y="1650107"/>
            <a:ext cx="452000" cy="204400"/>
          </a:xfrm>
          <a:prstGeom prst="chevron">
            <a:avLst>
              <a:gd name="adj" fmla="val 31004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5633" tIns="57767" rIns="115633" bIns="57767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54" name="struct.vignette.d.step.3"/>
          <p:cNvSpPr/>
          <p:nvPr/>
        </p:nvSpPr>
        <p:spPr>
          <a:xfrm>
            <a:off x="8254547" y="1650107"/>
            <a:ext cx="452000" cy="204400"/>
          </a:xfrm>
          <a:prstGeom prst="chevron">
            <a:avLst>
              <a:gd name="adj" fmla="val 31004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5633" tIns="57767" rIns="115633" bIns="57767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cxnSp>
        <p:nvCxnSpPr>
          <p:cNvPr id="55" name="struct.vignette.d.link.1"/>
          <p:cNvCxnSpPr/>
          <p:nvPr/>
        </p:nvCxnSpPr>
        <p:spPr>
          <a:xfrm rot="-5400000" flipH="1">
            <a:off x="8189012" y="1306107"/>
            <a:ext cx="142800" cy="1239600"/>
          </a:xfrm>
          <a:prstGeom prst="bentConnector2">
            <a:avLst/>
          </a:prstGeom>
          <a:noFill/>
          <a:ln w="9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56" name="struct.vignette.d.link.2"/>
          <p:cNvCxnSpPr/>
          <p:nvPr/>
        </p:nvCxnSpPr>
        <p:spPr>
          <a:xfrm rot="-5400000" flipH="1">
            <a:off x="8391017" y="1508107"/>
            <a:ext cx="142800" cy="835600"/>
          </a:xfrm>
          <a:prstGeom prst="bentConnector2">
            <a:avLst/>
          </a:prstGeom>
          <a:noFill/>
          <a:ln w="9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57" name="struct.vignette.d.link.3"/>
          <p:cNvCxnSpPr/>
          <p:nvPr/>
        </p:nvCxnSpPr>
        <p:spPr>
          <a:xfrm rot="-5400000" flipH="1">
            <a:off x="8587113" y="1703928"/>
            <a:ext cx="163600" cy="423200"/>
          </a:xfrm>
          <a:prstGeom prst="bentConnector2">
            <a:avLst/>
          </a:prstGeom>
          <a:noFill/>
          <a:ln w="9050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58" name="struct.vignette.d.overseer"/>
          <p:cNvSpPr/>
          <p:nvPr/>
        </p:nvSpPr>
        <p:spPr>
          <a:xfrm>
            <a:off x="7417605" y="1977223"/>
            <a:ext cx="203200" cy="21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5633" tIns="115633" rIns="115633" bIns="115633" anchor="ctr" anchorCtr="0">
            <a:noAutofit/>
          </a:bodyPr>
          <a:lstStyle/>
          <a:p>
            <a:pPr algn="ctr">
              <a:buSzPts val="1300"/>
            </a:pPr>
            <a:endParaRPr sz="9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slot.vignette.b.head"/>
          <p:cNvSpPr/>
          <p:nvPr/>
        </p:nvSpPr>
        <p:spPr>
          <a:xfrm>
            <a:off x="2222671" y="1683748"/>
            <a:ext cx="1872000" cy="3657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prepare the inputs, planners decide</a:t>
            </a:r>
            <a:endParaRPr lang="en-US" sz="9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truct.vignette.b.card"/>
          <p:cNvSpPr/>
          <p:nvPr/>
        </p:nvSpPr>
        <p:spPr>
          <a:xfrm>
            <a:off x="2222671" y="2086084"/>
            <a:ext cx="1872000" cy="867300"/>
          </a:xfrm>
          <a:prstGeom prst="roundRect">
            <a:avLst>
              <a:gd name="adj" fmla="val 5272"/>
            </a:avLst>
          </a:prstGeom>
          <a:solidFill>
            <a:schemeClr val="bg1">
              <a:lumMod val="95000"/>
            </a:schemeClr>
          </a:solidFill>
          <a:ln w="79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61" name="struct.vignette.b.step.3"/>
          <p:cNvSpPr/>
          <p:nvPr/>
        </p:nvSpPr>
        <p:spPr>
          <a:xfrm>
            <a:off x="2323968" y="2424167"/>
            <a:ext cx="525300" cy="217200"/>
          </a:xfrm>
          <a:prstGeom prst="homePlate">
            <a:avLst>
              <a:gd name="adj" fmla="val 3077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62" name="struct.vignette.b.step.4"/>
          <p:cNvSpPr/>
          <p:nvPr/>
        </p:nvSpPr>
        <p:spPr>
          <a:xfrm>
            <a:off x="2793725" y="2424167"/>
            <a:ext cx="525300" cy="2172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63" name="struct.vignette.b.step.5"/>
          <p:cNvSpPr/>
          <p:nvPr/>
        </p:nvSpPr>
        <p:spPr>
          <a:xfrm>
            <a:off x="3263483" y="2424167"/>
            <a:ext cx="525300" cy="2172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cxnSp>
        <p:nvCxnSpPr>
          <p:cNvPr id="64" name="struct.vignette.b.link.1"/>
          <p:cNvCxnSpPr/>
          <p:nvPr/>
        </p:nvCxnSpPr>
        <p:spPr>
          <a:xfrm rot="16200000" flipH="1">
            <a:off x="3094252" y="2100317"/>
            <a:ext cx="134400" cy="1216500"/>
          </a:xfrm>
          <a:prstGeom prst="bentConnector2">
            <a:avLst/>
          </a:prstGeom>
          <a:noFill/>
          <a:ln w="79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65" name="struct.vignette.b.link.2"/>
          <p:cNvCxnSpPr/>
          <p:nvPr/>
        </p:nvCxnSpPr>
        <p:spPr>
          <a:xfrm rot="16200000" flipH="1">
            <a:off x="3329005" y="2335067"/>
            <a:ext cx="134400" cy="747000"/>
          </a:xfrm>
          <a:prstGeom prst="bentConnector2">
            <a:avLst/>
          </a:prstGeom>
          <a:noFill/>
          <a:ln w="79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66" name="struct.vignette.b.link.3"/>
          <p:cNvCxnSpPr/>
          <p:nvPr/>
        </p:nvCxnSpPr>
        <p:spPr>
          <a:xfrm rot="16200000" flipH="1">
            <a:off x="3563863" y="2569967"/>
            <a:ext cx="134400" cy="277200"/>
          </a:xfrm>
          <a:prstGeom prst="bentConnector2">
            <a:avLst/>
          </a:prstGeom>
          <a:noFill/>
          <a:ln w="79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7" name="struct.vignette.b.step.1"/>
          <p:cNvSpPr/>
          <p:nvPr/>
        </p:nvSpPr>
        <p:spPr>
          <a:xfrm>
            <a:off x="2818061" y="2170765"/>
            <a:ext cx="374700" cy="2172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68" name="struct.vignette.b.step.2"/>
          <p:cNvSpPr/>
          <p:nvPr/>
        </p:nvSpPr>
        <p:spPr>
          <a:xfrm>
            <a:off x="3197148" y="2170765"/>
            <a:ext cx="374700" cy="2172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01600" tIns="50767" rIns="101600" bIns="50767" anchor="ctr" anchorCtr="0">
            <a:noAutofit/>
          </a:bodyPr>
          <a:lstStyle/>
          <a:p>
            <a:pPr algn="ctr">
              <a:buSzPts val="12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69" name="slot.vignette.c.head"/>
          <p:cNvSpPr/>
          <p:nvPr/>
        </p:nvSpPr>
        <p:spPr>
          <a:xfrm>
            <a:off x="4627635" y="1543192"/>
            <a:ext cx="1996200" cy="3657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36576" tIns="18288" rIns="36576" bIns="18288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draft the plan, planners approve</a:t>
            </a:r>
            <a:endParaRPr lang="en-US" sz="9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truct.vignette.c.card"/>
          <p:cNvSpPr/>
          <p:nvPr/>
        </p:nvSpPr>
        <p:spPr>
          <a:xfrm>
            <a:off x="4627635" y="1945528"/>
            <a:ext cx="1996200" cy="727800"/>
          </a:xfrm>
          <a:prstGeom prst="roundRect">
            <a:avLst>
              <a:gd name="adj" fmla="val 6282"/>
            </a:avLst>
          </a:prstGeom>
          <a:solidFill>
            <a:schemeClr val="bg1">
              <a:lumMod val="85000"/>
            </a:schemeClr>
          </a:solidFill>
          <a:ln w="877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12433" tIns="56200" rIns="112433" bIns="56200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71" name="struct.vignette.c.step.1"/>
          <p:cNvSpPr/>
          <p:nvPr/>
        </p:nvSpPr>
        <p:spPr>
          <a:xfrm>
            <a:off x="4716188" y="2062997"/>
            <a:ext cx="459300" cy="199500"/>
          </a:xfrm>
          <a:prstGeom prst="homePlate">
            <a:avLst>
              <a:gd name="adj" fmla="val 3077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72" name="struct.vignette.c.step.2"/>
          <p:cNvSpPr/>
          <p:nvPr/>
        </p:nvSpPr>
        <p:spPr>
          <a:xfrm>
            <a:off x="5126921" y="2062997"/>
            <a:ext cx="459300" cy="199500"/>
          </a:xfrm>
          <a:prstGeom prst="chevron">
            <a:avLst>
              <a:gd name="adj" fmla="val 31004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433" tIns="56200" rIns="112433" bIns="56200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73" name="struct.vignette.c.step.3"/>
          <p:cNvSpPr/>
          <p:nvPr/>
        </p:nvSpPr>
        <p:spPr>
          <a:xfrm>
            <a:off x="5537652" y="2062997"/>
            <a:ext cx="459300" cy="1995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cxnSp>
        <p:nvCxnSpPr>
          <p:cNvPr id="74" name="struct.vignette.c.link.1"/>
          <p:cNvCxnSpPr/>
          <p:nvPr/>
        </p:nvCxnSpPr>
        <p:spPr>
          <a:xfrm rot="16200000" flipH="1">
            <a:off x="5495795" y="1681847"/>
            <a:ext cx="191700" cy="1353000"/>
          </a:xfrm>
          <a:prstGeom prst="bentConnector2">
            <a:avLst/>
          </a:prstGeom>
          <a:noFill/>
          <a:ln w="87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75" name="struct.vignette.c.link.2"/>
          <p:cNvCxnSpPr/>
          <p:nvPr/>
        </p:nvCxnSpPr>
        <p:spPr>
          <a:xfrm rot="16200000" flipH="1">
            <a:off x="5701095" y="1887047"/>
            <a:ext cx="191700" cy="942600"/>
          </a:xfrm>
          <a:prstGeom prst="bentConnector2">
            <a:avLst/>
          </a:prstGeom>
          <a:noFill/>
          <a:ln w="87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76" name="struct.vignette.c.link.3"/>
          <p:cNvCxnSpPr/>
          <p:nvPr/>
        </p:nvCxnSpPr>
        <p:spPr>
          <a:xfrm rot="16200000" flipH="1">
            <a:off x="5906476" y="2092397"/>
            <a:ext cx="191700" cy="531900"/>
          </a:xfrm>
          <a:prstGeom prst="bentConnector2">
            <a:avLst/>
          </a:prstGeom>
          <a:noFill/>
          <a:ln w="877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7" name="struct.vignette.c.step.4"/>
          <p:cNvSpPr/>
          <p:nvPr/>
        </p:nvSpPr>
        <p:spPr>
          <a:xfrm>
            <a:off x="5534083" y="2322478"/>
            <a:ext cx="427200" cy="199500"/>
          </a:xfrm>
          <a:prstGeom prst="chevron">
            <a:avLst>
              <a:gd name="adj" fmla="val 31004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433" tIns="56200" rIns="112433" bIns="56200" anchor="ctr" anchorCtr="0">
            <a:noAutofit/>
          </a:bodyPr>
          <a:lstStyle/>
          <a:p>
            <a:pPr algn="ctr">
              <a:buSzPts val="1300"/>
            </a:pPr>
            <a:endParaRPr sz="933">
              <a:solidFill>
                <a:schemeClr val="bg1"/>
              </a:solidFill>
            </a:endParaRPr>
          </a:p>
        </p:txBody>
      </p:sp>
      <p:sp>
        <p:nvSpPr>
          <p:cNvPr id="78" name="struct.marker.5"/>
          <p:cNvSpPr/>
          <p:nvPr/>
        </p:nvSpPr>
        <p:spPr>
          <a:xfrm>
            <a:off x="9616485" y="2649712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79" name="struct.marker.5.core"/>
          <p:cNvSpPr/>
          <p:nvPr/>
        </p:nvSpPr>
        <p:spPr>
          <a:xfrm>
            <a:off x="9647835" y="2681062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0" name="struct.marker.1"/>
          <p:cNvSpPr/>
          <p:nvPr/>
        </p:nvSpPr>
        <p:spPr>
          <a:xfrm>
            <a:off x="476970" y="4892635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1" name="struct.marker.1.core"/>
          <p:cNvSpPr/>
          <p:nvPr/>
        </p:nvSpPr>
        <p:spPr>
          <a:xfrm>
            <a:off x="508320" y="4923985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2" name="struct.marker.2"/>
          <p:cNvSpPr/>
          <p:nvPr/>
        </p:nvSpPr>
        <p:spPr>
          <a:xfrm>
            <a:off x="2380487" y="4259914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3" name="struct.marker.2.core"/>
          <p:cNvSpPr/>
          <p:nvPr/>
        </p:nvSpPr>
        <p:spPr>
          <a:xfrm>
            <a:off x="2411837" y="4291264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4" name="struct.marker.4"/>
          <p:cNvSpPr/>
          <p:nvPr/>
        </p:nvSpPr>
        <p:spPr>
          <a:xfrm>
            <a:off x="6863431" y="2711044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5" name="struct.marker.4.core"/>
          <p:cNvSpPr/>
          <p:nvPr/>
        </p:nvSpPr>
        <p:spPr>
          <a:xfrm>
            <a:off x="6894781" y="2742394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6" name="struct.marker.6"/>
          <p:cNvSpPr/>
          <p:nvPr/>
        </p:nvSpPr>
        <p:spPr>
          <a:xfrm>
            <a:off x="11495482" y="2661271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7" name="struct.marker.6.core"/>
          <p:cNvSpPr/>
          <p:nvPr/>
        </p:nvSpPr>
        <p:spPr>
          <a:xfrm>
            <a:off x="11526832" y="2692621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8" name="struct.marker.3"/>
          <p:cNvSpPr/>
          <p:nvPr/>
        </p:nvSpPr>
        <p:spPr>
          <a:xfrm>
            <a:off x="4364366" y="3194661"/>
            <a:ext cx="166500" cy="1665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89" name="struct.marker.3.core"/>
          <p:cNvSpPr/>
          <p:nvPr/>
        </p:nvSpPr>
        <p:spPr>
          <a:xfrm>
            <a:off x="4395716" y="3226011"/>
            <a:ext cx="103800" cy="10380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90" name="struct.vignette.a.step.1.icon"/>
          <p:cNvSpPr/>
          <p:nvPr/>
        </p:nvSpPr>
        <p:spPr>
          <a:xfrm>
            <a:off x="547561" y="3599816"/>
            <a:ext cx="173736" cy="1737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4605" cap="rnd">
            <a:solidFill>
              <a:schemeClr val="bg1"/>
            </a:solidFill>
            <a:round/>
          </a:ln>
          <a:effectLst/>
        </p:spPr>
      </p:sp>
      <p:sp>
        <p:nvSpPr>
          <p:cNvPr id="91" name="struct.vignette.a.step.2.icon"/>
          <p:cNvSpPr/>
          <p:nvPr/>
        </p:nvSpPr>
        <p:spPr>
          <a:xfrm>
            <a:off x="1034286" y="3599816"/>
            <a:ext cx="173736" cy="1737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4605" cap="rnd">
            <a:solidFill>
              <a:schemeClr val="bg1"/>
            </a:solidFill>
            <a:round/>
          </a:ln>
          <a:effectLst/>
        </p:spPr>
      </p:sp>
      <p:sp>
        <p:nvSpPr>
          <p:cNvPr id="92" name="struct.vignette.a.step.3.icon"/>
          <p:cNvSpPr/>
          <p:nvPr/>
        </p:nvSpPr>
        <p:spPr>
          <a:xfrm>
            <a:off x="1521011" y="3599816"/>
            <a:ext cx="173736" cy="1737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4605" cap="rnd">
            <a:solidFill>
              <a:schemeClr val="bg1"/>
            </a:solidFill>
            <a:round/>
          </a:ln>
          <a:effectLst/>
        </p:spPr>
      </p:sp>
      <p:sp>
        <p:nvSpPr>
          <p:cNvPr id="93" name="struct.vignette.b.step.1.icon"/>
          <p:cNvSpPr/>
          <p:nvPr/>
        </p:nvSpPr>
        <p:spPr>
          <a:xfrm>
            <a:off x="2905955" y="2198197"/>
            <a:ext cx="162336" cy="16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3335" cap="rnd">
            <a:solidFill>
              <a:schemeClr val="bg1"/>
            </a:solidFill>
            <a:round/>
          </a:ln>
          <a:effectLst/>
        </p:spPr>
      </p:sp>
      <p:sp>
        <p:nvSpPr>
          <p:cNvPr id="94" name="struct.vignette.b.step.2.icon"/>
          <p:cNvSpPr/>
          <p:nvPr/>
        </p:nvSpPr>
        <p:spPr>
          <a:xfrm>
            <a:off x="3285042" y="2198197"/>
            <a:ext cx="162336" cy="16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3335" cap="rnd">
            <a:solidFill>
              <a:schemeClr val="bg1"/>
            </a:solidFill>
            <a:round/>
          </a:ln>
          <a:effectLst/>
        </p:spPr>
      </p:sp>
      <p:sp>
        <p:nvSpPr>
          <p:cNvPr id="95" name="struct.vignette.b.step.3.icon"/>
          <p:cNvSpPr/>
          <p:nvPr/>
        </p:nvSpPr>
        <p:spPr>
          <a:xfrm>
            <a:off x="2487162" y="2451599"/>
            <a:ext cx="162336" cy="16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3335" cap="rnd">
            <a:solidFill>
              <a:schemeClr val="bg1"/>
            </a:solidFill>
            <a:round/>
          </a:ln>
          <a:effectLst/>
        </p:spPr>
      </p:sp>
      <p:sp>
        <p:nvSpPr>
          <p:cNvPr id="96" name="struct.vignette.b.step.4.icon"/>
          <p:cNvSpPr/>
          <p:nvPr/>
        </p:nvSpPr>
        <p:spPr>
          <a:xfrm>
            <a:off x="2956919" y="2451599"/>
            <a:ext cx="162336" cy="16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3335" cap="rnd">
            <a:solidFill>
              <a:schemeClr val="bg1"/>
            </a:solidFill>
            <a:round/>
          </a:ln>
          <a:effectLst/>
        </p:spPr>
      </p:sp>
      <p:sp>
        <p:nvSpPr>
          <p:cNvPr id="97" name="struct.vignette.b.step.5.icon"/>
          <p:cNvSpPr/>
          <p:nvPr/>
        </p:nvSpPr>
        <p:spPr>
          <a:xfrm>
            <a:off x="3426677" y="2451599"/>
            <a:ext cx="162336" cy="1623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3335" cap="rnd">
            <a:solidFill>
              <a:schemeClr val="bg1"/>
            </a:solidFill>
            <a:round/>
          </a:ln>
          <a:effectLst/>
        </p:spPr>
      </p:sp>
      <p:sp>
        <p:nvSpPr>
          <p:cNvPr id="98" name="struct.vignette.c.step.1.icon"/>
          <p:cNvSpPr/>
          <p:nvPr/>
        </p:nvSpPr>
        <p:spPr>
          <a:xfrm>
            <a:off x="4855232" y="2090429"/>
            <a:ext cx="144636" cy="1446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99" name="struct.vignette.c.step.2.icon"/>
          <p:cNvSpPr/>
          <p:nvPr/>
        </p:nvSpPr>
        <p:spPr>
          <a:xfrm>
            <a:off x="5265965" y="2090429"/>
            <a:ext cx="144636" cy="1446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0" name="struct.vignette.c.step.3.icon"/>
          <p:cNvSpPr/>
          <p:nvPr/>
        </p:nvSpPr>
        <p:spPr>
          <a:xfrm>
            <a:off x="5676696" y="2090429"/>
            <a:ext cx="144636" cy="1446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101" name="struct.vignette.c.step.4.icon"/>
          <p:cNvSpPr/>
          <p:nvPr/>
        </p:nvSpPr>
        <p:spPr>
          <a:xfrm>
            <a:off x="5657077" y="2349910"/>
            <a:ext cx="144636" cy="1446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102" name="struct.vignette.d.step.1.icon"/>
          <p:cNvSpPr/>
          <p:nvPr/>
        </p:nvSpPr>
        <p:spPr>
          <a:xfrm>
            <a:off x="7579003" y="1677539"/>
            <a:ext cx="149536" cy="1495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3" name="struct.vignette.d.step.2.icon"/>
          <p:cNvSpPr/>
          <p:nvPr/>
        </p:nvSpPr>
        <p:spPr>
          <a:xfrm>
            <a:off x="7983247" y="1677539"/>
            <a:ext cx="149536" cy="1495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4" name="struct.vignette.d.step.3.icon"/>
          <p:cNvSpPr/>
          <p:nvPr/>
        </p:nvSpPr>
        <p:spPr>
          <a:xfrm>
            <a:off x="8387491" y="1677539"/>
            <a:ext cx="149536" cy="14953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7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5" name="struct.vignette.d.overseer.icon"/>
          <p:cNvSpPr/>
          <p:nvPr/>
        </p:nvSpPr>
        <p:spPr>
          <a:xfrm>
            <a:off x="7450625" y="2017243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106" name="struct.vignette.a.output"/>
          <p:cNvSpPr/>
          <p:nvPr/>
        </p:nvSpPr>
        <p:spPr>
          <a:xfrm>
            <a:off x="1988363" y="3829279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841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7" name="struct.vignette.b.output"/>
          <p:cNvSpPr/>
          <p:nvPr/>
        </p:nvSpPr>
        <p:spPr>
          <a:xfrm>
            <a:off x="3751783" y="266671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841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8" name="struct.vignette.c.output"/>
          <p:cNvSpPr/>
          <p:nvPr/>
        </p:nvSpPr>
        <p:spPr>
          <a:xfrm>
            <a:off x="6274156" y="234402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841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09" name="struct.vignette.d.output"/>
          <p:cNvSpPr/>
          <p:nvPr/>
        </p:nvSpPr>
        <p:spPr>
          <a:xfrm>
            <a:off x="8884768" y="1887879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841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0" name="struct.start.icon"/>
          <p:cNvSpPr/>
          <p:nvPr/>
        </p:nvSpPr>
        <p:spPr>
          <a:xfrm>
            <a:off x="978408" y="5074920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7000"/>
                </a:moveTo>
                <a:lnTo>
                  <a:pt x="22000" y="7000"/>
                </a:lnTo>
                <a:lnTo>
                  <a:pt x="22000" y="13000"/>
                </a:lnTo>
                <a:moveTo>
                  <a:pt x="22000" y="7000"/>
                </a:moveTo>
                <a:lnTo>
                  <a:pt x="13500" y="15500"/>
                </a:lnTo>
                <a:lnTo>
                  <a:pt x="8500" y="10500"/>
                </a:lnTo>
                <a:lnTo>
                  <a:pt x="2000" y="17000"/>
                </a:lnTo>
              </a:path>
            </a:pathLst>
          </a:custGeom>
          <a:noFill/>
          <a:ln w="13970" cap="rnd">
            <a:solidFill>
              <a:schemeClr val="bg1"/>
            </a:solidFill>
            <a:round/>
          </a:ln>
          <a:effectLst/>
        </p:spPr>
      </p:sp>
      <p:sp>
        <p:nvSpPr>
          <p:cNvPr id="111" name="slot.value.1.icon"/>
          <p:cNvSpPr/>
          <p:nvPr/>
        </p:nvSpPr>
        <p:spPr>
          <a:xfrm>
            <a:off x="3255264" y="42062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2" name="slot.value.2.icon"/>
          <p:cNvSpPr/>
          <p:nvPr/>
        </p:nvSpPr>
        <p:spPr>
          <a:xfrm>
            <a:off x="3255264" y="480974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970" y="12920"/>
                </a:moveTo>
                <a:cubicBezTo>
                  <a:pt x="2369" y="13281"/>
                  <a:pt x="2002" y="13929"/>
                  <a:pt x="2000" y="14630"/>
                </a:cubicBezTo>
                <a:lnTo>
                  <a:pt x="2000" y="17870"/>
                </a:lnTo>
                <a:cubicBezTo>
                  <a:pt x="2002" y="18571"/>
                  <a:pt x="2369" y="19219"/>
                  <a:pt x="2970" y="19580"/>
                </a:cubicBezTo>
                <a:lnTo>
                  <a:pt x="5970" y="21380"/>
                </a:lnTo>
                <a:cubicBezTo>
                  <a:pt x="6604" y="21761"/>
                  <a:pt x="7396" y="21761"/>
                  <a:pt x="8030" y="21380"/>
                </a:cubicBezTo>
                <a:lnTo>
                  <a:pt x="12000" y="19000"/>
                </a:lnTo>
                <a:lnTo>
                  <a:pt x="12000" y="13500"/>
                </a:lnTo>
                <a:lnTo>
                  <a:pt x="7000" y="10500"/>
                </a:lnTo>
                <a:lnTo>
                  <a:pt x="2970" y="12920"/>
                </a:lnTo>
                <a:close/>
                <a:moveTo>
                  <a:pt x="7000" y="16500"/>
                </a:moveTo>
                <a:lnTo>
                  <a:pt x="2260" y="13650"/>
                </a:lnTo>
                <a:moveTo>
                  <a:pt x="7000" y="16500"/>
                </a:moveTo>
                <a:lnTo>
                  <a:pt x="12000" y="13500"/>
                </a:lnTo>
                <a:moveTo>
                  <a:pt x="7000" y="16500"/>
                </a:moveTo>
                <a:lnTo>
                  <a:pt x="7000" y="21670"/>
                </a:lnTo>
                <a:moveTo>
                  <a:pt x="12000" y="13500"/>
                </a:moveTo>
                <a:lnTo>
                  <a:pt x="12000" y="19000"/>
                </a:lnTo>
                <a:lnTo>
                  <a:pt x="15970" y="21380"/>
                </a:lnTo>
                <a:cubicBezTo>
                  <a:pt x="16604" y="21761"/>
                  <a:pt x="17396" y="21761"/>
                  <a:pt x="18030" y="21380"/>
                </a:cubicBezTo>
                <a:lnTo>
                  <a:pt x="21030" y="19580"/>
                </a:lnTo>
                <a:cubicBezTo>
                  <a:pt x="21631" y="19219"/>
                  <a:pt x="21998" y="18571"/>
                  <a:pt x="22000" y="17870"/>
                </a:cubicBezTo>
                <a:lnTo>
                  <a:pt x="22000" y="14630"/>
                </a:lnTo>
                <a:cubicBezTo>
                  <a:pt x="21998" y="13929"/>
                  <a:pt x="21631" y="13281"/>
                  <a:pt x="21030" y="12920"/>
                </a:cubicBezTo>
                <a:lnTo>
                  <a:pt x="17000" y="10500"/>
                </a:lnTo>
                <a:lnTo>
                  <a:pt x="12000" y="13500"/>
                </a:lnTo>
                <a:close/>
                <a:moveTo>
                  <a:pt x="17000" y="16500"/>
                </a:moveTo>
                <a:lnTo>
                  <a:pt x="12000" y="13500"/>
                </a:lnTo>
                <a:moveTo>
                  <a:pt x="17000" y="16500"/>
                </a:moveTo>
                <a:lnTo>
                  <a:pt x="21740" y="13650"/>
                </a:lnTo>
                <a:moveTo>
                  <a:pt x="17000" y="16500"/>
                </a:moveTo>
                <a:lnTo>
                  <a:pt x="17000" y="21670"/>
                </a:lnTo>
                <a:moveTo>
                  <a:pt x="7970" y="4420"/>
                </a:moveTo>
                <a:cubicBezTo>
                  <a:pt x="7369" y="4781"/>
                  <a:pt x="7002" y="5429"/>
                  <a:pt x="7000" y="6130"/>
                </a:cubicBezTo>
                <a:lnTo>
                  <a:pt x="7000" y="10500"/>
                </a:lnTo>
                <a:lnTo>
                  <a:pt x="12000" y="13500"/>
                </a:lnTo>
                <a:lnTo>
                  <a:pt x="17000" y="10500"/>
                </a:lnTo>
                <a:lnTo>
                  <a:pt x="17000" y="6130"/>
                </a:lnTo>
                <a:cubicBezTo>
                  <a:pt x="16998" y="5429"/>
                  <a:pt x="16631" y="4781"/>
                  <a:pt x="16030" y="4420"/>
                </a:cubicBezTo>
                <a:lnTo>
                  <a:pt x="13030" y="2620"/>
                </a:lnTo>
                <a:cubicBezTo>
                  <a:pt x="12396" y="2239"/>
                  <a:pt x="11604" y="2239"/>
                  <a:pt x="10970" y="2620"/>
                </a:cubicBezTo>
                <a:lnTo>
                  <a:pt x="7970" y="4420"/>
                </a:lnTo>
                <a:close/>
                <a:moveTo>
                  <a:pt x="12000" y="8000"/>
                </a:moveTo>
                <a:lnTo>
                  <a:pt x="7260" y="5150"/>
                </a:lnTo>
                <a:moveTo>
                  <a:pt x="12000" y="8000"/>
                </a:moveTo>
                <a:lnTo>
                  <a:pt x="16740" y="5150"/>
                </a:lnTo>
                <a:moveTo>
                  <a:pt x="12000" y="13500"/>
                </a:moveTo>
                <a:lnTo>
                  <a:pt x="12000" y="8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3" name="slot.value.3.icon"/>
          <p:cNvSpPr/>
          <p:nvPr/>
        </p:nvSpPr>
        <p:spPr>
          <a:xfrm>
            <a:off x="5797296" y="345643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8000" y="12000"/>
                </a:moveTo>
                <a:cubicBezTo>
                  <a:pt x="18000" y="15314"/>
                  <a:pt x="15314" y="18000"/>
                  <a:pt x="12000" y="18000"/>
                </a:cubicBezTo>
                <a:cubicBezTo>
                  <a:pt x="8686" y="18000"/>
                  <a:pt x="6000" y="15314"/>
                  <a:pt x="6000" y="12000"/>
                </a:cubicBezTo>
                <a:cubicBezTo>
                  <a:pt x="6000" y="8686"/>
                  <a:pt x="8686" y="6000"/>
                  <a:pt x="12000" y="6000"/>
                </a:cubicBezTo>
                <a:cubicBezTo>
                  <a:pt x="15314" y="6000"/>
                  <a:pt x="18000" y="8686"/>
                  <a:pt x="18000" y="12000"/>
                </a:cubicBezTo>
                <a:close/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4" name="slot.value.4.icon"/>
          <p:cNvSpPr/>
          <p:nvPr/>
        </p:nvSpPr>
        <p:spPr>
          <a:xfrm>
            <a:off x="5797296" y="407822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5" name="slot.value.5.icon"/>
          <p:cNvSpPr/>
          <p:nvPr/>
        </p:nvSpPr>
        <p:spPr>
          <a:xfrm>
            <a:off x="8375904" y="329184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2000"/>
                </a:moveTo>
                <a:lnTo>
                  <a:pt x="14000" y="2000"/>
                </a:lnTo>
                <a:moveTo>
                  <a:pt x="12000" y="14000"/>
                </a:moveTo>
                <a:lnTo>
                  <a:pt x="15000" y="11000"/>
                </a:lnTo>
                <a:moveTo>
                  <a:pt x="20000" y="14000"/>
                </a:moveTo>
                <a:cubicBezTo>
                  <a:pt x="20000" y="18418"/>
                  <a:pt x="16418" y="22000"/>
                  <a:pt x="12000" y="22000"/>
                </a:cubicBezTo>
                <a:cubicBezTo>
                  <a:pt x="7582" y="22000"/>
                  <a:pt x="4000" y="18418"/>
                  <a:pt x="4000" y="14000"/>
                </a:cubicBezTo>
                <a:cubicBezTo>
                  <a:pt x="4000" y="9582"/>
                  <a:pt x="7582" y="6000"/>
                  <a:pt x="12000" y="6000"/>
                </a:cubicBezTo>
                <a:cubicBezTo>
                  <a:pt x="16418" y="6000"/>
                  <a:pt x="20000" y="9582"/>
                  <a:pt x="20000" y="14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6" name="slot.value.6.icon"/>
          <p:cNvSpPr/>
          <p:nvPr/>
        </p:nvSpPr>
        <p:spPr>
          <a:xfrm>
            <a:off x="8375904" y="389534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7" name="slot.value.7.icon"/>
          <p:cNvSpPr/>
          <p:nvPr/>
        </p:nvSpPr>
        <p:spPr>
          <a:xfrm>
            <a:off x="8375904" y="449884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6000"/>
                </a:moveTo>
                <a:lnTo>
                  <a:pt x="12010" y="16000"/>
                </a:lnTo>
                <a:moveTo>
                  <a:pt x="16000" y="16000"/>
                </a:moveTo>
                <a:lnTo>
                  <a:pt x="16010" y="16000"/>
                </a:lnTo>
                <a:moveTo>
                  <a:pt x="3000" y="19000"/>
                </a:moveTo>
                <a:cubicBezTo>
                  <a:pt x="3000" y="20105"/>
                  <a:pt x="3895" y="21000"/>
                  <a:pt x="5000" y="21000"/>
                </a:cubicBezTo>
                <a:lnTo>
                  <a:pt x="19000" y="21000"/>
                </a:lnTo>
                <a:cubicBezTo>
                  <a:pt x="20105" y="21000"/>
                  <a:pt x="21000" y="20105"/>
                  <a:pt x="21000" y="19000"/>
                </a:cubicBezTo>
                <a:lnTo>
                  <a:pt x="21000" y="8500"/>
                </a:lnTo>
                <a:cubicBezTo>
                  <a:pt x="21000" y="8317"/>
                  <a:pt x="20901" y="8149"/>
                  <a:pt x="20741" y="8061"/>
                </a:cubicBezTo>
                <a:cubicBezTo>
                  <a:pt x="20580" y="7973"/>
                  <a:pt x="20385" y="7980"/>
                  <a:pt x="20231" y="8078"/>
                </a:cubicBezTo>
                <a:lnTo>
                  <a:pt x="15769" y="10922"/>
                </a:lnTo>
                <a:cubicBezTo>
                  <a:pt x="15615" y="11020"/>
                  <a:pt x="15420" y="11027"/>
                  <a:pt x="15259" y="10939"/>
                </a:cubicBezTo>
                <a:cubicBezTo>
                  <a:pt x="15099" y="10851"/>
                  <a:pt x="15000" y="10683"/>
                  <a:pt x="15000" y="10500"/>
                </a:cubicBezTo>
                <a:lnTo>
                  <a:pt x="15000" y="8500"/>
                </a:lnTo>
                <a:cubicBezTo>
                  <a:pt x="15000" y="8317"/>
                  <a:pt x="14901" y="8149"/>
                  <a:pt x="14741" y="8061"/>
                </a:cubicBezTo>
                <a:cubicBezTo>
                  <a:pt x="14580" y="7973"/>
                  <a:pt x="14385" y="7980"/>
                  <a:pt x="14231" y="8078"/>
                </a:cubicBezTo>
                <a:lnTo>
                  <a:pt x="9770" y="10922"/>
                </a:lnTo>
                <a:cubicBezTo>
                  <a:pt x="9616" y="11021"/>
                  <a:pt x="9420" y="11028"/>
                  <a:pt x="9260" y="10940"/>
                </a:cubicBezTo>
                <a:cubicBezTo>
                  <a:pt x="9099" y="10852"/>
                  <a:pt x="9000" y="10683"/>
                  <a:pt x="9000" y="10500"/>
                </a:cubicBezTo>
                <a:lnTo>
                  <a:pt x="9000" y="5000"/>
                </a:lnTo>
                <a:cubicBezTo>
                  <a:pt x="9000" y="3895"/>
                  <a:pt x="8105" y="3000"/>
                  <a:pt x="7000" y="3000"/>
                </a:cubicBezTo>
                <a:lnTo>
                  <a:pt x="5000" y="3000"/>
                </a:lnTo>
                <a:cubicBezTo>
                  <a:pt x="3895" y="3000"/>
                  <a:pt x="3000" y="3895"/>
                  <a:pt x="3000" y="5000"/>
                </a:cubicBezTo>
                <a:close/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118" name="slot.value-row.icon"/>
          <p:cNvSpPr/>
          <p:nvPr/>
        </p:nvSpPr>
        <p:spPr>
          <a:xfrm>
            <a:off x="2048256" y="5705856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7000"/>
                </a:moveTo>
                <a:lnTo>
                  <a:pt x="14000" y="17000"/>
                </a:lnTo>
                <a:lnTo>
                  <a:pt x="14000" y="19000"/>
                </a:lnTo>
                <a:cubicBezTo>
                  <a:pt x="14000" y="19552"/>
                  <a:pt x="14448" y="20000"/>
                  <a:pt x="15000" y="20000"/>
                </a:cubicBezTo>
                <a:lnTo>
                  <a:pt x="17000" y="20000"/>
                </a:lnTo>
                <a:cubicBezTo>
                  <a:pt x="17552" y="20000"/>
                  <a:pt x="18000" y="19552"/>
                  <a:pt x="18000" y="19000"/>
                </a:cubicBezTo>
                <a:lnTo>
                  <a:pt x="18000" y="16000"/>
                </a:lnTo>
                <a:cubicBezTo>
                  <a:pt x="18944" y="15686"/>
                  <a:pt x="19686" y="14944"/>
                  <a:pt x="20000" y="14000"/>
                </a:cubicBezTo>
                <a:lnTo>
                  <a:pt x="21000" y="14000"/>
                </a:lnTo>
                <a:cubicBezTo>
                  <a:pt x="21552" y="14000"/>
                  <a:pt x="22000" y="13552"/>
                  <a:pt x="22000" y="13000"/>
                </a:cubicBezTo>
                <a:lnTo>
                  <a:pt x="22000" y="11000"/>
                </a:lnTo>
                <a:cubicBezTo>
                  <a:pt x="22000" y="10448"/>
                  <a:pt x="21552" y="10000"/>
                  <a:pt x="21000" y="10000"/>
                </a:cubicBezTo>
                <a:lnTo>
                  <a:pt x="20000" y="10000"/>
                </a:lnTo>
                <a:cubicBezTo>
                  <a:pt x="20000" y="8426"/>
                  <a:pt x="19259" y="6944"/>
                  <a:pt x="18000" y="6000"/>
                </a:cubicBezTo>
                <a:lnTo>
                  <a:pt x="18000" y="3000"/>
                </a:lnTo>
                <a:cubicBezTo>
                  <a:pt x="16741" y="3000"/>
                  <a:pt x="15555" y="3593"/>
                  <a:pt x="14800" y="4600"/>
                </a:cubicBezTo>
                <a:lnTo>
                  <a:pt x="14500" y="5000"/>
                </a:lnTo>
                <a:lnTo>
                  <a:pt x="11000" y="5000"/>
                </a:lnTo>
                <a:cubicBezTo>
                  <a:pt x="7686" y="5000"/>
                  <a:pt x="5000" y="7686"/>
                  <a:pt x="5000" y="11000"/>
                </a:cubicBezTo>
                <a:lnTo>
                  <a:pt x="5000" y="12000"/>
                </a:lnTo>
                <a:cubicBezTo>
                  <a:pt x="5000" y="13574"/>
                  <a:pt x="5741" y="15056"/>
                  <a:pt x="7000" y="16000"/>
                </a:cubicBezTo>
                <a:lnTo>
                  <a:pt x="7000" y="19000"/>
                </a:lnTo>
                <a:cubicBezTo>
                  <a:pt x="7000" y="19552"/>
                  <a:pt x="7448" y="20000"/>
                  <a:pt x="8000" y="20000"/>
                </a:cubicBezTo>
                <a:lnTo>
                  <a:pt x="10000" y="20000"/>
                </a:lnTo>
                <a:cubicBezTo>
                  <a:pt x="10552" y="20000"/>
                  <a:pt x="11000" y="19552"/>
                  <a:pt x="11000" y="19000"/>
                </a:cubicBezTo>
                <a:close/>
                <a:moveTo>
                  <a:pt x="16000" y="10000"/>
                </a:moveTo>
                <a:lnTo>
                  <a:pt x="16010" y="10000"/>
                </a:lnTo>
                <a:moveTo>
                  <a:pt x="2000" y="8000"/>
                </a:moveTo>
                <a:lnTo>
                  <a:pt x="2000" y="9000"/>
                </a:lnTo>
                <a:cubicBezTo>
                  <a:pt x="2000" y="10105"/>
                  <a:pt x="2895" y="11000"/>
                  <a:pt x="4000" y="11000"/>
                </a:cubicBezTo>
                <a:lnTo>
                  <a:pt x="5000" y="11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worked-example:stage-columns-hub-trace">
    <p:spTree>
      <p:nvGrpSpPr>
        <p:cNvPr id="1" name=""/>
        <p:cNvGrpSpPr/>
        <p:nvPr/>
      </p:nvGrpSpPr>
      <p:grpSpPr/>
      <p:sp>
        <p:nvSpPr>
          <p:cNvPr id="2" name="struct.paths.frame"/>
          <p:cNvSpPr/>
          <p:nvPr/>
        </p:nvSpPr>
        <p:spPr>
          <a:xfrm>
            <a:off x="469900" y="5081911"/>
            <a:ext cx="11464400" cy="1188000"/>
          </a:xfrm>
          <a:prstGeom prst="roundRect">
            <a:avLst>
              <a:gd name="adj" fmla="val 3848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cxnSp>
        <p:nvCxnSpPr>
          <p:cNvPr id="3" name="struct.paths.divider"/>
          <p:cNvCxnSpPr/>
          <p:nvPr/>
        </p:nvCxnSpPr>
        <p:spPr>
          <a:xfrm>
            <a:off x="6202100" y="5081911"/>
            <a:ext cx="0" cy="11880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4" name="struct.stage.3.frame"/>
          <p:cNvSpPr/>
          <p:nvPr/>
        </p:nvSpPr>
        <p:spPr>
          <a:xfrm>
            <a:off x="6220007" y="1181141"/>
            <a:ext cx="3344000" cy="3811483"/>
          </a:xfrm>
          <a:prstGeom prst="roundRect">
            <a:avLst>
              <a:gd name="adj" fmla="val 1367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" name="struct.stage.2.frame"/>
          <p:cNvSpPr/>
          <p:nvPr/>
        </p:nvSpPr>
        <p:spPr>
          <a:xfrm>
            <a:off x="2138977" y="1181141"/>
            <a:ext cx="3965600" cy="3811483"/>
          </a:xfrm>
          <a:prstGeom prst="roundRect">
            <a:avLst>
              <a:gd name="adj" fmla="val 1200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6" name="struct.stage.4.frame"/>
          <p:cNvSpPr/>
          <p:nvPr/>
        </p:nvSpPr>
        <p:spPr>
          <a:xfrm>
            <a:off x="9679773" y="1181141"/>
            <a:ext cx="2254400" cy="3811483"/>
          </a:xfrm>
          <a:prstGeom prst="roundRect">
            <a:avLst>
              <a:gd name="adj" fmla="val 2028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7" name="slot.title"/>
          <p:cNvSpPr txBox="1"/>
          <p:nvPr/>
        </p:nvSpPr>
        <p:spPr>
          <a:xfrm>
            <a:off x="457200" y="164592"/>
            <a:ext cx="11338560" cy="47548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invoice cleared in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four minutes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, with one price gap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held for a buyer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ruct.stage.1.frame"/>
          <p:cNvSpPr/>
          <p:nvPr/>
        </p:nvSpPr>
        <p:spPr>
          <a:xfrm>
            <a:off x="469899" y="1181141"/>
            <a:ext cx="1553600" cy="3811483"/>
          </a:xfrm>
          <a:prstGeom prst="roundRect">
            <a:avLst>
              <a:gd name="adj" fmla="val 2943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9" name="slot.stage.1.head"/>
          <p:cNvSpPr/>
          <p:nvPr/>
        </p:nvSpPr>
        <p:spPr>
          <a:xfrm>
            <a:off x="469900" y="1181141"/>
            <a:ext cx="1553600" cy="4452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Invoice in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INV-20418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field.1"/>
          <p:cNvSpPr txBox="1"/>
          <p:nvPr/>
        </p:nvSpPr>
        <p:spPr>
          <a:xfrm>
            <a:off x="557784" y="1719072"/>
            <a:ext cx="1380744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72000" tIns="72000" rIns="72000" bIns="720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Received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Mon, 09:12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field.2"/>
          <p:cNvSpPr txBox="1"/>
          <p:nvPr/>
        </p:nvSpPr>
        <p:spPr>
          <a:xfrm>
            <a:off x="557784" y="2359152"/>
            <a:ext cx="1380744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72000" tIns="72000" rIns="72000" bIns="720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Supplier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Packaging vendor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field.3"/>
          <p:cNvSpPr txBox="1"/>
          <p:nvPr/>
        </p:nvSpPr>
        <p:spPr>
          <a:xfrm>
            <a:off x="557784" y="2999232"/>
            <a:ext cx="1380744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72000" tIns="72000" rIns="72000" bIns="720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PO-7731, net 30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field.4"/>
          <p:cNvSpPr txBox="1"/>
          <p:nvPr/>
        </p:nvSpPr>
        <p:spPr>
          <a:xfrm>
            <a:off x="557784" y="3639311"/>
            <a:ext cx="1380744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72000" tIns="72000" rIns="72000" bIns="720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Total billed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$48,260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field.5"/>
          <p:cNvSpPr txBox="1"/>
          <p:nvPr/>
        </p:nvSpPr>
        <p:spPr>
          <a:xfrm>
            <a:off x="557784" y="4279392"/>
            <a:ext cx="1380744" cy="566928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spcFirstLastPara="1" wrap="square" lIns="72000" tIns="72000" rIns="72000" bIns="720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Line 4 price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$6.40 a unit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stage.2.head"/>
          <p:cNvSpPr/>
          <p:nvPr/>
        </p:nvSpPr>
        <p:spPr>
          <a:xfrm>
            <a:off x="2138977" y="1181141"/>
            <a:ext cx="3965600" cy="4452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Lines matched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Order, receipt and price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6" name="slot.lines.table"/>
          <p:cNvGraphicFramePr/>
          <p:nvPr/>
        </p:nvGraphicFramePr>
        <p:xfrm>
          <a:off x="2240705" y="2421888"/>
          <a:ext cx="3758184" cy="191517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2267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Line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Qty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Gap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67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Line 1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1,200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Shipping cartons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0%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067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Line 2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800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Divider inserts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0%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067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Line 3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2,000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Pallet wrap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0%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80000"/>
                              <a:lumOff val="2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  <a:endParaRPr lang="en-US" sz="1000" b="0" i="0" kern="0" dirty="0">
                        <a:solidFill>
                          <a:schemeClr val="tx1">
                            <a:lumMod val="80000"/>
                            <a:lumOff val="2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736"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Line 4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3,100</a:t>
                      </a:r>
                      <a:endParaRPr lang="en-US" sz="1000" b="0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Printed sleeves</a:t>
                      </a:r>
                      <a:endParaRPr lang="en-US" sz="1000" b="0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+8.5%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 lIns="0" tIns="0" rIns="0" bIns="0" anchor="ctr" rtlCol="0">
                      <a:noAutofit/>
                    </a:bodyPr>
                    <a:lstStyle/>
                    <a:p>
                      <a:pPr marL="0" indent="0"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kern="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Held</a:t>
                      </a:r>
                      <a:endParaRPr lang="en-US" sz="1000" b="1" i="0" kern="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marL="54000" marR="54000" marT="36000" marB="36000" anchor="ctr">
                    <a:lnL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slot.stage.3.head"/>
          <p:cNvSpPr/>
          <p:nvPr/>
        </p:nvSpPr>
        <p:spPr>
          <a:xfrm>
            <a:off x="6220007" y="1181141"/>
            <a:ext cx="3344000" cy="4452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Gap checked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Five sources around one case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stage.4.head"/>
          <p:cNvSpPr/>
          <p:nvPr/>
        </p:nvSpPr>
        <p:spPr>
          <a:xfrm>
            <a:off x="9679773" y="1181141"/>
            <a:ext cx="2254400" cy="4452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Outcome logged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Every step traceable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outcome.1"/>
          <p:cNvSpPr txBox="1"/>
          <p:nvPr/>
        </p:nvSpPr>
        <p:spPr>
          <a:xfrm>
            <a:off x="10058400" y="1737360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Lines 1 to 3 posted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$28,420 paid on day 30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outcome.2"/>
          <p:cNvSpPr txBox="1"/>
          <p:nvPr/>
        </p:nvSpPr>
        <p:spPr>
          <a:xfrm>
            <a:off x="10058400" y="2386584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Line 4 held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$1,550 gap with the buyer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outcome.3"/>
          <p:cNvSpPr txBox="1"/>
          <p:nvPr/>
        </p:nvSpPr>
        <p:spPr>
          <a:xfrm>
            <a:off x="10058400" y="3035808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Buyer decision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Surcharge approved to June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outcome.4"/>
          <p:cNvSpPr txBox="1"/>
          <p:nvPr/>
        </p:nvSpPr>
        <p:spPr>
          <a:xfrm>
            <a:off x="10058400" y="3685031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 tuned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Surcharges flagged on arrival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lot.outcome.5"/>
          <p:cNvSpPr txBox="1"/>
          <p:nvPr/>
        </p:nvSpPr>
        <p:spPr>
          <a:xfrm>
            <a:off x="10058400" y="4334256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 trail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Eleven checks, each sourced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4" name="struct.outcome.rule.1"/>
          <p:cNvCxnSpPr/>
          <p:nvPr/>
        </p:nvCxnSpPr>
        <p:spPr>
          <a:xfrm>
            <a:off x="9829800" y="2336291"/>
            <a:ext cx="1956816" cy="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5" name="struct.outcome.rule.2"/>
          <p:cNvCxnSpPr/>
          <p:nvPr/>
        </p:nvCxnSpPr>
        <p:spPr>
          <a:xfrm>
            <a:off x="9829800" y="2985515"/>
            <a:ext cx="1956816" cy="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6" name="struct.outcome.rule.3"/>
          <p:cNvCxnSpPr/>
          <p:nvPr/>
        </p:nvCxnSpPr>
        <p:spPr>
          <a:xfrm>
            <a:off x="9829800" y="3634739"/>
            <a:ext cx="1956816" cy="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7" name="struct.outcome.rule.4"/>
          <p:cNvCxnSpPr/>
          <p:nvPr/>
        </p:nvCxnSpPr>
        <p:spPr>
          <a:xfrm>
            <a:off x="9829800" y="4283964"/>
            <a:ext cx="1956816" cy="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28" name="slot.check.1.label"/>
          <p:cNvSpPr txBox="1"/>
          <p:nvPr/>
        </p:nvSpPr>
        <p:spPr>
          <a:xfrm>
            <a:off x="2240705" y="2021011"/>
            <a:ext cx="620000" cy="27084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Supplier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check.2.label"/>
          <p:cNvSpPr txBox="1"/>
          <p:nvPr/>
        </p:nvSpPr>
        <p:spPr>
          <a:xfrm>
            <a:off x="3013268" y="2021011"/>
            <a:ext cx="620000" cy="27084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check.3.label"/>
          <p:cNvSpPr txBox="1"/>
          <p:nvPr/>
        </p:nvSpPr>
        <p:spPr>
          <a:xfrm>
            <a:off x="3785831" y="2021011"/>
            <a:ext cx="620000" cy="27084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Receipt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check.4.label"/>
          <p:cNvSpPr txBox="1"/>
          <p:nvPr/>
        </p:nvSpPr>
        <p:spPr>
          <a:xfrm>
            <a:off x="4558392" y="2021011"/>
            <a:ext cx="620000" cy="27084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check.5.label"/>
          <p:cNvSpPr txBox="1"/>
          <p:nvPr/>
        </p:nvSpPr>
        <p:spPr>
          <a:xfrm>
            <a:off x="5330951" y="2021011"/>
            <a:ext cx="671600" cy="270843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Tax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" name="struct.check.rule.1"/>
          <p:cNvCxnSpPr/>
          <p:nvPr/>
        </p:nvCxnSpPr>
        <p:spPr>
          <a:xfrm rot="10800000">
            <a:off x="2937072" y="2020795"/>
            <a:ext cx="0" cy="26920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4" name="struct.check.rule.2"/>
          <p:cNvCxnSpPr/>
          <p:nvPr/>
        </p:nvCxnSpPr>
        <p:spPr>
          <a:xfrm rot="10800000">
            <a:off x="3709635" y="2020795"/>
            <a:ext cx="0" cy="26920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5" name="struct.check.rule.3"/>
          <p:cNvCxnSpPr/>
          <p:nvPr/>
        </p:nvCxnSpPr>
        <p:spPr>
          <a:xfrm rot="10800000">
            <a:off x="4482196" y="2020795"/>
            <a:ext cx="0" cy="26920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6" name="struct.check.rule.4"/>
          <p:cNvCxnSpPr/>
          <p:nvPr/>
        </p:nvCxnSpPr>
        <p:spPr>
          <a:xfrm rot="10800000">
            <a:off x="5254759" y="2020795"/>
            <a:ext cx="0" cy="269200"/>
          </a:xfrm>
          <a:prstGeom prst="straightConnector1">
            <a:avLst/>
          </a:prstGeom>
          <a:noFill/>
          <a:ln w="71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37" name="struct.note.frame"/>
          <p:cNvSpPr/>
          <p:nvPr/>
        </p:nvSpPr>
        <p:spPr>
          <a:xfrm>
            <a:off x="2240705" y="4471360"/>
            <a:ext cx="3761600" cy="406400"/>
          </a:xfrm>
          <a:prstGeom prst="roundRect">
            <a:avLst>
              <a:gd name="adj" fmla="val 9797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38" name="slot.note"/>
          <p:cNvSpPr txBox="1"/>
          <p:nvPr/>
        </p:nvSpPr>
        <p:spPr>
          <a:xfrm>
            <a:off x="2315432" y="4540069"/>
            <a:ext cx="3612400" cy="28071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Line 4 breaks the 5% price tolerance, so it is held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9" name="struct.flag.1.disc"/>
          <p:cNvGrpSpPr/>
          <p:nvPr/>
        </p:nvGrpSpPr>
        <p:grpSpPr>
          <a:xfrm>
            <a:off x="2179659" y="4407575"/>
            <a:ext cx="135936" cy="135936"/>
            <a:chOff x="2179659" y="4407575"/>
            <a:chExt cx="135936" cy="135936"/>
          </a:xfrm>
          <a:effectLst/>
        </p:grpSpPr>
        <p:sp>
          <p:nvSpPr>
            <p:cNvPr id="40" name="struct.flag.1.star"/>
            <p:cNvSpPr/>
            <p:nvPr/>
          </p:nvSpPr>
          <p:spPr>
            <a:xfrm>
              <a:off x="2204553" y="4432469"/>
              <a:ext cx="86124" cy="86124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33" tIns="45700" rIns="91433" bIns="45700" anchor="t" anchorCtr="0">
              <a:noAutofit/>
            </a:bodyPr>
            <a:lstStyle/>
            <a:p>
              <a:pPr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</p:grpSp>
      <p:sp>
        <p:nvSpPr>
          <p:cNvPr id="41" name="struct.flag.2.disc"/>
          <p:cNvSpPr/>
          <p:nvPr/>
        </p:nvSpPr>
        <p:spPr>
          <a:xfrm>
            <a:off x="5924920" y="4039627"/>
            <a:ext cx="136000" cy="136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42" name="struct.flag.2.star"/>
          <p:cNvSpPr/>
          <p:nvPr/>
        </p:nvSpPr>
        <p:spPr>
          <a:xfrm>
            <a:off x="5949811" y="4064519"/>
            <a:ext cx="86000" cy="860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43" name="slot.source.3"/>
          <p:cNvSpPr txBox="1"/>
          <p:nvPr/>
        </p:nvSpPr>
        <p:spPr>
          <a:xfrm>
            <a:off x="8650224" y="2286000"/>
            <a:ext cx="841248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Supplier note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Resin surcharge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4" name="struct.hub.spoke.1"/>
          <p:cNvCxnSpPr/>
          <p:nvPr/>
        </p:nvCxnSpPr>
        <p:spPr>
          <a:xfrm rot="10800000">
            <a:off x="7838913" y="2674283"/>
            <a:ext cx="0" cy="3496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45" name="struct.hub.spoke.2"/>
          <p:cNvCxnSpPr/>
          <p:nvPr/>
        </p:nvCxnSpPr>
        <p:spPr>
          <a:xfrm rot="10800000" flipH="1">
            <a:off x="8038152" y="3175663"/>
            <a:ext cx="398000" cy="1372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46" name="struct.hub.spoke.3"/>
          <p:cNvCxnSpPr/>
          <p:nvPr/>
        </p:nvCxnSpPr>
        <p:spPr>
          <a:xfrm>
            <a:off x="7277367" y="3211668"/>
            <a:ext cx="360800" cy="1008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47" name="struct.hub.spoke.4"/>
          <p:cNvCxnSpPr/>
          <p:nvPr/>
        </p:nvCxnSpPr>
        <p:spPr>
          <a:xfrm>
            <a:off x="7960808" y="3585175"/>
            <a:ext cx="274800" cy="2980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48" name="struct.hub.spoke.5"/>
          <p:cNvCxnSpPr/>
          <p:nvPr/>
        </p:nvCxnSpPr>
        <p:spPr>
          <a:xfrm flipH="1">
            <a:off x="7442404" y="3545456"/>
            <a:ext cx="328400" cy="34440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49" name="struct.hub.ring"/>
          <p:cNvSpPr/>
          <p:nvPr/>
        </p:nvSpPr>
        <p:spPr>
          <a:xfrm>
            <a:off x="7015087" y="2552781"/>
            <a:ext cx="1648000" cy="1648000"/>
          </a:xfrm>
          <a:custGeom>
            <a:avLst/>
            <a:gdLst/>
            <a:ahLst/>
            <a:cxnLst/>
            <a:rect l="0" t="0" r="r" b="b"/>
            <a:pathLst>
              <a:path w="1648000" h="1648000" fill="none">
                <a:moveTo>
                  <a:pt x="824000" y="0"/>
                </a:moveTo>
                <a:cubicBezTo>
                  <a:pt x="1279095" y="0"/>
                  <a:pt x="1648000" y="368905"/>
                  <a:pt x="1648000" y="824000"/>
                </a:cubicBezTo>
                <a:cubicBezTo>
                  <a:pt x="1648000" y="1279095"/>
                  <a:pt x="1279095" y="1648000"/>
                  <a:pt x="824000" y="1648000"/>
                </a:cubicBezTo>
                <a:cubicBezTo>
                  <a:pt x="368905" y="1648000"/>
                  <a:pt x="0" y="1279095"/>
                  <a:pt x="0" y="824000"/>
                </a:cubicBezTo>
                <a:cubicBezTo>
                  <a:pt x="0" y="368905"/>
                  <a:pt x="368905" y="0"/>
                  <a:pt x="824001" y="0"/>
                </a:cubicBezTo>
              </a:path>
            </a:pathLst>
          </a:custGeom>
          <a:noFill/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0" name="struct.hub.core"/>
          <p:cNvSpPr/>
          <p:nvPr/>
        </p:nvSpPr>
        <p:spPr>
          <a:xfrm>
            <a:off x="7502313" y="3023883"/>
            <a:ext cx="673200" cy="673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1" name="struct.source.1.disc"/>
          <p:cNvSpPr/>
          <p:nvPr/>
        </p:nvSpPr>
        <p:spPr>
          <a:xfrm>
            <a:off x="7647411" y="2280705"/>
            <a:ext cx="409600" cy="409600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2" name="struct.source.3.disc"/>
          <p:cNvSpPr/>
          <p:nvPr/>
        </p:nvSpPr>
        <p:spPr>
          <a:xfrm>
            <a:off x="8436152" y="2970863"/>
            <a:ext cx="409600" cy="409600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3" name="struct.source.5.disc"/>
          <p:cNvSpPr/>
          <p:nvPr/>
        </p:nvSpPr>
        <p:spPr>
          <a:xfrm>
            <a:off x="8175623" y="3823191"/>
            <a:ext cx="409600" cy="409600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4" name="struct.source.4.disc"/>
          <p:cNvSpPr/>
          <p:nvPr/>
        </p:nvSpPr>
        <p:spPr>
          <a:xfrm>
            <a:off x="7092789" y="3829872"/>
            <a:ext cx="409600" cy="409600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5" name="struct.source.2.disc"/>
          <p:cNvSpPr/>
          <p:nvPr/>
        </p:nvSpPr>
        <p:spPr>
          <a:xfrm>
            <a:off x="6867767" y="3006868"/>
            <a:ext cx="409600" cy="409600"/>
          </a:xfrm>
          <a:prstGeom prst="ellipse">
            <a:avLst/>
          </a:prstGeom>
          <a:solidFill>
            <a:schemeClr val="bg1"/>
          </a:solidFill>
          <a:ln w="71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>
              <a:buSzPts val="1100"/>
            </a:pPr>
            <a:endParaRPr sz="1467">
              <a:solidFill>
                <a:schemeClr val="bg1"/>
              </a:solidFill>
            </a:endParaRPr>
          </a:p>
        </p:txBody>
      </p:sp>
      <p:sp>
        <p:nvSpPr>
          <p:cNvPr id="56" name="slot.source.2"/>
          <p:cNvSpPr txBox="1"/>
          <p:nvPr/>
        </p:nvSpPr>
        <p:spPr>
          <a:xfrm>
            <a:off x="6291072" y="2212848"/>
            <a:ext cx="896112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 history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Six at $5.90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source.4"/>
          <p:cNvSpPr txBox="1"/>
          <p:nvPr/>
        </p:nvSpPr>
        <p:spPr>
          <a:xfrm>
            <a:off x="6437376" y="4315968"/>
            <a:ext cx="1298448" cy="53035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Price index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Resin up 9%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source.5"/>
          <p:cNvSpPr txBox="1"/>
          <p:nvPr/>
        </p:nvSpPr>
        <p:spPr>
          <a:xfrm>
            <a:off x="7991856" y="4315968"/>
            <a:ext cx="1298448" cy="53035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Buyer queue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Routed with evidence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source.1"/>
          <p:cNvSpPr txBox="1"/>
          <p:nvPr/>
        </p:nvSpPr>
        <p:spPr>
          <a:xfrm>
            <a:off x="7132320" y="1719072"/>
            <a:ext cx="1444752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Contract terms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$5.90 a unit to June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paths.head"/>
          <p:cNvSpPr/>
          <p:nvPr/>
        </p:nvSpPr>
        <p:spPr>
          <a:xfrm>
            <a:off x="5062507" y="5149416"/>
            <a:ext cx="2299200" cy="2576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Same invoice, two paths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paths.versus"/>
          <p:cNvSpPr/>
          <p:nvPr/>
        </p:nvSpPr>
        <p:spPr>
          <a:xfrm>
            <a:off x="5975011" y="5512183"/>
            <a:ext cx="448000" cy="4480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0" tIns="45700" rIns="0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vs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paths.before.disc"/>
          <p:cNvSpPr/>
          <p:nvPr/>
        </p:nvSpPr>
        <p:spPr>
          <a:xfrm>
            <a:off x="5285989" y="5567083"/>
            <a:ext cx="488000" cy="488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0" tIns="45700" rIns="0" bIns="45700" anchor="ctr" anchorCtr="0">
            <a:noAutofit/>
          </a:bodyPr>
          <a:lstStyle/>
          <a:p/>
        </p:txBody>
      </p:sp>
      <p:sp>
        <p:nvSpPr>
          <p:cNvPr id="63" name="slot.before.body"/>
          <p:cNvSpPr txBox="1"/>
          <p:nvPr/>
        </p:nvSpPr>
        <p:spPr>
          <a:xfrm>
            <a:off x="1970365" y="5588899"/>
            <a:ext cx="3183200" cy="45147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Keyed and matched by hand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gaps surface after the payment run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before.stat.1"/>
          <p:cNvSpPr/>
          <p:nvPr/>
        </p:nvSpPr>
        <p:spPr>
          <a:xfrm>
            <a:off x="610200" y="5489377"/>
            <a:ext cx="1216800" cy="268400"/>
          </a:xfrm>
          <a:prstGeom prst="roundRect">
            <a:avLst>
              <a:gd name="adj" fmla="val 6866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 days to clear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truct.paths.after.disc"/>
          <p:cNvSpPr/>
          <p:nvPr/>
        </p:nvSpPr>
        <p:spPr>
          <a:xfrm>
            <a:off x="6705043" y="5567083"/>
            <a:ext cx="488000" cy="4880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0" tIns="45700" rIns="0" bIns="45700" anchor="ctr" anchorCtr="0">
            <a:noAutofit/>
          </a:bodyPr>
          <a:lstStyle/>
          <a:p/>
        </p:txBody>
      </p:sp>
      <p:sp>
        <p:nvSpPr>
          <p:cNvPr id="66" name="slot.after.body"/>
          <p:cNvSpPr txBox="1"/>
          <p:nvPr/>
        </p:nvSpPr>
        <p:spPr>
          <a:xfrm>
            <a:off x="7325408" y="5518719"/>
            <a:ext cx="2474400" cy="5868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Matched on arrival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Only the price gap reaches a person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after.stat.1"/>
          <p:cNvSpPr/>
          <p:nvPr/>
        </p:nvSpPr>
        <p:spPr>
          <a:xfrm>
            <a:off x="9932251" y="5489377"/>
            <a:ext cx="1869600" cy="268400"/>
          </a:xfrm>
          <a:prstGeom prst="roundRect">
            <a:avLst>
              <a:gd name="adj" fmla="val 6866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 minutes to clear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tage.1.num"/>
          <p:cNvSpPr txBox="1"/>
          <p:nvPr/>
        </p:nvSpPr>
        <p:spPr>
          <a:xfrm>
            <a:off x="942107" y="830700"/>
            <a:ext cx="527200" cy="32752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01</a:t>
            </a:r>
            <a:endParaRPr lang="en-US" sz="1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lot.stage.2.num"/>
          <p:cNvSpPr txBox="1"/>
          <p:nvPr/>
        </p:nvSpPr>
        <p:spPr>
          <a:xfrm>
            <a:off x="3785180" y="830700"/>
            <a:ext cx="558800" cy="32752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1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stage.3.num"/>
          <p:cNvSpPr txBox="1"/>
          <p:nvPr/>
        </p:nvSpPr>
        <p:spPr>
          <a:xfrm>
            <a:off x="7609605" y="830700"/>
            <a:ext cx="504800" cy="32752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03</a:t>
            </a:r>
            <a:endParaRPr lang="en-US" sz="1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lot.stage.4.num"/>
          <p:cNvSpPr txBox="1"/>
          <p:nvPr/>
        </p:nvSpPr>
        <p:spPr>
          <a:xfrm>
            <a:off x="10467099" y="830700"/>
            <a:ext cx="562400" cy="32752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04</a:t>
            </a:r>
            <a:endParaRPr lang="en-US" sz="1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72" name="struct.chevron.1.1"/>
          <p:cNvGrpSpPr/>
          <p:nvPr/>
        </p:nvGrpSpPr>
        <p:grpSpPr>
          <a:xfrm>
            <a:off x="2026956" y="877447"/>
            <a:ext cx="152585" cy="187200"/>
            <a:chOff x="2026956" y="877447"/>
            <a:chExt cx="152585" cy="187200"/>
          </a:xfrm>
          <a:effectLst/>
        </p:grpSpPr>
        <p:sp>
          <p:nvSpPr>
            <p:cNvPr id="73" name="struct.chevron.1.2"/>
            <p:cNvSpPr/>
            <p:nvPr/>
          </p:nvSpPr>
          <p:spPr>
            <a:xfrm rot="5400000">
              <a:off x="2034041" y="919147"/>
              <a:ext cx="187200" cy="1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  <p:sp>
          <p:nvSpPr>
            <p:cNvPr id="74" name="struct.chevron.1.3"/>
            <p:cNvSpPr/>
            <p:nvPr/>
          </p:nvSpPr>
          <p:spPr>
            <a:xfrm rot="5400000">
              <a:off x="1987206" y="921369"/>
              <a:ext cx="178800" cy="993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</p:grpSp>
      <p:grpSp>
        <p:nvGrpSpPr>
          <p:cNvPr id="75" name="struct.chevron.2.1"/>
          <p:cNvGrpSpPr/>
          <p:nvPr/>
        </p:nvGrpSpPr>
        <p:grpSpPr>
          <a:xfrm>
            <a:off x="6085784" y="877447"/>
            <a:ext cx="152585" cy="187200"/>
            <a:chOff x="6085784" y="877447"/>
            <a:chExt cx="152585" cy="187200"/>
          </a:xfrm>
          <a:effectLst/>
        </p:grpSpPr>
        <p:sp>
          <p:nvSpPr>
            <p:cNvPr id="76" name="struct.chevron.2.2"/>
            <p:cNvSpPr/>
            <p:nvPr/>
          </p:nvSpPr>
          <p:spPr>
            <a:xfrm rot="5400000">
              <a:off x="6092869" y="919147"/>
              <a:ext cx="187200" cy="1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  <p:sp>
          <p:nvSpPr>
            <p:cNvPr id="77" name="struct.chevron.2.3"/>
            <p:cNvSpPr/>
            <p:nvPr/>
          </p:nvSpPr>
          <p:spPr>
            <a:xfrm rot="5400000">
              <a:off x="6046034" y="921369"/>
              <a:ext cx="178800" cy="993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</p:grpSp>
      <p:grpSp>
        <p:nvGrpSpPr>
          <p:cNvPr id="78" name="struct.chevron.3.1"/>
          <p:cNvGrpSpPr/>
          <p:nvPr/>
        </p:nvGrpSpPr>
        <p:grpSpPr>
          <a:xfrm>
            <a:off x="9545552" y="877447"/>
            <a:ext cx="152585" cy="187200"/>
            <a:chOff x="9545552" y="877447"/>
            <a:chExt cx="152585" cy="187200"/>
          </a:xfrm>
          <a:effectLst/>
        </p:grpSpPr>
        <p:sp>
          <p:nvSpPr>
            <p:cNvPr id="79" name="struct.chevron.3.2"/>
            <p:cNvSpPr/>
            <p:nvPr/>
          </p:nvSpPr>
          <p:spPr>
            <a:xfrm rot="5400000">
              <a:off x="9552637" y="919147"/>
              <a:ext cx="187200" cy="1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  <p:sp>
          <p:nvSpPr>
            <p:cNvPr id="80" name="struct.chevron.3.3"/>
            <p:cNvSpPr/>
            <p:nvPr/>
          </p:nvSpPr>
          <p:spPr>
            <a:xfrm rot="5400000">
              <a:off x="9505802" y="921369"/>
              <a:ext cx="178800" cy="993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7150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>
                <a:buSzPts val="1100"/>
              </a:pPr>
              <a:endParaRPr sz="1467">
                <a:solidFill>
                  <a:schemeClr val="bg1"/>
                </a:solidFill>
              </a:endParaRPr>
            </a:p>
          </p:txBody>
        </p:sp>
      </p:grpSp>
      <p:sp>
        <p:nvSpPr>
          <p:cNvPr id="81" name="slot.before.head"/>
          <p:cNvSpPr txBox="1"/>
          <p:nvPr/>
        </p:nvSpPr>
        <p:spPr>
          <a:xfrm>
            <a:off x="674972" y="5157216"/>
            <a:ext cx="234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Manual review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after.head"/>
          <p:cNvSpPr txBox="1"/>
          <p:nvPr/>
        </p:nvSpPr>
        <p:spPr>
          <a:xfrm>
            <a:off x="9884373" y="5157216"/>
            <a:ext cx="1958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With the agent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before.stat.2"/>
          <p:cNvSpPr/>
          <p:nvPr/>
        </p:nvSpPr>
        <p:spPr>
          <a:xfrm>
            <a:off x="610200" y="5856161"/>
            <a:ext cx="1216800" cy="268400"/>
          </a:xfrm>
          <a:prstGeom prst="roundRect">
            <a:avLst>
              <a:gd name="adj" fmla="val 6866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6 touches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after.stat.2"/>
          <p:cNvSpPr/>
          <p:nvPr/>
        </p:nvSpPr>
        <p:spPr>
          <a:xfrm>
            <a:off x="9932251" y="5856161"/>
            <a:ext cx="1869600" cy="268400"/>
          </a:xfrm>
          <a:prstGeom prst="roundRect">
            <a:avLst>
              <a:gd name="adj" fmla="val 6866"/>
            </a:avLst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 touch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ot.field.5.icon"/>
          <p:cNvSpPr/>
          <p:nvPr/>
        </p:nvSpPr>
        <p:spPr>
          <a:xfrm>
            <a:off x="1737360" y="4325112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730" y="18000"/>
                </a:moveTo>
                <a:lnTo>
                  <a:pt x="13730" y="4000"/>
                </a:lnTo>
                <a:cubicBezTo>
                  <a:pt x="13375" y="3373"/>
                  <a:pt x="12710" y="2986"/>
                  <a:pt x="11990" y="2986"/>
                </a:cubicBezTo>
                <a:cubicBezTo>
                  <a:pt x="11270" y="2986"/>
                  <a:pt x="10605" y="3373"/>
                  <a:pt x="10250" y="4000"/>
                </a:cubicBezTo>
                <a:lnTo>
                  <a:pt x="2250" y="18000"/>
                </a:lnTo>
                <a:cubicBezTo>
                  <a:pt x="1891" y="18622"/>
                  <a:pt x="1893" y="19388"/>
                  <a:pt x="2254" y="20008"/>
                </a:cubicBezTo>
                <a:cubicBezTo>
                  <a:pt x="2616" y="20628"/>
                  <a:pt x="3282" y="21006"/>
                  <a:pt x="4000" y="21000"/>
                </a:cubicBezTo>
                <a:lnTo>
                  <a:pt x="20000" y="21000"/>
                </a:lnTo>
                <a:cubicBezTo>
                  <a:pt x="20714" y="20999"/>
                  <a:pt x="21374" y="20618"/>
                  <a:pt x="21731" y="19999"/>
                </a:cubicBezTo>
                <a:cubicBezTo>
                  <a:pt x="22087" y="19380"/>
                  <a:pt x="22087" y="18618"/>
                  <a:pt x="21730" y="18000"/>
                </a:cubicBezTo>
                <a:moveTo>
                  <a:pt x="12000" y="9000"/>
                </a:moveTo>
                <a:lnTo>
                  <a:pt x="12000" y="13000"/>
                </a:lnTo>
                <a:moveTo>
                  <a:pt x="12000" y="17000"/>
                </a:moveTo>
                <a:lnTo>
                  <a:pt x="12010" y="17000"/>
                </a:lnTo>
              </a:path>
            </a:pathLst>
          </a:custGeom>
          <a:noFill/>
          <a:ln w="13970" cap="rnd">
            <a:solidFill>
              <a:schemeClr val="accent1"/>
            </a:solidFill>
            <a:round/>
          </a:ln>
          <a:effectLst/>
        </p:spPr>
      </p:sp>
      <p:sp>
        <p:nvSpPr>
          <p:cNvPr id="86" name="slot.check.1.icon"/>
          <p:cNvSpPr/>
          <p:nvPr/>
        </p:nvSpPr>
        <p:spPr>
          <a:xfrm>
            <a:off x="2441448" y="172638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87" name="slot.check.2.icon"/>
          <p:cNvSpPr/>
          <p:nvPr/>
        </p:nvSpPr>
        <p:spPr>
          <a:xfrm>
            <a:off x="3213202" y="172638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88" name="slot.check.3.icon"/>
          <p:cNvSpPr/>
          <p:nvPr/>
        </p:nvSpPr>
        <p:spPr>
          <a:xfrm>
            <a:off x="3985870" y="172638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2000"/>
                </a:lnTo>
                <a:moveTo>
                  <a:pt x="16000" y="17000"/>
                </a:moveTo>
                <a:lnTo>
                  <a:pt x="18000" y="19000"/>
                </a:lnTo>
                <a:lnTo>
                  <a:pt x="22000" y="15000"/>
                </a:lnTo>
                <a:moveTo>
                  <a:pt x="21000" y="11127"/>
                </a:moveTo>
                <a:lnTo>
                  <a:pt x="21000" y="8000"/>
                </a:lnTo>
                <a:cubicBezTo>
                  <a:pt x="20999" y="7286"/>
                  <a:pt x="20618" y="6627"/>
                  <a:pt x="20000" y="6270"/>
                </a:cubicBezTo>
                <a:lnTo>
                  <a:pt x="13000" y="2270"/>
                </a:lnTo>
                <a:cubicBezTo>
                  <a:pt x="12381" y="1913"/>
                  <a:pt x="11619" y="1913"/>
                  <a:pt x="11000" y="2270"/>
                </a:cubicBezTo>
                <a:lnTo>
                  <a:pt x="4000" y="6270"/>
                </a:lnTo>
                <a:cubicBezTo>
                  <a:pt x="3382" y="6627"/>
                  <a:pt x="3001" y="7286"/>
                  <a:pt x="3000" y="8000"/>
                </a:cubicBezTo>
                <a:lnTo>
                  <a:pt x="3000" y="16000"/>
                </a:lnTo>
                <a:cubicBezTo>
                  <a:pt x="3001" y="16713"/>
                  <a:pt x="3382" y="17372"/>
                  <a:pt x="4000" y="17729"/>
                </a:cubicBezTo>
                <a:lnTo>
                  <a:pt x="11000" y="21729"/>
                </a:lnTo>
                <a:cubicBezTo>
                  <a:pt x="11619" y="22087"/>
                  <a:pt x="12381" y="22087"/>
                  <a:pt x="13000" y="21730"/>
                </a:cubicBezTo>
                <a:lnTo>
                  <a:pt x="14320" y="20977"/>
                </a:lnTo>
                <a:moveTo>
                  <a:pt x="3290" y="7000"/>
                </a:moveTo>
                <a:lnTo>
                  <a:pt x="12000" y="12000"/>
                </a:lnTo>
                <a:lnTo>
                  <a:pt x="20710" y="7000"/>
                </a:lnTo>
                <a:moveTo>
                  <a:pt x="7500" y="4270"/>
                </a:moveTo>
                <a:lnTo>
                  <a:pt x="16497" y="9418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89" name="slot.check.4.icon"/>
          <p:cNvSpPr/>
          <p:nvPr/>
        </p:nvSpPr>
        <p:spPr>
          <a:xfrm>
            <a:off x="4758538" y="172638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586" y="2586"/>
                </a:moveTo>
                <a:cubicBezTo>
                  <a:pt x="12211" y="2211"/>
                  <a:pt x="11702" y="2000"/>
                  <a:pt x="11172" y="2000"/>
                </a:cubicBezTo>
                <a:lnTo>
                  <a:pt x="4000" y="2000"/>
                </a:lnTo>
                <a:cubicBezTo>
                  <a:pt x="2895" y="2000"/>
                  <a:pt x="2000" y="2895"/>
                  <a:pt x="2000" y="4000"/>
                </a:cubicBezTo>
                <a:lnTo>
                  <a:pt x="2000" y="11172"/>
                </a:lnTo>
                <a:cubicBezTo>
                  <a:pt x="2000" y="11702"/>
                  <a:pt x="2211" y="12211"/>
                  <a:pt x="2586" y="12586"/>
                </a:cubicBezTo>
                <a:lnTo>
                  <a:pt x="11290" y="21290"/>
                </a:lnTo>
                <a:cubicBezTo>
                  <a:pt x="12236" y="22230"/>
                  <a:pt x="13764" y="22230"/>
                  <a:pt x="14710" y="21290"/>
                </a:cubicBezTo>
                <a:lnTo>
                  <a:pt x="21290" y="14710"/>
                </a:lnTo>
                <a:cubicBezTo>
                  <a:pt x="22230" y="13764"/>
                  <a:pt x="22230" y="12236"/>
                  <a:pt x="21290" y="11290"/>
                </a:cubicBezTo>
                <a:close/>
              </a:path>
              <a:path w="24000" h="24000">
                <a:moveTo>
                  <a:pt x="8000" y="7500"/>
                </a:moveTo>
                <a:cubicBezTo>
                  <a:pt x="8000" y="7776"/>
                  <a:pt x="7776" y="8000"/>
                  <a:pt x="7500" y="8000"/>
                </a:cubicBezTo>
                <a:cubicBezTo>
                  <a:pt x="7224" y="8000"/>
                  <a:pt x="7000" y="7776"/>
                  <a:pt x="7000" y="7500"/>
                </a:cubicBezTo>
                <a:cubicBezTo>
                  <a:pt x="7000" y="7224"/>
                  <a:pt x="7224" y="7000"/>
                  <a:pt x="7500" y="7000"/>
                </a:cubicBezTo>
                <a:cubicBezTo>
                  <a:pt x="7776" y="7000"/>
                  <a:pt x="8000" y="7224"/>
                  <a:pt x="8000" y="7500"/>
                </a:cubicBezTo>
                <a:close/>
              </a:path>
            </a:pathLst>
          </a:custGeom>
          <a:solidFill>
            <a:schemeClr val="accent1"/>
          </a:solidFill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90" name="slot.check.5.icon"/>
          <p:cNvSpPr/>
          <p:nvPr/>
        </p:nvSpPr>
        <p:spPr>
          <a:xfrm>
            <a:off x="5556809" y="172638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7000"/>
                </a:moveTo>
                <a:lnTo>
                  <a:pt x="12000" y="7000"/>
                </a:lnTo>
                <a:moveTo>
                  <a:pt x="16000" y="8000"/>
                </a:moveTo>
                <a:lnTo>
                  <a:pt x="10000" y="8000"/>
                </a:lnTo>
                <a:cubicBezTo>
                  <a:pt x="8895" y="8000"/>
                  <a:pt x="8000" y="8895"/>
                  <a:pt x="8000" y="10000"/>
                </a:cubicBezTo>
                <a:cubicBezTo>
                  <a:pt x="8000" y="11105"/>
                  <a:pt x="8895" y="12000"/>
                  <a:pt x="10000" y="12000"/>
                </a:cubicBezTo>
                <a:lnTo>
                  <a:pt x="14000" y="12000"/>
                </a:lnTo>
                <a:cubicBezTo>
                  <a:pt x="15105" y="12000"/>
                  <a:pt x="16000" y="12895"/>
                  <a:pt x="16000" y="14000"/>
                </a:cubicBezTo>
                <a:cubicBezTo>
                  <a:pt x="16000" y="15105"/>
                  <a:pt x="15105" y="16000"/>
                  <a:pt x="14000" y="16000"/>
                </a:cubicBezTo>
                <a:lnTo>
                  <a:pt x="8000" y="16000"/>
                </a:lnTo>
                <a:moveTo>
                  <a:pt x="4000" y="3000"/>
                </a:moveTo>
                <a:cubicBezTo>
                  <a:pt x="4000" y="2448"/>
                  <a:pt x="4448" y="2000"/>
                  <a:pt x="5000" y="2000"/>
                </a:cubicBezTo>
                <a:cubicBezTo>
                  <a:pt x="5248" y="1999"/>
                  <a:pt x="5490" y="2068"/>
                  <a:pt x="5700" y="2200"/>
                </a:cubicBezTo>
                <a:lnTo>
                  <a:pt x="6633" y="2800"/>
                </a:lnTo>
                <a:cubicBezTo>
                  <a:pt x="7060" y="3073"/>
                  <a:pt x="7606" y="3073"/>
                  <a:pt x="8033" y="2800"/>
                </a:cubicBezTo>
                <a:lnTo>
                  <a:pt x="8967" y="2200"/>
                </a:lnTo>
                <a:cubicBezTo>
                  <a:pt x="9394" y="1927"/>
                  <a:pt x="9940" y="1927"/>
                  <a:pt x="10367" y="2200"/>
                </a:cubicBezTo>
                <a:lnTo>
                  <a:pt x="11300" y="2800"/>
                </a:lnTo>
                <a:cubicBezTo>
                  <a:pt x="11727" y="3073"/>
                  <a:pt x="12273" y="3073"/>
                  <a:pt x="12700" y="2800"/>
                </a:cubicBezTo>
                <a:lnTo>
                  <a:pt x="13633" y="2200"/>
                </a:lnTo>
                <a:cubicBezTo>
                  <a:pt x="14060" y="1927"/>
                  <a:pt x="14606" y="1927"/>
                  <a:pt x="15033" y="2200"/>
                </a:cubicBezTo>
                <a:lnTo>
                  <a:pt x="15967" y="2800"/>
                </a:lnTo>
                <a:cubicBezTo>
                  <a:pt x="16394" y="3073"/>
                  <a:pt x="16940" y="3073"/>
                  <a:pt x="17367" y="2800"/>
                </a:cubicBezTo>
                <a:lnTo>
                  <a:pt x="18300" y="2200"/>
                </a:lnTo>
                <a:cubicBezTo>
                  <a:pt x="18510" y="2068"/>
                  <a:pt x="18752" y="1999"/>
                  <a:pt x="19000" y="2000"/>
                </a:cubicBezTo>
                <a:cubicBezTo>
                  <a:pt x="19552" y="2000"/>
                  <a:pt x="20000" y="2448"/>
                  <a:pt x="20000" y="3000"/>
                </a:cubicBezTo>
                <a:lnTo>
                  <a:pt x="20000" y="21000"/>
                </a:lnTo>
                <a:cubicBezTo>
                  <a:pt x="20000" y="21552"/>
                  <a:pt x="19552" y="22000"/>
                  <a:pt x="19000" y="22000"/>
                </a:cubicBezTo>
                <a:cubicBezTo>
                  <a:pt x="18752" y="22001"/>
                  <a:pt x="18510" y="21932"/>
                  <a:pt x="18300" y="21800"/>
                </a:cubicBezTo>
                <a:lnTo>
                  <a:pt x="17367" y="21200"/>
                </a:lnTo>
                <a:cubicBezTo>
                  <a:pt x="16940" y="20927"/>
                  <a:pt x="16394" y="20927"/>
                  <a:pt x="15967" y="21200"/>
                </a:cubicBezTo>
                <a:lnTo>
                  <a:pt x="15033" y="21800"/>
                </a:lnTo>
                <a:cubicBezTo>
                  <a:pt x="14606" y="22073"/>
                  <a:pt x="14060" y="22073"/>
                  <a:pt x="13633" y="21800"/>
                </a:cubicBezTo>
                <a:lnTo>
                  <a:pt x="12700" y="21200"/>
                </a:lnTo>
                <a:cubicBezTo>
                  <a:pt x="12273" y="20927"/>
                  <a:pt x="11727" y="20927"/>
                  <a:pt x="11300" y="21200"/>
                </a:cubicBezTo>
                <a:lnTo>
                  <a:pt x="10367" y="21800"/>
                </a:lnTo>
                <a:cubicBezTo>
                  <a:pt x="9940" y="22073"/>
                  <a:pt x="9394" y="22073"/>
                  <a:pt x="8967" y="21800"/>
                </a:cubicBezTo>
                <a:lnTo>
                  <a:pt x="8033" y="21200"/>
                </a:lnTo>
                <a:cubicBezTo>
                  <a:pt x="7606" y="20927"/>
                  <a:pt x="7060" y="20927"/>
                  <a:pt x="6633" y="21200"/>
                </a:cubicBezTo>
                <a:lnTo>
                  <a:pt x="5700" y="21800"/>
                </a:lnTo>
                <a:cubicBezTo>
                  <a:pt x="5490" y="21932"/>
                  <a:pt x="5248" y="22001"/>
                  <a:pt x="5000" y="22000"/>
                </a:cubicBezTo>
                <a:cubicBezTo>
                  <a:pt x="4448" y="22000"/>
                  <a:pt x="4000" y="21552"/>
                  <a:pt x="4000" y="21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91" name="slot.hub.icon"/>
          <p:cNvSpPr/>
          <p:nvPr/>
        </p:nvSpPr>
        <p:spPr>
          <a:xfrm>
            <a:off x="7633411" y="3154680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34290" cap="rnd">
            <a:solidFill>
              <a:schemeClr val="bg1"/>
            </a:solidFill>
            <a:round/>
          </a:ln>
          <a:effectLst/>
        </p:spPr>
      </p:sp>
      <p:sp>
        <p:nvSpPr>
          <p:cNvPr id="92" name="slot.source.1.icon"/>
          <p:cNvSpPr/>
          <p:nvPr/>
        </p:nvSpPr>
        <p:spPr>
          <a:xfrm>
            <a:off x="7750454" y="2383841"/>
            <a:ext cx="202997" cy="20299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7145" cap="rnd">
            <a:solidFill>
              <a:schemeClr val="accent1"/>
            </a:solidFill>
            <a:round/>
          </a:ln>
          <a:effectLst/>
        </p:spPr>
      </p:sp>
      <p:sp>
        <p:nvSpPr>
          <p:cNvPr id="93" name="slot.source.2.icon"/>
          <p:cNvSpPr/>
          <p:nvPr/>
        </p:nvSpPr>
        <p:spPr>
          <a:xfrm>
            <a:off x="6970471" y="3109874"/>
            <a:ext cx="202997" cy="20299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2000"/>
                </a:moveTo>
                <a:cubicBezTo>
                  <a:pt x="3000" y="16971"/>
                  <a:pt x="7029" y="21000"/>
                  <a:pt x="12000" y="21000"/>
                </a:cubicBezTo>
                <a:cubicBezTo>
                  <a:pt x="16971" y="21000"/>
                  <a:pt x="21000" y="16971"/>
                  <a:pt x="21000" y="12000"/>
                </a:cubicBezTo>
                <a:cubicBezTo>
                  <a:pt x="21000" y="7029"/>
                  <a:pt x="16971" y="3000"/>
                  <a:pt x="12000" y="3000"/>
                </a:cubicBezTo>
                <a:cubicBezTo>
                  <a:pt x="9484" y="3009"/>
                  <a:pt x="7069" y="3991"/>
                  <a:pt x="5260" y="5740"/>
                </a:cubicBezTo>
                <a:lnTo>
                  <a:pt x="3000" y="8000"/>
                </a:lnTo>
                <a:moveTo>
                  <a:pt x="3000" y="3000"/>
                </a:moveTo>
                <a:lnTo>
                  <a:pt x="3000" y="8000"/>
                </a:lnTo>
                <a:lnTo>
                  <a:pt x="8000" y="8000"/>
                </a:lnTo>
                <a:moveTo>
                  <a:pt x="12000" y="7000"/>
                </a:moveTo>
                <a:lnTo>
                  <a:pt x="12000" y="12000"/>
                </a:lnTo>
                <a:lnTo>
                  <a:pt x="16000" y="14000"/>
                </a:lnTo>
              </a:path>
            </a:pathLst>
          </a:custGeom>
          <a:noFill/>
          <a:ln w="17145" cap="rnd">
            <a:solidFill>
              <a:schemeClr val="accent1"/>
            </a:solidFill>
            <a:round/>
          </a:ln>
          <a:effectLst/>
        </p:spPr>
      </p:sp>
      <p:sp>
        <p:nvSpPr>
          <p:cNvPr id="94" name="slot.source.3.icon"/>
          <p:cNvSpPr/>
          <p:nvPr/>
        </p:nvSpPr>
        <p:spPr>
          <a:xfrm>
            <a:off x="8539582" y="3074213"/>
            <a:ext cx="202997" cy="20299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7000"/>
                </a:moveTo>
                <a:cubicBezTo>
                  <a:pt x="22000" y="18105"/>
                  <a:pt x="21105" y="19000"/>
                  <a:pt x="20000" y="19000"/>
                </a:cubicBezTo>
                <a:lnTo>
                  <a:pt x="6828" y="19000"/>
                </a:lnTo>
                <a:cubicBezTo>
                  <a:pt x="6298" y="19000"/>
                  <a:pt x="5789" y="19211"/>
                  <a:pt x="5414" y="19586"/>
                </a:cubicBezTo>
                <a:lnTo>
                  <a:pt x="3212" y="21788"/>
                </a:lnTo>
                <a:cubicBezTo>
                  <a:pt x="3009" y="21991"/>
                  <a:pt x="2704" y="22052"/>
                  <a:pt x="2438" y="21942"/>
                </a:cubicBezTo>
                <a:cubicBezTo>
                  <a:pt x="2173" y="21832"/>
                  <a:pt x="2000" y="21573"/>
                  <a:pt x="2000" y="21286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close/>
              </a:path>
            </a:pathLst>
          </a:custGeom>
          <a:noFill/>
          <a:ln w="17145" cap="rnd">
            <a:solidFill>
              <a:schemeClr val="accent1"/>
            </a:solidFill>
            <a:round/>
          </a:ln>
          <a:effectLst/>
        </p:spPr>
      </p:sp>
      <p:sp>
        <p:nvSpPr>
          <p:cNvPr id="95" name="slot.source.4.icon"/>
          <p:cNvSpPr/>
          <p:nvPr/>
        </p:nvSpPr>
        <p:spPr>
          <a:xfrm>
            <a:off x="7196328" y="3932834"/>
            <a:ext cx="202997" cy="20299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17145" cap="rnd">
            <a:solidFill>
              <a:schemeClr val="accent1"/>
            </a:solidFill>
            <a:round/>
          </a:ln>
          <a:effectLst/>
        </p:spPr>
      </p:sp>
      <p:sp>
        <p:nvSpPr>
          <p:cNvPr id="96" name="slot.source.5.icon"/>
          <p:cNvSpPr/>
          <p:nvPr/>
        </p:nvSpPr>
        <p:spPr>
          <a:xfrm>
            <a:off x="8278978" y="3926434"/>
            <a:ext cx="202997" cy="20299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7145" cap="rnd">
            <a:solidFill>
              <a:schemeClr val="accent1"/>
            </a:solidFill>
            <a:round/>
          </a:ln>
          <a:effectLst/>
        </p:spPr>
      </p:sp>
      <p:sp>
        <p:nvSpPr>
          <p:cNvPr id="97" name="slot.outcome.1.icon"/>
          <p:cNvSpPr/>
          <p:nvPr/>
        </p:nvSpPr>
        <p:spPr>
          <a:xfrm>
            <a:off x="9718243" y="189280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  <p:sp>
        <p:nvSpPr>
          <p:cNvPr id="98" name="slot.outcome.2.icon"/>
          <p:cNvSpPr/>
          <p:nvPr/>
        </p:nvSpPr>
        <p:spPr>
          <a:xfrm>
            <a:off x="9718243" y="2542032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12000" y="8000"/>
                </a:moveTo>
                <a:lnTo>
                  <a:pt x="12000" y="12000"/>
                </a:lnTo>
                <a:moveTo>
                  <a:pt x="12000" y="16000"/>
                </a:moveTo>
                <a:lnTo>
                  <a:pt x="12010" y="16000"/>
                </a:lnTo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  <p:sp>
        <p:nvSpPr>
          <p:cNvPr id="99" name="slot.outcome.3.icon"/>
          <p:cNvSpPr/>
          <p:nvPr/>
        </p:nvSpPr>
        <p:spPr>
          <a:xfrm>
            <a:off x="9718243" y="319125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  <p:sp>
        <p:nvSpPr>
          <p:cNvPr id="100" name="slot.outcome.4.icon"/>
          <p:cNvSpPr/>
          <p:nvPr/>
        </p:nvSpPr>
        <p:spPr>
          <a:xfrm>
            <a:off x="9718243" y="384048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5000"/>
                </a:moveTo>
                <a:lnTo>
                  <a:pt x="3000" y="5000"/>
                </a:lnTo>
                <a:moveTo>
                  <a:pt x="12000" y="19000"/>
                </a:moveTo>
                <a:lnTo>
                  <a:pt x="3000" y="19000"/>
                </a:lnTo>
                <a:moveTo>
                  <a:pt x="14000" y="3000"/>
                </a:moveTo>
                <a:lnTo>
                  <a:pt x="14000" y="7000"/>
                </a:lnTo>
                <a:moveTo>
                  <a:pt x="16000" y="17000"/>
                </a:moveTo>
                <a:lnTo>
                  <a:pt x="16000" y="21000"/>
                </a:lnTo>
                <a:moveTo>
                  <a:pt x="21000" y="12000"/>
                </a:moveTo>
                <a:lnTo>
                  <a:pt x="12000" y="12000"/>
                </a:lnTo>
                <a:moveTo>
                  <a:pt x="21000" y="19000"/>
                </a:moveTo>
                <a:lnTo>
                  <a:pt x="16000" y="19000"/>
                </a:lnTo>
                <a:moveTo>
                  <a:pt x="21000" y="5000"/>
                </a:moveTo>
                <a:lnTo>
                  <a:pt x="14000" y="5000"/>
                </a:lnTo>
                <a:moveTo>
                  <a:pt x="8000" y="10000"/>
                </a:moveTo>
                <a:lnTo>
                  <a:pt x="8000" y="14000"/>
                </a:lnTo>
                <a:moveTo>
                  <a:pt x="8000" y="12000"/>
                </a:moveTo>
                <a:lnTo>
                  <a:pt x="3000" y="12000"/>
                </a:lnTo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  <p:sp>
        <p:nvSpPr>
          <p:cNvPr id="101" name="slot.outcome.5.icon"/>
          <p:cNvSpPr/>
          <p:nvPr/>
        </p:nvSpPr>
        <p:spPr>
          <a:xfrm>
            <a:off x="9718243" y="44897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9000" y="14000"/>
                </a:moveTo>
                <a:lnTo>
                  <a:pt x="11000" y="16000"/>
                </a:lnTo>
                <a:lnTo>
                  <a:pt x="15000" y="12000"/>
                </a:lnTo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  <p:sp>
        <p:nvSpPr>
          <p:cNvPr id="102" name="slot.paths.before.icon"/>
          <p:cNvSpPr/>
          <p:nvPr/>
        </p:nvSpPr>
        <p:spPr>
          <a:xfrm>
            <a:off x="5393349" y="5674443"/>
            <a:ext cx="273280" cy="2732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03" name="slot.paths.after.icon"/>
          <p:cNvSpPr/>
          <p:nvPr/>
        </p:nvSpPr>
        <p:spPr>
          <a:xfrm>
            <a:off x="6812403" y="5674443"/>
            <a:ext cx="273280" cy="2732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antt:phase-lane-milestone-axis-stat-row">
    <p:spTree>
      <p:nvGrpSpPr>
        <p:cNvPr id="1" name=""/>
        <p:cNvGrpSpPr/>
        <p:nvPr/>
      </p:nvGrpSpPr>
      <p:grpSpPr/>
      <p:sp>
        <p:nvSpPr>
          <p:cNvPr id="2" name="struct.quarter.1"/>
          <p:cNvSpPr/>
          <p:nvPr/>
        </p:nvSpPr>
        <p:spPr>
          <a:xfrm>
            <a:off x="2743273" y="1188720"/>
            <a:ext cx="1773936" cy="31089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" name="slot.quarter.1"/>
          <p:cNvSpPr/>
          <p:nvPr/>
        </p:nvSpPr>
        <p:spPr>
          <a:xfrm>
            <a:off x="2743273" y="1188720"/>
            <a:ext cx="177393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Q1 2027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quarter.2"/>
          <p:cNvSpPr/>
          <p:nvPr/>
        </p:nvSpPr>
        <p:spPr>
          <a:xfrm>
            <a:off x="4541031" y="1188720"/>
            <a:ext cx="1773936" cy="31089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5" name="slot.quarter.2"/>
          <p:cNvSpPr/>
          <p:nvPr/>
        </p:nvSpPr>
        <p:spPr>
          <a:xfrm>
            <a:off x="4541031" y="1188720"/>
            <a:ext cx="177393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Q2 2027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uct.quarter.3"/>
          <p:cNvSpPr/>
          <p:nvPr/>
        </p:nvSpPr>
        <p:spPr>
          <a:xfrm>
            <a:off x="6338789" y="1188720"/>
            <a:ext cx="1773936" cy="31089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7" name="slot.quarter.3"/>
          <p:cNvSpPr/>
          <p:nvPr/>
        </p:nvSpPr>
        <p:spPr>
          <a:xfrm>
            <a:off x="6338789" y="1188720"/>
            <a:ext cx="177393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Q3 2027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ruct.quarter.4"/>
          <p:cNvSpPr/>
          <p:nvPr/>
        </p:nvSpPr>
        <p:spPr>
          <a:xfrm>
            <a:off x="8136548" y="1188720"/>
            <a:ext cx="1773936" cy="31089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9" name="slot.quarter.4"/>
          <p:cNvSpPr/>
          <p:nvPr/>
        </p:nvSpPr>
        <p:spPr>
          <a:xfrm>
            <a:off x="8136548" y="1188720"/>
            <a:ext cx="177393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Q4 2027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truct.quarter.5"/>
          <p:cNvSpPr/>
          <p:nvPr/>
        </p:nvSpPr>
        <p:spPr>
          <a:xfrm>
            <a:off x="9934307" y="1188720"/>
            <a:ext cx="1773936" cy="31089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11" name="slot.quarter.5"/>
          <p:cNvSpPr/>
          <p:nvPr/>
        </p:nvSpPr>
        <p:spPr>
          <a:xfrm>
            <a:off x="9934307" y="1188720"/>
            <a:ext cx="177393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Q1 2028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truct.month.1"/>
          <p:cNvSpPr/>
          <p:nvPr/>
        </p:nvSpPr>
        <p:spPr>
          <a:xfrm>
            <a:off x="2743273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13" name="slot.month.1"/>
          <p:cNvSpPr/>
          <p:nvPr/>
        </p:nvSpPr>
        <p:spPr>
          <a:xfrm>
            <a:off x="2743273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Jan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uct.month.2"/>
          <p:cNvSpPr/>
          <p:nvPr/>
        </p:nvSpPr>
        <p:spPr>
          <a:xfrm>
            <a:off x="3342527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15" name="slot.month.2"/>
          <p:cNvSpPr/>
          <p:nvPr/>
        </p:nvSpPr>
        <p:spPr>
          <a:xfrm>
            <a:off x="3342527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Feb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uct.month.3"/>
          <p:cNvSpPr/>
          <p:nvPr/>
        </p:nvSpPr>
        <p:spPr>
          <a:xfrm>
            <a:off x="3941778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17" name="slot.month.3"/>
          <p:cNvSpPr/>
          <p:nvPr/>
        </p:nvSpPr>
        <p:spPr>
          <a:xfrm>
            <a:off x="3941778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Mar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uct.month.4"/>
          <p:cNvSpPr/>
          <p:nvPr/>
        </p:nvSpPr>
        <p:spPr>
          <a:xfrm>
            <a:off x="4541031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19" name="slot.month.4"/>
          <p:cNvSpPr/>
          <p:nvPr/>
        </p:nvSpPr>
        <p:spPr>
          <a:xfrm>
            <a:off x="4541031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Apr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truct.month.5"/>
          <p:cNvSpPr/>
          <p:nvPr/>
        </p:nvSpPr>
        <p:spPr>
          <a:xfrm>
            <a:off x="5140284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21" name="slot.month.5"/>
          <p:cNvSpPr/>
          <p:nvPr/>
        </p:nvSpPr>
        <p:spPr>
          <a:xfrm>
            <a:off x="5140284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May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month.6"/>
          <p:cNvSpPr/>
          <p:nvPr/>
        </p:nvSpPr>
        <p:spPr>
          <a:xfrm>
            <a:off x="5739537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23" name="slot.month.6"/>
          <p:cNvSpPr/>
          <p:nvPr/>
        </p:nvSpPr>
        <p:spPr>
          <a:xfrm>
            <a:off x="5739537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Jun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truct.month.7"/>
          <p:cNvSpPr/>
          <p:nvPr/>
        </p:nvSpPr>
        <p:spPr>
          <a:xfrm>
            <a:off x="6338789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25" name="slot.month.7"/>
          <p:cNvSpPr/>
          <p:nvPr/>
        </p:nvSpPr>
        <p:spPr>
          <a:xfrm>
            <a:off x="6338789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Jul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truct.month.8"/>
          <p:cNvSpPr/>
          <p:nvPr/>
        </p:nvSpPr>
        <p:spPr>
          <a:xfrm>
            <a:off x="6938043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27" name="slot.month.8"/>
          <p:cNvSpPr/>
          <p:nvPr/>
        </p:nvSpPr>
        <p:spPr>
          <a:xfrm>
            <a:off x="6938043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Aug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month.9"/>
          <p:cNvSpPr/>
          <p:nvPr/>
        </p:nvSpPr>
        <p:spPr>
          <a:xfrm>
            <a:off x="7537294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29" name="slot.month.9"/>
          <p:cNvSpPr/>
          <p:nvPr/>
        </p:nvSpPr>
        <p:spPr>
          <a:xfrm>
            <a:off x="7537294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Sep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truct.month.10"/>
          <p:cNvSpPr/>
          <p:nvPr/>
        </p:nvSpPr>
        <p:spPr>
          <a:xfrm>
            <a:off x="8136548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1" name="slot.month.10"/>
          <p:cNvSpPr/>
          <p:nvPr/>
        </p:nvSpPr>
        <p:spPr>
          <a:xfrm>
            <a:off x="8136548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Oct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month.11"/>
          <p:cNvSpPr/>
          <p:nvPr/>
        </p:nvSpPr>
        <p:spPr>
          <a:xfrm>
            <a:off x="8735801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3" name="slot.month.11"/>
          <p:cNvSpPr/>
          <p:nvPr/>
        </p:nvSpPr>
        <p:spPr>
          <a:xfrm>
            <a:off x="8735801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Nov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truct.month.12"/>
          <p:cNvSpPr/>
          <p:nvPr/>
        </p:nvSpPr>
        <p:spPr>
          <a:xfrm>
            <a:off x="9335053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5" name="slot.month.12"/>
          <p:cNvSpPr/>
          <p:nvPr/>
        </p:nvSpPr>
        <p:spPr>
          <a:xfrm>
            <a:off x="9335053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Dec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uct.month.13"/>
          <p:cNvSpPr/>
          <p:nvPr/>
        </p:nvSpPr>
        <p:spPr>
          <a:xfrm>
            <a:off x="9934307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7" name="slot.month.13"/>
          <p:cNvSpPr/>
          <p:nvPr/>
        </p:nvSpPr>
        <p:spPr>
          <a:xfrm>
            <a:off x="9934307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Jan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ruct.month.14"/>
          <p:cNvSpPr/>
          <p:nvPr/>
        </p:nvSpPr>
        <p:spPr>
          <a:xfrm>
            <a:off x="10533559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39" name="slot.month.14"/>
          <p:cNvSpPr/>
          <p:nvPr/>
        </p:nvSpPr>
        <p:spPr>
          <a:xfrm>
            <a:off x="10533559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Feb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uct.month.15"/>
          <p:cNvSpPr/>
          <p:nvPr/>
        </p:nvSpPr>
        <p:spPr>
          <a:xfrm>
            <a:off x="11132812" y="1517904"/>
            <a:ext cx="585216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41" name="slot.month.15"/>
          <p:cNvSpPr/>
          <p:nvPr/>
        </p:nvSpPr>
        <p:spPr>
          <a:xfrm>
            <a:off x="11132812" y="15179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Mar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truct.lane.1.tab"/>
          <p:cNvSpPr/>
          <p:nvPr/>
        </p:nvSpPr>
        <p:spPr>
          <a:xfrm>
            <a:off x="457200" y="1938528"/>
            <a:ext cx="2148840" cy="640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43" name="struct.lane.1.disc"/>
          <p:cNvSpPr/>
          <p:nvPr/>
        </p:nvSpPr>
        <p:spPr>
          <a:xfrm>
            <a:off x="603504" y="2057400"/>
            <a:ext cx="402336" cy="40233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44" name="slot.lane.1.label"/>
          <p:cNvSpPr/>
          <p:nvPr/>
        </p:nvSpPr>
        <p:spPr>
          <a:xfrm>
            <a:off x="1097280" y="1938528"/>
            <a:ext cx="1444752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Program phases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truct.phase.1.bar"/>
          <p:cNvSpPr/>
          <p:nvPr/>
        </p:nvSpPr>
        <p:spPr>
          <a:xfrm>
            <a:off x="2743200" y="1938528"/>
            <a:ext cx="5349240" cy="64008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46" name="slot.phase.1.label"/>
          <p:cNvSpPr/>
          <p:nvPr/>
        </p:nvSpPr>
        <p:spPr>
          <a:xfrm>
            <a:off x="2834640" y="1938528"/>
            <a:ext cx="5166359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Build and pilot in two regions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truct.phase.2.bar"/>
          <p:cNvSpPr/>
          <p:nvPr/>
        </p:nvSpPr>
        <p:spPr>
          <a:xfrm>
            <a:off x="8183879" y="1938528"/>
            <a:ext cx="3520440" cy="640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48" name="slot.phase.2.label"/>
          <p:cNvSpPr/>
          <p:nvPr/>
        </p:nvSpPr>
        <p:spPr>
          <a:xfrm>
            <a:off x="8275319" y="1938528"/>
            <a:ext cx="33375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Scale to every region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lane.2.label"/>
          <p:cNvSpPr/>
          <p:nvPr/>
        </p:nvSpPr>
        <p:spPr>
          <a:xfrm>
            <a:off x="457200" y="2788920"/>
            <a:ext cx="21488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Milestones and gates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truct.axis"/>
          <p:cNvSpPr/>
          <p:nvPr/>
        </p:nvSpPr>
        <p:spPr>
          <a:xfrm>
            <a:off x="2743200" y="3776472"/>
            <a:ext cx="8961120" cy="182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cxnSp>
        <p:nvCxnSpPr>
          <p:cNvPr id="51" name="struct.milestone.1.drop"/>
          <p:cNvCxnSpPr/>
          <p:nvPr/>
        </p:nvCxnSpPr>
        <p:spPr>
          <a:xfrm>
            <a:off x="4241451" y="3858768"/>
            <a:ext cx="0" cy="393192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52" name="slot.milestone.1.label"/>
          <p:cNvSpPr/>
          <p:nvPr/>
        </p:nvSpPr>
        <p:spPr>
          <a:xfrm>
            <a:off x="3235611" y="4261104"/>
            <a:ext cx="201168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Baseline checkpoint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Cycle times measured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truct.milestone.1.mark"/>
          <p:cNvSpPr/>
          <p:nvPr/>
        </p:nvSpPr>
        <p:spPr>
          <a:xfrm>
            <a:off x="4168299" y="3712463"/>
            <a:ext cx="146304" cy="146304"/>
          </a:xfrm>
          <a:prstGeom prst="diamond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cxnSp>
        <p:nvCxnSpPr>
          <p:cNvPr id="54" name="struct.milestone.2.drop"/>
          <p:cNvCxnSpPr/>
          <p:nvPr/>
        </p:nvCxnSpPr>
        <p:spPr>
          <a:xfrm>
            <a:off x="6039209" y="3282696"/>
            <a:ext cx="0" cy="429767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55" name="slot.milestone.2.label"/>
          <p:cNvSpPr/>
          <p:nvPr/>
        </p:nvSpPr>
        <p:spPr>
          <a:xfrm>
            <a:off x="5033369" y="2761488"/>
            <a:ext cx="201168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b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Pilot go gate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regions go live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truct.milestone.2.mark"/>
          <p:cNvSpPr/>
          <p:nvPr/>
        </p:nvSpPr>
        <p:spPr>
          <a:xfrm>
            <a:off x="5966057" y="3712463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cxnSp>
        <p:nvCxnSpPr>
          <p:cNvPr id="57" name="struct.milestone.3.drop"/>
          <p:cNvCxnSpPr/>
          <p:nvPr/>
        </p:nvCxnSpPr>
        <p:spPr>
          <a:xfrm>
            <a:off x="7836967" y="3858768"/>
            <a:ext cx="0" cy="393192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58" name="slot.milestone.3.label"/>
          <p:cNvSpPr/>
          <p:nvPr/>
        </p:nvSpPr>
        <p:spPr>
          <a:xfrm>
            <a:off x="6831127" y="4261104"/>
            <a:ext cx="201168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Scale gate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Pilot savings signed off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truct.milestone.3.mark"/>
          <p:cNvSpPr/>
          <p:nvPr/>
        </p:nvSpPr>
        <p:spPr>
          <a:xfrm>
            <a:off x="7763815" y="3712463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cxnSp>
        <p:nvCxnSpPr>
          <p:cNvPr id="60" name="struct.milestone.4.drop"/>
          <p:cNvCxnSpPr/>
          <p:nvPr/>
        </p:nvCxnSpPr>
        <p:spPr>
          <a:xfrm>
            <a:off x="9634724" y="3282696"/>
            <a:ext cx="0" cy="429767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61" name="slot.milestone.4.label"/>
          <p:cNvSpPr/>
          <p:nvPr/>
        </p:nvSpPr>
        <p:spPr>
          <a:xfrm>
            <a:off x="8628885" y="2761488"/>
            <a:ext cx="201168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b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Year-end checkpoint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Eight regions live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milestone.4.mark"/>
          <p:cNvSpPr/>
          <p:nvPr/>
        </p:nvSpPr>
        <p:spPr>
          <a:xfrm>
            <a:off x="9561572" y="3712463"/>
            <a:ext cx="146304" cy="146304"/>
          </a:xfrm>
          <a:prstGeom prst="diamond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cxnSp>
        <p:nvCxnSpPr>
          <p:cNvPr id="63" name="struct.milestone.5.drop"/>
          <p:cNvCxnSpPr/>
          <p:nvPr/>
        </p:nvCxnSpPr>
        <p:spPr>
          <a:xfrm>
            <a:off x="11432452" y="3886200"/>
            <a:ext cx="0" cy="36576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64" name="slot.milestone.5.label"/>
          <p:cNvSpPr/>
          <p:nvPr/>
        </p:nvSpPr>
        <p:spPr>
          <a:xfrm>
            <a:off x="9902952" y="4261104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Rollout gate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All twelve regions live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truct.milestone.5.mark"/>
          <p:cNvSpPr/>
          <p:nvPr/>
        </p:nvSpPr>
        <p:spPr>
          <a:xfrm>
            <a:off x="11331868" y="3685031"/>
            <a:ext cx="201168" cy="201168"/>
          </a:xfrm>
          <a:prstGeom prst="diamond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66" name="struct.stat.1"/>
          <p:cNvSpPr/>
          <p:nvPr/>
        </p:nvSpPr>
        <p:spPr>
          <a:xfrm>
            <a:off x="2743200" y="5120640"/>
            <a:ext cx="1719072" cy="9601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67" name="slot.stat.1.value"/>
          <p:cNvSpPr/>
          <p:nvPr/>
        </p:nvSpPr>
        <p:spPr>
          <a:xfrm>
            <a:off x="2743200" y="5230368"/>
            <a:ext cx="171907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tat.1.label"/>
          <p:cNvSpPr/>
          <p:nvPr/>
        </p:nvSpPr>
        <p:spPr>
          <a:xfrm>
            <a:off x="2788920" y="5669280"/>
            <a:ext cx="162763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Design region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truct.stat.2"/>
          <p:cNvSpPr/>
          <p:nvPr/>
        </p:nvSpPr>
        <p:spPr>
          <a:xfrm>
            <a:off x="4553712" y="5120640"/>
            <a:ext cx="1719072" cy="9601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70" name="slot.stat.2.value"/>
          <p:cNvSpPr/>
          <p:nvPr/>
        </p:nvSpPr>
        <p:spPr>
          <a:xfrm>
            <a:off x="4553712" y="5230368"/>
            <a:ext cx="171907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lot.stat.2.label"/>
          <p:cNvSpPr/>
          <p:nvPr/>
        </p:nvSpPr>
        <p:spPr>
          <a:xfrm>
            <a:off x="4599432" y="5669280"/>
            <a:ext cx="162763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Pilot pair live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truct.stat.3"/>
          <p:cNvSpPr/>
          <p:nvPr/>
        </p:nvSpPr>
        <p:spPr>
          <a:xfrm>
            <a:off x="6364224" y="5120640"/>
            <a:ext cx="1719072" cy="9601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73" name="slot.stat.3.value"/>
          <p:cNvSpPr/>
          <p:nvPr/>
        </p:nvSpPr>
        <p:spPr>
          <a:xfrm>
            <a:off x="6364224" y="5230368"/>
            <a:ext cx="171907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stat.3.label"/>
          <p:cNvSpPr/>
          <p:nvPr/>
        </p:nvSpPr>
        <p:spPr>
          <a:xfrm>
            <a:off x="6409944" y="5669280"/>
            <a:ext cx="162763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Pilot extended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truct.stat.4"/>
          <p:cNvSpPr/>
          <p:nvPr/>
        </p:nvSpPr>
        <p:spPr>
          <a:xfrm>
            <a:off x="8174736" y="5120640"/>
            <a:ext cx="1719072" cy="9601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76" name="slot.stat.4.value"/>
          <p:cNvSpPr/>
          <p:nvPr/>
        </p:nvSpPr>
        <p:spPr>
          <a:xfrm>
            <a:off x="8174736" y="5230368"/>
            <a:ext cx="171907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8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lot.stat.4.label"/>
          <p:cNvSpPr/>
          <p:nvPr/>
        </p:nvSpPr>
        <p:spPr>
          <a:xfrm>
            <a:off x="8220456" y="5669280"/>
            <a:ext cx="162763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Scale wave one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truct.stat.5"/>
          <p:cNvSpPr/>
          <p:nvPr/>
        </p:nvSpPr>
        <p:spPr>
          <a:xfrm>
            <a:off x="9985248" y="5120640"/>
            <a:ext cx="1719072" cy="9601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spcFirstLastPara="1" wrap="square" lIns="91433" tIns="91433" rIns="91433" bIns="91433" anchor="ctr" anchorCtr="0">
            <a:noAutofit/>
          </a:bodyPr>
          <a:lstStyle/>
          <a:p>
            <a:endParaRPr sz="1867"/>
          </a:p>
        </p:txBody>
      </p:sp>
      <p:sp>
        <p:nvSpPr>
          <p:cNvPr id="79" name="slot.stat.5.value"/>
          <p:cNvSpPr/>
          <p:nvPr/>
        </p:nvSpPr>
        <p:spPr>
          <a:xfrm>
            <a:off x="9985248" y="5230368"/>
            <a:ext cx="171907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12</a:t>
            </a:r>
            <a:endParaRPr lang="en-US" sz="14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stat.5.label"/>
          <p:cNvSpPr/>
          <p:nvPr/>
        </p:nvSpPr>
        <p:spPr>
          <a:xfrm>
            <a:off x="10030968" y="5669280"/>
            <a:ext cx="162763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Full rollout</a:t>
            </a:r>
            <a:endParaRPr lang="en-US" sz="105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lot.lane.3.label"/>
          <p:cNvSpPr/>
          <p:nvPr/>
        </p:nvSpPr>
        <p:spPr>
          <a:xfrm>
            <a:off x="457200" y="5138928"/>
            <a:ext cx="21488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33" tIns="45700" rIns="91433" bIns="457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Target regions live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title"/>
          <p:cNvSpPr txBox="1"/>
          <p:nvPr/>
        </p:nvSpPr>
        <p:spPr>
          <a:xfrm>
            <a:off x="457200" y="329184"/>
            <a:ext cx="11274552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Every region runs the new planning process within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five quarters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lane.1.icon"/>
          <p:cNvSpPr/>
          <p:nvPr/>
        </p:nvSpPr>
        <p:spPr>
          <a:xfrm>
            <a:off x="685800" y="21396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1968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overnance-model:role-hub-workflow-escalation">
    <p:spTree>
      <p:nvGrpSpPr>
        <p:cNvPr id="1" name=""/>
        <p:cNvGrpSpPr/>
        <p:nvPr/>
      </p:nvGrpSpPr>
      <p:grpSpPr/>
      <p:sp>
        <p:nvSpPr>
          <p:cNvPr id="2" name="slot.column.1.head"/>
          <p:cNvSpPr txBox="1"/>
          <p:nvPr/>
        </p:nvSpPr>
        <p:spPr>
          <a:xfrm>
            <a:off x="457200" y="841248"/>
            <a:ext cx="4023360" cy="420624"/>
          </a:xfrm>
          <a:prstGeom prst="round2SameRect">
            <a:avLst/>
          </a:prstGeom>
          <a:solidFill>
            <a:schemeClr val="accent1"/>
          </a:solidFill>
          <a:ln/>
          <a:effectLst/>
        </p:spPr>
        <p:txBody>
          <a:bodyPr wrap="square" lIns="91440" tIns="36576" rIns="91440" bIns="36576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Operating model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ot.column.2.head"/>
          <p:cNvSpPr txBox="1"/>
          <p:nvPr/>
        </p:nvSpPr>
        <p:spPr>
          <a:xfrm>
            <a:off x="4718304" y="841248"/>
            <a:ext cx="4233672" cy="420624"/>
          </a:xfrm>
          <a:prstGeom prst="round2SameRect">
            <a:avLst/>
          </a:prstGeom>
          <a:solidFill>
            <a:schemeClr val="accent1"/>
          </a:solidFill>
          <a:ln/>
          <a:effectLst/>
        </p:spPr>
        <p:txBody>
          <a:bodyPr wrap="square" lIns="91440" tIns="36576" rIns="91440" bIns="36576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Decision workflow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ot.column.3.head"/>
          <p:cNvSpPr txBox="1"/>
          <p:nvPr/>
        </p:nvSpPr>
        <p:spPr>
          <a:xfrm>
            <a:off x="9180576" y="841248"/>
            <a:ext cx="2615184" cy="420624"/>
          </a:xfrm>
          <a:prstGeom prst="round2SameRect">
            <a:avLst/>
          </a:prstGeom>
          <a:solidFill>
            <a:schemeClr val="accent1"/>
          </a:solidFill>
          <a:ln/>
          <a:effectLst/>
        </p:spPr>
        <p:txBody>
          <a:bodyPr wrap="square" lIns="91440" tIns="36576" rIns="91440" bIns="36576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Escalation guardrails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" name="struct.divider.1"/>
          <p:cNvCxnSpPr>
            <a:cxnSpLocks/>
          </p:cNvCxnSpPr>
          <p:nvPr/>
        </p:nvCxnSpPr>
        <p:spPr>
          <a:xfrm>
            <a:off x="4599432" y="841248"/>
            <a:ext cx="0" cy="5010912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6" name="struct.divider.2"/>
          <p:cNvCxnSpPr>
            <a:cxnSpLocks/>
          </p:cNvCxnSpPr>
          <p:nvPr/>
        </p:nvCxnSpPr>
        <p:spPr>
          <a:xfrm>
            <a:off x="9070848" y="841248"/>
            <a:ext cx="0" cy="5010912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7" name="struct.hub.node.2"/>
          <p:cNvSpPr/>
          <p:nvPr/>
        </p:nvSpPr>
        <p:spPr>
          <a:xfrm>
            <a:off x="3218688" y="3374135"/>
            <a:ext cx="603504" cy="60350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8" name="struct.hub.node.4"/>
          <p:cNvSpPr/>
          <p:nvPr/>
        </p:nvSpPr>
        <p:spPr>
          <a:xfrm>
            <a:off x="1115568" y="3374135"/>
            <a:ext cx="603504" cy="60350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9" name="struct.hub.node.1"/>
          <p:cNvSpPr/>
          <p:nvPr/>
        </p:nvSpPr>
        <p:spPr>
          <a:xfrm>
            <a:off x="2167128" y="2322575"/>
            <a:ext cx="603504" cy="60350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0" name="struct.hub.node.3"/>
          <p:cNvSpPr/>
          <p:nvPr/>
        </p:nvSpPr>
        <p:spPr>
          <a:xfrm>
            <a:off x="2167128" y="4425696"/>
            <a:ext cx="603504" cy="60350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struct.hub.core"/>
          <p:cNvSpPr/>
          <p:nvPr/>
        </p:nvSpPr>
        <p:spPr>
          <a:xfrm>
            <a:off x="1801368" y="3008375"/>
            <a:ext cx="1335024" cy="13350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2" name="slot.hub.core.text"/>
          <p:cNvSpPr txBox="1"/>
          <p:nvPr/>
        </p:nvSpPr>
        <p:spPr>
          <a:xfrm>
            <a:off x="1920240" y="3493007"/>
            <a:ext cx="1097280" cy="694944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Program office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Runs the weekly steering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hub.node.1.text"/>
          <p:cNvSpPr txBox="1"/>
          <p:nvPr/>
        </p:nvSpPr>
        <p:spPr>
          <a:xfrm>
            <a:off x="2852928" y="2103120"/>
            <a:ext cx="1609344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Product owner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Sets scope and priorities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hub.node.4.text"/>
          <p:cNvSpPr txBox="1"/>
          <p:nvPr/>
        </p:nvSpPr>
        <p:spPr>
          <a:xfrm>
            <a:off x="475488" y="2743199"/>
            <a:ext cx="1042415" cy="548640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Squad leads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Ship each sprint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hub.node.2.text"/>
          <p:cNvSpPr txBox="1"/>
          <p:nvPr/>
        </p:nvSpPr>
        <p:spPr>
          <a:xfrm>
            <a:off x="3438144" y="4297679"/>
            <a:ext cx="1042415" cy="548640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Analytics lead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Owns the baselines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hub.node.3.text"/>
          <p:cNvSpPr txBox="1"/>
          <p:nvPr/>
        </p:nvSpPr>
        <p:spPr>
          <a:xfrm>
            <a:off x="475488" y="4754879"/>
            <a:ext cx="1609344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Risk partner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Reviews controls each month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card.1.text"/>
          <p:cNvSpPr txBox="1"/>
          <p:nvPr/>
        </p:nvSpPr>
        <p:spPr>
          <a:xfrm>
            <a:off x="9244584" y="1444752"/>
            <a:ext cx="2487168" cy="109728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wrap="square" lIns="128016" tIns="91440" rIns="530352" bIns="9144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Within tolerance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Squads decide and record it in the sprint log</a:t>
            </a:r>
            <a:endParaRPr lang="en-US" sz="11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card.2.text"/>
          <p:cNvSpPr txBox="1"/>
          <p:nvPr/>
        </p:nvSpPr>
        <p:spPr>
          <a:xfrm>
            <a:off x="9244584" y="3072384"/>
            <a:ext cx="2487168" cy="1097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wrap="square" lIns="128016" tIns="91440" rIns="530352" bIns="9144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Date or budget at risk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Steering decides in five days</a:t>
            </a:r>
            <a:endParaRPr lang="en-US" sz="11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card.3.text"/>
          <p:cNvSpPr txBox="1"/>
          <p:nvPr/>
        </p:nvSpPr>
        <p:spPr>
          <a:xfrm>
            <a:off x="9244584" y="4700016"/>
            <a:ext cx="2487168" cy="109728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 wrap="square" lIns="128016" tIns="91440" rIns="530352" bIns="91440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Scope or control breach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Board decides in ten days</a:t>
            </a:r>
            <a:endParaRPr lang="en-US" sz="11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truct.stage.1"/>
          <p:cNvSpPr/>
          <p:nvPr/>
        </p:nvSpPr>
        <p:spPr>
          <a:xfrm>
            <a:off x="4718304" y="1444752"/>
            <a:ext cx="996696" cy="1298448"/>
          </a:xfrm>
          <a:prstGeom prst="roundRect">
            <a:avLst>
              <a:gd name="adj" fmla="val 5882"/>
            </a:avLst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1" name="struct.stage.2"/>
          <p:cNvSpPr/>
          <p:nvPr/>
        </p:nvSpPr>
        <p:spPr>
          <a:xfrm>
            <a:off x="5797296" y="1444752"/>
            <a:ext cx="996696" cy="1298448"/>
          </a:xfrm>
          <a:prstGeom prst="roundRect">
            <a:avLst>
              <a:gd name="adj" fmla="val 5882"/>
            </a:avLst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2" name="struct.stage.3"/>
          <p:cNvSpPr/>
          <p:nvPr/>
        </p:nvSpPr>
        <p:spPr>
          <a:xfrm>
            <a:off x="6876288" y="1444752"/>
            <a:ext cx="996696" cy="1298448"/>
          </a:xfrm>
          <a:prstGeom prst="roundRect">
            <a:avLst>
              <a:gd name="adj" fmla="val 5882"/>
            </a:avLst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3" name="struct.stage.4"/>
          <p:cNvSpPr/>
          <p:nvPr/>
        </p:nvSpPr>
        <p:spPr>
          <a:xfrm>
            <a:off x="7955280" y="1444752"/>
            <a:ext cx="996696" cy="1298448"/>
          </a:xfrm>
          <a:prstGeom prst="roundRect">
            <a:avLst>
              <a:gd name="adj" fmla="val 5882"/>
            </a:avLst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</a:ln>
          <a:effectLst/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24" name="slot.stage.1.text"/>
          <p:cNvSpPr txBox="1"/>
          <p:nvPr/>
        </p:nvSpPr>
        <p:spPr>
          <a:xfrm>
            <a:off x="4764024" y="2066544"/>
            <a:ext cx="905256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Intake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Product owner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stage.2.text"/>
          <p:cNvSpPr txBox="1"/>
          <p:nvPr/>
        </p:nvSpPr>
        <p:spPr>
          <a:xfrm>
            <a:off x="5843016" y="2066544"/>
            <a:ext cx="905256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Scoping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Analytics lead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stage.3.text"/>
          <p:cNvSpPr txBox="1"/>
          <p:nvPr/>
        </p:nvSpPr>
        <p:spPr>
          <a:xfrm>
            <a:off x="6922008" y="2066544"/>
            <a:ext cx="905256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Build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Squad leads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stage.4.text"/>
          <p:cNvSpPr txBox="1"/>
          <p:nvPr/>
        </p:nvSpPr>
        <p:spPr>
          <a:xfrm>
            <a:off x="8001000" y="2066544"/>
            <a:ext cx="905256" cy="530352"/>
          </a:xfrm>
          <a:prstGeom prst="rect">
            <a:avLst/>
          </a:prstGeom>
          <a:noFill/>
          <a:ln/>
          <a:effectLst/>
        </p:spPr>
        <p:txBody>
          <a:bodyPr wrap="square" lIns="18288" tIns="18288" rIns="18288" bIns="18288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Release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Risk partner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forum.1.body"/>
          <p:cNvSpPr txBox="1"/>
          <p:nvPr/>
        </p:nvSpPr>
        <p:spPr>
          <a:xfrm>
            <a:off x="4732020" y="4279392"/>
            <a:ext cx="1298448" cy="11887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91440" tIns="91440" rIns="91440" bIns="9144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Weekly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Clears blockers within five days</a:t>
            </a:r>
            <a:endParaRPr lang="en-US" sz="12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forum.2.body"/>
          <p:cNvSpPr txBox="1"/>
          <p:nvPr/>
        </p:nvSpPr>
        <p:spPr>
          <a:xfrm>
            <a:off x="6185916" y="4279392"/>
            <a:ext cx="1298448" cy="11887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91440" tIns="91440" rIns="91440" bIns="9144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Monthly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Approves budget shifts</a:t>
            </a:r>
            <a:endParaRPr lang="en-US" sz="12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forum.3.body"/>
          <p:cNvSpPr txBox="1"/>
          <p:nvPr/>
        </p:nvSpPr>
        <p:spPr>
          <a:xfrm>
            <a:off x="7566660" y="4279392"/>
            <a:ext cx="1298448" cy="11887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91440" tIns="91440" rIns="91440" bIns="91440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Quarterly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Sets direction and funding</a:t>
            </a:r>
            <a:endParaRPr lang="en-US" sz="12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flow.down.1"/>
          <p:cNvSpPr/>
          <p:nvPr/>
        </p:nvSpPr>
        <p:spPr>
          <a:xfrm rot="5400000">
            <a:off x="6752844" y="3054096"/>
            <a:ext cx="164592" cy="274320"/>
          </a:xfrm>
          <a:prstGeom prst="chevro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2" name="struct.flow.down.2"/>
          <p:cNvSpPr/>
          <p:nvPr/>
        </p:nvSpPr>
        <p:spPr>
          <a:xfrm rot="5400000">
            <a:off x="6752844" y="2926080"/>
            <a:ext cx="164592" cy="274320"/>
          </a:xfrm>
          <a:prstGeom prst="chevro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algn="ctr"/>
            <a:endParaRPr lang="en-US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3" name="slot.forum.1.head"/>
          <p:cNvSpPr/>
          <p:nvPr/>
        </p:nvSpPr>
        <p:spPr>
          <a:xfrm>
            <a:off x="4718304" y="3529584"/>
            <a:ext cx="1472184" cy="566928"/>
          </a:xfrm>
          <a:prstGeom prst="homePlate">
            <a:avLst>
              <a:gd name="adj" fmla="val 34771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54864" tIns="27432" rIns="7315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Squad review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forum.2.head"/>
          <p:cNvSpPr/>
          <p:nvPr/>
        </p:nvSpPr>
        <p:spPr>
          <a:xfrm>
            <a:off x="6099048" y="3529584"/>
            <a:ext cx="1472184" cy="566928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109728" tIns="27432" rIns="7315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Steering forum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forum.3.head"/>
          <p:cNvSpPr/>
          <p:nvPr/>
        </p:nvSpPr>
        <p:spPr>
          <a:xfrm>
            <a:off x="7479792" y="3529584"/>
            <a:ext cx="1472184" cy="566928"/>
          </a:xfrm>
          <a:prstGeom prst="chevron">
            <a:avLst>
              <a:gd name="adj" fmla="val 33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109728" tIns="27432" rIns="7315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Executive board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title"/>
          <p:cNvSpPr txBox="1"/>
          <p:nvPr/>
        </p:nvSpPr>
        <p:spPr>
          <a:xfrm>
            <a:off x="457200" y="118872"/>
            <a:ext cx="113385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Three governance layers</a:t>
            </a:r>
            <a:r>
              <a:rPr lang="en-US" sz="2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settle every delivery decision within ten days</a:t>
            </a:r>
            <a:endParaRPr lang="en-US" sz="2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hub.ring.1"/>
          <p:cNvSpPr/>
          <p:nvPr/>
        </p:nvSpPr>
        <p:spPr>
          <a:xfrm>
            <a:off x="2767509" y="2667622"/>
            <a:ext cx="709635" cy="709635"/>
          </a:xfrm>
          <a:custGeom>
            <a:avLst/>
            <a:gdLst/>
            <a:ahLst/>
            <a:cxnLst/>
            <a:rect l="0" t="0" r="r" b="b"/>
            <a:pathLst>
              <a:path w="709635" h="709635" fill="none">
                <a:moveTo>
                  <a:pt x="0" y="0"/>
                </a:moveTo>
                <a:cubicBezTo>
                  <a:pt x="341443" y="101129"/>
                  <a:pt x="608506" y="368192"/>
                  <a:pt x="709635" y="709635"/>
                </a:cubicBez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sp>
      <p:sp>
        <p:nvSpPr>
          <p:cNvPr id="38" name="struct.hub.ring.2"/>
          <p:cNvSpPr/>
          <p:nvPr/>
        </p:nvSpPr>
        <p:spPr>
          <a:xfrm>
            <a:off x="2767509" y="3974517"/>
            <a:ext cx="709635" cy="709635"/>
          </a:xfrm>
          <a:custGeom>
            <a:avLst/>
            <a:gdLst/>
            <a:ahLst/>
            <a:cxnLst/>
            <a:rect l="0" t="0" r="r" b="b"/>
            <a:pathLst>
              <a:path w="709635" h="709635" fill="none">
                <a:moveTo>
                  <a:pt x="709635" y="0"/>
                </a:moveTo>
                <a:cubicBezTo>
                  <a:pt x="608506" y="341443"/>
                  <a:pt x="341443" y="608506"/>
                  <a:pt x="0" y="709635"/>
                </a:cubicBez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sp>
      <p:sp>
        <p:nvSpPr>
          <p:cNvPr id="39" name="struct.hub.ring.3"/>
          <p:cNvSpPr/>
          <p:nvPr/>
        </p:nvSpPr>
        <p:spPr>
          <a:xfrm>
            <a:off x="1460614" y="3974517"/>
            <a:ext cx="709635" cy="709635"/>
          </a:xfrm>
          <a:custGeom>
            <a:avLst/>
            <a:gdLst/>
            <a:ahLst/>
            <a:cxnLst/>
            <a:rect l="0" t="0" r="r" b="b"/>
            <a:pathLst>
              <a:path w="709635" h="709635" fill="none">
                <a:moveTo>
                  <a:pt x="709635" y="709635"/>
                </a:moveTo>
                <a:cubicBezTo>
                  <a:pt x="368192" y="608506"/>
                  <a:pt x="101129" y="341443"/>
                  <a:pt x="0" y="0"/>
                </a:cubicBez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sp>
      <p:sp>
        <p:nvSpPr>
          <p:cNvPr id="40" name="struct.hub.ring.4"/>
          <p:cNvSpPr/>
          <p:nvPr/>
        </p:nvSpPr>
        <p:spPr>
          <a:xfrm>
            <a:off x="1460614" y="2667622"/>
            <a:ext cx="709635" cy="709635"/>
          </a:xfrm>
          <a:custGeom>
            <a:avLst/>
            <a:gdLst/>
            <a:ahLst/>
            <a:cxnLst/>
            <a:rect l="0" t="0" r="r" b="b"/>
            <a:pathLst>
              <a:path w="709635" h="709635" fill="none">
                <a:moveTo>
                  <a:pt x="0" y="709635"/>
                </a:moveTo>
                <a:cubicBezTo>
                  <a:pt x="101129" y="368192"/>
                  <a:pt x="368192" y="101129"/>
                  <a:pt x="709635" y="0"/>
                </a:cubicBez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sp>
      <p:sp>
        <p:nvSpPr>
          <p:cNvPr id="41" name="slot.hub.core.icon"/>
          <p:cNvSpPr/>
          <p:nvPr/>
        </p:nvSpPr>
        <p:spPr>
          <a:xfrm>
            <a:off x="2322576" y="316382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42" name="slot.hub.node.1.icon"/>
          <p:cNvSpPr/>
          <p:nvPr/>
        </p:nvSpPr>
        <p:spPr>
          <a:xfrm>
            <a:off x="2322576" y="247802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106" y="5553"/>
                </a:moveTo>
                <a:cubicBezTo>
                  <a:pt x="14669" y="5834"/>
                  <a:pt x="15331" y="5834"/>
                  <a:pt x="15894" y="5553"/>
                </a:cubicBezTo>
                <a:lnTo>
                  <a:pt x="19553" y="3723"/>
                </a:lnTo>
                <a:cubicBezTo>
                  <a:pt x="19863" y="3568"/>
                  <a:pt x="20232" y="3585"/>
                  <a:pt x="20526" y="3767"/>
                </a:cubicBezTo>
                <a:cubicBezTo>
                  <a:pt x="20821" y="3950"/>
                  <a:pt x="21001" y="4272"/>
                  <a:pt x="21000" y="4619"/>
                </a:cubicBezTo>
                <a:lnTo>
                  <a:pt x="21000" y="17383"/>
                </a:lnTo>
                <a:cubicBezTo>
                  <a:pt x="21000" y="17762"/>
                  <a:pt x="20786" y="18108"/>
                  <a:pt x="20447" y="18277"/>
                </a:cubicBezTo>
                <a:lnTo>
                  <a:pt x="15894" y="20554"/>
                </a:lnTo>
                <a:cubicBezTo>
                  <a:pt x="15331" y="20835"/>
                  <a:pt x="14669" y="20835"/>
                  <a:pt x="14106" y="20554"/>
                </a:cubicBezTo>
                <a:lnTo>
                  <a:pt x="9894" y="18448"/>
                </a:lnTo>
                <a:cubicBezTo>
                  <a:pt x="9331" y="18167"/>
                  <a:pt x="8669" y="18167"/>
                  <a:pt x="8106" y="18448"/>
                </a:cubicBezTo>
                <a:lnTo>
                  <a:pt x="4447" y="20278"/>
                </a:lnTo>
                <a:cubicBezTo>
                  <a:pt x="4137" y="20433"/>
                  <a:pt x="3768" y="20416"/>
                  <a:pt x="3473" y="20233"/>
                </a:cubicBezTo>
                <a:cubicBezTo>
                  <a:pt x="3178" y="20051"/>
                  <a:pt x="2999" y="19728"/>
                  <a:pt x="3000" y="19381"/>
                </a:cubicBezTo>
                <a:lnTo>
                  <a:pt x="3000" y="6618"/>
                </a:lnTo>
                <a:cubicBezTo>
                  <a:pt x="3000" y="6239"/>
                  <a:pt x="3214" y="5893"/>
                  <a:pt x="3553" y="5724"/>
                </a:cubicBezTo>
                <a:lnTo>
                  <a:pt x="8106" y="3447"/>
                </a:lnTo>
                <a:cubicBezTo>
                  <a:pt x="8669" y="3166"/>
                  <a:pt x="9331" y="3166"/>
                  <a:pt x="9894" y="3447"/>
                </a:cubicBezTo>
                <a:close/>
                <a:moveTo>
                  <a:pt x="15000" y="5764"/>
                </a:moveTo>
                <a:lnTo>
                  <a:pt x="15000" y="20764"/>
                </a:lnTo>
                <a:moveTo>
                  <a:pt x="9000" y="3236"/>
                </a:moveTo>
                <a:lnTo>
                  <a:pt x="9000" y="18236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43" name="slot.hub.node.2.icon"/>
          <p:cNvSpPr/>
          <p:nvPr/>
        </p:nvSpPr>
        <p:spPr>
          <a:xfrm>
            <a:off x="3374136" y="352958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44" name="slot.hub.node.3.icon"/>
          <p:cNvSpPr/>
          <p:nvPr/>
        </p:nvSpPr>
        <p:spPr>
          <a:xfrm>
            <a:off x="2322576" y="4581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12000" y="8000"/>
                </a:moveTo>
                <a:lnTo>
                  <a:pt x="12000" y="12000"/>
                </a:lnTo>
                <a:moveTo>
                  <a:pt x="12000" y="16000"/>
                </a:moveTo>
                <a:lnTo>
                  <a:pt x="12010" y="16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45" name="slot.hub.node.4.icon"/>
          <p:cNvSpPr/>
          <p:nvPr/>
        </p:nvSpPr>
        <p:spPr>
          <a:xfrm>
            <a:off x="1271016" y="352958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46" name="slot.stage.1.icon"/>
          <p:cNvSpPr/>
          <p:nvPr/>
        </p:nvSpPr>
        <p:spPr>
          <a:xfrm>
            <a:off x="5042916" y="162763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22000" y="12000"/>
                </a:moveTo>
                <a:lnTo>
                  <a:pt x="18000" y="12000"/>
                </a:lnTo>
                <a:moveTo>
                  <a:pt x="6000" y="12000"/>
                </a:moveTo>
                <a:lnTo>
                  <a:pt x="2000" y="12000"/>
                </a:lnTo>
                <a:moveTo>
                  <a:pt x="12000" y="6000"/>
                </a:moveTo>
                <a:lnTo>
                  <a:pt x="12000" y="2000"/>
                </a:lnTo>
                <a:moveTo>
                  <a:pt x="12000" y="22000"/>
                </a:moveTo>
                <a:lnTo>
                  <a:pt x="12000" y="18000"/>
                </a:ln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47" name="slot.stage.2.icon"/>
          <p:cNvSpPr/>
          <p:nvPr/>
        </p:nvSpPr>
        <p:spPr>
          <a:xfrm>
            <a:off x="6121908" y="162763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4000" y="14500"/>
                </a:moveTo>
                <a:cubicBezTo>
                  <a:pt x="14000" y="15881"/>
                  <a:pt x="12881" y="17000"/>
                  <a:pt x="11500" y="17000"/>
                </a:cubicBezTo>
                <a:cubicBezTo>
                  <a:pt x="10119" y="17000"/>
                  <a:pt x="9000" y="15881"/>
                  <a:pt x="9000" y="14500"/>
                </a:cubicBezTo>
                <a:cubicBezTo>
                  <a:pt x="9000" y="13119"/>
                  <a:pt x="10119" y="12000"/>
                  <a:pt x="11500" y="12000"/>
                </a:cubicBezTo>
                <a:cubicBezTo>
                  <a:pt x="12881" y="12000"/>
                  <a:pt x="14000" y="13119"/>
                  <a:pt x="14000" y="14500"/>
                </a:cubicBezTo>
                <a:close/>
                <a:moveTo>
                  <a:pt x="13300" y="16300"/>
                </a:moveTo>
                <a:lnTo>
                  <a:pt x="15000" y="18000"/>
                </a:ln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48" name="slot.stage.3.icon"/>
          <p:cNvSpPr/>
          <p:nvPr/>
        </p:nvSpPr>
        <p:spPr>
          <a:xfrm>
            <a:off x="7200900" y="162763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49" name="slot.stage.4.icon"/>
          <p:cNvSpPr/>
          <p:nvPr/>
        </p:nvSpPr>
        <p:spPr>
          <a:xfrm>
            <a:off x="8279892" y="162763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50" name="struct.card.1.dot"/>
          <p:cNvSpPr/>
          <p:nvPr/>
        </p:nvSpPr>
        <p:spPr>
          <a:xfrm>
            <a:off x="11292840" y="1837944"/>
            <a:ext cx="310896" cy="31089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</p:sp>
      <p:sp>
        <p:nvSpPr>
          <p:cNvPr id="51" name="slot.card.1.icon"/>
          <p:cNvSpPr/>
          <p:nvPr/>
        </p:nvSpPr>
        <p:spPr>
          <a:xfrm>
            <a:off x="11365992" y="1911096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3970" cap="rnd">
            <a:solidFill>
              <a:schemeClr val="bg1"/>
            </a:solidFill>
            <a:round/>
          </a:ln>
          <a:effectLst/>
        </p:spPr>
      </p:sp>
      <p:sp>
        <p:nvSpPr>
          <p:cNvPr id="52" name="struct.card.2.dot"/>
          <p:cNvSpPr/>
          <p:nvPr/>
        </p:nvSpPr>
        <p:spPr>
          <a:xfrm>
            <a:off x="11292840" y="3465576"/>
            <a:ext cx="310896" cy="31089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53" name="slot.card.2.icon"/>
          <p:cNvSpPr/>
          <p:nvPr/>
        </p:nvSpPr>
        <p:spPr>
          <a:xfrm>
            <a:off x="11365992" y="3538728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730" y="18000"/>
                </a:moveTo>
                <a:lnTo>
                  <a:pt x="13730" y="4000"/>
                </a:lnTo>
                <a:cubicBezTo>
                  <a:pt x="13375" y="3373"/>
                  <a:pt x="12710" y="2986"/>
                  <a:pt x="11990" y="2986"/>
                </a:cubicBezTo>
                <a:cubicBezTo>
                  <a:pt x="11270" y="2986"/>
                  <a:pt x="10605" y="3373"/>
                  <a:pt x="10250" y="4000"/>
                </a:cubicBezTo>
                <a:lnTo>
                  <a:pt x="2250" y="18000"/>
                </a:lnTo>
                <a:cubicBezTo>
                  <a:pt x="1891" y="18622"/>
                  <a:pt x="1893" y="19388"/>
                  <a:pt x="2254" y="20008"/>
                </a:cubicBezTo>
                <a:cubicBezTo>
                  <a:pt x="2616" y="20628"/>
                  <a:pt x="3282" y="21006"/>
                  <a:pt x="4000" y="21000"/>
                </a:cubicBezTo>
                <a:lnTo>
                  <a:pt x="20000" y="21000"/>
                </a:lnTo>
                <a:cubicBezTo>
                  <a:pt x="20714" y="20999"/>
                  <a:pt x="21374" y="20618"/>
                  <a:pt x="21731" y="19999"/>
                </a:cubicBezTo>
                <a:cubicBezTo>
                  <a:pt x="22087" y="19380"/>
                  <a:pt x="22087" y="18618"/>
                  <a:pt x="21730" y="18000"/>
                </a:cubicBezTo>
                <a:moveTo>
                  <a:pt x="12000" y="9000"/>
                </a:moveTo>
                <a:lnTo>
                  <a:pt x="12000" y="13000"/>
                </a:lnTo>
                <a:moveTo>
                  <a:pt x="12000" y="17000"/>
                </a:moveTo>
                <a:lnTo>
                  <a:pt x="12010" y="17000"/>
                </a:lnTo>
              </a:path>
            </a:pathLst>
          </a:custGeom>
          <a:noFill/>
          <a:ln w="13970" cap="rnd">
            <a:solidFill>
              <a:schemeClr val="bg1"/>
            </a:solidFill>
            <a:round/>
          </a:ln>
          <a:effectLst/>
        </p:spPr>
      </p:sp>
      <p:cxnSp>
        <p:nvCxnSpPr>
          <p:cNvPr id="54" name="struct.escalate.1"/>
          <p:cNvCxnSpPr/>
          <p:nvPr/>
        </p:nvCxnSpPr>
        <p:spPr>
          <a:xfrm>
            <a:off x="10488168" y="2542032"/>
            <a:ext cx="0" cy="530352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sp>
        <p:nvSpPr>
          <p:cNvPr id="55" name="struct.card.3.dot"/>
          <p:cNvSpPr/>
          <p:nvPr/>
        </p:nvSpPr>
        <p:spPr>
          <a:xfrm>
            <a:off x="11292840" y="5093208"/>
            <a:ext cx="310896" cy="310896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</p:sp>
      <p:sp>
        <p:nvSpPr>
          <p:cNvPr id="56" name="slot.card.3.icon"/>
          <p:cNvSpPr/>
          <p:nvPr/>
        </p:nvSpPr>
        <p:spPr>
          <a:xfrm>
            <a:off x="11365992" y="5166360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6000"/>
                </a:moveTo>
                <a:lnTo>
                  <a:pt x="6000" y="18000"/>
                </a:lnTo>
                <a:moveTo>
                  <a:pt x="6000" y="6000"/>
                </a:moveTo>
                <a:lnTo>
                  <a:pt x="18000" y="18000"/>
                </a:lnTo>
              </a:path>
            </a:pathLst>
          </a:custGeom>
          <a:noFill/>
          <a:ln w="13970" cap="rnd">
            <a:solidFill>
              <a:schemeClr val="bg1"/>
            </a:solidFill>
            <a:round/>
          </a:ln>
          <a:effectLst/>
        </p:spPr>
      </p:sp>
      <p:cxnSp>
        <p:nvCxnSpPr>
          <p:cNvPr id="57" name="struct.escalate.2"/>
          <p:cNvCxnSpPr/>
          <p:nvPr/>
        </p:nvCxnSpPr>
        <p:spPr>
          <a:xfrm>
            <a:off x="10488168" y="4169664"/>
            <a:ext cx="0" cy="530352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antt:milestone-axis-phase-cards">
    <p:spTree>
      <p:nvGrpSpPr>
        <p:cNvPr id="1" name=""/>
        <p:cNvGrpSpPr/>
        <p:nvPr/>
      </p:nvGrpSpPr>
      <p:grpSpPr/>
      <p:cxnSp>
        <p:nvCxnSpPr>
          <p:cNvPr id="2" name="struct.gridline.1"/>
          <p:cNvCxnSpPr>
            <a:cxnSpLocks/>
          </p:cNvCxnSpPr>
          <p:nvPr/>
        </p:nvCxnSpPr>
        <p:spPr>
          <a:xfrm>
            <a:off x="852142" y="1572768"/>
            <a:ext cx="0" cy="2066543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3" name="struct.gridline.2"/>
          <p:cNvCxnSpPr>
            <a:cxnSpLocks/>
          </p:cNvCxnSpPr>
          <p:nvPr/>
        </p:nvCxnSpPr>
        <p:spPr>
          <a:xfrm>
            <a:off x="2689282" y="1572768"/>
            <a:ext cx="0" cy="2066543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4" name="struct.gridline.3"/>
          <p:cNvCxnSpPr>
            <a:cxnSpLocks/>
          </p:cNvCxnSpPr>
          <p:nvPr/>
        </p:nvCxnSpPr>
        <p:spPr>
          <a:xfrm>
            <a:off x="5534318" y="1572768"/>
            <a:ext cx="0" cy="2066543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5" name="struct.gridline.4"/>
          <p:cNvCxnSpPr>
            <a:cxnSpLocks/>
          </p:cNvCxnSpPr>
          <p:nvPr/>
        </p:nvCxnSpPr>
        <p:spPr>
          <a:xfrm>
            <a:off x="6956836" y="1572768"/>
            <a:ext cx="0" cy="2066543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6" name="struct.gateline.1"/>
          <p:cNvCxnSpPr>
            <a:cxnSpLocks/>
          </p:cNvCxnSpPr>
          <p:nvPr/>
        </p:nvCxnSpPr>
        <p:spPr>
          <a:xfrm>
            <a:off x="4111800" y="1572768"/>
            <a:ext cx="0" cy="3502151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cxnSp>
      <p:cxnSp>
        <p:nvCxnSpPr>
          <p:cNvPr id="7" name="struct.gateline.2"/>
          <p:cNvCxnSpPr>
            <a:cxnSpLocks/>
          </p:cNvCxnSpPr>
          <p:nvPr/>
        </p:nvCxnSpPr>
        <p:spPr>
          <a:xfrm>
            <a:off x="8379354" y="1572768"/>
            <a:ext cx="0" cy="3502151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cxnSp>
      <p:cxnSp>
        <p:nvCxnSpPr>
          <p:cNvPr id="8" name="struct.gridline.7"/>
          <p:cNvCxnSpPr>
            <a:cxnSpLocks/>
          </p:cNvCxnSpPr>
          <p:nvPr/>
        </p:nvCxnSpPr>
        <p:spPr>
          <a:xfrm>
            <a:off x="9801872" y="1572768"/>
            <a:ext cx="0" cy="2066543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cxnSp>
        <p:nvCxnSpPr>
          <p:cNvPr id="9" name="struct.gateline.3"/>
          <p:cNvCxnSpPr>
            <a:cxnSpLocks/>
          </p:cNvCxnSpPr>
          <p:nvPr/>
        </p:nvCxnSpPr>
        <p:spPr>
          <a:xfrm>
            <a:off x="11224388" y="1572768"/>
            <a:ext cx="0" cy="3502151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</p:cxnSp>
      <p:sp>
        <p:nvSpPr>
          <p:cNvPr id="10" name="slot.title"/>
          <p:cNvSpPr txBox="1"/>
          <p:nvPr/>
        </p:nvSpPr>
        <p:spPr>
          <a:xfrm>
            <a:off x="438912" y="274320"/>
            <a:ext cx="113385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54864" tIns="27432" rIns="54864" bIns="27432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Go-live lands in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 30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if the design gate clears by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 10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truct.axis.1"/>
          <p:cNvSpPr/>
          <p:nvPr/>
        </p:nvSpPr>
        <p:spPr>
          <a:xfrm>
            <a:off x="859536" y="1316736"/>
            <a:ext cx="10232136" cy="237744"/>
          </a:xfrm>
          <a:prstGeom prst="rightArrow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" name="struct.dot.1"/>
          <p:cNvSpPr/>
          <p:nvPr/>
        </p:nvSpPr>
        <p:spPr>
          <a:xfrm>
            <a:off x="719028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" name="slot.period.1"/>
          <p:cNvSpPr txBox="1"/>
          <p:nvPr/>
        </p:nvSpPr>
        <p:spPr>
          <a:xfrm>
            <a:off x="397841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Kickoff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uct.dot.2"/>
          <p:cNvSpPr/>
          <p:nvPr/>
        </p:nvSpPr>
        <p:spPr>
          <a:xfrm>
            <a:off x="2556168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" name="slot.period.2"/>
          <p:cNvSpPr txBox="1"/>
          <p:nvPr/>
        </p:nvSpPr>
        <p:spPr>
          <a:xfrm>
            <a:off x="2234981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6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uct.dot.3"/>
          <p:cNvSpPr/>
          <p:nvPr/>
        </p:nvSpPr>
        <p:spPr>
          <a:xfrm>
            <a:off x="3978686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slot.period.3"/>
          <p:cNvSpPr txBox="1"/>
          <p:nvPr/>
        </p:nvSpPr>
        <p:spPr>
          <a:xfrm>
            <a:off x="3657499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10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uct.dot.4"/>
          <p:cNvSpPr/>
          <p:nvPr/>
        </p:nvSpPr>
        <p:spPr>
          <a:xfrm>
            <a:off x="5401204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9" name="slot.period.4"/>
          <p:cNvSpPr txBox="1"/>
          <p:nvPr/>
        </p:nvSpPr>
        <p:spPr>
          <a:xfrm>
            <a:off x="5080017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14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truct.dot.5"/>
          <p:cNvSpPr/>
          <p:nvPr/>
        </p:nvSpPr>
        <p:spPr>
          <a:xfrm>
            <a:off x="6823722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" name="slot.period.5"/>
          <p:cNvSpPr txBox="1"/>
          <p:nvPr/>
        </p:nvSpPr>
        <p:spPr>
          <a:xfrm>
            <a:off x="6502534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18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dot.6"/>
          <p:cNvSpPr/>
          <p:nvPr/>
        </p:nvSpPr>
        <p:spPr>
          <a:xfrm>
            <a:off x="8246240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3" name="slot.period.6"/>
          <p:cNvSpPr txBox="1"/>
          <p:nvPr/>
        </p:nvSpPr>
        <p:spPr>
          <a:xfrm>
            <a:off x="7925053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22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truct.dot.7"/>
          <p:cNvSpPr/>
          <p:nvPr/>
        </p:nvSpPr>
        <p:spPr>
          <a:xfrm>
            <a:off x="9668758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5" name="slot.period.7"/>
          <p:cNvSpPr txBox="1"/>
          <p:nvPr/>
        </p:nvSpPr>
        <p:spPr>
          <a:xfrm>
            <a:off x="9347571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26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truct.dot.8"/>
          <p:cNvSpPr/>
          <p:nvPr/>
        </p:nvSpPr>
        <p:spPr>
          <a:xfrm>
            <a:off x="11091274" y="129844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7" name="slot.period.8"/>
          <p:cNvSpPr txBox="1"/>
          <p:nvPr/>
        </p:nvSpPr>
        <p:spPr>
          <a:xfrm>
            <a:off x="10770087" y="1024128"/>
            <a:ext cx="914400" cy="23774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b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30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bar.1"/>
          <p:cNvSpPr/>
          <p:nvPr/>
        </p:nvSpPr>
        <p:spPr>
          <a:xfrm>
            <a:off x="758952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Discover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ring.1"/>
          <p:cNvSpPr/>
          <p:nvPr/>
        </p:nvSpPr>
        <p:spPr>
          <a:xfrm>
            <a:off x="2441448" y="2052828"/>
            <a:ext cx="155448" cy="1554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0" name="slot.bar.2"/>
          <p:cNvSpPr/>
          <p:nvPr/>
        </p:nvSpPr>
        <p:spPr>
          <a:xfrm>
            <a:off x="2624328" y="1975104"/>
            <a:ext cx="1335024" cy="310896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Design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ring.2"/>
          <p:cNvSpPr/>
          <p:nvPr/>
        </p:nvSpPr>
        <p:spPr>
          <a:xfrm>
            <a:off x="4037076" y="2052828"/>
            <a:ext cx="155448" cy="1554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2" name="slot.bar.3"/>
          <p:cNvSpPr/>
          <p:nvPr/>
        </p:nvSpPr>
        <p:spPr>
          <a:xfrm>
            <a:off x="4270248" y="1975104"/>
            <a:ext cx="1225296" cy="310896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 up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ring.3"/>
          <p:cNvSpPr/>
          <p:nvPr/>
        </p:nvSpPr>
        <p:spPr>
          <a:xfrm>
            <a:off x="8302752" y="2052828"/>
            <a:ext cx="155448" cy="1554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4" name="slot.bar.4"/>
          <p:cNvSpPr/>
          <p:nvPr/>
        </p:nvSpPr>
        <p:spPr>
          <a:xfrm>
            <a:off x="5532120" y="1975104"/>
            <a:ext cx="2688336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Build and migrate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bar.5"/>
          <p:cNvSpPr/>
          <p:nvPr/>
        </p:nvSpPr>
        <p:spPr>
          <a:xfrm>
            <a:off x="8522208" y="1975104"/>
            <a:ext cx="2926080" cy="310896"/>
          </a:xfrm>
          <a:prstGeom prst="roundRect">
            <a:avLst>
              <a:gd name="adj" fmla="val 50000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Training and adoption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bar.6"/>
          <p:cNvSpPr/>
          <p:nvPr/>
        </p:nvSpPr>
        <p:spPr>
          <a:xfrm>
            <a:off x="6574536" y="2779776"/>
            <a:ext cx="3072384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Parallel run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ring.4"/>
          <p:cNvSpPr/>
          <p:nvPr/>
        </p:nvSpPr>
        <p:spPr>
          <a:xfrm>
            <a:off x="9724644" y="2857500"/>
            <a:ext cx="155448" cy="1554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38" name="slot.bar.7"/>
          <p:cNvSpPr/>
          <p:nvPr/>
        </p:nvSpPr>
        <p:spPr>
          <a:xfrm>
            <a:off x="9957816" y="2779776"/>
            <a:ext cx="1115568" cy="310896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rtlCol="0" anchor="ctr" lIns="54864" rIns="54864" tIns="27432" bIns="27432" wrap="square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Cutover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mark.1"/>
          <p:cNvSpPr txBox="1"/>
          <p:nvPr/>
        </p:nvSpPr>
        <p:spPr>
          <a:xfrm>
            <a:off x="2080260" y="2313432"/>
            <a:ext cx="877824" cy="2743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 5 exit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mark.2"/>
          <p:cNvSpPr txBox="1"/>
          <p:nvPr/>
        </p:nvSpPr>
        <p:spPr>
          <a:xfrm>
            <a:off x="3675887" y="2313432"/>
            <a:ext cx="877824" cy="2743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 10 exit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mark.5"/>
          <p:cNvSpPr txBox="1"/>
          <p:nvPr/>
        </p:nvSpPr>
        <p:spPr>
          <a:xfrm>
            <a:off x="10789919" y="3118103"/>
            <a:ext cx="877824" cy="2743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 30 exit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mark.3"/>
          <p:cNvSpPr txBox="1"/>
          <p:nvPr/>
        </p:nvSpPr>
        <p:spPr>
          <a:xfrm>
            <a:off x="7941563" y="2313432"/>
            <a:ext cx="877824" cy="2743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 22 exit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mark.4"/>
          <p:cNvSpPr txBox="1"/>
          <p:nvPr/>
        </p:nvSpPr>
        <p:spPr>
          <a:xfrm>
            <a:off x="9363456" y="3118103"/>
            <a:ext cx="877824" cy="2743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 26 exit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truct.ring.5"/>
          <p:cNvSpPr/>
          <p:nvPr/>
        </p:nvSpPr>
        <p:spPr>
          <a:xfrm>
            <a:off x="11151108" y="2857500"/>
            <a:ext cx="155448" cy="155448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5" name="struct.card.1"/>
          <p:cNvSpPr txBox="1"/>
          <p:nvPr/>
        </p:nvSpPr>
        <p:spPr>
          <a:xfrm>
            <a:off x="493597" y="3639312"/>
            <a:ext cx="2028139" cy="1133856"/>
          </a:xfrm>
          <a:prstGeom prst="roundRect">
            <a:avLst>
              <a:gd name="adj" fmla="val 403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square" lIns="108000" tIns="108000" rIns="108000" bIns="108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6" name="struct.card.2"/>
          <p:cNvSpPr txBox="1"/>
          <p:nvPr/>
        </p:nvSpPr>
        <p:spPr>
          <a:xfrm>
            <a:off x="2796056" y="3639312"/>
            <a:ext cx="2028139" cy="1133856"/>
          </a:xfrm>
          <a:prstGeom prst="roundRect">
            <a:avLst>
              <a:gd name="adj" fmla="val 403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square" lIns="108000" tIns="108000" rIns="108000" bIns="108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7" name="struct.card.3"/>
          <p:cNvSpPr txBox="1"/>
          <p:nvPr/>
        </p:nvSpPr>
        <p:spPr>
          <a:xfrm>
            <a:off x="5098515" y="3639312"/>
            <a:ext cx="2028139" cy="1133856"/>
          </a:xfrm>
          <a:prstGeom prst="roundRect">
            <a:avLst>
              <a:gd name="adj" fmla="val 403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square" lIns="108000" tIns="108000" rIns="108000" bIns="108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8" name="struct.card.4"/>
          <p:cNvSpPr txBox="1"/>
          <p:nvPr/>
        </p:nvSpPr>
        <p:spPr>
          <a:xfrm>
            <a:off x="7400974" y="3639312"/>
            <a:ext cx="2028139" cy="1133856"/>
          </a:xfrm>
          <a:prstGeom prst="roundRect">
            <a:avLst>
              <a:gd name="adj" fmla="val 403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square" lIns="108000" tIns="108000" rIns="108000" bIns="108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9" name="struct.card.5"/>
          <p:cNvSpPr txBox="1"/>
          <p:nvPr/>
        </p:nvSpPr>
        <p:spPr>
          <a:xfrm>
            <a:off x="9703434" y="3639312"/>
            <a:ext cx="2028139" cy="1133856"/>
          </a:xfrm>
          <a:prstGeom prst="roundRect">
            <a:avLst>
              <a:gd name="adj" fmla="val 403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square" lIns="108000" tIns="108000" rIns="108000" bIns="10800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0" name="slot.card.1.head"/>
          <p:cNvSpPr txBox="1"/>
          <p:nvPr/>
        </p:nvSpPr>
        <p:spPr>
          <a:xfrm>
            <a:off x="594181" y="3749039"/>
            <a:ext cx="1826971" cy="347472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Discover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card.2.head"/>
          <p:cNvSpPr txBox="1"/>
          <p:nvPr/>
        </p:nvSpPr>
        <p:spPr>
          <a:xfrm>
            <a:off x="2896640" y="3749039"/>
            <a:ext cx="1826971" cy="34747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Design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card.3.head"/>
          <p:cNvSpPr txBox="1"/>
          <p:nvPr/>
        </p:nvSpPr>
        <p:spPr>
          <a:xfrm>
            <a:off x="5199099" y="3749039"/>
            <a:ext cx="1826971" cy="347472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Build and migrate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lot.card.4.head"/>
          <p:cNvSpPr txBox="1"/>
          <p:nvPr/>
        </p:nvSpPr>
        <p:spPr>
          <a:xfrm>
            <a:off x="7501558" y="3749039"/>
            <a:ext cx="1826971" cy="347472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Parallel run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card.5.head"/>
          <p:cNvSpPr txBox="1"/>
          <p:nvPr/>
        </p:nvSpPr>
        <p:spPr>
          <a:xfrm>
            <a:off x="9804018" y="3749039"/>
            <a:ext cx="1826971" cy="34747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Cutover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card.1.body"/>
          <p:cNvSpPr txBox="1"/>
          <p:nvPr/>
        </p:nvSpPr>
        <p:spPr>
          <a:xfrm>
            <a:off x="594181" y="4169663"/>
            <a:ext cx="1826971" cy="51206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Map every source feed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Exit: scope agreed</a:t>
            </a:r>
            <a:endParaRPr lang="en-US" sz="11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card.2.body"/>
          <p:cNvSpPr txBox="1"/>
          <p:nvPr/>
        </p:nvSpPr>
        <p:spPr>
          <a:xfrm>
            <a:off x="2896640" y="4169663"/>
            <a:ext cx="1826971" cy="51206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Target data model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Exit: design signed</a:t>
            </a:r>
            <a:endParaRPr lang="en-US" sz="11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card.3.body"/>
          <p:cNvSpPr txBox="1"/>
          <p:nvPr/>
        </p:nvSpPr>
        <p:spPr>
          <a:xfrm>
            <a:off x="5199099" y="4169663"/>
            <a:ext cx="1826971" cy="51206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Migrate in three waves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Exit: tests pass</a:t>
            </a:r>
            <a:endParaRPr lang="en-US" sz="11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card.4.body"/>
          <p:cNvSpPr txBox="1"/>
          <p:nvPr/>
        </p:nvSpPr>
        <p:spPr>
          <a:xfrm>
            <a:off x="7501558" y="4169663"/>
            <a:ext cx="1826971" cy="51206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Both systems live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Exit: two clean closes</a:t>
            </a:r>
            <a:endParaRPr lang="en-US" sz="11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card.5.body"/>
          <p:cNvSpPr txBox="1"/>
          <p:nvPr/>
        </p:nvSpPr>
        <p:spPr>
          <a:xfrm>
            <a:off x="9804018" y="4169663"/>
            <a:ext cx="1826971" cy="512064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t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Switch in one weekend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Exit: legacy retired</a:t>
            </a:r>
            <a:endParaRPr lang="en-US" sz="11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gates.label"/>
          <p:cNvSpPr txBox="1"/>
          <p:nvPr/>
        </p:nvSpPr>
        <p:spPr>
          <a:xfrm>
            <a:off x="493776" y="5321808"/>
            <a:ext cx="2651760" cy="310896"/>
          </a:xfrm>
          <a:prstGeom prst="rect">
            <a:avLst/>
          </a:prstGeom>
          <a:noFill/>
          <a:ln/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Three go or no-go gates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gate.1"/>
          <p:cNvSpPr txBox="1"/>
          <p:nvPr/>
        </p:nvSpPr>
        <p:spPr>
          <a:xfrm>
            <a:off x="3438144" y="5138928"/>
            <a:ext cx="2487168" cy="676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Gate 1 · Week 10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Design signed, build budget released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gate.2"/>
          <p:cNvSpPr txBox="1"/>
          <p:nvPr/>
        </p:nvSpPr>
        <p:spPr>
          <a:xfrm>
            <a:off x="6080760" y="5138928"/>
            <a:ext cx="2679192" cy="676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Gate 2 · Week 22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Defect backlog under the agreed limit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gate.3"/>
          <p:cNvSpPr txBox="1"/>
          <p:nvPr/>
        </p:nvSpPr>
        <p:spPr>
          <a:xfrm>
            <a:off x="8924544" y="5138928"/>
            <a:ext cx="2871216" cy="676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txBody>
          <a:bodyPr wrap="square" lIns="54864" tIns="27432" rIns="54864" bIns="27432" rtlCol="0" anchor="ctr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Gate 3 · Week 30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Go-live call, legacy set to read-only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truct.gatering.1"/>
          <p:cNvSpPr/>
          <p:nvPr/>
        </p:nvSpPr>
        <p:spPr>
          <a:xfrm>
            <a:off x="4050791" y="5074920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5" name="struct.gatering.2"/>
          <p:cNvSpPr/>
          <p:nvPr/>
        </p:nvSpPr>
        <p:spPr>
          <a:xfrm>
            <a:off x="8311896" y="5074920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6" name="struct.gatering.3"/>
          <p:cNvSpPr/>
          <p:nvPr/>
        </p:nvSpPr>
        <p:spPr>
          <a:xfrm>
            <a:off x="11164824" y="5074920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from-to-shift:channel-mesh-to-agent-hub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57200" y="118872"/>
            <a:ext cx="1147572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Customer requests move from crossed handoffs to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shared agent hub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shift.wedge"/>
          <p:cNvSpPr/>
          <p:nvPr/>
        </p:nvSpPr>
        <p:spPr>
          <a:xfrm rot="5400000">
            <a:off x="4241109" y="3419475"/>
            <a:ext cx="3730500" cy="488700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slot.from.channel.2"/>
          <p:cNvSpPr/>
          <p:nvPr/>
        </p:nvSpPr>
        <p:spPr>
          <a:xfrm>
            <a:off x="2429652" y="3170797"/>
            <a:ext cx="1375200" cy="502800"/>
          </a:xfrm>
          <a:prstGeom prst="roundRect">
            <a:avLst>
              <a:gd name="adj" fmla="val 9093"/>
            </a:avLst>
          </a:prstGeom>
          <a:solidFill>
            <a:schemeClr val="accent1">
              <a:lumMod val="10000"/>
              <a:lumOff val="9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09728" tIns="18288" rIns="109728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Phone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lot.from.channel.3"/>
          <p:cNvSpPr/>
          <p:nvPr/>
        </p:nvSpPr>
        <p:spPr>
          <a:xfrm>
            <a:off x="2429652" y="4177045"/>
            <a:ext cx="1375200" cy="502800"/>
          </a:xfrm>
          <a:prstGeom prst="roundRect">
            <a:avLst>
              <a:gd name="adj" fmla="val 9093"/>
            </a:avLst>
          </a:prstGeom>
          <a:solidFill>
            <a:schemeClr val="accent1">
              <a:lumMod val="10000"/>
              <a:lumOff val="9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09728" tIns="18288" rIns="109728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Ticket form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from.channel.4"/>
          <p:cNvSpPr/>
          <p:nvPr/>
        </p:nvSpPr>
        <p:spPr>
          <a:xfrm>
            <a:off x="2429652" y="5183292"/>
            <a:ext cx="1375200" cy="502800"/>
          </a:xfrm>
          <a:prstGeom prst="roundRect">
            <a:avLst>
              <a:gd name="adj" fmla="val 9093"/>
            </a:avLst>
          </a:prstGeom>
          <a:solidFill>
            <a:schemeClr val="accent1">
              <a:lumMod val="10000"/>
              <a:lumOff val="9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09728" tIns="18288" rIns="109728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Reports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truct.from.panel"/>
          <p:cNvSpPr/>
          <p:nvPr/>
        </p:nvSpPr>
        <p:spPr>
          <a:xfrm>
            <a:off x="457200" y="1737360"/>
            <a:ext cx="3858768" cy="4315968"/>
          </a:xfrm>
          <a:prstGeom prst="roundRect">
            <a:avLst>
              <a:gd name="adj" fmla="val 1184"/>
            </a:avLst>
          </a:prstGeom>
          <a:noFill/>
          <a:ln w="9525" cap="rnd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slot.from.header"/>
          <p:cNvSpPr/>
          <p:nvPr/>
        </p:nvSpPr>
        <p:spPr>
          <a:xfrm>
            <a:off x="454850" y="1015950"/>
            <a:ext cx="5138400" cy="525000"/>
          </a:xfrm>
          <a:prstGeom prst="roundRect">
            <a:avLst>
              <a:gd name="adj" fmla="val 16538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40" tIns="27432" rIns="91440" bIns="27432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Today, manual handoffs</a:t>
            </a:r>
            <a:endParaRPr lang="en-US" sz="14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from.label"/>
          <p:cNvSpPr txBox="1"/>
          <p:nvPr/>
        </p:nvSpPr>
        <p:spPr>
          <a:xfrm>
            <a:off x="969264" y="1801368"/>
            <a:ext cx="2834640" cy="21945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Every role works every channel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from.channel.1"/>
          <p:cNvSpPr/>
          <p:nvPr/>
        </p:nvSpPr>
        <p:spPr>
          <a:xfrm>
            <a:off x="2429652" y="2164550"/>
            <a:ext cx="1375200" cy="502800"/>
          </a:xfrm>
          <a:prstGeom prst="roundRect">
            <a:avLst>
              <a:gd name="adj" fmla="val 9093"/>
            </a:avLst>
          </a:prstGeom>
          <a:solidFill>
            <a:schemeClr val="accent1">
              <a:lumMod val="10000"/>
              <a:lumOff val="9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109728" tIns="18288" rIns="109728" bIns="18288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Email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" name="struct.from.link.1"/>
          <p:cNvCxnSpPr/>
          <p:nvPr/>
        </p:nvCxnSpPr>
        <p:spPr>
          <a:xfrm>
            <a:off x="1108937" y="2415893"/>
            <a:ext cx="1320600" cy="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" name="struct.from.link.2"/>
          <p:cNvCxnSpPr/>
          <p:nvPr/>
        </p:nvCxnSpPr>
        <p:spPr>
          <a:xfrm>
            <a:off x="1108937" y="2415893"/>
            <a:ext cx="1320600" cy="100637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" name="struct.from.link.3"/>
          <p:cNvCxnSpPr/>
          <p:nvPr/>
        </p:nvCxnSpPr>
        <p:spPr>
          <a:xfrm>
            <a:off x="1108937" y="2415893"/>
            <a:ext cx="1320600" cy="2012399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" name="struct.from.link.4"/>
          <p:cNvCxnSpPr/>
          <p:nvPr/>
        </p:nvCxnSpPr>
        <p:spPr>
          <a:xfrm rot="10800000" flipH="1">
            <a:off x="1108937" y="2416115"/>
            <a:ext cx="1320600" cy="100602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5" name="struct.from.link.5"/>
          <p:cNvCxnSpPr/>
          <p:nvPr/>
        </p:nvCxnSpPr>
        <p:spPr>
          <a:xfrm>
            <a:off x="1108937" y="3422140"/>
            <a:ext cx="1320600" cy="100637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6" name="struct.from.link.6"/>
          <p:cNvCxnSpPr/>
          <p:nvPr/>
        </p:nvCxnSpPr>
        <p:spPr>
          <a:xfrm rot="10800000" flipH="1">
            <a:off x="1108937" y="3422363"/>
            <a:ext cx="1320600" cy="100602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7" name="struct.from.link.7"/>
          <p:cNvCxnSpPr/>
          <p:nvPr/>
        </p:nvCxnSpPr>
        <p:spPr>
          <a:xfrm>
            <a:off x="1108937" y="4428388"/>
            <a:ext cx="1320600" cy="100637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8" name="struct.from.link.8"/>
          <p:cNvCxnSpPr/>
          <p:nvPr/>
        </p:nvCxnSpPr>
        <p:spPr>
          <a:xfrm rot="10800000" flipH="1">
            <a:off x="1108937" y="2415861"/>
            <a:ext cx="1320600" cy="301877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9" name="struct.from.link.9"/>
          <p:cNvCxnSpPr/>
          <p:nvPr/>
        </p:nvCxnSpPr>
        <p:spPr>
          <a:xfrm rot="10800000" flipH="1">
            <a:off x="1108937" y="4428610"/>
            <a:ext cx="1320600" cy="100602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0" name="struct.from.link.10"/>
          <p:cNvCxnSpPr/>
          <p:nvPr/>
        </p:nvCxnSpPr>
        <p:spPr>
          <a:xfrm>
            <a:off x="1108937" y="5434635"/>
            <a:ext cx="1320600" cy="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21" name="struct.from.handoff.1"/>
          <p:cNvSpPr/>
          <p:nvPr/>
        </p:nvSpPr>
        <p:spPr>
          <a:xfrm flipH="1">
            <a:off x="1393496" y="2367148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struct.from.handoff.2"/>
          <p:cNvSpPr/>
          <p:nvPr/>
        </p:nvSpPr>
        <p:spPr>
          <a:xfrm flipH="1">
            <a:off x="2106825" y="2367148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struct.from.handoff.3"/>
          <p:cNvSpPr/>
          <p:nvPr/>
        </p:nvSpPr>
        <p:spPr>
          <a:xfrm flipH="1">
            <a:off x="1571903" y="2743195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struct.from.handoff.4"/>
          <p:cNvSpPr/>
          <p:nvPr/>
        </p:nvSpPr>
        <p:spPr>
          <a:xfrm flipH="1">
            <a:off x="2157275" y="3209052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struct.from.handoff.5"/>
          <p:cNvSpPr/>
          <p:nvPr/>
        </p:nvSpPr>
        <p:spPr>
          <a:xfrm flipH="1">
            <a:off x="1917922" y="3387804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struct.from.handoff.6"/>
          <p:cNvSpPr/>
          <p:nvPr/>
        </p:nvSpPr>
        <p:spPr>
          <a:xfrm flipH="1">
            <a:off x="1367189" y="3137157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struct.from.handoff.7"/>
          <p:cNvSpPr/>
          <p:nvPr/>
        </p:nvSpPr>
        <p:spPr>
          <a:xfrm flipH="1">
            <a:off x="1367189" y="3605241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struct.from.handoff.8"/>
          <p:cNvSpPr/>
          <p:nvPr/>
        </p:nvSpPr>
        <p:spPr>
          <a:xfrm flipH="1">
            <a:off x="1335166" y="4140042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struct.from.handoff.9"/>
          <p:cNvSpPr/>
          <p:nvPr/>
        </p:nvSpPr>
        <p:spPr>
          <a:xfrm flipH="1">
            <a:off x="2183719" y="5228214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struct.from.handoff.10"/>
          <p:cNvSpPr/>
          <p:nvPr/>
        </p:nvSpPr>
        <p:spPr>
          <a:xfrm flipH="1">
            <a:off x="1393496" y="4611489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struct.from.handoff.11"/>
          <p:cNvSpPr/>
          <p:nvPr/>
        </p:nvSpPr>
        <p:spPr>
          <a:xfrm flipH="1">
            <a:off x="1415934" y="5131881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truct.from.handoff.12"/>
          <p:cNvSpPr/>
          <p:nvPr/>
        </p:nvSpPr>
        <p:spPr>
          <a:xfrm flipH="1">
            <a:off x="2058080" y="4644229"/>
            <a:ext cx="97500" cy="9750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truct.from.role.1.disc"/>
          <p:cNvSpPr/>
          <p:nvPr/>
        </p:nvSpPr>
        <p:spPr>
          <a:xfrm>
            <a:off x="676937" y="2199893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truct.from.role.2.disc"/>
          <p:cNvSpPr/>
          <p:nvPr/>
        </p:nvSpPr>
        <p:spPr>
          <a:xfrm>
            <a:off x="676937" y="3206140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struct.from.role.3.disc"/>
          <p:cNvSpPr/>
          <p:nvPr/>
        </p:nvSpPr>
        <p:spPr>
          <a:xfrm>
            <a:off x="676937" y="4212388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struct.from.role.4.disc"/>
          <p:cNvSpPr/>
          <p:nvPr/>
        </p:nvSpPr>
        <p:spPr>
          <a:xfrm>
            <a:off x="676937" y="5218635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slot.from.role.1"/>
          <p:cNvSpPr txBox="1"/>
          <p:nvPr/>
        </p:nvSpPr>
        <p:spPr>
          <a:xfrm>
            <a:off x="493776" y="2745382"/>
            <a:ext cx="896112" cy="20116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Sales rep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from.role.2"/>
          <p:cNvSpPr txBox="1"/>
          <p:nvPr/>
        </p:nvSpPr>
        <p:spPr>
          <a:xfrm>
            <a:off x="493776" y="3768178"/>
            <a:ext cx="896112" cy="20116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Service desk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from.role.3"/>
          <p:cNvSpPr txBox="1"/>
          <p:nvPr/>
        </p:nvSpPr>
        <p:spPr>
          <a:xfrm>
            <a:off x="493776" y="4766506"/>
            <a:ext cx="896112" cy="20116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Field tech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from.role.4"/>
          <p:cNvSpPr txBox="1"/>
          <p:nvPr/>
        </p:nvSpPr>
        <p:spPr>
          <a:xfrm>
            <a:off x="493776" y="5780673"/>
            <a:ext cx="896112" cy="20116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Account lead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from.customer.1"/>
          <p:cNvSpPr txBox="1"/>
          <p:nvPr/>
        </p:nvSpPr>
        <p:spPr>
          <a:xfrm>
            <a:off x="4626864" y="3635222"/>
            <a:ext cx="841248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Distributors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from.customer.2"/>
          <p:cNvSpPr txBox="1"/>
          <p:nvPr/>
        </p:nvSpPr>
        <p:spPr>
          <a:xfrm>
            <a:off x="4626864" y="4730372"/>
            <a:ext cx="841248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Retailers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from.link.11"/>
          <p:cNvCxnSpPr/>
          <p:nvPr/>
        </p:nvCxnSpPr>
        <p:spPr>
          <a:xfrm>
            <a:off x="3804852" y="2415950"/>
            <a:ext cx="1023600" cy="84931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44" name="struct.from.link.12"/>
          <p:cNvCxnSpPr/>
          <p:nvPr/>
        </p:nvCxnSpPr>
        <p:spPr>
          <a:xfrm>
            <a:off x="3804852" y="3422197"/>
            <a:ext cx="1023600" cy="93676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45" name="struct.from.customer.2.disc"/>
          <p:cNvSpPr/>
          <p:nvPr/>
        </p:nvSpPr>
        <p:spPr>
          <a:xfrm>
            <a:off x="4828484" y="4142896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struct.from.customer.1.disc"/>
          <p:cNvSpPr/>
          <p:nvPr/>
        </p:nvSpPr>
        <p:spPr>
          <a:xfrm>
            <a:off x="4828484" y="3049137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" name="struct.from.link.13"/>
          <p:cNvCxnSpPr/>
          <p:nvPr/>
        </p:nvCxnSpPr>
        <p:spPr>
          <a:xfrm rot="10800000" flipH="1">
            <a:off x="3809984" y="4358896"/>
            <a:ext cx="1018500" cy="1111314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48" name="struct.from.link.14"/>
          <p:cNvCxnSpPr/>
          <p:nvPr/>
        </p:nvCxnSpPr>
        <p:spPr>
          <a:xfrm rot="10800000" flipH="1">
            <a:off x="3818684" y="3265137"/>
            <a:ext cx="1009800" cy="117008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49" name="struct.to.panel"/>
          <p:cNvSpPr/>
          <p:nvPr/>
        </p:nvSpPr>
        <p:spPr>
          <a:xfrm>
            <a:off x="6601968" y="1755648"/>
            <a:ext cx="4023360" cy="4297680"/>
          </a:xfrm>
          <a:prstGeom prst="roundRect">
            <a:avLst>
              <a:gd name="adj" fmla="val 1136"/>
            </a:avLst>
          </a:prstGeom>
          <a:noFill/>
          <a:ln w="9525" cap="rnd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struct.key"/>
          <p:cNvSpPr/>
          <p:nvPr/>
        </p:nvSpPr>
        <p:spPr>
          <a:xfrm>
            <a:off x="10728350" y="5174228"/>
            <a:ext cx="1263900" cy="730200"/>
          </a:xfrm>
          <a:prstGeom prst="roundRect">
            <a:avLst>
              <a:gd name="adj" fmla="val 6280"/>
            </a:avLst>
          </a:prstGeom>
          <a:noFill/>
          <a:ln w="9525" cap="rnd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slot.key.3"/>
          <p:cNvSpPr txBox="1"/>
          <p:nvPr/>
        </p:nvSpPr>
        <p:spPr>
          <a:xfrm>
            <a:off x="11027664" y="5632562"/>
            <a:ext cx="914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Staff escalation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2" name="struct.key.line.3"/>
          <p:cNvCxnSpPr/>
          <p:nvPr/>
        </p:nvCxnSpPr>
        <p:spPr>
          <a:xfrm>
            <a:off x="10793500" y="5714858"/>
            <a:ext cx="1857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53" name="slot.to.header"/>
          <p:cNvSpPr/>
          <p:nvPr/>
        </p:nvSpPr>
        <p:spPr>
          <a:xfrm>
            <a:off x="6598734" y="1014877"/>
            <a:ext cx="5221500" cy="525000"/>
          </a:xfrm>
          <a:prstGeom prst="roundRect">
            <a:avLst>
              <a:gd name="adj" fmla="val 16538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40" tIns="27432" rIns="91440" bIns="27432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Target, agent routing</a:t>
            </a:r>
            <a:endParaRPr lang="en-US" sz="14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to.label"/>
          <p:cNvSpPr txBox="1"/>
          <p:nvPr/>
        </p:nvSpPr>
        <p:spPr>
          <a:xfrm>
            <a:off x="6967728" y="1801368"/>
            <a:ext cx="3291840" cy="21945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route each request through one hub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to.role.1"/>
          <p:cNvSpPr txBox="1"/>
          <p:nvPr/>
        </p:nvSpPr>
        <p:spPr>
          <a:xfrm>
            <a:off x="6638544" y="2509656"/>
            <a:ext cx="914400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Sales rep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truct.to.role.1.disc"/>
          <p:cNvSpPr/>
          <p:nvPr/>
        </p:nvSpPr>
        <p:spPr>
          <a:xfrm>
            <a:off x="6852838" y="2061600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slot.to.role.2"/>
          <p:cNvSpPr txBox="1"/>
          <p:nvPr/>
        </p:nvSpPr>
        <p:spPr>
          <a:xfrm>
            <a:off x="6638544" y="3678472"/>
            <a:ext cx="914400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Service desk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truct.to.role.2.disc"/>
          <p:cNvSpPr/>
          <p:nvPr/>
        </p:nvSpPr>
        <p:spPr>
          <a:xfrm>
            <a:off x="6852838" y="3230417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slot.to.role.3"/>
          <p:cNvSpPr txBox="1"/>
          <p:nvPr/>
        </p:nvSpPr>
        <p:spPr>
          <a:xfrm>
            <a:off x="6638544" y="4879990"/>
            <a:ext cx="914400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Field tech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truct.to.role.3.disc"/>
          <p:cNvSpPr/>
          <p:nvPr/>
        </p:nvSpPr>
        <p:spPr>
          <a:xfrm>
            <a:off x="6852838" y="4431934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slot.to.role.4"/>
          <p:cNvSpPr txBox="1"/>
          <p:nvPr/>
        </p:nvSpPr>
        <p:spPr>
          <a:xfrm>
            <a:off x="6638544" y="5800775"/>
            <a:ext cx="914400" cy="18288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Account lead</a:t>
            </a:r>
            <a:endParaRPr lang="en-US" sz="8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to.role.4.disc"/>
          <p:cNvSpPr/>
          <p:nvPr/>
        </p:nvSpPr>
        <p:spPr>
          <a:xfrm>
            <a:off x="6852838" y="5352719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struct.to.agent.1.disc"/>
          <p:cNvSpPr/>
          <p:nvPr/>
        </p:nvSpPr>
        <p:spPr>
          <a:xfrm>
            <a:off x="8861586" y="2061600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struct.to.agent.4.disc"/>
          <p:cNvSpPr/>
          <p:nvPr/>
        </p:nvSpPr>
        <p:spPr>
          <a:xfrm>
            <a:off x="8861586" y="5352719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struct.to.agent.2.disc"/>
          <p:cNvSpPr/>
          <p:nvPr/>
        </p:nvSpPr>
        <p:spPr>
          <a:xfrm>
            <a:off x="7696314" y="3230417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struct.to.agent.3.disc"/>
          <p:cNvSpPr/>
          <p:nvPr/>
        </p:nvSpPr>
        <p:spPr>
          <a:xfrm>
            <a:off x="10026858" y="3230417"/>
            <a:ext cx="432000" cy="432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struct.to.hub"/>
          <p:cNvSpPr/>
          <p:nvPr/>
        </p:nvSpPr>
        <p:spPr>
          <a:xfrm>
            <a:off x="8539790" y="3010172"/>
            <a:ext cx="1075500" cy="87240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accent1">
              <a:lumMod val="75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struct.to.partner.1.disc"/>
          <p:cNvSpPr/>
          <p:nvPr/>
        </p:nvSpPr>
        <p:spPr>
          <a:xfrm>
            <a:off x="10820528" y="3036874"/>
            <a:ext cx="730200" cy="7302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9525" cap="rnd" cmpd="sng">
            <a:solidFill>
              <a:schemeClr val="tx1">
                <a:lumMod val="65000"/>
                <a:lumOff val="3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44"/>
              <a:buFont typeface="Arial"/>
              <a:buNone/>
            </a:pPr>
            <a:endParaRPr sz="1144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struct.to.partner.2.disc"/>
          <p:cNvSpPr/>
          <p:nvPr/>
        </p:nvSpPr>
        <p:spPr>
          <a:xfrm>
            <a:off x="10820528" y="4311237"/>
            <a:ext cx="730200" cy="7302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9525" cap="rnd" cmpd="sng">
            <a:solidFill>
              <a:schemeClr val="tx1">
                <a:lumMod val="65000"/>
                <a:lumOff val="3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44"/>
              <a:buFont typeface="Arial"/>
              <a:buNone/>
            </a:pPr>
            <a:endParaRPr sz="1144" b="0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struct.to.customer.2.disc"/>
          <p:cNvSpPr/>
          <p:nvPr/>
        </p:nvSpPr>
        <p:spPr>
          <a:xfrm>
            <a:off x="11697814" y="4095151"/>
            <a:ext cx="247018" cy="24701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52275" tIns="26150" rIns="52275" bIns="26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515"/>
              <a:buFont typeface="Arial"/>
              <a:buNone/>
            </a:pPr>
            <a:endParaRPr sz="515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struct.to.customer.1.disc"/>
          <p:cNvSpPr/>
          <p:nvPr/>
        </p:nvSpPr>
        <p:spPr>
          <a:xfrm>
            <a:off x="11650620" y="2444748"/>
            <a:ext cx="247018" cy="24701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52275" tIns="26150" rIns="52275" bIns="26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515"/>
              <a:buFont typeface="Arial"/>
              <a:buNone/>
            </a:pPr>
            <a:endParaRPr sz="515" b="1" i="0" u="none" strike="noStrike" cap="non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" name="struct.to.link.1"/>
          <p:cNvCxnSpPr>
            <a:cxnSpLocks/>
          </p:cNvCxnSpPr>
          <p:nvPr/>
        </p:nvCxnSpPr>
        <p:spPr>
          <a:xfrm>
            <a:off x="7284838" y="2277600"/>
            <a:ext cx="15768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cxnSp>
        <p:nvCxnSpPr>
          <p:cNvPr id="73" name="struct.to.link.2"/>
          <p:cNvCxnSpPr>
            <a:cxnSpLocks/>
          </p:cNvCxnSpPr>
          <p:nvPr/>
        </p:nvCxnSpPr>
        <p:spPr>
          <a:xfrm>
            <a:off x="9293586" y="2277600"/>
            <a:ext cx="1892100" cy="759300"/>
          </a:xfrm>
          <a:prstGeom prst="bentConnector2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74" name="struct.to.link.3"/>
          <p:cNvCxnSpPr>
            <a:cxnSpLocks/>
          </p:cNvCxnSpPr>
          <p:nvPr/>
        </p:nvCxnSpPr>
        <p:spPr>
          <a:xfrm>
            <a:off x="7284838" y="3446417"/>
            <a:ext cx="4116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cxnSp>
        <p:nvCxnSpPr>
          <p:cNvPr id="75" name="struct.to.link.4"/>
          <p:cNvCxnSpPr>
            <a:cxnSpLocks/>
          </p:cNvCxnSpPr>
          <p:nvPr/>
        </p:nvCxnSpPr>
        <p:spPr>
          <a:xfrm>
            <a:off x="8128314" y="3446417"/>
            <a:ext cx="4116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76" name="slot.to.agent.1"/>
          <p:cNvSpPr txBox="1"/>
          <p:nvPr/>
        </p:nvSpPr>
        <p:spPr>
          <a:xfrm>
            <a:off x="8823960" y="2514600"/>
            <a:ext cx="438912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Intake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7" name="struct.to.link.5"/>
          <p:cNvCxnSpPr/>
          <p:nvPr/>
        </p:nvCxnSpPr>
        <p:spPr>
          <a:xfrm>
            <a:off x="9077587" y="2691770"/>
            <a:ext cx="0" cy="29940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78" name="slot.to.agent.2"/>
          <p:cNvSpPr txBox="1"/>
          <p:nvPr/>
        </p:nvSpPr>
        <p:spPr>
          <a:xfrm>
            <a:off x="7598664" y="3694176"/>
            <a:ext cx="64008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Triage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lot.to.agent.3"/>
          <p:cNvSpPr txBox="1"/>
          <p:nvPr/>
        </p:nvSpPr>
        <p:spPr>
          <a:xfrm>
            <a:off x="9893808" y="3694176"/>
            <a:ext cx="69494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Quote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0" name="struct.to.link.6"/>
          <p:cNvCxnSpPr>
            <a:cxnSpLocks/>
          </p:cNvCxnSpPr>
          <p:nvPr/>
        </p:nvCxnSpPr>
        <p:spPr>
          <a:xfrm>
            <a:off x="9077586" y="3889619"/>
            <a:ext cx="0" cy="146310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81" name="struct.to.link.7"/>
          <p:cNvCxnSpPr/>
          <p:nvPr/>
        </p:nvCxnSpPr>
        <p:spPr>
          <a:xfrm>
            <a:off x="9615382" y="3446417"/>
            <a:ext cx="4116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82" name="struct.to.link.8"/>
          <p:cNvCxnSpPr>
            <a:cxnSpLocks/>
          </p:cNvCxnSpPr>
          <p:nvPr/>
        </p:nvCxnSpPr>
        <p:spPr>
          <a:xfrm>
            <a:off x="7284838" y="5568719"/>
            <a:ext cx="15768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cxnSp>
        <p:nvCxnSpPr>
          <p:cNvPr id="83" name="struct.to.link.9"/>
          <p:cNvCxnSpPr/>
          <p:nvPr/>
        </p:nvCxnSpPr>
        <p:spPr>
          <a:xfrm rot="10800000" flipH="1">
            <a:off x="7287768" y="3858768"/>
            <a:ext cx="2944368" cy="786384"/>
          </a:xfrm>
          <a:prstGeom prst="bentConnector2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cxnSp>
        <p:nvCxnSpPr>
          <p:cNvPr id="84" name="struct.to.link.11"/>
          <p:cNvCxnSpPr>
            <a:cxnSpLocks/>
          </p:cNvCxnSpPr>
          <p:nvPr/>
        </p:nvCxnSpPr>
        <p:spPr>
          <a:xfrm rot="5400000">
            <a:off x="8897112" y="4251960"/>
            <a:ext cx="1719072" cy="932688"/>
          </a:xfrm>
          <a:prstGeom prst="bentConnector2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85" name="struct.to.link.12"/>
          <p:cNvCxnSpPr>
            <a:cxnSpLocks/>
          </p:cNvCxnSpPr>
          <p:nvPr/>
        </p:nvCxnSpPr>
        <p:spPr>
          <a:xfrm rot="5400000" flipH="1">
            <a:off x="9291858" y="2279417"/>
            <a:ext cx="952800" cy="949200"/>
          </a:xfrm>
          <a:prstGeom prst="bentConnector2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86" name="struct.to.link.14"/>
          <p:cNvCxnSpPr>
            <a:cxnSpLocks/>
          </p:cNvCxnSpPr>
          <p:nvPr/>
        </p:nvCxnSpPr>
        <p:spPr>
          <a:xfrm rot="16200000" flipH="1">
            <a:off x="8071438" y="1059000"/>
            <a:ext cx="1384800" cy="3390000"/>
          </a:xfrm>
          <a:prstGeom prst="bentConnector4">
            <a:avLst>
              <a:gd name="adj1" fmla="val -9239"/>
              <a:gd name="adj2" fmla="val 101795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87" name="struct.to.link.15"/>
          <p:cNvCxnSpPr/>
          <p:nvPr/>
        </p:nvCxnSpPr>
        <p:spPr>
          <a:xfrm flipH="1">
            <a:off x="7826465" y="2384787"/>
            <a:ext cx="1016400" cy="845700"/>
          </a:xfrm>
          <a:prstGeom prst="bentConnector2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88" name="struct.to.link.16"/>
          <p:cNvCxnSpPr>
            <a:cxnSpLocks/>
          </p:cNvCxnSpPr>
          <p:nvPr/>
        </p:nvCxnSpPr>
        <p:spPr>
          <a:xfrm flipH="1">
            <a:off x="7284838" y="3568279"/>
            <a:ext cx="411600" cy="283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89" name="struct.to.link.17"/>
          <p:cNvCxnSpPr/>
          <p:nvPr/>
        </p:nvCxnSpPr>
        <p:spPr>
          <a:xfrm rot="10800000">
            <a:off x="7284881" y="4757626"/>
            <a:ext cx="1614300" cy="6609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90" name="struct.to.link.18"/>
          <p:cNvCxnSpPr>
            <a:cxnSpLocks/>
          </p:cNvCxnSpPr>
          <p:nvPr/>
        </p:nvCxnSpPr>
        <p:spPr>
          <a:xfrm flipH="1">
            <a:off x="7284927" y="3851779"/>
            <a:ext cx="2748900" cy="660300"/>
          </a:xfrm>
          <a:prstGeom prst="bentConnector3">
            <a:avLst>
              <a:gd name="adj1" fmla="val 9660"/>
            </a:avLst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91" name="struct.to.link.19"/>
          <p:cNvCxnSpPr>
            <a:cxnSpLocks/>
          </p:cNvCxnSpPr>
          <p:nvPr/>
        </p:nvCxnSpPr>
        <p:spPr>
          <a:xfrm rot="5400000">
            <a:off x="7318686" y="4064179"/>
            <a:ext cx="549900" cy="617400"/>
          </a:xfrm>
          <a:prstGeom prst="bentConnector2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92" name="slot.to.exception"/>
          <p:cNvSpPr/>
          <p:nvPr/>
        </p:nvSpPr>
        <p:spPr>
          <a:xfrm>
            <a:off x="6726950" y="4095155"/>
            <a:ext cx="802500" cy="265500"/>
          </a:xfrm>
          <a:prstGeom prst="snip1Rect">
            <a:avLst>
              <a:gd name="adj" fmla="val 16667"/>
            </a:avLst>
          </a:prstGeom>
          <a:solidFill>
            <a:schemeClr val="accent1">
              <a:lumMod val="10000"/>
              <a:lumOff val="90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Exceptions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3" name="struct.to.link.20"/>
          <p:cNvCxnSpPr>
            <a:cxnSpLocks/>
          </p:cNvCxnSpPr>
          <p:nvPr/>
        </p:nvCxnSpPr>
        <p:spPr>
          <a:xfrm rot="5400000">
            <a:off x="7650936" y="3976429"/>
            <a:ext cx="129900" cy="372900"/>
          </a:xfrm>
          <a:prstGeom prst="bentConnector2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94" name="slot.to.hub.head"/>
          <p:cNvSpPr txBox="1"/>
          <p:nvPr/>
        </p:nvSpPr>
        <p:spPr>
          <a:xfrm>
            <a:off x="8650224" y="3163824"/>
            <a:ext cx="85953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Agent hub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slot.to.hub.body"/>
          <p:cNvSpPr txBox="1"/>
          <p:nvPr/>
        </p:nvSpPr>
        <p:spPr>
          <a:xfrm>
            <a:off x="8650224" y="3383280"/>
            <a:ext cx="859536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 case</a:t>
            </a:r>
            <a:endParaRPr lang="en-US" sz="85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record</a:t>
            </a:r>
            <a:endParaRPr lang="en-US" sz="85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6" name="struct.to.link.21"/>
          <p:cNvCxnSpPr>
            <a:cxnSpLocks/>
          </p:cNvCxnSpPr>
          <p:nvPr/>
        </p:nvCxnSpPr>
        <p:spPr>
          <a:xfrm>
            <a:off x="10460736" y="3447288"/>
            <a:ext cx="36576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cxnSp>
        <p:nvCxnSpPr>
          <p:cNvPr id="97" name="struct.to.link.22"/>
          <p:cNvCxnSpPr/>
          <p:nvPr/>
        </p:nvCxnSpPr>
        <p:spPr>
          <a:xfrm rot="10800000">
            <a:off x="10460736" y="3557016"/>
            <a:ext cx="393192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triangle" w="med" len="med"/>
          </a:ln>
          <a:effectLst/>
        </p:spPr>
      </p:cxnSp>
      <p:sp>
        <p:nvSpPr>
          <p:cNvPr id="98" name="slot.to.flow.1"/>
          <p:cNvSpPr txBox="1"/>
          <p:nvPr/>
        </p:nvSpPr>
        <p:spPr>
          <a:xfrm>
            <a:off x="10808208" y="2505456"/>
            <a:ext cx="768096" cy="29260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status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sync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slot.to.flow.2"/>
          <p:cNvSpPr txBox="1"/>
          <p:nvPr/>
        </p:nvSpPr>
        <p:spPr>
          <a:xfrm>
            <a:off x="10844784" y="4133087"/>
            <a:ext cx="676656" cy="1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Stock view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0" name="struct.to.link.25"/>
          <p:cNvCxnSpPr/>
          <p:nvPr/>
        </p:nvCxnSpPr>
        <p:spPr>
          <a:xfrm>
            <a:off x="11185628" y="3817777"/>
            <a:ext cx="0" cy="32820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101" name="slot.to.partner.1"/>
          <p:cNvSpPr txBox="1"/>
          <p:nvPr/>
        </p:nvSpPr>
        <p:spPr>
          <a:xfrm>
            <a:off x="10930256" y="3347770"/>
            <a:ext cx="512064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Partner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slot.to.partner.2"/>
          <p:cNvSpPr txBox="1"/>
          <p:nvPr/>
        </p:nvSpPr>
        <p:spPr>
          <a:xfrm>
            <a:off x="10930256" y="4622133"/>
            <a:ext cx="512064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Store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lot.to.customer.1"/>
          <p:cNvSpPr txBox="1"/>
          <p:nvPr/>
        </p:nvSpPr>
        <p:spPr>
          <a:xfrm>
            <a:off x="11513460" y="2261868"/>
            <a:ext cx="512064" cy="155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Dealers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lot.to.customer.2"/>
          <p:cNvSpPr txBox="1"/>
          <p:nvPr/>
        </p:nvSpPr>
        <p:spPr>
          <a:xfrm>
            <a:off x="11560654" y="3912270"/>
            <a:ext cx="512064" cy="155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Stores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5" name="struct.to.link.26"/>
          <p:cNvCxnSpPr>
            <a:cxnSpLocks/>
          </p:cNvCxnSpPr>
          <p:nvPr/>
        </p:nvCxnSpPr>
        <p:spPr>
          <a:xfrm rot="10800000" flipH="1">
            <a:off x="11443793" y="2647009"/>
            <a:ext cx="226500" cy="49680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106" name="struct.to.link.27"/>
          <p:cNvCxnSpPr>
            <a:cxnSpLocks/>
          </p:cNvCxnSpPr>
          <p:nvPr/>
        </p:nvCxnSpPr>
        <p:spPr>
          <a:xfrm rot="10800000" flipH="1">
            <a:off x="11443793" y="4218672"/>
            <a:ext cx="254100" cy="19950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uct.to.link.28"/>
          <p:cNvCxnSpPr>
            <a:cxnSpLocks/>
          </p:cNvCxnSpPr>
          <p:nvPr/>
        </p:nvCxnSpPr>
        <p:spPr>
          <a:xfrm>
            <a:off x="10424160" y="3849624"/>
            <a:ext cx="493776" cy="576072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sp>
        <p:nvSpPr>
          <p:cNvPr id="108" name="slot.key.1"/>
          <p:cNvSpPr txBox="1"/>
          <p:nvPr/>
        </p:nvSpPr>
        <p:spPr>
          <a:xfrm>
            <a:off x="11027664" y="5235336"/>
            <a:ext cx="914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Request flow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9" name="struct.key.line.1"/>
          <p:cNvCxnSpPr/>
          <p:nvPr/>
        </p:nvCxnSpPr>
        <p:spPr>
          <a:xfrm>
            <a:off x="10793500" y="5317632"/>
            <a:ext cx="185700" cy="0"/>
          </a:xfrm>
          <a:prstGeom prst="straightConnector1">
            <a:avLst/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struct.key.line.2"/>
          <p:cNvCxnSpPr/>
          <p:nvPr/>
        </p:nvCxnSpPr>
        <p:spPr>
          <a:xfrm>
            <a:off x="10793500" y="5493162"/>
            <a:ext cx="1857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111" name="slot.key.2"/>
          <p:cNvSpPr txBox="1"/>
          <p:nvPr/>
        </p:nvSpPr>
        <p:spPr>
          <a:xfrm>
            <a:off x="11027664" y="5410866"/>
            <a:ext cx="914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 sync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slot.to.agent.4"/>
          <p:cNvSpPr txBox="1"/>
          <p:nvPr/>
        </p:nvSpPr>
        <p:spPr>
          <a:xfrm>
            <a:off x="8695944" y="5815584"/>
            <a:ext cx="768096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27432" tIns="9144" rIns="27432" bIns="9144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Scheduling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slot.from.role.1.icon"/>
          <p:cNvSpPr/>
          <p:nvPr/>
        </p:nvSpPr>
        <p:spPr>
          <a:xfrm>
            <a:off x="774065" y="2297021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14" name="slot.from.role.2.icon"/>
          <p:cNvSpPr/>
          <p:nvPr/>
        </p:nvSpPr>
        <p:spPr>
          <a:xfrm>
            <a:off x="774065" y="330326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15" name="slot.from.role.3.icon"/>
          <p:cNvSpPr/>
          <p:nvPr/>
        </p:nvSpPr>
        <p:spPr>
          <a:xfrm>
            <a:off x="774065" y="430951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16" name="slot.from.role.4.icon"/>
          <p:cNvSpPr/>
          <p:nvPr/>
        </p:nvSpPr>
        <p:spPr>
          <a:xfrm>
            <a:off x="774065" y="5315763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17" name="slot.from.channel.1.icon"/>
          <p:cNvSpPr/>
          <p:nvPr/>
        </p:nvSpPr>
        <p:spPr>
          <a:xfrm>
            <a:off x="3402516" y="227879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2286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8" name="slot.from.channel.2.icon"/>
          <p:cNvSpPr/>
          <p:nvPr/>
        </p:nvSpPr>
        <p:spPr>
          <a:xfrm>
            <a:off x="3402516" y="3285037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832" y="16568"/>
                </a:moveTo>
                <a:cubicBezTo>
                  <a:pt x="14257" y="16763"/>
                  <a:pt x="14761" y="16637"/>
                  <a:pt x="15045" y="16265"/>
                </a:cubicBezTo>
                <a:lnTo>
                  <a:pt x="15400" y="15800"/>
                </a:lnTo>
                <a:cubicBezTo>
                  <a:pt x="15778" y="15296"/>
                  <a:pt x="16370" y="15000"/>
                  <a:pt x="17000" y="15000"/>
                </a:cubicBezTo>
                <a:lnTo>
                  <a:pt x="20000" y="15000"/>
                </a:lnTo>
                <a:cubicBezTo>
                  <a:pt x="21105" y="15000"/>
                  <a:pt x="22000" y="15895"/>
                  <a:pt x="22000" y="17000"/>
                </a:cubicBezTo>
                <a:lnTo>
                  <a:pt x="22000" y="20000"/>
                </a:lnTo>
                <a:cubicBezTo>
                  <a:pt x="22000" y="21105"/>
                  <a:pt x="21105" y="22000"/>
                  <a:pt x="20000" y="22000"/>
                </a:cubicBezTo>
                <a:cubicBezTo>
                  <a:pt x="10059" y="22000"/>
                  <a:pt x="2000" y="13941"/>
                  <a:pt x="2000" y="4000"/>
                </a:cubicBezTo>
                <a:cubicBezTo>
                  <a:pt x="2000" y="2895"/>
                  <a:pt x="2895" y="2000"/>
                  <a:pt x="4000" y="2000"/>
                </a:cubicBezTo>
                <a:lnTo>
                  <a:pt x="7000" y="2000"/>
                </a:lnTo>
                <a:cubicBezTo>
                  <a:pt x="8105" y="2000"/>
                  <a:pt x="9000" y="2895"/>
                  <a:pt x="9000" y="4000"/>
                </a:cubicBezTo>
                <a:lnTo>
                  <a:pt x="9000" y="7000"/>
                </a:lnTo>
                <a:cubicBezTo>
                  <a:pt x="9000" y="7630"/>
                  <a:pt x="8704" y="8222"/>
                  <a:pt x="8200" y="8600"/>
                </a:cubicBezTo>
                <a:lnTo>
                  <a:pt x="7732" y="8951"/>
                </a:lnTo>
                <a:cubicBezTo>
                  <a:pt x="7353" y="9240"/>
                  <a:pt x="7231" y="9756"/>
                  <a:pt x="7440" y="10184"/>
                </a:cubicBezTo>
                <a:cubicBezTo>
                  <a:pt x="8807" y="12960"/>
                  <a:pt x="11054" y="15205"/>
                  <a:pt x="13832" y="16568"/>
                </a:cubicBezTo>
              </a:path>
            </a:pathLst>
          </a:custGeom>
          <a:noFill/>
          <a:ln w="2286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19" name="slot.from.channel.3.icon"/>
          <p:cNvSpPr/>
          <p:nvPr/>
        </p:nvSpPr>
        <p:spPr>
          <a:xfrm>
            <a:off x="3402516" y="4291285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286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20" name="slot.from.channel.4.icon"/>
          <p:cNvSpPr/>
          <p:nvPr/>
        </p:nvSpPr>
        <p:spPr>
          <a:xfrm>
            <a:off x="3402516" y="5297532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2286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121" name="slot.from.customer.1.icon"/>
          <p:cNvSpPr/>
          <p:nvPr/>
        </p:nvSpPr>
        <p:spPr>
          <a:xfrm>
            <a:off x="4925612" y="3146265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2" name="slot.from.customer.2.icon"/>
          <p:cNvSpPr/>
          <p:nvPr/>
        </p:nvSpPr>
        <p:spPr>
          <a:xfrm>
            <a:off x="4925612" y="424002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1000"/>
                </a:moveTo>
                <a:lnTo>
                  <a:pt x="15000" y="16000"/>
                </a:lnTo>
                <a:cubicBezTo>
                  <a:pt x="15000" y="15448"/>
                  <a:pt x="14552" y="15000"/>
                  <a:pt x="14000" y="15000"/>
                </a:cubicBezTo>
                <a:lnTo>
                  <a:pt x="10000" y="15000"/>
                </a:lnTo>
                <a:cubicBezTo>
                  <a:pt x="9448" y="15000"/>
                  <a:pt x="9000" y="15448"/>
                  <a:pt x="9000" y="16000"/>
                </a:cubicBezTo>
                <a:lnTo>
                  <a:pt x="9000" y="21000"/>
                </a:lnTo>
                <a:moveTo>
                  <a:pt x="17774" y="10310"/>
                </a:moveTo>
                <a:cubicBezTo>
                  <a:pt x="17341" y="9895"/>
                  <a:pt x="16658" y="9895"/>
                  <a:pt x="16225" y="10310"/>
                </a:cubicBezTo>
                <a:cubicBezTo>
                  <a:pt x="15259" y="11231"/>
                  <a:pt x="13740" y="11231"/>
                  <a:pt x="12774" y="10310"/>
                </a:cubicBezTo>
                <a:cubicBezTo>
                  <a:pt x="12341" y="9896"/>
                  <a:pt x="11659" y="9896"/>
                  <a:pt x="11226" y="10310"/>
                </a:cubicBezTo>
                <a:cubicBezTo>
                  <a:pt x="10260" y="11232"/>
                  <a:pt x="8740" y="11232"/>
                  <a:pt x="7774" y="10310"/>
                </a:cubicBezTo>
                <a:cubicBezTo>
                  <a:pt x="7341" y="9895"/>
                  <a:pt x="6658" y="9895"/>
                  <a:pt x="6225" y="10310"/>
                </a:cubicBezTo>
                <a:cubicBezTo>
                  <a:pt x="5294" y="11198"/>
                  <a:pt x="3842" y="11235"/>
                  <a:pt x="2867" y="10395"/>
                </a:cubicBezTo>
                <a:cubicBezTo>
                  <a:pt x="1893" y="9556"/>
                  <a:pt x="1714" y="8114"/>
                  <a:pt x="2455" y="7062"/>
                </a:cubicBezTo>
                <a:lnTo>
                  <a:pt x="5344" y="2878"/>
                </a:lnTo>
                <a:cubicBezTo>
                  <a:pt x="5716" y="2329"/>
                  <a:pt x="6337" y="2000"/>
                  <a:pt x="7000" y="2000"/>
                </a:cubicBezTo>
                <a:lnTo>
                  <a:pt x="17000" y="2000"/>
                </a:lnTo>
                <a:cubicBezTo>
                  <a:pt x="17661" y="2000"/>
                  <a:pt x="18280" y="2327"/>
                  <a:pt x="18653" y="2873"/>
                </a:cubicBezTo>
                <a:lnTo>
                  <a:pt x="21548" y="7065"/>
                </a:lnTo>
                <a:cubicBezTo>
                  <a:pt x="22289" y="8118"/>
                  <a:pt x="22109" y="9561"/>
                  <a:pt x="21133" y="10400"/>
                </a:cubicBezTo>
                <a:cubicBezTo>
                  <a:pt x="20157" y="11239"/>
                  <a:pt x="18703" y="11199"/>
                  <a:pt x="17774" y="10309"/>
                </a:cubicBezTo>
                <a:moveTo>
                  <a:pt x="4000" y="10950"/>
                </a:moveTo>
                <a:lnTo>
                  <a:pt x="4000" y="19000"/>
                </a:lnTo>
                <a:cubicBezTo>
                  <a:pt x="4000" y="20105"/>
                  <a:pt x="4895" y="21000"/>
                  <a:pt x="6000" y="21000"/>
                </a:cubicBezTo>
                <a:lnTo>
                  <a:pt x="18000" y="21000"/>
                </a:lnTo>
                <a:cubicBezTo>
                  <a:pt x="19105" y="21000"/>
                  <a:pt x="20000" y="20105"/>
                  <a:pt x="20000" y="19000"/>
                </a:cubicBezTo>
                <a:lnTo>
                  <a:pt x="20000" y="1095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3" name="slot.to.role.1.icon"/>
          <p:cNvSpPr/>
          <p:nvPr/>
        </p:nvSpPr>
        <p:spPr>
          <a:xfrm>
            <a:off x="6949966" y="215872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4" name="slot.to.role.2.icon"/>
          <p:cNvSpPr/>
          <p:nvPr/>
        </p:nvSpPr>
        <p:spPr>
          <a:xfrm>
            <a:off x="6949966" y="3327545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5" name="slot.to.role.3.icon"/>
          <p:cNvSpPr/>
          <p:nvPr/>
        </p:nvSpPr>
        <p:spPr>
          <a:xfrm>
            <a:off x="6949966" y="4529062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6" name="slot.to.role.4.icon"/>
          <p:cNvSpPr/>
          <p:nvPr/>
        </p:nvSpPr>
        <p:spPr>
          <a:xfrm>
            <a:off x="6949966" y="5449847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27" name="slot.to.agent.1.icon"/>
          <p:cNvSpPr/>
          <p:nvPr/>
        </p:nvSpPr>
        <p:spPr>
          <a:xfrm>
            <a:off x="8954142" y="2154156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0320" cap="rnd">
            <a:solidFill>
              <a:schemeClr val="bg1"/>
            </a:solidFill>
            <a:round/>
          </a:ln>
          <a:effectLst/>
        </p:spPr>
      </p:sp>
      <p:sp>
        <p:nvSpPr>
          <p:cNvPr id="128" name="slot.to.agent.2.icon"/>
          <p:cNvSpPr/>
          <p:nvPr/>
        </p:nvSpPr>
        <p:spPr>
          <a:xfrm>
            <a:off x="7788870" y="3322973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0320" cap="rnd">
            <a:solidFill>
              <a:schemeClr val="bg1"/>
            </a:solidFill>
            <a:round/>
          </a:ln>
          <a:effectLst/>
        </p:spPr>
      </p:sp>
      <p:sp>
        <p:nvSpPr>
          <p:cNvPr id="129" name="slot.to.agent.3.icon"/>
          <p:cNvSpPr/>
          <p:nvPr/>
        </p:nvSpPr>
        <p:spPr>
          <a:xfrm>
            <a:off x="10119414" y="3322973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0320" cap="rnd">
            <a:solidFill>
              <a:schemeClr val="bg1"/>
            </a:solidFill>
            <a:round/>
          </a:ln>
          <a:effectLst/>
        </p:spPr>
      </p:sp>
      <p:sp>
        <p:nvSpPr>
          <p:cNvPr id="130" name="slot.to.agent.4.icon"/>
          <p:cNvSpPr/>
          <p:nvPr/>
        </p:nvSpPr>
        <p:spPr>
          <a:xfrm>
            <a:off x="8954142" y="5445275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0320" cap="rnd">
            <a:solidFill>
              <a:schemeClr val="bg1"/>
            </a:solidFill>
            <a:round/>
          </a:ln>
          <a:effectLst/>
        </p:spPr>
      </p:sp>
      <p:sp>
        <p:nvSpPr>
          <p:cNvPr id="131" name="slot.to.partner.1.icon"/>
          <p:cNvSpPr/>
          <p:nvPr/>
        </p:nvSpPr>
        <p:spPr>
          <a:xfrm>
            <a:off x="11085704" y="3128314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132" name="slot.to.partner.2.icon"/>
          <p:cNvSpPr/>
          <p:nvPr/>
        </p:nvSpPr>
        <p:spPr>
          <a:xfrm>
            <a:off x="11085704" y="4402677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133" name="slot.to.customer.1.icon"/>
          <p:cNvSpPr/>
          <p:nvPr/>
        </p:nvSpPr>
        <p:spPr>
          <a:xfrm>
            <a:off x="11696405" y="249053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0000"/>
                </a:moveTo>
                <a:lnTo>
                  <a:pt x="12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12000" y="6000"/>
                </a:moveTo>
                <a:lnTo>
                  <a:pt x="12010" y="6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6000" y="14000"/>
                </a:moveTo>
                <a:lnTo>
                  <a:pt x="16010" y="14000"/>
                </a:lnTo>
                <a:moveTo>
                  <a:pt x="16000" y="6000"/>
                </a:moveTo>
                <a:lnTo>
                  <a:pt x="16010" y="6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8000" y="6000"/>
                </a:moveTo>
                <a:lnTo>
                  <a:pt x="8010" y="6000"/>
                </a:lnTo>
                <a:moveTo>
                  <a:pt x="9000" y="22000"/>
                </a:moveTo>
                <a:lnTo>
                  <a:pt x="9000" y="19000"/>
                </a:lnTo>
                <a:cubicBezTo>
                  <a:pt x="9000" y="18448"/>
                  <a:pt x="9448" y="18000"/>
                  <a:pt x="10000" y="18000"/>
                </a:cubicBezTo>
                <a:lnTo>
                  <a:pt x="14000" y="18000"/>
                </a:lnTo>
                <a:cubicBezTo>
                  <a:pt x="14552" y="18000"/>
                  <a:pt x="15000" y="18448"/>
                  <a:pt x="15000" y="19000"/>
                </a:cubicBezTo>
                <a:lnTo>
                  <a:pt x="15000" y="22000"/>
                </a:lnTo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34" name="slot.to.customer.2.icon"/>
          <p:cNvSpPr/>
          <p:nvPr/>
        </p:nvSpPr>
        <p:spPr>
          <a:xfrm>
            <a:off x="11743599" y="414093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1000"/>
                </a:moveTo>
                <a:lnTo>
                  <a:pt x="15000" y="16000"/>
                </a:lnTo>
                <a:cubicBezTo>
                  <a:pt x="15000" y="15448"/>
                  <a:pt x="14552" y="15000"/>
                  <a:pt x="14000" y="15000"/>
                </a:cubicBezTo>
                <a:lnTo>
                  <a:pt x="10000" y="15000"/>
                </a:lnTo>
                <a:cubicBezTo>
                  <a:pt x="9448" y="15000"/>
                  <a:pt x="9000" y="15448"/>
                  <a:pt x="9000" y="16000"/>
                </a:cubicBezTo>
                <a:lnTo>
                  <a:pt x="9000" y="21000"/>
                </a:lnTo>
                <a:moveTo>
                  <a:pt x="17774" y="10310"/>
                </a:moveTo>
                <a:cubicBezTo>
                  <a:pt x="17341" y="9895"/>
                  <a:pt x="16658" y="9895"/>
                  <a:pt x="16225" y="10310"/>
                </a:cubicBezTo>
                <a:cubicBezTo>
                  <a:pt x="15259" y="11231"/>
                  <a:pt x="13740" y="11231"/>
                  <a:pt x="12774" y="10310"/>
                </a:cubicBezTo>
                <a:cubicBezTo>
                  <a:pt x="12341" y="9896"/>
                  <a:pt x="11659" y="9896"/>
                  <a:pt x="11226" y="10310"/>
                </a:cubicBezTo>
                <a:cubicBezTo>
                  <a:pt x="10260" y="11232"/>
                  <a:pt x="8740" y="11232"/>
                  <a:pt x="7774" y="10310"/>
                </a:cubicBezTo>
                <a:cubicBezTo>
                  <a:pt x="7341" y="9895"/>
                  <a:pt x="6658" y="9895"/>
                  <a:pt x="6225" y="10310"/>
                </a:cubicBezTo>
                <a:cubicBezTo>
                  <a:pt x="5294" y="11198"/>
                  <a:pt x="3842" y="11235"/>
                  <a:pt x="2867" y="10395"/>
                </a:cubicBezTo>
                <a:cubicBezTo>
                  <a:pt x="1893" y="9556"/>
                  <a:pt x="1714" y="8114"/>
                  <a:pt x="2455" y="7062"/>
                </a:cubicBezTo>
                <a:lnTo>
                  <a:pt x="5344" y="2878"/>
                </a:lnTo>
                <a:cubicBezTo>
                  <a:pt x="5716" y="2329"/>
                  <a:pt x="6337" y="2000"/>
                  <a:pt x="7000" y="2000"/>
                </a:cubicBezTo>
                <a:lnTo>
                  <a:pt x="17000" y="2000"/>
                </a:lnTo>
                <a:cubicBezTo>
                  <a:pt x="17661" y="2000"/>
                  <a:pt x="18280" y="2327"/>
                  <a:pt x="18653" y="2873"/>
                </a:cubicBezTo>
                <a:lnTo>
                  <a:pt x="21548" y="7065"/>
                </a:lnTo>
                <a:cubicBezTo>
                  <a:pt x="22289" y="8118"/>
                  <a:pt x="22109" y="9561"/>
                  <a:pt x="21133" y="10400"/>
                </a:cubicBezTo>
                <a:cubicBezTo>
                  <a:pt x="20157" y="11239"/>
                  <a:pt x="18703" y="11199"/>
                  <a:pt x="17774" y="10309"/>
                </a:cubicBezTo>
                <a:moveTo>
                  <a:pt x="4000" y="10950"/>
                </a:moveTo>
                <a:lnTo>
                  <a:pt x="4000" y="19000"/>
                </a:lnTo>
                <a:cubicBezTo>
                  <a:pt x="4000" y="20105"/>
                  <a:pt x="4895" y="21000"/>
                  <a:pt x="6000" y="21000"/>
                </a:cubicBezTo>
                <a:lnTo>
                  <a:pt x="18000" y="21000"/>
                </a:lnTo>
                <a:cubicBezTo>
                  <a:pt x="19105" y="21000"/>
                  <a:pt x="20000" y="20105"/>
                  <a:pt x="20000" y="19000"/>
                </a:cubicBezTo>
                <a:lnTo>
                  <a:pt x="20000" y="1095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alue-horizons:step-network-handover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57200" y="201168"/>
            <a:ext cx="113385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run routine claims work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by year three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, people own the exceptions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" name="struct.line.1"/>
          <p:cNvCxnSpPr/>
          <p:nvPr/>
        </p:nvCxnSpPr>
        <p:spPr>
          <a:xfrm>
            <a:off x="3314739" y="1550660"/>
            <a:ext cx="0" cy="47679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4" name="struct.line.2"/>
          <p:cNvCxnSpPr/>
          <p:nvPr/>
        </p:nvCxnSpPr>
        <p:spPr>
          <a:xfrm>
            <a:off x="6125306" y="1550660"/>
            <a:ext cx="0" cy="47679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5" name="struct.line.3"/>
          <p:cNvCxnSpPr/>
          <p:nvPr/>
        </p:nvCxnSpPr>
        <p:spPr>
          <a:xfrm>
            <a:off x="8935872" y="1550661"/>
            <a:ext cx="0" cy="46449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" name="struct.band"/>
          <p:cNvSpPr/>
          <p:nvPr/>
        </p:nvSpPr>
        <p:spPr>
          <a:xfrm>
            <a:off x="454850" y="1548255"/>
            <a:ext cx="11340900" cy="434100"/>
          </a:xfrm>
          <a:prstGeom prst="roundRect">
            <a:avLst>
              <a:gd name="adj" fmla="val 10532"/>
            </a:avLst>
          </a:prstGeom>
          <a:solidFill>
            <a:schemeClr val="bg1">
              <a:lumMod val="95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" name="struct.group.1"/>
          <p:cNvGrpSpPr/>
          <p:nvPr/>
        </p:nvGrpSpPr>
        <p:grpSpPr>
          <a:xfrm>
            <a:off x="454849" y="1053774"/>
            <a:ext cx="2909101" cy="4916210"/>
            <a:chOff x="454849" y="1053774"/>
            <a:chExt cx="2909101" cy="4916210"/>
          </a:xfrm>
          <a:effectLst/>
        </p:grpSpPr>
        <p:sp>
          <p:nvSpPr>
            <p:cNvPr id="8" name="slot.horizon.1.label"/>
            <p:cNvSpPr/>
            <p:nvPr/>
          </p:nvSpPr>
          <p:spPr>
            <a:xfrm>
              <a:off x="454850" y="1053774"/>
              <a:ext cx="2807208" cy="381000"/>
            </a:xfrm>
            <a:prstGeom prst="homePlate">
              <a:avLst>
                <a:gd name="adj" fmla="val 33721"/>
              </a:avLst>
            </a:prstGeom>
            <a:solidFill>
              <a:schemeClr val="accent1">
                <a:lumMod val="10000"/>
                <a:lumOff val="90000"/>
              </a:schemeClr>
            </a:solidFill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Today</a:t>
              </a:r>
              <a:endPara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9" name="struct.today.arrow.1"/>
            <p:cNvCxnSpPr/>
            <p:nvPr/>
          </p:nvCxnSpPr>
          <p:spPr>
            <a:xfrm>
              <a:off x="1911095" y="2020824"/>
              <a:ext cx="0" cy="301752"/>
            </a:xfrm>
            <a:prstGeom prst="straightConnector1">
              <a:avLst/>
            </a:prstGeom>
            <a:noFill/>
            <a:ln w="14250" cap="flat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triangle" w="sm" len="sm"/>
              <a:tailEnd type="triangle" w="sm" len="sm"/>
            </a:ln>
          </p:spPr>
        </p:cxnSp>
        <p:sp>
          <p:nvSpPr>
            <p:cNvPr id="10" name="struct.box.1"/>
            <p:cNvSpPr/>
            <p:nvPr/>
          </p:nvSpPr>
          <p:spPr>
            <a:xfrm>
              <a:off x="454849" y="2347206"/>
              <a:ext cx="2719800" cy="579000"/>
            </a:xfrm>
            <a:prstGeom prst="roundRect">
              <a:avLst>
                <a:gd name="adj" fmla="val 7896"/>
              </a:avLst>
            </a:prstGeom>
            <a:noFill/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525"/>
                <a:buFont typeface="Arial"/>
                <a:buNone/>
                <a:tabLst/>
                <a:defRPr/>
              </a:pPr>
              <a:endParaRPr kumimoji="0" sz="625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" name="struct.group.2"/>
            <p:cNvGrpSpPr/>
            <p:nvPr/>
          </p:nvGrpSpPr>
          <p:grpSpPr>
            <a:xfrm>
              <a:off x="595948" y="2520456"/>
              <a:ext cx="2401029" cy="322500"/>
              <a:chOff x="595948" y="2520456"/>
              <a:chExt cx="2401029" cy="322500"/>
            </a:xfrm>
          </p:grpSpPr>
          <p:grpSp>
            <p:nvGrpSpPr>
              <p:cNvPr id="12" name="struct.group.3"/>
              <p:cNvGrpSpPr/>
              <p:nvPr/>
            </p:nvGrpSpPr>
            <p:grpSpPr>
              <a:xfrm>
                <a:off x="1749139" y="2520456"/>
                <a:ext cx="1247838" cy="322500"/>
                <a:chOff x="1749139" y="2520456"/>
                <a:chExt cx="1247838" cy="322500"/>
              </a:xfrm>
            </p:grpSpPr>
            <p:grpSp>
              <p:nvGrpSpPr>
                <p:cNvPr id="13" name="struct.group.4"/>
                <p:cNvGrpSpPr/>
                <p:nvPr/>
              </p:nvGrpSpPr>
              <p:grpSpPr>
                <a:xfrm>
                  <a:off x="1749139" y="2520456"/>
                  <a:ext cx="322500" cy="322500"/>
                  <a:chOff x="1749139" y="2520456"/>
                  <a:chExt cx="322500" cy="322500"/>
                </a:xfrm>
              </p:grpSpPr>
              <p:sp>
                <p:nvSpPr>
                  <p:cNvPr id="14" name="struct.dot.1"/>
                  <p:cNvSpPr/>
                  <p:nvPr/>
                </p:nvSpPr>
                <p:spPr>
                  <a:xfrm>
                    <a:off x="1749139" y="2520456"/>
                    <a:ext cx="322500" cy="322500"/>
                  </a:xfrm>
                  <a:prstGeom prst="ellipse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tx1">
                          <a:lumMod val="90000"/>
                          <a:lumOff val="10000"/>
                        </a:schemeClr>
                      </a:buClr>
                      <a:buSzPts val="1400"/>
                      <a:buFont typeface="Arial"/>
                      <a:buNone/>
                      <a:tabLst/>
                      <a:defRPr/>
                    </a:pPr>
                    <a:endParaRPr kumimoji="0" sz="14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uLnTx/>
                      <a:uFillTx/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grpSp>
                <p:nvGrpSpPr>
                  <p:cNvPr id="15" name="struct.group.5"/>
                  <p:cNvGrpSpPr/>
                  <p:nvPr/>
                </p:nvGrpSpPr>
                <p:grpSpPr>
                  <a:xfrm>
                    <a:off x="1838448" y="2701312"/>
                    <a:ext cx="147000" cy="90000"/>
                    <a:chOff x="1838448" y="2701312"/>
                    <a:chExt cx="147000" cy="90000"/>
                  </a:xfrm>
                </p:grpSpPr>
              </p:grpSp>
            </p:grpSp>
            <p:sp>
              <p:nvSpPr>
                <p:cNvPr id="16" name="slot.today.member.2"/>
                <p:cNvSpPr txBox="1"/>
                <p:nvPr/>
              </p:nvSpPr>
              <p:spPr>
                <a:xfrm>
                  <a:off x="2121408" y="2560320"/>
                  <a:ext cx="868680" cy="2560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 rtlCol="0">
                  <a:noAutofit/>
                </a:bodyPr>
                <a:lstStyle/>
                <a:p>
                  <a:pPr marL="0" indent="0" lv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00" b="0" i="0" kern="0" dirty="0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latin typeface="Arial"/>
                      <a:ea typeface="Arial"/>
                      <a:cs typeface="Arial"/>
                    </a:rPr>
                    <a:t>Rules</a:t>
                  </a:r>
                  <a:endPara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endParaRPr>
                </a:p>
                <a:p>
                  <a:pPr marL="0" indent="0" lv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00" b="0" i="0" kern="0" dirty="0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latin typeface="Arial"/>
                      <a:ea typeface="Arial"/>
                      <a:cs typeface="Arial"/>
                    </a:rPr>
                    <a:t>macros</a:t>
                  </a:r>
                  <a:endPara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endParaRPr>
                </a:p>
              </p:txBody>
            </p:sp>
          </p:grpSp>
          <p:grpSp>
            <p:nvGrpSpPr>
              <p:cNvPr id="17" name="struct.group.6"/>
              <p:cNvGrpSpPr/>
              <p:nvPr/>
            </p:nvGrpSpPr>
            <p:grpSpPr>
              <a:xfrm>
                <a:off x="595948" y="2520456"/>
                <a:ext cx="990267" cy="322500"/>
                <a:chOff x="595948" y="2520456"/>
                <a:chExt cx="990267" cy="322500"/>
              </a:xfrm>
            </p:grpSpPr>
            <p:sp>
              <p:nvSpPr>
                <p:cNvPr id="18" name="slot.today.member.1"/>
                <p:cNvSpPr txBox="1"/>
                <p:nvPr/>
              </p:nvSpPr>
              <p:spPr>
                <a:xfrm>
                  <a:off x="969264" y="2560320"/>
                  <a:ext cx="731520" cy="2560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 rtlCol="0">
                  <a:noAutofit/>
                </a:bodyPr>
                <a:lstStyle/>
                <a:p>
                  <a:pPr marL="0" indent="0" lv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00" b="0" i="0" kern="0" dirty="0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latin typeface="Arial"/>
                      <a:ea typeface="Arial"/>
                      <a:cs typeface="Arial"/>
                    </a:rPr>
                    <a:t>Claims</a:t>
                  </a:r>
                  <a:endPara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endParaRPr>
                </a:p>
                <a:p>
                  <a:pPr marL="0" indent="0" lv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800" b="0" i="0" kern="0" dirty="0"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latin typeface="Arial"/>
                      <a:ea typeface="Arial"/>
                      <a:cs typeface="Arial"/>
                    </a:rPr>
                    <a:t>handler</a:t>
                  </a:r>
                  <a:endPara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endParaRPr>
                </a:p>
              </p:txBody>
            </p:sp>
            <p:grpSp>
              <p:nvGrpSpPr>
                <p:cNvPr id="19" name="struct.group.7"/>
                <p:cNvGrpSpPr/>
                <p:nvPr/>
              </p:nvGrpSpPr>
              <p:grpSpPr>
                <a:xfrm>
                  <a:off x="595948" y="2520456"/>
                  <a:ext cx="322500" cy="322500"/>
                  <a:chOff x="595948" y="2520456"/>
                  <a:chExt cx="322500" cy="322500"/>
                </a:xfrm>
              </p:grpSpPr>
              <p:sp>
                <p:nvSpPr>
                  <p:cNvPr id="20" name="struct.dot.2"/>
                  <p:cNvSpPr/>
                  <p:nvPr/>
                </p:nvSpPr>
                <p:spPr>
                  <a:xfrm>
                    <a:off x="595948" y="2520456"/>
                    <a:ext cx="322500" cy="322500"/>
                  </a:xfrm>
                  <a:prstGeom prst="ellipse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tx1">
                          <a:lumMod val="90000"/>
                          <a:lumOff val="10000"/>
                        </a:schemeClr>
                      </a:buClr>
                      <a:buSzPts val="1400"/>
                      <a:buFont typeface="Arial"/>
                      <a:buNone/>
                      <a:tabLst/>
                      <a:defRPr/>
                    </a:pPr>
                    <a:endParaRPr kumimoji="0" sz="1400" b="0" i="0" u="none" strike="noStrike" kern="0" cap="none" spc="0" normalizeH="0" baseline="0" noProof="0">
                      <a:ln>
                        <a:noFill/>
                      </a:ln>
                      <a:solidFill>
                        <a:schemeClr val="tx1">
                          <a:lumMod val="90000"/>
                          <a:lumOff val="10000"/>
                        </a:schemeClr>
                      </a:solidFill>
                      <a:uLnTx/>
                      <a:uFillTx/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21" name="slot.today.head"/>
            <p:cNvSpPr txBox="1"/>
            <p:nvPr/>
          </p:nvSpPr>
          <p:spPr>
            <a:xfrm>
              <a:off x="548640" y="2258568"/>
              <a:ext cx="914400" cy="1737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0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Claims desk</a:t>
              </a:r>
              <a:endPara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22" name="struct.today.arrow.2"/>
            <p:cNvCxnSpPr/>
            <p:nvPr/>
          </p:nvCxnSpPr>
          <p:spPr>
            <a:xfrm>
              <a:off x="1810512" y="4873752"/>
              <a:ext cx="0" cy="402336"/>
            </a:xfrm>
            <a:prstGeom prst="straightConnector1">
              <a:avLst/>
            </a:prstGeom>
            <a:noFill/>
            <a:ln w="14250" cap="flat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triangle" w="sm" len="sm"/>
              <a:tailEnd type="triangle" w="sm" len="sm"/>
            </a:ln>
          </p:spPr>
        </p:cxnSp>
        <p:grpSp>
          <p:nvGrpSpPr>
            <p:cNvPr id="23" name="struct.group.8"/>
            <p:cNvGrpSpPr/>
            <p:nvPr/>
          </p:nvGrpSpPr>
          <p:grpSpPr>
            <a:xfrm>
              <a:off x="454849" y="3182328"/>
              <a:ext cx="2719767" cy="1734284"/>
              <a:chOff x="454849" y="3182328"/>
              <a:chExt cx="2719767" cy="1734284"/>
            </a:xfrm>
          </p:grpSpPr>
          <p:sp>
            <p:nvSpPr>
              <p:cNvPr id="24" name="struct.box.2"/>
              <p:cNvSpPr/>
              <p:nvPr/>
            </p:nvSpPr>
            <p:spPr>
              <a:xfrm>
                <a:off x="1544912" y="3795856"/>
                <a:ext cx="464700" cy="1049400"/>
              </a:xfrm>
              <a:prstGeom prst="roundRect">
                <a:avLst>
                  <a:gd name="adj" fmla="val 9839"/>
                </a:avLst>
              </a:prstGeom>
              <a:solidFill>
                <a:schemeClr val="bg1"/>
              </a:solidFill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400"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" name="struct.link.1"/>
              <p:cNvSpPr/>
              <p:nvPr/>
            </p:nvSpPr>
            <p:spPr>
              <a:xfrm>
                <a:off x="1093375" y="3658165"/>
                <a:ext cx="1367788" cy="353569"/>
              </a:xfrm>
              <a:custGeom>
                <a:avLst/>
                <a:gdLst/>
                <a:ahLst/>
                <a:cxnLst/>
                <a:rect l="l" t="t" r="r" b="b"/>
                <a:pathLst>
                  <a:path w="4757523" h="1229805" extrusionOk="0">
                    <a:moveTo>
                      <a:pt x="0" y="1229805"/>
                    </a:moveTo>
                    <a:lnTo>
                      <a:pt x="1148466" y="1229805"/>
                    </a:lnTo>
                    <a:cubicBezTo>
                      <a:pt x="1148466" y="550702"/>
                      <a:pt x="1699388" y="0"/>
                      <a:pt x="2378762" y="0"/>
                    </a:cubicBezTo>
                    <a:cubicBezTo>
                      <a:pt x="3058136" y="0"/>
                      <a:pt x="3609057" y="550702"/>
                      <a:pt x="3609057" y="1229805"/>
                    </a:cubicBezTo>
                    <a:lnTo>
                      <a:pt x="4757524" y="1229805"/>
                    </a:lnTo>
                  </a:path>
                </a:pathLst>
              </a:custGeom>
              <a:noFill/>
              <a:ln w="9525" cap="flat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" name="struct.dot.3"/>
              <p:cNvSpPr/>
              <p:nvPr/>
            </p:nvSpPr>
            <p:spPr>
              <a:xfrm>
                <a:off x="1402414" y="3990528"/>
                <a:ext cx="40200" cy="402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accent1"/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" name="struct.today.channel.4"/>
              <p:cNvSpPr/>
              <p:nvPr/>
            </p:nvSpPr>
            <p:spPr>
              <a:xfrm>
                <a:off x="2186064" y="3903007"/>
                <a:ext cx="215400" cy="2154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" name="struct.dot.4"/>
              <p:cNvSpPr/>
              <p:nvPr/>
            </p:nvSpPr>
            <p:spPr>
              <a:xfrm>
                <a:off x="2107508" y="3990528"/>
                <a:ext cx="40200" cy="402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accent1"/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" name="struct.link.2"/>
              <p:cNvSpPr/>
              <p:nvPr/>
            </p:nvSpPr>
            <p:spPr>
              <a:xfrm>
                <a:off x="1541968" y="3666057"/>
                <a:ext cx="44316" cy="44299"/>
              </a:xfrm>
              <a:custGeom>
                <a:avLst/>
                <a:gdLst/>
                <a:ahLst/>
                <a:cxnLst/>
                <a:rect l="l" t="t" r="r" b="b"/>
                <a:pathLst>
                  <a:path w="154143" h="154082" extrusionOk="0">
                    <a:moveTo>
                      <a:pt x="0" y="0"/>
                    </a:moveTo>
                    <a:lnTo>
                      <a:pt x="154144" y="154082"/>
                    </a:lnTo>
                  </a:path>
                </a:pathLst>
              </a:custGeom>
              <a:noFill/>
              <a:ln w="9525" cap="flat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" name="struct.dot.5"/>
              <p:cNvSpPr/>
              <p:nvPr/>
            </p:nvSpPr>
            <p:spPr>
              <a:xfrm>
                <a:off x="1564607" y="3688414"/>
                <a:ext cx="40200" cy="402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accent1"/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" name="struct.today.channel.2"/>
              <p:cNvSpPr/>
              <p:nvPr/>
            </p:nvSpPr>
            <p:spPr>
              <a:xfrm>
                <a:off x="1363853" y="3480380"/>
                <a:ext cx="215400" cy="2154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" name="struct.today.channel.3"/>
              <p:cNvSpPr/>
              <p:nvPr/>
            </p:nvSpPr>
            <p:spPr>
              <a:xfrm>
                <a:off x="1982034" y="3480380"/>
                <a:ext cx="215400" cy="2154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" name="struct.link.3"/>
              <p:cNvSpPr/>
              <p:nvPr/>
            </p:nvSpPr>
            <p:spPr>
              <a:xfrm>
                <a:off x="1975214" y="3666057"/>
                <a:ext cx="44316" cy="44299"/>
              </a:xfrm>
              <a:custGeom>
                <a:avLst/>
                <a:gdLst/>
                <a:ahLst/>
                <a:cxnLst/>
                <a:rect l="l" t="t" r="r" b="b"/>
                <a:pathLst>
                  <a:path w="154143" h="154082" extrusionOk="0">
                    <a:moveTo>
                      <a:pt x="154144" y="0"/>
                    </a:moveTo>
                    <a:lnTo>
                      <a:pt x="0" y="154082"/>
                    </a:lnTo>
                  </a:path>
                </a:pathLst>
              </a:custGeom>
              <a:noFill/>
              <a:ln w="9525" cap="flat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" name="struct.dot.6"/>
              <p:cNvSpPr/>
              <p:nvPr/>
            </p:nvSpPr>
            <p:spPr>
              <a:xfrm>
                <a:off x="1956667" y="3688414"/>
                <a:ext cx="40200" cy="402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accent1"/>
                </a:solidFill>
                <a:prstDash val="solid"/>
                <a:miter lim="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" name="slot.today.hub.label"/>
              <p:cNvSpPr txBox="1"/>
              <p:nvPr/>
            </p:nvSpPr>
            <p:spPr>
              <a:xfrm>
                <a:off x="1554480" y="4059936"/>
                <a:ext cx="457200" cy="1463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1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Handler</a:t>
                </a:r>
                <a:endParaRPr lang="en-US" sz="80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36" name="slot.today.task.2"/>
              <p:cNvSpPr/>
              <p:nvPr/>
            </p:nvSpPr>
            <p:spPr>
              <a:xfrm>
                <a:off x="1915610" y="3182328"/>
                <a:ext cx="1067100" cy="229800"/>
              </a:xfrm>
              <a:prstGeom prst="roundRect">
                <a:avLst>
                  <a:gd name="adj" fmla="val 19896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Policy lookups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37" name="slot.today.task.1"/>
              <p:cNvSpPr/>
              <p:nvPr/>
            </p:nvSpPr>
            <p:spPr>
              <a:xfrm>
                <a:off x="685639" y="3182328"/>
                <a:ext cx="1067700" cy="229800"/>
              </a:xfrm>
              <a:prstGeom prst="roundRect">
                <a:avLst>
                  <a:gd name="adj" fmla="val 19896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Calls and email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38" name="slot.today.task.7"/>
              <p:cNvSpPr/>
              <p:nvPr/>
            </p:nvSpPr>
            <p:spPr>
              <a:xfrm>
                <a:off x="2536516" y="4050808"/>
                <a:ext cx="638100" cy="370800"/>
              </a:xfrm>
              <a:prstGeom prst="roundRect">
                <a:avLst>
                  <a:gd name="adj" fmla="val 12330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Payment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sign-off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39" name="slot.today.task.6"/>
              <p:cNvSpPr/>
              <p:nvPr/>
            </p:nvSpPr>
            <p:spPr>
              <a:xfrm>
                <a:off x="2536515" y="3609444"/>
                <a:ext cx="634500" cy="345000"/>
              </a:xfrm>
              <a:prstGeom prst="roundRect">
                <a:avLst>
                  <a:gd name="adj" fmla="val 13252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Manual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checks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40" name="slot.today.task.4"/>
              <p:cNvSpPr/>
              <p:nvPr/>
            </p:nvSpPr>
            <p:spPr>
              <a:xfrm>
                <a:off x="454849" y="4114682"/>
                <a:ext cx="680100" cy="269700"/>
              </a:xfrm>
              <a:prstGeom prst="roundRect">
                <a:avLst>
                  <a:gd name="adj" fmla="val 16952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Shared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sheets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41" name="slot.today.task.3"/>
              <p:cNvSpPr/>
              <p:nvPr/>
            </p:nvSpPr>
            <p:spPr>
              <a:xfrm>
                <a:off x="454849" y="3625271"/>
                <a:ext cx="680100" cy="269700"/>
              </a:xfrm>
              <a:prstGeom prst="roundRect">
                <a:avLst>
                  <a:gd name="adj" fmla="val 16952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Paper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forms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42" name="struct.today.channel.1"/>
              <p:cNvSpPr/>
              <p:nvPr/>
            </p:nvSpPr>
            <p:spPr>
              <a:xfrm>
                <a:off x="1149018" y="3903007"/>
                <a:ext cx="215400" cy="2154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" name="struct.today.channel.5"/>
              <p:cNvSpPr/>
              <p:nvPr/>
            </p:nvSpPr>
            <p:spPr>
              <a:xfrm>
                <a:off x="1187014" y="4399107"/>
                <a:ext cx="215400" cy="2154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788"/>
                  <a:buFont typeface="Arial"/>
                  <a:buNone/>
                  <a:tabLst/>
                  <a:defRPr/>
                </a:pPr>
                <a:endParaRPr kumimoji="0" sz="788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uLnTx/>
                  <a:uFillTx/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" name="slot.today.task.5"/>
              <p:cNvSpPr/>
              <p:nvPr/>
            </p:nvSpPr>
            <p:spPr>
              <a:xfrm>
                <a:off x="454849" y="4646912"/>
                <a:ext cx="680100" cy="269700"/>
              </a:xfrm>
              <a:prstGeom prst="roundRect">
                <a:avLst>
                  <a:gd name="adj" fmla="val 16952"/>
                </a:avLst>
              </a:prstGeom>
              <a:noFill/>
              <a:ln w="9525" cap="flat" cmpd="sng">
                <a:solidFill>
                  <a:schemeClr val="bg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27432" tIns="0" rIns="27432" bIns="0" anchor="ctr" anchorCtr="0" rtlCol="0">
                <a:noAutofit/>
              </a:bodyPr>
              <a:lstStyle/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Rekeyed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 b="0" i="0" kern="0" dirty="0">
                    <a:solidFill>
                      <a:schemeClr val="tx1">
                        <a:lumMod val="90000"/>
                        <a:lumOff val="10000"/>
                      </a:schemeClr>
                    </a:solidFill>
                    <a:latin typeface="Arial"/>
                    <a:ea typeface="Arial"/>
                    <a:cs typeface="Arial"/>
                  </a:rPr>
                  <a:t>data</a:t>
                </a:r>
                <a:endPara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</p:grpSp>
        <p:sp>
          <p:nvSpPr>
            <p:cNvPr id="45" name="struct.box.3"/>
            <p:cNvSpPr/>
            <p:nvPr/>
          </p:nvSpPr>
          <p:spPr>
            <a:xfrm rot="5400000">
              <a:off x="1477639" y="4276484"/>
              <a:ext cx="670800" cy="2716200"/>
            </a:xfrm>
            <a:prstGeom prst="roundRect">
              <a:avLst>
                <a:gd name="adj" fmla="val 6816"/>
              </a:avLst>
            </a:prstGeom>
            <a:solidFill>
              <a:schemeClr val="bg1">
                <a:lumMod val="95000"/>
              </a:schemeClr>
            </a:solidFill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slot.today.tools.head"/>
            <p:cNvSpPr/>
            <p:nvPr/>
          </p:nvSpPr>
          <p:spPr>
            <a:xfrm>
              <a:off x="731520" y="5330952"/>
              <a:ext cx="2157984" cy="164592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Four tools, rekeyed by hand</a:t>
              </a:r>
              <a:endPara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7" name="struct.today.tools.2"/>
            <p:cNvSpPr/>
            <p:nvPr/>
          </p:nvSpPr>
          <p:spPr>
            <a:xfrm>
              <a:off x="1202566" y="5527757"/>
              <a:ext cx="566100" cy="230400"/>
            </a:xfrm>
            <a:prstGeom prst="roundRect">
              <a:avLst>
                <a:gd name="adj" fmla="val 19844"/>
              </a:avLst>
            </a:prstGeom>
            <a:solidFill>
              <a:schemeClr val="bg1"/>
            </a:solidFill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00"/>
                <a:buFont typeface="Arial"/>
                <a:buNone/>
                <a:tabLst/>
                <a:defRPr/>
              </a:pPr>
              <a:endParaRPr kumimoji="0" sz="7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struct.today.tools.1"/>
            <p:cNvSpPr/>
            <p:nvPr/>
          </p:nvSpPr>
          <p:spPr>
            <a:xfrm>
              <a:off x="547950" y="5527757"/>
              <a:ext cx="566100" cy="230400"/>
            </a:xfrm>
            <a:prstGeom prst="roundRect">
              <a:avLst>
                <a:gd name="adj" fmla="val 19844"/>
              </a:avLst>
            </a:prstGeom>
            <a:solidFill>
              <a:schemeClr val="bg1"/>
            </a:solidFill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00"/>
                <a:buFont typeface="Arial"/>
                <a:buNone/>
                <a:tabLst/>
                <a:defRPr/>
              </a:pPr>
              <a:endParaRPr kumimoji="0" sz="7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struct.today.tools.3"/>
            <p:cNvSpPr/>
            <p:nvPr/>
          </p:nvSpPr>
          <p:spPr>
            <a:xfrm>
              <a:off x="1857182" y="5527757"/>
              <a:ext cx="566100" cy="230400"/>
            </a:xfrm>
            <a:prstGeom prst="roundRect">
              <a:avLst>
                <a:gd name="adj" fmla="val 19844"/>
              </a:avLst>
            </a:prstGeom>
            <a:solidFill>
              <a:schemeClr val="bg1"/>
            </a:solidFill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00"/>
                <a:buFont typeface="Arial"/>
                <a:buNone/>
                <a:tabLst/>
                <a:defRPr/>
              </a:pPr>
              <a:endParaRPr kumimoji="0" sz="7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struct.today.tools.4"/>
            <p:cNvSpPr/>
            <p:nvPr/>
          </p:nvSpPr>
          <p:spPr>
            <a:xfrm>
              <a:off x="2511797" y="5527757"/>
              <a:ext cx="566100" cy="230400"/>
            </a:xfrm>
            <a:prstGeom prst="roundRect">
              <a:avLst>
                <a:gd name="adj" fmla="val 19844"/>
              </a:avLst>
            </a:prstGeom>
            <a:solidFill>
              <a:schemeClr val="bg1"/>
            </a:solidFill>
            <a:ln w="9525" cap="flat" cmpd="sng">
              <a:solidFill>
                <a:schemeClr val="bg1">
                  <a:lumMod val="7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00"/>
                <a:buFont typeface="Arial"/>
                <a:buNone/>
                <a:tabLst/>
                <a:defRPr/>
              </a:pPr>
              <a:endParaRPr kumimoji="0" sz="7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slot.today.tools.note"/>
            <p:cNvSpPr/>
            <p:nvPr/>
          </p:nvSpPr>
          <p:spPr>
            <a:xfrm>
              <a:off x="731520" y="5779008"/>
              <a:ext cx="2157984" cy="164592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Case history split four ways</a:t>
              </a:r>
              <a:endPara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2" name="slot.today.hub.sub"/>
            <p:cNvSpPr txBox="1"/>
            <p:nvPr/>
          </p:nvSpPr>
          <p:spPr>
            <a:xfrm>
              <a:off x="1554480" y="4544568"/>
              <a:ext cx="457200" cy="1463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b="0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Inbox</a:t>
              </a:r>
              <a:endPara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53" name="slot.horizon.3.label"/>
          <p:cNvSpPr/>
          <p:nvPr/>
        </p:nvSpPr>
        <p:spPr>
          <a:xfrm>
            <a:off x="6075983" y="1051374"/>
            <a:ext cx="2909100" cy="385800"/>
          </a:xfrm>
          <a:prstGeom prst="chevron">
            <a:avLst>
              <a:gd name="adj" fmla="val 34079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Year 2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horizon.3.team"/>
          <p:cNvSpPr/>
          <p:nvPr/>
        </p:nvSpPr>
        <p:spPr>
          <a:xfrm>
            <a:off x="6729984" y="1673352"/>
            <a:ext cx="56692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3 pods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5" name="struct.line.4"/>
          <p:cNvCxnSpPr/>
          <p:nvPr/>
        </p:nvCxnSpPr>
        <p:spPr>
          <a:xfrm>
            <a:off x="7530588" y="2057792"/>
            <a:ext cx="0" cy="179273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6" name="struct.horizon.3.tray"/>
          <p:cNvSpPr/>
          <p:nvPr/>
        </p:nvSpPr>
        <p:spPr>
          <a:xfrm rot="5400000">
            <a:off x="7326265" y="4133794"/>
            <a:ext cx="459000" cy="2626500"/>
          </a:xfrm>
          <a:prstGeom prst="roundRect">
            <a:avLst>
              <a:gd name="adj" fmla="val 9961"/>
            </a:avLst>
          </a:prstGeom>
          <a:solidFill>
            <a:schemeClr val="bg1">
              <a:lumMod val="95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struct.dot.7"/>
          <p:cNvSpPr/>
          <p:nvPr/>
        </p:nvSpPr>
        <p:spPr>
          <a:xfrm>
            <a:off x="7795093" y="5288670"/>
            <a:ext cx="227100" cy="2271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slot.horizon.3.tool.4"/>
          <p:cNvSpPr txBox="1"/>
          <p:nvPr/>
        </p:nvSpPr>
        <p:spPr>
          <a:xfrm>
            <a:off x="7702905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Queue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horizon.3.tool.3"/>
          <p:cNvSpPr txBox="1"/>
          <p:nvPr/>
        </p:nvSpPr>
        <p:spPr>
          <a:xfrm>
            <a:off x="7160666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horizon.3.tool.2"/>
          <p:cNvSpPr txBox="1"/>
          <p:nvPr/>
        </p:nvSpPr>
        <p:spPr>
          <a:xfrm>
            <a:off x="6663232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horizon.3.tool.1"/>
          <p:cNvSpPr txBox="1"/>
          <p:nvPr/>
        </p:nvSpPr>
        <p:spPr>
          <a:xfrm>
            <a:off x="6227064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Inbox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horizon.3.tool.note"/>
          <p:cNvSpPr txBox="1"/>
          <p:nvPr/>
        </p:nvSpPr>
        <p:spPr>
          <a:xfrm>
            <a:off x="8278977" y="5276088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Live case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scoring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truct.horizon.3.strip"/>
          <p:cNvSpPr/>
          <p:nvPr/>
        </p:nvSpPr>
        <p:spPr>
          <a:xfrm rot="5400000">
            <a:off x="7432914" y="4816950"/>
            <a:ext cx="245700" cy="2626500"/>
          </a:xfrm>
          <a:prstGeom prst="roundRect">
            <a:avLst>
              <a:gd name="adj" fmla="val 18608"/>
            </a:avLst>
          </a:prstGeom>
          <a:solidFill>
            <a:schemeClr val="bg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struct.line.5"/>
          <p:cNvCxnSpPr/>
          <p:nvPr/>
        </p:nvCxnSpPr>
        <p:spPr>
          <a:xfrm>
            <a:off x="7525553" y="5724656"/>
            <a:ext cx="0" cy="2358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5" name="slot.horizon.3.outcome"/>
          <p:cNvSpPr/>
          <p:nvPr/>
        </p:nvSpPr>
        <p:spPr>
          <a:xfrm>
            <a:off x="6797649" y="6025896"/>
            <a:ext cx="1920240" cy="201168"/>
          </a:xfrm>
          <a:prstGeom prst="roundRect">
            <a:avLst>
              <a:gd name="adj" fmla="val 2272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 clear routine claims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truct.horizon.3.net"/>
          <p:cNvSpPr/>
          <p:nvPr/>
        </p:nvSpPr>
        <p:spPr>
          <a:xfrm>
            <a:off x="6635756" y="2289398"/>
            <a:ext cx="1846500" cy="2637300"/>
          </a:xfrm>
          <a:prstGeom prst="roundRect">
            <a:avLst>
              <a:gd name="adj" fmla="val 2476"/>
            </a:avLst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sz="62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" name="struct.group.9"/>
          <p:cNvGrpSpPr/>
          <p:nvPr/>
        </p:nvGrpSpPr>
        <p:grpSpPr>
          <a:xfrm>
            <a:off x="6923260" y="3425579"/>
            <a:ext cx="1100129" cy="649165"/>
            <a:chOff x="6923260" y="3425579"/>
            <a:chExt cx="1100129" cy="649165"/>
          </a:xfrm>
          <a:effectLst/>
        </p:grpSpPr>
        <p:sp>
          <p:nvSpPr>
            <p:cNvPr id="68" name="struct.link.4"/>
            <p:cNvSpPr/>
            <p:nvPr/>
          </p:nvSpPr>
          <p:spPr>
            <a:xfrm>
              <a:off x="6943081" y="3425579"/>
              <a:ext cx="1067307" cy="139462"/>
            </a:xfrm>
            <a:custGeom>
              <a:avLst/>
              <a:gdLst/>
              <a:ahLst/>
              <a:cxnLst/>
              <a:rect l="l" t="t" r="r" b="b"/>
              <a:pathLst>
                <a:path w="4492315" h="527469" extrusionOk="0">
                  <a:moveTo>
                    <a:pt x="0" y="338415"/>
                  </a:moveTo>
                  <a:lnTo>
                    <a:pt x="2259951" y="0"/>
                  </a:lnTo>
                  <a:lnTo>
                    <a:pt x="4492316" y="527469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struct.link.5"/>
            <p:cNvSpPr/>
            <p:nvPr/>
          </p:nvSpPr>
          <p:spPr>
            <a:xfrm>
              <a:off x="7659521" y="3615739"/>
              <a:ext cx="357367" cy="447561"/>
            </a:xfrm>
            <a:custGeom>
              <a:avLst/>
              <a:gdLst/>
              <a:ahLst/>
              <a:cxnLst/>
              <a:rect l="l" t="t" r="r" b="b"/>
              <a:pathLst>
                <a:path w="1504166" h="1692746" extrusionOk="0">
                  <a:moveTo>
                    <a:pt x="1504166" y="0"/>
                  </a:moveTo>
                  <a:lnTo>
                    <a:pt x="0" y="1692746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struct.link.6"/>
            <p:cNvSpPr/>
            <p:nvPr/>
          </p:nvSpPr>
          <p:spPr>
            <a:xfrm>
              <a:off x="6998655" y="4058853"/>
              <a:ext cx="632413" cy="15417"/>
            </a:xfrm>
            <a:custGeom>
              <a:avLst/>
              <a:gdLst/>
              <a:ahLst/>
              <a:cxnLst/>
              <a:rect l="l" t="t" r="r" b="b"/>
              <a:pathLst>
                <a:path w="2661838" h="58308" extrusionOk="0">
                  <a:moveTo>
                    <a:pt x="2661839" y="58309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struct.link.7"/>
            <p:cNvSpPr/>
            <p:nvPr/>
          </p:nvSpPr>
          <p:spPr>
            <a:xfrm>
              <a:off x="6924965" y="3533200"/>
              <a:ext cx="57812" cy="502943"/>
            </a:xfrm>
            <a:custGeom>
              <a:avLst/>
              <a:gdLst/>
              <a:ahLst/>
              <a:cxnLst/>
              <a:rect l="l" t="t" r="r" b="b"/>
              <a:pathLst>
                <a:path w="243330" h="1902209" extrusionOk="0">
                  <a:moveTo>
                    <a:pt x="243331" y="1902209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struct.link.8"/>
          <p:cNvSpPr/>
          <p:nvPr/>
        </p:nvSpPr>
        <p:spPr>
          <a:xfrm>
            <a:off x="7059070" y="2996750"/>
            <a:ext cx="471790" cy="410421"/>
          </a:xfrm>
          <a:custGeom>
            <a:avLst/>
            <a:gdLst/>
            <a:ahLst/>
            <a:cxnLst/>
            <a:rect l="l" t="t" r="r" b="b"/>
            <a:pathLst>
              <a:path w="1945526" h="1465790" extrusionOk="0">
                <a:moveTo>
                  <a:pt x="0" y="0"/>
                </a:moveTo>
                <a:lnTo>
                  <a:pt x="1945526" y="1465791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struct.link.9"/>
          <p:cNvSpPr/>
          <p:nvPr/>
        </p:nvSpPr>
        <p:spPr>
          <a:xfrm>
            <a:off x="7552814" y="3072806"/>
            <a:ext cx="433440" cy="331064"/>
          </a:xfrm>
          <a:custGeom>
            <a:avLst/>
            <a:gdLst/>
            <a:ahLst/>
            <a:cxnLst/>
            <a:rect l="l" t="t" r="r" b="b"/>
            <a:pathLst>
              <a:path w="2039718" h="1471397" extrusionOk="0">
                <a:moveTo>
                  <a:pt x="0" y="1471398"/>
                </a:moveTo>
                <a:lnTo>
                  <a:pt x="2039719" y="0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struct.link.10"/>
          <p:cNvSpPr/>
          <p:nvPr/>
        </p:nvSpPr>
        <p:spPr>
          <a:xfrm>
            <a:off x="7051653" y="2765962"/>
            <a:ext cx="927766" cy="210401"/>
          </a:xfrm>
          <a:custGeom>
            <a:avLst/>
            <a:gdLst/>
            <a:ahLst/>
            <a:cxnLst/>
            <a:rect l="l" t="t" r="r" b="b"/>
            <a:pathLst>
              <a:path w="4078092" h="744781" extrusionOk="0">
                <a:moveTo>
                  <a:pt x="4078092" y="734914"/>
                </a:moveTo>
                <a:lnTo>
                  <a:pt x="1926688" y="0"/>
                </a:lnTo>
                <a:lnTo>
                  <a:pt x="0" y="744782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" name="struct.group.10"/>
          <p:cNvGrpSpPr/>
          <p:nvPr/>
        </p:nvGrpSpPr>
        <p:grpSpPr>
          <a:xfrm>
            <a:off x="7518028" y="2820278"/>
            <a:ext cx="8672" cy="499004"/>
            <a:chOff x="7518028" y="2820278"/>
            <a:chExt cx="8672" cy="499004"/>
          </a:xfrm>
          <a:effectLst/>
        </p:grpSpPr>
        <p:sp>
          <p:nvSpPr>
            <p:cNvPr id="76" name="struct.link.11"/>
            <p:cNvSpPr/>
            <p:nvPr/>
          </p:nvSpPr>
          <p:spPr>
            <a:xfrm>
              <a:off x="7518360" y="2832838"/>
              <a:ext cx="8103" cy="467680"/>
            </a:xfrm>
            <a:custGeom>
              <a:avLst/>
              <a:gdLst/>
              <a:ahLst/>
              <a:cxnLst/>
              <a:rect l="l" t="t" r="r" b="b"/>
              <a:pathLst>
                <a:path w="38349" h="2079377" extrusionOk="0">
                  <a:moveTo>
                    <a:pt x="0" y="2079378"/>
                  </a:moveTo>
                  <a:lnTo>
                    <a:pt x="3835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" name="struct.group.11"/>
          <p:cNvGrpSpPr/>
          <p:nvPr/>
        </p:nvGrpSpPr>
        <p:grpSpPr>
          <a:xfrm>
            <a:off x="7017172" y="3518263"/>
            <a:ext cx="486394" cy="299485"/>
            <a:chOff x="7017172" y="3518263"/>
            <a:chExt cx="486394" cy="299485"/>
          </a:xfrm>
          <a:effectLst/>
        </p:grpSpPr>
        <p:sp>
          <p:nvSpPr>
            <p:cNvPr id="78" name="struct.link.12"/>
            <p:cNvSpPr/>
            <p:nvPr/>
          </p:nvSpPr>
          <p:spPr>
            <a:xfrm>
              <a:off x="7031687" y="3598607"/>
              <a:ext cx="302063" cy="212282"/>
            </a:xfrm>
            <a:custGeom>
              <a:avLst/>
              <a:gdLst/>
              <a:ahLst/>
              <a:cxnLst/>
              <a:rect l="l" t="t" r="r" b="b"/>
              <a:pathLst>
                <a:path w="1428139" h="943928" extrusionOk="0">
                  <a:moveTo>
                    <a:pt x="0" y="0"/>
                  </a:moveTo>
                  <a:lnTo>
                    <a:pt x="1428140" y="943928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struct.link.13"/>
            <p:cNvSpPr/>
            <p:nvPr/>
          </p:nvSpPr>
          <p:spPr>
            <a:xfrm>
              <a:off x="7352155" y="3529106"/>
              <a:ext cx="145624" cy="272452"/>
            </a:xfrm>
            <a:custGeom>
              <a:avLst/>
              <a:gdLst/>
              <a:ahLst/>
              <a:cxnLst/>
              <a:rect l="l" t="t" r="r" b="b"/>
              <a:pathLst>
                <a:path w="688503" h="1211475" extrusionOk="0">
                  <a:moveTo>
                    <a:pt x="0" y="1211475"/>
                  </a:moveTo>
                  <a:lnTo>
                    <a:pt x="688503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0" name="struct.group.12"/>
          <p:cNvGrpSpPr/>
          <p:nvPr/>
        </p:nvGrpSpPr>
        <p:grpSpPr>
          <a:xfrm>
            <a:off x="6981862" y="3782860"/>
            <a:ext cx="765490" cy="300664"/>
            <a:chOff x="6981862" y="3782860"/>
            <a:chExt cx="765490" cy="300664"/>
          </a:xfrm>
          <a:effectLst/>
        </p:grpSpPr>
        <p:sp>
          <p:nvSpPr>
            <p:cNvPr id="81" name="struct.link.14"/>
            <p:cNvSpPr/>
            <p:nvPr/>
          </p:nvSpPr>
          <p:spPr>
            <a:xfrm>
              <a:off x="6999685" y="3792915"/>
              <a:ext cx="327184" cy="275592"/>
            </a:xfrm>
            <a:custGeom>
              <a:avLst/>
              <a:gdLst/>
              <a:ahLst/>
              <a:cxnLst/>
              <a:rect l="l" t="t" r="r" b="b"/>
              <a:pathLst>
                <a:path w="1210375" h="958953" extrusionOk="0">
                  <a:moveTo>
                    <a:pt x="0" y="958954"/>
                  </a:moveTo>
                  <a:lnTo>
                    <a:pt x="1210375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struct.link.15"/>
            <p:cNvSpPr/>
            <p:nvPr/>
          </p:nvSpPr>
          <p:spPr>
            <a:xfrm>
              <a:off x="7357787" y="3796395"/>
              <a:ext cx="376895" cy="266956"/>
            </a:xfrm>
            <a:custGeom>
              <a:avLst/>
              <a:gdLst/>
              <a:ahLst/>
              <a:cxnLst/>
              <a:rect l="l" t="t" r="r" b="b"/>
              <a:pathLst>
                <a:path w="1394275" h="928902" extrusionOk="0">
                  <a:moveTo>
                    <a:pt x="0" y="0"/>
                  </a:moveTo>
                  <a:lnTo>
                    <a:pt x="1394275" y="928903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3" name="struct.group.13"/>
          <p:cNvGrpSpPr/>
          <p:nvPr/>
        </p:nvGrpSpPr>
        <p:grpSpPr>
          <a:xfrm>
            <a:off x="7382219" y="3564529"/>
            <a:ext cx="744476" cy="211379"/>
            <a:chOff x="7382219" y="3564529"/>
            <a:chExt cx="744476" cy="211379"/>
          </a:xfrm>
          <a:effectLst/>
        </p:grpSpPr>
        <p:sp>
          <p:nvSpPr>
            <p:cNvPr id="84" name="struct.link.16"/>
            <p:cNvSpPr/>
            <p:nvPr/>
          </p:nvSpPr>
          <p:spPr>
            <a:xfrm rot="21170153">
              <a:off x="7387353" y="3615710"/>
              <a:ext cx="726776" cy="111120"/>
            </a:xfrm>
            <a:custGeom>
              <a:avLst/>
              <a:gdLst/>
              <a:ahLst/>
              <a:cxnLst/>
              <a:rect l="l" t="t" r="r" b="b"/>
              <a:pathLst>
                <a:path w="2665875" h="494278" extrusionOk="0">
                  <a:moveTo>
                    <a:pt x="2665876" y="0"/>
                  </a:moveTo>
                  <a:lnTo>
                    <a:pt x="0" y="494279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" name="struct.group.14"/>
          <p:cNvGrpSpPr/>
          <p:nvPr/>
        </p:nvGrpSpPr>
        <p:grpSpPr>
          <a:xfrm>
            <a:off x="7585666" y="3458352"/>
            <a:ext cx="542473" cy="577106"/>
            <a:chOff x="7585666" y="3458352"/>
            <a:chExt cx="542473" cy="577106"/>
          </a:xfrm>
          <a:effectLst/>
        </p:grpSpPr>
        <p:sp>
          <p:nvSpPr>
            <p:cNvPr id="86" name="struct.link.17"/>
            <p:cNvSpPr/>
            <p:nvPr/>
          </p:nvSpPr>
          <p:spPr>
            <a:xfrm>
              <a:off x="7596404" y="3469768"/>
              <a:ext cx="515506" cy="548501"/>
            </a:xfrm>
            <a:custGeom>
              <a:avLst/>
              <a:gdLst/>
              <a:ahLst/>
              <a:cxnLst/>
              <a:rect l="l" t="t" r="r" b="b"/>
              <a:pathLst>
                <a:path w="1916371" h="1917907" extrusionOk="0">
                  <a:moveTo>
                    <a:pt x="1916371" y="1917907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275" tIns="58125" rIns="116275" bIns="581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3"/>
                <a:buFont typeface="Arial"/>
                <a:buNone/>
                <a:tabLst/>
                <a:defRPr/>
              </a:pPr>
              <a:endParaRPr kumimoji="0" sz="636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" name="struct.group.15"/>
          <p:cNvGrpSpPr/>
          <p:nvPr/>
        </p:nvGrpSpPr>
        <p:grpSpPr>
          <a:xfrm>
            <a:off x="7550440" y="3501470"/>
            <a:ext cx="176709" cy="492236"/>
            <a:chOff x="7550440" y="3501470"/>
            <a:chExt cx="176709" cy="492236"/>
          </a:xfrm>
          <a:effectLst/>
        </p:grpSpPr>
        <p:sp>
          <p:nvSpPr>
            <p:cNvPr id="88" name="struct.link.18"/>
            <p:cNvSpPr/>
            <p:nvPr/>
          </p:nvSpPr>
          <p:spPr>
            <a:xfrm rot="21149909">
              <a:off x="7603382" y="3505439"/>
              <a:ext cx="92549" cy="484298"/>
            </a:xfrm>
            <a:custGeom>
              <a:avLst/>
              <a:gdLst/>
              <a:ahLst/>
              <a:cxnLst/>
              <a:rect l="l" t="t" r="r" b="b"/>
              <a:pathLst>
                <a:path w="437771" h="2154057" extrusionOk="0">
                  <a:moveTo>
                    <a:pt x="437771" y="2154058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9" name="struct.group.16"/>
          <p:cNvGrpSpPr/>
          <p:nvPr/>
        </p:nvGrpSpPr>
        <p:grpSpPr>
          <a:xfrm>
            <a:off x="6923255" y="2996787"/>
            <a:ext cx="98497" cy="460081"/>
            <a:chOff x="6923255" y="2996787"/>
            <a:chExt cx="98497" cy="460081"/>
          </a:xfrm>
          <a:effectLst/>
        </p:grpSpPr>
        <p:sp>
          <p:nvSpPr>
            <p:cNvPr id="90" name="struct.link.19"/>
            <p:cNvSpPr/>
            <p:nvPr/>
          </p:nvSpPr>
          <p:spPr>
            <a:xfrm>
              <a:off x="6928078" y="3012143"/>
              <a:ext cx="90520" cy="421689"/>
            </a:xfrm>
            <a:custGeom>
              <a:avLst/>
              <a:gdLst/>
              <a:ahLst/>
              <a:cxnLst/>
              <a:rect l="l" t="t" r="r" b="b"/>
              <a:pathLst>
                <a:path w="109442" h="1539573" extrusionOk="0">
                  <a:moveTo>
                    <a:pt x="0" y="1539574"/>
                  </a:moveTo>
                  <a:lnTo>
                    <a:pt x="109443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1" name="struct.group.17"/>
          <p:cNvGrpSpPr/>
          <p:nvPr/>
        </p:nvGrpSpPr>
        <p:grpSpPr>
          <a:xfrm>
            <a:off x="8107861" y="3072261"/>
            <a:ext cx="16269" cy="447679"/>
            <a:chOff x="8107861" y="3072261"/>
            <a:chExt cx="16269" cy="447679"/>
          </a:xfrm>
          <a:effectLst/>
        </p:grpSpPr>
        <p:sp>
          <p:nvSpPr>
            <p:cNvPr id="92" name="struct.link.20"/>
            <p:cNvSpPr/>
            <p:nvPr/>
          </p:nvSpPr>
          <p:spPr>
            <a:xfrm>
              <a:off x="8108525" y="3091024"/>
              <a:ext cx="15178" cy="416358"/>
            </a:xfrm>
            <a:custGeom>
              <a:avLst/>
              <a:gdLst/>
              <a:ahLst/>
              <a:cxnLst/>
              <a:rect l="l" t="t" r="r" b="b"/>
              <a:pathLst>
                <a:path w="71765" h="1851301" extrusionOk="0">
                  <a:moveTo>
                    <a:pt x="0" y="0"/>
                  </a:moveTo>
                  <a:lnTo>
                    <a:pt x="71766" y="185130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" name="struct.group.18"/>
          <p:cNvGrpSpPr/>
          <p:nvPr/>
        </p:nvGrpSpPr>
        <p:grpSpPr>
          <a:xfrm>
            <a:off x="7738627" y="4080447"/>
            <a:ext cx="371044" cy="5856"/>
            <a:chOff x="7738627" y="4080447"/>
            <a:chExt cx="371044" cy="5856"/>
          </a:xfrm>
          <a:effectLst/>
        </p:grpSpPr>
        <p:sp>
          <p:nvSpPr>
            <p:cNvPr id="94" name="struct.link.21"/>
            <p:cNvSpPr/>
            <p:nvPr/>
          </p:nvSpPr>
          <p:spPr>
            <a:xfrm>
              <a:off x="7750344" y="4080697"/>
              <a:ext cx="341823" cy="5406"/>
            </a:xfrm>
            <a:custGeom>
              <a:avLst/>
              <a:gdLst/>
              <a:ahLst/>
              <a:cxnLst/>
              <a:rect l="l" t="t" r="r" b="b"/>
              <a:pathLst>
                <a:path w="1616076" h="24220" extrusionOk="0">
                  <a:moveTo>
                    <a:pt x="1616077" y="0"/>
                  </a:moveTo>
                  <a:lnTo>
                    <a:pt x="0" y="2422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struct.group.19"/>
          <p:cNvGrpSpPr/>
          <p:nvPr/>
        </p:nvGrpSpPr>
        <p:grpSpPr>
          <a:xfrm>
            <a:off x="8128161" y="3666651"/>
            <a:ext cx="15416" cy="375554"/>
            <a:chOff x="8128161" y="3666651"/>
            <a:chExt cx="15416" cy="375554"/>
          </a:xfrm>
          <a:effectLst/>
        </p:grpSpPr>
        <p:sp>
          <p:nvSpPr>
            <p:cNvPr id="96" name="struct.link.22"/>
            <p:cNvSpPr/>
            <p:nvPr/>
          </p:nvSpPr>
          <p:spPr>
            <a:xfrm>
              <a:off x="8128161" y="3666651"/>
              <a:ext cx="14894" cy="363146"/>
            </a:xfrm>
            <a:custGeom>
              <a:avLst/>
              <a:gdLst/>
              <a:ahLst/>
              <a:cxnLst/>
              <a:rect l="l" t="t" r="r" b="b"/>
              <a:pathLst>
                <a:path w="70420" h="1614702" extrusionOk="0">
                  <a:moveTo>
                    <a:pt x="0" y="0"/>
                  </a:moveTo>
                  <a:lnTo>
                    <a:pt x="70420" y="1614702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97" name="struct.line.6"/>
          <p:cNvCxnSpPr/>
          <p:nvPr/>
        </p:nvCxnSpPr>
        <p:spPr>
          <a:xfrm>
            <a:off x="6976581" y="4195995"/>
            <a:ext cx="277800" cy="2187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98" name="struct.line.7"/>
          <p:cNvCxnSpPr/>
          <p:nvPr/>
        </p:nvCxnSpPr>
        <p:spPr>
          <a:xfrm rot="10800000" flipH="1">
            <a:off x="7414785" y="4184864"/>
            <a:ext cx="211200" cy="2298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99" name="struct.horizon.3.node.1"/>
          <p:cNvSpPr/>
          <p:nvPr/>
        </p:nvSpPr>
        <p:spPr>
          <a:xfrm>
            <a:off x="7221199" y="4381450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struct.horizon.3.node.2"/>
          <p:cNvSpPr/>
          <p:nvPr/>
        </p:nvSpPr>
        <p:spPr>
          <a:xfrm>
            <a:off x="6918937" y="2812820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" name="struct.group.20"/>
          <p:cNvGrpSpPr/>
          <p:nvPr/>
        </p:nvGrpSpPr>
        <p:grpSpPr>
          <a:xfrm>
            <a:off x="6974034" y="2933188"/>
            <a:ext cx="109610" cy="66996"/>
            <a:chOff x="6974034" y="2933188"/>
            <a:chExt cx="109610" cy="66996"/>
          </a:xfrm>
          <a:effectLst/>
        </p:grpSpPr>
      </p:grpSp>
      <p:sp>
        <p:nvSpPr>
          <p:cNvPr id="102" name="struct.horizon.3.node.3"/>
          <p:cNvSpPr/>
          <p:nvPr/>
        </p:nvSpPr>
        <p:spPr>
          <a:xfrm>
            <a:off x="6818502" y="3419603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" name="struct.group.21"/>
          <p:cNvGrpSpPr/>
          <p:nvPr/>
        </p:nvGrpSpPr>
        <p:grpSpPr>
          <a:xfrm>
            <a:off x="6872987" y="3545997"/>
            <a:ext cx="109610" cy="66996"/>
            <a:chOff x="6872987" y="3545997"/>
            <a:chExt cx="109610" cy="66996"/>
          </a:xfrm>
          <a:effectLst/>
        </p:grpSpPr>
      </p:grpSp>
      <p:sp>
        <p:nvSpPr>
          <p:cNvPr id="104" name="struct.horizon.3.node.4"/>
          <p:cNvSpPr/>
          <p:nvPr/>
        </p:nvSpPr>
        <p:spPr>
          <a:xfrm>
            <a:off x="6863181" y="3969195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struct.group.22"/>
          <p:cNvGrpSpPr/>
          <p:nvPr/>
        </p:nvGrpSpPr>
        <p:grpSpPr>
          <a:xfrm>
            <a:off x="6921821" y="4088349"/>
            <a:ext cx="109610" cy="66996"/>
            <a:chOff x="6921821" y="4088349"/>
            <a:chExt cx="109610" cy="66996"/>
          </a:xfrm>
          <a:effectLst/>
        </p:grpSpPr>
      </p:grpSp>
      <p:sp>
        <p:nvSpPr>
          <p:cNvPr id="106" name="struct.horizon.3.node.5"/>
          <p:cNvSpPr/>
          <p:nvPr/>
        </p:nvSpPr>
        <p:spPr>
          <a:xfrm>
            <a:off x="7204446" y="3682276"/>
            <a:ext cx="228900" cy="229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" name="struct.group.23"/>
          <p:cNvGrpSpPr/>
          <p:nvPr/>
        </p:nvGrpSpPr>
        <p:grpSpPr>
          <a:xfrm>
            <a:off x="7261575" y="3805165"/>
            <a:ext cx="109610" cy="66996"/>
            <a:chOff x="7261575" y="3805165"/>
            <a:chExt cx="109610" cy="66996"/>
          </a:xfrm>
          <a:effectLst/>
        </p:grpSpPr>
      </p:grpSp>
      <p:sp>
        <p:nvSpPr>
          <p:cNvPr id="108" name="struct.horizon.3.node.6"/>
          <p:cNvSpPr/>
          <p:nvPr/>
        </p:nvSpPr>
        <p:spPr>
          <a:xfrm>
            <a:off x="7418793" y="2665726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" name="struct.group.24"/>
          <p:cNvGrpSpPr/>
          <p:nvPr/>
        </p:nvGrpSpPr>
        <p:grpSpPr>
          <a:xfrm>
            <a:off x="7475223" y="2782508"/>
            <a:ext cx="109610" cy="66996"/>
            <a:chOff x="7475223" y="2782508"/>
            <a:chExt cx="109610" cy="66996"/>
          </a:xfrm>
          <a:effectLst/>
        </p:grpSpPr>
      </p:grpSp>
      <p:sp>
        <p:nvSpPr>
          <p:cNvPr id="110" name="struct.horizon.3.node.7"/>
          <p:cNvSpPr/>
          <p:nvPr/>
        </p:nvSpPr>
        <p:spPr>
          <a:xfrm>
            <a:off x="7984976" y="2890015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1" name="struct.group.25"/>
          <p:cNvGrpSpPr/>
          <p:nvPr/>
        </p:nvGrpSpPr>
        <p:grpSpPr>
          <a:xfrm>
            <a:off x="8043763" y="3008042"/>
            <a:ext cx="109610" cy="66996"/>
            <a:chOff x="8043763" y="3008042"/>
            <a:chExt cx="109610" cy="66996"/>
          </a:xfrm>
          <a:effectLst/>
        </p:grpSpPr>
      </p:grpSp>
      <p:sp>
        <p:nvSpPr>
          <p:cNvPr id="112" name="struct.horizon.3.node.8"/>
          <p:cNvSpPr/>
          <p:nvPr/>
        </p:nvSpPr>
        <p:spPr>
          <a:xfrm>
            <a:off x="8025406" y="3496767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" name="struct.group.26"/>
          <p:cNvGrpSpPr/>
          <p:nvPr/>
        </p:nvGrpSpPr>
        <p:grpSpPr>
          <a:xfrm>
            <a:off x="8082180" y="3616420"/>
            <a:ext cx="109610" cy="66996"/>
            <a:chOff x="8082180" y="3616420"/>
            <a:chExt cx="109610" cy="66996"/>
          </a:xfrm>
          <a:effectLst/>
        </p:grpSpPr>
      </p:grpSp>
      <p:sp>
        <p:nvSpPr>
          <p:cNvPr id="114" name="struct.horizon.3.node.9"/>
          <p:cNvSpPr/>
          <p:nvPr/>
        </p:nvSpPr>
        <p:spPr>
          <a:xfrm>
            <a:off x="8072854" y="3978220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struct.group.27"/>
          <p:cNvGrpSpPr/>
          <p:nvPr/>
        </p:nvGrpSpPr>
        <p:grpSpPr>
          <a:xfrm>
            <a:off x="8128218" y="4098781"/>
            <a:ext cx="109610" cy="66996"/>
            <a:chOff x="8128218" y="4098781"/>
            <a:chExt cx="109610" cy="66996"/>
          </a:xfrm>
          <a:effectLst/>
        </p:grpSpPr>
      </p:grpSp>
      <p:sp>
        <p:nvSpPr>
          <p:cNvPr id="116" name="struct.horizon.3.node.10"/>
          <p:cNvSpPr/>
          <p:nvPr/>
        </p:nvSpPr>
        <p:spPr>
          <a:xfrm>
            <a:off x="7592799" y="3991326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" name="struct.group.28"/>
          <p:cNvGrpSpPr/>
          <p:nvPr/>
        </p:nvGrpSpPr>
        <p:grpSpPr>
          <a:xfrm>
            <a:off x="7651045" y="4109794"/>
            <a:ext cx="109610" cy="66996"/>
            <a:chOff x="7651045" y="4109794"/>
            <a:chExt cx="109610" cy="66996"/>
          </a:xfrm>
          <a:effectLst/>
        </p:grpSpPr>
      </p:grpSp>
      <p:grpSp>
        <p:nvGrpSpPr>
          <p:cNvPr id="118" name="struct.group.29"/>
          <p:cNvGrpSpPr/>
          <p:nvPr/>
        </p:nvGrpSpPr>
        <p:grpSpPr>
          <a:xfrm>
            <a:off x="7275668" y="4499017"/>
            <a:ext cx="109610" cy="66996"/>
            <a:chOff x="7275668" y="4499017"/>
            <a:chExt cx="109610" cy="66996"/>
          </a:xfrm>
          <a:effectLst/>
        </p:grpSpPr>
      </p:grpSp>
      <p:sp>
        <p:nvSpPr>
          <p:cNvPr id="119" name="struct.horizon.3.node.11"/>
          <p:cNvSpPr/>
          <p:nvPr/>
        </p:nvSpPr>
        <p:spPr>
          <a:xfrm>
            <a:off x="7421955" y="3310855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slot.horizon.3.step.10"/>
          <p:cNvSpPr txBox="1"/>
          <p:nvPr/>
        </p:nvSpPr>
        <p:spPr>
          <a:xfrm>
            <a:off x="8016522" y="4276154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lot.horizon.3.step.11"/>
          <p:cNvSpPr txBox="1"/>
          <p:nvPr/>
        </p:nvSpPr>
        <p:spPr>
          <a:xfrm>
            <a:off x="7026467" y="4647162"/>
            <a:ext cx="5637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Close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slot.horizon.3.step.8"/>
          <p:cNvSpPr txBox="1"/>
          <p:nvPr/>
        </p:nvSpPr>
        <p:spPr>
          <a:xfrm>
            <a:off x="6651236" y="4229987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Fraud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lot.horizon.3.step.1"/>
          <p:cNvSpPr txBox="1"/>
          <p:nvPr/>
        </p:nvSpPr>
        <p:spPr>
          <a:xfrm>
            <a:off x="7263840" y="2415543"/>
            <a:ext cx="5463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Intake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slot.horizon.3.step.2"/>
          <p:cNvSpPr txBox="1"/>
          <p:nvPr/>
        </p:nvSpPr>
        <p:spPr>
          <a:xfrm>
            <a:off x="6698453" y="2487244"/>
            <a:ext cx="506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Notice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slot.horizon.3.step.3"/>
          <p:cNvSpPr txBox="1"/>
          <p:nvPr/>
        </p:nvSpPr>
        <p:spPr>
          <a:xfrm>
            <a:off x="7929478" y="2561825"/>
            <a:ext cx="4335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Policy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slot.horizon.3.step.9"/>
          <p:cNvSpPr txBox="1"/>
          <p:nvPr/>
        </p:nvSpPr>
        <p:spPr>
          <a:xfrm>
            <a:off x="7536630" y="4269634"/>
            <a:ext cx="4338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Settle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slot.horizon.3.step.4"/>
          <p:cNvSpPr txBox="1"/>
          <p:nvPr/>
        </p:nvSpPr>
        <p:spPr>
          <a:xfrm>
            <a:off x="6686353" y="3103703"/>
            <a:ext cx="4776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Triage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slot.horizon.3.step.5"/>
          <p:cNvSpPr txBox="1"/>
          <p:nvPr/>
        </p:nvSpPr>
        <p:spPr>
          <a:xfrm>
            <a:off x="7320054" y="3070238"/>
            <a:ext cx="4449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Verify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lot.horizon.3.step.6"/>
          <p:cNvSpPr txBox="1"/>
          <p:nvPr/>
        </p:nvSpPr>
        <p:spPr>
          <a:xfrm>
            <a:off x="7456017" y="3615977"/>
            <a:ext cx="42062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Assess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slot.horizon.3.step.7"/>
          <p:cNvSpPr txBox="1"/>
          <p:nvPr/>
        </p:nvSpPr>
        <p:spPr>
          <a:xfrm>
            <a:off x="7881391" y="3172880"/>
            <a:ext cx="5295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Reserve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slot.horizon.3.party.1"/>
          <p:cNvSpPr txBox="1"/>
          <p:nvPr/>
        </p:nvSpPr>
        <p:spPr>
          <a:xfrm>
            <a:off x="6157888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Client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32" name="struct.group.30"/>
          <p:cNvGrpSpPr/>
          <p:nvPr/>
        </p:nvGrpSpPr>
        <p:grpSpPr>
          <a:xfrm>
            <a:off x="6260314" y="3118414"/>
            <a:ext cx="216011" cy="216011"/>
            <a:chOff x="6260314" y="3118414"/>
            <a:chExt cx="216011" cy="216011"/>
          </a:xfrm>
          <a:effectLst/>
        </p:grpSpPr>
        <p:sp>
          <p:nvSpPr>
            <p:cNvPr id="133" name="struct.horizon.3.node.12"/>
            <p:cNvSpPr/>
            <p:nvPr/>
          </p:nvSpPr>
          <p:spPr>
            <a:xfrm>
              <a:off x="6260314" y="3118414"/>
              <a:ext cx="216011" cy="21601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4" name="struct.group.31"/>
          <p:cNvGrpSpPr/>
          <p:nvPr/>
        </p:nvGrpSpPr>
        <p:grpSpPr>
          <a:xfrm>
            <a:off x="6260314" y="3814662"/>
            <a:ext cx="216011" cy="216010"/>
            <a:chOff x="6260314" y="3814662"/>
            <a:chExt cx="216011" cy="216010"/>
          </a:xfrm>
          <a:effectLst/>
        </p:grpSpPr>
        <p:sp>
          <p:nvSpPr>
            <p:cNvPr id="135" name="struct.horizon.3.node.13"/>
            <p:cNvSpPr/>
            <p:nvPr/>
          </p:nvSpPr>
          <p:spPr>
            <a:xfrm>
              <a:off x="6260314" y="3814662"/>
              <a:ext cx="216011" cy="21601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slot.horizon.3.party.2"/>
          <p:cNvSpPr txBox="1"/>
          <p:nvPr/>
        </p:nvSpPr>
        <p:spPr>
          <a:xfrm>
            <a:off x="8511076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37" name="struct.group.32"/>
          <p:cNvGrpSpPr/>
          <p:nvPr/>
        </p:nvGrpSpPr>
        <p:grpSpPr>
          <a:xfrm>
            <a:off x="8613547" y="3118414"/>
            <a:ext cx="216010" cy="216011"/>
            <a:chOff x="8613547" y="3118414"/>
            <a:chExt cx="216010" cy="216011"/>
          </a:xfrm>
          <a:effectLst/>
        </p:grpSpPr>
        <p:sp>
          <p:nvSpPr>
            <p:cNvPr id="138" name="struct.horizon.3.node.14"/>
            <p:cNvSpPr/>
            <p:nvPr/>
          </p:nvSpPr>
          <p:spPr>
            <a:xfrm>
              <a:off x="8613547" y="3118414"/>
              <a:ext cx="216010" cy="21601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struct.group.33"/>
          <p:cNvGrpSpPr/>
          <p:nvPr/>
        </p:nvGrpSpPr>
        <p:grpSpPr>
          <a:xfrm>
            <a:off x="8613547" y="3814662"/>
            <a:ext cx="216010" cy="216010"/>
            <a:chOff x="8613547" y="3814662"/>
            <a:chExt cx="216010" cy="216010"/>
          </a:xfrm>
          <a:effectLst/>
        </p:grpSpPr>
        <p:sp>
          <p:nvSpPr>
            <p:cNvPr id="140" name="struct.horizon.3.node.15"/>
            <p:cNvSpPr/>
            <p:nvPr/>
          </p:nvSpPr>
          <p:spPr>
            <a:xfrm>
              <a:off x="8613547" y="3814662"/>
              <a:ext cx="216010" cy="21601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1" name="struct.line.8"/>
          <p:cNvCxnSpPr/>
          <p:nvPr/>
        </p:nvCxnSpPr>
        <p:spPr>
          <a:xfrm>
            <a:off x="7525553" y="4956330"/>
            <a:ext cx="0" cy="2244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142" name="struct.line.9"/>
          <p:cNvCxnSpPr/>
          <p:nvPr/>
        </p:nvCxnSpPr>
        <p:spPr>
          <a:xfrm>
            <a:off x="6476324" y="3226419"/>
            <a:ext cx="375300" cy="2265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3" name="struct.line.10"/>
          <p:cNvCxnSpPr/>
          <p:nvPr/>
        </p:nvCxnSpPr>
        <p:spPr>
          <a:xfrm rot="10800000" flipH="1">
            <a:off x="6476324" y="3613067"/>
            <a:ext cx="375300" cy="309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uct.line.11"/>
          <p:cNvCxnSpPr/>
          <p:nvPr/>
        </p:nvCxnSpPr>
        <p:spPr>
          <a:xfrm rot="10800000" flipH="1">
            <a:off x="8218992" y="3226381"/>
            <a:ext cx="394500" cy="303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5" name="struct.line.12"/>
          <p:cNvCxnSpPr/>
          <p:nvPr/>
        </p:nvCxnSpPr>
        <p:spPr>
          <a:xfrm>
            <a:off x="8218992" y="3690353"/>
            <a:ext cx="394500" cy="2322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146" name="slot.horizon.3.net.head"/>
          <p:cNvSpPr txBox="1"/>
          <p:nvPr/>
        </p:nvSpPr>
        <p:spPr>
          <a:xfrm>
            <a:off x="6733641" y="2203704"/>
            <a:ext cx="78638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Agent led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truct.horizon.3.node.16"/>
          <p:cNvSpPr/>
          <p:nvPr/>
        </p:nvSpPr>
        <p:spPr>
          <a:xfrm>
            <a:off x="7821608" y="4512096"/>
            <a:ext cx="227100" cy="2271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slot.horizon.4.label"/>
          <p:cNvSpPr/>
          <p:nvPr/>
        </p:nvSpPr>
        <p:spPr>
          <a:xfrm>
            <a:off x="8886549" y="1051380"/>
            <a:ext cx="2909100" cy="385800"/>
          </a:xfrm>
          <a:prstGeom prst="chevron">
            <a:avLst>
              <a:gd name="adj" fmla="val 34079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Year 3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slot.horizon.4.team"/>
          <p:cNvSpPr/>
          <p:nvPr/>
        </p:nvSpPr>
        <p:spPr>
          <a:xfrm>
            <a:off x="9052560" y="1673352"/>
            <a:ext cx="56692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2 pods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50" name="struct.line.13"/>
          <p:cNvCxnSpPr/>
          <p:nvPr/>
        </p:nvCxnSpPr>
        <p:spPr>
          <a:xfrm>
            <a:off x="10341154" y="2057792"/>
            <a:ext cx="0" cy="179273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51" name="struct.horizon.4.tray"/>
          <p:cNvSpPr/>
          <p:nvPr/>
        </p:nvSpPr>
        <p:spPr>
          <a:xfrm rot="5400000">
            <a:off x="10161493" y="4133794"/>
            <a:ext cx="459000" cy="2626500"/>
          </a:xfrm>
          <a:prstGeom prst="roundRect">
            <a:avLst>
              <a:gd name="adj" fmla="val 9961"/>
            </a:avLst>
          </a:prstGeom>
          <a:solidFill>
            <a:schemeClr val="bg1">
              <a:lumMod val="95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struct.dot.8"/>
          <p:cNvSpPr/>
          <p:nvPr/>
        </p:nvSpPr>
        <p:spPr>
          <a:xfrm>
            <a:off x="10630321" y="5288670"/>
            <a:ext cx="227100" cy="2271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slot.horizon.4.tool.4"/>
          <p:cNvSpPr txBox="1"/>
          <p:nvPr/>
        </p:nvSpPr>
        <p:spPr>
          <a:xfrm>
            <a:off x="10538459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lot.horizon.4.tool.3"/>
          <p:cNvSpPr txBox="1"/>
          <p:nvPr/>
        </p:nvSpPr>
        <p:spPr>
          <a:xfrm>
            <a:off x="9996220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slot.horizon.4.tool.2"/>
          <p:cNvSpPr txBox="1"/>
          <p:nvPr/>
        </p:nvSpPr>
        <p:spPr>
          <a:xfrm>
            <a:off x="9498787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lot.horizon.4.tool.1"/>
          <p:cNvSpPr txBox="1"/>
          <p:nvPr/>
        </p:nvSpPr>
        <p:spPr>
          <a:xfrm>
            <a:off x="9062618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slot.horizon.4.tool.note"/>
          <p:cNvSpPr txBox="1"/>
          <p:nvPr/>
        </p:nvSpPr>
        <p:spPr>
          <a:xfrm>
            <a:off x="11114532" y="5276088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Full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 log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truct.horizon.4.strip"/>
          <p:cNvSpPr/>
          <p:nvPr/>
        </p:nvSpPr>
        <p:spPr>
          <a:xfrm rot="5400000">
            <a:off x="10268142" y="4816950"/>
            <a:ext cx="245700" cy="2626500"/>
          </a:xfrm>
          <a:prstGeom prst="roundRect">
            <a:avLst>
              <a:gd name="adj" fmla="val 18608"/>
            </a:avLst>
          </a:prstGeom>
          <a:solidFill>
            <a:schemeClr val="bg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9" name="struct.line.14"/>
          <p:cNvCxnSpPr/>
          <p:nvPr/>
        </p:nvCxnSpPr>
        <p:spPr>
          <a:xfrm>
            <a:off x="10360781" y="5724656"/>
            <a:ext cx="0" cy="2358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60" name="slot.horizon.4.outcome"/>
          <p:cNvSpPr/>
          <p:nvPr/>
        </p:nvSpPr>
        <p:spPr>
          <a:xfrm>
            <a:off x="9633204" y="6025896"/>
            <a:ext cx="1920240" cy="201168"/>
          </a:xfrm>
          <a:prstGeom prst="roundRect">
            <a:avLst>
              <a:gd name="adj" fmla="val 2272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People resolve exceptions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struct.horizon.4.net"/>
          <p:cNvSpPr/>
          <p:nvPr/>
        </p:nvSpPr>
        <p:spPr>
          <a:xfrm>
            <a:off x="9470984" y="2289398"/>
            <a:ext cx="1846500" cy="2637300"/>
          </a:xfrm>
          <a:prstGeom prst="roundRect">
            <a:avLst>
              <a:gd name="adj" fmla="val 2476"/>
            </a:avLst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sz="62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2" name="struct.group.34"/>
          <p:cNvGrpSpPr/>
          <p:nvPr/>
        </p:nvGrpSpPr>
        <p:grpSpPr>
          <a:xfrm>
            <a:off x="9758488" y="3425579"/>
            <a:ext cx="1100129" cy="649165"/>
            <a:chOff x="9758488" y="3425579"/>
            <a:chExt cx="1100129" cy="649165"/>
          </a:xfrm>
          <a:effectLst/>
        </p:grpSpPr>
        <p:sp>
          <p:nvSpPr>
            <p:cNvPr id="163" name="struct.link.23"/>
            <p:cNvSpPr/>
            <p:nvPr/>
          </p:nvSpPr>
          <p:spPr>
            <a:xfrm>
              <a:off x="9778309" y="3425579"/>
              <a:ext cx="1067307" cy="139462"/>
            </a:xfrm>
            <a:custGeom>
              <a:avLst/>
              <a:gdLst/>
              <a:ahLst/>
              <a:cxnLst/>
              <a:rect l="l" t="t" r="r" b="b"/>
              <a:pathLst>
                <a:path w="4492315" h="527469" extrusionOk="0">
                  <a:moveTo>
                    <a:pt x="0" y="338415"/>
                  </a:moveTo>
                  <a:lnTo>
                    <a:pt x="2259951" y="0"/>
                  </a:lnTo>
                  <a:lnTo>
                    <a:pt x="4492316" y="527469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struct.link.24"/>
            <p:cNvSpPr/>
            <p:nvPr/>
          </p:nvSpPr>
          <p:spPr>
            <a:xfrm>
              <a:off x="10494749" y="3615739"/>
              <a:ext cx="357367" cy="447561"/>
            </a:xfrm>
            <a:custGeom>
              <a:avLst/>
              <a:gdLst/>
              <a:ahLst/>
              <a:cxnLst/>
              <a:rect l="l" t="t" r="r" b="b"/>
              <a:pathLst>
                <a:path w="1504166" h="1692746" extrusionOk="0">
                  <a:moveTo>
                    <a:pt x="1504166" y="0"/>
                  </a:moveTo>
                  <a:lnTo>
                    <a:pt x="0" y="1692746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struct.link.25"/>
            <p:cNvSpPr/>
            <p:nvPr/>
          </p:nvSpPr>
          <p:spPr>
            <a:xfrm>
              <a:off x="9833883" y="4058853"/>
              <a:ext cx="632413" cy="15417"/>
            </a:xfrm>
            <a:custGeom>
              <a:avLst/>
              <a:gdLst/>
              <a:ahLst/>
              <a:cxnLst/>
              <a:rect l="l" t="t" r="r" b="b"/>
              <a:pathLst>
                <a:path w="2661838" h="58308" extrusionOk="0">
                  <a:moveTo>
                    <a:pt x="2661839" y="58309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struct.link.26"/>
            <p:cNvSpPr/>
            <p:nvPr/>
          </p:nvSpPr>
          <p:spPr>
            <a:xfrm>
              <a:off x="9760193" y="3533200"/>
              <a:ext cx="57812" cy="502943"/>
            </a:xfrm>
            <a:custGeom>
              <a:avLst/>
              <a:gdLst/>
              <a:ahLst/>
              <a:cxnLst/>
              <a:rect l="l" t="t" r="r" b="b"/>
              <a:pathLst>
                <a:path w="243330" h="1902209" extrusionOk="0">
                  <a:moveTo>
                    <a:pt x="243331" y="1902209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7" name="struct.link.27"/>
          <p:cNvSpPr/>
          <p:nvPr/>
        </p:nvSpPr>
        <p:spPr>
          <a:xfrm>
            <a:off x="9894298" y="2996750"/>
            <a:ext cx="471790" cy="410421"/>
          </a:xfrm>
          <a:custGeom>
            <a:avLst/>
            <a:gdLst/>
            <a:ahLst/>
            <a:cxnLst/>
            <a:rect l="l" t="t" r="r" b="b"/>
            <a:pathLst>
              <a:path w="1945526" h="1465790" extrusionOk="0">
                <a:moveTo>
                  <a:pt x="0" y="0"/>
                </a:moveTo>
                <a:lnTo>
                  <a:pt x="1945526" y="1465791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struct.link.28"/>
          <p:cNvSpPr/>
          <p:nvPr/>
        </p:nvSpPr>
        <p:spPr>
          <a:xfrm>
            <a:off x="10388042" y="3072806"/>
            <a:ext cx="433440" cy="331064"/>
          </a:xfrm>
          <a:custGeom>
            <a:avLst/>
            <a:gdLst/>
            <a:ahLst/>
            <a:cxnLst/>
            <a:rect l="l" t="t" r="r" b="b"/>
            <a:pathLst>
              <a:path w="2039718" h="1471397" extrusionOk="0">
                <a:moveTo>
                  <a:pt x="0" y="1471398"/>
                </a:moveTo>
                <a:lnTo>
                  <a:pt x="2039719" y="0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struct.link.29"/>
          <p:cNvSpPr/>
          <p:nvPr/>
        </p:nvSpPr>
        <p:spPr>
          <a:xfrm>
            <a:off x="9886881" y="2765962"/>
            <a:ext cx="927766" cy="210401"/>
          </a:xfrm>
          <a:custGeom>
            <a:avLst/>
            <a:gdLst/>
            <a:ahLst/>
            <a:cxnLst/>
            <a:rect l="l" t="t" r="r" b="b"/>
            <a:pathLst>
              <a:path w="4078092" h="744781" extrusionOk="0">
                <a:moveTo>
                  <a:pt x="4078092" y="734914"/>
                </a:moveTo>
                <a:lnTo>
                  <a:pt x="1926688" y="0"/>
                </a:lnTo>
                <a:lnTo>
                  <a:pt x="0" y="744782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0" name="struct.group.35"/>
          <p:cNvGrpSpPr/>
          <p:nvPr/>
        </p:nvGrpSpPr>
        <p:grpSpPr>
          <a:xfrm>
            <a:off x="10353256" y="2820278"/>
            <a:ext cx="8672" cy="499004"/>
            <a:chOff x="10353256" y="2820278"/>
            <a:chExt cx="8672" cy="499004"/>
          </a:xfrm>
          <a:effectLst/>
        </p:grpSpPr>
        <p:sp>
          <p:nvSpPr>
            <p:cNvPr id="171" name="struct.link.30"/>
            <p:cNvSpPr/>
            <p:nvPr/>
          </p:nvSpPr>
          <p:spPr>
            <a:xfrm>
              <a:off x="10353588" y="2832838"/>
              <a:ext cx="8103" cy="467680"/>
            </a:xfrm>
            <a:custGeom>
              <a:avLst/>
              <a:gdLst/>
              <a:ahLst/>
              <a:cxnLst/>
              <a:rect l="l" t="t" r="r" b="b"/>
              <a:pathLst>
                <a:path w="38349" h="2079377" extrusionOk="0">
                  <a:moveTo>
                    <a:pt x="0" y="2079378"/>
                  </a:moveTo>
                  <a:lnTo>
                    <a:pt x="3835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struct.group.36"/>
          <p:cNvGrpSpPr/>
          <p:nvPr/>
        </p:nvGrpSpPr>
        <p:grpSpPr>
          <a:xfrm>
            <a:off x="9852404" y="3518292"/>
            <a:ext cx="486375" cy="299495"/>
            <a:chOff x="9852404" y="3518292"/>
            <a:chExt cx="486375" cy="299495"/>
          </a:xfrm>
          <a:effectLst/>
        </p:grpSpPr>
        <p:sp>
          <p:nvSpPr>
            <p:cNvPr id="173" name="struct.link.31"/>
            <p:cNvSpPr/>
            <p:nvPr/>
          </p:nvSpPr>
          <p:spPr>
            <a:xfrm>
              <a:off x="9866918" y="3598638"/>
              <a:ext cx="302051" cy="212290"/>
            </a:xfrm>
            <a:custGeom>
              <a:avLst/>
              <a:gdLst/>
              <a:ahLst/>
              <a:cxnLst/>
              <a:rect l="l" t="t" r="r" b="b"/>
              <a:pathLst>
                <a:path w="1428139" h="943928" extrusionOk="0">
                  <a:moveTo>
                    <a:pt x="0" y="0"/>
                  </a:moveTo>
                  <a:lnTo>
                    <a:pt x="1428140" y="943928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struct.link.32"/>
            <p:cNvSpPr/>
            <p:nvPr/>
          </p:nvSpPr>
          <p:spPr>
            <a:xfrm>
              <a:off x="10187374" y="3529136"/>
              <a:ext cx="145618" cy="272461"/>
            </a:xfrm>
            <a:custGeom>
              <a:avLst/>
              <a:gdLst/>
              <a:ahLst/>
              <a:cxnLst/>
              <a:rect l="l" t="t" r="r" b="b"/>
              <a:pathLst>
                <a:path w="688503" h="1211475" extrusionOk="0">
                  <a:moveTo>
                    <a:pt x="0" y="1211475"/>
                  </a:moveTo>
                  <a:lnTo>
                    <a:pt x="688503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5" name="struct.group.37"/>
          <p:cNvGrpSpPr/>
          <p:nvPr/>
        </p:nvGrpSpPr>
        <p:grpSpPr>
          <a:xfrm>
            <a:off x="9817094" y="3782919"/>
            <a:ext cx="765444" cy="300676"/>
            <a:chOff x="9817094" y="3782919"/>
            <a:chExt cx="765444" cy="300676"/>
          </a:xfrm>
          <a:effectLst/>
        </p:grpSpPr>
        <p:sp>
          <p:nvSpPr>
            <p:cNvPr id="176" name="struct.link.33"/>
            <p:cNvSpPr/>
            <p:nvPr/>
          </p:nvSpPr>
          <p:spPr>
            <a:xfrm>
              <a:off x="9834916" y="3792974"/>
              <a:ext cx="327164" cy="275603"/>
            </a:xfrm>
            <a:custGeom>
              <a:avLst/>
              <a:gdLst/>
              <a:ahLst/>
              <a:cxnLst/>
              <a:rect l="l" t="t" r="r" b="b"/>
              <a:pathLst>
                <a:path w="1210375" h="958953" extrusionOk="0">
                  <a:moveTo>
                    <a:pt x="0" y="958954"/>
                  </a:moveTo>
                  <a:lnTo>
                    <a:pt x="1210375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struct.link.34"/>
            <p:cNvSpPr/>
            <p:nvPr/>
          </p:nvSpPr>
          <p:spPr>
            <a:xfrm>
              <a:off x="10192996" y="3796454"/>
              <a:ext cx="376872" cy="266967"/>
            </a:xfrm>
            <a:custGeom>
              <a:avLst/>
              <a:gdLst/>
              <a:ahLst/>
              <a:cxnLst/>
              <a:rect l="l" t="t" r="r" b="b"/>
              <a:pathLst>
                <a:path w="1394275" h="928902" extrusionOk="0">
                  <a:moveTo>
                    <a:pt x="0" y="0"/>
                  </a:moveTo>
                  <a:lnTo>
                    <a:pt x="1394275" y="928903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8" name="struct.group.38"/>
          <p:cNvGrpSpPr/>
          <p:nvPr/>
        </p:nvGrpSpPr>
        <p:grpSpPr>
          <a:xfrm>
            <a:off x="10217486" y="3564754"/>
            <a:ext cx="744490" cy="211407"/>
            <a:chOff x="10217486" y="3564754"/>
            <a:chExt cx="744490" cy="211407"/>
          </a:xfrm>
          <a:effectLst/>
        </p:grpSpPr>
        <p:sp>
          <p:nvSpPr>
            <p:cNvPr id="179" name="struct.link.35"/>
            <p:cNvSpPr/>
            <p:nvPr/>
          </p:nvSpPr>
          <p:spPr>
            <a:xfrm rot="21170153">
              <a:off x="10222618" y="3615937"/>
              <a:ext cx="726793" cy="111145"/>
            </a:xfrm>
            <a:custGeom>
              <a:avLst/>
              <a:gdLst/>
              <a:ahLst/>
              <a:cxnLst/>
              <a:rect l="l" t="t" r="r" b="b"/>
              <a:pathLst>
                <a:path w="2665875" h="494278" extrusionOk="0">
                  <a:moveTo>
                    <a:pt x="2665876" y="0"/>
                  </a:moveTo>
                  <a:lnTo>
                    <a:pt x="0" y="494279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0" name="struct.group.39"/>
          <p:cNvGrpSpPr/>
          <p:nvPr/>
        </p:nvGrpSpPr>
        <p:grpSpPr>
          <a:xfrm>
            <a:off x="10420893" y="3458394"/>
            <a:ext cx="542470" cy="577128"/>
            <a:chOff x="10420893" y="3458394"/>
            <a:chExt cx="542470" cy="577128"/>
          </a:xfrm>
          <a:effectLst/>
        </p:grpSpPr>
        <p:sp>
          <p:nvSpPr>
            <p:cNvPr id="181" name="struct.link.36"/>
            <p:cNvSpPr/>
            <p:nvPr/>
          </p:nvSpPr>
          <p:spPr>
            <a:xfrm>
              <a:off x="10431631" y="3469811"/>
              <a:ext cx="515504" cy="548521"/>
            </a:xfrm>
            <a:custGeom>
              <a:avLst/>
              <a:gdLst/>
              <a:ahLst/>
              <a:cxnLst/>
              <a:rect l="l" t="t" r="r" b="b"/>
              <a:pathLst>
                <a:path w="1916371" h="1917907" extrusionOk="0">
                  <a:moveTo>
                    <a:pt x="1916371" y="1917907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275" tIns="58125" rIns="116275" bIns="581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3"/>
                <a:buFont typeface="Arial"/>
                <a:buNone/>
                <a:tabLst/>
                <a:defRPr/>
              </a:pPr>
              <a:endParaRPr kumimoji="0" sz="636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struct.group.40"/>
          <p:cNvGrpSpPr/>
          <p:nvPr/>
        </p:nvGrpSpPr>
        <p:grpSpPr>
          <a:xfrm>
            <a:off x="10385668" y="3501470"/>
            <a:ext cx="176709" cy="492236"/>
            <a:chOff x="10385668" y="3501470"/>
            <a:chExt cx="176709" cy="492236"/>
          </a:xfrm>
          <a:effectLst/>
        </p:grpSpPr>
        <p:sp>
          <p:nvSpPr>
            <p:cNvPr id="183" name="struct.link.37"/>
            <p:cNvSpPr/>
            <p:nvPr/>
          </p:nvSpPr>
          <p:spPr>
            <a:xfrm rot="21149909">
              <a:off x="10438610" y="3505439"/>
              <a:ext cx="92549" cy="484298"/>
            </a:xfrm>
            <a:custGeom>
              <a:avLst/>
              <a:gdLst/>
              <a:ahLst/>
              <a:cxnLst/>
              <a:rect l="l" t="t" r="r" b="b"/>
              <a:pathLst>
                <a:path w="437771" h="2154057" extrusionOk="0">
                  <a:moveTo>
                    <a:pt x="437771" y="2154058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4" name="struct.group.41"/>
          <p:cNvGrpSpPr/>
          <p:nvPr/>
        </p:nvGrpSpPr>
        <p:grpSpPr>
          <a:xfrm>
            <a:off x="9758483" y="2996787"/>
            <a:ext cx="98497" cy="460081"/>
            <a:chOff x="9758483" y="2996787"/>
            <a:chExt cx="98497" cy="460081"/>
          </a:xfrm>
          <a:effectLst/>
        </p:grpSpPr>
        <p:sp>
          <p:nvSpPr>
            <p:cNvPr id="185" name="struct.link.38"/>
            <p:cNvSpPr/>
            <p:nvPr/>
          </p:nvSpPr>
          <p:spPr>
            <a:xfrm>
              <a:off x="9763306" y="3012143"/>
              <a:ext cx="90520" cy="421689"/>
            </a:xfrm>
            <a:custGeom>
              <a:avLst/>
              <a:gdLst/>
              <a:ahLst/>
              <a:cxnLst/>
              <a:rect l="l" t="t" r="r" b="b"/>
              <a:pathLst>
                <a:path w="109442" h="1539573" extrusionOk="0">
                  <a:moveTo>
                    <a:pt x="0" y="1539574"/>
                  </a:moveTo>
                  <a:lnTo>
                    <a:pt x="109443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6" name="struct.group.42"/>
          <p:cNvGrpSpPr/>
          <p:nvPr/>
        </p:nvGrpSpPr>
        <p:grpSpPr>
          <a:xfrm>
            <a:off x="10943089" y="3072261"/>
            <a:ext cx="16269" cy="447679"/>
            <a:chOff x="10943089" y="3072261"/>
            <a:chExt cx="16269" cy="447679"/>
          </a:xfrm>
          <a:effectLst/>
        </p:grpSpPr>
        <p:sp>
          <p:nvSpPr>
            <p:cNvPr id="187" name="struct.link.39"/>
            <p:cNvSpPr/>
            <p:nvPr/>
          </p:nvSpPr>
          <p:spPr>
            <a:xfrm>
              <a:off x="10943753" y="3091024"/>
              <a:ext cx="15178" cy="416358"/>
            </a:xfrm>
            <a:custGeom>
              <a:avLst/>
              <a:gdLst/>
              <a:ahLst/>
              <a:cxnLst/>
              <a:rect l="l" t="t" r="r" b="b"/>
              <a:pathLst>
                <a:path w="71765" h="1851301" extrusionOk="0">
                  <a:moveTo>
                    <a:pt x="0" y="0"/>
                  </a:moveTo>
                  <a:lnTo>
                    <a:pt x="71766" y="185130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8" name="struct.group.43"/>
          <p:cNvGrpSpPr/>
          <p:nvPr/>
        </p:nvGrpSpPr>
        <p:grpSpPr>
          <a:xfrm>
            <a:off x="10573821" y="4091073"/>
            <a:ext cx="371019" cy="5901"/>
            <a:chOff x="10573821" y="4091073"/>
            <a:chExt cx="371019" cy="5901"/>
          </a:xfrm>
          <a:effectLst/>
        </p:grpSpPr>
        <p:sp>
          <p:nvSpPr>
            <p:cNvPr id="189" name="struct.link.40"/>
            <p:cNvSpPr/>
            <p:nvPr/>
          </p:nvSpPr>
          <p:spPr>
            <a:xfrm>
              <a:off x="10585537" y="4091325"/>
              <a:ext cx="341800" cy="5447"/>
            </a:xfrm>
            <a:custGeom>
              <a:avLst/>
              <a:gdLst/>
              <a:ahLst/>
              <a:cxnLst/>
              <a:rect l="l" t="t" r="r" b="b"/>
              <a:pathLst>
                <a:path w="1616076" h="24220" extrusionOk="0">
                  <a:moveTo>
                    <a:pt x="1616077" y="0"/>
                  </a:moveTo>
                  <a:lnTo>
                    <a:pt x="0" y="2422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0" name="struct.group.44"/>
          <p:cNvGrpSpPr/>
          <p:nvPr/>
        </p:nvGrpSpPr>
        <p:grpSpPr>
          <a:xfrm>
            <a:off x="10963389" y="3666651"/>
            <a:ext cx="15416" cy="375554"/>
            <a:chOff x="10963389" y="3666651"/>
            <a:chExt cx="15416" cy="375554"/>
          </a:xfrm>
          <a:effectLst/>
        </p:grpSpPr>
        <p:sp>
          <p:nvSpPr>
            <p:cNvPr id="191" name="struct.link.41"/>
            <p:cNvSpPr/>
            <p:nvPr/>
          </p:nvSpPr>
          <p:spPr>
            <a:xfrm>
              <a:off x="10963389" y="3666651"/>
              <a:ext cx="14894" cy="363146"/>
            </a:xfrm>
            <a:custGeom>
              <a:avLst/>
              <a:gdLst/>
              <a:ahLst/>
              <a:cxnLst/>
              <a:rect l="l" t="t" r="r" b="b"/>
              <a:pathLst>
                <a:path w="70420" h="1614702" extrusionOk="0">
                  <a:moveTo>
                    <a:pt x="0" y="0"/>
                  </a:moveTo>
                  <a:lnTo>
                    <a:pt x="70420" y="1614702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92" name="struct.line.15"/>
          <p:cNvCxnSpPr/>
          <p:nvPr/>
        </p:nvCxnSpPr>
        <p:spPr>
          <a:xfrm>
            <a:off x="9811521" y="4195845"/>
            <a:ext cx="278100" cy="2187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93" name="struct.line.16"/>
          <p:cNvCxnSpPr/>
          <p:nvPr/>
        </p:nvCxnSpPr>
        <p:spPr>
          <a:xfrm rot="10800000" flipH="1">
            <a:off x="10250013" y="4184864"/>
            <a:ext cx="210900" cy="2298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194" name="struct.horizon.4.node.1"/>
          <p:cNvSpPr/>
          <p:nvPr/>
        </p:nvSpPr>
        <p:spPr>
          <a:xfrm>
            <a:off x="10056427" y="4381450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5" name="struct.group.45"/>
          <p:cNvGrpSpPr/>
          <p:nvPr/>
        </p:nvGrpSpPr>
        <p:grpSpPr>
          <a:xfrm>
            <a:off x="9753896" y="2812765"/>
            <a:ext cx="265426" cy="226727"/>
            <a:chOff x="9753896" y="2812765"/>
            <a:chExt cx="265426" cy="226727"/>
          </a:xfrm>
          <a:effectLst/>
        </p:grpSpPr>
        <p:sp>
          <p:nvSpPr>
            <p:cNvPr id="196" name="struct.horizon.4.node.2"/>
            <p:cNvSpPr/>
            <p:nvPr/>
          </p:nvSpPr>
          <p:spPr>
            <a:xfrm>
              <a:off x="9753896" y="2812765"/>
              <a:ext cx="226728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97" name="struct.group.46"/>
            <p:cNvGrpSpPr/>
            <p:nvPr/>
          </p:nvGrpSpPr>
          <p:grpSpPr>
            <a:xfrm>
              <a:off x="9809098" y="2933152"/>
              <a:ext cx="109609" cy="66995"/>
              <a:chOff x="9809098" y="2933152"/>
              <a:chExt cx="109609" cy="66995"/>
            </a:xfrm>
          </p:grpSpPr>
        </p:grpSp>
      </p:grpSp>
      <p:grpSp>
        <p:nvGrpSpPr>
          <p:cNvPr id="198" name="struct.group.47"/>
          <p:cNvGrpSpPr/>
          <p:nvPr/>
        </p:nvGrpSpPr>
        <p:grpSpPr>
          <a:xfrm>
            <a:off x="9653479" y="3419537"/>
            <a:ext cx="226727" cy="226727"/>
            <a:chOff x="9653479" y="3419537"/>
            <a:chExt cx="226727" cy="226727"/>
          </a:xfrm>
          <a:effectLst/>
        </p:grpSpPr>
        <p:sp>
          <p:nvSpPr>
            <p:cNvPr id="199" name="struct.horizon.4.node.3"/>
            <p:cNvSpPr/>
            <p:nvPr/>
          </p:nvSpPr>
          <p:spPr>
            <a:xfrm>
              <a:off x="9653479" y="3419537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0" name="struct.group.48"/>
            <p:cNvGrpSpPr/>
            <p:nvPr/>
          </p:nvGrpSpPr>
          <p:grpSpPr>
            <a:xfrm>
              <a:off x="9708068" y="3545956"/>
              <a:ext cx="109609" cy="66995"/>
              <a:chOff x="9708068" y="3545956"/>
              <a:chExt cx="109609" cy="66995"/>
            </a:xfrm>
          </p:grpSpPr>
        </p:grpSp>
      </p:grpSp>
      <p:grpSp>
        <p:nvGrpSpPr>
          <p:cNvPr id="201" name="struct.group.49"/>
          <p:cNvGrpSpPr/>
          <p:nvPr/>
        </p:nvGrpSpPr>
        <p:grpSpPr>
          <a:xfrm>
            <a:off x="9698157" y="3969118"/>
            <a:ext cx="226727" cy="226727"/>
            <a:chOff x="9698157" y="3969118"/>
            <a:chExt cx="226727" cy="226727"/>
          </a:xfrm>
          <a:effectLst/>
        </p:grpSpPr>
        <p:sp>
          <p:nvSpPr>
            <p:cNvPr id="202" name="struct.horizon.4.node.4"/>
            <p:cNvSpPr/>
            <p:nvPr/>
          </p:nvSpPr>
          <p:spPr>
            <a:xfrm>
              <a:off x="9698157" y="3969118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3" name="struct.group.50"/>
            <p:cNvGrpSpPr/>
            <p:nvPr/>
          </p:nvGrpSpPr>
          <p:grpSpPr>
            <a:xfrm>
              <a:off x="9756902" y="4088284"/>
              <a:ext cx="109609" cy="66995"/>
              <a:chOff x="9756902" y="4088284"/>
              <a:chExt cx="109609" cy="66995"/>
            </a:xfrm>
          </p:grpSpPr>
        </p:grpSp>
      </p:grpSp>
      <p:grpSp>
        <p:nvGrpSpPr>
          <p:cNvPr id="204" name="struct.group.51"/>
          <p:cNvGrpSpPr/>
          <p:nvPr/>
        </p:nvGrpSpPr>
        <p:grpSpPr>
          <a:xfrm>
            <a:off x="10039385" y="3682193"/>
            <a:ext cx="228854" cy="229120"/>
            <a:chOff x="10039385" y="3682193"/>
            <a:chExt cx="228854" cy="229120"/>
          </a:xfrm>
          <a:effectLst/>
        </p:grpSpPr>
        <p:sp>
          <p:nvSpPr>
            <p:cNvPr id="205" name="struct.horizon.4.node.5"/>
            <p:cNvSpPr/>
            <p:nvPr/>
          </p:nvSpPr>
          <p:spPr>
            <a:xfrm>
              <a:off x="10039385" y="3682193"/>
              <a:ext cx="228854" cy="2291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6" name="struct.group.52"/>
            <p:cNvGrpSpPr/>
            <p:nvPr/>
          </p:nvGrpSpPr>
          <p:grpSpPr>
            <a:xfrm>
              <a:off x="10096621" y="3805110"/>
              <a:ext cx="109609" cy="66995"/>
              <a:chOff x="10096621" y="3805110"/>
              <a:chExt cx="109609" cy="66995"/>
            </a:xfrm>
          </p:grpSpPr>
        </p:grpSp>
      </p:grpSp>
      <p:grpSp>
        <p:nvGrpSpPr>
          <p:cNvPr id="207" name="struct.group.53"/>
          <p:cNvGrpSpPr/>
          <p:nvPr/>
        </p:nvGrpSpPr>
        <p:grpSpPr>
          <a:xfrm>
            <a:off x="10253758" y="2665675"/>
            <a:ext cx="226727" cy="226727"/>
            <a:chOff x="10253758" y="2665675"/>
            <a:chExt cx="226727" cy="226727"/>
          </a:xfrm>
          <a:effectLst/>
        </p:grpSpPr>
        <p:sp>
          <p:nvSpPr>
            <p:cNvPr id="208" name="struct.horizon.4.node.6"/>
            <p:cNvSpPr/>
            <p:nvPr/>
          </p:nvSpPr>
          <p:spPr>
            <a:xfrm>
              <a:off x="10253758" y="2665675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9" name="struct.group.54"/>
            <p:cNvGrpSpPr/>
            <p:nvPr/>
          </p:nvGrpSpPr>
          <p:grpSpPr>
            <a:xfrm>
              <a:off x="10310298" y="2782465"/>
              <a:ext cx="109609" cy="66995"/>
              <a:chOff x="10310298" y="2782465"/>
              <a:chExt cx="109609" cy="66995"/>
            </a:xfrm>
          </p:grpSpPr>
        </p:grpSp>
      </p:grpSp>
      <p:grpSp>
        <p:nvGrpSpPr>
          <p:cNvPr id="210" name="struct.group.55"/>
          <p:cNvGrpSpPr/>
          <p:nvPr/>
        </p:nvGrpSpPr>
        <p:grpSpPr>
          <a:xfrm>
            <a:off x="10819930" y="2889960"/>
            <a:ext cx="226727" cy="226727"/>
            <a:chOff x="10819930" y="2889960"/>
            <a:chExt cx="226727" cy="226727"/>
          </a:xfrm>
          <a:effectLst/>
        </p:grpSpPr>
        <p:sp>
          <p:nvSpPr>
            <p:cNvPr id="211" name="struct.horizon.4.node.7"/>
            <p:cNvSpPr/>
            <p:nvPr/>
          </p:nvSpPr>
          <p:spPr>
            <a:xfrm>
              <a:off x="10819930" y="2889960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2" name="struct.group.56"/>
            <p:cNvGrpSpPr/>
            <p:nvPr/>
          </p:nvGrpSpPr>
          <p:grpSpPr>
            <a:xfrm>
              <a:off x="10878831" y="3008007"/>
              <a:ext cx="109609" cy="66995"/>
              <a:chOff x="10878831" y="3008007"/>
              <a:chExt cx="109609" cy="66995"/>
            </a:xfrm>
          </p:grpSpPr>
        </p:grpSp>
      </p:grpSp>
      <p:grpSp>
        <p:nvGrpSpPr>
          <p:cNvPr id="213" name="struct.group.57"/>
          <p:cNvGrpSpPr/>
          <p:nvPr/>
        </p:nvGrpSpPr>
        <p:grpSpPr>
          <a:xfrm>
            <a:off x="10860359" y="3496699"/>
            <a:ext cx="226727" cy="226727"/>
            <a:chOff x="10860359" y="3496699"/>
            <a:chExt cx="226727" cy="226727"/>
          </a:xfrm>
          <a:effectLst/>
        </p:grpSpPr>
        <p:sp>
          <p:nvSpPr>
            <p:cNvPr id="214" name="struct.horizon.4.node.8"/>
            <p:cNvSpPr/>
            <p:nvPr/>
          </p:nvSpPr>
          <p:spPr>
            <a:xfrm>
              <a:off x="10860359" y="3496699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5" name="struct.group.58"/>
            <p:cNvGrpSpPr/>
            <p:nvPr/>
          </p:nvGrpSpPr>
          <p:grpSpPr>
            <a:xfrm>
              <a:off x="10917247" y="3616362"/>
              <a:ext cx="109609" cy="66995"/>
              <a:chOff x="10917247" y="3616362"/>
              <a:chExt cx="109609" cy="66995"/>
            </a:xfrm>
          </p:grpSpPr>
        </p:grpSp>
      </p:grpSp>
      <p:grpSp>
        <p:nvGrpSpPr>
          <p:cNvPr id="216" name="struct.group.59"/>
          <p:cNvGrpSpPr/>
          <p:nvPr/>
        </p:nvGrpSpPr>
        <p:grpSpPr>
          <a:xfrm>
            <a:off x="10907806" y="3978143"/>
            <a:ext cx="226727" cy="226727"/>
            <a:chOff x="10907806" y="3978143"/>
            <a:chExt cx="226727" cy="226727"/>
          </a:xfrm>
          <a:effectLst/>
        </p:grpSpPr>
        <p:sp>
          <p:nvSpPr>
            <p:cNvPr id="217" name="struct.horizon.4.node.9"/>
            <p:cNvSpPr/>
            <p:nvPr/>
          </p:nvSpPr>
          <p:spPr>
            <a:xfrm>
              <a:off x="10907806" y="3978143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8" name="struct.group.60"/>
            <p:cNvGrpSpPr/>
            <p:nvPr/>
          </p:nvGrpSpPr>
          <p:grpSpPr>
            <a:xfrm>
              <a:off x="10963285" y="4098733"/>
              <a:ext cx="109609" cy="66995"/>
              <a:chOff x="10963285" y="4098733"/>
              <a:chExt cx="109609" cy="66995"/>
            </a:xfrm>
          </p:grpSpPr>
        </p:grpSp>
      </p:grpSp>
      <p:grpSp>
        <p:nvGrpSpPr>
          <p:cNvPr id="219" name="struct.group.61"/>
          <p:cNvGrpSpPr/>
          <p:nvPr/>
        </p:nvGrpSpPr>
        <p:grpSpPr>
          <a:xfrm>
            <a:off x="10427761" y="3991248"/>
            <a:ext cx="226727" cy="226727"/>
            <a:chOff x="10427761" y="3991248"/>
            <a:chExt cx="226727" cy="226727"/>
          </a:xfrm>
          <a:effectLst/>
        </p:grpSpPr>
        <p:sp>
          <p:nvSpPr>
            <p:cNvPr id="220" name="struct.horizon.4.node.10"/>
            <p:cNvSpPr/>
            <p:nvPr/>
          </p:nvSpPr>
          <p:spPr>
            <a:xfrm>
              <a:off x="10427761" y="3991248"/>
              <a:ext cx="226727" cy="2267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1" name="struct.group.62"/>
            <p:cNvGrpSpPr/>
            <p:nvPr/>
          </p:nvGrpSpPr>
          <p:grpSpPr>
            <a:xfrm>
              <a:off x="10486118" y="4109746"/>
              <a:ext cx="109609" cy="66995"/>
              <a:chOff x="10486118" y="4109746"/>
              <a:chExt cx="109609" cy="66995"/>
            </a:xfrm>
          </p:grpSpPr>
        </p:grpSp>
      </p:grpSp>
      <p:grpSp>
        <p:nvGrpSpPr>
          <p:cNvPr id="222" name="struct.group.63"/>
          <p:cNvGrpSpPr/>
          <p:nvPr/>
        </p:nvGrpSpPr>
        <p:grpSpPr>
          <a:xfrm>
            <a:off x="10110896" y="4499017"/>
            <a:ext cx="109610" cy="66996"/>
            <a:chOff x="10110896" y="4499017"/>
            <a:chExt cx="109610" cy="66996"/>
          </a:xfrm>
          <a:effectLst/>
        </p:grpSpPr>
      </p:grpSp>
      <p:grpSp>
        <p:nvGrpSpPr>
          <p:cNvPr id="223" name="struct.group.64"/>
          <p:cNvGrpSpPr/>
          <p:nvPr/>
        </p:nvGrpSpPr>
        <p:grpSpPr>
          <a:xfrm>
            <a:off x="10257157" y="3310847"/>
            <a:ext cx="226827" cy="226827"/>
            <a:chOff x="10257157" y="3310847"/>
            <a:chExt cx="226827" cy="226827"/>
          </a:xfrm>
          <a:effectLst/>
        </p:grpSpPr>
        <p:sp>
          <p:nvSpPr>
            <p:cNvPr id="224" name="struct.horizon.4.node.11"/>
            <p:cNvSpPr/>
            <p:nvPr/>
          </p:nvSpPr>
          <p:spPr>
            <a:xfrm>
              <a:off x="10257157" y="3310847"/>
              <a:ext cx="226827" cy="2268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12900" tIns="56425" rIns="112900" bIns="56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41"/>
                <a:buFont typeface="Arial"/>
                <a:buNone/>
                <a:tabLst/>
                <a:defRPr/>
              </a:pPr>
              <a:endParaRPr kumimoji="0" sz="617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5" name="slot.horizon.4.step.10"/>
          <p:cNvSpPr txBox="1"/>
          <p:nvPr/>
        </p:nvSpPr>
        <p:spPr>
          <a:xfrm>
            <a:off x="10851750" y="4276154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slot.horizon.4.step.11"/>
          <p:cNvSpPr txBox="1"/>
          <p:nvPr/>
        </p:nvSpPr>
        <p:spPr>
          <a:xfrm>
            <a:off x="9861695" y="4647162"/>
            <a:ext cx="5637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Close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lot.horizon.4.step.8"/>
          <p:cNvSpPr txBox="1"/>
          <p:nvPr/>
        </p:nvSpPr>
        <p:spPr>
          <a:xfrm>
            <a:off x="9486464" y="4229987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Fraud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slot.horizon.4.step.1"/>
          <p:cNvSpPr txBox="1"/>
          <p:nvPr/>
        </p:nvSpPr>
        <p:spPr>
          <a:xfrm>
            <a:off x="10099068" y="2415543"/>
            <a:ext cx="5463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Intake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slot.horizon.4.step.2"/>
          <p:cNvSpPr txBox="1"/>
          <p:nvPr/>
        </p:nvSpPr>
        <p:spPr>
          <a:xfrm>
            <a:off x="9533681" y="2487244"/>
            <a:ext cx="506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Notice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slot.horizon.4.step.3"/>
          <p:cNvSpPr txBox="1"/>
          <p:nvPr/>
        </p:nvSpPr>
        <p:spPr>
          <a:xfrm>
            <a:off x="10764707" y="2561825"/>
            <a:ext cx="4335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Policy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slot.horizon.4.step.9"/>
          <p:cNvSpPr txBox="1"/>
          <p:nvPr/>
        </p:nvSpPr>
        <p:spPr>
          <a:xfrm>
            <a:off x="10371858" y="4269634"/>
            <a:ext cx="4338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Settle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slot.horizon.4.step.4"/>
          <p:cNvSpPr txBox="1"/>
          <p:nvPr/>
        </p:nvSpPr>
        <p:spPr>
          <a:xfrm>
            <a:off x="9521581" y="3103703"/>
            <a:ext cx="4776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Triage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slot.horizon.4.step.5"/>
          <p:cNvSpPr txBox="1"/>
          <p:nvPr/>
        </p:nvSpPr>
        <p:spPr>
          <a:xfrm>
            <a:off x="10155282" y="3070238"/>
            <a:ext cx="4449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Verify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slot.horizon.4.step.6"/>
          <p:cNvSpPr txBox="1"/>
          <p:nvPr/>
        </p:nvSpPr>
        <p:spPr>
          <a:xfrm>
            <a:off x="10291572" y="3615977"/>
            <a:ext cx="42062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Assess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slot.horizon.4.step.7"/>
          <p:cNvSpPr txBox="1"/>
          <p:nvPr/>
        </p:nvSpPr>
        <p:spPr>
          <a:xfrm>
            <a:off x="10716619" y="3172880"/>
            <a:ext cx="5295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Reserve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slot.horizon.4.party.1"/>
          <p:cNvSpPr txBox="1"/>
          <p:nvPr/>
        </p:nvSpPr>
        <p:spPr>
          <a:xfrm>
            <a:off x="8993115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Client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37" name="struct.group.65"/>
          <p:cNvGrpSpPr/>
          <p:nvPr/>
        </p:nvGrpSpPr>
        <p:grpSpPr>
          <a:xfrm>
            <a:off x="9095542" y="3118414"/>
            <a:ext cx="216010" cy="216011"/>
            <a:chOff x="9095542" y="3118414"/>
            <a:chExt cx="216010" cy="216011"/>
          </a:xfrm>
          <a:effectLst/>
        </p:grpSpPr>
        <p:sp>
          <p:nvSpPr>
            <p:cNvPr id="238" name="struct.horizon.4.node.12"/>
            <p:cNvSpPr/>
            <p:nvPr/>
          </p:nvSpPr>
          <p:spPr>
            <a:xfrm>
              <a:off x="9095542" y="3118414"/>
              <a:ext cx="216010" cy="21601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9" name="struct.group.66"/>
          <p:cNvGrpSpPr/>
          <p:nvPr/>
        </p:nvGrpSpPr>
        <p:grpSpPr>
          <a:xfrm>
            <a:off x="9095542" y="3814662"/>
            <a:ext cx="216010" cy="216010"/>
            <a:chOff x="9095542" y="3814662"/>
            <a:chExt cx="216010" cy="216010"/>
          </a:xfrm>
          <a:effectLst/>
        </p:grpSpPr>
        <p:sp>
          <p:nvSpPr>
            <p:cNvPr id="240" name="struct.horizon.4.node.13"/>
            <p:cNvSpPr/>
            <p:nvPr/>
          </p:nvSpPr>
          <p:spPr>
            <a:xfrm>
              <a:off x="9095542" y="3814662"/>
              <a:ext cx="216010" cy="21601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1" name="slot.horizon.4.party.2"/>
          <p:cNvSpPr txBox="1"/>
          <p:nvPr/>
        </p:nvSpPr>
        <p:spPr>
          <a:xfrm>
            <a:off x="11346303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42" name="struct.group.67"/>
          <p:cNvGrpSpPr/>
          <p:nvPr/>
        </p:nvGrpSpPr>
        <p:grpSpPr>
          <a:xfrm>
            <a:off x="11448775" y="3118414"/>
            <a:ext cx="216010" cy="216011"/>
            <a:chOff x="11448775" y="3118414"/>
            <a:chExt cx="216010" cy="216011"/>
          </a:xfrm>
          <a:effectLst/>
        </p:grpSpPr>
        <p:sp>
          <p:nvSpPr>
            <p:cNvPr id="243" name="struct.horizon.4.node.14"/>
            <p:cNvSpPr/>
            <p:nvPr/>
          </p:nvSpPr>
          <p:spPr>
            <a:xfrm>
              <a:off x="11448775" y="3118414"/>
              <a:ext cx="216010" cy="21601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4" name="struct.group.68"/>
          <p:cNvGrpSpPr/>
          <p:nvPr/>
        </p:nvGrpSpPr>
        <p:grpSpPr>
          <a:xfrm>
            <a:off x="11448775" y="3814662"/>
            <a:ext cx="216010" cy="216010"/>
            <a:chOff x="11448775" y="3814662"/>
            <a:chExt cx="216010" cy="216010"/>
          </a:xfrm>
          <a:effectLst/>
        </p:grpSpPr>
        <p:sp>
          <p:nvSpPr>
            <p:cNvPr id="245" name="struct.horizon.4.node.15"/>
            <p:cNvSpPr/>
            <p:nvPr/>
          </p:nvSpPr>
          <p:spPr>
            <a:xfrm>
              <a:off x="11448775" y="3814662"/>
              <a:ext cx="216010" cy="21601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46" name="struct.line.17"/>
          <p:cNvCxnSpPr/>
          <p:nvPr/>
        </p:nvCxnSpPr>
        <p:spPr>
          <a:xfrm>
            <a:off x="10360781" y="4956330"/>
            <a:ext cx="0" cy="2244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247" name="struct.line.18"/>
          <p:cNvCxnSpPr/>
          <p:nvPr/>
        </p:nvCxnSpPr>
        <p:spPr>
          <a:xfrm>
            <a:off x="9311552" y="3226419"/>
            <a:ext cx="375000" cy="2262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48" name="struct.line.19"/>
          <p:cNvCxnSpPr/>
          <p:nvPr/>
        </p:nvCxnSpPr>
        <p:spPr>
          <a:xfrm rot="10800000" flipH="1">
            <a:off x="9311552" y="3613067"/>
            <a:ext cx="375000" cy="309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49" name="struct.line.20"/>
          <p:cNvCxnSpPr/>
          <p:nvPr/>
        </p:nvCxnSpPr>
        <p:spPr>
          <a:xfrm rot="10800000" flipH="1">
            <a:off x="11053883" y="3226303"/>
            <a:ext cx="394800" cy="303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250" name="struct.line.21"/>
          <p:cNvCxnSpPr/>
          <p:nvPr/>
        </p:nvCxnSpPr>
        <p:spPr>
          <a:xfrm>
            <a:off x="11053883" y="3690223"/>
            <a:ext cx="394800" cy="2325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251" name="slot.horizon.4.net.head"/>
          <p:cNvSpPr txBox="1"/>
          <p:nvPr/>
        </p:nvSpPr>
        <p:spPr>
          <a:xfrm>
            <a:off x="9569196" y="2203704"/>
            <a:ext cx="78638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Agent run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struct.horizon.4.callout"/>
          <p:cNvSpPr/>
          <p:nvPr/>
        </p:nvSpPr>
        <p:spPr>
          <a:xfrm>
            <a:off x="10460501" y="1604592"/>
            <a:ext cx="1276500" cy="321300"/>
          </a:xfrm>
          <a:prstGeom prst="roundRect">
            <a:avLst>
              <a:gd name="adj" fmla="val 1423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slot.horizon.4.callout"/>
          <p:cNvSpPr txBox="1"/>
          <p:nvPr/>
        </p:nvSpPr>
        <p:spPr>
          <a:xfrm>
            <a:off x="10515600" y="1618488"/>
            <a:ext cx="1170432" cy="28346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People own the</a:t>
            </a:r>
            <a:endParaRPr lang="en-US" sz="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exceptions only</a:t>
            </a:r>
            <a:endParaRPr lang="en-US" sz="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struct.horizon.4.node.16"/>
          <p:cNvSpPr/>
          <p:nvPr/>
        </p:nvSpPr>
        <p:spPr>
          <a:xfrm>
            <a:off x="10630333" y="4480109"/>
            <a:ext cx="227100" cy="2271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lot.horizon.2.party.2"/>
          <p:cNvSpPr txBox="1"/>
          <p:nvPr/>
        </p:nvSpPr>
        <p:spPr>
          <a:xfrm>
            <a:off x="5700509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56" name="struct.group.69"/>
          <p:cNvGrpSpPr/>
          <p:nvPr/>
        </p:nvGrpSpPr>
        <p:grpSpPr>
          <a:xfrm>
            <a:off x="5802980" y="3118414"/>
            <a:ext cx="216010" cy="216011"/>
            <a:chOff x="5802980" y="3118414"/>
            <a:chExt cx="216010" cy="216011"/>
          </a:xfrm>
          <a:effectLst/>
        </p:grpSpPr>
        <p:sp>
          <p:nvSpPr>
            <p:cNvPr id="257" name="struct.horizon.2.node.1"/>
            <p:cNvSpPr/>
            <p:nvPr/>
          </p:nvSpPr>
          <p:spPr>
            <a:xfrm>
              <a:off x="5802980" y="3118414"/>
              <a:ext cx="216010" cy="21601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8" name="struct.group.70"/>
          <p:cNvGrpSpPr/>
          <p:nvPr/>
        </p:nvGrpSpPr>
        <p:grpSpPr>
          <a:xfrm>
            <a:off x="5802980" y="3814662"/>
            <a:ext cx="216010" cy="216010"/>
            <a:chOff x="5802980" y="3814662"/>
            <a:chExt cx="216010" cy="216010"/>
          </a:xfrm>
          <a:effectLst/>
        </p:grpSpPr>
        <p:sp>
          <p:nvSpPr>
            <p:cNvPr id="259" name="struct.horizon.2.node.2"/>
            <p:cNvSpPr/>
            <p:nvPr/>
          </p:nvSpPr>
          <p:spPr>
            <a:xfrm>
              <a:off x="5802980" y="3814662"/>
              <a:ext cx="216010" cy="21601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0" name="slot.horizon.2.label"/>
          <p:cNvSpPr/>
          <p:nvPr/>
        </p:nvSpPr>
        <p:spPr>
          <a:xfrm>
            <a:off x="3265417" y="1051374"/>
            <a:ext cx="2909100" cy="385800"/>
          </a:xfrm>
          <a:prstGeom prst="chevron">
            <a:avLst>
              <a:gd name="adj" fmla="val 34079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Year 1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61" name="struct.horizon.2.team.group"/>
          <p:cNvGrpSpPr/>
          <p:nvPr/>
        </p:nvGrpSpPr>
        <p:grpSpPr>
          <a:xfrm>
            <a:off x="3848926" y="1708159"/>
            <a:ext cx="456600" cy="114300"/>
            <a:chOff x="3848926" y="1708159"/>
            <a:chExt cx="456600" cy="114300"/>
          </a:xfrm>
          <a:effectLst/>
        </p:grpSpPr>
        <p:sp>
          <p:nvSpPr>
            <p:cNvPr id="262" name="slot.horizon.2.team"/>
            <p:cNvSpPr/>
            <p:nvPr/>
          </p:nvSpPr>
          <p:spPr>
            <a:xfrm>
              <a:off x="3703320" y="1673352"/>
              <a:ext cx="566928" cy="18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4 pods</a:t>
              </a:r>
              <a:endPara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cxnSp>
        <p:nvCxnSpPr>
          <p:cNvPr id="263" name="struct.line.22"/>
          <p:cNvCxnSpPr/>
          <p:nvPr/>
        </p:nvCxnSpPr>
        <p:spPr>
          <a:xfrm>
            <a:off x="4720022" y="2057792"/>
            <a:ext cx="0" cy="179273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264" name="struct.horizon.2.tray"/>
          <p:cNvSpPr/>
          <p:nvPr/>
        </p:nvSpPr>
        <p:spPr>
          <a:xfrm rot="5400000">
            <a:off x="4515698" y="4133794"/>
            <a:ext cx="459000" cy="2626500"/>
          </a:xfrm>
          <a:prstGeom prst="roundRect">
            <a:avLst>
              <a:gd name="adj" fmla="val 9961"/>
            </a:avLst>
          </a:prstGeom>
          <a:solidFill>
            <a:schemeClr val="bg1">
              <a:lumMod val="95000"/>
            </a:schemeClr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struct.dot.9"/>
          <p:cNvSpPr/>
          <p:nvPr/>
        </p:nvSpPr>
        <p:spPr>
          <a:xfrm>
            <a:off x="4984526" y="5288670"/>
            <a:ext cx="227100" cy="2271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slot.horizon.2.tool.4"/>
          <p:cNvSpPr txBox="1"/>
          <p:nvPr/>
        </p:nvSpPr>
        <p:spPr>
          <a:xfrm>
            <a:off x="4892040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Queue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slot.horizon.2.tool.3"/>
          <p:cNvSpPr txBox="1"/>
          <p:nvPr/>
        </p:nvSpPr>
        <p:spPr>
          <a:xfrm>
            <a:off x="4349800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Forms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slot.horizon.2.tool.2"/>
          <p:cNvSpPr txBox="1"/>
          <p:nvPr/>
        </p:nvSpPr>
        <p:spPr>
          <a:xfrm>
            <a:off x="3852367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slot.horizon.2.tool.1"/>
          <p:cNvSpPr txBox="1"/>
          <p:nvPr/>
        </p:nvSpPr>
        <p:spPr>
          <a:xfrm>
            <a:off x="3416198" y="5486400"/>
            <a:ext cx="420624" cy="14630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Inbox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slot.horizon.2.tool.note"/>
          <p:cNvSpPr txBox="1"/>
          <p:nvPr/>
        </p:nvSpPr>
        <p:spPr>
          <a:xfrm>
            <a:off x="5468112" y="5276088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Shared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case file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struct.horizon.2.strip"/>
          <p:cNvSpPr/>
          <p:nvPr/>
        </p:nvSpPr>
        <p:spPr>
          <a:xfrm rot="5400000">
            <a:off x="4622347" y="4816950"/>
            <a:ext cx="245700" cy="2626500"/>
          </a:xfrm>
          <a:prstGeom prst="roundRect">
            <a:avLst>
              <a:gd name="adj" fmla="val 18608"/>
            </a:avLst>
          </a:prstGeom>
          <a:solidFill>
            <a:schemeClr val="bg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2" name="struct.line.23"/>
          <p:cNvCxnSpPr/>
          <p:nvPr/>
        </p:nvCxnSpPr>
        <p:spPr>
          <a:xfrm>
            <a:off x="4714986" y="5724656"/>
            <a:ext cx="0" cy="2358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273" name="slot.horizon.2.outcome"/>
          <p:cNvSpPr/>
          <p:nvPr/>
        </p:nvSpPr>
        <p:spPr>
          <a:xfrm>
            <a:off x="3986784" y="6025896"/>
            <a:ext cx="1920240" cy="201168"/>
          </a:xfrm>
          <a:prstGeom prst="roundRect">
            <a:avLst>
              <a:gd name="adj" fmla="val 2272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Assist cuts handling time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4" name="struct.horizon.2.net"/>
          <p:cNvSpPr/>
          <p:nvPr/>
        </p:nvSpPr>
        <p:spPr>
          <a:xfrm>
            <a:off x="3825189" y="2289398"/>
            <a:ext cx="1846500" cy="2637300"/>
          </a:xfrm>
          <a:prstGeom prst="roundRect">
            <a:avLst>
              <a:gd name="adj" fmla="val 2476"/>
            </a:avLst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Tx/>
              <a:buFont typeface="Arial"/>
              <a:buNone/>
              <a:tabLst/>
              <a:defRPr/>
            </a:pPr>
            <a:endParaRPr kumimoji="0" sz="62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struct.link.42"/>
          <p:cNvSpPr/>
          <p:nvPr/>
        </p:nvSpPr>
        <p:spPr>
          <a:xfrm>
            <a:off x="4848993" y="3615744"/>
            <a:ext cx="357239" cy="448578"/>
          </a:xfrm>
          <a:custGeom>
            <a:avLst/>
            <a:gdLst/>
            <a:ahLst/>
            <a:cxnLst/>
            <a:rect l="l" t="t" r="r" b="b"/>
            <a:pathLst>
              <a:path w="1504166" h="1692746" extrusionOk="0">
                <a:moveTo>
                  <a:pt x="1504166" y="0"/>
                </a:moveTo>
                <a:lnTo>
                  <a:pt x="0" y="1692746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struct.link.43"/>
          <p:cNvSpPr/>
          <p:nvPr/>
        </p:nvSpPr>
        <p:spPr>
          <a:xfrm>
            <a:off x="4188086" y="4058859"/>
            <a:ext cx="632187" cy="15452"/>
          </a:xfrm>
          <a:custGeom>
            <a:avLst/>
            <a:gdLst/>
            <a:ahLst/>
            <a:cxnLst/>
            <a:rect l="l" t="t" r="r" b="b"/>
            <a:pathLst>
              <a:path w="2661838" h="58308" extrusionOk="0">
                <a:moveTo>
                  <a:pt x="2661839" y="58309"/>
                </a:moveTo>
                <a:lnTo>
                  <a:pt x="0" y="0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struct.link.44"/>
          <p:cNvSpPr/>
          <p:nvPr/>
        </p:nvSpPr>
        <p:spPr>
          <a:xfrm>
            <a:off x="4114391" y="3533205"/>
            <a:ext cx="57791" cy="504085"/>
          </a:xfrm>
          <a:custGeom>
            <a:avLst/>
            <a:gdLst/>
            <a:ahLst/>
            <a:cxnLst/>
            <a:rect l="l" t="t" r="r" b="b"/>
            <a:pathLst>
              <a:path w="243330" h="1902209" extrusionOk="0">
                <a:moveTo>
                  <a:pt x="243331" y="1902209"/>
                </a:moveTo>
                <a:lnTo>
                  <a:pt x="0" y="0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struct.link.45"/>
          <p:cNvSpPr/>
          <p:nvPr/>
        </p:nvSpPr>
        <p:spPr>
          <a:xfrm>
            <a:off x="4248503" y="2996750"/>
            <a:ext cx="471790" cy="410421"/>
          </a:xfrm>
          <a:custGeom>
            <a:avLst/>
            <a:gdLst/>
            <a:ahLst/>
            <a:cxnLst/>
            <a:rect l="l" t="t" r="r" b="b"/>
            <a:pathLst>
              <a:path w="1945526" h="1465790" extrusionOk="0">
                <a:moveTo>
                  <a:pt x="0" y="0"/>
                </a:moveTo>
                <a:lnTo>
                  <a:pt x="1945526" y="1465791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struct.link.46"/>
          <p:cNvSpPr/>
          <p:nvPr/>
        </p:nvSpPr>
        <p:spPr>
          <a:xfrm>
            <a:off x="4742247" y="3072806"/>
            <a:ext cx="433440" cy="331064"/>
          </a:xfrm>
          <a:custGeom>
            <a:avLst/>
            <a:gdLst/>
            <a:ahLst/>
            <a:cxnLst/>
            <a:rect l="l" t="t" r="r" b="b"/>
            <a:pathLst>
              <a:path w="2039718" h="1471397" extrusionOk="0">
                <a:moveTo>
                  <a:pt x="0" y="1471398"/>
                </a:moveTo>
                <a:lnTo>
                  <a:pt x="2039719" y="0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struct.link.47"/>
          <p:cNvSpPr/>
          <p:nvPr/>
        </p:nvSpPr>
        <p:spPr>
          <a:xfrm>
            <a:off x="4241086" y="2765962"/>
            <a:ext cx="927766" cy="210401"/>
          </a:xfrm>
          <a:custGeom>
            <a:avLst/>
            <a:gdLst/>
            <a:ahLst/>
            <a:cxnLst/>
            <a:rect l="l" t="t" r="r" b="b"/>
            <a:pathLst>
              <a:path w="4078092" h="744781" extrusionOk="0">
                <a:moveTo>
                  <a:pt x="4078092" y="734914"/>
                </a:moveTo>
                <a:lnTo>
                  <a:pt x="1926688" y="0"/>
                </a:lnTo>
                <a:lnTo>
                  <a:pt x="0" y="744782"/>
                </a:lnTo>
              </a:path>
            </a:pathLst>
          </a:cu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  <a:tabLst/>
              <a:defRPr/>
            </a:pPr>
            <a:endParaRPr kumimoji="0" sz="5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1" name="struct.group.71"/>
          <p:cNvGrpSpPr/>
          <p:nvPr/>
        </p:nvGrpSpPr>
        <p:grpSpPr>
          <a:xfrm>
            <a:off x="4707823" y="2820257"/>
            <a:ext cx="8680" cy="498973"/>
            <a:chOff x="4707823" y="2820257"/>
            <a:chExt cx="8680" cy="498973"/>
          </a:xfrm>
          <a:effectLst/>
        </p:grpSpPr>
        <p:sp>
          <p:nvSpPr>
            <p:cNvPr id="282" name="struct.link.48"/>
            <p:cNvSpPr/>
            <p:nvPr/>
          </p:nvSpPr>
          <p:spPr>
            <a:xfrm>
              <a:off x="4708155" y="2832816"/>
              <a:ext cx="8111" cy="467651"/>
            </a:xfrm>
            <a:custGeom>
              <a:avLst/>
              <a:gdLst/>
              <a:ahLst/>
              <a:cxnLst/>
              <a:rect l="l" t="t" r="r" b="b"/>
              <a:pathLst>
                <a:path w="38349" h="2079377" extrusionOk="0">
                  <a:moveTo>
                    <a:pt x="0" y="2079378"/>
                  </a:moveTo>
                  <a:lnTo>
                    <a:pt x="3835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3" name="struct.group.72"/>
          <p:cNvGrpSpPr/>
          <p:nvPr/>
        </p:nvGrpSpPr>
        <p:grpSpPr>
          <a:xfrm>
            <a:off x="4206609" y="3518292"/>
            <a:ext cx="486375" cy="299495"/>
            <a:chOff x="4206609" y="3518292"/>
            <a:chExt cx="486375" cy="299495"/>
          </a:xfrm>
          <a:effectLst/>
        </p:grpSpPr>
        <p:sp>
          <p:nvSpPr>
            <p:cNvPr id="284" name="struct.link.49"/>
            <p:cNvSpPr/>
            <p:nvPr/>
          </p:nvSpPr>
          <p:spPr>
            <a:xfrm>
              <a:off x="4221123" y="3598638"/>
              <a:ext cx="302051" cy="212290"/>
            </a:xfrm>
            <a:custGeom>
              <a:avLst/>
              <a:gdLst/>
              <a:ahLst/>
              <a:cxnLst/>
              <a:rect l="l" t="t" r="r" b="b"/>
              <a:pathLst>
                <a:path w="1428139" h="943928" extrusionOk="0">
                  <a:moveTo>
                    <a:pt x="0" y="0"/>
                  </a:moveTo>
                  <a:lnTo>
                    <a:pt x="1428140" y="943928"/>
                  </a:lnTo>
                </a:path>
              </a:pathLst>
            </a:custGeom>
            <a:noFill/>
            <a:ln w="9525" cap="rnd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struct.link.50"/>
            <p:cNvSpPr/>
            <p:nvPr/>
          </p:nvSpPr>
          <p:spPr>
            <a:xfrm>
              <a:off x="4541579" y="3529136"/>
              <a:ext cx="145618" cy="272461"/>
            </a:xfrm>
            <a:custGeom>
              <a:avLst/>
              <a:gdLst/>
              <a:ahLst/>
              <a:cxnLst/>
              <a:rect l="l" t="t" r="r" b="b"/>
              <a:pathLst>
                <a:path w="688503" h="1211475" extrusionOk="0">
                  <a:moveTo>
                    <a:pt x="0" y="1211475"/>
                  </a:moveTo>
                  <a:lnTo>
                    <a:pt x="688503" y="0"/>
                  </a:lnTo>
                </a:path>
              </a:pathLst>
            </a:custGeom>
            <a:noFill/>
            <a:ln w="9525" cap="rnd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6" name="struct.group.73"/>
          <p:cNvGrpSpPr/>
          <p:nvPr/>
        </p:nvGrpSpPr>
        <p:grpSpPr>
          <a:xfrm>
            <a:off x="4171295" y="3782860"/>
            <a:ext cx="765490" cy="300664"/>
            <a:chOff x="4171295" y="3782860"/>
            <a:chExt cx="765490" cy="300664"/>
          </a:xfrm>
          <a:effectLst/>
        </p:grpSpPr>
        <p:sp>
          <p:nvSpPr>
            <p:cNvPr id="287" name="struct.link.51"/>
            <p:cNvSpPr/>
            <p:nvPr/>
          </p:nvSpPr>
          <p:spPr>
            <a:xfrm>
              <a:off x="4189118" y="3792915"/>
              <a:ext cx="327184" cy="275592"/>
            </a:xfrm>
            <a:custGeom>
              <a:avLst/>
              <a:gdLst/>
              <a:ahLst/>
              <a:cxnLst/>
              <a:rect l="l" t="t" r="r" b="b"/>
              <a:pathLst>
                <a:path w="1210375" h="958953" extrusionOk="0">
                  <a:moveTo>
                    <a:pt x="0" y="958954"/>
                  </a:moveTo>
                  <a:lnTo>
                    <a:pt x="1210375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struct.link.52"/>
            <p:cNvSpPr/>
            <p:nvPr/>
          </p:nvSpPr>
          <p:spPr>
            <a:xfrm>
              <a:off x="4547220" y="3796395"/>
              <a:ext cx="376895" cy="266956"/>
            </a:xfrm>
            <a:custGeom>
              <a:avLst/>
              <a:gdLst/>
              <a:ahLst/>
              <a:cxnLst/>
              <a:rect l="l" t="t" r="r" b="b"/>
              <a:pathLst>
                <a:path w="1394275" h="928902" extrusionOk="0">
                  <a:moveTo>
                    <a:pt x="0" y="0"/>
                  </a:moveTo>
                  <a:lnTo>
                    <a:pt x="1394275" y="928903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850" tIns="58425" rIns="116850" bIns="58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7"/>
                <a:buFont typeface="Arial"/>
                <a:buNone/>
                <a:tabLst/>
                <a:defRPr/>
              </a:pPr>
              <a:endParaRPr kumimoji="0" sz="6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9" name="struct.group.74"/>
          <p:cNvGrpSpPr/>
          <p:nvPr/>
        </p:nvGrpSpPr>
        <p:grpSpPr>
          <a:xfrm>
            <a:off x="4571691" y="3564754"/>
            <a:ext cx="744490" cy="211407"/>
            <a:chOff x="4571691" y="3564754"/>
            <a:chExt cx="744490" cy="211407"/>
          </a:xfrm>
          <a:effectLst/>
        </p:grpSpPr>
        <p:sp>
          <p:nvSpPr>
            <p:cNvPr id="290" name="struct.link.53"/>
            <p:cNvSpPr/>
            <p:nvPr/>
          </p:nvSpPr>
          <p:spPr>
            <a:xfrm rot="21170153">
              <a:off x="4576823" y="3615937"/>
              <a:ext cx="726793" cy="111145"/>
            </a:xfrm>
            <a:custGeom>
              <a:avLst/>
              <a:gdLst/>
              <a:ahLst/>
              <a:cxnLst/>
              <a:rect l="l" t="t" r="r" b="b"/>
              <a:pathLst>
                <a:path w="2665875" h="494278" extrusionOk="0">
                  <a:moveTo>
                    <a:pt x="2665876" y="0"/>
                  </a:moveTo>
                  <a:lnTo>
                    <a:pt x="0" y="494279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1" name="struct.group.75"/>
          <p:cNvGrpSpPr/>
          <p:nvPr/>
        </p:nvGrpSpPr>
        <p:grpSpPr>
          <a:xfrm>
            <a:off x="4775099" y="3458352"/>
            <a:ext cx="542473" cy="577106"/>
            <a:chOff x="4775099" y="3458352"/>
            <a:chExt cx="542473" cy="577106"/>
          </a:xfrm>
          <a:effectLst/>
        </p:grpSpPr>
        <p:sp>
          <p:nvSpPr>
            <p:cNvPr id="292" name="struct.link.54"/>
            <p:cNvSpPr/>
            <p:nvPr/>
          </p:nvSpPr>
          <p:spPr>
            <a:xfrm>
              <a:off x="4785837" y="3469768"/>
              <a:ext cx="515506" cy="548501"/>
            </a:xfrm>
            <a:custGeom>
              <a:avLst/>
              <a:gdLst/>
              <a:ahLst/>
              <a:cxnLst/>
              <a:rect l="l" t="t" r="r" b="b"/>
              <a:pathLst>
                <a:path w="1916371" h="1917907" extrusionOk="0">
                  <a:moveTo>
                    <a:pt x="1916371" y="1917907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116275" tIns="58125" rIns="116275" bIns="581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763"/>
                <a:buFont typeface="Arial"/>
                <a:buNone/>
                <a:tabLst/>
                <a:defRPr/>
              </a:pPr>
              <a:endParaRPr kumimoji="0" sz="636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3" name="struct.group.76"/>
          <p:cNvGrpSpPr/>
          <p:nvPr/>
        </p:nvGrpSpPr>
        <p:grpSpPr>
          <a:xfrm>
            <a:off x="4739873" y="3501470"/>
            <a:ext cx="176709" cy="492236"/>
            <a:chOff x="4739873" y="3501470"/>
            <a:chExt cx="176709" cy="492236"/>
          </a:xfrm>
          <a:effectLst/>
        </p:grpSpPr>
        <p:sp>
          <p:nvSpPr>
            <p:cNvPr id="294" name="struct.link.55"/>
            <p:cNvSpPr/>
            <p:nvPr/>
          </p:nvSpPr>
          <p:spPr>
            <a:xfrm rot="21149909">
              <a:off x="4792815" y="3505439"/>
              <a:ext cx="92549" cy="484298"/>
            </a:xfrm>
            <a:custGeom>
              <a:avLst/>
              <a:gdLst/>
              <a:ahLst/>
              <a:cxnLst/>
              <a:rect l="l" t="t" r="r" b="b"/>
              <a:pathLst>
                <a:path w="437771" h="2154057" extrusionOk="0">
                  <a:moveTo>
                    <a:pt x="437771" y="2154058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accent1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5" name="struct.group.77"/>
          <p:cNvGrpSpPr/>
          <p:nvPr/>
        </p:nvGrpSpPr>
        <p:grpSpPr>
          <a:xfrm>
            <a:off x="4112688" y="2996787"/>
            <a:ext cx="98497" cy="460081"/>
            <a:chOff x="4112688" y="2996787"/>
            <a:chExt cx="98497" cy="460081"/>
          </a:xfrm>
          <a:effectLst/>
        </p:grpSpPr>
        <p:sp>
          <p:nvSpPr>
            <p:cNvPr id="296" name="struct.link.56"/>
            <p:cNvSpPr/>
            <p:nvPr/>
          </p:nvSpPr>
          <p:spPr>
            <a:xfrm>
              <a:off x="4117511" y="3012143"/>
              <a:ext cx="90520" cy="421689"/>
            </a:xfrm>
            <a:custGeom>
              <a:avLst/>
              <a:gdLst/>
              <a:ahLst/>
              <a:cxnLst/>
              <a:rect l="l" t="t" r="r" b="b"/>
              <a:pathLst>
                <a:path w="109442" h="1539573" extrusionOk="0">
                  <a:moveTo>
                    <a:pt x="0" y="1539574"/>
                  </a:moveTo>
                  <a:lnTo>
                    <a:pt x="109443" y="0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7" name="struct.group.78"/>
          <p:cNvGrpSpPr/>
          <p:nvPr/>
        </p:nvGrpSpPr>
        <p:grpSpPr>
          <a:xfrm>
            <a:off x="5297294" y="3072261"/>
            <a:ext cx="16269" cy="447679"/>
            <a:chOff x="5297294" y="3072261"/>
            <a:chExt cx="16269" cy="447679"/>
          </a:xfrm>
          <a:effectLst/>
        </p:grpSpPr>
        <p:sp>
          <p:nvSpPr>
            <p:cNvPr id="298" name="struct.link.57"/>
            <p:cNvSpPr/>
            <p:nvPr/>
          </p:nvSpPr>
          <p:spPr>
            <a:xfrm>
              <a:off x="5297958" y="3091024"/>
              <a:ext cx="15178" cy="416358"/>
            </a:xfrm>
            <a:custGeom>
              <a:avLst/>
              <a:gdLst/>
              <a:ahLst/>
              <a:cxnLst/>
              <a:rect l="l" t="t" r="r" b="b"/>
              <a:pathLst>
                <a:path w="71765" h="1851301" extrusionOk="0">
                  <a:moveTo>
                    <a:pt x="0" y="0"/>
                  </a:moveTo>
                  <a:lnTo>
                    <a:pt x="71766" y="185130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7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9" name="struct.group.79"/>
          <p:cNvGrpSpPr/>
          <p:nvPr/>
        </p:nvGrpSpPr>
        <p:grpSpPr>
          <a:xfrm>
            <a:off x="4928026" y="4091073"/>
            <a:ext cx="371019" cy="5901"/>
            <a:chOff x="4928026" y="4091073"/>
            <a:chExt cx="371019" cy="5901"/>
          </a:xfrm>
          <a:effectLst/>
        </p:grpSpPr>
        <p:sp>
          <p:nvSpPr>
            <p:cNvPr id="300" name="struct.link.58"/>
            <p:cNvSpPr/>
            <p:nvPr/>
          </p:nvSpPr>
          <p:spPr>
            <a:xfrm>
              <a:off x="4939742" y="4091325"/>
              <a:ext cx="341800" cy="5447"/>
            </a:xfrm>
            <a:custGeom>
              <a:avLst/>
              <a:gdLst/>
              <a:ahLst/>
              <a:cxnLst/>
              <a:rect l="l" t="t" r="r" b="b"/>
              <a:pathLst>
                <a:path w="1616076" h="24220" extrusionOk="0">
                  <a:moveTo>
                    <a:pt x="1616077" y="0"/>
                  </a:moveTo>
                  <a:lnTo>
                    <a:pt x="0" y="24221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1" name="struct.group.80"/>
          <p:cNvGrpSpPr/>
          <p:nvPr/>
        </p:nvGrpSpPr>
        <p:grpSpPr>
          <a:xfrm>
            <a:off x="5317594" y="3666651"/>
            <a:ext cx="15416" cy="375554"/>
            <a:chOff x="5317594" y="3666651"/>
            <a:chExt cx="15416" cy="375554"/>
          </a:xfrm>
          <a:effectLst/>
        </p:grpSpPr>
        <p:sp>
          <p:nvSpPr>
            <p:cNvPr id="302" name="struct.link.59"/>
            <p:cNvSpPr/>
            <p:nvPr/>
          </p:nvSpPr>
          <p:spPr>
            <a:xfrm>
              <a:off x="5317594" y="3666651"/>
              <a:ext cx="14894" cy="363146"/>
            </a:xfrm>
            <a:custGeom>
              <a:avLst/>
              <a:gdLst/>
              <a:ahLst/>
              <a:cxnLst/>
              <a:rect l="l" t="t" r="r" b="b"/>
              <a:pathLst>
                <a:path w="70420" h="1614702" extrusionOk="0">
                  <a:moveTo>
                    <a:pt x="0" y="0"/>
                  </a:moveTo>
                  <a:lnTo>
                    <a:pt x="70420" y="1614702"/>
                  </a:lnTo>
                </a:path>
              </a:pathLst>
            </a:custGeom>
            <a:noFill/>
            <a:ln w="9525" cap="rnd" cmpd="sng">
              <a:solidFill>
                <a:schemeClr val="bg1">
                  <a:lumMod val="55000"/>
                </a:schemeClr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600"/>
                <a:buFont typeface="Arial"/>
                <a:buNone/>
                <a:tabLst/>
                <a:defRPr/>
              </a:pPr>
              <a:endParaRPr kumimoji="0" sz="5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03" name="struct.line.24"/>
          <p:cNvCxnSpPr/>
          <p:nvPr/>
        </p:nvCxnSpPr>
        <p:spPr>
          <a:xfrm>
            <a:off x="4166014" y="4195995"/>
            <a:ext cx="277800" cy="2187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04" name="struct.line.25"/>
          <p:cNvCxnSpPr/>
          <p:nvPr/>
        </p:nvCxnSpPr>
        <p:spPr>
          <a:xfrm rot="10800000" flipH="1">
            <a:off x="4604218" y="4184864"/>
            <a:ext cx="211200" cy="2298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305" name="struct.horizon.2.node.3"/>
          <p:cNvSpPr/>
          <p:nvPr/>
        </p:nvSpPr>
        <p:spPr>
          <a:xfrm>
            <a:off x="4410632" y="4381450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struct.horizon.2.node.4"/>
          <p:cNvSpPr/>
          <p:nvPr/>
        </p:nvSpPr>
        <p:spPr>
          <a:xfrm>
            <a:off x="4108370" y="2812820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7" name="struct.group.81"/>
          <p:cNvGrpSpPr/>
          <p:nvPr/>
        </p:nvGrpSpPr>
        <p:grpSpPr>
          <a:xfrm>
            <a:off x="4163467" y="2933188"/>
            <a:ext cx="109610" cy="66996"/>
            <a:chOff x="4163467" y="2933188"/>
            <a:chExt cx="109610" cy="66996"/>
          </a:xfrm>
          <a:effectLst/>
        </p:grpSpPr>
      </p:grpSp>
      <p:sp>
        <p:nvSpPr>
          <p:cNvPr id="308" name="struct.horizon.2.node.5"/>
          <p:cNvSpPr/>
          <p:nvPr/>
        </p:nvSpPr>
        <p:spPr>
          <a:xfrm>
            <a:off x="4007935" y="3419603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9" name="struct.group.82"/>
          <p:cNvGrpSpPr/>
          <p:nvPr/>
        </p:nvGrpSpPr>
        <p:grpSpPr>
          <a:xfrm>
            <a:off x="4062420" y="3545997"/>
            <a:ext cx="109610" cy="66996"/>
            <a:chOff x="4062420" y="3545997"/>
            <a:chExt cx="109610" cy="66996"/>
          </a:xfrm>
          <a:effectLst/>
        </p:grpSpPr>
      </p:grpSp>
      <p:sp>
        <p:nvSpPr>
          <p:cNvPr id="310" name="struct.horizon.2.node.6"/>
          <p:cNvSpPr/>
          <p:nvPr/>
        </p:nvSpPr>
        <p:spPr>
          <a:xfrm>
            <a:off x="4052614" y="3969195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" name="struct.group.83"/>
          <p:cNvGrpSpPr/>
          <p:nvPr/>
        </p:nvGrpSpPr>
        <p:grpSpPr>
          <a:xfrm>
            <a:off x="4111254" y="4088349"/>
            <a:ext cx="109610" cy="66996"/>
            <a:chOff x="4111254" y="4088349"/>
            <a:chExt cx="109610" cy="66996"/>
          </a:xfrm>
          <a:effectLst/>
        </p:grpSpPr>
      </p:grpSp>
      <p:sp>
        <p:nvSpPr>
          <p:cNvPr id="312" name="struct.horizon.2.node.7"/>
          <p:cNvSpPr/>
          <p:nvPr/>
        </p:nvSpPr>
        <p:spPr>
          <a:xfrm>
            <a:off x="4393879" y="3682276"/>
            <a:ext cx="228900" cy="229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3" name="struct.group.84"/>
          <p:cNvGrpSpPr/>
          <p:nvPr/>
        </p:nvGrpSpPr>
        <p:grpSpPr>
          <a:xfrm>
            <a:off x="4451008" y="3805165"/>
            <a:ext cx="109610" cy="66996"/>
            <a:chOff x="4451008" y="3805165"/>
            <a:chExt cx="109610" cy="66996"/>
          </a:xfrm>
          <a:effectLst/>
        </p:grpSpPr>
      </p:grpSp>
      <p:sp>
        <p:nvSpPr>
          <p:cNvPr id="314" name="struct.horizon.2.node.8"/>
          <p:cNvSpPr/>
          <p:nvPr/>
        </p:nvSpPr>
        <p:spPr>
          <a:xfrm>
            <a:off x="4608226" y="2665726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5" name="struct.group.85"/>
          <p:cNvGrpSpPr/>
          <p:nvPr/>
        </p:nvGrpSpPr>
        <p:grpSpPr>
          <a:xfrm>
            <a:off x="4664656" y="2782508"/>
            <a:ext cx="109610" cy="66996"/>
            <a:chOff x="4664656" y="2782508"/>
            <a:chExt cx="109610" cy="66996"/>
          </a:xfrm>
          <a:effectLst/>
        </p:grpSpPr>
      </p:grpSp>
      <p:sp>
        <p:nvSpPr>
          <p:cNvPr id="316" name="struct.horizon.2.node.9"/>
          <p:cNvSpPr/>
          <p:nvPr/>
        </p:nvSpPr>
        <p:spPr>
          <a:xfrm>
            <a:off x="5174409" y="2890015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7" name="struct.group.86"/>
          <p:cNvGrpSpPr/>
          <p:nvPr/>
        </p:nvGrpSpPr>
        <p:grpSpPr>
          <a:xfrm>
            <a:off x="5233196" y="3008042"/>
            <a:ext cx="109610" cy="66996"/>
            <a:chOff x="5233196" y="3008042"/>
            <a:chExt cx="109610" cy="66996"/>
          </a:xfrm>
          <a:effectLst/>
        </p:grpSpPr>
      </p:grpSp>
      <p:sp>
        <p:nvSpPr>
          <p:cNvPr id="318" name="struct.horizon.2.node.10"/>
          <p:cNvSpPr/>
          <p:nvPr/>
        </p:nvSpPr>
        <p:spPr>
          <a:xfrm>
            <a:off x="5214839" y="3496767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9" name="struct.group.87"/>
          <p:cNvGrpSpPr/>
          <p:nvPr/>
        </p:nvGrpSpPr>
        <p:grpSpPr>
          <a:xfrm>
            <a:off x="5271613" y="3616420"/>
            <a:ext cx="109610" cy="66996"/>
            <a:chOff x="5271613" y="3616420"/>
            <a:chExt cx="109610" cy="66996"/>
          </a:xfrm>
          <a:effectLst/>
        </p:grpSpPr>
      </p:grpSp>
      <p:sp>
        <p:nvSpPr>
          <p:cNvPr id="320" name="struct.horizon.2.node.11"/>
          <p:cNvSpPr/>
          <p:nvPr/>
        </p:nvSpPr>
        <p:spPr>
          <a:xfrm>
            <a:off x="5262287" y="3978220"/>
            <a:ext cx="226800" cy="2268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1" name="struct.group.88"/>
          <p:cNvGrpSpPr/>
          <p:nvPr/>
        </p:nvGrpSpPr>
        <p:grpSpPr>
          <a:xfrm>
            <a:off x="5317651" y="4098781"/>
            <a:ext cx="109610" cy="66996"/>
            <a:chOff x="5317651" y="4098781"/>
            <a:chExt cx="109610" cy="66996"/>
          </a:xfrm>
          <a:effectLst/>
        </p:grpSpPr>
      </p:grpSp>
      <p:sp>
        <p:nvSpPr>
          <p:cNvPr id="322" name="struct.horizon.2.node.12"/>
          <p:cNvSpPr/>
          <p:nvPr/>
        </p:nvSpPr>
        <p:spPr>
          <a:xfrm>
            <a:off x="4782232" y="3991326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3" name="struct.group.89"/>
          <p:cNvGrpSpPr/>
          <p:nvPr/>
        </p:nvGrpSpPr>
        <p:grpSpPr>
          <a:xfrm>
            <a:off x="4840478" y="4109794"/>
            <a:ext cx="109610" cy="66996"/>
            <a:chOff x="4840478" y="4109794"/>
            <a:chExt cx="109610" cy="66996"/>
          </a:xfrm>
          <a:effectLst/>
        </p:grpSpPr>
      </p:grpSp>
      <p:grpSp>
        <p:nvGrpSpPr>
          <p:cNvPr id="324" name="struct.group.90"/>
          <p:cNvGrpSpPr/>
          <p:nvPr/>
        </p:nvGrpSpPr>
        <p:grpSpPr>
          <a:xfrm>
            <a:off x="4465101" y="4499017"/>
            <a:ext cx="109610" cy="66996"/>
            <a:chOff x="4465101" y="4499017"/>
            <a:chExt cx="109610" cy="66996"/>
          </a:xfrm>
          <a:effectLst/>
        </p:grpSpPr>
      </p:grpSp>
      <p:sp>
        <p:nvSpPr>
          <p:cNvPr id="325" name="struct.horizon.2.node.13"/>
          <p:cNvSpPr/>
          <p:nvPr/>
        </p:nvSpPr>
        <p:spPr>
          <a:xfrm>
            <a:off x="4611388" y="3310855"/>
            <a:ext cx="226800" cy="226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112900" tIns="56425" rIns="112900" bIns="56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741"/>
              <a:buFont typeface="Arial"/>
              <a:buNone/>
              <a:tabLst/>
              <a:defRPr/>
            </a:pPr>
            <a:endParaRPr kumimoji="0" sz="617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slot.horizon.2.step.10"/>
          <p:cNvSpPr txBox="1"/>
          <p:nvPr/>
        </p:nvSpPr>
        <p:spPr>
          <a:xfrm>
            <a:off x="5205955" y="4276154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7" name="slot.horizon.2.step.11"/>
          <p:cNvSpPr txBox="1"/>
          <p:nvPr/>
        </p:nvSpPr>
        <p:spPr>
          <a:xfrm>
            <a:off x="4215900" y="4647162"/>
            <a:ext cx="5637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Close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slot.horizon.2.step.8"/>
          <p:cNvSpPr txBox="1"/>
          <p:nvPr/>
        </p:nvSpPr>
        <p:spPr>
          <a:xfrm>
            <a:off x="3840668" y="4229987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Fraud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9" name="slot.horizon.2.step.1"/>
          <p:cNvSpPr txBox="1"/>
          <p:nvPr/>
        </p:nvSpPr>
        <p:spPr>
          <a:xfrm>
            <a:off x="4453273" y="2415543"/>
            <a:ext cx="5463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Intake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slot.horizon.2.step.2"/>
          <p:cNvSpPr txBox="1"/>
          <p:nvPr/>
        </p:nvSpPr>
        <p:spPr>
          <a:xfrm>
            <a:off x="3887885" y="2487244"/>
            <a:ext cx="5064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Notice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1" name="slot.horizon.2.step.3"/>
          <p:cNvSpPr txBox="1"/>
          <p:nvPr/>
        </p:nvSpPr>
        <p:spPr>
          <a:xfrm>
            <a:off x="5118912" y="2561825"/>
            <a:ext cx="4335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Policy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slot.horizon.2.step.4"/>
          <p:cNvSpPr txBox="1"/>
          <p:nvPr/>
        </p:nvSpPr>
        <p:spPr>
          <a:xfrm>
            <a:off x="3875786" y="3103703"/>
            <a:ext cx="4776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Triage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3" name="slot.horizon.2.step.5"/>
          <p:cNvSpPr txBox="1"/>
          <p:nvPr/>
        </p:nvSpPr>
        <p:spPr>
          <a:xfrm>
            <a:off x="4509487" y="3070238"/>
            <a:ext cx="4449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Verify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4" name="slot.horizon.2.step.6"/>
          <p:cNvSpPr txBox="1"/>
          <p:nvPr/>
        </p:nvSpPr>
        <p:spPr>
          <a:xfrm>
            <a:off x="4645152" y="3625889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Assess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5" name="slot.horizon.2.step.7"/>
          <p:cNvSpPr txBox="1"/>
          <p:nvPr/>
        </p:nvSpPr>
        <p:spPr>
          <a:xfrm>
            <a:off x="5070824" y="3172880"/>
            <a:ext cx="529500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Reserve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slot.horizon.2.party.1"/>
          <p:cNvSpPr txBox="1"/>
          <p:nvPr/>
        </p:nvSpPr>
        <p:spPr>
          <a:xfrm>
            <a:off x="3347321" y="2852928"/>
            <a:ext cx="420624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Client</a:t>
            </a:r>
            <a:endParaRPr lang="en-US" sz="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37" name="struct.group.91"/>
          <p:cNvGrpSpPr/>
          <p:nvPr/>
        </p:nvGrpSpPr>
        <p:grpSpPr>
          <a:xfrm>
            <a:off x="3449747" y="3118414"/>
            <a:ext cx="216010" cy="216011"/>
            <a:chOff x="3449747" y="3118414"/>
            <a:chExt cx="216010" cy="216011"/>
          </a:xfrm>
          <a:effectLst/>
        </p:grpSpPr>
        <p:sp>
          <p:nvSpPr>
            <p:cNvPr id="338" name="struct.horizon.2.node.14"/>
            <p:cNvSpPr/>
            <p:nvPr/>
          </p:nvSpPr>
          <p:spPr>
            <a:xfrm>
              <a:off x="3449747" y="3118414"/>
              <a:ext cx="216010" cy="21601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struct.group.92"/>
          <p:cNvGrpSpPr/>
          <p:nvPr/>
        </p:nvGrpSpPr>
        <p:grpSpPr>
          <a:xfrm>
            <a:off x="3449747" y="3814662"/>
            <a:ext cx="216010" cy="216010"/>
            <a:chOff x="3449747" y="3814662"/>
            <a:chExt cx="216010" cy="216010"/>
          </a:xfrm>
          <a:effectLst/>
        </p:grpSpPr>
        <p:sp>
          <p:nvSpPr>
            <p:cNvPr id="340" name="struct.horizon.2.node.15"/>
            <p:cNvSpPr/>
            <p:nvPr/>
          </p:nvSpPr>
          <p:spPr>
            <a:xfrm>
              <a:off x="3449747" y="3814662"/>
              <a:ext cx="216010" cy="21601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41" name="struct.line.26"/>
          <p:cNvCxnSpPr/>
          <p:nvPr/>
        </p:nvCxnSpPr>
        <p:spPr>
          <a:xfrm>
            <a:off x="4714986" y="4956330"/>
            <a:ext cx="0" cy="224400"/>
          </a:xfrm>
          <a:prstGeom prst="straightConnector1">
            <a:avLst/>
          </a:prstGeom>
          <a:noFill/>
          <a:ln w="14250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342" name="struct.line.27"/>
          <p:cNvCxnSpPr/>
          <p:nvPr/>
        </p:nvCxnSpPr>
        <p:spPr>
          <a:xfrm>
            <a:off x="3665757" y="3226419"/>
            <a:ext cx="375300" cy="2265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43" name="struct.line.28"/>
          <p:cNvCxnSpPr/>
          <p:nvPr/>
        </p:nvCxnSpPr>
        <p:spPr>
          <a:xfrm rot="10800000" flipH="1">
            <a:off x="3665757" y="3613067"/>
            <a:ext cx="375300" cy="309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44" name="struct.line.29"/>
          <p:cNvCxnSpPr/>
          <p:nvPr/>
        </p:nvCxnSpPr>
        <p:spPr>
          <a:xfrm rot="10800000" flipH="1">
            <a:off x="5408425" y="3226381"/>
            <a:ext cx="394500" cy="3036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345" name="struct.line.30"/>
          <p:cNvCxnSpPr/>
          <p:nvPr/>
        </p:nvCxnSpPr>
        <p:spPr>
          <a:xfrm>
            <a:off x="5408425" y="3690353"/>
            <a:ext cx="394500" cy="232200"/>
          </a:xfrm>
          <a:prstGeom prst="straightConnector1">
            <a:avLst/>
          </a:prstGeom>
          <a:noFill/>
          <a:ln w="9525" cap="rnd" cmpd="sng">
            <a:solidFill>
              <a:schemeClr val="bg1">
                <a:lumMod val="55000"/>
              </a:schemeClr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346" name="slot.horizon.2.net.head"/>
          <p:cNvSpPr txBox="1"/>
          <p:nvPr/>
        </p:nvSpPr>
        <p:spPr>
          <a:xfrm>
            <a:off x="3922776" y="2203704"/>
            <a:ext cx="786384" cy="164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Agent assist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7" name="struct.line.31"/>
          <p:cNvCxnSpPr/>
          <p:nvPr/>
        </p:nvCxnSpPr>
        <p:spPr>
          <a:xfrm rot="10800000" flipH="1">
            <a:off x="4234735" y="3424403"/>
            <a:ext cx="376800" cy="1086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348" name="struct.line.32"/>
          <p:cNvCxnSpPr/>
          <p:nvPr/>
        </p:nvCxnSpPr>
        <p:spPr>
          <a:xfrm rot="10800000">
            <a:off x="4838188" y="3424255"/>
            <a:ext cx="379500" cy="149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349" name="struct.horizon.2.node.16"/>
          <p:cNvSpPr/>
          <p:nvPr/>
        </p:nvSpPr>
        <p:spPr>
          <a:xfrm>
            <a:off x="4940508" y="4431796"/>
            <a:ext cx="227100" cy="2271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spcFirstLastPara="1" wrap="square" lIns="72150" tIns="72150" rIns="72150" bIns="721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105"/>
              <a:buFont typeface="Arial"/>
              <a:buNone/>
              <a:tabLst/>
              <a:defRPr/>
            </a:pPr>
            <a:endParaRPr kumimoji="0" sz="1105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90000"/>
                  <a:lumOff val="10000"/>
                </a:schemeClr>
              </a:solidFill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0" name="struct.line.33"/>
          <p:cNvCxnSpPr/>
          <p:nvPr/>
        </p:nvCxnSpPr>
        <p:spPr>
          <a:xfrm rot="10800000" flipH="1">
            <a:off x="5108001" y="4171806"/>
            <a:ext cx="187500" cy="272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351" name="struct.line.34"/>
          <p:cNvCxnSpPr/>
          <p:nvPr/>
        </p:nvCxnSpPr>
        <p:spPr>
          <a:xfrm rot="10800000" flipH="1">
            <a:off x="5643445" y="4049329"/>
            <a:ext cx="187500" cy="272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352" name="struct.line.35"/>
          <p:cNvCxnSpPr/>
          <p:nvPr/>
        </p:nvCxnSpPr>
        <p:spPr>
          <a:xfrm>
            <a:off x="4629950" y="4495500"/>
            <a:ext cx="310500" cy="738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55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353" name="struct.line.36"/>
          <p:cNvCxnSpPr/>
          <p:nvPr/>
        </p:nvCxnSpPr>
        <p:spPr>
          <a:xfrm rot="10800000">
            <a:off x="4917626" y="4215318"/>
            <a:ext cx="86700" cy="2316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354" name="struct.line.37"/>
          <p:cNvCxnSpPr/>
          <p:nvPr/>
        </p:nvCxnSpPr>
        <p:spPr>
          <a:xfrm rot="10800000">
            <a:off x="4508329" y="3911476"/>
            <a:ext cx="462600" cy="5670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355" name="slot.horizon.2.step.9"/>
          <p:cNvSpPr txBox="1"/>
          <p:nvPr/>
        </p:nvSpPr>
        <p:spPr>
          <a:xfrm>
            <a:off x="4624038" y="4226972"/>
            <a:ext cx="433800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Settle</a:t>
            </a:r>
            <a:endParaRPr lang="en-US" sz="8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56" name="struct.legend.1"/>
          <p:cNvGrpSpPr/>
          <p:nvPr/>
        </p:nvGrpSpPr>
        <p:grpSpPr>
          <a:xfrm>
            <a:off x="3081648" y="6430183"/>
            <a:ext cx="193210" cy="193242"/>
            <a:chOff x="3081648" y="6430183"/>
            <a:chExt cx="193210" cy="193242"/>
          </a:xfrm>
          <a:effectLst/>
        </p:grpSpPr>
        <p:sp>
          <p:nvSpPr>
            <p:cNvPr id="357" name="struct.legend.1.disc"/>
            <p:cNvSpPr/>
            <p:nvPr/>
          </p:nvSpPr>
          <p:spPr>
            <a:xfrm>
              <a:off x="3081648" y="6430183"/>
              <a:ext cx="193210" cy="19324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spcFirstLastPara="1" wrap="square" lIns="54775" tIns="54775" rIns="54775" bIns="5477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839"/>
                <a:buFont typeface="Arial"/>
                <a:buNone/>
                <a:tabLst/>
                <a:defRPr/>
              </a:pPr>
              <a:endParaRPr kumimoji="0" sz="8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8" name="slot.legend.head"/>
          <p:cNvSpPr/>
          <p:nvPr/>
        </p:nvSpPr>
        <p:spPr>
          <a:xfrm>
            <a:off x="2103120" y="6437376"/>
            <a:ext cx="914400" cy="173736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Step owner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9" name="slot.legend.1"/>
          <p:cNvSpPr/>
          <p:nvPr/>
        </p:nvSpPr>
        <p:spPr>
          <a:xfrm>
            <a:off x="3328416" y="6437376"/>
            <a:ext cx="566928" cy="173736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Person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60" name="struct.legend.2"/>
          <p:cNvGrpSpPr/>
          <p:nvPr/>
        </p:nvGrpSpPr>
        <p:grpSpPr>
          <a:xfrm>
            <a:off x="3962323" y="6430183"/>
            <a:ext cx="193210" cy="193242"/>
            <a:chOff x="3962323" y="6430183"/>
            <a:chExt cx="193210" cy="193242"/>
          </a:xfrm>
          <a:effectLst/>
        </p:grpSpPr>
        <p:sp>
          <p:nvSpPr>
            <p:cNvPr id="361" name="struct.legend.2.disc"/>
            <p:cNvSpPr/>
            <p:nvPr/>
          </p:nvSpPr>
          <p:spPr>
            <a:xfrm>
              <a:off x="3962323" y="6430183"/>
              <a:ext cx="193210" cy="1932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54775" tIns="54775" rIns="54775" bIns="54775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839"/>
                <a:buFont typeface="Arial"/>
                <a:buNone/>
                <a:tabLst/>
                <a:defRPr/>
              </a:pPr>
              <a:endParaRPr kumimoji="0" sz="839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2" name="slot.legend.2"/>
          <p:cNvSpPr/>
          <p:nvPr/>
        </p:nvSpPr>
        <p:spPr>
          <a:xfrm>
            <a:off x="4206240" y="6437376"/>
            <a:ext cx="640080" cy="173736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3" name="slot.horizon.1.team.icon.1"/>
          <p:cNvSpPr/>
          <p:nvPr/>
        </p:nvSpPr>
        <p:spPr>
          <a:xfrm>
            <a:off x="752551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4" name="slot.horizon.1.team.icon.2"/>
          <p:cNvSpPr/>
          <p:nvPr/>
        </p:nvSpPr>
        <p:spPr>
          <a:xfrm>
            <a:off x="1077163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5" name="slot.horizon.1.team.icon.3"/>
          <p:cNvSpPr/>
          <p:nvPr/>
        </p:nvSpPr>
        <p:spPr>
          <a:xfrm>
            <a:off x="1401775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6" name="slot.horizon.1.team.icon.4"/>
          <p:cNvSpPr/>
          <p:nvPr/>
        </p:nvSpPr>
        <p:spPr>
          <a:xfrm>
            <a:off x="1726387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7" name="slot.horizon.1.team.icon.5"/>
          <p:cNvSpPr/>
          <p:nvPr/>
        </p:nvSpPr>
        <p:spPr>
          <a:xfrm>
            <a:off x="2050999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8" name="slot.horizon.1.team.icon.6"/>
          <p:cNvSpPr/>
          <p:nvPr/>
        </p:nvSpPr>
        <p:spPr>
          <a:xfrm>
            <a:off x="2375611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69" name="slot.horizon.2.team.icon.1"/>
          <p:cNvSpPr/>
          <p:nvPr/>
        </p:nvSpPr>
        <p:spPr>
          <a:xfrm>
            <a:off x="4381805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0" name="slot.horizon.2.team.icon.2"/>
          <p:cNvSpPr/>
          <p:nvPr/>
        </p:nvSpPr>
        <p:spPr>
          <a:xfrm>
            <a:off x="4706417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1" name="slot.horizon.2.team.icon.3"/>
          <p:cNvSpPr/>
          <p:nvPr/>
        </p:nvSpPr>
        <p:spPr>
          <a:xfrm>
            <a:off x="5031029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2" name="slot.horizon.2.team.icon.4"/>
          <p:cNvSpPr/>
          <p:nvPr/>
        </p:nvSpPr>
        <p:spPr>
          <a:xfrm>
            <a:off x="5355641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3" name="slot.horizon.3.team.icon.1"/>
          <p:cNvSpPr/>
          <p:nvPr/>
        </p:nvSpPr>
        <p:spPr>
          <a:xfrm>
            <a:off x="7364578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4" name="slot.horizon.3.team.icon.2"/>
          <p:cNvSpPr/>
          <p:nvPr/>
        </p:nvSpPr>
        <p:spPr>
          <a:xfrm>
            <a:off x="7689190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5" name="slot.horizon.3.team.icon.3"/>
          <p:cNvSpPr/>
          <p:nvPr/>
        </p:nvSpPr>
        <p:spPr>
          <a:xfrm>
            <a:off x="8013802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6" name="slot.horizon.4.team.icon.1"/>
          <p:cNvSpPr/>
          <p:nvPr/>
        </p:nvSpPr>
        <p:spPr>
          <a:xfrm>
            <a:off x="9690811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7" name="slot.horizon.4.team.icon.2"/>
          <p:cNvSpPr/>
          <p:nvPr/>
        </p:nvSpPr>
        <p:spPr>
          <a:xfrm>
            <a:off x="9993478" y="165232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050" cap="rnd">
            <a:solidFill>
              <a:schemeClr val="tx1">
                <a:lumMod val="80000"/>
                <a:lumOff val="20000"/>
              </a:schemeClr>
            </a:solidFill>
            <a:round/>
          </a:ln>
          <a:effectLst/>
        </p:spPr>
      </p:sp>
      <p:sp>
        <p:nvSpPr>
          <p:cNvPr id="378" name="slot.today.member.1.icon"/>
          <p:cNvSpPr/>
          <p:nvPr/>
        </p:nvSpPr>
        <p:spPr>
          <a:xfrm>
            <a:off x="662940" y="259232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379" name="slot.today.member.2.icon"/>
          <p:cNvSpPr/>
          <p:nvPr/>
        </p:nvSpPr>
        <p:spPr>
          <a:xfrm>
            <a:off x="1815084" y="259232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380" name="slot.today.hub.icon.1"/>
          <p:cNvSpPr/>
          <p:nvPr/>
        </p:nvSpPr>
        <p:spPr>
          <a:xfrm>
            <a:off x="1682496" y="385419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81" name="slot.today.hub.icon.2"/>
          <p:cNvSpPr/>
          <p:nvPr/>
        </p:nvSpPr>
        <p:spPr>
          <a:xfrm>
            <a:off x="1682496" y="4325112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82" name="slot.today.channel.1.icon"/>
          <p:cNvSpPr/>
          <p:nvPr/>
        </p:nvSpPr>
        <p:spPr>
          <a:xfrm>
            <a:off x="1190166" y="3944155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11430" cap="rnd">
            <a:solidFill>
              <a:schemeClr val="accent1"/>
            </a:solidFill>
            <a:round/>
          </a:ln>
          <a:effectLst/>
        </p:spPr>
      </p:sp>
      <p:sp>
        <p:nvSpPr>
          <p:cNvPr id="383" name="slot.today.channel.2.icon"/>
          <p:cNvSpPr/>
          <p:nvPr/>
        </p:nvSpPr>
        <p:spPr>
          <a:xfrm>
            <a:off x="1405001" y="3521528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832" y="16568"/>
                </a:moveTo>
                <a:cubicBezTo>
                  <a:pt x="14257" y="16763"/>
                  <a:pt x="14761" y="16637"/>
                  <a:pt x="15045" y="16265"/>
                </a:cubicBezTo>
                <a:lnTo>
                  <a:pt x="15400" y="15800"/>
                </a:lnTo>
                <a:cubicBezTo>
                  <a:pt x="15778" y="15296"/>
                  <a:pt x="16370" y="15000"/>
                  <a:pt x="17000" y="15000"/>
                </a:cubicBezTo>
                <a:lnTo>
                  <a:pt x="20000" y="15000"/>
                </a:lnTo>
                <a:cubicBezTo>
                  <a:pt x="21105" y="15000"/>
                  <a:pt x="22000" y="15895"/>
                  <a:pt x="22000" y="17000"/>
                </a:cubicBezTo>
                <a:lnTo>
                  <a:pt x="22000" y="20000"/>
                </a:lnTo>
                <a:cubicBezTo>
                  <a:pt x="22000" y="21105"/>
                  <a:pt x="21105" y="22000"/>
                  <a:pt x="20000" y="22000"/>
                </a:cubicBezTo>
                <a:cubicBezTo>
                  <a:pt x="10059" y="22000"/>
                  <a:pt x="2000" y="13941"/>
                  <a:pt x="2000" y="4000"/>
                </a:cubicBezTo>
                <a:cubicBezTo>
                  <a:pt x="2000" y="2895"/>
                  <a:pt x="2895" y="2000"/>
                  <a:pt x="4000" y="2000"/>
                </a:cubicBezTo>
                <a:lnTo>
                  <a:pt x="7000" y="2000"/>
                </a:lnTo>
                <a:cubicBezTo>
                  <a:pt x="8105" y="2000"/>
                  <a:pt x="9000" y="2895"/>
                  <a:pt x="9000" y="4000"/>
                </a:cubicBezTo>
                <a:lnTo>
                  <a:pt x="9000" y="7000"/>
                </a:lnTo>
                <a:cubicBezTo>
                  <a:pt x="9000" y="7630"/>
                  <a:pt x="8704" y="8222"/>
                  <a:pt x="8200" y="8600"/>
                </a:cubicBezTo>
                <a:lnTo>
                  <a:pt x="7732" y="8951"/>
                </a:lnTo>
                <a:cubicBezTo>
                  <a:pt x="7353" y="9240"/>
                  <a:pt x="7231" y="9756"/>
                  <a:pt x="7440" y="10184"/>
                </a:cubicBezTo>
                <a:cubicBezTo>
                  <a:pt x="8807" y="12960"/>
                  <a:pt x="11054" y="15205"/>
                  <a:pt x="13832" y="16568"/>
                </a:cubicBezTo>
              </a:path>
            </a:pathLst>
          </a:custGeom>
          <a:noFill/>
          <a:ln w="11430" cap="rnd">
            <a:solidFill>
              <a:schemeClr val="accent1"/>
            </a:solidFill>
            <a:round/>
          </a:ln>
          <a:effectLst/>
        </p:spPr>
      </p:sp>
      <p:sp>
        <p:nvSpPr>
          <p:cNvPr id="384" name="slot.today.channel.3.icon"/>
          <p:cNvSpPr/>
          <p:nvPr/>
        </p:nvSpPr>
        <p:spPr>
          <a:xfrm>
            <a:off x="2023182" y="3521528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1430" cap="rnd">
            <a:solidFill>
              <a:schemeClr val="accent1"/>
            </a:solidFill>
            <a:round/>
          </a:ln>
          <a:effectLst/>
        </p:spPr>
      </p:sp>
      <p:sp>
        <p:nvSpPr>
          <p:cNvPr id="385" name="slot.today.channel.4.icon"/>
          <p:cNvSpPr/>
          <p:nvPr/>
        </p:nvSpPr>
        <p:spPr>
          <a:xfrm>
            <a:off x="2227212" y="3944155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1430" cap="rnd">
            <a:solidFill>
              <a:schemeClr val="accent1"/>
            </a:solidFill>
            <a:round/>
          </a:ln>
          <a:effectLst/>
        </p:spPr>
      </p:sp>
      <p:sp>
        <p:nvSpPr>
          <p:cNvPr id="386" name="slot.today.channel.5.icon"/>
          <p:cNvSpPr/>
          <p:nvPr/>
        </p:nvSpPr>
        <p:spPr>
          <a:xfrm>
            <a:off x="1228162" y="4440255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7000"/>
                </a:moveTo>
                <a:cubicBezTo>
                  <a:pt x="22000" y="18105"/>
                  <a:pt x="21105" y="19000"/>
                  <a:pt x="20000" y="19000"/>
                </a:cubicBezTo>
                <a:lnTo>
                  <a:pt x="6828" y="19000"/>
                </a:lnTo>
                <a:cubicBezTo>
                  <a:pt x="6298" y="19000"/>
                  <a:pt x="5789" y="19211"/>
                  <a:pt x="5414" y="19586"/>
                </a:cubicBezTo>
                <a:lnTo>
                  <a:pt x="3212" y="21788"/>
                </a:lnTo>
                <a:cubicBezTo>
                  <a:pt x="3009" y="21991"/>
                  <a:pt x="2704" y="22052"/>
                  <a:pt x="2438" y="21942"/>
                </a:cubicBezTo>
                <a:cubicBezTo>
                  <a:pt x="2173" y="21832"/>
                  <a:pt x="2000" y="21573"/>
                  <a:pt x="2000" y="21286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close/>
              </a:path>
            </a:pathLst>
          </a:custGeom>
          <a:noFill/>
          <a:ln w="11430" cap="rnd">
            <a:solidFill>
              <a:schemeClr val="accent1"/>
            </a:solidFill>
            <a:round/>
          </a:ln>
          <a:effectLst/>
        </p:spPr>
      </p:sp>
      <p:sp>
        <p:nvSpPr>
          <p:cNvPr id="387" name="slot.today.tools.1.icon"/>
          <p:cNvSpPr/>
          <p:nvPr/>
        </p:nvSpPr>
        <p:spPr>
          <a:xfrm>
            <a:off x="748704" y="5560661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lnTo>
                  <a:pt x="22000" y="15000"/>
                </a:lnTo>
                <a:cubicBezTo>
                  <a:pt x="22000" y="16105"/>
                  <a:pt x="21105" y="17000"/>
                  <a:pt x="20000" y="17000"/>
                </a:cubicBezTo>
                <a:lnTo>
                  <a:pt x="4000" y="17000"/>
                </a:lnTo>
                <a:cubicBezTo>
                  <a:pt x="2895" y="17000"/>
                  <a:pt x="2000" y="16105"/>
                  <a:pt x="2000" y="15000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close/>
                <a:moveTo>
                  <a:pt x="8000" y="21000"/>
                </a:moveTo>
                <a:lnTo>
                  <a:pt x="16000" y="21000"/>
                </a:lnTo>
                <a:moveTo>
                  <a:pt x="12000" y="17000"/>
                </a:moveTo>
                <a:lnTo>
                  <a:pt x="12000" y="21000"/>
                </a:lnTo>
              </a:path>
            </a:pathLst>
          </a:custGeom>
          <a:noFill/>
          <a:ln w="1397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88" name="slot.today.tools.2.icon"/>
          <p:cNvSpPr/>
          <p:nvPr/>
        </p:nvSpPr>
        <p:spPr>
          <a:xfrm>
            <a:off x="1403320" y="5560661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397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89" name="slot.today.tools.3.icon"/>
          <p:cNvSpPr/>
          <p:nvPr/>
        </p:nvSpPr>
        <p:spPr>
          <a:xfrm>
            <a:off x="2057936" y="5560661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1397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0" name="slot.today.tools.4.icon"/>
          <p:cNvSpPr/>
          <p:nvPr/>
        </p:nvSpPr>
        <p:spPr>
          <a:xfrm>
            <a:off x="2712551" y="5560661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20000"/>
                </a:moveTo>
                <a:cubicBezTo>
                  <a:pt x="21105" y="20000"/>
                  <a:pt x="22000" y="19105"/>
                  <a:pt x="22000" y="18000"/>
                </a:cubicBezTo>
                <a:lnTo>
                  <a:pt x="22000" y="8000"/>
                </a:lnTo>
                <a:cubicBezTo>
                  <a:pt x="22000" y="6895"/>
                  <a:pt x="21105" y="6000"/>
                  <a:pt x="20000" y="6000"/>
                </a:cubicBezTo>
                <a:lnTo>
                  <a:pt x="12100" y="6000"/>
                </a:lnTo>
                <a:cubicBezTo>
                  <a:pt x="11420" y="6007"/>
                  <a:pt x="10784" y="5668"/>
                  <a:pt x="10410" y="5100"/>
                </a:cubicBezTo>
                <a:lnTo>
                  <a:pt x="9600" y="3900"/>
                </a:lnTo>
                <a:cubicBezTo>
                  <a:pt x="9230" y="3338"/>
                  <a:pt x="8603" y="3000"/>
                  <a:pt x="7930" y="3000"/>
                </a:cubicBezTo>
                <a:lnTo>
                  <a:pt x="4000" y="3000"/>
                </a:lnTo>
                <a:cubicBezTo>
                  <a:pt x="2895" y="3000"/>
                  <a:pt x="2000" y="3895"/>
                  <a:pt x="2000" y="5000"/>
                </a:cubicBezTo>
                <a:lnTo>
                  <a:pt x="2000" y="18000"/>
                </a:lnTo>
                <a:cubicBezTo>
                  <a:pt x="2000" y="19105"/>
                  <a:pt x="2895" y="20000"/>
                  <a:pt x="4000" y="20000"/>
                </a:cubicBezTo>
                <a:close/>
              </a:path>
            </a:pathLst>
          </a:custGeom>
          <a:noFill/>
          <a:ln w="1397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1" name="slot.horizon.2.tool.1.icon"/>
          <p:cNvSpPr/>
          <p:nvPr/>
        </p:nvSpPr>
        <p:spPr>
          <a:xfrm>
            <a:off x="3535070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2" name="slot.horizon.2.tool.2.icon"/>
          <p:cNvSpPr/>
          <p:nvPr/>
        </p:nvSpPr>
        <p:spPr>
          <a:xfrm>
            <a:off x="3971239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3" name="slot.horizon.2.tool.3.icon"/>
          <p:cNvSpPr/>
          <p:nvPr/>
        </p:nvSpPr>
        <p:spPr>
          <a:xfrm>
            <a:off x="4468673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4" name="slot.horizon.2.tool.4.icon"/>
          <p:cNvSpPr/>
          <p:nvPr/>
        </p:nvSpPr>
        <p:spPr>
          <a:xfrm>
            <a:off x="5010912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5000"/>
                </a:moveTo>
                <a:lnTo>
                  <a:pt x="21000" y="5000"/>
                </a:lnTo>
                <a:moveTo>
                  <a:pt x="11000" y="12000"/>
                </a:moveTo>
                <a:lnTo>
                  <a:pt x="21000" y="12000"/>
                </a:lnTo>
                <a:moveTo>
                  <a:pt x="11000" y="19000"/>
                </a:moveTo>
                <a:lnTo>
                  <a:pt x="21000" y="19000"/>
                </a:lnTo>
                <a:moveTo>
                  <a:pt x="4000" y="4000"/>
                </a:moveTo>
                <a:lnTo>
                  <a:pt x="5000" y="4000"/>
                </a:lnTo>
                <a:lnTo>
                  <a:pt x="5000" y="9000"/>
                </a:lnTo>
                <a:moveTo>
                  <a:pt x="4000" y="9000"/>
                </a:moveTo>
                <a:lnTo>
                  <a:pt x="6000" y="9000"/>
                </a:lnTo>
                <a:moveTo>
                  <a:pt x="6500" y="20000"/>
                </a:moveTo>
                <a:lnTo>
                  <a:pt x="3400" y="20000"/>
                </a:lnTo>
                <a:cubicBezTo>
                  <a:pt x="3400" y="19000"/>
                  <a:pt x="6000" y="18075"/>
                  <a:pt x="6000" y="16500"/>
                </a:cubicBezTo>
                <a:cubicBezTo>
                  <a:pt x="6000" y="15883"/>
                  <a:pt x="5622" y="15329"/>
                  <a:pt x="5048" y="15103"/>
                </a:cubicBezTo>
                <a:cubicBezTo>
                  <a:pt x="4473" y="14878"/>
                  <a:pt x="3820" y="15027"/>
                  <a:pt x="3400" y="15480"/>
                </a:cubicBez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5" name="slot.horizon.2.outcome.icon"/>
          <p:cNvSpPr/>
          <p:nvPr/>
        </p:nvSpPr>
        <p:spPr>
          <a:xfrm>
            <a:off x="3681374" y="6044184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2000"/>
                </a:moveTo>
                <a:lnTo>
                  <a:pt x="14000" y="2000"/>
                </a:lnTo>
                <a:moveTo>
                  <a:pt x="12000" y="14000"/>
                </a:moveTo>
                <a:lnTo>
                  <a:pt x="15000" y="11000"/>
                </a:lnTo>
                <a:moveTo>
                  <a:pt x="20000" y="14000"/>
                </a:moveTo>
                <a:cubicBezTo>
                  <a:pt x="20000" y="18418"/>
                  <a:pt x="16418" y="22000"/>
                  <a:pt x="12000" y="22000"/>
                </a:cubicBezTo>
                <a:cubicBezTo>
                  <a:pt x="7582" y="22000"/>
                  <a:pt x="4000" y="18418"/>
                  <a:pt x="4000" y="14000"/>
                </a:cubicBezTo>
                <a:cubicBezTo>
                  <a:pt x="4000" y="9582"/>
                  <a:pt x="7582" y="6000"/>
                  <a:pt x="12000" y="6000"/>
                </a:cubicBezTo>
                <a:cubicBezTo>
                  <a:pt x="16418" y="6000"/>
                  <a:pt x="20000" y="9582"/>
                  <a:pt x="20000" y="14000"/>
                </a:cubicBezTo>
                <a:close/>
              </a:path>
            </a:pathLst>
          </a:custGeom>
          <a:noFill/>
          <a:ln w="13970" cap="rnd">
            <a:solidFill>
              <a:schemeClr val="accent1"/>
            </a:solidFill>
            <a:round/>
          </a:ln>
          <a:effectLst/>
        </p:spPr>
      </p:sp>
      <p:sp>
        <p:nvSpPr>
          <p:cNvPr id="396" name="slot.horizon.3.tool.1.icon"/>
          <p:cNvSpPr/>
          <p:nvPr/>
        </p:nvSpPr>
        <p:spPr>
          <a:xfrm>
            <a:off x="6345936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7" name="slot.horizon.3.tool.2.icon"/>
          <p:cNvSpPr/>
          <p:nvPr/>
        </p:nvSpPr>
        <p:spPr>
          <a:xfrm>
            <a:off x="6782105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8" name="slot.horizon.3.tool.3.icon"/>
          <p:cNvSpPr/>
          <p:nvPr/>
        </p:nvSpPr>
        <p:spPr>
          <a:xfrm>
            <a:off x="7279538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399" name="slot.horizon.3.tool.4.icon"/>
          <p:cNvSpPr/>
          <p:nvPr/>
        </p:nvSpPr>
        <p:spPr>
          <a:xfrm>
            <a:off x="7821778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5000"/>
                </a:moveTo>
                <a:lnTo>
                  <a:pt x="21000" y="5000"/>
                </a:lnTo>
                <a:moveTo>
                  <a:pt x="11000" y="12000"/>
                </a:moveTo>
                <a:lnTo>
                  <a:pt x="21000" y="12000"/>
                </a:lnTo>
                <a:moveTo>
                  <a:pt x="11000" y="19000"/>
                </a:moveTo>
                <a:lnTo>
                  <a:pt x="21000" y="19000"/>
                </a:lnTo>
                <a:moveTo>
                  <a:pt x="4000" y="4000"/>
                </a:moveTo>
                <a:lnTo>
                  <a:pt x="5000" y="4000"/>
                </a:lnTo>
                <a:lnTo>
                  <a:pt x="5000" y="9000"/>
                </a:lnTo>
                <a:moveTo>
                  <a:pt x="4000" y="9000"/>
                </a:moveTo>
                <a:lnTo>
                  <a:pt x="6000" y="9000"/>
                </a:lnTo>
                <a:moveTo>
                  <a:pt x="6500" y="20000"/>
                </a:moveTo>
                <a:lnTo>
                  <a:pt x="3400" y="20000"/>
                </a:lnTo>
                <a:cubicBezTo>
                  <a:pt x="3400" y="19000"/>
                  <a:pt x="6000" y="18075"/>
                  <a:pt x="6000" y="16500"/>
                </a:cubicBezTo>
                <a:cubicBezTo>
                  <a:pt x="6000" y="15883"/>
                  <a:pt x="5622" y="15329"/>
                  <a:pt x="5048" y="15103"/>
                </a:cubicBezTo>
                <a:cubicBezTo>
                  <a:pt x="4473" y="14878"/>
                  <a:pt x="3820" y="15027"/>
                  <a:pt x="3400" y="15480"/>
                </a:cubicBez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0" name="slot.horizon.3.outcome.icon"/>
          <p:cNvSpPr/>
          <p:nvPr/>
        </p:nvSpPr>
        <p:spPr>
          <a:xfrm>
            <a:off x="6492240" y="6044184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3970" cap="rnd">
            <a:solidFill>
              <a:schemeClr val="accent1"/>
            </a:solidFill>
            <a:round/>
          </a:ln>
          <a:effectLst/>
        </p:spPr>
      </p:sp>
      <p:sp>
        <p:nvSpPr>
          <p:cNvPr id="401" name="slot.horizon.4.tool.1.icon"/>
          <p:cNvSpPr/>
          <p:nvPr/>
        </p:nvSpPr>
        <p:spPr>
          <a:xfrm>
            <a:off x="9181490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2" name="slot.horizon.4.tool.2.icon"/>
          <p:cNvSpPr/>
          <p:nvPr/>
        </p:nvSpPr>
        <p:spPr>
          <a:xfrm>
            <a:off x="9617659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3" name="slot.horizon.4.tool.3.icon"/>
          <p:cNvSpPr/>
          <p:nvPr/>
        </p:nvSpPr>
        <p:spPr>
          <a:xfrm>
            <a:off x="10115093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4" name="slot.horizon.4.tool.4.icon"/>
          <p:cNvSpPr/>
          <p:nvPr/>
        </p:nvSpPr>
        <p:spPr>
          <a:xfrm>
            <a:off x="10657332" y="529437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1524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5" name="slot.horizon.4.outcome.icon"/>
          <p:cNvSpPr/>
          <p:nvPr/>
        </p:nvSpPr>
        <p:spPr>
          <a:xfrm>
            <a:off x="9327794" y="6044184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3970" cap="rnd">
            <a:solidFill>
              <a:schemeClr val="accent1"/>
            </a:solidFill>
            <a:round/>
          </a:ln>
          <a:effectLst/>
        </p:spPr>
      </p:sp>
      <p:sp>
        <p:nvSpPr>
          <p:cNvPr id="406" name="slot.horizon.3.node.1.icon"/>
          <p:cNvSpPr/>
          <p:nvPr/>
        </p:nvSpPr>
        <p:spPr>
          <a:xfrm>
            <a:off x="7261447" y="442169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07" name="slot.horizon.3.node.2.icon"/>
          <p:cNvSpPr/>
          <p:nvPr/>
        </p:nvSpPr>
        <p:spPr>
          <a:xfrm>
            <a:off x="6959185" y="285306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08" name="slot.horizon.3.node.3.icon"/>
          <p:cNvSpPr/>
          <p:nvPr/>
        </p:nvSpPr>
        <p:spPr>
          <a:xfrm>
            <a:off x="6858750" y="3459851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09" name="slot.horizon.3.node.4.icon"/>
          <p:cNvSpPr/>
          <p:nvPr/>
        </p:nvSpPr>
        <p:spPr>
          <a:xfrm>
            <a:off x="6903429" y="400944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10" name="slot.horizon.3.node.5.icon"/>
          <p:cNvSpPr/>
          <p:nvPr/>
        </p:nvSpPr>
        <p:spPr>
          <a:xfrm>
            <a:off x="7245744" y="37235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1" name="slot.horizon.3.node.6.icon"/>
          <p:cNvSpPr/>
          <p:nvPr/>
        </p:nvSpPr>
        <p:spPr>
          <a:xfrm>
            <a:off x="7459041" y="27059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2" name="slot.horizon.3.node.7.icon"/>
          <p:cNvSpPr/>
          <p:nvPr/>
        </p:nvSpPr>
        <p:spPr>
          <a:xfrm>
            <a:off x="8025224" y="293026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13" name="slot.horizon.3.node.8.icon"/>
          <p:cNvSpPr/>
          <p:nvPr/>
        </p:nvSpPr>
        <p:spPr>
          <a:xfrm>
            <a:off x="8065654" y="35370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4" name="slot.horizon.3.node.9.icon"/>
          <p:cNvSpPr/>
          <p:nvPr/>
        </p:nvSpPr>
        <p:spPr>
          <a:xfrm>
            <a:off x="8113102" y="401846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5" name="slot.horizon.3.node.10.icon"/>
          <p:cNvSpPr/>
          <p:nvPr/>
        </p:nvSpPr>
        <p:spPr>
          <a:xfrm>
            <a:off x="7633047" y="40315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6" name="slot.horizon.3.node.11.icon"/>
          <p:cNvSpPr/>
          <p:nvPr/>
        </p:nvSpPr>
        <p:spPr>
          <a:xfrm>
            <a:off x="7462203" y="335110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7" name="slot.horizon.3.node.12.icon"/>
          <p:cNvSpPr/>
          <p:nvPr/>
        </p:nvSpPr>
        <p:spPr>
          <a:xfrm>
            <a:off x="6295168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18" name="slot.horizon.3.node.13.icon"/>
          <p:cNvSpPr/>
          <p:nvPr/>
        </p:nvSpPr>
        <p:spPr>
          <a:xfrm>
            <a:off x="6295168" y="3849516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19" name="slot.horizon.3.node.14.icon"/>
          <p:cNvSpPr/>
          <p:nvPr/>
        </p:nvSpPr>
        <p:spPr>
          <a:xfrm>
            <a:off x="8648400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20" name="slot.horizon.3.node.15.icon"/>
          <p:cNvSpPr/>
          <p:nvPr/>
        </p:nvSpPr>
        <p:spPr>
          <a:xfrm>
            <a:off x="8648400" y="38495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1" name="slot.horizon.3.node.16.icon"/>
          <p:cNvSpPr/>
          <p:nvPr/>
        </p:nvSpPr>
        <p:spPr>
          <a:xfrm>
            <a:off x="7862006" y="455249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2" name="slot.horizon.4.node.1.icon"/>
          <p:cNvSpPr/>
          <p:nvPr/>
        </p:nvSpPr>
        <p:spPr>
          <a:xfrm>
            <a:off x="10096675" y="442169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3" name="slot.horizon.4.node.2.icon"/>
          <p:cNvSpPr/>
          <p:nvPr/>
        </p:nvSpPr>
        <p:spPr>
          <a:xfrm>
            <a:off x="9794108" y="285297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4" name="slot.horizon.4.node.3.icon"/>
          <p:cNvSpPr/>
          <p:nvPr/>
        </p:nvSpPr>
        <p:spPr>
          <a:xfrm>
            <a:off x="9693690" y="345974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5" name="slot.horizon.4.node.4.icon"/>
          <p:cNvSpPr/>
          <p:nvPr/>
        </p:nvSpPr>
        <p:spPr>
          <a:xfrm>
            <a:off x="9738368" y="4009329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6" name="slot.horizon.4.node.5.icon"/>
          <p:cNvSpPr/>
          <p:nvPr/>
        </p:nvSpPr>
        <p:spPr>
          <a:xfrm>
            <a:off x="10080660" y="372346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7" name="slot.horizon.4.node.6.icon"/>
          <p:cNvSpPr/>
          <p:nvPr/>
        </p:nvSpPr>
        <p:spPr>
          <a:xfrm>
            <a:off x="10293970" y="2705886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8" name="slot.horizon.4.node.7.icon"/>
          <p:cNvSpPr/>
          <p:nvPr/>
        </p:nvSpPr>
        <p:spPr>
          <a:xfrm>
            <a:off x="10860141" y="293017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29" name="slot.horizon.4.node.8.icon"/>
          <p:cNvSpPr/>
          <p:nvPr/>
        </p:nvSpPr>
        <p:spPr>
          <a:xfrm>
            <a:off x="10900570" y="3536910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0" name="slot.horizon.4.node.9.icon"/>
          <p:cNvSpPr/>
          <p:nvPr/>
        </p:nvSpPr>
        <p:spPr>
          <a:xfrm>
            <a:off x="10948018" y="401835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1" name="slot.horizon.4.node.10.icon"/>
          <p:cNvSpPr/>
          <p:nvPr/>
        </p:nvSpPr>
        <p:spPr>
          <a:xfrm>
            <a:off x="10467972" y="4031459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2" name="slot.horizon.4.node.11.icon"/>
          <p:cNvSpPr/>
          <p:nvPr/>
        </p:nvSpPr>
        <p:spPr>
          <a:xfrm>
            <a:off x="10297418" y="335110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3" name="slot.horizon.4.node.12.icon"/>
          <p:cNvSpPr/>
          <p:nvPr/>
        </p:nvSpPr>
        <p:spPr>
          <a:xfrm>
            <a:off x="9130395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4" name="slot.horizon.4.node.13.icon"/>
          <p:cNvSpPr/>
          <p:nvPr/>
        </p:nvSpPr>
        <p:spPr>
          <a:xfrm>
            <a:off x="9130395" y="38495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5" name="slot.horizon.4.node.14.icon"/>
          <p:cNvSpPr/>
          <p:nvPr/>
        </p:nvSpPr>
        <p:spPr>
          <a:xfrm>
            <a:off x="11483628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6" name="slot.horizon.4.node.15.icon"/>
          <p:cNvSpPr/>
          <p:nvPr/>
        </p:nvSpPr>
        <p:spPr>
          <a:xfrm>
            <a:off x="11483628" y="38495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7" name="slot.horizon.4.node.16.icon"/>
          <p:cNvSpPr/>
          <p:nvPr/>
        </p:nvSpPr>
        <p:spPr>
          <a:xfrm>
            <a:off x="10670731" y="452050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38" name="slot.horizon.2.node.1.icon"/>
          <p:cNvSpPr/>
          <p:nvPr/>
        </p:nvSpPr>
        <p:spPr>
          <a:xfrm>
            <a:off x="5837833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39" name="slot.horizon.2.node.2.icon"/>
          <p:cNvSpPr/>
          <p:nvPr/>
        </p:nvSpPr>
        <p:spPr>
          <a:xfrm>
            <a:off x="5837833" y="38495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40" name="slot.horizon.2.node.3.icon"/>
          <p:cNvSpPr/>
          <p:nvPr/>
        </p:nvSpPr>
        <p:spPr>
          <a:xfrm>
            <a:off x="4450880" y="442169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1" name="slot.horizon.2.node.4.icon"/>
          <p:cNvSpPr/>
          <p:nvPr/>
        </p:nvSpPr>
        <p:spPr>
          <a:xfrm>
            <a:off x="4148618" y="285306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2" name="slot.horizon.2.node.5.icon"/>
          <p:cNvSpPr/>
          <p:nvPr/>
        </p:nvSpPr>
        <p:spPr>
          <a:xfrm>
            <a:off x="4048183" y="3459851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43" name="slot.horizon.2.node.6.icon"/>
          <p:cNvSpPr/>
          <p:nvPr/>
        </p:nvSpPr>
        <p:spPr>
          <a:xfrm>
            <a:off x="4092862" y="400944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4" name="slot.horizon.2.node.7.icon"/>
          <p:cNvSpPr/>
          <p:nvPr/>
        </p:nvSpPr>
        <p:spPr>
          <a:xfrm>
            <a:off x="4435177" y="37235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45" name="slot.horizon.2.node.8.icon"/>
          <p:cNvSpPr/>
          <p:nvPr/>
        </p:nvSpPr>
        <p:spPr>
          <a:xfrm>
            <a:off x="4648474" y="27059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6" name="slot.horizon.2.node.9.icon"/>
          <p:cNvSpPr/>
          <p:nvPr/>
        </p:nvSpPr>
        <p:spPr>
          <a:xfrm>
            <a:off x="5214657" y="293026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7" name="slot.horizon.2.node.10.icon"/>
          <p:cNvSpPr/>
          <p:nvPr/>
        </p:nvSpPr>
        <p:spPr>
          <a:xfrm>
            <a:off x="5255087" y="35370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8" name="slot.horizon.2.node.11.icon"/>
          <p:cNvSpPr/>
          <p:nvPr/>
        </p:nvSpPr>
        <p:spPr>
          <a:xfrm>
            <a:off x="5302535" y="401846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49" name="slot.horizon.2.node.12.icon"/>
          <p:cNvSpPr/>
          <p:nvPr/>
        </p:nvSpPr>
        <p:spPr>
          <a:xfrm>
            <a:off x="4822480" y="403157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50" name="slot.horizon.2.node.13.icon"/>
          <p:cNvSpPr/>
          <p:nvPr/>
        </p:nvSpPr>
        <p:spPr>
          <a:xfrm>
            <a:off x="4651636" y="3351103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51" name="slot.horizon.2.node.14.icon"/>
          <p:cNvSpPr/>
          <p:nvPr/>
        </p:nvSpPr>
        <p:spPr>
          <a:xfrm>
            <a:off x="3484600" y="3153267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52" name="slot.horizon.2.node.15.icon"/>
          <p:cNvSpPr/>
          <p:nvPr/>
        </p:nvSpPr>
        <p:spPr>
          <a:xfrm>
            <a:off x="3484600" y="3849515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453" name="slot.horizon.2.node.16.icon"/>
          <p:cNvSpPr/>
          <p:nvPr/>
        </p:nvSpPr>
        <p:spPr>
          <a:xfrm>
            <a:off x="4980906" y="447219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bg1"/>
            </a:solidFill>
            <a:round/>
          </a:ln>
          <a:effectLst/>
        </p:spPr>
      </p:sp>
      <p:sp>
        <p:nvSpPr>
          <p:cNvPr id="454" name="slot.legend.1.icon"/>
          <p:cNvSpPr/>
          <p:nvPr/>
        </p:nvSpPr>
        <p:spPr>
          <a:xfrm>
            <a:off x="3113532" y="6464808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079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455" name="slot.legend.2.icon"/>
          <p:cNvSpPr/>
          <p:nvPr/>
        </p:nvSpPr>
        <p:spPr>
          <a:xfrm>
            <a:off x="3991356" y="6464808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0795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inciples:principle-columns-proof-diagrams">
    <p:spTree>
      <p:nvGrpSpPr>
        <p:cNvPr id="1" name=""/>
        <p:cNvGrpSpPr/>
        <p:nvPr/>
      </p:nvGrpSpPr>
      <p:grpSpPr/>
      <p:cxnSp>
        <p:nvCxnSpPr>
          <p:cNvPr id="2" name="struct.proof.3.row.2"/>
          <p:cNvCxnSpPr>
            <a:cxnSpLocks/>
          </p:cNvCxnSpPr>
          <p:nvPr/>
        </p:nvCxnSpPr>
        <p:spPr>
          <a:xfrm>
            <a:off x="10753919" y="2975330"/>
            <a:ext cx="600028" cy="0"/>
          </a:xfrm>
          <a:prstGeom prst="straightConnector1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none" w="sm" len="sm"/>
          </a:ln>
          <a:effectLst/>
        </p:spPr>
      </p:cxnSp>
      <p:cxnSp>
        <p:nvCxnSpPr>
          <p:cNvPr id="3" name="struct.proof.3.row.1"/>
          <p:cNvCxnSpPr>
            <a:cxnSpLocks/>
          </p:cNvCxnSpPr>
          <p:nvPr/>
        </p:nvCxnSpPr>
        <p:spPr>
          <a:xfrm>
            <a:off x="10753919" y="2513632"/>
            <a:ext cx="600028" cy="0"/>
          </a:xfrm>
          <a:prstGeom prst="straightConnector1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none" w="sm" len="sm"/>
          </a:ln>
          <a:effectLst/>
        </p:spPr>
      </p:cxnSp>
      <p:sp>
        <p:nvSpPr>
          <p:cNvPr id="4" name="slot.title"/>
          <p:cNvSpPr txBox="1"/>
          <p:nvPr/>
        </p:nvSpPr>
        <p:spPr>
          <a:xfrm>
            <a:off x="454850" y="120724"/>
            <a:ext cx="11340000" cy="646331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Three principles keep the platform </a:t>
            </a:r>
            <a:r>
              <a:rPr lang="en-US" sz="2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fast to change</a:t>
            </a:r>
            <a:r>
              <a:rPr lang="en-US" sz="2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and </a:t>
            </a:r>
            <a:r>
              <a:rPr lang="en-US" sz="2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cheap to run</a:t>
            </a:r>
            <a:endParaRPr lang="en-US" sz="2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" name="struct.principle.1.rule"/>
          <p:cNvCxnSpPr>
            <a:cxnSpLocks/>
          </p:cNvCxnSpPr>
          <p:nvPr/>
        </p:nvCxnSpPr>
        <p:spPr>
          <a:xfrm>
            <a:off x="454849" y="1400175"/>
            <a:ext cx="3385034" cy="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</p:cxnSp>
      <p:cxnSp>
        <p:nvCxnSpPr>
          <p:cNvPr id="6" name="struct.principle.2.rule"/>
          <p:cNvCxnSpPr>
            <a:cxnSpLocks/>
          </p:cNvCxnSpPr>
          <p:nvPr/>
        </p:nvCxnSpPr>
        <p:spPr>
          <a:xfrm>
            <a:off x="4292769" y="1400175"/>
            <a:ext cx="3385034" cy="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</p:cxnSp>
      <p:cxnSp>
        <p:nvCxnSpPr>
          <p:cNvPr id="7" name="struct.principle.3.rule"/>
          <p:cNvCxnSpPr>
            <a:cxnSpLocks/>
          </p:cNvCxnSpPr>
          <p:nvPr/>
        </p:nvCxnSpPr>
        <p:spPr>
          <a:xfrm>
            <a:off x="8130690" y="1400175"/>
            <a:ext cx="3385034" cy="0"/>
          </a:xfrm>
          <a:prstGeom prst="line">
            <a:avLst/>
          </a:prstGeom>
          <a:ln w="19050">
            <a:solidFill>
              <a:schemeClr val="accent1"/>
            </a:solidFill>
          </a:ln>
          <a:effectLst/>
        </p:spPr>
      </p:cxnSp>
      <p:grpSp>
        <p:nvGrpSpPr>
          <p:cNvPr id="8" name="struct.dividers"/>
          <p:cNvGrpSpPr/>
          <p:nvPr/>
        </p:nvGrpSpPr>
        <p:grpSpPr>
          <a:xfrm>
            <a:off x="4066326" y="971549"/>
            <a:ext cx="3837920" cy="5310701"/>
            <a:chOff x="4066326" y="971549"/>
            <a:chExt cx="3837920" cy="5310701"/>
          </a:xfrm>
          <a:effectLst/>
        </p:grpSpPr>
        <p:cxnSp>
          <p:nvCxnSpPr>
            <p:cNvPr id="9" name="struct.divider.1"/>
            <p:cNvCxnSpPr/>
            <p:nvPr/>
          </p:nvCxnSpPr>
          <p:spPr>
            <a:xfrm>
              <a:off x="4066326" y="971549"/>
              <a:ext cx="0" cy="53107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prstDash val="dash"/>
            </a:ln>
          </p:spPr>
        </p:cxnSp>
        <p:cxnSp>
          <p:nvCxnSpPr>
            <p:cNvPr id="10" name="struct.divider.2"/>
            <p:cNvCxnSpPr/>
            <p:nvPr/>
          </p:nvCxnSpPr>
          <p:spPr>
            <a:xfrm>
              <a:off x="7904246" y="971549"/>
              <a:ext cx="0" cy="53107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prstDash val="dash"/>
            </a:ln>
          </p:spPr>
        </p:cxnSp>
      </p:grpSp>
      <p:sp>
        <p:nvSpPr>
          <p:cNvPr id="11" name="slot.principle.1.head"/>
          <p:cNvSpPr txBox="1"/>
          <p:nvPr/>
        </p:nvSpPr>
        <p:spPr>
          <a:xfrm>
            <a:off x="455883" y="1112785"/>
            <a:ext cx="3384000" cy="21544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b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Separate storage from compute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principle.2.head"/>
          <p:cNvSpPr txBox="1"/>
          <p:nvPr/>
        </p:nvSpPr>
        <p:spPr>
          <a:xfrm>
            <a:off x="4293803" y="1112785"/>
            <a:ext cx="3384000" cy="21544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b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Ship in small, usable releases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principle.3.head"/>
          <p:cNvSpPr txBox="1"/>
          <p:nvPr/>
        </p:nvSpPr>
        <p:spPr>
          <a:xfrm>
            <a:off x="8131724" y="1112785"/>
            <a:ext cx="3384000" cy="21544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b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Automate the path to production</a:t>
            </a:r>
            <a:endParaRPr lang="en-US" sz="1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card.1"/>
          <p:cNvSpPr txBox="1"/>
          <p:nvPr/>
        </p:nvSpPr>
        <p:spPr>
          <a:xfrm>
            <a:off x="455883" y="4067248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Scale each layer on its own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Query load grows with no table copied, and storage cost stays flat.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card.3"/>
          <p:cNvSpPr txBox="1"/>
          <p:nvPr/>
        </p:nvSpPr>
        <p:spPr>
          <a:xfrm>
            <a:off x="4293803" y="4067248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Working views before scale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Each release puts a usable view in front of the team that asked for it.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card.5"/>
          <p:cNvSpPr txBox="1"/>
          <p:nvPr/>
        </p:nvSpPr>
        <p:spPr>
          <a:xfrm>
            <a:off x="8131724" y="4067248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 manual release steps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Every change passes the same test suite before it reaches any user.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card.2"/>
          <p:cNvSpPr txBox="1"/>
          <p:nvPr/>
        </p:nvSpPr>
        <p:spPr>
          <a:xfrm>
            <a:off x="455883" y="5149711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copy of every table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All engines read the same files, so every report shows the same number.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card.4"/>
          <p:cNvSpPr txBox="1"/>
          <p:nvPr/>
        </p:nvSpPr>
        <p:spPr>
          <a:xfrm>
            <a:off x="4293803" y="5149711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Feedback sets the next step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Users rank the backlog after each release, and the top item ships next.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card.6"/>
          <p:cNvSpPr txBox="1"/>
          <p:nvPr/>
        </p:nvSpPr>
        <p:spPr>
          <a:xfrm>
            <a:off x="8131724" y="5149711"/>
            <a:ext cx="3384000" cy="882146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accent1"/>
            </a:solidFill>
          </a:ln>
          <a:effectLst/>
        </p:spPr>
        <p:txBody>
          <a:bodyPr spcFirstLastPara="1" wrap="square" lIns="108000" tIns="72000" rIns="108000" bIns="72000" anchor="t" anchorCtr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Rollback in minutes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 failed check returns the last good version without a change ticket.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0" name="struct.proof.1.link.1"/>
          <p:cNvCxnSpPr>
            <a:cxnSpLocks/>
          </p:cNvCxnSpPr>
          <p:nvPr/>
        </p:nvCxnSpPr>
        <p:spPr>
          <a:xfrm>
            <a:off x="2344072" y="2051004"/>
            <a:ext cx="0" cy="428726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</p:cxnSp>
      <p:cxnSp>
        <p:nvCxnSpPr>
          <p:cNvPr id="21" name="struct.proof.1.link.2"/>
          <p:cNvCxnSpPr>
            <a:cxnSpLocks/>
          </p:cNvCxnSpPr>
          <p:nvPr/>
        </p:nvCxnSpPr>
        <p:spPr>
          <a:xfrm>
            <a:off x="1235189" y="2055355"/>
            <a:ext cx="0" cy="424375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</p:cxnSp>
      <p:grpSp>
        <p:nvGrpSpPr>
          <p:cNvPr id="22" name="struct.proof.1"/>
          <p:cNvGrpSpPr/>
          <p:nvPr/>
        </p:nvGrpSpPr>
        <p:grpSpPr>
          <a:xfrm>
            <a:off x="453802" y="1626629"/>
            <a:ext cx="2457564" cy="2130463"/>
            <a:chOff x="453802" y="1626629"/>
            <a:chExt cx="2457564" cy="2130463"/>
          </a:xfrm>
          <a:effectLst/>
        </p:grpSpPr>
        <p:sp>
          <p:nvSpPr>
            <p:cNvPr id="23" name="slot.proof.1.top"/>
            <p:cNvSpPr/>
            <p:nvPr/>
          </p:nvSpPr>
          <p:spPr>
            <a:xfrm>
              <a:off x="453802" y="1626629"/>
              <a:ext cx="2457560" cy="428726"/>
            </a:xfrm>
            <a:prstGeom prst="roundRect">
              <a:avLst>
                <a:gd name="adj" fmla="val 10664"/>
              </a:avLst>
            </a:prstGeom>
            <a:solidFill>
              <a:schemeClr val="accent1">
                <a:lumMod val="10000"/>
                <a:lumOff val="90000"/>
              </a:schemeClr>
            </a:solidFill>
            <a:ln w="9525">
              <a:solidFill>
                <a:schemeClr val="accent1"/>
              </a:solidFill>
            </a:ln>
          </p:spPr>
          <p:txBody>
            <a:bodyPr rtlCol="0" anchor="ctr" wrap="square" lIns="91440" tIns="45720" rIns="91440" bIns="4572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Shared semantic layer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4" name="slot.proof.1.base"/>
            <p:cNvSpPr/>
            <p:nvPr/>
          </p:nvSpPr>
          <p:spPr>
            <a:xfrm>
              <a:off x="453802" y="3328366"/>
              <a:ext cx="2457557" cy="428726"/>
            </a:xfrm>
            <a:prstGeom prst="roundRect">
              <a:avLst>
                <a:gd name="adj" fmla="val 10664"/>
              </a:avLst>
            </a:prstGeom>
            <a:solidFill>
              <a:schemeClr val="accent1">
                <a:lumMod val="10000"/>
                <a:lumOff val="90000"/>
              </a:schemeClr>
            </a:solidFill>
            <a:ln w="9525">
              <a:solidFill>
                <a:schemeClr val="accent1"/>
              </a:solidFill>
            </a:ln>
          </p:spPr>
          <p:txBody>
            <a:bodyPr rtlCol="0" anchor="ctr" wrap="square" lIns="91440" tIns="45720" rIns="91440" bIns="4572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Open table storage</a:t>
              </a:r>
              <a:endParaRPr lang="en-US" sz="1000" b="1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grpSp>
          <p:nvGrpSpPr>
            <p:cNvPr id="25" name="struct.proof.1.engines"/>
            <p:cNvGrpSpPr/>
            <p:nvPr/>
          </p:nvGrpSpPr>
          <p:grpSpPr>
            <a:xfrm>
              <a:off x="453802" y="2479730"/>
              <a:ext cx="2457564" cy="634878"/>
              <a:chOff x="453802" y="2479730"/>
              <a:chExt cx="2457564" cy="634878"/>
            </a:xfrm>
          </p:grpSpPr>
          <p:sp>
            <p:nvSpPr>
              <p:cNvPr id="26" name="slot.proof.1.engine.1"/>
              <p:cNvSpPr/>
              <p:nvPr/>
            </p:nvSpPr>
            <p:spPr>
              <a:xfrm>
                <a:off x="453802" y="2479730"/>
                <a:ext cx="1134589" cy="634878"/>
              </a:xfrm>
              <a:prstGeom prst="roundRect">
                <a:avLst>
                  <a:gd name="adj" fmla="val 7201"/>
                </a:avLst>
              </a:prstGeom>
              <a:solidFill>
                <a:schemeClr val="accent1">
                  <a:lumMod val="10000"/>
                  <a:lumOff val="90000"/>
                </a:schemeClr>
              </a:solidFill>
              <a:ln w="9525">
                <a:solidFill>
                  <a:schemeClr val="accent1"/>
                </a:solidFill>
              </a:ln>
            </p:spPr>
            <p:txBody>
              <a:bodyPr rtlCol="0" anchor="ctr" wrap="square" lIns="91440" tIns="45720" rIns="91440" bIns="45720">
                <a:noAutofit/>
              </a:bodyPr>
              <a:lstStyle/>
              <a:p>
                <a:pPr marL="0" indent="0" lv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0" i="0" kern="0" dirty="0">
                    <a:solidFill>
                      <a:schemeClr val="tx1">
                        <a:lumMod val="80000"/>
                        <a:lumOff val="20000"/>
                      </a:schemeClr>
                    </a:solidFill>
                    <a:latin typeface="Arial"/>
                    <a:ea typeface="Arial"/>
                    <a:cs typeface="Arial"/>
                  </a:rPr>
                  <a:t>Query</a:t>
                </a:r>
                <a:endPara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0" i="0" kern="0" dirty="0">
                    <a:solidFill>
                      <a:schemeClr val="tx1">
                        <a:lumMod val="80000"/>
                        <a:lumOff val="20000"/>
                      </a:schemeClr>
                    </a:solidFill>
                    <a:latin typeface="Arial"/>
                    <a:ea typeface="Arial"/>
                    <a:cs typeface="Arial"/>
                  </a:rPr>
                  <a:t>engine</a:t>
                </a:r>
                <a:endPara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27" name="slot.proof.1.engine.2"/>
              <p:cNvSpPr/>
              <p:nvPr/>
            </p:nvSpPr>
            <p:spPr>
              <a:xfrm>
                <a:off x="1776777" y="2479730"/>
                <a:ext cx="1134589" cy="634878"/>
              </a:xfrm>
              <a:prstGeom prst="roundRect">
                <a:avLst>
                  <a:gd name="adj" fmla="val 7201"/>
                </a:avLst>
              </a:prstGeom>
              <a:solidFill>
                <a:schemeClr val="accent1">
                  <a:lumMod val="10000"/>
                  <a:lumOff val="90000"/>
                </a:schemeClr>
              </a:solidFill>
              <a:ln w="9525">
                <a:solidFill>
                  <a:schemeClr val="accent1"/>
                </a:solidFill>
              </a:ln>
            </p:spPr>
            <p:txBody>
              <a:bodyPr rtlCol="0" anchor="ctr" wrap="square" lIns="91440" tIns="45720" rIns="91440" bIns="45720">
                <a:noAutofit/>
              </a:bodyPr>
              <a:lstStyle/>
              <a:p>
                <a:pPr marL="0" indent="0" lv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0" i="0" kern="0" dirty="0">
                    <a:solidFill>
                      <a:schemeClr val="tx1">
                        <a:lumMod val="80000"/>
                        <a:lumOff val="20000"/>
                      </a:schemeClr>
                    </a:solidFill>
                    <a:latin typeface="Arial"/>
                    <a:ea typeface="Arial"/>
                    <a:cs typeface="Arial"/>
                  </a:rPr>
                  <a:t>Pipeline</a:t>
                </a:r>
                <a:endPara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endParaRPr>
              </a:p>
              <a:p>
                <a:pPr marL="0" indent="0" lv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0" i="0" kern="0" dirty="0">
                    <a:solidFill>
                      <a:schemeClr val="tx1">
                        <a:lumMod val="80000"/>
                        <a:lumOff val="20000"/>
                      </a:schemeClr>
                    </a:solidFill>
                    <a:latin typeface="Arial"/>
                    <a:ea typeface="Arial"/>
                    <a:cs typeface="Arial"/>
                  </a:rPr>
                  <a:t>jobs</a:t>
                </a:r>
                <a:endPara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endParaRPr>
              </a:p>
            </p:txBody>
          </p:sp>
        </p:grpSp>
      </p:grpSp>
      <p:sp>
        <p:nvSpPr>
          <p:cNvPr id="28" name="slot.proof.1.policy"/>
          <p:cNvSpPr txBox="1"/>
          <p:nvPr/>
        </p:nvSpPr>
        <p:spPr>
          <a:xfrm>
            <a:off x="3127248" y="2880360"/>
            <a:ext cx="822960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Access policy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9" name="struct.proof.1.policy.link"/>
          <p:cNvCxnSpPr>
            <a:cxnSpLocks/>
          </p:cNvCxnSpPr>
          <p:nvPr/>
        </p:nvCxnSpPr>
        <p:spPr>
          <a:xfrm>
            <a:off x="2939714" y="2699402"/>
            <a:ext cx="4584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  <a:effectLst/>
        </p:spPr>
      </p:cxnSp>
      <p:sp>
        <p:nvSpPr>
          <p:cNvPr id="30" name="slot.proof.2.caption"/>
          <p:cNvSpPr txBox="1"/>
          <p:nvPr/>
        </p:nvSpPr>
        <p:spPr>
          <a:xfrm>
            <a:off x="4526280" y="3611880"/>
            <a:ext cx="2862072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Adoption grows with each release</a:t>
            </a:r>
            <a:endParaRPr lang="en-US" sz="12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1" name="struct.proof.2.steps"/>
          <p:cNvGrpSpPr/>
          <p:nvPr/>
        </p:nvGrpSpPr>
        <p:grpSpPr>
          <a:xfrm>
            <a:off x="4479101" y="2685031"/>
            <a:ext cx="2954567" cy="812153"/>
            <a:chOff x="4479101" y="2685031"/>
            <a:chExt cx="2954567" cy="812153"/>
          </a:xfrm>
          <a:effectLst/>
        </p:grpSpPr>
        <p:sp>
          <p:nvSpPr>
            <p:cNvPr id="32" name="slot.proof.2.step.1"/>
            <p:cNvSpPr/>
            <p:nvPr/>
          </p:nvSpPr>
          <p:spPr>
            <a:xfrm>
              <a:off x="4479101" y="3172169"/>
              <a:ext cx="965976" cy="324759"/>
            </a:xfrm>
            <a:prstGeom prst="rect">
              <a:avLst/>
            </a:prstGeom>
            <a:solidFill>
              <a:schemeClr val="bg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Pilot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" name="slot.proof.2.step.2"/>
            <p:cNvSpPr/>
            <p:nvPr/>
          </p:nvSpPr>
          <p:spPr>
            <a:xfrm>
              <a:off x="5444988" y="2928600"/>
              <a:ext cx="1022883" cy="568200"/>
            </a:xfrm>
            <a:prstGeom prst="rect">
              <a:avLst/>
            </a:prstGeom>
            <a:solidFill>
              <a:schemeClr val="bg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Second team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4" name="slot.proof.2.step.3"/>
            <p:cNvSpPr/>
            <p:nvPr/>
          </p:nvSpPr>
          <p:spPr>
            <a:xfrm>
              <a:off x="6467692" y="2685031"/>
              <a:ext cx="965976" cy="812153"/>
            </a:xfrm>
            <a:prstGeom prst="rect">
              <a:avLst/>
            </a:prstGeom>
            <a:solidFill>
              <a:schemeClr val="accent1">
                <a:lumMod val="10000"/>
                <a:lumOff val="90000"/>
              </a:schemeClr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All regions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cxnSp>
        <p:nvCxnSpPr>
          <p:cNvPr id="35" name="struct.proof.2.axis"/>
          <p:cNvCxnSpPr>
            <a:cxnSpLocks/>
          </p:cNvCxnSpPr>
          <p:nvPr/>
        </p:nvCxnSpPr>
        <p:spPr>
          <a:xfrm>
            <a:off x="4292769" y="3497184"/>
            <a:ext cx="3327231" cy="0"/>
          </a:xfrm>
          <a:prstGeom prst="straightConnector1">
            <a:avLst/>
          </a:prstGeom>
          <a:ln w="19050">
            <a:tailEnd type="triangle"/>
          </a:ln>
          <a:effectLst/>
        </p:spPr>
      </p:cxnSp>
      <p:grpSp>
        <p:nvGrpSpPr>
          <p:cNvPr id="36" name="struct.proof.2.loop"/>
          <p:cNvGrpSpPr/>
          <p:nvPr/>
        </p:nvGrpSpPr>
        <p:grpSpPr>
          <a:xfrm>
            <a:off x="4597829" y="1689926"/>
            <a:ext cx="2775949" cy="735312"/>
            <a:chOff x="4597829" y="1689926"/>
            <a:chExt cx="2775949" cy="735312"/>
          </a:xfrm>
          <a:effectLst/>
        </p:grpSpPr>
        <p:sp>
          <p:nvSpPr>
            <p:cNvPr id="37" name="slot.proof.2.actor.2"/>
            <p:cNvSpPr txBox="1"/>
            <p:nvPr/>
          </p:nvSpPr>
          <p:spPr>
            <a:xfrm>
              <a:off x="5138928" y="2121408"/>
              <a:ext cx="841248" cy="3291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Use case brief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8" name="slot.proof.2.link"/>
            <p:cNvSpPr txBox="1"/>
            <p:nvPr/>
          </p:nvSpPr>
          <p:spPr>
            <a:xfrm>
              <a:off x="5751576" y="1609344"/>
              <a:ext cx="1188720" cy="2011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Weekly feedback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9" name="slot.proof.2.actor.3"/>
            <p:cNvSpPr txBox="1"/>
            <p:nvPr/>
          </p:nvSpPr>
          <p:spPr>
            <a:xfrm>
              <a:off x="6812280" y="212140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Platform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0" name="slot.proof.2.actor.1"/>
            <p:cNvSpPr txBox="1"/>
            <p:nvPr/>
          </p:nvSpPr>
          <p:spPr>
            <a:xfrm>
              <a:off x="4462272" y="2121408"/>
              <a:ext cx="6583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Analyst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41" name="struct.proof.2.arrow"/>
            <p:cNvCxnSpPr>
              <a:cxnSpLocks/>
            </p:cNvCxnSpPr>
            <p:nvPr/>
          </p:nvCxnSpPr>
          <p:spPr>
            <a:xfrm flipH="1">
              <a:off x="5678424" y="1901952"/>
              <a:ext cx="1325880" cy="0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</p:spPr>
        </p:cxnSp>
      </p:grpSp>
      <p:sp>
        <p:nvSpPr>
          <p:cNvPr id="42" name="struct.proof.3.pipeline"/>
          <p:cNvSpPr/>
          <p:nvPr/>
        </p:nvSpPr>
        <p:spPr>
          <a:xfrm>
            <a:off x="8130689" y="2239882"/>
            <a:ext cx="2069219" cy="1009199"/>
          </a:xfrm>
          <a:prstGeom prst="roundRect">
            <a:avLst>
              <a:gd name="adj" fmla="val 453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struct.proof.3.stage.1"/>
          <p:cNvSpPr/>
          <p:nvPr/>
        </p:nvSpPr>
        <p:spPr>
          <a:xfrm>
            <a:off x="8243550" y="2320977"/>
            <a:ext cx="276606" cy="276606"/>
          </a:xfrm>
          <a:prstGeom prst="ellipse">
            <a:avLst/>
          </a:prstGeom>
          <a:solidFill>
            <a:schemeClr val="bg1"/>
          </a:solidFill>
          <a:ln w="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struct.proof.3.stage.2"/>
          <p:cNvSpPr/>
          <p:nvPr/>
        </p:nvSpPr>
        <p:spPr>
          <a:xfrm>
            <a:off x="8731895" y="2320977"/>
            <a:ext cx="276606" cy="276606"/>
          </a:xfrm>
          <a:prstGeom prst="ellipse">
            <a:avLst/>
          </a:prstGeom>
          <a:solidFill>
            <a:schemeClr val="bg1"/>
          </a:solidFill>
          <a:ln w="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struct.proof.3.stage.3"/>
          <p:cNvSpPr/>
          <p:nvPr/>
        </p:nvSpPr>
        <p:spPr>
          <a:xfrm>
            <a:off x="9220240" y="2320977"/>
            <a:ext cx="276606" cy="276606"/>
          </a:xfrm>
          <a:prstGeom prst="ellipse">
            <a:avLst/>
          </a:prstGeom>
          <a:solidFill>
            <a:schemeClr val="bg1"/>
          </a:solidFill>
          <a:ln w="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struct.proof.3.stage.4"/>
          <p:cNvSpPr/>
          <p:nvPr/>
        </p:nvSpPr>
        <p:spPr>
          <a:xfrm>
            <a:off x="9730753" y="2320977"/>
            <a:ext cx="276606" cy="276606"/>
          </a:xfrm>
          <a:prstGeom prst="ellipse">
            <a:avLst/>
          </a:prstGeom>
          <a:solidFill>
            <a:schemeClr val="bg1"/>
          </a:solidFill>
          <a:ln w="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slot.proof.3.stage.1"/>
          <p:cNvSpPr txBox="1"/>
          <p:nvPr/>
        </p:nvSpPr>
        <p:spPr>
          <a:xfrm>
            <a:off x="8147304" y="2633472"/>
            <a:ext cx="475488" cy="1280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Ingest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proof.3.stage.2"/>
          <p:cNvSpPr txBox="1"/>
          <p:nvPr/>
        </p:nvSpPr>
        <p:spPr>
          <a:xfrm>
            <a:off x="8631936" y="2633472"/>
            <a:ext cx="475488" cy="1280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Test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proof.3.stage.3"/>
          <p:cNvSpPr txBox="1"/>
          <p:nvPr/>
        </p:nvSpPr>
        <p:spPr>
          <a:xfrm>
            <a:off x="9116568" y="2633472"/>
            <a:ext cx="475488" cy="1280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Build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proof.3.stage.4"/>
          <p:cNvSpPr txBox="1"/>
          <p:nvPr/>
        </p:nvSpPr>
        <p:spPr>
          <a:xfrm>
            <a:off x="9628632" y="2633472"/>
            <a:ext cx="475488" cy="1280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Release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truct.proof.3.env.1"/>
          <p:cNvSpPr/>
          <p:nvPr/>
        </p:nvSpPr>
        <p:spPr>
          <a:xfrm>
            <a:off x="10592143" y="2432743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struct.proof.3.env.2"/>
          <p:cNvSpPr/>
          <p:nvPr/>
        </p:nvSpPr>
        <p:spPr>
          <a:xfrm>
            <a:off x="10846078" y="2432743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struct.proof.3.env.3"/>
          <p:cNvSpPr/>
          <p:nvPr/>
        </p:nvSpPr>
        <p:spPr>
          <a:xfrm>
            <a:off x="11100012" y="2432743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struct.proof.3.env.4"/>
          <p:cNvSpPr/>
          <p:nvPr/>
        </p:nvSpPr>
        <p:spPr>
          <a:xfrm>
            <a:off x="11353947" y="2432743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struct.proof.3.env.5"/>
          <p:cNvSpPr/>
          <p:nvPr/>
        </p:nvSpPr>
        <p:spPr>
          <a:xfrm>
            <a:off x="10592143" y="2894442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struct.proof.3.env.6"/>
          <p:cNvSpPr/>
          <p:nvPr/>
        </p:nvSpPr>
        <p:spPr>
          <a:xfrm>
            <a:off x="10846078" y="2894442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struct.proof.3.env.7"/>
          <p:cNvSpPr/>
          <p:nvPr/>
        </p:nvSpPr>
        <p:spPr>
          <a:xfrm>
            <a:off x="11100012" y="2894442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struct.proof.3.env.8"/>
          <p:cNvSpPr/>
          <p:nvPr/>
        </p:nvSpPr>
        <p:spPr>
          <a:xfrm>
            <a:off x="11353947" y="2894442"/>
            <a:ext cx="161776" cy="161777"/>
          </a:xfrm>
          <a:prstGeom prst="ellipse">
            <a:avLst/>
          </a:prstGeom>
          <a:solidFill>
            <a:schemeClr val="bg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" name="struct.proof.3.loop.line"/>
          <p:cNvCxnSpPr>
            <a:cxnSpLocks/>
          </p:cNvCxnSpPr>
          <p:nvPr/>
        </p:nvCxnSpPr>
        <p:spPr>
          <a:xfrm rot="5400000">
            <a:off x="9125455" y="2064228"/>
            <a:ext cx="12700" cy="1487204"/>
          </a:xfrm>
          <a:prstGeom prst="bentConnector3">
            <a:avLst>
              <a:gd name="adj1" fmla="val 2161811"/>
            </a:avLst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sp>
        <p:nvSpPr>
          <p:cNvPr id="60" name="slot.proof.3.loop"/>
          <p:cNvSpPr txBox="1"/>
          <p:nvPr/>
        </p:nvSpPr>
        <p:spPr>
          <a:xfrm>
            <a:off x="8829472" y="3003213"/>
            <a:ext cx="671653" cy="123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Rollback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1" name="struct.proof.3.link.1"/>
          <p:cNvCxnSpPr>
            <a:cxnSpLocks/>
          </p:cNvCxnSpPr>
          <p:nvPr/>
        </p:nvCxnSpPr>
        <p:spPr>
          <a:xfrm>
            <a:off x="8520156" y="2459280"/>
            <a:ext cx="211739" cy="0"/>
          </a:xfrm>
          <a:prstGeom prst="straightConnector1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cxnSp>
        <p:nvCxnSpPr>
          <p:cNvPr id="62" name="struct.proof.3.link.2"/>
          <p:cNvCxnSpPr>
            <a:cxnSpLocks/>
          </p:cNvCxnSpPr>
          <p:nvPr/>
        </p:nvCxnSpPr>
        <p:spPr>
          <a:xfrm>
            <a:off x="9008501" y="2459280"/>
            <a:ext cx="211739" cy="0"/>
          </a:xfrm>
          <a:prstGeom prst="straightConnector1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cxnSp>
        <p:nvCxnSpPr>
          <p:cNvPr id="63" name="struct.proof.3.link.3"/>
          <p:cNvCxnSpPr>
            <a:cxnSpLocks/>
          </p:cNvCxnSpPr>
          <p:nvPr/>
        </p:nvCxnSpPr>
        <p:spPr>
          <a:xfrm>
            <a:off x="9496846" y="2459280"/>
            <a:ext cx="233907" cy="0"/>
          </a:xfrm>
          <a:prstGeom prst="straightConnector1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cxnSp>
        <p:nvCxnSpPr>
          <p:cNvPr id="64" name="struct.proof.3.fan.1"/>
          <p:cNvCxnSpPr>
            <a:cxnSpLocks/>
          </p:cNvCxnSpPr>
          <p:nvPr/>
        </p:nvCxnSpPr>
        <p:spPr>
          <a:xfrm flipV="1">
            <a:off x="10199908" y="2513632"/>
            <a:ext cx="392235" cy="230850"/>
          </a:xfrm>
          <a:prstGeom prst="bentConnector3">
            <a:avLst>
              <a:gd name="adj1" fmla="val 50000"/>
            </a:avLst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cxnSp>
        <p:nvCxnSpPr>
          <p:cNvPr id="65" name="struct.proof.3.fan.2"/>
          <p:cNvCxnSpPr>
            <a:cxnSpLocks/>
          </p:cNvCxnSpPr>
          <p:nvPr/>
        </p:nvCxnSpPr>
        <p:spPr>
          <a:xfrm>
            <a:off x="10199908" y="2744482"/>
            <a:ext cx="392235" cy="230849"/>
          </a:xfrm>
          <a:prstGeom prst="bentConnector3">
            <a:avLst>
              <a:gd name="adj1" fmla="val 50000"/>
            </a:avLst>
          </a:prstGeom>
          <a:ln w="6350"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sm" len="sm"/>
          </a:ln>
          <a:effectLst/>
        </p:spPr>
      </p:cxnSp>
      <p:sp>
        <p:nvSpPr>
          <p:cNvPr id="66" name="slot.proof.3.reach"/>
          <p:cNvSpPr txBox="1"/>
          <p:nvPr/>
        </p:nvSpPr>
        <p:spPr>
          <a:xfrm>
            <a:off x="9710928" y="1536192"/>
            <a:ext cx="1755648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run reaches every environment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truct.proof.3.brace"/>
          <p:cNvSpPr/>
          <p:nvPr/>
        </p:nvSpPr>
        <p:spPr>
          <a:xfrm rot="5400000">
            <a:off x="10508795" y="1091520"/>
            <a:ext cx="161771" cy="1852082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slot.proof.1.base.icon"/>
          <p:cNvSpPr/>
          <p:nvPr/>
        </p:nvSpPr>
        <p:spPr>
          <a:xfrm>
            <a:off x="2555291" y="3414370"/>
            <a:ext cx="256946" cy="25694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69" name="slot.proof.1.engine.1.icon"/>
          <p:cNvSpPr/>
          <p:nvPr/>
        </p:nvSpPr>
        <p:spPr>
          <a:xfrm>
            <a:off x="1207008" y="2657246"/>
            <a:ext cx="279806" cy="27980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0000"/>
                </a:moveTo>
                <a:lnTo>
                  <a:pt x="12000" y="22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7000" y="20000"/>
                </a:moveTo>
                <a:lnTo>
                  <a:pt x="17000" y="22000"/>
                </a:lnTo>
                <a:moveTo>
                  <a:pt x="17000" y="2000"/>
                </a:moveTo>
                <a:lnTo>
                  <a:pt x="17000" y="400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00" y="17000"/>
                </a:moveTo>
                <a:lnTo>
                  <a:pt x="4000" y="17000"/>
                </a:lnTo>
                <a:moveTo>
                  <a:pt x="2000" y="7000"/>
                </a:moveTo>
                <a:lnTo>
                  <a:pt x="4000" y="7000"/>
                </a:lnTo>
                <a:moveTo>
                  <a:pt x="20000" y="12000"/>
                </a:moveTo>
                <a:lnTo>
                  <a:pt x="22000" y="12000"/>
                </a:lnTo>
                <a:moveTo>
                  <a:pt x="20000" y="17000"/>
                </a:moveTo>
                <a:lnTo>
                  <a:pt x="22000" y="17000"/>
                </a:lnTo>
                <a:moveTo>
                  <a:pt x="20000" y="7000"/>
                </a:moveTo>
                <a:lnTo>
                  <a:pt x="22000" y="7000"/>
                </a:lnTo>
                <a:moveTo>
                  <a:pt x="7000" y="20000"/>
                </a:moveTo>
                <a:lnTo>
                  <a:pt x="7000" y="22000"/>
                </a:lnTo>
                <a:moveTo>
                  <a:pt x="7000" y="2000"/>
                </a:moveTo>
                <a:lnTo>
                  <a:pt x="7000" y="4000"/>
                </a:lnTo>
                <a:moveTo>
                  <a:pt x="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close/>
                <a:moveTo>
                  <a:pt x="9000" y="8000"/>
                </a:moveTo>
                <a:lnTo>
                  <a:pt x="15000" y="8000"/>
                </a:lnTo>
                <a:cubicBezTo>
                  <a:pt x="15552" y="8000"/>
                  <a:pt x="16000" y="8448"/>
                  <a:pt x="16000" y="9000"/>
                </a:cubicBezTo>
                <a:lnTo>
                  <a:pt x="16000" y="15000"/>
                </a:lnTo>
                <a:cubicBezTo>
                  <a:pt x="16000" y="15552"/>
                  <a:pt x="15552" y="16000"/>
                  <a:pt x="15000" y="16000"/>
                </a:cubicBezTo>
                <a:lnTo>
                  <a:pt x="9000" y="16000"/>
                </a:lnTo>
                <a:cubicBezTo>
                  <a:pt x="8448" y="16000"/>
                  <a:pt x="8000" y="15552"/>
                  <a:pt x="8000" y="15000"/>
                </a:cubicBezTo>
                <a:lnTo>
                  <a:pt x="8000" y="9000"/>
                </a:lnTo>
                <a:cubicBezTo>
                  <a:pt x="8000" y="8448"/>
                  <a:pt x="8448" y="8000"/>
                  <a:pt x="9000" y="8000"/>
                </a:cubicBezTo>
                <a:close/>
              </a:path>
            </a:pathLst>
          </a:custGeom>
          <a:noFill/>
          <a:ln w="23495" cap="rnd">
            <a:solidFill>
              <a:schemeClr val="accent1"/>
            </a:solidFill>
            <a:round/>
          </a:ln>
          <a:effectLst/>
        </p:spPr>
      </p:sp>
      <p:sp>
        <p:nvSpPr>
          <p:cNvPr id="70" name="slot.proof.1.engine.2.icon"/>
          <p:cNvSpPr/>
          <p:nvPr/>
        </p:nvSpPr>
        <p:spPr>
          <a:xfrm>
            <a:off x="2545690" y="2653589"/>
            <a:ext cx="276149" cy="276149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71" name="slot.proof.1.policy.icon"/>
          <p:cNvSpPr/>
          <p:nvPr/>
        </p:nvSpPr>
        <p:spPr>
          <a:xfrm>
            <a:off x="3397910" y="2558491"/>
            <a:ext cx="281635" cy="28163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23495" cap="rnd">
            <a:solidFill>
              <a:schemeClr val="accent1"/>
            </a:solidFill>
            <a:round/>
          </a:ln>
          <a:effectLst/>
        </p:spPr>
      </p:sp>
      <p:sp>
        <p:nvSpPr>
          <p:cNvPr id="72" name="slot.proof.2.actor.1.icon"/>
          <p:cNvSpPr/>
          <p:nvPr/>
        </p:nvSpPr>
        <p:spPr>
          <a:xfrm>
            <a:off x="4629607" y="1736446"/>
            <a:ext cx="332842" cy="33284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27940" cap="rnd">
            <a:solidFill>
              <a:schemeClr val="accent1"/>
            </a:solidFill>
            <a:round/>
          </a:ln>
          <a:effectLst/>
        </p:spPr>
      </p:sp>
      <p:sp>
        <p:nvSpPr>
          <p:cNvPr id="73" name="slot.proof.2.actor.2.icon"/>
          <p:cNvSpPr/>
          <p:nvPr/>
        </p:nvSpPr>
        <p:spPr>
          <a:xfrm>
            <a:off x="5383073" y="1736446"/>
            <a:ext cx="332842" cy="33284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12000" y="11000"/>
                </a:moveTo>
                <a:lnTo>
                  <a:pt x="16000" y="11000"/>
                </a:lnTo>
                <a:moveTo>
                  <a:pt x="12000" y="16000"/>
                </a:moveTo>
                <a:lnTo>
                  <a:pt x="16000" y="16000"/>
                </a:lnTo>
                <a:moveTo>
                  <a:pt x="8000" y="11000"/>
                </a:moveTo>
                <a:lnTo>
                  <a:pt x="8010" y="11000"/>
                </a:lnTo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7940" cap="rnd">
            <a:solidFill>
              <a:schemeClr val="accent1"/>
            </a:solidFill>
            <a:round/>
          </a:ln>
          <a:effectLst/>
        </p:spPr>
      </p:sp>
      <p:sp>
        <p:nvSpPr>
          <p:cNvPr id="74" name="slot.proof.2.actor.3.icon"/>
          <p:cNvSpPr/>
          <p:nvPr/>
        </p:nvSpPr>
        <p:spPr>
          <a:xfrm>
            <a:off x="7021678" y="1749247"/>
            <a:ext cx="308153" cy="308153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7000" y="16000"/>
                </a:moveTo>
                <a:lnTo>
                  <a:pt x="21000" y="16000"/>
                </a:lnTo>
                <a:cubicBezTo>
                  <a:pt x="21552" y="16000"/>
                  <a:pt x="22000" y="16448"/>
                  <a:pt x="22000" y="17000"/>
                </a:cubicBezTo>
                <a:lnTo>
                  <a:pt x="22000" y="21000"/>
                </a:lnTo>
                <a:cubicBezTo>
                  <a:pt x="22000" y="21552"/>
                  <a:pt x="21552" y="22000"/>
                  <a:pt x="21000" y="22000"/>
                </a:cubicBezTo>
                <a:lnTo>
                  <a:pt x="17000" y="22000"/>
                </a:lnTo>
                <a:cubicBezTo>
                  <a:pt x="16448" y="22000"/>
                  <a:pt x="16000" y="21552"/>
                  <a:pt x="16000" y="21000"/>
                </a:cubicBezTo>
                <a:lnTo>
                  <a:pt x="16000" y="17000"/>
                </a:lnTo>
                <a:cubicBezTo>
                  <a:pt x="16000" y="16448"/>
                  <a:pt x="16448" y="16000"/>
                  <a:pt x="17000" y="16000"/>
                </a:cubicBezTo>
                <a:close/>
                <a:moveTo>
                  <a:pt x="3000" y="16000"/>
                </a:moveTo>
                <a:lnTo>
                  <a:pt x="7000" y="16000"/>
                </a:lnTo>
                <a:cubicBezTo>
                  <a:pt x="7552" y="16000"/>
                  <a:pt x="8000" y="16448"/>
                  <a:pt x="8000" y="17000"/>
                </a:cubicBezTo>
                <a:lnTo>
                  <a:pt x="8000" y="21000"/>
                </a:lnTo>
                <a:cubicBezTo>
                  <a:pt x="8000" y="21552"/>
                  <a:pt x="7552" y="22000"/>
                  <a:pt x="7000" y="22000"/>
                </a:cubicBezTo>
                <a:lnTo>
                  <a:pt x="3000" y="22000"/>
                </a:lnTo>
                <a:cubicBezTo>
                  <a:pt x="2448" y="22000"/>
                  <a:pt x="2000" y="21552"/>
                  <a:pt x="2000" y="21000"/>
                </a:cubicBezTo>
                <a:lnTo>
                  <a:pt x="2000" y="17000"/>
                </a:lnTo>
                <a:cubicBezTo>
                  <a:pt x="2000" y="16448"/>
                  <a:pt x="2448" y="16000"/>
                  <a:pt x="3000" y="16000"/>
                </a:cubicBezTo>
                <a:close/>
                <a:moveTo>
                  <a:pt x="10000" y="2000"/>
                </a:moveTo>
                <a:lnTo>
                  <a:pt x="14000" y="2000"/>
                </a:lnTo>
                <a:cubicBezTo>
                  <a:pt x="14552" y="2000"/>
                  <a:pt x="15000" y="2448"/>
                  <a:pt x="15000" y="3000"/>
                </a:cubicBezTo>
                <a:lnTo>
                  <a:pt x="15000" y="7000"/>
                </a:lnTo>
                <a:cubicBezTo>
                  <a:pt x="15000" y="7552"/>
                  <a:pt x="14552" y="8000"/>
                  <a:pt x="14000" y="8000"/>
                </a:cubicBezTo>
                <a:lnTo>
                  <a:pt x="10000" y="8000"/>
                </a:lnTo>
                <a:cubicBezTo>
                  <a:pt x="9448" y="8000"/>
                  <a:pt x="9000" y="7552"/>
                  <a:pt x="9000" y="7000"/>
                </a:cubicBezTo>
                <a:lnTo>
                  <a:pt x="9000" y="3000"/>
                </a:lnTo>
                <a:cubicBezTo>
                  <a:pt x="9000" y="2448"/>
                  <a:pt x="9448" y="2000"/>
                  <a:pt x="10000" y="2000"/>
                </a:cubicBezTo>
                <a:close/>
                <a:moveTo>
                  <a:pt x="5000" y="16000"/>
                </a:moveTo>
                <a:lnTo>
                  <a:pt x="5000" y="13000"/>
                </a:lnTo>
                <a:cubicBezTo>
                  <a:pt x="5000" y="12448"/>
                  <a:pt x="5448" y="12000"/>
                  <a:pt x="6000" y="12000"/>
                </a:cubicBezTo>
                <a:lnTo>
                  <a:pt x="18000" y="12000"/>
                </a:lnTo>
                <a:cubicBezTo>
                  <a:pt x="18552" y="12000"/>
                  <a:pt x="19000" y="12448"/>
                  <a:pt x="19000" y="13000"/>
                </a:cubicBezTo>
                <a:lnTo>
                  <a:pt x="19000" y="16000"/>
                </a:lnTo>
                <a:moveTo>
                  <a:pt x="12000" y="12000"/>
                </a:moveTo>
                <a:lnTo>
                  <a:pt x="12000" y="8000"/>
                </a:lnTo>
              </a:path>
            </a:pathLst>
          </a:custGeom>
          <a:noFill/>
          <a:ln w="25400" cap="rnd">
            <a:solidFill>
              <a:schemeClr val="accent1"/>
            </a:solidFill>
            <a:round/>
          </a:ln>
          <a:effectLst/>
        </p:spPr>
      </p:sp>
      <p:sp>
        <p:nvSpPr>
          <p:cNvPr id="75" name="slot.proof.3.stage.1.icon"/>
          <p:cNvSpPr/>
          <p:nvPr/>
        </p:nvSpPr>
        <p:spPr>
          <a:xfrm>
            <a:off x="8309153" y="2386584"/>
            <a:ext cx="145390" cy="14539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2989" y="19976"/>
                  <a:pt x="4402" y="20893"/>
                  <a:pt x="6790" y="21458"/>
                </a:cubicBezTo>
                <a:cubicBezTo>
                  <a:pt x="9177" y="22023"/>
                  <a:pt x="12240" y="22165"/>
                  <a:pt x="15000" y="21840"/>
                </a:cubicBezTo>
                <a:moveTo>
                  <a:pt x="21000" y="5000"/>
                </a:moveTo>
                <a:lnTo>
                  <a:pt x="21000" y="8000"/>
                </a:lnTo>
                <a:moveTo>
                  <a:pt x="21000" y="12000"/>
                </a:moveTo>
                <a:lnTo>
                  <a:pt x="18000" y="17000"/>
                </a:lnTo>
                <a:lnTo>
                  <a:pt x="22000" y="17000"/>
                </a:lnTo>
                <a:lnTo>
                  <a:pt x="19000" y="22000"/>
                </a:lnTo>
                <a:moveTo>
                  <a:pt x="3000" y="12000"/>
                </a:moveTo>
                <a:cubicBezTo>
                  <a:pt x="3003" y="12948"/>
                  <a:pt x="4350" y="13840"/>
                  <a:pt x="6633" y="14405"/>
                </a:cubicBezTo>
                <a:cubicBezTo>
                  <a:pt x="8916" y="14970"/>
                  <a:pt x="11866" y="15143"/>
                  <a:pt x="14590" y="14870"/>
                </a:cubicBez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76" name="slot.proof.3.stage.2.icon"/>
          <p:cNvSpPr/>
          <p:nvPr/>
        </p:nvSpPr>
        <p:spPr>
          <a:xfrm>
            <a:off x="8796528" y="2385670"/>
            <a:ext cx="147218" cy="14721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2000"/>
                </a:moveTo>
                <a:lnTo>
                  <a:pt x="14000" y="8000"/>
                </a:lnTo>
                <a:cubicBezTo>
                  <a:pt x="14000" y="8335"/>
                  <a:pt x="14084" y="8666"/>
                  <a:pt x="14245" y="8960"/>
                </a:cubicBezTo>
                <a:lnTo>
                  <a:pt x="19755" y="19040"/>
                </a:lnTo>
                <a:cubicBezTo>
                  <a:pt x="20094" y="19660"/>
                  <a:pt x="20081" y="20412"/>
                  <a:pt x="19721" y="21020"/>
                </a:cubicBezTo>
                <a:cubicBezTo>
                  <a:pt x="19361" y="21628"/>
                  <a:pt x="18706" y="22000"/>
                  <a:pt x="18000" y="22000"/>
                </a:cubicBezTo>
                <a:lnTo>
                  <a:pt x="6000" y="22000"/>
                </a:lnTo>
                <a:cubicBezTo>
                  <a:pt x="5294" y="22000"/>
                  <a:pt x="4639" y="21628"/>
                  <a:pt x="4279" y="21020"/>
                </a:cubicBezTo>
                <a:cubicBezTo>
                  <a:pt x="3919" y="20412"/>
                  <a:pt x="3906" y="19660"/>
                  <a:pt x="4245" y="19040"/>
                </a:cubicBezTo>
                <a:lnTo>
                  <a:pt x="9755" y="8960"/>
                </a:lnTo>
                <a:cubicBezTo>
                  <a:pt x="9916" y="8666"/>
                  <a:pt x="10000" y="8335"/>
                  <a:pt x="10000" y="8000"/>
                </a:cubicBezTo>
                <a:lnTo>
                  <a:pt x="10000" y="2000"/>
                </a:lnTo>
                <a:moveTo>
                  <a:pt x="6453" y="15000"/>
                </a:moveTo>
                <a:lnTo>
                  <a:pt x="17547" y="15000"/>
                </a:lnTo>
                <a:moveTo>
                  <a:pt x="8500" y="2000"/>
                </a:moveTo>
                <a:lnTo>
                  <a:pt x="15500" y="2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77" name="slot.proof.3.stage.3.icon"/>
          <p:cNvSpPr/>
          <p:nvPr/>
        </p:nvSpPr>
        <p:spPr>
          <a:xfrm>
            <a:off x="9284818" y="2385670"/>
            <a:ext cx="147218" cy="14721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78" name="slot.proof.3.stage.4.icon"/>
          <p:cNvSpPr/>
          <p:nvPr/>
        </p:nvSpPr>
        <p:spPr>
          <a:xfrm>
            <a:off x="9795053" y="2385670"/>
            <a:ext cx="147218" cy="14721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2000"/>
                </a:lnTo>
                <a:moveTo>
                  <a:pt x="16000" y="17000"/>
                </a:moveTo>
                <a:lnTo>
                  <a:pt x="18000" y="19000"/>
                </a:lnTo>
                <a:lnTo>
                  <a:pt x="22000" y="15000"/>
                </a:lnTo>
                <a:moveTo>
                  <a:pt x="21000" y="11127"/>
                </a:moveTo>
                <a:lnTo>
                  <a:pt x="21000" y="8000"/>
                </a:lnTo>
                <a:cubicBezTo>
                  <a:pt x="20999" y="7286"/>
                  <a:pt x="20618" y="6627"/>
                  <a:pt x="20000" y="6270"/>
                </a:cubicBezTo>
                <a:lnTo>
                  <a:pt x="13000" y="2270"/>
                </a:lnTo>
                <a:cubicBezTo>
                  <a:pt x="12381" y="1913"/>
                  <a:pt x="11619" y="1913"/>
                  <a:pt x="11000" y="2270"/>
                </a:cubicBezTo>
                <a:lnTo>
                  <a:pt x="4000" y="6270"/>
                </a:lnTo>
                <a:cubicBezTo>
                  <a:pt x="3382" y="6627"/>
                  <a:pt x="3001" y="7286"/>
                  <a:pt x="3000" y="8000"/>
                </a:cubicBezTo>
                <a:lnTo>
                  <a:pt x="3000" y="16000"/>
                </a:lnTo>
                <a:cubicBezTo>
                  <a:pt x="3001" y="16713"/>
                  <a:pt x="3382" y="17372"/>
                  <a:pt x="4000" y="17729"/>
                </a:cubicBezTo>
                <a:lnTo>
                  <a:pt x="11000" y="21729"/>
                </a:lnTo>
                <a:cubicBezTo>
                  <a:pt x="11619" y="22087"/>
                  <a:pt x="12381" y="22087"/>
                  <a:pt x="13000" y="21730"/>
                </a:cubicBezTo>
                <a:lnTo>
                  <a:pt x="14320" y="20977"/>
                </a:lnTo>
                <a:moveTo>
                  <a:pt x="3290" y="7000"/>
                </a:moveTo>
                <a:lnTo>
                  <a:pt x="12000" y="12000"/>
                </a:lnTo>
                <a:lnTo>
                  <a:pt x="20710" y="7000"/>
                </a:lnTo>
                <a:moveTo>
                  <a:pt x="7500" y="4270"/>
                </a:moveTo>
                <a:lnTo>
                  <a:pt x="16497" y="9418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headline-figures:disc-band-figures-card-row">
    <p:spTree>
      <p:nvGrpSpPr>
        <p:cNvPr id="1" name=""/>
        <p:cNvGrpSpPr/>
        <p:nvPr/>
      </p:nvGrpSpPr>
      <p:grpSpPr/>
      <p:sp>
        <p:nvSpPr>
          <p:cNvPr id="2" name="struct.panel"/>
          <p:cNvSpPr/>
          <p:nvPr/>
        </p:nvSpPr>
        <p:spPr>
          <a:xfrm>
            <a:off x="8458200" y="4983480"/>
            <a:ext cx="3733495" cy="187451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struct.fig.1.ring"/>
          <p:cNvSpPr/>
          <p:nvPr/>
        </p:nvSpPr>
        <p:spPr>
          <a:xfrm>
            <a:off x="635700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struct.fig.2.ring"/>
          <p:cNvSpPr/>
          <p:nvPr/>
        </p:nvSpPr>
        <p:spPr>
          <a:xfrm>
            <a:off x="2610964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" name="struct.fig.3.ring"/>
          <p:cNvSpPr/>
          <p:nvPr/>
        </p:nvSpPr>
        <p:spPr>
          <a:xfrm>
            <a:off x="4586228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" name="struct.fig.4.ring"/>
          <p:cNvSpPr/>
          <p:nvPr/>
        </p:nvSpPr>
        <p:spPr>
          <a:xfrm>
            <a:off x="6561492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" name="struct.fig.5.ring"/>
          <p:cNvSpPr/>
          <p:nvPr/>
        </p:nvSpPr>
        <p:spPr>
          <a:xfrm>
            <a:off x="8536756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" name="struct.fig.6.ring"/>
          <p:cNvSpPr/>
          <p:nvPr/>
        </p:nvSpPr>
        <p:spPr>
          <a:xfrm>
            <a:off x="10512020" y="1348572"/>
            <a:ext cx="1002600" cy="99855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sz="1400"/>
              <a:t/>
            </a:r>
            <a:endParaRPr b="1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" name="slot.title"/>
          <p:cNvSpPr txBox="1"/>
          <p:nvPr/>
        </p:nvSpPr>
        <p:spPr>
          <a:xfrm>
            <a:off x="384048" y="274320"/>
            <a:ext cx="1143000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The invoice automation pilot paid back its cost in </a:t>
            </a:r>
            <a:r>
              <a:rPr lang="en-US" sz="2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five months</a:t>
            </a:r>
            <a:endParaRPr lang="en-US" sz="2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bleed.band"/>
          <p:cNvSpPr/>
          <p:nvPr/>
        </p:nvSpPr>
        <p:spPr>
          <a:xfrm>
            <a:off x="0" y="1848916"/>
            <a:ext cx="12191695" cy="3134563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" name="slot.fig.1.basis"/>
          <p:cNvSpPr txBox="1"/>
          <p:nvPr/>
        </p:nvSpPr>
        <p:spPr>
          <a:xfrm>
            <a:off x="268320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Up from 18% at the baseline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fig.2.basis"/>
          <p:cNvSpPr txBox="1"/>
          <p:nvPr/>
        </p:nvSpPr>
        <p:spPr>
          <a:xfrm>
            <a:off x="2243584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Close now runs in five days, not nine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fig.3.basis"/>
          <p:cNvSpPr txBox="1"/>
          <p:nvPr/>
        </p:nvSpPr>
        <p:spPr>
          <a:xfrm>
            <a:off x="4218847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Measured over the last eight weeks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fig.4.basis"/>
          <p:cNvSpPr txBox="1"/>
          <p:nvPr/>
        </p:nvSpPr>
        <p:spPr>
          <a:xfrm>
            <a:off x="6194112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Booked over the first two quarters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fig.5.basis"/>
          <p:cNvSpPr txBox="1"/>
          <p:nvPr/>
        </p:nvSpPr>
        <p:spPr>
          <a:xfrm>
            <a:off x="8169376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Exceptions routed to one shared queue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fig.6.basis"/>
          <p:cNvSpPr txBox="1"/>
          <p:nvPr/>
        </p:nvSpPr>
        <p:spPr>
          <a:xfrm>
            <a:off x="10144640" y="3966291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Against a twelve-month business case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truct.fig.1.disc"/>
          <p:cNvSpPr/>
          <p:nvPr/>
        </p:nvSpPr>
        <p:spPr>
          <a:xfrm>
            <a:off x="739370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" name="struct.fig.2.disc"/>
          <p:cNvSpPr/>
          <p:nvPr/>
        </p:nvSpPr>
        <p:spPr>
          <a:xfrm>
            <a:off x="2714634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9" name="struct.fig.3.disc"/>
          <p:cNvSpPr/>
          <p:nvPr/>
        </p:nvSpPr>
        <p:spPr>
          <a:xfrm>
            <a:off x="4689898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" name="struct.fig.4.disc"/>
          <p:cNvSpPr/>
          <p:nvPr/>
        </p:nvSpPr>
        <p:spPr>
          <a:xfrm>
            <a:off x="6665162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1" name="struct.fig.5.disc"/>
          <p:cNvSpPr/>
          <p:nvPr/>
        </p:nvSpPr>
        <p:spPr>
          <a:xfrm>
            <a:off x="8640426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" name="struct.fig.6.disc"/>
          <p:cNvSpPr/>
          <p:nvPr/>
        </p:nvSpPr>
        <p:spPr>
          <a:xfrm>
            <a:off x="10615690" y="1453950"/>
            <a:ext cx="795260" cy="792052"/>
          </a:xfrm>
          <a:prstGeom prst="ellipse">
            <a:avLst/>
          </a:prstGeom>
          <a:solidFill>
            <a:schemeClr val="bg1"/>
          </a:solidFill>
          <a:ln cap="sq" cmpd="sng" w="57150">
            <a:solidFill>
              <a:schemeClr val="accent1"/>
            </a:solidFill>
            <a:prstDash val="solid"/>
            <a:miter lim="8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200"/>
              <a:buFont typeface="Arial"/>
              <a:buNone/>
            </a:pPr>
            <a:r>
              <a:rPr sz="1400"/>
              <a:t/>
            </a:r>
            <a:endParaRPr b="0" i="0" sz="12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23" name="struct.rule.1"/>
          <p:cNvCxnSpPr/>
          <p:nvPr/>
        </p:nvCxnSpPr>
        <p:spPr>
          <a:xfrm>
            <a:off x="2124632" y="2788920"/>
            <a:ext cx="0" cy="1691640"/>
          </a:xfrm>
          <a:prstGeom prst="straightConnector1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24" name="struct.rule.2"/>
          <p:cNvCxnSpPr/>
          <p:nvPr/>
        </p:nvCxnSpPr>
        <p:spPr>
          <a:xfrm>
            <a:off x="4099896" y="2788920"/>
            <a:ext cx="0" cy="1691640"/>
          </a:xfrm>
          <a:prstGeom prst="straightConnector1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25" name="struct.rule.3"/>
          <p:cNvCxnSpPr/>
          <p:nvPr/>
        </p:nvCxnSpPr>
        <p:spPr>
          <a:xfrm>
            <a:off x="6075160" y="2788920"/>
            <a:ext cx="0" cy="1691640"/>
          </a:xfrm>
          <a:prstGeom prst="straightConnector1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26" name="struct.rule.4"/>
          <p:cNvCxnSpPr/>
          <p:nvPr/>
        </p:nvCxnSpPr>
        <p:spPr>
          <a:xfrm>
            <a:off x="8050424" y="2788920"/>
            <a:ext cx="0" cy="1691640"/>
          </a:xfrm>
          <a:prstGeom prst="straightConnector1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cxnSp>
        <p:nvCxnSpPr>
          <p:cNvPr id="27" name="struct.rule.5"/>
          <p:cNvCxnSpPr/>
          <p:nvPr/>
        </p:nvCxnSpPr>
        <p:spPr>
          <a:xfrm>
            <a:off x="10025688" y="2788920"/>
            <a:ext cx="0" cy="1691640"/>
          </a:xfrm>
          <a:prstGeom prst="straightConnector1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  <a:effectLst/>
        </p:spPr>
      </p:cxnSp>
      <p:sp>
        <p:nvSpPr>
          <p:cNvPr id="28" name="struct.card.1"/>
          <p:cNvSpPr/>
          <p:nvPr/>
        </p:nvSpPr>
        <p:spPr>
          <a:xfrm>
            <a:off x="1" y="4983480"/>
            <a:ext cx="2746248" cy="1874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9" name="struct.card.2"/>
          <p:cNvSpPr/>
          <p:nvPr/>
        </p:nvSpPr>
        <p:spPr>
          <a:xfrm>
            <a:off x="2819400" y="4983480"/>
            <a:ext cx="2746248" cy="1874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0" name="struct.card.3"/>
          <p:cNvSpPr/>
          <p:nvPr/>
        </p:nvSpPr>
        <p:spPr>
          <a:xfrm>
            <a:off x="5638799" y="4983480"/>
            <a:ext cx="2746248" cy="1874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1" name="slot.card.1.head"/>
          <p:cNvSpPr txBox="1"/>
          <p:nvPr/>
        </p:nvSpPr>
        <p:spPr>
          <a:xfrm>
            <a:off x="274321" y="5367528"/>
            <a:ext cx="17861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Controls held</a:t>
            </a:r>
            <a:endParaRPr lang="en-US" sz="1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card.1.body"/>
          <p:cNvSpPr txBox="1"/>
          <p:nvPr/>
        </p:nvSpPr>
        <p:spPr>
          <a:xfrm>
            <a:off x="274321" y="5879592"/>
            <a:ext cx="2243328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Every posting keeps an audit trail and an approver</a:t>
            </a:r>
            <a:endParaRPr lang="en-US" sz="13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lot.card.2.head"/>
          <p:cNvSpPr txBox="1"/>
          <p:nvPr/>
        </p:nvSpPr>
        <p:spPr>
          <a:xfrm>
            <a:off x="3093720" y="5367528"/>
            <a:ext cx="17861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Savings mix</a:t>
            </a:r>
            <a:endParaRPr lang="en-US" sz="1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card.2.body"/>
          <p:cNvSpPr txBox="1"/>
          <p:nvPr/>
        </p:nvSpPr>
        <p:spPr>
          <a:xfrm>
            <a:off x="3093720" y="5879592"/>
            <a:ext cx="2243328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thirds from analyst time, a third from discounts</a:t>
            </a:r>
            <a:endParaRPr lang="en-US" sz="13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card.3.head"/>
          <p:cNvSpPr txBox="1"/>
          <p:nvPr/>
        </p:nvSpPr>
        <p:spPr>
          <a:xfrm>
            <a:off x="5913119" y="5367528"/>
            <a:ext cx="17861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Team roles</a:t>
            </a:r>
            <a:endParaRPr lang="en-US" sz="18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card.3.body"/>
          <p:cNvSpPr txBox="1"/>
          <p:nvPr/>
        </p:nvSpPr>
        <p:spPr>
          <a:xfrm>
            <a:off x="5913119" y="5879592"/>
            <a:ext cx="2243328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Analysts moved from keying invoices to exceptions</a:t>
            </a:r>
            <a:endParaRPr lang="en-US" sz="13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panel.head"/>
          <p:cNvSpPr txBox="1"/>
          <p:nvPr/>
        </p:nvSpPr>
        <p:spPr>
          <a:xfrm>
            <a:off x="8732520" y="5367528"/>
            <a:ext cx="3182112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Recommended next step</a:t>
            </a:r>
            <a:endParaRPr lang="en-US" sz="1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panel.body"/>
          <p:cNvSpPr txBox="1"/>
          <p:nvPr/>
        </p:nvSpPr>
        <p:spPr>
          <a:xfrm>
            <a:off x="8732520" y="5879592"/>
            <a:ext cx="3182112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Extend to two more regional centers next quarter</a:t>
            </a:r>
            <a:endParaRPr lang="en-US" sz="13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fig.1.icon"/>
          <p:cNvSpPr/>
          <p:nvPr/>
        </p:nvSpPr>
        <p:spPr>
          <a:xfrm>
            <a:off x="944976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40" name="slot.fig.1"/>
          <p:cNvGrpSpPr/>
          <p:nvPr/>
        </p:nvGrpSpPr>
        <p:grpSpPr>
          <a:xfrm>
            <a:off x="268320" y="2724912"/>
            <a:ext cx="1737360" cy="1149940"/>
            <a:chOff x="268320" y="2724912"/>
            <a:chExt cx="1737360" cy="1149940"/>
          </a:xfrm>
          <a:effectLst/>
        </p:grpSpPr>
        <p:sp>
          <p:nvSpPr>
            <p:cNvPr id="41" name="slot.fig.1.value"/>
            <p:cNvSpPr txBox="1"/>
            <p:nvPr/>
          </p:nvSpPr>
          <p:spPr>
            <a:xfrm>
              <a:off x="268320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62%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42" name="slot.fig.1.rule"/>
            <p:cNvCxnSpPr/>
            <p:nvPr/>
          </p:nvCxnSpPr>
          <p:spPr>
            <a:xfrm>
              <a:off x="268320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43" name="slot.fig.1.label"/>
            <p:cNvSpPr txBox="1"/>
            <p:nvPr/>
          </p:nvSpPr>
          <p:spPr>
            <a:xfrm>
              <a:off x="268320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Invoices posted with no manual touch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4" name="slot.fig.2.icon"/>
          <p:cNvSpPr/>
          <p:nvPr/>
        </p:nvSpPr>
        <p:spPr>
          <a:xfrm>
            <a:off x="2920240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45" name="slot.fig.2"/>
          <p:cNvGrpSpPr/>
          <p:nvPr/>
        </p:nvGrpSpPr>
        <p:grpSpPr>
          <a:xfrm>
            <a:off x="2243584" y="2724912"/>
            <a:ext cx="1737360" cy="1149940"/>
            <a:chOff x="2243584" y="2724912"/>
            <a:chExt cx="1737360" cy="1149940"/>
          </a:xfrm>
          <a:effectLst/>
        </p:grpSpPr>
        <p:sp>
          <p:nvSpPr>
            <p:cNvPr id="46" name="slot.fig.2.value"/>
            <p:cNvSpPr txBox="1"/>
            <p:nvPr/>
          </p:nvSpPr>
          <p:spPr>
            <a:xfrm>
              <a:off x="2243584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44%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47" name="slot.fig.2.rule"/>
            <p:cNvCxnSpPr/>
            <p:nvPr/>
          </p:nvCxnSpPr>
          <p:spPr>
            <a:xfrm>
              <a:off x="2243584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48" name="slot.fig.2.label"/>
            <p:cNvSpPr txBox="1"/>
            <p:nvPr/>
          </p:nvSpPr>
          <p:spPr>
            <a:xfrm>
              <a:off x="2243584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Shorter month-end close cycle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9" name="slot.fig.3.icon"/>
          <p:cNvSpPr/>
          <p:nvPr/>
        </p:nvSpPr>
        <p:spPr>
          <a:xfrm>
            <a:off x="4895504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50" name="slot.fig.3"/>
          <p:cNvGrpSpPr/>
          <p:nvPr/>
        </p:nvGrpSpPr>
        <p:grpSpPr>
          <a:xfrm>
            <a:off x="4218848" y="2724912"/>
            <a:ext cx="1737360" cy="1149940"/>
            <a:chOff x="4218848" y="2724912"/>
            <a:chExt cx="1737360" cy="1149940"/>
          </a:xfrm>
          <a:effectLst/>
        </p:grpSpPr>
        <p:sp>
          <p:nvSpPr>
            <p:cNvPr id="51" name="slot.fig.3.value"/>
            <p:cNvSpPr txBox="1"/>
            <p:nvPr/>
          </p:nvSpPr>
          <p:spPr>
            <a:xfrm>
              <a:off x="4218848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3x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52" name="slot.fig.3.rule"/>
            <p:cNvCxnSpPr/>
            <p:nvPr/>
          </p:nvCxnSpPr>
          <p:spPr>
            <a:xfrm>
              <a:off x="4218848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53" name="slot.fig.3.label"/>
            <p:cNvSpPr txBox="1"/>
            <p:nvPr/>
          </p:nvSpPr>
          <p:spPr>
            <a:xfrm>
              <a:off x="4218848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Vendor queries resolved per analyst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54" name="slot.fig.4.icon"/>
          <p:cNvSpPr/>
          <p:nvPr/>
        </p:nvSpPr>
        <p:spPr>
          <a:xfrm>
            <a:off x="6870768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7000"/>
                </a:moveTo>
                <a:lnTo>
                  <a:pt x="14000" y="17000"/>
                </a:lnTo>
                <a:lnTo>
                  <a:pt x="14000" y="19000"/>
                </a:lnTo>
                <a:cubicBezTo>
                  <a:pt x="14000" y="19552"/>
                  <a:pt x="14448" y="20000"/>
                  <a:pt x="15000" y="20000"/>
                </a:cubicBezTo>
                <a:lnTo>
                  <a:pt x="17000" y="20000"/>
                </a:lnTo>
                <a:cubicBezTo>
                  <a:pt x="17552" y="20000"/>
                  <a:pt x="18000" y="19552"/>
                  <a:pt x="18000" y="19000"/>
                </a:cubicBezTo>
                <a:lnTo>
                  <a:pt x="18000" y="16000"/>
                </a:lnTo>
                <a:cubicBezTo>
                  <a:pt x="18944" y="15686"/>
                  <a:pt x="19686" y="14944"/>
                  <a:pt x="20000" y="14000"/>
                </a:cubicBezTo>
                <a:lnTo>
                  <a:pt x="21000" y="14000"/>
                </a:lnTo>
                <a:cubicBezTo>
                  <a:pt x="21552" y="14000"/>
                  <a:pt x="22000" y="13552"/>
                  <a:pt x="22000" y="13000"/>
                </a:cubicBezTo>
                <a:lnTo>
                  <a:pt x="22000" y="11000"/>
                </a:lnTo>
                <a:cubicBezTo>
                  <a:pt x="22000" y="10448"/>
                  <a:pt x="21552" y="10000"/>
                  <a:pt x="21000" y="10000"/>
                </a:cubicBezTo>
                <a:lnTo>
                  <a:pt x="20000" y="10000"/>
                </a:lnTo>
                <a:cubicBezTo>
                  <a:pt x="20000" y="8426"/>
                  <a:pt x="19259" y="6944"/>
                  <a:pt x="18000" y="6000"/>
                </a:cubicBezTo>
                <a:lnTo>
                  <a:pt x="18000" y="3000"/>
                </a:lnTo>
                <a:cubicBezTo>
                  <a:pt x="16741" y="3000"/>
                  <a:pt x="15555" y="3593"/>
                  <a:pt x="14800" y="4600"/>
                </a:cubicBezTo>
                <a:lnTo>
                  <a:pt x="14500" y="5000"/>
                </a:lnTo>
                <a:lnTo>
                  <a:pt x="11000" y="5000"/>
                </a:lnTo>
                <a:cubicBezTo>
                  <a:pt x="7686" y="5000"/>
                  <a:pt x="5000" y="7686"/>
                  <a:pt x="5000" y="11000"/>
                </a:cubicBezTo>
                <a:lnTo>
                  <a:pt x="5000" y="12000"/>
                </a:lnTo>
                <a:cubicBezTo>
                  <a:pt x="5000" y="13574"/>
                  <a:pt x="5741" y="15056"/>
                  <a:pt x="7000" y="16000"/>
                </a:cubicBezTo>
                <a:lnTo>
                  <a:pt x="7000" y="19000"/>
                </a:lnTo>
                <a:cubicBezTo>
                  <a:pt x="7000" y="19552"/>
                  <a:pt x="7448" y="20000"/>
                  <a:pt x="8000" y="20000"/>
                </a:cubicBezTo>
                <a:lnTo>
                  <a:pt x="10000" y="20000"/>
                </a:lnTo>
                <a:cubicBezTo>
                  <a:pt x="10552" y="20000"/>
                  <a:pt x="11000" y="19552"/>
                  <a:pt x="11000" y="19000"/>
                </a:cubicBezTo>
                <a:close/>
                <a:moveTo>
                  <a:pt x="16000" y="10000"/>
                </a:moveTo>
                <a:lnTo>
                  <a:pt x="16010" y="10000"/>
                </a:lnTo>
                <a:moveTo>
                  <a:pt x="2000" y="8000"/>
                </a:moveTo>
                <a:lnTo>
                  <a:pt x="2000" y="9000"/>
                </a:lnTo>
                <a:cubicBezTo>
                  <a:pt x="2000" y="10105"/>
                  <a:pt x="2895" y="11000"/>
                  <a:pt x="4000" y="11000"/>
                </a:cubicBezTo>
                <a:lnTo>
                  <a:pt x="5000" y="11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55" name="slot.fig.4"/>
          <p:cNvGrpSpPr/>
          <p:nvPr/>
        </p:nvGrpSpPr>
        <p:grpSpPr>
          <a:xfrm>
            <a:off x="6194112" y="2724912"/>
            <a:ext cx="1737360" cy="1149940"/>
            <a:chOff x="6194112" y="2724912"/>
            <a:chExt cx="1737360" cy="1149940"/>
          </a:xfrm>
          <a:effectLst/>
        </p:grpSpPr>
        <p:sp>
          <p:nvSpPr>
            <p:cNvPr id="56" name="slot.fig.4.value"/>
            <p:cNvSpPr txBox="1"/>
            <p:nvPr/>
          </p:nvSpPr>
          <p:spPr>
            <a:xfrm>
              <a:off x="6194112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$1.8M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57" name="slot.fig.4.rule"/>
            <p:cNvCxnSpPr/>
            <p:nvPr/>
          </p:nvCxnSpPr>
          <p:spPr>
            <a:xfrm>
              <a:off x="6194112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58" name="slot.fig.4.label"/>
            <p:cNvSpPr txBox="1"/>
            <p:nvPr/>
          </p:nvSpPr>
          <p:spPr>
            <a:xfrm>
              <a:off x="6194112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Annual run-rate savings identified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59" name="slot.fig.5.icon"/>
          <p:cNvSpPr/>
          <p:nvPr/>
        </p:nvSpPr>
        <p:spPr>
          <a:xfrm>
            <a:off x="8846032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60" name="slot.fig.5"/>
          <p:cNvGrpSpPr/>
          <p:nvPr/>
        </p:nvGrpSpPr>
        <p:grpSpPr>
          <a:xfrm>
            <a:off x="8169376" y="2724912"/>
            <a:ext cx="1737360" cy="1149940"/>
            <a:chOff x="8169376" y="2724912"/>
            <a:chExt cx="1737360" cy="1149940"/>
          </a:xfrm>
          <a:effectLst/>
        </p:grpSpPr>
        <p:sp>
          <p:nvSpPr>
            <p:cNvPr id="61" name="slot.fig.5.value"/>
            <p:cNvSpPr txBox="1"/>
            <p:nvPr/>
          </p:nvSpPr>
          <p:spPr>
            <a:xfrm>
              <a:off x="8169376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91%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62" name="slot.fig.5.rule"/>
            <p:cNvCxnSpPr/>
            <p:nvPr/>
          </p:nvCxnSpPr>
          <p:spPr>
            <a:xfrm>
              <a:off x="8169376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63" name="slot.fig.5.label"/>
            <p:cNvSpPr txBox="1"/>
            <p:nvPr/>
          </p:nvSpPr>
          <p:spPr>
            <a:xfrm>
              <a:off x="8169376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First-pass match rate on payments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64" name="slot.fig.6.icon"/>
          <p:cNvSpPr/>
          <p:nvPr/>
        </p:nvSpPr>
        <p:spPr>
          <a:xfrm>
            <a:off x="10821296" y="1657952"/>
            <a:ext cx="384048" cy="3840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22000"/>
                </a:moveTo>
                <a:lnTo>
                  <a:pt x="19000" y="22000"/>
                </a:lnTo>
                <a:moveTo>
                  <a:pt x="5000" y="2000"/>
                </a:moveTo>
                <a:lnTo>
                  <a:pt x="19000" y="2000"/>
                </a:lnTo>
                <a:moveTo>
                  <a:pt x="17000" y="22000"/>
                </a:moveTo>
                <a:lnTo>
                  <a:pt x="17000" y="17828"/>
                </a:lnTo>
                <a:cubicBezTo>
                  <a:pt x="17000" y="17298"/>
                  <a:pt x="16789" y="16789"/>
                  <a:pt x="16414" y="16414"/>
                </a:cubicBezTo>
                <a:lnTo>
                  <a:pt x="12000" y="12000"/>
                </a:lnTo>
                <a:lnTo>
                  <a:pt x="7586" y="16414"/>
                </a:lnTo>
                <a:cubicBezTo>
                  <a:pt x="7211" y="16789"/>
                  <a:pt x="7000" y="17298"/>
                  <a:pt x="7000" y="17828"/>
                </a:cubicBezTo>
                <a:lnTo>
                  <a:pt x="7000" y="22000"/>
                </a:lnTo>
                <a:moveTo>
                  <a:pt x="7000" y="2000"/>
                </a:moveTo>
                <a:lnTo>
                  <a:pt x="7000" y="6172"/>
                </a:lnTo>
                <a:cubicBezTo>
                  <a:pt x="7000" y="6702"/>
                  <a:pt x="7211" y="7211"/>
                  <a:pt x="7586" y="7586"/>
                </a:cubicBezTo>
                <a:lnTo>
                  <a:pt x="12000" y="12000"/>
                </a:lnTo>
                <a:lnTo>
                  <a:pt x="16414" y="7586"/>
                </a:lnTo>
                <a:cubicBezTo>
                  <a:pt x="16789" y="7211"/>
                  <a:pt x="17000" y="6702"/>
                  <a:pt x="17000" y="6172"/>
                </a:cubicBezTo>
                <a:lnTo>
                  <a:pt x="17000" y="2000"/>
                </a:lnTo>
              </a:path>
            </a:pathLst>
          </a:custGeom>
          <a:noFill/>
          <a:ln w="31750" cap="rnd">
            <a:solidFill>
              <a:schemeClr val="accent1"/>
            </a:solidFill>
            <a:round/>
          </a:ln>
          <a:effectLst/>
        </p:spPr>
      </p:sp>
      <p:grpSp>
        <p:nvGrpSpPr>
          <p:cNvPr id="65" name="slot.fig.6"/>
          <p:cNvGrpSpPr/>
          <p:nvPr/>
        </p:nvGrpSpPr>
        <p:grpSpPr>
          <a:xfrm>
            <a:off x="10144640" y="2724912"/>
            <a:ext cx="1737360" cy="1149940"/>
            <a:chOff x="10144640" y="2724912"/>
            <a:chExt cx="1737360" cy="1149940"/>
          </a:xfrm>
          <a:effectLst/>
        </p:grpSpPr>
        <p:sp>
          <p:nvSpPr>
            <p:cNvPr id="66" name="slot.fig.6.value"/>
            <p:cNvSpPr txBox="1"/>
            <p:nvPr/>
          </p:nvSpPr>
          <p:spPr>
            <a:xfrm>
              <a:off x="10144640" y="2724912"/>
              <a:ext cx="1737360" cy="65302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2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5 mo</a:t>
              </a:r>
              <a:endParaRPr lang="en-US" sz="4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67" name="slot.fig.6.rule"/>
            <p:cNvCxnSpPr/>
            <p:nvPr/>
          </p:nvCxnSpPr>
          <p:spPr>
            <a:xfrm>
              <a:off x="10144640" y="3423659"/>
              <a:ext cx="173736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68" name="slot.fig.6.label"/>
            <p:cNvSpPr txBox="1"/>
            <p:nvPr/>
          </p:nvSpPr>
          <p:spPr>
            <a:xfrm>
              <a:off x="10144640" y="3478523"/>
              <a:ext cx="1737360" cy="39632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To recover the full pilot cost</a:t>
              </a:r>
              <a:endParaRPr lang="en-US" sz="13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69" name="slot.card.1.icon"/>
          <p:cNvSpPr/>
          <p:nvPr/>
        </p:nvSpPr>
        <p:spPr>
          <a:xfrm>
            <a:off x="2069593" y="53675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34925" cap="rnd">
            <a:solidFill>
              <a:schemeClr val="accent1"/>
            </a:solidFill>
            <a:round/>
          </a:ln>
          <a:effectLst/>
        </p:spPr>
      </p:sp>
      <p:sp>
        <p:nvSpPr>
          <p:cNvPr id="70" name="slot.card.2.icon"/>
          <p:cNvSpPr/>
          <p:nvPr/>
        </p:nvSpPr>
        <p:spPr>
          <a:xfrm>
            <a:off x="4888992" y="53675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12000"/>
                </a:moveTo>
                <a:cubicBezTo>
                  <a:pt x="21552" y="12000"/>
                  <a:pt x="22005" y="11551"/>
                  <a:pt x="21950" y="11002"/>
                </a:cubicBezTo>
                <a:cubicBezTo>
                  <a:pt x="21475" y="6269"/>
                  <a:pt x="17731" y="2525"/>
                  <a:pt x="12997" y="2051"/>
                </a:cubicBezTo>
                <a:cubicBezTo>
                  <a:pt x="12447" y="1996"/>
                  <a:pt x="11999" y="2449"/>
                  <a:pt x="11999" y="3001"/>
                </a:cubicBezTo>
                <a:lnTo>
                  <a:pt x="11999" y="11001"/>
                </a:lnTo>
                <a:cubicBezTo>
                  <a:pt x="11999" y="11553"/>
                  <a:pt x="12447" y="12001"/>
                  <a:pt x="12999" y="12001"/>
                </a:cubicBezTo>
                <a:close/>
                <a:moveTo>
                  <a:pt x="21210" y="15890"/>
                </a:moveTo>
                <a:cubicBezTo>
                  <a:pt x="19460" y="20029"/>
                  <a:pt x="15164" y="22492"/>
                  <a:pt x="10708" y="21912"/>
                </a:cubicBezTo>
                <a:cubicBezTo>
                  <a:pt x="6252" y="21331"/>
                  <a:pt x="2730" y="17849"/>
                  <a:pt x="2099" y="13400"/>
                </a:cubicBezTo>
                <a:cubicBezTo>
                  <a:pt x="1467" y="8951"/>
                  <a:pt x="3881" y="4627"/>
                  <a:pt x="8000" y="2830"/>
                </a:cubicBezTo>
              </a:path>
            </a:pathLst>
          </a:custGeom>
          <a:noFill/>
          <a:ln w="34925" cap="rnd">
            <a:solidFill>
              <a:schemeClr val="accent1"/>
            </a:solidFill>
            <a:round/>
          </a:ln>
          <a:effectLst/>
        </p:spPr>
      </p:sp>
      <p:sp>
        <p:nvSpPr>
          <p:cNvPr id="71" name="slot.card.3.icon"/>
          <p:cNvSpPr/>
          <p:nvPr/>
        </p:nvSpPr>
        <p:spPr>
          <a:xfrm>
            <a:off x="7708391" y="5367528"/>
            <a:ext cx="420624" cy="42062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492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ecision-logic:slanted-lanes">
    <p:spTree>
      <p:nvGrpSpPr>
        <p:cNvPr id="1" name=""/>
        <p:cNvGrpSpPr/>
        <p:nvPr/>
      </p:nvGrpSpPr>
      <p:grpSpPr/>
      <p:sp>
        <p:nvSpPr>
          <p:cNvPr id="2" name="struct.controls.panel"/>
          <p:cNvSpPr/>
          <p:nvPr/>
        </p:nvSpPr>
        <p:spPr>
          <a:xfrm>
            <a:off x="384048" y="5458967"/>
            <a:ext cx="5577840" cy="896112"/>
          </a:xfrm>
          <a:prstGeom prst="roundRect">
            <a:avLst>
              <a:gd fmla="val 5102" name="adj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00"/>
              <a:buFont typeface="Arial"/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slot.signals.label"/>
          <p:cNvSpPr/>
          <p:nvPr/>
        </p:nvSpPr>
        <p:spPr>
          <a:xfrm>
            <a:off x="384048" y="896112"/>
            <a:ext cx="27432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Signals on arrival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signal.1.disc"/>
          <p:cNvSpPr/>
          <p:nvPr/>
        </p:nvSpPr>
        <p:spPr>
          <a:xfrm>
            <a:off x="384048" y="1207008"/>
            <a:ext cx="384048" cy="38404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" name="struct.signal.2.disc"/>
          <p:cNvSpPr/>
          <p:nvPr/>
        </p:nvSpPr>
        <p:spPr>
          <a:xfrm>
            <a:off x="3694176" y="1207008"/>
            <a:ext cx="384048" cy="38404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" name="slot.signal.1.head"/>
          <p:cNvSpPr/>
          <p:nvPr/>
        </p:nvSpPr>
        <p:spPr>
          <a:xfrm>
            <a:off x="841247" y="1170432"/>
            <a:ext cx="27432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Match score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signal.1.body"/>
          <p:cNvSpPr/>
          <p:nvPr/>
        </p:nvSpPr>
        <p:spPr>
          <a:xfrm>
            <a:off x="841247" y="1389888"/>
            <a:ext cx="27432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Order, receipt and invoice agree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signal.2.head"/>
          <p:cNvSpPr/>
          <p:nvPr/>
        </p:nvSpPr>
        <p:spPr>
          <a:xfrm>
            <a:off x="4151376" y="1170432"/>
            <a:ext cx="27432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Exception flags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signal.2.body"/>
          <p:cNvSpPr/>
          <p:nvPr/>
        </p:nvSpPr>
        <p:spPr>
          <a:xfrm>
            <a:off x="4151376" y="1389888"/>
            <a:ext cx="27432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Duplicate, price or tax variance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truct.note.panel"/>
          <p:cNvSpPr/>
          <p:nvPr/>
        </p:nvSpPr>
        <p:spPr>
          <a:xfrm>
            <a:off x="7598664" y="1097280"/>
            <a:ext cx="4215384" cy="566928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" name="slot.note.body"/>
          <p:cNvSpPr/>
          <p:nvPr/>
        </p:nvSpPr>
        <p:spPr>
          <a:xfrm>
            <a:off x="7708392" y="1161288"/>
            <a:ext cx="3995928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Rules run top to bottom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The first rule that matches sets the lane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lanes.label"/>
          <p:cNvSpPr/>
          <p:nvPr/>
        </p:nvSpPr>
        <p:spPr>
          <a:xfrm>
            <a:off x="384048" y="1956816"/>
            <a:ext cx="822960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Handling lanes, tested in order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lane.1.shape"/>
          <p:cNvSpPr/>
          <p:nvPr/>
        </p:nvSpPr>
        <p:spPr>
          <a:xfrm>
            <a:off x="384048" y="2304288"/>
            <a:ext cx="2112264" cy="2057400"/>
          </a:xfrm>
          <a:prstGeom prst="parallelogram">
            <a:avLst>
              <a:gd fmla="val 25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" name="struct.lane.2.shape"/>
          <p:cNvSpPr/>
          <p:nvPr/>
        </p:nvSpPr>
        <p:spPr>
          <a:xfrm>
            <a:off x="2697480" y="2304288"/>
            <a:ext cx="2112264" cy="2057400"/>
          </a:xfrm>
          <a:prstGeom prst="parallelogram">
            <a:avLst>
              <a:gd fmla="val 25000" name="adj"/>
            </a:avLst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" name="struct.lane.3.shape"/>
          <p:cNvSpPr/>
          <p:nvPr/>
        </p:nvSpPr>
        <p:spPr>
          <a:xfrm>
            <a:off x="5010912" y="2304288"/>
            <a:ext cx="2112264" cy="2057400"/>
          </a:xfrm>
          <a:prstGeom prst="parallelogram">
            <a:avLst>
              <a:gd fmla="val 25000" name="adj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" name="struct.lane.4.shape"/>
          <p:cNvSpPr/>
          <p:nvPr/>
        </p:nvSpPr>
        <p:spPr>
          <a:xfrm>
            <a:off x="7324344" y="2304288"/>
            <a:ext cx="2112264" cy="2057400"/>
          </a:xfrm>
          <a:prstGeom prst="parallelogram">
            <a:avLst>
              <a:gd fmla="val 25000" name="adj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" name="struct.lane.5.shape"/>
          <p:cNvSpPr/>
          <p:nvPr/>
        </p:nvSpPr>
        <p:spPr>
          <a:xfrm>
            <a:off x="9637776" y="2304288"/>
            <a:ext cx="2112264" cy="2057400"/>
          </a:xfrm>
          <a:prstGeom prst="parallelogram">
            <a:avLst>
              <a:gd fmla="val 25000" name="adj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" name="struct.lane.1.numeral"/>
          <p:cNvSpPr/>
          <p:nvPr/>
        </p:nvSpPr>
        <p:spPr>
          <a:xfrm>
            <a:off x="1064132" y="2505456"/>
            <a:ext cx="8229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01</a:t>
            </a:r>
            <a:endParaRPr lang="en-US" sz="36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lane.1.head"/>
          <p:cNvSpPr/>
          <p:nvPr/>
        </p:nvSpPr>
        <p:spPr>
          <a:xfrm>
            <a:off x="707517" y="3182112"/>
            <a:ext cx="142646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Straight through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truct.lane.1.pill"/>
          <p:cNvSpPr/>
          <p:nvPr/>
        </p:nvSpPr>
        <p:spPr>
          <a:xfrm>
            <a:off x="849249" y="3730752"/>
            <a:ext cx="914400" cy="274320"/>
          </a:xfrm>
          <a:prstGeom prst="roundRect">
            <a:avLst>
              <a:gd fmla="val 50000" name="adj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1" name="slot.lane.1.owner"/>
          <p:cNvSpPr/>
          <p:nvPr/>
        </p:nvSpPr>
        <p:spPr>
          <a:xfrm>
            <a:off x="849249" y="3730752"/>
            <a:ext cx="914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Auto-post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lane.2.numeral"/>
          <p:cNvSpPr/>
          <p:nvPr/>
        </p:nvSpPr>
        <p:spPr>
          <a:xfrm>
            <a:off x="3377565" y="2505456"/>
            <a:ext cx="8229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02</a:t>
            </a:r>
            <a:endParaRPr lang="en-US" sz="3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lot.lane.2.head"/>
          <p:cNvSpPr/>
          <p:nvPr/>
        </p:nvSpPr>
        <p:spPr>
          <a:xfrm>
            <a:off x="3020949" y="3182112"/>
            <a:ext cx="142646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Price variance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truct.lane.2.pill"/>
          <p:cNvSpPr/>
          <p:nvPr/>
        </p:nvSpPr>
        <p:spPr>
          <a:xfrm>
            <a:off x="3162681" y="3730752"/>
            <a:ext cx="914400" cy="274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5" name="slot.lane.2.owner"/>
          <p:cNvSpPr/>
          <p:nvPr/>
        </p:nvSpPr>
        <p:spPr>
          <a:xfrm>
            <a:off x="3162681" y="3730752"/>
            <a:ext cx="914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Buyer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truct.lane.3.numeral"/>
          <p:cNvSpPr/>
          <p:nvPr/>
        </p:nvSpPr>
        <p:spPr>
          <a:xfrm>
            <a:off x="5690997" y="2505456"/>
            <a:ext cx="8229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03</a:t>
            </a:r>
            <a:endParaRPr lang="en-US" sz="36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lane.3.head"/>
          <p:cNvSpPr/>
          <p:nvPr/>
        </p:nvSpPr>
        <p:spPr>
          <a:xfrm>
            <a:off x="5334381" y="3182112"/>
            <a:ext cx="142646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Tax mismatch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lane.3.pill"/>
          <p:cNvSpPr/>
          <p:nvPr/>
        </p:nvSpPr>
        <p:spPr>
          <a:xfrm>
            <a:off x="5476113" y="3730752"/>
            <a:ext cx="914400" cy="274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9" name="slot.lane.3.owner"/>
          <p:cNvSpPr/>
          <p:nvPr/>
        </p:nvSpPr>
        <p:spPr>
          <a:xfrm>
            <a:off x="5476113" y="3730752"/>
            <a:ext cx="914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Tax desk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truct.lane.4.numeral"/>
          <p:cNvSpPr/>
          <p:nvPr/>
        </p:nvSpPr>
        <p:spPr>
          <a:xfrm>
            <a:off x="8004428" y="2505456"/>
            <a:ext cx="8229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04</a:t>
            </a:r>
            <a:endParaRPr lang="en-US" sz="36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lane.4.head"/>
          <p:cNvSpPr/>
          <p:nvPr/>
        </p:nvSpPr>
        <p:spPr>
          <a:xfrm>
            <a:off x="7647813" y="3182112"/>
            <a:ext cx="142646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Duplicate risk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lane.4.pill"/>
          <p:cNvSpPr/>
          <p:nvPr/>
        </p:nvSpPr>
        <p:spPr>
          <a:xfrm>
            <a:off x="7789544" y="3730752"/>
            <a:ext cx="914400" cy="274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3" name="slot.lane.4.owner"/>
          <p:cNvSpPr/>
          <p:nvPr/>
        </p:nvSpPr>
        <p:spPr>
          <a:xfrm>
            <a:off x="7789544" y="3730752"/>
            <a:ext cx="914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AP lead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truct.lane.5.numeral"/>
          <p:cNvSpPr/>
          <p:nvPr/>
        </p:nvSpPr>
        <p:spPr>
          <a:xfrm>
            <a:off x="10317860" y="2505456"/>
            <a:ext cx="8229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05</a:t>
            </a:r>
            <a:endParaRPr lang="en-US" sz="36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lane.5.head"/>
          <p:cNvSpPr/>
          <p:nvPr/>
        </p:nvSpPr>
        <p:spPr>
          <a:xfrm>
            <a:off x="9961244" y="3182112"/>
            <a:ext cx="142646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 on hold</a:t>
            </a:r>
            <a:endParaRPr lang="en-US" sz="13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uct.lane.5.pill"/>
          <p:cNvSpPr/>
          <p:nvPr/>
        </p:nvSpPr>
        <p:spPr>
          <a:xfrm>
            <a:off x="10102976" y="3730752"/>
            <a:ext cx="914400" cy="274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2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7" name="slot.lane.5.owner"/>
          <p:cNvSpPr/>
          <p:nvPr/>
        </p:nvSpPr>
        <p:spPr>
          <a:xfrm>
            <a:off x="10102976" y="3730752"/>
            <a:ext cx="914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Hold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rules.label"/>
          <p:cNvSpPr/>
          <p:nvPr/>
        </p:nvSpPr>
        <p:spPr>
          <a:xfrm>
            <a:off x="384048" y="4526279"/>
            <a:ext cx="1136599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 that sends an invoice to the lane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rule.1.head"/>
          <p:cNvSpPr/>
          <p:nvPr/>
        </p:nvSpPr>
        <p:spPr>
          <a:xfrm>
            <a:off x="384048" y="4818888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Score 95 and up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rule.1.body"/>
          <p:cNvSpPr/>
          <p:nvPr/>
        </p:nvSpPr>
        <p:spPr>
          <a:xfrm>
            <a:off x="384048" y="5038344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No open flags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1" name="struct.rule.divider.1"/>
          <p:cNvCxnSpPr/>
          <p:nvPr/>
        </p:nvCxnSpPr>
        <p:spPr>
          <a:xfrm>
            <a:off x="2578608" y="4837175"/>
            <a:ext cx="0" cy="40233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2" name="slot.rule.2.head"/>
          <p:cNvSpPr/>
          <p:nvPr/>
        </p:nvSpPr>
        <p:spPr>
          <a:xfrm>
            <a:off x="2697480" y="4818888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Price off by over 2%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rule.2.body"/>
          <p:cNvSpPr/>
          <p:nvPr/>
        </p:nvSpPr>
        <p:spPr>
          <a:xfrm>
            <a:off x="2697480" y="5038344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Buyer confirms or credits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4" name="struct.rule.divider.2"/>
          <p:cNvCxnSpPr/>
          <p:nvPr/>
        </p:nvCxnSpPr>
        <p:spPr>
          <a:xfrm>
            <a:off x="4892040" y="4837175"/>
            <a:ext cx="0" cy="40233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5" name="slot.rule.3.head"/>
          <p:cNvSpPr/>
          <p:nvPr/>
        </p:nvSpPr>
        <p:spPr>
          <a:xfrm>
            <a:off x="5010912" y="4818888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Tax code differs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rule.3.body"/>
          <p:cNvSpPr/>
          <p:nvPr/>
        </p:nvSpPr>
        <p:spPr>
          <a:xfrm>
            <a:off x="5010912" y="5038344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Tax desk fixes the code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7" name="struct.rule.divider.3"/>
          <p:cNvCxnSpPr/>
          <p:nvPr/>
        </p:nvCxnSpPr>
        <p:spPr>
          <a:xfrm>
            <a:off x="7205472" y="4837175"/>
            <a:ext cx="0" cy="40233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8" name="slot.rule.4.head"/>
          <p:cNvSpPr/>
          <p:nvPr/>
        </p:nvSpPr>
        <p:spPr>
          <a:xfrm>
            <a:off x="7324344" y="4818888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Same amount and date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rule.4.body"/>
          <p:cNvSpPr/>
          <p:nvPr/>
        </p:nvSpPr>
        <p:spPr>
          <a:xfrm>
            <a:off x="7324344" y="5038344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Second copy held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0" name="struct.rule.divider.4"/>
          <p:cNvCxnSpPr/>
          <p:nvPr/>
        </p:nvCxnSpPr>
        <p:spPr>
          <a:xfrm>
            <a:off x="9518903" y="4837175"/>
            <a:ext cx="0" cy="40233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1" name="slot.rule.5.head"/>
          <p:cNvSpPr/>
          <p:nvPr/>
        </p:nvSpPr>
        <p:spPr>
          <a:xfrm>
            <a:off x="9637776" y="4818888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 on watch list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rule.5.body"/>
          <p:cNvSpPr/>
          <p:nvPr/>
        </p:nvSpPr>
        <p:spPr>
          <a:xfrm>
            <a:off x="9637776" y="5038344"/>
            <a:ext cx="201168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Payment held until cleared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3" name="struct.rule.top"/>
          <p:cNvCxnSpPr/>
          <p:nvPr/>
        </p:nvCxnSpPr>
        <p:spPr>
          <a:xfrm>
            <a:off x="384048" y="1828800"/>
            <a:ext cx="11430000" cy="0"/>
          </a:xfrm>
          <a:prstGeom prst="straightConnector1">
            <a:avLst/>
          </a:prstGeom>
          <a:noFill/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54" name="struct.clock.rule"/>
          <p:cNvCxnSpPr/>
          <p:nvPr/>
        </p:nvCxnSpPr>
        <p:spPr>
          <a:xfrm>
            <a:off x="6217920" y="5458967"/>
            <a:ext cx="5596128" cy="0"/>
          </a:xfrm>
          <a:prstGeom prst="straightConnector1">
            <a:avLst/>
          </a:prstGeom>
          <a:noFill/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5" name="slot.controls.label"/>
          <p:cNvSpPr/>
          <p:nvPr/>
        </p:nvSpPr>
        <p:spPr>
          <a:xfrm>
            <a:off x="512064" y="5550407"/>
            <a:ext cx="530352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Controls on every lane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clock.label"/>
          <p:cNvSpPr/>
          <p:nvPr/>
        </p:nvSpPr>
        <p:spPr>
          <a:xfrm>
            <a:off x="6217920" y="5550407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Escalation clock for open cases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clock.1.text"/>
          <p:cNvSpPr/>
          <p:nvPr/>
        </p:nvSpPr>
        <p:spPr>
          <a:xfrm>
            <a:off x="6007607" y="6172199"/>
            <a:ext cx="11887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Day 0 routed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clock.2.text"/>
          <p:cNvSpPr/>
          <p:nvPr/>
        </p:nvSpPr>
        <p:spPr>
          <a:xfrm>
            <a:off x="7699247" y="6172199"/>
            <a:ext cx="11887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Day 2 reminder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clock.3.text"/>
          <p:cNvSpPr/>
          <p:nvPr/>
        </p:nvSpPr>
        <p:spPr>
          <a:xfrm>
            <a:off x="9390888" y="6172199"/>
            <a:ext cx="11887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Day 5 escalated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0" name="struct.clock.line"/>
          <p:cNvCxnSpPr/>
          <p:nvPr/>
        </p:nvCxnSpPr>
        <p:spPr>
          <a:xfrm>
            <a:off x="6601968" y="5989319"/>
            <a:ext cx="504748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1" name="struct.clock.dot.1"/>
          <p:cNvSpPr/>
          <p:nvPr/>
        </p:nvSpPr>
        <p:spPr>
          <a:xfrm>
            <a:off x="6473952" y="5861303"/>
            <a:ext cx="256032" cy="25603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clock.dot.2"/>
          <p:cNvSpPr/>
          <p:nvPr/>
        </p:nvSpPr>
        <p:spPr>
          <a:xfrm>
            <a:off x="8165591" y="5861303"/>
            <a:ext cx="256032" cy="25603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truct.clock.dot.3"/>
          <p:cNvSpPr/>
          <p:nvPr/>
        </p:nvSpPr>
        <p:spPr>
          <a:xfrm>
            <a:off x="9857232" y="5861303"/>
            <a:ext cx="256032" cy="25603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truct.clock.dot.4"/>
          <p:cNvSpPr/>
          <p:nvPr/>
        </p:nvSpPr>
        <p:spPr>
          <a:xfrm>
            <a:off x="11521439" y="5861303"/>
            <a:ext cx="256032" cy="25603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lot.clock.4.text"/>
          <p:cNvSpPr/>
          <p:nvPr/>
        </p:nvSpPr>
        <p:spPr>
          <a:xfrm>
            <a:off x="10625328" y="6172199"/>
            <a:ext cx="11887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Day 10 closed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control.1.text"/>
          <p:cNvSpPr/>
          <p:nvPr/>
        </p:nvSpPr>
        <p:spPr>
          <a:xfrm>
            <a:off x="804672" y="5861303"/>
            <a:ext cx="90982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 trail kept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control.2.text"/>
          <p:cNvSpPr/>
          <p:nvPr/>
        </p:nvSpPr>
        <p:spPr>
          <a:xfrm>
            <a:off x="2135124" y="5861303"/>
            <a:ext cx="90982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Reason coded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8" name="struct.controls.divider.1"/>
          <p:cNvCxnSpPr/>
          <p:nvPr/>
        </p:nvCxnSpPr>
        <p:spPr>
          <a:xfrm>
            <a:off x="1769364" y="5888735"/>
            <a:ext cx="0" cy="31089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9" name="slot.control.3.text"/>
          <p:cNvSpPr/>
          <p:nvPr/>
        </p:nvSpPr>
        <p:spPr>
          <a:xfrm>
            <a:off x="3465576" y="5861303"/>
            <a:ext cx="90982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Owner named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0" name="struct.controls.divider.2"/>
          <p:cNvCxnSpPr/>
          <p:nvPr/>
        </p:nvCxnSpPr>
        <p:spPr>
          <a:xfrm>
            <a:off x="3099816" y="5888735"/>
            <a:ext cx="0" cy="31089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71" name="slot.control.4.text"/>
          <p:cNvSpPr/>
          <p:nvPr/>
        </p:nvSpPr>
        <p:spPr>
          <a:xfrm>
            <a:off x="4796028" y="5861303"/>
            <a:ext cx="90982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Spot checked</a:t>
            </a:r>
            <a:endParaRPr lang="en-US" sz="10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2" name="struct.controls.divider.3"/>
          <p:cNvCxnSpPr/>
          <p:nvPr/>
        </p:nvCxnSpPr>
        <p:spPr>
          <a:xfrm>
            <a:off x="4430268" y="5888735"/>
            <a:ext cx="0" cy="310896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73" name="slot.title"/>
          <p:cNvSpPr txBox="1"/>
          <p:nvPr/>
        </p:nvSpPr>
        <p:spPr>
          <a:xfrm>
            <a:off x="384048" y="274320"/>
            <a:ext cx="1143000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Two signals</a:t>
            </a:r>
            <a:r>
              <a:rPr lang="en-US" sz="2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route every supplier invoice to one of </a:t>
            </a:r>
            <a:r>
              <a:rPr lang="en-US" sz="2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five handling lanes</a:t>
            </a:r>
            <a:endParaRPr lang="en-US" sz="2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signal.1.icon"/>
          <p:cNvSpPr/>
          <p:nvPr/>
        </p:nvSpPr>
        <p:spPr>
          <a:xfrm>
            <a:off x="475488" y="1298448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75" name="slot.signal.2.icon"/>
          <p:cNvSpPr/>
          <p:nvPr/>
        </p:nvSpPr>
        <p:spPr>
          <a:xfrm>
            <a:off x="3785616" y="1298448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730" y="18000"/>
                </a:moveTo>
                <a:lnTo>
                  <a:pt x="13730" y="4000"/>
                </a:lnTo>
                <a:cubicBezTo>
                  <a:pt x="13375" y="3373"/>
                  <a:pt x="12710" y="2986"/>
                  <a:pt x="11990" y="2986"/>
                </a:cubicBezTo>
                <a:cubicBezTo>
                  <a:pt x="11270" y="2986"/>
                  <a:pt x="10605" y="3373"/>
                  <a:pt x="10250" y="4000"/>
                </a:cubicBezTo>
                <a:lnTo>
                  <a:pt x="2250" y="18000"/>
                </a:lnTo>
                <a:cubicBezTo>
                  <a:pt x="1891" y="18622"/>
                  <a:pt x="1893" y="19388"/>
                  <a:pt x="2254" y="20008"/>
                </a:cubicBezTo>
                <a:cubicBezTo>
                  <a:pt x="2616" y="20628"/>
                  <a:pt x="3282" y="21006"/>
                  <a:pt x="4000" y="21000"/>
                </a:cubicBezTo>
                <a:lnTo>
                  <a:pt x="20000" y="21000"/>
                </a:lnTo>
                <a:cubicBezTo>
                  <a:pt x="20714" y="20999"/>
                  <a:pt x="21374" y="20618"/>
                  <a:pt x="21731" y="19999"/>
                </a:cubicBezTo>
                <a:cubicBezTo>
                  <a:pt x="22087" y="19380"/>
                  <a:pt x="22087" y="18618"/>
                  <a:pt x="21730" y="18000"/>
                </a:cubicBezTo>
                <a:moveTo>
                  <a:pt x="12000" y="9000"/>
                </a:moveTo>
                <a:lnTo>
                  <a:pt x="12000" y="13000"/>
                </a:lnTo>
                <a:moveTo>
                  <a:pt x="12000" y="17000"/>
                </a:moveTo>
                <a:lnTo>
                  <a:pt x="12010" y="17000"/>
                </a:ln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76" name="slot.lane.1.icon"/>
          <p:cNvSpPr/>
          <p:nvPr/>
        </p:nvSpPr>
        <p:spPr>
          <a:xfrm>
            <a:off x="1929384" y="24505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77" name="slot.lane.2.icon"/>
          <p:cNvSpPr/>
          <p:nvPr/>
        </p:nvSpPr>
        <p:spPr>
          <a:xfrm>
            <a:off x="4242816" y="24505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3000"/>
                </a:moveTo>
                <a:lnTo>
                  <a:pt x="12000" y="21000"/>
                </a:lnTo>
                <a:moveTo>
                  <a:pt x="19000" y="8000"/>
                </a:moveTo>
                <a:lnTo>
                  <a:pt x="22000" y="16000"/>
                </a:lnTo>
                <a:cubicBezTo>
                  <a:pt x="20222" y="17333"/>
                  <a:pt x="17778" y="17333"/>
                  <a:pt x="16000" y="16000"/>
                </a:cubicBezTo>
                <a:close/>
                <a:moveTo>
                  <a:pt x="19000" y="8000"/>
                </a:moveTo>
                <a:lnTo>
                  <a:pt x="19000" y="7000"/>
                </a:lnTo>
                <a:moveTo>
                  <a:pt x="3000" y="7000"/>
                </a:moveTo>
                <a:lnTo>
                  <a:pt x="4000" y="7000"/>
                </a:lnTo>
                <a:cubicBezTo>
                  <a:pt x="6790" y="7000"/>
                  <a:pt x="9538" y="6313"/>
                  <a:pt x="12000" y="5000"/>
                </a:cubicBezTo>
                <a:cubicBezTo>
                  <a:pt x="14462" y="6313"/>
                  <a:pt x="17210" y="7000"/>
                  <a:pt x="20000" y="7000"/>
                </a:cubicBezTo>
                <a:lnTo>
                  <a:pt x="21000" y="7000"/>
                </a:lnTo>
                <a:moveTo>
                  <a:pt x="5000" y="8000"/>
                </a:moveTo>
                <a:lnTo>
                  <a:pt x="8000" y="16000"/>
                </a:lnTo>
                <a:cubicBezTo>
                  <a:pt x="6222" y="17333"/>
                  <a:pt x="3778" y="17333"/>
                  <a:pt x="2000" y="16000"/>
                </a:cubicBezTo>
                <a:close/>
                <a:moveTo>
                  <a:pt x="5000" y="8000"/>
                </a:moveTo>
                <a:lnTo>
                  <a:pt x="5000" y="7000"/>
                </a:lnTo>
                <a:moveTo>
                  <a:pt x="7000" y="21000"/>
                </a:moveTo>
                <a:lnTo>
                  <a:pt x="17000" y="21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78" name="slot.lane.3.icon"/>
          <p:cNvSpPr/>
          <p:nvPr/>
        </p:nvSpPr>
        <p:spPr>
          <a:xfrm>
            <a:off x="6556248" y="24505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7000"/>
                </a:moveTo>
                <a:lnTo>
                  <a:pt x="12000" y="7000"/>
                </a:lnTo>
                <a:moveTo>
                  <a:pt x="16000" y="8000"/>
                </a:moveTo>
                <a:lnTo>
                  <a:pt x="10000" y="8000"/>
                </a:lnTo>
                <a:cubicBezTo>
                  <a:pt x="8895" y="8000"/>
                  <a:pt x="8000" y="8895"/>
                  <a:pt x="8000" y="10000"/>
                </a:cubicBezTo>
                <a:cubicBezTo>
                  <a:pt x="8000" y="11105"/>
                  <a:pt x="8895" y="12000"/>
                  <a:pt x="10000" y="12000"/>
                </a:cubicBezTo>
                <a:lnTo>
                  <a:pt x="14000" y="12000"/>
                </a:lnTo>
                <a:cubicBezTo>
                  <a:pt x="15105" y="12000"/>
                  <a:pt x="16000" y="12895"/>
                  <a:pt x="16000" y="14000"/>
                </a:cubicBezTo>
                <a:cubicBezTo>
                  <a:pt x="16000" y="15105"/>
                  <a:pt x="15105" y="16000"/>
                  <a:pt x="14000" y="16000"/>
                </a:cubicBezTo>
                <a:lnTo>
                  <a:pt x="8000" y="16000"/>
                </a:lnTo>
                <a:moveTo>
                  <a:pt x="4000" y="3000"/>
                </a:moveTo>
                <a:cubicBezTo>
                  <a:pt x="4000" y="2448"/>
                  <a:pt x="4448" y="2000"/>
                  <a:pt x="5000" y="2000"/>
                </a:cubicBezTo>
                <a:cubicBezTo>
                  <a:pt x="5248" y="1999"/>
                  <a:pt x="5490" y="2068"/>
                  <a:pt x="5700" y="2200"/>
                </a:cubicBezTo>
                <a:lnTo>
                  <a:pt x="6633" y="2800"/>
                </a:lnTo>
                <a:cubicBezTo>
                  <a:pt x="7060" y="3073"/>
                  <a:pt x="7606" y="3073"/>
                  <a:pt x="8033" y="2800"/>
                </a:cubicBezTo>
                <a:lnTo>
                  <a:pt x="8967" y="2200"/>
                </a:lnTo>
                <a:cubicBezTo>
                  <a:pt x="9394" y="1927"/>
                  <a:pt x="9940" y="1927"/>
                  <a:pt x="10367" y="2200"/>
                </a:cubicBezTo>
                <a:lnTo>
                  <a:pt x="11300" y="2800"/>
                </a:lnTo>
                <a:cubicBezTo>
                  <a:pt x="11727" y="3073"/>
                  <a:pt x="12273" y="3073"/>
                  <a:pt x="12700" y="2800"/>
                </a:cubicBezTo>
                <a:lnTo>
                  <a:pt x="13633" y="2200"/>
                </a:lnTo>
                <a:cubicBezTo>
                  <a:pt x="14060" y="1927"/>
                  <a:pt x="14606" y="1927"/>
                  <a:pt x="15033" y="2200"/>
                </a:cubicBezTo>
                <a:lnTo>
                  <a:pt x="15967" y="2800"/>
                </a:lnTo>
                <a:cubicBezTo>
                  <a:pt x="16394" y="3073"/>
                  <a:pt x="16940" y="3073"/>
                  <a:pt x="17367" y="2800"/>
                </a:cubicBezTo>
                <a:lnTo>
                  <a:pt x="18300" y="2200"/>
                </a:lnTo>
                <a:cubicBezTo>
                  <a:pt x="18510" y="2068"/>
                  <a:pt x="18752" y="1999"/>
                  <a:pt x="19000" y="2000"/>
                </a:cubicBezTo>
                <a:cubicBezTo>
                  <a:pt x="19552" y="2000"/>
                  <a:pt x="20000" y="2448"/>
                  <a:pt x="20000" y="3000"/>
                </a:cubicBezTo>
                <a:lnTo>
                  <a:pt x="20000" y="21000"/>
                </a:lnTo>
                <a:cubicBezTo>
                  <a:pt x="20000" y="21552"/>
                  <a:pt x="19552" y="22000"/>
                  <a:pt x="19000" y="22000"/>
                </a:cubicBezTo>
                <a:cubicBezTo>
                  <a:pt x="18752" y="22001"/>
                  <a:pt x="18510" y="21932"/>
                  <a:pt x="18300" y="21800"/>
                </a:cubicBezTo>
                <a:lnTo>
                  <a:pt x="17367" y="21200"/>
                </a:lnTo>
                <a:cubicBezTo>
                  <a:pt x="16940" y="20927"/>
                  <a:pt x="16394" y="20927"/>
                  <a:pt x="15967" y="21200"/>
                </a:cubicBezTo>
                <a:lnTo>
                  <a:pt x="15033" y="21800"/>
                </a:lnTo>
                <a:cubicBezTo>
                  <a:pt x="14606" y="22073"/>
                  <a:pt x="14060" y="22073"/>
                  <a:pt x="13633" y="21800"/>
                </a:cubicBezTo>
                <a:lnTo>
                  <a:pt x="12700" y="21200"/>
                </a:lnTo>
                <a:cubicBezTo>
                  <a:pt x="12273" y="20927"/>
                  <a:pt x="11727" y="20927"/>
                  <a:pt x="11300" y="21200"/>
                </a:cubicBezTo>
                <a:lnTo>
                  <a:pt x="10367" y="21800"/>
                </a:lnTo>
                <a:cubicBezTo>
                  <a:pt x="9940" y="22073"/>
                  <a:pt x="9394" y="22073"/>
                  <a:pt x="8967" y="21800"/>
                </a:cubicBezTo>
                <a:lnTo>
                  <a:pt x="8033" y="21200"/>
                </a:lnTo>
                <a:cubicBezTo>
                  <a:pt x="7606" y="20927"/>
                  <a:pt x="7060" y="20927"/>
                  <a:pt x="6633" y="21200"/>
                </a:cubicBezTo>
                <a:lnTo>
                  <a:pt x="5700" y="21800"/>
                </a:lnTo>
                <a:cubicBezTo>
                  <a:pt x="5490" y="21932"/>
                  <a:pt x="5248" y="22001"/>
                  <a:pt x="5000" y="22000"/>
                </a:cubicBezTo>
                <a:cubicBezTo>
                  <a:pt x="4448" y="22000"/>
                  <a:pt x="4000" y="21552"/>
                  <a:pt x="4000" y="21000"/>
                </a:cubicBezTo>
                <a:close/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79" name="slot.lane.4.icon"/>
          <p:cNvSpPr/>
          <p:nvPr/>
        </p:nvSpPr>
        <p:spPr>
          <a:xfrm>
            <a:off x="8869680" y="24505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000"/>
                </a:moveTo>
                <a:lnTo>
                  <a:pt x="11000" y="2000"/>
                </a:lnTo>
                <a:cubicBezTo>
                  <a:pt x="9895" y="2000"/>
                  <a:pt x="9000" y="2895"/>
                  <a:pt x="9000" y="4000"/>
                </a:cubicBezTo>
                <a:lnTo>
                  <a:pt x="9000" y="15000"/>
                </a:lnTo>
                <a:cubicBezTo>
                  <a:pt x="9000" y="16105"/>
                  <a:pt x="9895" y="17000"/>
                  <a:pt x="11000" y="17000"/>
                </a:cubicBezTo>
                <a:lnTo>
                  <a:pt x="19000" y="17000"/>
                </a:lnTo>
                <a:cubicBezTo>
                  <a:pt x="20105" y="17000"/>
                  <a:pt x="21000" y="16105"/>
                  <a:pt x="21000" y="15000"/>
                </a:cubicBezTo>
                <a:lnTo>
                  <a:pt x="21000" y="8000"/>
                </a:lnTo>
                <a:moveTo>
                  <a:pt x="16706" y="2706"/>
                </a:moveTo>
                <a:cubicBezTo>
                  <a:pt x="16254" y="2253"/>
                  <a:pt x="15640" y="1998"/>
                  <a:pt x="15000" y="2000"/>
                </a:cubicBezTo>
                <a:lnTo>
                  <a:pt x="15000" y="7000"/>
                </a:lnTo>
                <a:cubicBezTo>
                  <a:pt x="15000" y="7552"/>
                  <a:pt x="15448" y="8000"/>
                  <a:pt x="16000" y="8000"/>
                </a:cubicBezTo>
                <a:lnTo>
                  <a:pt x="21000" y="8000"/>
                </a:lnTo>
                <a:cubicBezTo>
                  <a:pt x="21002" y="7360"/>
                  <a:pt x="20747" y="6746"/>
                  <a:pt x="20294" y="6294"/>
                </a:cubicBezTo>
                <a:close/>
                <a:moveTo>
                  <a:pt x="5000" y="7000"/>
                </a:moveTo>
                <a:cubicBezTo>
                  <a:pt x="3895" y="7000"/>
                  <a:pt x="3000" y="7895"/>
                  <a:pt x="3000" y="9000"/>
                </a:cubicBezTo>
                <a:lnTo>
                  <a:pt x="3000" y="20000"/>
                </a:lnTo>
                <a:cubicBezTo>
                  <a:pt x="3000" y="21105"/>
                  <a:pt x="3895" y="22000"/>
                  <a:pt x="5000" y="22000"/>
                </a:cubicBezTo>
                <a:lnTo>
                  <a:pt x="13000" y="22000"/>
                </a:lnTo>
                <a:cubicBezTo>
                  <a:pt x="13715" y="22000"/>
                  <a:pt x="14375" y="21619"/>
                  <a:pt x="14732" y="21000"/>
                </a:cubicBezTo>
              </a:path>
            </a:pathLst>
          </a:custGeom>
          <a:noFill/>
          <a:ln w="2413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80" name="slot.lane.5.icon"/>
          <p:cNvSpPr/>
          <p:nvPr/>
        </p:nvSpPr>
        <p:spPr>
          <a:xfrm>
            <a:off x="11183112" y="24505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2413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81" name="struct.lane.order.1"/>
          <p:cNvSpPr/>
          <p:nvPr/>
        </p:nvSpPr>
        <p:spPr>
          <a:xfrm>
            <a:off x="2468880" y="320497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2159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82" name="struct.lane.order.2"/>
          <p:cNvSpPr/>
          <p:nvPr/>
        </p:nvSpPr>
        <p:spPr>
          <a:xfrm>
            <a:off x="4782312" y="320497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2159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83" name="struct.lane.order.3"/>
          <p:cNvSpPr/>
          <p:nvPr/>
        </p:nvSpPr>
        <p:spPr>
          <a:xfrm>
            <a:off x="7095744" y="320497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2159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84" name="struct.lane.order.4"/>
          <p:cNvSpPr/>
          <p:nvPr/>
        </p:nvSpPr>
        <p:spPr>
          <a:xfrm>
            <a:off x="9409176" y="320497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2159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85" name="slot.control.1.icon"/>
          <p:cNvSpPr/>
          <p:nvPr/>
        </p:nvSpPr>
        <p:spPr>
          <a:xfrm>
            <a:off x="512064" y="591616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968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86" name="slot.control.2.icon"/>
          <p:cNvSpPr/>
          <p:nvPr/>
        </p:nvSpPr>
        <p:spPr>
          <a:xfrm>
            <a:off x="1842516" y="591616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968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87" name="slot.control.3.icon"/>
          <p:cNvSpPr/>
          <p:nvPr/>
        </p:nvSpPr>
        <p:spPr>
          <a:xfrm>
            <a:off x="3172968" y="591616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968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88" name="slot.control.4.icon"/>
          <p:cNvSpPr/>
          <p:nvPr/>
        </p:nvSpPr>
        <p:spPr>
          <a:xfrm>
            <a:off x="4503420" y="591616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9685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ocess-flow:funnel-route-columns">
    <p:spTree>
      <p:nvGrpSpPr>
        <p:cNvPr id="1" name=""/>
        <p:cNvGrpSpPr/>
        <p:nvPr/>
      </p:nvGrpSpPr>
      <p:grpSpPr/>
      <p:sp>
        <p:nvSpPr>
          <p:cNvPr id="2" name="struct.col.1"/>
          <p:cNvSpPr/>
          <p:nvPr/>
        </p:nvSpPr>
        <p:spPr>
          <a:xfrm>
            <a:off x="423344" y="1518921"/>
            <a:ext cx="1974904" cy="4754880"/>
          </a:xfrm>
          <a:prstGeom prst="roundRect">
            <a:avLst>
              <a:gd fmla="val 2315" name="adj"/>
            </a:avLst>
          </a:prstGeom>
          <a:solidFill>
            <a:schemeClr val="bg1"/>
          </a:solidFill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struct.col.2"/>
          <p:cNvSpPr/>
          <p:nvPr/>
        </p:nvSpPr>
        <p:spPr>
          <a:xfrm>
            <a:off x="2786142" y="1518921"/>
            <a:ext cx="1947450" cy="4754880"/>
          </a:xfrm>
          <a:prstGeom prst="roundRect">
            <a:avLst>
              <a:gd fmla="val 2348" name="adj"/>
            </a:avLst>
          </a:prstGeom>
          <a:solidFill>
            <a:schemeClr val="bg1"/>
          </a:solidFill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struct.col.3"/>
          <p:cNvSpPr/>
          <p:nvPr/>
        </p:nvSpPr>
        <p:spPr>
          <a:xfrm>
            <a:off x="5129725" y="1518921"/>
            <a:ext cx="1905425" cy="4754880"/>
          </a:xfrm>
          <a:prstGeom prst="roundRect">
            <a:avLst>
              <a:gd fmla="val 2399" name="adj"/>
            </a:avLst>
          </a:prstGeom>
          <a:solidFill>
            <a:schemeClr val="bg1"/>
          </a:solidFill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" name="struct.col.4"/>
          <p:cNvSpPr/>
          <p:nvPr/>
        </p:nvSpPr>
        <p:spPr>
          <a:xfrm>
            <a:off x="7423058" y="1518921"/>
            <a:ext cx="2111492" cy="4754880"/>
          </a:xfrm>
          <a:prstGeom prst="roundRect">
            <a:avLst>
              <a:gd fmla="val 2165" name="adj"/>
            </a:avLst>
          </a:prstGeom>
          <a:solidFill>
            <a:schemeClr val="bg1"/>
          </a:solidFill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" name="struct.col.5"/>
          <p:cNvSpPr/>
          <p:nvPr/>
        </p:nvSpPr>
        <p:spPr>
          <a:xfrm>
            <a:off x="9640867" y="1518921"/>
            <a:ext cx="2170133" cy="4754880"/>
          </a:xfrm>
          <a:prstGeom prst="roundRect">
            <a:avLst>
              <a:gd fmla="val 2107" name="adj"/>
            </a:avLst>
          </a:prstGeom>
          <a:solidFill>
            <a:schemeClr val="tx1">
              <a:lumMod val="90000"/>
              <a:lumOff val="10000"/>
            </a:schemeClr>
          </a:solidFill>
          <a:ln w="9525">
            <a:solidFill>
              <a:schemeClr val="tx1">
                <a:lumMod val="90000"/>
                <a:lumOff val="10000"/>
              </a:schemeClr>
            </a:solidFill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" name="struct.col.1.disc"/>
          <p:cNvSpPr/>
          <p:nvPr/>
        </p:nvSpPr>
        <p:spPr>
          <a:xfrm>
            <a:off x="504769" y="1659487"/>
            <a:ext cx="316196" cy="316196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col.1.head"/>
          <p:cNvSpPr/>
          <p:nvPr/>
        </p:nvSpPr>
        <p:spPr>
          <a:xfrm>
            <a:off x="897961" y="1664208"/>
            <a:ext cx="1390559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Ingest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col.1.body"/>
          <p:cNvSpPr/>
          <p:nvPr/>
        </p:nvSpPr>
        <p:spPr>
          <a:xfrm>
            <a:off x="897961" y="1956816"/>
            <a:ext cx="1390559" cy="4754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Four ledgers land nightly in one store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col.1.stat.1.value"/>
          <p:cNvSpPr/>
          <p:nvPr/>
        </p:nvSpPr>
        <p:spPr>
          <a:xfrm>
            <a:off x="512064" y="5541264"/>
            <a:ext cx="566928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col.1.stat.1.label"/>
          <p:cNvSpPr/>
          <p:nvPr/>
        </p:nvSpPr>
        <p:spPr>
          <a:xfrm>
            <a:off x="512064" y="5833872"/>
            <a:ext cx="5669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ledgers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col.1.stat.2.value"/>
          <p:cNvSpPr/>
          <p:nvPr/>
        </p:nvSpPr>
        <p:spPr>
          <a:xfrm>
            <a:off x="1133856" y="5541264"/>
            <a:ext cx="566928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24h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col.1.stat.2.label"/>
          <p:cNvSpPr/>
          <p:nvPr/>
        </p:nvSpPr>
        <p:spPr>
          <a:xfrm>
            <a:off x="1133856" y="5833872"/>
            <a:ext cx="5669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refresh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col.1.stat.3.value"/>
          <p:cNvSpPr/>
          <p:nvPr/>
        </p:nvSpPr>
        <p:spPr>
          <a:xfrm>
            <a:off x="1755648" y="5541264"/>
            <a:ext cx="566928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99%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col.1.stat.3.label"/>
          <p:cNvSpPr/>
          <p:nvPr/>
        </p:nvSpPr>
        <p:spPr>
          <a:xfrm>
            <a:off x="1755648" y="5833872"/>
            <a:ext cx="5669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matched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uct.col.2.disc"/>
          <p:cNvSpPr/>
          <p:nvPr/>
        </p:nvSpPr>
        <p:spPr>
          <a:xfrm>
            <a:off x="2857498" y="1659487"/>
            <a:ext cx="316196" cy="316196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col.2.head"/>
          <p:cNvSpPr/>
          <p:nvPr/>
        </p:nvSpPr>
        <p:spPr>
          <a:xfrm>
            <a:off x="3250690" y="1664208"/>
            <a:ext cx="1373173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Narrow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col.2.body"/>
          <p:cNvSpPr/>
          <p:nvPr/>
        </p:nvSpPr>
        <p:spPr>
          <a:xfrm>
            <a:off x="3250690" y="1956816"/>
            <a:ext cx="1373173" cy="4754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Rules cut the pool to likely duplicates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truct.funnel.tier.1"/>
          <p:cNvSpPr/>
          <p:nvPr/>
        </p:nvSpPr>
        <p:spPr>
          <a:xfrm flipH="1" rot="10800000">
            <a:off x="2826730" y="2828856"/>
            <a:ext cx="1864759" cy="492020"/>
          </a:xfrm>
          <a:prstGeom prst="trapezoid">
            <a:avLst>
              <a:gd fmla="val 25000" name="adj"/>
            </a:avLst>
          </a:prstGeom>
          <a:solidFill>
            <a:schemeClr val="bg1">
              <a:lumMod val="85000"/>
            </a:schemeClr>
          </a:solidFill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" name="slot.funnel.1"/>
          <p:cNvSpPr/>
          <p:nvPr/>
        </p:nvSpPr>
        <p:spPr>
          <a:xfrm>
            <a:off x="2936458" y="2902008"/>
            <a:ext cx="1645303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120K invoices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truct.funnel.tier.2"/>
          <p:cNvSpPr/>
          <p:nvPr/>
        </p:nvSpPr>
        <p:spPr>
          <a:xfrm flipH="1" rot="10800000">
            <a:off x="2933725" y="3329627"/>
            <a:ext cx="1650770" cy="492020"/>
          </a:xfrm>
          <a:prstGeom prst="trapezoid">
            <a:avLst>
              <a:gd fmla="val 25000" name="adj"/>
            </a:avLst>
          </a:prstGeom>
          <a:solidFill>
            <a:schemeClr val="bg1">
              <a:lumMod val="75000"/>
            </a:schemeClr>
          </a:solidFill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" name="slot.funnel.2"/>
          <p:cNvSpPr/>
          <p:nvPr/>
        </p:nvSpPr>
        <p:spPr>
          <a:xfrm>
            <a:off x="3043453" y="3402779"/>
            <a:ext cx="1431314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38K same vendor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funnel.tier.3"/>
          <p:cNvSpPr/>
          <p:nvPr/>
        </p:nvSpPr>
        <p:spPr>
          <a:xfrm flipH="1" rot="10800000">
            <a:off x="3040719" y="3830398"/>
            <a:ext cx="1436782" cy="492020"/>
          </a:xfrm>
          <a:prstGeom prst="trapezoid">
            <a:avLst>
              <a:gd fmla="val 25000" name="adj"/>
            </a:avLst>
          </a:prstGeom>
          <a:solidFill>
            <a:schemeClr val="tx1">
              <a:lumMod val="90000"/>
              <a:lumOff val="10000"/>
            </a:schemeClr>
          </a:solidFill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4" name="slot.funnel.3"/>
          <p:cNvSpPr/>
          <p:nvPr/>
        </p:nvSpPr>
        <p:spPr>
          <a:xfrm>
            <a:off x="3150447" y="3903550"/>
            <a:ext cx="1217326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6.2K same amount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truct.funnel.tier.4"/>
          <p:cNvSpPr/>
          <p:nvPr/>
        </p:nvSpPr>
        <p:spPr>
          <a:xfrm flipH="1" rot="10800000">
            <a:off x="3147714" y="4324079"/>
            <a:ext cx="1222793" cy="492020"/>
          </a:xfrm>
          <a:prstGeom prst="trapezoid">
            <a:avLst>
              <a:gd fmla="val 25000" name="adj"/>
            </a:avLst>
          </a:prstGeom>
          <a:solidFill>
            <a:schemeClr val="accent1">
              <a:lumMod val="10000"/>
              <a:lumOff val="90000"/>
            </a:schemeClr>
          </a:solidFill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6" name="slot.funnel.4"/>
          <p:cNvSpPr/>
          <p:nvPr/>
        </p:nvSpPr>
        <p:spPr>
          <a:xfrm>
            <a:off x="3257442" y="4397231"/>
            <a:ext cx="1003337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1.4K flagged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truct.funnel.tier.5"/>
          <p:cNvSpPr/>
          <p:nvPr/>
        </p:nvSpPr>
        <p:spPr>
          <a:xfrm flipH="1" rot="10800000">
            <a:off x="3254708" y="4831939"/>
            <a:ext cx="1008804" cy="492020"/>
          </a:xfrm>
          <a:prstGeom prst="trapezoid">
            <a:avLst>
              <a:gd fmla="val 28133" name="adj"/>
            </a:avLst>
          </a:prstGeom>
          <a:solidFill>
            <a:schemeClr val="accent1"/>
          </a:solidFill>
          <a:ln cap="flat" cmpd="sng" w="127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8" name="slot.funnel.5"/>
          <p:cNvSpPr/>
          <p:nvPr/>
        </p:nvSpPr>
        <p:spPr>
          <a:xfrm>
            <a:off x="3364436" y="4905091"/>
            <a:ext cx="789348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900 likely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col.3.disc"/>
          <p:cNvSpPr/>
          <p:nvPr/>
        </p:nvSpPr>
        <p:spPr>
          <a:xfrm>
            <a:off x="5194893" y="1659487"/>
            <a:ext cx="316196" cy="316196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col.3.head"/>
          <p:cNvSpPr/>
          <p:nvPr/>
        </p:nvSpPr>
        <p:spPr>
          <a:xfrm>
            <a:off x="5588084" y="1664208"/>
            <a:ext cx="1337337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Route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col.3.body"/>
          <p:cNvSpPr/>
          <p:nvPr/>
        </p:nvSpPr>
        <p:spPr>
          <a:xfrm>
            <a:off x="5588084" y="1956816"/>
            <a:ext cx="1337337" cy="4754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Each flagged pair takes one path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col.4.disc"/>
          <p:cNvSpPr/>
          <p:nvPr/>
        </p:nvSpPr>
        <p:spPr>
          <a:xfrm>
            <a:off x="7513549" y="1659487"/>
            <a:ext cx="316196" cy="316196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lot.col.4.head"/>
          <p:cNvSpPr/>
          <p:nvPr/>
        </p:nvSpPr>
        <p:spPr>
          <a:xfrm>
            <a:off x="7906740" y="1664208"/>
            <a:ext cx="1518081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Recover</a:t>
            </a:r>
            <a:endParaRPr lang="en-US" sz="1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col.4.body"/>
          <p:cNvSpPr/>
          <p:nvPr/>
        </p:nvSpPr>
        <p:spPr>
          <a:xfrm>
            <a:off x="7906740" y="1956816"/>
            <a:ext cx="1518081" cy="4754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Analysts confirm each case and book the credit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truct.col.5.disc"/>
          <p:cNvSpPr/>
          <p:nvPr/>
        </p:nvSpPr>
        <p:spPr>
          <a:xfrm>
            <a:off x="9825361" y="1659487"/>
            <a:ext cx="316196" cy="316196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12700">
            <a:solidFill>
              <a:schemeClr val="bg1"/>
            </a:solidFill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col.5.head"/>
          <p:cNvSpPr/>
          <p:nvPr/>
        </p:nvSpPr>
        <p:spPr>
          <a:xfrm>
            <a:off x="10218553" y="1664208"/>
            <a:ext cx="1482719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Each quarter</a:t>
            </a:r>
            <a:endParaRPr lang="en-US" sz="14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7" name="struct.col.5.rule.1"/>
          <p:cNvCxnSpPr/>
          <p:nvPr/>
        </p:nvCxnSpPr>
        <p:spPr>
          <a:xfrm>
            <a:off x="9834146" y="2221756"/>
            <a:ext cx="1783320" cy="0"/>
          </a:xfrm>
          <a:prstGeom prst="straightConnector1">
            <a:avLst/>
          </a:prstGeom>
          <a:noFill/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38" name="struct.col.5.rule.2"/>
          <p:cNvCxnSpPr/>
          <p:nvPr/>
        </p:nvCxnSpPr>
        <p:spPr>
          <a:xfrm>
            <a:off x="9829800" y="3255264"/>
            <a:ext cx="1783080" cy="0"/>
          </a:xfrm>
          <a:prstGeom prst="straightConnector1">
            <a:avLst/>
          </a:prstGeom>
          <a:noFill/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39" name="slot.result.row.2.label"/>
          <p:cNvSpPr/>
          <p:nvPr/>
        </p:nvSpPr>
        <p:spPr>
          <a:xfrm>
            <a:off x="9829800" y="3712464"/>
            <a:ext cx="1243584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Cases per analyst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result.row.2.value"/>
          <p:cNvSpPr/>
          <p:nvPr/>
        </p:nvSpPr>
        <p:spPr>
          <a:xfrm>
            <a:off x="11055096" y="371246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60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result.row.3.label"/>
          <p:cNvSpPr/>
          <p:nvPr/>
        </p:nvSpPr>
        <p:spPr>
          <a:xfrm>
            <a:off x="9829800" y="4078224"/>
            <a:ext cx="1243584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Days to credit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result.row.3.value"/>
          <p:cNvSpPr/>
          <p:nvPr/>
        </p:nvSpPr>
        <p:spPr>
          <a:xfrm>
            <a:off x="11055096" y="407822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col.5.rule.3"/>
          <p:cNvCxnSpPr/>
          <p:nvPr/>
        </p:nvCxnSpPr>
        <p:spPr>
          <a:xfrm>
            <a:off x="9834146" y="4450214"/>
            <a:ext cx="1783320" cy="0"/>
          </a:xfrm>
          <a:prstGeom prst="straightConnector1">
            <a:avLst/>
          </a:prstGeom>
          <a:noFill/>
          <a:ln cap="flat" cmpd="sng" w="10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4" name="struct.control.1.ring"/>
          <p:cNvSpPr/>
          <p:nvPr/>
        </p:nvSpPr>
        <p:spPr>
          <a:xfrm>
            <a:off x="9833732" y="4634708"/>
            <a:ext cx="298613" cy="298613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9525">
            <a:solidFill>
              <a:schemeClr val="bg1"/>
            </a:solidFill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5" name="slot.control.1"/>
          <p:cNvSpPr/>
          <p:nvPr/>
        </p:nvSpPr>
        <p:spPr>
          <a:xfrm>
            <a:off x="10204704" y="4652995"/>
            <a:ext cx="15544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Rules signed off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truct.control.2.ring"/>
          <p:cNvSpPr/>
          <p:nvPr/>
        </p:nvSpPr>
        <p:spPr>
          <a:xfrm>
            <a:off x="9833732" y="5038839"/>
            <a:ext cx="298613" cy="298613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9525">
            <a:solidFill>
              <a:schemeClr val="bg1"/>
            </a:solidFill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7" name="slot.control.2"/>
          <p:cNvSpPr/>
          <p:nvPr/>
        </p:nvSpPr>
        <p:spPr>
          <a:xfrm>
            <a:off x="10204704" y="5057127"/>
            <a:ext cx="15544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Evidence per case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uct.control.3.ring"/>
          <p:cNvSpPr/>
          <p:nvPr/>
        </p:nvSpPr>
        <p:spPr>
          <a:xfrm>
            <a:off x="9833732" y="5442970"/>
            <a:ext cx="298613" cy="298613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9525">
            <a:solidFill>
              <a:schemeClr val="bg1"/>
            </a:solidFill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" name="slot.control.3"/>
          <p:cNvSpPr/>
          <p:nvPr/>
        </p:nvSpPr>
        <p:spPr>
          <a:xfrm>
            <a:off x="10204704" y="5461257"/>
            <a:ext cx="15544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Vendor notified first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truct.control.4.ring"/>
          <p:cNvSpPr/>
          <p:nvPr/>
        </p:nvSpPr>
        <p:spPr>
          <a:xfrm>
            <a:off x="9833732" y="5847101"/>
            <a:ext cx="298613" cy="298613"/>
          </a:xfrm>
          <a:prstGeom prst="ellipse">
            <a:avLst/>
          </a:prstGeom>
          <a:solidFill>
            <a:schemeClr val="tx1">
              <a:lumMod val="90000"/>
              <a:lumOff val="10000"/>
            </a:schemeClr>
          </a:solidFill>
          <a:ln w="9525">
            <a:solidFill>
              <a:schemeClr val="bg1"/>
            </a:solidFill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1" name="slot.control.4"/>
          <p:cNvSpPr/>
          <p:nvPr/>
        </p:nvSpPr>
        <p:spPr>
          <a:xfrm>
            <a:off x="10204704" y="5865389"/>
            <a:ext cx="15544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Audit trail kept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title"/>
          <p:cNvSpPr txBox="1"/>
          <p:nvPr/>
        </p:nvSpPr>
        <p:spPr>
          <a:xfrm>
            <a:off x="420624" y="457200"/>
            <a:ext cx="11384280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Four steps narrow 120K invoices to </a:t>
            </a: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900 recoverable payments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truct.node.1"/>
          <p:cNvSpPr/>
          <p:nvPr/>
        </p:nvSpPr>
        <p:spPr>
          <a:xfrm>
            <a:off x="2441448" y="3726180"/>
            <a:ext cx="301752" cy="30175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" name="struct.node.2"/>
          <p:cNvSpPr/>
          <p:nvPr/>
        </p:nvSpPr>
        <p:spPr>
          <a:xfrm>
            <a:off x="4782312" y="3726180"/>
            <a:ext cx="301752" cy="30175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" name="struct.node.3"/>
          <p:cNvSpPr/>
          <p:nvPr/>
        </p:nvSpPr>
        <p:spPr>
          <a:xfrm>
            <a:off x="7077456" y="3726180"/>
            <a:ext cx="301752" cy="30175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400" u="none" cap="none" strike="noStrike">
              <a:solidFill>
                <a:schemeClr val="bg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6" name="slot.route.1"/>
          <p:cNvSpPr/>
          <p:nvPr/>
        </p:nvSpPr>
        <p:spPr>
          <a:xfrm>
            <a:off x="5525859" y="2482158"/>
            <a:ext cx="1351505" cy="921966"/>
          </a:xfrm>
          <a:prstGeom prst="roundRect">
            <a:avLst>
              <a:gd fmla="val 4959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Discard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Recurring fee, not a duplicate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route.2"/>
          <p:cNvSpPr/>
          <p:nvPr/>
        </p:nvSpPr>
        <p:spPr>
          <a:xfrm>
            <a:off x="5525859" y="3571517"/>
            <a:ext cx="1351505" cy="921966"/>
          </a:xfrm>
          <a:prstGeom prst="roundRect">
            <a:avLst>
              <a:gd fmla="val 4959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Review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 checks both invoices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route.3"/>
          <p:cNvSpPr/>
          <p:nvPr/>
        </p:nvSpPr>
        <p:spPr>
          <a:xfrm>
            <a:off x="5525859" y="4660875"/>
            <a:ext cx="1351505" cy="921966"/>
          </a:xfrm>
          <a:prstGeom prst="roundRect">
            <a:avLst>
              <a:gd fmla="val 4959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Enrich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Pull missing vendor detail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route.hold"/>
          <p:cNvSpPr/>
          <p:nvPr/>
        </p:nvSpPr>
        <p:spPr>
          <a:xfrm>
            <a:off x="5525859" y="5760720"/>
            <a:ext cx="146304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10800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Hold for next cycle</a:t>
            </a:r>
            <a:endParaRPr lang="en-US" sz="1000" b="0" i="1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result.row.1.label"/>
          <p:cNvSpPr/>
          <p:nvPr/>
        </p:nvSpPr>
        <p:spPr>
          <a:xfrm>
            <a:off x="9829800" y="3346704"/>
            <a:ext cx="1243584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Match precision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result.row.1.value"/>
          <p:cNvSpPr/>
          <p:nvPr/>
        </p:nvSpPr>
        <p:spPr>
          <a:xfrm>
            <a:off x="11055096" y="3346704"/>
            <a:ext cx="585216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94%</a:t>
            </a:r>
            <a:endParaRPr lang="en-US" sz="13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node.1.icon"/>
          <p:cNvSpPr/>
          <p:nvPr/>
        </p:nvSpPr>
        <p:spPr>
          <a:xfrm>
            <a:off x="2500884" y="378561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524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63" name="struct.node.2.icon"/>
          <p:cNvSpPr/>
          <p:nvPr/>
        </p:nvSpPr>
        <p:spPr>
          <a:xfrm>
            <a:off x="4841748" y="378561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524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64" name="struct.node.3.icon"/>
          <p:cNvSpPr/>
          <p:nvPr/>
        </p:nvSpPr>
        <p:spPr>
          <a:xfrm>
            <a:off x="7136892" y="378561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5240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65" name="struct.col.1.zone"/>
          <p:cNvSpPr/>
          <p:nvPr/>
        </p:nvSpPr>
        <p:spPr>
          <a:xfrm>
            <a:off x="516360" y="2534717"/>
            <a:ext cx="1818993" cy="2855671"/>
          </a:xfrm>
          <a:prstGeom prst="roundRect">
            <a:avLst>
              <a:gd name="adj" fmla="val 2513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</p:sp>
      <p:sp>
        <p:nvSpPr>
          <p:cNvPr id="66" name="slot.source.1.icon"/>
          <p:cNvSpPr/>
          <p:nvPr/>
        </p:nvSpPr>
        <p:spPr>
          <a:xfrm>
            <a:off x="626088" y="2772461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67" name="slot.source.1.text"/>
          <p:cNvSpPr txBox="1"/>
          <p:nvPr/>
        </p:nvSpPr>
        <p:spPr>
          <a:xfrm>
            <a:off x="955272" y="2735885"/>
            <a:ext cx="1325217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Invoice ledger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120K rows a quarter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ource.2.icon"/>
          <p:cNvSpPr/>
          <p:nvPr/>
        </p:nvSpPr>
        <p:spPr>
          <a:xfrm>
            <a:off x="626088" y="3430829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69" name="slot.source.2.text"/>
          <p:cNvSpPr txBox="1"/>
          <p:nvPr/>
        </p:nvSpPr>
        <p:spPr>
          <a:xfrm>
            <a:off x="955272" y="3394253"/>
            <a:ext cx="1325217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 master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8.4K active vendors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source.3.icon"/>
          <p:cNvSpPr/>
          <p:nvPr/>
        </p:nvSpPr>
        <p:spPr>
          <a:xfrm>
            <a:off x="626088" y="4089197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71" name="slot.source.3.text"/>
          <p:cNvSpPr txBox="1"/>
          <p:nvPr/>
        </p:nvSpPr>
        <p:spPr>
          <a:xfrm>
            <a:off x="955272" y="4052621"/>
            <a:ext cx="1325217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Contract terms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Rates and credit terms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lot.source.4.icon"/>
          <p:cNvSpPr/>
          <p:nvPr/>
        </p:nvSpPr>
        <p:spPr>
          <a:xfrm>
            <a:off x="626088" y="4747565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6000"/>
                </a:moveTo>
                <a:lnTo>
                  <a:pt x="20000" y="6000"/>
                </a:lnTo>
                <a:cubicBezTo>
                  <a:pt x="21105" y="6000"/>
                  <a:pt x="22000" y="6895"/>
                  <a:pt x="22000" y="8000"/>
                </a:cubicBezTo>
                <a:lnTo>
                  <a:pt x="22000" y="16000"/>
                </a:lnTo>
                <a:cubicBezTo>
                  <a:pt x="22000" y="17105"/>
                  <a:pt x="21105" y="18000"/>
                  <a:pt x="20000" y="18000"/>
                </a:cubicBezTo>
                <a:lnTo>
                  <a:pt x="4000" y="18000"/>
                </a:lnTo>
                <a:cubicBezTo>
                  <a:pt x="2895" y="18000"/>
                  <a:pt x="2000" y="17105"/>
                  <a:pt x="2000" y="16000"/>
                </a:cubicBezTo>
                <a:lnTo>
                  <a:pt x="2000" y="8000"/>
                </a:lnTo>
                <a:cubicBezTo>
                  <a:pt x="2000" y="6895"/>
                  <a:pt x="2895" y="6000"/>
                  <a:pt x="4000" y="6000"/>
                </a:cubicBezTo>
                <a:close/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6000" y="12000"/>
                </a:moveTo>
                <a:lnTo>
                  <a:pt x="6010" y="12000"/>
                </a:lnTo>
                <a:moveTo>
                  <a:pt x="18000" y="12000"/>
                </a:moveTo>
                <a:lnTo>
                  <a:pt x="1801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73" name="slot.source.4.text"/>
          <p:cNvSpPr txBox="1"/>
          <p:nvPr/>
        </p:nvSpPr>
        <p:spPr>
          <a:xfrm>
            <a:off x="955272" y="4710989"/>
            <a:ext cx="1325217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Payment runs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Weekly, three banks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route.1.icon"/>
          <p:cNvSpPr/>
          <p:nvPr/>
        </p:nvSpPr>
        <p:spPr>
          <a:xfrm>
            <a:off x="6548180" y="257359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5000" y="9000"/>
                </a:moveTo>
                <a:lnTo>
                  <a:pt x="9000" y="15000"/>
                </a:lnTo>
                <a:moveTo>
                  <a:pt x="9000" y="9000"/>
                </a:moveTo>
                <a:lnTo>
                  <a:pt x="15000" y="15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75" name="slot.route.2.icon"/>
          <p:cNvSpPr/>
          <p:nvPr/>
        </p:nvSpPr>
        <p:spPr>
          <a:xfrm>
            <a:off x="6548180" y="3662957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12000" y="11000"/>
                </a:moveTo>
                <a:lnTo>
                  <a:pt x="16000" y="11000"/>
                </a:lnTo>
                <a:moveTo>
                  <a:pt x="12000" y="16000"/>
                </a:moveTo>
                <a:lnTo>
                  <a:pt x="16000" y="16000"/>
                </a:lnTo>
                <a:moveTo>
                  <a:pt x="8000" y="11000"/>
                </a:moveTo>
                <a:lnTo>
                  <a:pt x="8010" y="11000"/>
                </a:lnTo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76" name="slot.route.3.icon"/>
          <p:cNvSpPr/>
          <p:nvPr/>
        </p:nvSpPr>
        <p:spPr>
          <a:xfrm>
            <a:off x="6548180" y="4752315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11693"/>
                </a:moveTo>
                <a:lnTo>
                  <a:pt x="21000" y="5000"/>
                </a:lnTo>
                <a:moveTo>
                  <a:pt x="22000" y="22000"/>
                </a:moveTo>
                <a:lnTo>
                  <a:pt x="20125" y="20125"/>
                </a:lnTo>
                <a:moveTo>
                  <a:pt x="3000" y="12000"/>
                </a:moveTo>
                <a:cubicBezTo>
                  <a:pt x="3000" y="13617"/>
                  <a:pt x="6847" y="14944"/>
                  <a:pt x="11697" y="14998"/>
                </a:cubicBezTo>
                <a:moveTo>
                  <a:pt x="3000" y="5000"/>
                </a:moveTo>
                <a:lnTo>
                  <a:pt x="3000" y="19000"/>
                </a:lnTo>
                <a:cubicBezTo>
                  <a:pt x="3000" y="19812"/>
                  <a:pt x="3987" y="20589"/>
                  <a:pt x="5735" y="21154"/>
                </a:cubicBezTo>
                <a:cubicBezTo>
                  <a:pt x="7484" y="21720"/>
                  <a:pt x="9845" y="22024"/>
                  <a:pt x="12280" y="21999"/>
                </a:cubicBezTo>
                <a:moveTo>
                  <a:pt x="21000" y="18000"/>
                </a:moveTo>
                <a:cubicBezTo>
                  <a:pt x="21000" y="19657"/>
                  <a:pt x="19657" y="21000"/>
                  <a:pt x="18000" y="21000"/>
                </a:cubicBezTo>
                <a:cubicBezTo>
                  <a:pt x="16343" y="21000"/>
                  <a:pt x="15000" y="19657"/>
                  <a:pt x="15000" y="18000"/>
                </a:cubicBezTo>
                <a:cubicBezTo>
                  <a:pt x="15000" y="16343"/>
                  <a:pt x="16343" y="15000"/>
                  <a:pt x="18000" y="15000"/>
                </a:cubicBezTo>
                <a:cubicBezTo>
                  <a:pt x="19657" y="15000"/>
                  <a:pt x="21000" y="16343"/>
                  <a:pt x="21000" y="18000"/>
                </a:cubicBezTo>
                <a:close/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77" name="struct.route.arrow.1"/>
          <p:cNvSpPr/>
          <p:nvPr/>
        </p:nvSpPr>
        <p:spPr>
          <a:xfrm>
            <a:off x="5084064" y="2943141"/>
            <a:ext cx="441795" cy="933915"/>
          </a:xfrm>
          <a:custGeom>
            <a:avLst/>
            <a:gdLst/>
            <a:ahLst/>
            <a:cxnLst/>
            <a:rect l="l" t="t" r="r" b="b"/>
            <a:pathLst>
              <a:path w="441795" h="933915" fill="none">
                <a:moveTo>
                  <a:pt x="0" y="933915"/>
                </a:moveTo>
                <a:lnTo>
                  <a:pt x="164592" y="933915"/>
                </a:lnTo>
                <a:lnTo>
                  <a:pt x="164592" y="0"/>
                </a:lnTo>
                <a:lnTo>
                  <a:pt x="441795" y="0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sp>
        <p:nvSpPr>
          <p:cNvPr id="78" name="struct.route.arrow.2"/>
          <p:cNvSpPr/>
          <p:nvPr/>
        </p:nvSpPr>
        <p:spPr>
          <a:xfrm>
            <a:off x="5084064" y="3877056"/>
            <a:ext cx="441795" cy="155444"/>
          </a:xfrm>
          <a:custGeom>
            <a:avLst/>
            <a:gdLst/>
            <a:ahLst/>
            <a:cxnLst/>
            <a:rect l="l" t="t" r="r" b="b"/>
            <a:pathLst>
              <a:path w="441795" h="155444" fill="none">
                <a:moveTo>
                  <a:pt x="0" y="0"/>
                </a:moveTo>
                <a:lnTo>
                  <a:pt x="164592" y="0"/>
                </a:lnTo>
                <a:lnTo>
                  <a:pt x="164592" y="155444"/>
                </a:lnTo>
                <a:lnTo>
                  <a:pt x="441795" y="155444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sp>
        <p:nvSpPr>
          <p:cNvPr id="79" name="struct.route.arrow.3"/>
          <p:cNvSpPr/>
          <p:nvPr/>
        </p:nvSpPr>
        <p:spPr>
          <a:xfrm>
            <a:off x="5084064" y="3877056"/>
            <a:ext cx="441795" cy="1244802"/>
          </a:xfrm>
          <a:custGeom>
            <a:avLst/>
            <a:gdLst/>
            <a:ahLst/>
            <a:cxnLst/>
            <a:rect l="l" t="t" r="r" b="b"/>
            <a:pathLst>
              <a:path w="441795" h="1244802" fill="none">
                <a:moveTo>
                  <a:pt x="0" y="0"/>
                </a:moveTo>
                <a:lnTo>
                  <a:pt x="164592" y="0"/>
                </a:lnTo>
                <a:lnTo>
                  <a:pt x="164592" y="1244802"/>
                </a:lnTo>
                <a:lnTo>
                  <a:pt x="441795" y="1244802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sp>
        <p:nvSpPr>
          <p:cNvPr id="80" name="struct.route.arrow.4"/>
          <p:cNvSpPr/>
          <p:nvPr/>
        </p:nvSpPr>
        <p:spPr>
          <a:xfrm>
            <a:off x="5084064" y="3877056"/>
            <a:ext cx="441795" cy="2002536"/>
          </a:xfrm>
          <a:custGeom>
            <a:avLst/>
            <a:gdLst/>
            <a:ahLst/>
            <a:cxnLst/>
            <a:rect l="l" t="t" r="r" b="b"/>
            <a:pathLst>
              <a:path w="441795" h="2002536" fill="none">
                <a:moveTo>
                  <a:pt x="0" y="0"/>
                </a:moveTo>
                <a:lnTo>
                  <a:pt x="164592" y="0"/>
                </a:lnTo>
                <a:lnTo>
                  <a:pt x="164592" y="2002536"/>
                </a:lnTo>
                <a:lnTo>
                  <a:pt x="441795" y="2002536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sp>
        <p:nvSpPr>
          <p:cNvPr id="81" name="struct.col.4.zone"/>
          <p:cNvSpPr/>
          <p:nvPr/>
        </p:nvSpPr>
        <p:spPr>
          <a:xfrm>
            <a:off x="7589894" y="2534717"/>
            <a:ext cx="1859141" cy="3566160"/>
          </a:xfrm>
          <a:prstGeom prst="roundRect">
            <a:avLst>
              <a:gd name="adj" fmla="val 245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</p:sp>
      <p:sp>
        <p:nvSpPr>
          <p:cNvPr id="82" name="slot.check.1.icon"/>
          <p:cNvSpPr/>
          <p:nvPr/>
        </p:nvSpPr>
        <p:spPr>
          <a:xfrm>
            <a:off x="7699622" y="2754173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83" name="slot.check.1.text"/>
          <p:cNvSpPr txBox="1"/>
          <p:nvPr/>
        </p:nvSpPr>
        <p:spPr>
          <a:xfrm>
            <a:off x="8010518" y="2717597"/>
            <a:ext cx="1383653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Evidence filed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Invoices and payment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check.2.icon"/>
          <p:cNvSpPr/>
          <p:nvPr/>
        </p:nvSpPr>
        <p:spPr>
          <a:xfrm>
            <a:off x="7699622" y="3412541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85" name="slot.check.2.text"/>
          <p:cNvSpPr txBox="1"/>
          <p:nvPr/>
        </p:nvSpPr>
        <p:spPr>
          <a:xfrm>
            <a:off x="8010518" y="3375965"/>
            <a:ext cx="1383653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Vendor confirmed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Same tax id and bank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check.3.icon"/>
          <p:cNvSpPr/>
          <p:nvPr/>
        </p:nvSpPr>
        <p:spPr>
          <a:xfrm>
            <a:off x="7699622" y="4070909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87" name="slot.check.3.text"/>
          <p:cNvSpPr txBox="1"/>
          <p:nvPr/>
        </p:nvSpPr>
        <p:spPr>
          <a:xfrm>
            <a:off x="8010518" y="4034333"/>
            <a:ext cx="1383653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Credit agreed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Vendor signs the claim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lot.check.4.icon"/>
          <p:cNvSpPr/>
          <p:nvPr/>
        </p:nvSpPr>
        <p:spPr>
          <a:xfrm>
            <a:off x="7699622" y="4729277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89" name="slot.check.4.text"/>
          <p:cNvSpPr txBox="1"/>
          <p:nvPr/>
        </p:nvSpPr>
        <p:spPr>
          <a:xfrm>
            <a:off x="8010518" y="4692701"/>
            <a:ext cx="1383653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Recovery booked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Offset on the next run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lot.check.5.icon"/>
          <p:cNvSpPr/>
          <p:nvPr/>
        </p:nvSpPr>
        <p:spPr>
          <a:xfrm>
            <a:off x="7699622" y="5387645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91" name="slot.check.5.text"/>
          <p:cNvSpPr txBox="1"/>
          <p:nvPr/>
        </p:nvSpPr>
        <p:spPr>
          <a:xfrm>
            <a:off x="8010518" y="5351069"/>
            <a:ext cx="1383653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Rule tuned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Misses refine the rules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92" name="slot.result"/>
          <p:cNvGrpSpPr/>
          <p:nvPr/>
        </p:nvGrpSpPr>
        <p:grpSpPr>
          <a:xfrm>
            <a:off x="9893808" y="2258568"/>
            <a:ext cx="1645920" cy="906627"/>
            <a:chOff x="9893808" y="2258568"/>
            <a:chExt cx="1645920" cy="906627"/>
          </a:xfrm>
          <a:effectLst/>
        </p:grpSpPr>
        <p:sp>
          <p:nvSpPr>
            <p:cNvPr id="93" name="slot.result.value"/>
            <p:cNvSpPr txBox="1"/>
            <p:nvPr/>
          </p:nvSpPr>
          <p:spPr>
            <a:xfrm>
              <a:off x="9893808" y="2258568"/>
              <a:ext cx="1645920" cy="373159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$2.4M</a:t>
              </a:r>
              <a:endParaRPr lang="en-US" sz="24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cxnSp>
          <p:nvCxnSpPr>
            <p:cNvPr id="94" name="slot.result.rule"/>
            <p:cNvCxnSpPr/>
            <p:nvPr/>
          </p:nvCxnSpPr>
          <p:spPr>
            <a:xfrm>
              <a:off x="9893808" y="2677447"/>
              <a:ext cx="164592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  <a:effectLst/>
          </p:spPr>
        </p:cxnSp>
        <p:sp>
          <p:nvSpPr>
            <p:cNvPr id="95" name="slot.result.label"/>
            <p:cNvSpPr txBox="1"/>
            <p:nvPr/>
          </p:nvSpPr>
          <p:spPr>
            <a:xfrm>
              <a:off x="9893808" y="2732311"/>
              <a:ext cx="1645920" cy="167677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kern="0" dirty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recovered per quarter</a:t>
              </a:r>
              <a:endPara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96" name="slot.result.basis"/>
            <p:cNvSpPr/>
            <p:nvPr/>
          </p:nvSpPr>
          <p:spPr>
            <a:xfrm>
              <a:off x="9893808" y="2954852"/>
              <a:ext cx="811329" cy="210343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75000"/>
                </a:schemeClr>
              </a:solidFill>
            </a:ln>
            <a:effectLst/>
          </p:spPr>
          <p:txBody>
            <a:bodyPr rtlCol="0" anchor="ctr" wrap="square" lIns="36576" tIns="0" rIns="36576" bIns="0">
              <a:noAutofit/>
            </a:bodyPr>
            <a:lstStyle/>
            <a:p>
              <a:pPr marL="0" indent="0" lv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Arial"/>
                  <a:cs typeface="Arial"/>
                </a:rPr>
                <a:t>Illustrative</a:t>
              </a:r>
              <a:endPara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97" name="slot.control.1.icon"/>
          <p:cNvSpPr/>
          <p:nvPr/>
        </p:nvSpPr>
        <p:spPr>
          <a:xfrm>
            <a:off x="9893168" y="469414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671" y="4136"/>
                </a:moveTo>
                <a:cubicBezTo>
                  <a:pt x="9785" y="2935"/>
                  <a:pt x="10794" y="2017"/>
                  <a:pt x="12000" y="2017"/>
                </a:cubicBezTo>
                <a:cubicBezTo>
                  <a:pt x="13207" y="2017"/>
                  <a:pt x="14216" y="2935"/>
                  <a:pt x="14330" y="4136"/>
                </a:cubicBezTo>
                <a:cubicBezTo>
                  <a:pt x="14397" y="4896"/>
                  <a:pt x="14831" y="5575"/>
                  <a:pt x="15491" y="5957"/>
                </a:cubicBezTo>
                <a:cubicBezTo>
                  <a:pt x="16152" y="6338"/>
                  <a:pt x="16957" y="6373"/>
                  <a:pt x="17649" y="6051"/>
                </a:cubicBezTo>
                <a:cubicBezTo>
                  <a:pt x="18745" y="5553"/>
                  <a:pt x="20040" y="5969"/>
                  <a:pt x="20643" y="7011"/>
                </a:cubicBezTo>
                <a:cubicBezTo>
                  <a:pt x="21245" y="8054"/>
                  <a:pt x="20958" y="9383"/>
                  <a:pt x="19979" y="10084"/>
                </a:cubicBezTo>
                <a:cubicBezTo>
                  <a:pt x="19355" y="10522"/>
                  <a:pt x="18983" y="11237"/>
                  <a:pt x="18983" y="11999"/>
                </a:cubicBezTo>
                <a:cubicBezTo>
                  <a:pt x="18983" y="12762"/>
                  <a:pt x="19355" y="13477"/>
                  <a:pt x="19979" y="13915"/>
                </a:cubicBezTo>
                <a:cubicBezTo>
                  <a:pt x="20958" y="14616"/>
                  <a:pt x="21245" y="15945"/>
                  <a:pt x="20643" y="16988"/>
                </a:cubicBezTo>
                <a:cubicBezTo>
                  <a:pt x="20040" y="18030"/>
                  <a:pt x="18745" y="18446"/>
                  <a:pt x="17649" y="17948"/>
                </a:cubicBezTo>
                <a:cubicBezTo>
                  <a:pt x="16957" y="17626"/>
                  <a:pt x="16152" y="17661"/>
                  <a:pt x="15491" y="18042"/>
                </a:cubicBezTo>
                <a:cubicBezTo>
                  <a:pt x="14831" y="18424"/>
                  <a:pt x="14397" y="19103"/>
                  <a:pt x="14330" y="19863"/>
                </a:cubicBezTo>
                <a:cubicBezTo>
                  <a:pt x="14216" y="21064"/>
                  <a:pt x="13207" y="21982"/>
                  <a:pt x="12001" y="21982"/>
                </a:cubicBezTo>
                <a:cubicBezTo>
                  <a:pt x="10794" y="21982"/>
                  <a:pt x="9785" y="21064"/>
                  <a:pt x="9671" y="19863"/>
                </a:cubicBezTo>
                <a:cubicBezTo>
                  <a:pt x="9604" y="19103"/>
                  <a:pt x="9170" y="18423"/>
                  <a:pt x="8509" y="18042"/>
                </a:cubicBezTo>
                <a:cubicBezTo>
                  <a:pt x="7848" y="17660"/>
                  <a:pt x="7043" y="17625"/>
                  <a:pt x="6351" y="17948"/>
                </a:cubicBezTo>
                <a:cubicBezTo>
                  <a:pt x="5255" y="18446"/>
                  <a:pt x="3960" y="18030"/>
                  <a:pt x="3357" y="16988"/>
                </a:cubicBezTo>
                <a:cubicBezTo>
                  <a:pt x="2755" y="15945"/>
                  <a:pt x="3042" y="14616"/>
                  <a:pt x="4021" y="13915"/>
                </a:cubicBezTo>
                <a:cubicBezTo>
                  <a:pt x="4645" y="13477"/>
                  <a:pt x="5017" y="12762"/>
                  <a:pt x="5017" y="11999"/>
                </a:cubicBezTo>
                <a:cubicBezTo>
                  <a:pt x="5017" y="11237"/>
                  <a:pt x="4645" y="10522"/>
                  <a:pt x="4021" y="10084"/>
                </a:cubicBezTo>
                <a:cubicBezTo>
                  <a:pt x="3044" y="9383"/>
                  <a:pt x="2757" y="8054"/>
                  <a:pt x="3359" y="7013"/>
                </a:cubicBezTo>
                <a:cubicBezTo>
                  <a:pt x="3961" y="5971"/>
                  <a:pt x="5254" y="5555"/>
                  <a:pt x="6350" y="6051"/>
                </a:cubicBezTo>
                <a:cubicBezTo>
                  <a:pt x="7042" y="6373"/>
                  <a:pt x="7847" y="6338"/>
                  <a:pt x="8508" y="5957"/>
                </a:cubicBezTo>
                <a:cubicBezTo>
                  <a:pt x="9168" y="5575"/>
                  <a:pt x="9602" y="4896"/>
                  <a:pt x="9669" y="4136"/>
                </a:cubicBezTo>
                <a:moveTo>
                  <a:pt x="15000" y="12000"/>
                </a:moveTo>
                <a:cubicBezTo>
                  <a:pt x="15000" y="13657"/>
                  <a:pt x="13657" y="15000"/>
                  <a:pt x="12000" y="15000"/>
                </a:cubicBezTo>
                <a:cubicBezTo>
                  <a:pt x="10343" y="15000"/>
                  <a:pt x="9000" y="13657"/>
                  <a:pt x="9000" y="12000"/>
                </a:cubicBezTo>
                <a:cubicBezTo>
                  <a:pt x="9000" y="10343"/>
                  <a:pt x="10343" y="9000"/>
                  <a:pt x="12000" y="9000"/>
                </a:cubicBezTo>
                <a:cubicBezTo>
                  <a:pt x="13657" y="9000"/>
                  <a:pt x="15000" y="10343"/>
                  <a:pt x="15000" y="12000"/>
                </a:cubicBezTo>
                <a:close/>
              </a:path>
            </a:pathLst>
          </a:custGeom>
          <a:noFill/>
          <a:ln w="15240" cap="rnd">
            <a:solidFill>
              <a:schemeClr val="bg1"/>
            </a:solidFill>
            <a:round/>
          </a:ln>
          <a:effectLst/>
        </p:spPr>
      </p:sp>
      <p:sp>
        <p:nvSpPr>
          <p:cNvPr id="98" name="slot.control.2.icon"/>
          <p:cNvSpPr/>
          <p:nvPr/>
        </p:nvSpPr>
        <p:spPr>
          <a:xfrm>
            <a:off x="9893168" y="5098275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15240" cap="rnd">
            <a:solidFill>
              <a:schemeClr val="bg1"/>
            </a:solidFill>
            <a:round/>
          </a:ln>
          <a:effectLst/>
        </p:spPr>
      </p:sp>
      <p:sp>
        <p:nvSpPr>
          <p:cNvPr id="99" name="slot.control.3.icon"/>
          <p:cNvSpPr/>
          <p:nvPr/>
        </p:nvSpPr>
        <p:spPr>
          <a:xfrm>
            <a:off x="9893168" y="5502406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7000"/>
                </a:moveTo>
                <a:lnTo>
                  <a:pt x="13009" y="12727"/>
                </a:lnTo>
                <a:cubicBezTo>
                  <a:pt x="12388" y="13088"/>
                  <a:pt x="11621" y="13088"/>
                  <a:pt x="11000" y="12727"/>
                </a:cubicBezTo>
                <a:lnTo>
                  <a:pt x="2000" y="7000"/>
                </a:lnTo>
                <a:moveTo>
                  <a:pt x="4000" y="4000"/>
                </a:moveTo>
                <a:lnTo>
                  <a:pt x="20000" y="4000"/>
                </a:lnTo>
                <a:cubicBezTo>
                  <a:pt x="21105" y="4000"/>
                  <a:pt x="22000" y="4895"/>
                  <a:pt x="22000" y="6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6000"/>
                </a:lnTo>
                <a:cubicBezTo>
                  <a:pt x="2000" y="4895"/>
                  <a:pt x="2895" y="4000"/>
                  <a:pt x="4000" y="4000"/>
                </a:cubicBezTo>
                <a:close/>
              </a:path>
            </a:pathLst>
          </a:custGeom>
          <a:noFill/>
          <a:ln w="15240" cap="rnd">
            <a:solidFill>
              <a:schemeClr val="bg1"/>
            </a:solidFill>
            <a:round/>
          </a:ln>
          <a:effectLst/>
        </p:spPr>
      </p:sp>
      <p:sp>
        <p:nvSpPr>
          <p:cNvPr id="100" name="slot.control.4.icon"/>
          <p:cNvSpPr/>
          <p:nvPr/>
        </p:nvSpPr>
        <p:spPr>
          <a:xfrm>
            <a:off x="9893168" y="5906537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1524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aturity-model:indented-ladder-status-rail">
    <p:spTree>
      <p:nvGrpSpPr>
        <p:cNvPr id="1" name=""/>
        <p:cNvGrpSpPr/>
        <p:nvPr/>
      </p:nvGrpSpPr>
      <p:grpSpPr/>
      <p:sp>
        <p:nvSpPr>
          <p:cNvPr id="2" name="slot.ladder.label"/>
          <p:cNvSpPr txBox="1"/>
          <p:nvPr/>
        </p:nvSpPr>
        <p:spPr>
          <a:xfrm>
            <a:off x="384048" y="1051560"/>
            <a:ext cx="704088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Automation maturity levels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ot.rail.label"/>
          <p:cNvSpPr txBox="1"/>
          <p:nvPr/>
        </p:nvSpPr>
        <p:spPr>
          <a:xfrm>
            <a:off x="7717536" y="1051560"/>
            <a:ext cx="4096512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Status today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level.1"/>
          <p:cNvSpPr/>
          <p:nvPr/>
        </p:nvSpPr>
        <p:spPr>
          <a:xfrm>
            <a:off x="384048" y="1353312"/>
            <a:ext cx="7040879" cy="438912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" name="slot.level.1.head"/>
          <p:cNvSpPr txBox="1"/>
          <p:nvPr/>
        </p:nvSpPr>
        <p:spPr>
          <a:xfrm>
            <a:off x="841247" y="1353312"/>
            <a:ext cx="2633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01  </a:t>
            </a: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Manual entry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level.1.body"/>
          <p:cNvSpPr txBox="1"/>
          <p:nvPr/>
        </p:nvSpPr>
        <p:spPr>
          <a:xfrm>
            <a:off x="3520439" y="1353312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Clerks key every invoice line by hand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truct.level.2"/>
          <p:cNvSpPr/>
          <p:nvPr/>
        </p:nvSpPr>
        <p:spPr>
          <a:xfrm>
            <a:off x="473201" y="1865376"/>
            <a:ext cx="6951725" cy="43891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" name="slot.level.2.head"/>
          <p:cNvSpPr txBox="1"/>
          <p:nvPr/>
        </p:nvSpPr>
        <p:spPr>
          <a:xfrm>
            <a:off x="930402" y="1865376"/>
            <a:ext cx="2544318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02  </a:t>
            </a: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Standard forms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level.2.body"/>
          <p:cNvSpPr txBox="1"/>
          <p:nvPr/>
        </p:nvSpPr>
        <p:spPr>
          <a:xfrm>
            <a:off x="3520439" y="1865376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Supplier templates remove most keying errors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truct.level.3"/>
          <p:cNvSpPr/>
          <p:nvPr/>
        </p:nvSpPr>
        <p:spPr>
          <a:xfrm>
            <a:off x="562356" y="2377440"/>
            <a:ext cx="6862571" cy="43891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" name="slot.level.3.head"/>
          <p:cNvSpPr txBox="1"/>
          <p:nvPr/>
        </p:nvSpPr>
        <p:spPr>
          <a:xfrm>
            <a:off x="1019556" y="2377440"/>
            <a:ext cx="2455163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03  </a:t>
            </a: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Rule-based matching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level.3.body"/>
          <p:cNvSpPr txBox="1"/>
          <p:nvPr/>
        </p:nvSpPr>
        <p:spPr>
          <a:xfrm>
            <a:off x="3520439" y="2377440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Fixed rules clear routine order matches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level.4"/>
          <p:cNvSpPr/>
          <p:nvPr/>
        </p:nvSpPr>
        <p:spPr>
          <a:xfrm>
            <a:off x="651509" y="2889504"/>
            <a:ext cx="6773417" cy="4389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" name="slot.level.4.head"/>
          <p:cNvSpPr txBox="1"/>
          <p:nvPr/>
        </p:nvSpPr>
        <p:spPr>
          <a:xfrm>
            <a:off x="1108710" y="2889504"/>
            <a:ext cx="2366010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04  </a:t>
            </a: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Assisted review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level.4.body"/>
          <p:cNvSpPr txBox="1"/>
          <p:nvPr/>
        </p:nvSpPr>
        <p:spPr>
          <a:xfrm>
            <a:off x="3520439" y="2889504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Models suggest matches and reviewers approve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uct.level.5"/>
          <p:cNvSpPr/>
          <p:nvPr/>
        </p:nvSpPr>
        <p:spPr>
          <a:xfrm>
            <a:off x="740664" y="3401568"/>
            <a:ext cx="6684263" cy="4389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" name="slot.level.5.head"/>
          <p:cNvSpPr txBox="1"/>
          <p:nvPr/>
        </p:nvSpPr>
        <p:spPr>
          <a:xfrm>
            <a:off x="1197864" y="3401568"/>
            <a:ext cx="2276856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05  </a:t>
            </a: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Exception agents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level.5.body"/>
          <p:cNvSpPr txBox="1"/>
          <p:nvPr/>
        </p:nvSpPr>
        <p:spPr>
          <a:xfrm>
            <a:off x="3520439" y="3401568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Agents resolve known exceptions unaided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truct.level.6"/>
          <p:cNvSpPr/>
          <p:nvPr/>
        </p:nvSpPr>
        <p:spPr>
          <a:xfrm>
            <a:off x="829818" y="3913632"/>
            <a:ext cx="6595109" cy="4389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" name="slot.level.6.head"/>
          <p:cNvSpPr txBox="1"/>
          <p:nvPr/>
        </p:nvSpPr>
        <p:spPr>
          <a:xfrm>
            <a:off x="1287018" y="3913632"/>
            <a:ext cx="218770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06  </a:t>
            </a: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Self-tuning rules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level.6.body"/>
          <p:cNvSpPr txBox="1"/>
          <p:nvPr/>
        </p:nvSpPr>
        <p:spPr>
          <a:xfrm>
            <a:off x="3520439" y="3913632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Reviewer decisions retune the rules weekly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level.7"/>
          <p:cNvSpPr/>
          <p:nvPr/>
        </p:nvSpPr>
        <p:spPr>
          <a:xfrm>
            <a:off x="918971" y="4425696"/>
            <a:ext cx="6505955" cy="4389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3" name="slot.level.7.head"/>
          <p:cNvSpPr txBox="1"/>
          <p:nvPr/>
        </p:nvSpPr>
        <p:spPr>
          <a:xfrm>
            <a:off x="1376172" y="4425696"/>
            <a:ext cx="2098548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07  </a:t>
            </a: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Touchless close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lot.level.7.body"/>
          <p:cNvSpPr txBox="1"/>
          <p:nvPr/>
        </p:nvSpPr>
        <p:spPr>
          <a:xfrm>
            <a:off x="3520439" y="4425696"/>
            <a:ext cx="3776472" cy="43891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Month-end close runs with spot checks only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key.1.head"/>
          <p:cNvSpPr txBox="1"/>
          <p:nvPr/>
        </p:nvSpPr>
        <p:spPr>
          <a:xfrm>
            <a:off x="7717536" y="1353312"/>
            <a:ext cx="1344168" cy="786384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At scale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key.1.body"/>
          <p:cNvSpPr txBox="1"/>
          <p:nvPr/>
        </p:nvSpPr>
        <p:spPr>
          <a:xfrm>
            <a:off x="9180576" y="1353312"/>
            <a:ext cx="2633472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Live in every business unit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and measured monthly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key.2.head"/>
          <p:cNvSpPr txBox="1"/>
          <p:nvPr/>
        </p:nvSpPr>
        <p:spPr>
          <a:xfrm>
            <a:off x="7717536" y="2258568"/>
            <a:ext cx="1344168" cy="78638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 pilot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key.2.body"/>
          <p:cNvSpPr txBox="1"/>
          <p:nvPr/>
        </p:nvSpPr>
        <p:spPr>
          <a:xfrm>
            <a:off x="9180576" y="2258568"/>
            <a:ext cx="2633472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business units, with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results due next quarter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key.3.head"/>
          <p:cNvSpPr txBox="1"/>
          <p:nvPr/>
        </p:nvSpPr>
        <p:spPr>
          <a:xfrm>
            <a:off x="7717536" y="3163824"/>
            <a:ext cx="1344168" cy="786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Not started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key.3.body"/>
          <p:cNvSpPr txBox="1"/>
          <p:nvPr/>
        </p:nvSpPr>
        <p:spPr>
          <a:xfrm>
            <a:off x="9180576" y="3163824"/>
            <a:ext cx="2633472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Funded once the next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rung proves out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key.4.head"/>
          <p:cNvSpPr txBox="1"/>
          <p:nvPr/>
        </p:nvSpPr>
        <p:spPr>
          <a:xfrm>
            <a:off x="7717536" y="4069079"/>
            <a:ext cx="1344168" cy="78638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Next rung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key.4.body"/>
          <p:cNvSpPr txBox="1"/>
          <p:nvPr/>
        </p:nvSpPr>
        <p:spPr>
          <a:xfrm>
            <a:off x="9180576" y="4069079"/>
            <a:ext cx="2633472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Twelve-week build on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ledger first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lot.cards.label"/>
          <p:cNvSpPr txBox="1"/>
          <p:nvPr/>
        </p:nvSpPr>
        <p:spPr>
          <a:xfrm>
            <a:off x="384048" y="5047488"/>
            <a:ext cx="114300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What reaching level 3 takes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truct.card.1"/>
          <p:cNvSpPr/>
          <p:nvPr/>
        </p:nvSpPr>
        <p:spPr>
          <a:xfrm>
            <a:off x="384048" y="5340096"/>
            <a:ext cx="36576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anchorCtr="0" anchor="ctr" bIns="45700" lIns="7200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6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5" name="struct.card.1.band"/>
          <p:cNvSpPr/>
          <p:nvPr/>
        </p:nvSpPr>
        <p:spPr>
          <a:xfrm>
            <a:off x="384048" y="5340096"/>
            <a:ext cx="3657600" cy="29260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6" name="slot.card.1.head"/>
          <p:cNvSpPr txBox="1"/>
          <p:nvPr/>
        </p:nvSpPr>
        <p:spPr>
          <a:xfrm>
            <a:off x="493776" y="5340096"/>
            <a:ext cx="3438144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01  Clean supplier master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card.1.body"/>
          <p:cNvSpPr txBox="1"/>
          <p:nvPr/>
        </p:nvSpPr>
        <p:spPr>
          <a:xfrm>
            <a:off x="987552" y="5669280"/>
            <a:ext cx="2944368" cy="53035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Duplicate and stale supplier records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merged before any rule goes live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ruct.card.2"/>
          <p:cNvSpPr/>
          <p:nvPr/>
        </p:nvSpPr>
        <p:spPr>
          <a:xfrm>
            <a:off x="4270248" y="5340096"/>
            <a:ext cx="36576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anchorCtr="0" anchor="ctr" bIns="45700" lIns="7200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6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" name="struct.card.2.band"/>
          <p:cNvSpPr/>
          <p:nvPr/>
        </p:nvSpPr>
        <p:spPr>
          <a:xfrm>
            <a:off x="4270248" y="5340096"/>
            <a:ext cx="3657600" cy="29260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0" name="slot.card.2.head"/>
          <p:cNvSpPr txBox="1"/>
          <p:nvPr/>
        </p:nvSpPr>
        <p:spPr>
          <a:xfrm>
            <a:off x="4379976" y="5340096"/>
            <a:ext cx="3438144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02  Shared rule library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card.2.body"/>
          <p:cNvSpPr txBox="1"/>
          <p:nvPr/>
        </p:nvSpPr>
        <p:spPr>
          <a:xfrm>
            <a:off x="4873752" y="5669280"/>
            <a:ext cx="2944368" cy="53035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owner keeps every matching rule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versioned, tested and documented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truct.card.3"/>
          <p:cNvSpPr/>
          <p:nvPr/>
        </p:nvSpPr>
        <p:spPr>
          <a:xfrm>
            <a:off x="8147304" y="5340096"/>
            <a:ext cx="36576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  <p:txBody>
          <a:bodyPr anchorCtr="0" anchor="ctr" bIns="45700" lIns="7200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6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3" name="struct.card.3.band"/>
          <p:cNvSpPr/>
          <p:nvPr/>
        </p:nvSpPr>
        <p:spPr>
          <a:xfrm>
            <a:off x="8147304" y="5340096"/>
            <a:ext cx="3657600" cy="2926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4" name="slot.card.3.head"/>
          <p:cNvSpPr txBox="1"/>
          <p:nvPr/>
        </p:nvSpPr>
        <p:spPr>
          <a:xfrm>
            <a:off x="8257031" y="5340096"/>
            <a:ext cx="3438144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03  Named reviewer roles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card.3.body"/>
          <p:cNvSpPr txBox="1"/>
          <p:nvPr/>
        </p:nvSpPr>
        <p:spPr>
          <a:xfrm>
            <a:off x="8750808" y="5669280"/>
            <a:ext cx="2944368" cy="53035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Held lines cleared by a named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reviewer within one working day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title"/>
          <p:cNvSpPr txBox="1"/>
          <p:nvPr/>
        </p:nvSpPr>
        <p:spPr>
          <a:xfrm>
            <a:off x="384048" y="365760"/>
            <a:ext cx="114300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Payables run at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level 2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and rule-based matching is the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next rung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7" name="struct.rail.rule.1"/>
          <p:cNvCxnSpPr/>
          <p:nvPr/>
        </p:nvCxnSpPr>
        <p:spPr>
          <a:xfrm>
            <a:off x="7717536" y="2199132"/>
            <a:ext cx="4096512" cy="0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48" name="struct.rail.rule.2"/>
          <p:cNvCxnSpPr/>
          <p:nvPr/>
        </p:nvCxnSpPr>
        <p:spPr>
          <a:xfrm>
            <a:off x="7717536" y="4009644"/>
            <a:ext cx="4096512" cy="0"/>
          </a:xfrm>
          <a:prstGeom prst="straightConnector1">
            <a:avLst/>
          </a:prstGeom>
          <a:noFill/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9" name="slot.level.1.icon"/>
          <p:cNvSpPr/>
          <p:nvPr/>
        </p:nvSpPr>
        <p:spPr>
          <a:xfrm>
            <a:off x="493776" y="144475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50" name="slot.level.2.icon"/>
          <p:cNvSpPr/>
          <p:nvPr/>
        </p:nvSpPr>
        <p:spPr>
          <a:xfrm>
            <a:off x="582930" y="1956816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12000" y="11000"/>
                </a:moveTo>
                <a:lnTo>
                  <a:pt x="16000" y="11000"/>
                </a:lnTo>
                <a:moveTo>
                  <a:pt x="12000" y="16000"/>
                </a:moveTo>
                <a:lnTo>
                  <a:pt x="16000" y="16000"/>
                </a:lnTo>
                <a:moveTo>
                  <a:pt x="8000" y="11000"/>
                </a:moveTo>
                <a:lnTo>
                  <a:pt x="8010" y="11000"/>
                </a:lnTo>
                <a:moveTo>
                  <a:pt x="8000" y="16000"/>
                </a:moveTo>
                <a:lnTo>
                  <a:pt x="8010" y="16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51" name="slot.level.3.icon"/>
          <p:cNvSpPr/>
          <p:nvPr/>
        </p:nvSpPr>
        <p:spPr>
          <a:xfrm>
            <a:off x="672084" y="2468880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52" name="slot.level.4.icon"/>
          <p:cNvSpPr/>
          <p:nvPr/>
        </p:nvSpPr>
        <p:spPr>
          <a:xfrm>
            <a:off x="761238" y="2980944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53" name="slot.level.5.icon"/>
          <p:cNvSpPr/>
          <p:nvPr/>
        </p:nvSpPr>
        <p:spPr>
          <a:xfrm>
            <a:off x="850392" y="3493008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54" name="slot.level.6.icon"/>
          <p:cNvSpPr/>
          <p:nvPr/>
        </p:nvSpPr>
        <p:spPr>
          <a:xfrm>
            <a:off x="939546" y="4005072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2000"/>
                </a:moveTo>
                <a:cubicBezTo>
                  <a:pt x="3000" y="7029"/>
                  <a:pt x="7029" y="3000"/>
                  <a:pt x="12000" y="3000"/>
                </a:cubicBezTo>
                <a:cubicBezTo>
                  <a:pt x="14516" y="3009"/>
                  <a:pt x="16931" y="3991"/>
                  <a:pt x="18740" y="5740"/>
                </a:cubicBezTo>
                <a:lnTo>
                  <a:pt x="21000" y="8000"/>
                </a:lnTo>
                <a:moveTo>
                  <a:pt x="21000" y="3000"/>
                </a:moveTo>
                <a:lnTo>
                  <a:pt x="21000" y="8000"/>
                </a:lnTo>
                <a:lnTo>
                  <a:pt x="16000" y="8000"/>
                </a:lnTo>
                <a:moveTo>
                  <a:pt x="21000" y="12000"/>
                </a:moveTo>
                <a:cubicBezTo>
                  <a:pt x="21000" y="16971"/>
                  <a:pt x="16971" y="21000"/>
                  <a:pt x="12000" y="21000"/>
                </a:cubicBezTo>
                <a:cubicBezTo>
                  <a:pt x="9484" y="20991"/>
                  <a:pt x="7069" y="20009"/>
                  <a:pt x="5260" y="18260"/>
                </a:cubicBezTo>
                <a:lnTo>
                  <a:pt x="3000" y="16000"/>
                </a:lnTo>
                <a:moveTo>
                  <a:pt x="8000" y="16000"/>
                </a:moveTo>
                <a:lnTo>
                  <a:pt x="3000" y="16000"/>
                </a:lnTo>
                <a:lnTo>
                  <a:pt x="3000" y="21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55" name="slot.level.7.icon"/>
          <p:cNvSpPr/>
          <p:nvPr/>
        </p:nvSpPr>
        <p:spPr>
          <a:xfrm>
            <a:off x="1028700" y="4517136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21590" cap="rnd">
            <a:solidFill>
              <a:schemeClr val="accent1"/>
            </a:solidFill>
            <a:round/>
          </a:ln>
          <a:effectLst/>
        </p:spPr>
      </p:sp>
      <p:sp>
        <p:nvSpPr>
          <p:cNvPr id="56" name="slot.card.1.icon"/>
          <p:cNvSpPr/>
          <p:nvPr/>
        </p:nvSpPr>
        <p:spPr>
          <a:xfrm>
            <a:off x="512064" y="575157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57" name="slot.card.2.icon"/>
          <p:cNvSpPr/>
          <p:nvPr/>
        </p:nvSpPr>
        <p:spPr>
          <a:xfrm>
            <a:off x="4398264" y="575157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6000"/>
                </a:moveTo>
                <a:lnTo>
                  <a:pt x="20000" y="20000"/>
                </a:lnTo>
                <a:moveTo>
                  <a:pt x="12000" y="6000"/>
                </a:moveTo>
                <a:lnTo>
                  <a:pt x="12000" y="20000"/>
                </a:lnTo>
                <a:moveTo>
                  <a:pt x="8000" y="8000"/>
                </a:moveTo>
                <a:lnTo>
                  <a:pt x="8000" y="20000"/>
                </a:lnTo>
                <a:moveTo>
                  <a:pt x="4000" y="4000"/>
                </a:moveTo>
                <a:lnTo>
                  <a:pt x="4000" y="20000"/>
                </a:ln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58" name="slot.card.3.icon"/>
          <p:cNvSpPr/>
          <p:nvPr/>
        </p:nvSpPr>
        <p:spPr>
          <a:xfrm>
            <a:off x="8275320" y="575157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ayered-architecture:source-band-stage-cards-enablers">
    <p:spTree>
      <p:nvGrpSpPr>
        <p:cNvPr id="1" name=""/>
        <p:cNvGrpSpPr/>
        <p:nvPr/>
      </p:nvGrpSpPr>
      <p:grpSpPr/>
      <p:sp>
        <p:nvSpPr>
          <p:cNvPr id="2" name="struct.source.bar"/>
          <p:cNvSpPr/>
          <p:nvPr/>
        </p:nvSpPr>
        <p:spPr>
          <a:xfrm>
            <a:off x="338328" y="1005840"/>
            <a:ext cx="11521440" cy="283464"/>
          </a:xfrm>
          <a:prstGeom prst="round2SameRect">
            <a:avLst>
              <a:gd fmla="val 16129" name="adj1"/>
              <a:gd fmla="val 0" name="adj2"/>
            </a:avLst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slot.source.head"/>
          <p:cNvSpPr txBox="1"/>
          <p:nvPr/>
        </p:nvSpPr>
        <p:spPr>
          <a:xfrm>
            <a:off x="548640" y="1005840"/>
            <a:ext cx="11100816" cy="28346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Source systems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source.frame"/>
          <p:cNvSpPr/>
          <p:nvPr/>
        </p:nvSpPr>
        <p:spPr>
          <a:xfrm rot="10800000">
            <a:off x="338328" y="1289304"/>
            <a:ext cx="11521440" cy="978408"/>
          </a:xfrm>
          <a:prstGeom prst="round2SameRect">
            <a:avLst>
              <a:gd fmla="val 4673" name="adj1"/>
              <a:gd fmla="val 0" name="adj2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lot.title"/>
          <p:cNvSpPr txBox="1"/>
          <p:nvPr/>
        </p:nvSpPr>
        <p:spPr>
          <a:xfrm>
            <a:off x="457200" y="182880"/>
            <a:ext cx="11338560" cy="7498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Four shared stages</a:t>
            </a: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turn twelve sources into </a:t>
            </a: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governed analytics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uct.source.1.strip"/>
          <p:cNvSpPr/>
          <p:nvPr/>
        </p:nvSpPr>
        <p:spPr>
          <a:xfrm>
            <a:off x="475488" y="1353312"/>
            <a:ext cx="2496312" cy="2468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lot.source.1.head"/>
          <p:cNvSpPr txBox="1"/>
          <p:nvPr/>
        </p:nvSpPr>
        <p:spPr>
          <a:xfrm>
            <a:off x="566928" y="1353312"/>
            <a:ext cx="2313432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Core operations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" name="struct.source.rule.1"/>
          <p:cNvCxnSpPr/>
          <p:nvPr/>
        </p:nvCxnSpPr>
        <p:spPr>
          <a:xfrm>
            <a:off x="3182112" y="1371600"/>
            <a:ext cx="0" cy="859536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9" name="struct.source.2.strip"/>
          <p:cNvSpPr/>
          <p:nvPr/>
        </p:nvSpPr>
        <p:spPr>
          <a:xfrm>
            <a:off x="3392424" y="1353312"/>
            <a:ext cx="2496312" cy="2468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slot.source.2.head"/>
          <p:cNvSpPr txBox="1"/>
          <p:nvPr/>
        </p:nvSpPr>
        <p:spPr>
          <a:xfrm>
            <a:off x="3483864" y="1353312"/>
            <a:ext cx="2313432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Customer channels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" name="struct.source.rule.2"/>
          <p:cNvCxnSpPr/>
          <p:nvPr/>
        </p:nvCxnSpPr>
        <p:spPr>
          <a:xfrm>
            <a:off x="6099048" y="1371600"/>
            <a:ext cx="0" cy="859536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12" name="struct.source.3.strip"/>
          <p:cNvSpPr/>
          <p:nvPr/>
        </p:nvSpPr>
        <p:spPr>
          <a:xfrm>
            <a:off x="6309360" y="1353312"/>
            <a:ext cx="2496312" cy="2468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slot.source.3.head"/>
          <p:cNvSpPr txBox="1"/>
          <p:nvPr/>
        </p:nvSpPr>
        <p:spPr>
          <a:xfrm>
            <a:off x="6400800" y="1353312"/>
            <a:ext cx="2313432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Event streams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4" name="struct.source.rule.3"/>
          <p:cNvCxnSpPr/>
          <p:nvPr/>
        </p:nvCxnSpPr>
        <p:spPr>
          <a:xfrm>
            <a:off x="9015984" y="1371600"/>
            <a:ext cx="0" cy="859536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15" name="struct.source.4.strip"/>
          <p:cNvSpPr/>
          <p:nvPr/>
        </p:nvSpPr>
        <p:spPr>
          <a:xfrm>
            <a:off x="9226296" y="1353312"/>
            <a:ext cx="2496312" cy="2468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slot.source.4.head"/>
          <p:cNvSpPr txBox="1"/>
          <p:nvPr/>
        </p:nvSpPr>
        <p:spPr>
          <a:xfrm>
            <a:off x="9317736" y="1353312"/>
            <a:ext cx="2313432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External feeds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truct.platform.bar"/>
          <p:cNvSpPr/>
          <p:nvPr/>
        </p:nvSpPr>
        <p:spPr>
          <a:xfrm>
            <a:off x="334953" y="2601566"/>
            <a:ext cx="11521712" cy="280393"/>
          </a:xfrm>
          <a:prstGeom prst="round2SameRect">
            <a:avLst>
              <a:gd fmla="val 16306" name="adj1"/>
              <a:gd fmla="val 0" name="adj2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slot.platform.head"/>
          <p:cNvSpPr txBox="1"/>
          <p:nvPr/>
        </p:nvSpPr>
        <p:spPr>
          <a:xfrm>
            <a:off x="548640" y="2606040"/>
            <a:ext cx="11100816" cy="28346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 data platform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truct.platform.frame"/>
          <p:cNvSpPr/>
          <p:nvPr/>
        </p:nvSpPr>
        <p:spPr>
          <a:xfrm rot="10800000">
            <a:off x="335028" y="2880295"/>
            <a:ext cx="11521712" cy="2259944"/>
          </a:xfrm>
          <a:prstGeom prst="round2SameRect">
            <a:avLst>
              <a:gd fmla="val 2023" name="adj1"/>
              <a:gd fmla="val 0" name="adj2"/>
            </a:avLst>
          </a:prstGeom>
          <a:noFill/>
          <a:ln w="9525">
            <a:solidFill>
              <a:schemeClr val="accent1"/>
            </a:solidFill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struct.enabler.strip"/>
          <p:cNvSpPr/>
          <p:nvPr/>
        </p:nvSpPr>
        <p:spPr>
          <a:xfrm>
            <a:off x="334954" y="5211488"/>
            <a:ext cx="11540511" cy="1037174"/>
          </a:xfrm>
          <a:prstGeom prst="roundRect">
            <a:avLst>
              <a:gd fmla="val 4408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struct.stage.1.card"/>
          <p:cNvSpPr/>
          <p:nvPr/>
        </p:nvSpPr>
        <p:spPr>
          <a:xfrm>
            <a:off x="475488" y="2971800"/>
            <a:ext cx="2496312" cy="1856231"/>
          </a:xfrm>
          <a:prstGeom prst="roundRect">
            <a:avLst>
              <a:gd fmla="val 2463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struct.stage.2.card"/>
          <p:cNvSpPr/>
          <p:nvPr/>
        </p:nvSpPr>
        <p:spPr>
          <a:xfrm>
            <a:off x="3392424" y="2971800"/>
            <a:ext cx="2496312" cy="1856231"/>
          </a:xfrm>
          <a:prstGeom prst="roundRect">
            <a:avLst>
              <a:gd fmla="val 2463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struct.stage.3.card"/>
          <p:cNvSpPr/>
          <p:nvPr/>
        </p:nvSpPr>
        <p:spPr>
          <a:xfrm>
            <a:off x="6309360" y="2971800"/>
            <a:ext cx="2496312" cy="1856231"/>
          </a:xfrm>
          <a:prstGeom prst="roundRect">
            <a:avLst>
              <a:gd fmla="val 2463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struct.stage.4.card"/>
          <p:cNvSpPr/>
          <p:nvPr/>
        </p:nvSpPr>
        <p:spPr>
          <a:xfrm>
            <a:off x="9226296" y="2971800"/>
            <a:ext cx="2496312" cy="1856231"/>
          </a:xfrm>
          <a:prstGeom prst="roundRect">
            <a:avLst>
              <a:gd fmla="val 2463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struct.enabler.1.card"/>
          <p:cNvSpPr/>
          <p:nvPr/>
        </p:nvSpPr>
        <p:spPr>
          <a:xfrm>
            <a:off x="537865" y="5520822"/>
            <a:ext cx="3574711" cy="649584"/>
          </a:xfrm>
          <a:prstGeom prst="roundRect">
            <a:avLst>
              <a:gd fmla="val 7038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struct.enabler.2.card"/>
          <p:cNvSpPr/>
          <p:nvPr/>
        </p:nvSpPr>
        <p:spPr>
          <a:xfrm>
            <a:off x="4309036" y="5520822"/>
            <a:ext cx="3574711" cy="649584"/>
          </a:xfrm>
          <a:prstGeom prst="roundRect">
            <a:avLst>
              <a:gd fmla="val 7038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struct.enabler.3.card"/>
          <p:cNvSpPr/>
          <p:nvPr/>
        </p:nvSpPr>
        <p:spPr>
          <a:xfrm>
            <a:off x="8080207" y="5520822"/>
            <a:ext cx="3574711" cy="649584"/>
          </a:xfrm>
          <a:prstGeom prst="roundRect">
            <a:avLst>
              <a:gd fmla="val 7038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slot.enabler.head"/>
          <p:cNvSpPr txBox="1"/>
          <p:nvPr/>
        </p:nvSpPr>
        <p:spPr>
          <a:xfrm>
            <a:off x="3355848" y="5266944"/>
            <a:ext cx="5486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Cross-cutting enablers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enabler.1.disc"/>
          <p:cNvSpPr/>
          <p:nvPr/>
        </p:nvSpPr>
        <p:spPr>
          <a:xfrm>
            <a:off x="644927" y="5612445"/>
            <a:ext cx="466388" cy="4663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slot.enabler.1.head"/>
          <p:cNvSpPr/>
          <p:nvPr/>
        </p:nvSpPr>
        <p:spPr>
          <a:xfrm>
            <a:off x="1195465" y="5568696"/>
            <a:ext cx="2816352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Data governance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enabler.1.body"/>
          <p:cNvSpPr/>
          <p:nvPr/>
        </p:nvSpPr>
        <p:spPr>
          <a:xfrm>
            <a:off x="1195465" y="5769864"/>
            <a:ext cx="2834640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Named owners, shared definitions and quality targets for each shared table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enabler.2.disc"/>
          <p:cNvSpPr/>
          <p:nvPr/>
        </p:nvSpPr>
        <p:spPr>
          <a:xfrm>
            <a:off x="4414899" y="5612445"/>
            <a:ext cx="466388" cy="4663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lot.enabler.2.head"/>
          <p:cNvSpPr/>
          <p:nvPr/>
        </p:nvSpPr>
        <p:spPr>
          <a:xfrm>
            <a:off x="4965437" y="5568696"/>
            <a:ext cx="2816352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Platform operations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enabler.2.body"/>
          <p:cNvSpPr/>
          <p:nvPr/>
        </p:nvSpPr>
        <p:spPr>
          <a:xfrm>
            <a:off x="4965437" y="5769864"/>
            <a:ext cx="2834640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Automated releases, uptime monitoring and cost controls across all four stages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truct.enabler.3.disc"/>
          <p:cNvSpPr/>
          <p:nvPr/>
        </p:nvSpPr>
        <p:spPr>
          <a:xfrm>
            <a:off x="8184873" y="5612445"/>
            <a:ext cx="466388" cy="4663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slot.enabler.3.head"/>
          <p:cNvSpPr/>
          <p:nvPr/>
        </p:nvSpPr>
        <p:spPr>
          <a:xfrm>
            <a:off x="8735411" y="5568696"/>
            <a:ext cx="2816352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Security and access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enabler.3.body"/>
          <p:cNvSpPr/>
          <p:nvPr/>
        </p:nvSpPr>
        <p:spPr>
          <a:xfrm>
            <a:off x="8735415" y="5769864"/>
            <a:ext cx="2834640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Role-based access, masked fields and an audit trail on every layer of the stack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ruct.stage.1.strip"/>
          <p:cNvSpPr/>
          <p:nvPr/>
        </p:nvSpPr>
        <p:spPr>
          <a:xfrm>
            <a:off x="475488" y="2971800"/>
            <a:ext cx="2496312" cy="438912"/>
          </a:xfrm>
          <a:prstGeom prst="round2SameRect">
            <a:avLst>
              <a:gd fmla="val 10417" name="adj1"/>
              <a:gd fmla="val 0" name="adj2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struct.stage.2.strip"/>
          <p:cNvSpPr/>
          <p:nvPr/>
        </p:nvSpPr>
        <p:spPr>
          <a:xfrm>
            <a:off x="3392424" y="2971800"/>
            <a:ext cx="2496312" cy="438912"/>
          </a:xfrm>
          <a:prstGeom prst="round2SameRect">
            <a:avLst>
              <a:gd fmla="val 10417" name="adj1"/>
              <a:gd fmla="val 0" name="adj2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struct.stage.3.strip"/>
          <p:cNvSpPr/>
          <p:nvPr/>
        </p:nvSpPr>
        <p:spPr>
          <a:xfrm>
            <a:off x="6309360" y="2971800"/>
            <a:ext cx="2496312" cy="438912"/>
          </a:xfrm>
          <a:prstGeom prst="round2SameRect">
            <a:avLst>
              <a:gd fmla="val 10417" name="adj1"/>
              <a:gd fmla="val 0" name="adj2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struct.stage.4.strip"/>
          <p:cNvSpPr/>
          <p:nvPr/>
        </p:nvSpPr>
        <p:spPr>
          <a:xfrm>
            <a:off x="9226296" y="2971800"/>
            <a:ext cx="2496312" cy="438912"/>
          </a:xfrm>
          <a:prstGeom prst="round2SameRect">
            <a:avLst>
              <a:gd fmla="val 10417" name="adj1"/>
              <a:gd fmla="val 0" name="adj2"/>
            </a:avLst>
          </a:prstGeom>
          <a:solidFill>
            <a:schemeClr val="accent1">
              <a:lumMod val="10000"/>
              <a:lumOff val="90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struct.join.1.disc"/>
          <p:cNvSpPr/>
          <p:nvPr/>
        </p:nvSpPr>
        <p:spPr>
          <a:xfrm>
            <a:off x="3035808" y="3867912"/>
            <a:ext cx="292608" cy="292608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struct.join.2.disc"/>
          <p:cNvSpPr/>
          <p:nvPr/>
        </p:nvSpPr>
        <p:spPr>
          <a:xfrm>
            <a:off x="5952744" y="3867912"/>
            <a:ext cx="292608" cy="292608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struct.join.3.disc"/>
          <p:cNvSpPr/>
          <p:nvPr/>
        </p:nvSpPr>
        <p:spPr>
          <a:xfrm>
            <a:off x="8869680" y="3867912"/>
            <a:ext cx="292608" cy="292608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slot.seam"/>
          <p:cNvSpPr txBox="1"/>
          <p:nvPr/>
        </p:nvSpPr>
        <p:spPr>
          <a:xfrm>
            <a:off x="3337560" y="2313432"/>
            <a:ext cx="5513832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Raw records flow down, trusted signals flow back up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truct.seam.down"/>
          <p:cNvSpPr/>
          <p:nvPr/>
        </p:nvSpPr>
        <p:spPr>
          <a:xfrm>
            <a:off x="3017520" y="2331720"/>
            <a:ext cx="210312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bg1">
              <a:lumMod val="5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struct.seam.up"/>
          <p:cNvSpPr/>
          <p:nvPr/>
        </p:nvSpPr>
        <p:spPr>
          <a:xfrm flipH="1" rot="10800000">
            <a:off x="8961120" y="2331720"/>
            <a:ext cx="210312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bg1">
              <a:lumMod val="5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slot.stage.1.head"/>
          <p:cNvSpPr txBox="1"/>
          <p:nvPr/>
        </p:nvSpPr>
        <p:spPr>
          <a:xfrm>
            <a:off x="950976" y="3017520"/>
            <a:ext cx="1929384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Ingest and land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stage.2.head"/>
          <p:cNvSpPr txBox="1"/>
          <p:nvPr/>
        </p:nvSpPr>
        <p:spPr>
          <a:xfrm>
            <a:off x="3867912" y="3017520"/>
            <a:ext cx="1929384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Clean and model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stage.3.head"/>
          <p:cNvSpPr txBox="1"/>
          <p:nvPr/>
        </p:nvSpPr>
        <p:spPr>
          <a:xfrm>
            <a:off x="6784848" y="3017520"/>
            <a:ext cx="1929384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Analyze and predict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stage.4.head"/>
          <p:cNvSpPr txBox="1"/>
          <p:nvPr/>
        </p:nvSpPr>
        <p:spPr>
          <a:xfrm>
            <a:off x="9701784" y="3017520"/>
            <a:ext cx="1929384" cy="34747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Serve and govern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truct.join.1.chevron"/>
          <p:cNvSpPr/>
          <p:nvPr/>
        </p:nvSpPr>
        <p:spPr>
          <a:xfrm>
            <a:off x="3145536" y="3931920"/>
            <a:ext cx="100584" cy="164592"/>
          </a:xfrm>
          <a:prstGeom prst="chevron">
            <a:avLst>
              <a:gd fmla="val 50000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struct.join.2.chevron"/>
          <p:cNvSpPr/>
          <p:nvPr/>
        </p:nvSpPr>
        <p:spPr>
          <a:xfrm>
            <a:off x="6062472" y="3931920"/>
            <a:ext cx="100584" cy="164592"/>
          </a:xfrm>
          <a:prstGeom prst="chevron">
            <a:avLst>
              <a:gd fmla="val 50000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struct.join.3.chevron"/>
          <p:cNvSpPr/>
          <p:nvPr/>
        </p:nvSpPr>
        <p:spPr>
          <a:xfrm>
            <a:off x="8979408" y="3931920"/>
            <a:ext cx="100584" cy="164592"/>
          </a:xfrm>
          <a:prstGeom prst="chevron">
            <a:avLst>
              <a:gd fmla="val 50000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slot.stage.1.outcome"/>
          <p:cNvSpPr txBox="1"/>
          <p:nvPr/>
        </p:nvSpPr>
        <p:spPr>
          <a:xfrm>
            <a:off x="475488" y="4873752"/>
            <a:ext cx="249631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Every source landed daily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stage.2.outcome"/>
          <p:cNvSpPr txBox="1"/>
          <p:nvPr/>
        </p:nvSpPr>
        <p:spPr>
          <a:xfrm>
            <a:off x="3392424" y="4873752"/>
            <a:ext cx="249631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version of each record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stage.3.outcome"/>
          <p:cNvSpPr txBox="1"/>
          <p:nvPr/>
        </p:nvSpPr>
        <p:spPr>
          <a:xfrm>
            <a:off x="6309360" y="4873752"/>
            <a:ext cx="249631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Models retrained on schedule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stage.4.outcome"/>
          <p:cNvSpPr txBox="1"/>
          <p:nvPr/>
        </p:nvSpPr>
        <p:spPr>
          <a:xfrm>
            <a:off x="9226296" y="4873752"/>
            <a:ext cx="249631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governed metrics layer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9" name="struct.outcome.rule.1"/>
          <p:cNvCxnSpPr/>
          <p:nvPr/>
        </p:nvCxnSpPr>
        <p:spPr>
          <a:xfrm>
            <a:off x="3182112" y="4901184"/>
            <a:ext cx="0" cy="164592"/>
          </a:xfrm>
          <a:prstGeom prst="straightConnector1">
            <a:avLst/>
          </a:prstGeom>
          <a:noFill/>
          <a:ln cap="flat" cmpd="sng" w="119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60" name="struct.outcome.rule.2"/>
          <p:cNvCxnSpPr/>
          <p:nvPr/>
        </p:nvCxnSpPr>
        <p:spPr>
          <a:xfrm>
            <a:off x="6099048" y="4901184"/>
            <a:ext cx="0" cy="164592"/>
          </a:xfrm>
          <a:prstGeom prst="straightConnector1">
            <a:avLst/>
          </a:prstGeom>
          <a:noFill/>
          <a:ln cap="flat" cmpd="sng" w="119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61" name="struct.outcome.rule.3"/>
          <p:cNvCxnSpPr/>
          <p:nvPr/>
        </p:nvCxnSpPr>
        <p:spPr>
          <a:xfrm>
            <a:off x="9015984" y="4901184"/>
            <a:ext cx="0" cy="164592"/>
          </a:xfrm>
          <a:prstGeom prst="straightConnector1">
            <a:avLst/>
          </a:prstGeom>
          <a:noFill/>
          <a:ln cap="flat" cmpd="sng" w="119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2" name="slot.source.1.item.1.icon"/>
          <p:cNvSpPr/>
          <p:nvPr/>
        </p:nvSpPr>
        <p:spPr>
          <a:xfrm>
            <a:off x="772668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18000"/>
                </a:moveTo>
                <a:lnTo>
                  <a:pt x="10000" y="11000"/>
                </a:lnTo>
                <a:moveTo>
                  <a:pt x="11119" y="2205"/>
                </a:moveTo>
                <a:cubicBezTo>
                  <a:pt x="11675" y="1932"/>
                  <a:pt x="12325" y="1932"/>
                  <a:pt x="12881" y="2205"/>
                </a:cubicBezTo>
                <a:lnTo>
                  <a:pt x="20721" y="6051"/>
                </a:lnTo>
                <a:cubicBezTo>
                  <a:pt x="20930" y="6153"/>
                  <a:pt x="21041" y="6387"/>
                  <a:pt x="20988" y="6613"/>
                </a:cubicBezTo>
                <a:cubicBezTo>
                  <a:pt x="20935" y="6840"/>
                  <a:pt x="20733" y="7000"/>
                  <a:pt x="20500" y="7000"/>
                </a:cubicBezTo>
                <a:lnTo>
                  <a:pt x="3500" y="7000"/>
                </a:lnTo>
                <a:cubicBezTo>
                  <a:pt x="3267" y="7000"/>
                  <a:pt x="3065" y="6840"/>
                  <a:pt x="3013" y="6613"/>
                </a:cubicBezTo>
                <a:cubicBezTo>
                  <a:pt x="2960" y="6386"/>
                  <a:pt x="3071" y="6153"/>
                  <a:pt x="3280" y="6051"/>
                </a:cubicBezTo>
                <a:close/>
                <a:moveTo>
                  <a:pt x="14000" y="18000"/>
                </a:moveTo>
                <a:lnTo>
                  <a:pt x="14000" y="11000"/>
                </a:lnTo>
                <a:moveTo>
                  <a:pt x="18000" y="18000"/>
                </a:moveTo>
                <a:lnTo>
                  <a:pt x="18000" y="11000"/>
                </a:lnTo>
                <a:moveTo>
                  <a:pt x="3000" y="22000"/>
                </a:moveTo>
                <a:lnTo>
                  <a:pt x="21000" y="22000"/>
                </a:lnTo>
                <a:moveTo>
                  <a:pt x="6000" y="18000"/>
                </a:moveTo>
                <a:lnTo>
                  <a:pt x="6000" y="11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63" name="slot.source.1.item.1"/>
          <p:cNvSpPr txBox="1"/>
          <p:nvPr/>
        </p:nvSpPr>
        <p:spPr>
          <a:xfrm>
            <a:off x="493776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Finance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source.1.item.2.icon"/>
          <p:cNvSpPr/>
          <p:nvPr/>
        </p:nvSpPr>
        <p:spPr>
          <a:xfrm>
            <a:off x="1604772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65" name="slot.source.1.item.2"/>
          <p:cNvSpPr txBox="1"/>
          <p:nvPr/>
        </p:nvSpPr>
        <p:spPr>
          <a:xfrm>
            <a:off x="1325880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Logistics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source.1.item.3.icon"/>
          <p:cNvSpPr/>
          <p:nvPr/>
        </p:nvSpPr>
        <p:spPr>
          <a:xfrm>
            <a:off x="2436876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67" name="slot.source.1.item.3"/>
          <p:cNvSpPr txBox="1"/>
          <p:nvPr/>
        </p:nvSpPr>
        <p:spPr>
          <a:xfrm>
            <a:off x="2157984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Workforce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ource.2.item.1.icon"/>
          <p:cNvSpPr/>
          <p:nvPr/>
        </p:nvSpPr>
        <p:spPr>
          <a:xfrm>
            <a:off x="3689604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1000"/>
                </a:moveTo>
                <a:lnTo>
                  <a:pt x="15000" y="16000"/>
                </a:lnTo>
                <a:cubicBezTo>
                  <a:pt x="15000" y="15448"/>
                  <a:pt x="14552" y="15000"/>
                  <a:pt x="14000" y="15000"/>
                </a:cubicBezTo>
                <a:lnTo>
                  <a:pt x="10000" y="15000"/>
                </a:lnTo>
                <a:cubicBezTo>
                  <a:pt x="9448" y="15000"/>
                  <a:pt x="9000" y="15448"/>
                  <a:pt x="9000" y="16000"/>
                </a:cubicBezTo>
                <a:lnTo>
                  <a:pt x="9000" y="21000"/>
                </a:lnTo>
                <a:moveTo>
                  <a:pt x="17774" y="10310"/>
                </a:moveTo>
                <a:cubicBezTo>
                  <a:pt x="17341" y="9895"/>
                  <a:pt x="16658" y="9895"/>
                  <a:pt x="16225" y="10310"/>
                </a:cubicBezTo>
                <a:cubicBezTo>
                  <a:pt x="15259" y="11231"/>
                  <a:pt x="13740" y="11231"/>
                  <a:pt x="12774" y="10310"/>
                </a:cubicBezTo>
                <a:cubicBezTo>
                  <a:pt x="12341" y="9896"/>
                  <a:pt x="11659" y="9896"/>
                  <a:pt x="11226" y="10310"/>
                </a:cubicBezTo>
                <a:cubicBezTo>
                  <a:pt x="10260" y="11232"/>
                  <a:pt x="8740" y="11232"/>
                  <a:pt x="7774" y="10310"/>
                </a:cubicBezTo>
                <a:cubicBezTo>
                  <a:pt x="7341" y="9895"/>
                  <a:pt x="6658" y="9895"/>
                  <a:pt x="6225" y="10310"/>
                </a:cubicBezTo>
                <a:cubicBezTo>
                  <a:pt x="5294" y="11198"/>
                  <a:pt x="3842" y="11235"/>
                  <a:pt x="2867" y="10395"/>
                </a:cubicBezTo>
                <a:cubicBezTo>
                  <a:pt x="1893" y="9556"/>
                  <a:pt x="1714" y="8114"/>
                  <a:pt x="2455" y="7062"/>
                </a:cubicBezTo>
                <a:lnTo>
                  <a:pt x="5344" y="2878"/>
                </a:lnTo>
                <a:cubicBezTo>
                  <a:pt x="5716" y="2329"/>
                  <a:pt x="6337" y="2000"/>
                  <a:pt x="7000" y="2000"/>
                </a:cubicBezTo>
                <a:lnTo>
                  <a:pt x="17000" y="2000"/>
                </a:lnTo>
                <a:cubicBezTo>
                  <a:pt x="17661" y="2000"/>
                  <a:pt x="18280" y="2327"/>
                  <a:pt x="18653" y="2873"/>
                </a:cubicBezTo>
                <a:lnTo>
                  <a:pt x="21548" y="7065"/>
                </a:lnTo>
                <a:cubicBezTo>
                  <a:pt x="22289" y="8118"/>
                  <a:pt x="22109" y="9561"/>
                  <a:pt x="21133" y="10400"/>
                </a:cubicBezTo>
                <a:cubicBezTo>
                  <a:pt x="20157" y="11239"/>
                  <a:pt x="18703" y="11199"/>
                  <a:pt x="17774" y="10309"/>
                </a:cubicBezTo>
                <a:moveTo>
                  <a:pt x="4000" y="10950"/>
                </a:moveTo>
                <a:lnTo>
                  <a:pt x="4000" y="19000"/>
                </a:lnTo>
                <a:cubicBezTo>
                  <a:pt x="4000" y="20105"/>
                  <a:pt x="4895" y="21000"/>
                  <a:pt x="6000" y="21000"/>
                </a:cubicBezTo>
                <a:lnTo>
                  <a:pt x="18000" y="21000"/>
                </a:lnTo>
                <a:cubicBezTo>
                  <a:pt x="19105" y="21000"/>
                  <a:pt x="20000" y="20105"/>
                  <a:pt x="20000" y="19000"/>
                </a:cubicBezTo>
                <a:lnTo>
                  <a:pt x="20000" y="1095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69" name="slot.source.2.item.1"/>
          <p:cNvSpPr txBox="1"/>
          <p:nvPr/>
        </p:nvSpPr>
        <p:spPr>
          <a:xfrm>
            <a:off x="3410712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Web store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source.2.item.2.icon"/>
          <p:cNvSpPr/>
          <p:nvPr/>
        </p:nvSpPr>
        <p:spPr>
          <a:xfrm>
            <a:off x="4521708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71" name="slot.source.2.item.2"/>
          <p:cNvSpPr txBox="1"/>
          <p:nvPr/>
        </p:nvSpPr>
        <p:spPr>
          <a:xfrm>
            <a:off x="4242816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Call center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lot.source.2.item.3.icon"/>
          <p:cNvSpPr/>
          <p:nvPr/>
        </p:nvSpPr>
        <p:spPr>
          <a:xfrm>
            <a:off x="5353812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7000" y="2000"/>
                </a:moveTo>
                <a:lnTo>
                  <a:pt x="17000" y="2000"/>
                </a:lnTo>
                <a:cubicBezTo>
                  <a:pt x="18105" y="2000"/>
                  <a:pt x="19000" y="2895"/>
                  <a:pt x="19000" y="4000"/>
                </a:cubicBezTo>
                <a:lnTo>
                  <a:pt x="19000" y="20000"/>
                </a:lnTo>
                <a:cubicBezTo>
                  <a:pt x="19000" y="21105"/>
                  <a:pt x="18105" y="22000"/>
                  <a:pt x="17000" y="22000"/>
                </a:cubicBezTo>
                <a:lnTo>
                  <a:pt x="7000" y="22000"/>
                </a:lnTo>
                <a:cubicBezTo>
                  <a:pt x="5895" y="22000"/>
                  <a:pt x="5000" y="21105"/>
                  <a:pt x="5000" y="20000"/>
                </a:cubicBezTo>
                <a:lnTo>
                  <a:pt x="5000" y="4000"/>
                </a:lnTo>
                <a:cubicBezTo>
                  <a:pt x="5000" y="2895"/>
                  <a:pt x="5895" y="2000"/>
                  <a:pt x="7000" y="2000"/>
                </a:cubicBezTo>
                <a:close/>
                <a:moveTo>
                  <a:pt x="12000" y="18000"/>
                </a:moveTo>
                <a:lnTo>
                  <a:pt x="12010" y="18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73" name="slot.source.2.item.3"/>
          <p:cNvSpPr txBox="1"/>
          <p:nvPr/>
        </p:nvSpPr>
        <p:spPr>
          <a:xfrm>
            <a:off x="5074920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Mobile app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source.3.item.1.icon"/>
          <p:cNvSpPr/>
          <p:nvPr/>
        </p:nvSpPr>
        <p:spPr>
          <a:xfrm>
            <a:off x="6606540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75" name="slot.source.3.item.1"/>
          <p:cNvSpPr txBox="1"/>
          <p:nvPr/>
        </p:nvSpPr>
        <p:spPr>
          <a:xfrm>
            <a:off x="6327648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Sensors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lot.source.3.item.2.icon"/>
          <p:cNvSpPr/>
          <p:nvPr/>
        </p:nvSpPr>
        <p:spPr>
          <a:xfrm>
            <a:off x="7438644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9000"/>
                </a:moveTo>
                <a:lnTo>
                  <a:pt x="20000" y="19000"/>
                </a:lnTo>
                <a:moveTo>
                  <a:pt x="4000" y="17000"/>
                </a:moveTo>
                <a:lnTo>
                  <a:pt x="10000" y="11000"/>
                </a:lnTo>
                <a:lnTo>
                  <a:pt x="4000" y="5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77" name="slot.source.3.item.2"/>
          <p:cNvSpPr txBox="1"/>
          <p:nvPr/>
        </p:nvSpPr>
        <p:spPr>
          <a:xfrm>
            <a:off x="7159752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App logs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lot.source.3.item.3.icon"/>
          <p:cNvSpPr/>
          <p:nvPr/>
        </p:nvSpPr>
        <p:spPr>
          <a:xfrm>
            <a:off x="8270748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lnTo>
                  <a:pt x="22000" y="15000"/>
                </a:lnTo>
                <a:cubicBezTo>
                  <a:pt x="22000" y="16105"/>
                  <a:pt x="21105" y="17000"/>
                  <a:pt x="20000" y="17000"/>
                </a:cubicBezTo>
                <a:lnTo>
                  <a:pt x="4000" y="17000"/>
                </a:lnTo>
                <a:cubicBezTo>
                  <a:pt x="2895" y="17000"/>
                  <a:pt x="2000" y="16105"/>
                  <a:pt x="2000" y="15000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close/>
                <a:moveTo>
                  <a:pt x="8000" y="21000"/>
                </a:moveTo>
                <a:lnTo>
                  <a:pt x="16000" y="21000"/>
                </a:lnTo>
                <a:moveTo>
                  <a:pt x="12000" y="17000"/>
                </a:moveTo>
                <a:lnTo>
                  <a:pt x="12000" y="21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79" name="slot.source.3.item.3"/>
          <p:cNvSpPr txBox="1"/>
          <p:nvPr/>
        </p:nvSpPr>
        <p:spPr>
          <a:xfrm>
            <a:off x="7991856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Clickstream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source.4.item.1.icon"/>
          <p:cNvSpPr/>
          <p:nvPr/>
        </p:nvSpPr>
        <p:spPr>
          <a:xfrm>
            <a:off x="9523476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81" name="slot.source.4.item.1"/>
          <p:cNvSpPr txBox="1"/>
          <p:nvPr/>
        </p:nvSpPr>
        <p:spPr>
          <a:xfrm>
            <a:off x="9244584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data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source.4.item.2.icon"/>
          <p:cNvSpPr/>
          <p:nvPr/>
        </p:nvSpPr>
        <p:spPr>
          <a:xfrm>
            <a:off x="10355580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7500" y="19000"/>
                </a:moveTo>
                <a:lnTo>
                  <a:pt x="9000" y="19000"/>
                </a:lnTo>
                <a:cubicBezTo>
                  <a:pt x="5396" y="18999"/>
                  <a:pt x="2381" y="16261"/>
                  <a:pt x="2034" y="12674"/>
                </a:cubicBezTo>
                <a:cubicBezTo>
                  <a:pt x="1687" y="9086"/>
                  <a:pt x="4121" y="5822"/>
                  <a:pt x="7659" y="5130"/>
                </a:cubicBezTo>
                <a:cubicBezTo>
                  <a:pt x="11196" y="4438"/>
                  <a:pt x="14680" y="6546"/>
                  <a:pt x="15710" y="10000"/>
                </a:cubicBezTo>
                <a:lnTo>
                  <a:pt x="17500" y="10000"/>
                </a:lnTo>
                <a:cubicBezTo>
                  <a:pt x="19985" y="10000"/>
                  <a:pt x="22000" y="12015"/>
                  <a:pt x="22000" y="14500"/>
                </a:cubicBezTo>
                <a:cubicBezTo>
                  <a:pt x="22000" y="16985"/>
                  <a:pt x="19985" y="19000"/>
                  <a:pt x="17500" y="19000"/>
                </a:cubicBezTo>
                <a:close/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83" name="slot.source.4.item.2"/>
          <p:cNvSpPr txBox="1"/>
          <p:nvPr/>
        </p:nvSpPr>
        <p:spPr>
          <a:xfrm>
            <a:off x="10076688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Weather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source.4.item.3.icon"/>
          <p:cNvSpPr/>
          <p:nvPr/>
        </p:nvSpPr>
        <p:spPr>
          <a:xfrm>
            <a:off x="11187684" y="1682496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6000"/>
                </a:moveTo>
                <a:lnTo>
                  <a:pt x="20000" y="20000"/>
                </a:lnTo>
                <a:moveTo>
                  <a:pt x="12000" y="6000"/>
                </a:moveTo>
                <a:lnTo>
                  <a:pt x="12000" y="20000"/>
                </a:lnTo>
                <a:moveTo>
                  <a:pt x="8000" y="8000"/>
                </a:moveTo>
                <a:lnTo>
                  <a:pt x="8000" y="20000"/>
                </a:lnTo>
                <a:moveTo>
                  <a:pt x="4000" y="4000"/>
                </a:moveTo>
                <a:lnTo>
                  <a:pt x="4000" y="20000"/>
                </a:lnTo>
              </a:path>
            </a:pathLst>
          </a:custGeom>
          <a:noFill/>
          <a:ln w="1968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85" name="slot.source.4.item.3"/>
          <p:cNvSpPr txBox="1"/>
          <p:nvPr/>
        </p:nvSpPr>
        <p:spPr>
          <a:xfrm>
            <a:off x="10908792" y="1947672"/>
            <a:ext cx="795528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Registries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stage.1.icon"/>
          <p:cNvSpPr/>
          <p:nvPr/>
        </p:nvSpPr>
        <p:spPr>
          <a:xfrm>
            <a:off x="585216" y="30540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2989" y="19976"/>
                  <a:pt x="4402" y="20893"/>
                  <a:pt x="6790" y="21458"/>
                </a:cubicBezTo>
                <a:cubicBezTo>
                  <a:pt x="9177" y="22023"/>
                  <a:pt x="12240" y="22165"/>
                  <a:pt x="15000" y="21840"/>
                </a:cubicBezTo>
                <a:moveTo>
                  <a:pt x="21000" y="5000"/>
                </a:moveTo>
                <a:lnTo>
                  <a:pt x="21000" y="8000"/>
                </a:lnTo>
                <a:moveTo>
                  <a:pt x="21000" y="12000"/>
                </a:moveTo>
                <a:lnTo>
                  <a:pt x="18000" y="17000"/>
                </a:lnTo>
                <a:lnTo>
                  <a:pt x="22000" y="17000"/>
                </a:lnTo>
                <a:lnTo>
                  <a:pt x="19000" y="22000"/>
                </a:lnTo>
                <a:moveTo>
                  <a:pt x="3000" y="12000"/>
                </a:moveTo>
                <a:cubicBezTo>
                  <a:pt x="3003" y="12948"/>
                  <a:pt x="4350" y="13840"/>
                  <a:pt x="6633" y="14405"/>
                </a:cubicBezTo>
                <a:cubicBezTo>
                  <a:pt x="8916" y="14970"/>
                  <a:pt x="11866" y="15143"/>
                  <a:pt x="14590" y="14870"/>
                </a:cubicBez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87" name="struct.stage.1.chip.1"/>
          <p:cNvSpPr/>
          <p:nvPr/>
        </p:nvSpPr>
        <p:spPr>
          <a:xfrm>
            <a:off x="676656" y="352958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88" name="slot.stage.1.chip.1"/>
          <p:cNvSpPr txBox="1"/>
          <p:nvPr/>
        </p:nvSpPr>
        <p:spPr>
          <a:xfrm>
            <a:off x="676656" y="352958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Batch connectors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struct.stage.1.chip.2"/>
          <p:cNvSpPr/>
          <p:nvPr/>
        </p:nvSpPr>
        <p:spPr>
          <a:xfrm>
            <a:off x="676656" y="384962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90" name="slot.stage.1.chip.2"/>
          <p:cNvSpPr txBox="1"/>
          <p:nvPr/>
        </p:nvSpPr>
        <p:spPr>
          <a:xfrm>
            <a:off x="676656" y="384962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Stream capture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struct.stage.1.chip.3"/>
          <p:cNvSpPr/>
          <p:nvPr/>
        </p:nvSpPr>
        <p:spPr>
          <a:xfrm>
            <a:off x="676656" y="416966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92" name="slot.stage.1.chip.3"/>
          <p:cNvSpPr txBox="1"/>
          <p:nvPr/>
        </p:nvSpPr>
        <p:spPr>
          <a:xfrm>
            <a:off x="676656" y="416966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Schema checks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struct.stage.1.chip.4"/>
          <p:cNvSpPr/>
          <p:nvPr/>
        </p:nvSpPr>
        <p:spPr>
          <a:xfrm>
            <a:off x="676656" y="448970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94" name="slot.stage.1.chip.4"/>
          <p:cNvSpPr txBox="1"/>
          <p:nvPr/>
        </p:nvSpPr>
        <p:spPr>
          <a:xfrm>
            <a:off x="676656" y="448970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Raw landing zone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slot.stage.2.icon"/>
          <p:cNvSpPr/>
          <p:nvPr/>
        </p:nvSpPr>
        <p:spPr>
          <a:xfrm>
            <a:off x="3502152" y="30540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3000"/>
                </a:moveTo>
                <a:lnTo>
                  <a:pt x="9000" y="3000"/>
                </a:lnTo>
                <a:cubicBezTo>
                  <a:pt x="10105" y="3000"/>
                  <a:pt x="11000" y="3895"/>
                  <a:pt x="11000" y="5000"/>
                </a:cubicBezTo>
                <a:lnTo>
                  <a:pt x="11000" y="9000"/>
                </a:lnTo>
                <a:cubicBezTo>
                  <a:pt x="11000" y="10105"/>
                  <a:pt x="10105" y="11000"/>
                  <a:pt x="9000" y="11000"/>
                </a:cubicBezTo>
                <a:lnTo>
                  <a:pt x="5000" y="11000"/>
                </a:lnTo>
                <a:cubicBezTo>
                  <a:pt x="3895" y="11000"/>
                  <a:pt x="3000" y="10105"/>
                  <a:pt x="3000" y="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7000" y="11000"/>
                </a:moveTo>
                <a:lnTo>
                  <a:pt x="7000" y="15000"/>
                </a:lnTo>
                <a:cubicBezTo>
                  <a:pt x="7000" y="16105"/>
                  <a:pt x="7895" y="17000"/>
                  <a:pt x="9000" y="17000"/>
                </a:cubicBezTo>
                <a:lnTo>
                  <a:pt x="13000" y="17000"/>
                </a:lnTo>
                <a:moveTo>
                  <a:pt x="15000" y="13000"/>
                </a:moveTo>
                <a:lnTo>
                  <a:pt x="19000" y="13000"/>
                </a:lnTo>
                <a:cubicBezTo>
                  <a:pt x="20105" y="13000"/>
                  <a:pt x="21000" y="13895"/>
                  <a:pt x="21000" y="1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5000" y="21000"/>
                </a:lnTo>
                <a:cubicBezTo>
                  <a:pt x="13895" y="21000"/>
                  <a:pt x="13000" y="20105"/>
                  <a:pt x="13000" y="19000"/>
                </a:cubicBezTo>
                <a:lnTo>
                  <a:pt x="13000" y="15000"/>
                </a:lnTo>
                <a:cubicBezTo>
                  <a:pt x="13000" y="13895"/>
                  <a:pt x="13895" y="13000"/>
                  <a:pt x="15000" y="13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96" name="struct.stage.2.chip.1"/>
          <p:cNvSpPr/>
          <p:nvPr/>
        </p:nvSpPr>
        <p:spPr>
          <a:xfrm>
            <a:off x="3593592" y="352958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97" name="slot.stage.2.chip.1"/>
          <p:cNvSpPr txBox="1"/>
          <p:nvPr/>
        </p:nvSpPr>
        <p:spPr>
          <a:xfrm>
            <a:off x="3593592" y="352958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Quality rules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struct.stage.2.chip.2"/>
          <p:cNvSpPr/>
          <p:nvPr/>
        </p:nvSpPr>
        <p:spPr>
          <a:xfrm>
            <a:off x="3593592" y="384962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99" name="slot.stage.2.chip.2"/>
          <p:cNvSpPr txBox="1"/>
          <p:nvPr/>
        </p:nvSpPr>
        <p:spPr>
          <a:xfrm>
            <a:off x="3593592" y="384962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Entity matching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struct.stage.2.chip.3"/>
          <p:cNvSpPr/>
          <p:nvPr/>
        </p:nvSpPr>
        <p:spPr>
          <a:xfrm>
            <a:off x="3593592" y="416966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1" name="slot.stage.2.chip.3"/>
          <p:cNvSpPr txBox="1"/>
          <p:nvPr/>
        </p:nvSpPr>
        <p:spPr>
          <a:xfrm>
            <a:off x="3593592" y="416966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Conformed tables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struct.stage.2.chip.4"/>
          <p:cNvSpPr/>
          <p:nvPr/>
        </p:nvSpPr>
        <p:spPr>
          <a:xfrm>
            <a:off x="3593592" y="448970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3" name="slot.stage.2.chip.4"/>
          <p:cNvSpPr txBox="1"/>
          <p:nvPr/>
        </p:nvSpPr>
        <p:spPr>
          <a:xfrm>
            <a:off x="3593592" y="448970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Lineage capture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lot.stage.3.icon"/>
          <p:cNvSpPr/>
          <p:nvPr/>
        </p:nvSpPr>
        <p:spPr>
          <a:xfrm>
            <a:off x="6419088" y="30540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05" name="struct.stage.3.chip.1"/>
          <p:cNvSpPr/>
          <p:nvPr/>
        </p:nvSpPr>
        <p:spPr>
          <a:xfrm>
            <a:off x="6510528" y="352958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6" name="slot.stage.3.chip.1"/>
          <p:cNvSpPr txBox="1"/>
          <p:nvPr/>
        </p:nvSpPr>
        <p:spPr>
          <a:xfrm>
            <a:off x="6510528" y="352958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Feature store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struct.stage.3.chip.2"/>
          <p:cNvSpPr/>
          <p:nvPr/>
        </p:nvSpPr>
        <p:spPr>
          <a:xfrm>
            <a:off x="6510528" y="384962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8" name="slot.stage.3.chip.2"/>
          <p:cNvSpPr txBox="1"/>
          <p:nvPr/>
        </p:nvSpPr>
        <p:spPr>
          <a:xfrm>
            <a:off x="6510528" y="384962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Forecast models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struct.stage.3.chip.3"/>
          <p:cNvSpPr/>
          <p:nvPr/>
        </p:nvSpPr>
        <p:spPr>
          <a:xfrm>
            <a:off x="6510528" y="416966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10" name="slot.stage.3.chip.3"/>
          <p:cNvSpPr txBox="1"/>
          <p:nvPr/>
        </p:nvSpPr>
        <p:spPr>
          <a:xfrm>
            <a:off x="6510528" y="416966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Anomaly alerts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truct.stage.3.chip.4"/>
          <p:cNvSpPr/>
          <p:nvPr/>
        </p:nvSpPr>
        <p:spPr>
          <a:xfrm>
            <a:off x="6510528" y="448970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12" name="slot.stage.3.chip.4"/>
          <p:cNvSpPr txBox="1"/>
          <p:nvPr/>
        </p:nvSpPr>
        <p:spPr>
          <a:xfrm>
            <a:off x="6510528" y="448970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 registry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slot.stage.4.icon"/>
          <p:cNvSpPr/>
          <p:nvPr/>
        </p:nvSpPr>
        <p:spPr>
          <a:xfrm>
            <a:off x="9336024" y="30540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14" name="struct.stage.4.chip.1"/>
          <p:cNvSpPr/>
          <p:nvPr/>
        </p:nvSpPr>
        <p:spPr>
          <a:xfrm>
            <a:off x="9427464" y="352958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15" name="slot.stage.4.chip.1"/>
          <p:cNvSpPr txBox="1"/>
          <p:nvPr/>
        </p:nvSpPr>
        <p:spPr>
          <a:xfrm>
            <a:off x="9427464" y="352958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Metrics layer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truct.stage.4.chip.2"/>
          <p:cNvSpPr/>
          <p:nvPr/>
        </p:nvSpPr>
        <p:spPr>
          <a:xfrm>
            <a:off x="9427464" y="384962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17" name="slot.stage.4.chip.2"/>
          <p:cNvSpPr txBox="1"/>
          <p:nvPr/>
        </p:nvSpPr>
        <p:spPr>
          <a:xfrm>
            <a:off x="9427464" y="384962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Self-service views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struct.stage.4.chip.3"/>
          <p:cNvSpPr/>
          <p:nvPr/>
        </p:nvSpPr>
        <p:spPr>
          <a:xfrm>
            <a:off x="9427464" y="416966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19" name="slot.stage.4.chip.3"/>
          <p:cNvSpPr txBox="1"/>
          <p:nvPr/>
        </p:nvSpPr>
        <p:spPr>
          <a:xfrm>
            <a:off x="9427464" y="416966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Access policies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truct.stage.4.chip.4"/>
          <p:cNvSpPr/>
          <p:nvPr/>
        </p:nvSpPr>
        <p:spPr>
          <a:xfrm>
            <a:off x="9427464" y="4489704"/>
            <a:ext cx="2093976" cy="256032"/>
          </a:xfrm>
          <a:prstGeom prst="roundRect">
            <a:avLst>
              <a:gd name="adj" fmla="val 14285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21" name="slot.stage.4.chip.4"/>
          <p:cNvSpPr txBox="1"/>
          <p:nvPr/>
        </p:nvSpPr>
        <p:spPr>
          <a:xfrm>
            <a:off x="9427464" y="4489704"/>
            <a:ext cx="2093976" cy="256032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Usage audit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slot.enabler.1.icon"/>
          <p:cNvSpPr/>
          <p:nvPr/>
        </p:nvSpPr>
        <p:spPr>
          <a:xfrm>
            <a:off x="747532" y="5715050"/>
            <a:ext cx="261177" cy="26117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9000" y="14000"/>
                </a:moveTo>
                <a:lnTo>
                  <a:pt x="11000" y="16000"/>
                </a:lnTo>
                <a:lnTo>
                  <a:pt x="15000" y="12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123" name="slot.enabler.2.icon"/>
          <p:cNvSpPr/>
          <p:nvPr/>
        </p:nvSpPr>
        <p:spPr>
          <a:xfrm>
            <a:off x="4517504" y="5715050"/>
            <a:ext cx="261177" cy="26117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671" y="4136"/>
                </a:moveTo>
                <a:cubicBezTo>
                  <a:pt x="9785" y="2935"/>
                  <a:pt x="10794" y="2017"/>
                  <a:pt x="12000" y="2017"/>
                </a:cubicBezTo>
                <a:cubicBezTo>
                  <a:pt x="13207" y="2017"/>
                  <a:pt x="14216" y="2935"/>
                  <a:pt x="14330" y="4136"/>
                </a:cubicBezTo>
                <a:cubicBezTo>
                  <a:pt x="14397" y="4896"/>
                  <a:pt x="14831" y="5575"/>
                  <a:pt x="15491" y="5957"/>
                </a:cubicBezTo>
                <a:cubicBezTo>
                  <a:pt x="16152" y="6338"/>
                  <a:pt x="16957" y="6373"/>
                  <a:pt x="17649" y="6051"/>
                </a:cubicBezTo>
                <a:cubicBezTo>
                  <a:pt x="18745" y="5553"/>
                  <a:pt x="20040" y="5969"/>
                  <a:pt x="20643" y="7011"/>
                </a:cubicBezTo>
                <a:cubicBezTo>
                  <a:pt x="21245" y="8054"/>
                  <a:pt x="20958" y="9383"/>
                  <a:pt x="19979" y="10084"/>
                </a:cubicBezTo>
                <a:cubicBezTo>
                  <a:pt x="19355" y="10522"/>
                  <a:pt x="18983" y="11237"/>
                  <a:pt x="18983" y="11999"/>
                </a:cubicBezTo>
                <a:cubicBezTo>
                  <a:pt x="18983" y="12762"/>
                  <a:pt x="19355" y="13477"/>
                  <a:pt x="19979" y="13915"/>
                </a:cubicBezTo>
                <a:cubicBezTo>
                  <a:pt x="20958" y="14616"/>
                  <a:pt x="21245" y="15945"/>
                  <a:pt x="20643" y="16988"/>
                </a:cubicBezTo>
                <a:cubicBezTo>
                  <a:pt x="20040" y="18030"/>
                  <a:pt x="18745" y="18446"/>
                  <a:pt x="17649" y="17948"/>
                </a:cubicBezTo>
                <a:cubicBezTo>
                  <a:pt x="16957" y="17626"/>
                  <a:pt x="16152" y="17661"/>
                  <a:pt x="15491" y="18042"/>
                </a:cubicBezTo>
                <a:cubicBezTo>
                  <a:pt x="14831" y="18424"/>
                  <a:pt x="14397" y="19103"/>
                  <a:pt x="14330" y="19863"/>
                </a:cubicBezTo>
                <a:cubicBezTo>
                  <a:pt x="14216" y="21064"/>
                  <a:pt x="13207" y="21982"/>
                  <a:pt x="12001" y="21982"/>
                </a:cubicBezTo>
                <a:cubicBezTo>
                  <a:pt x="10794" y="21982"/>
                  <a:pt x="9785" y="21064"/>
                  <a:pt x="9671" y="19863"/>
                </a:cubicBezTo>
                <a:cubicBezTo>
                  <a:pt x="9604" y="19103"/>
                  <a:pt x="9170" y="18423"/>
                  <a:pt x="8509" y="18042"/>
                </a:cubicBezTo>
                <a:cubicBezTo>
                  <a:pt x="7848" y="17660"/>
                  <a:pt x="7043" y="17625"/>
                  <a:pt x="6351" y="17948"/>
                </a:cubicBezTo>
                <a:cubicBezTo>
                  <a:pt x="5255" y="18446"/>
                  <a:pt x="3960" y="18030"/>
                  <a:pt x="3357" y="16988"/>
                </a:cubicBezTo>
                <a:cubicBezTo>
                  <a:pt x="2755" y="15945"/>
                  <a:pt x="3042" y="14616"/>
                  <a:pt x="4021" y="13915"/>
                </a:cubicBezTo>
                <a:cubicBezTo>
                  <a:pt x="4645" y="13477"/>
                  <a:pt x="5017" y="12762"/>
                  <a:pt x="5017" y="11999"/>
                </a:cubicBezTo>
                <a:cubicBezTo>
                  <a:pt x="5017" y="11237"/>
                  <a:pt x="4645" y="10522"/>
                  <a:pt x="4021" y="10084"/>
                </a:cubicBezTo>
                <a:cubicBezTo>
                  <a:pt x="3044" y="9383"/>
                  <a:pt x="2757" y="8054"/>
                  <a:pt x="3359" y="7013"/>
                </a:cubicBezTo>
                <a:cubicBezTo>
                  <a:pt x="3961" y="5971"/>
                  <a:pt x="5254" y="5555"/>
                  <a:pt x="6350" y="6051"/>
                </a:cubicBezTo>
                <a:cubicBezTo>
                  <a:pt x="7042" y="6373"/>
                  <a:pt x="7847" y="6338"/>
                  <a:pt x="8508" y="5957"/>
                </a:cubicBezTo>
                <a:cubicBezTo>
                  <a:pt x="9168" y="5575"/>
                  <a:pt x="9602" y="4896"/>
                  <a:pt x="9669" y="4136"/>
                </a:cubicBezTo>
                <a:moveTo>
                  <a:pt x="15000" y="12000"/>
                </a:moveTo>
                <a:cubicBezTo>
                  <a:pt x="15000" y="13657"/>
                  <a:pt x="13657" y="15000"/>
                  <a:pt x="12000" y="15000"/>
                </a:cubicBezTo>
                <a:cubicBezTo>
                  <a:pt x="10343" y="15000"/>
                  <a:pt x="9000" y="13657"/>
                  <a:pt x="9000" y="12000"/>
                </a:cubicBezTo>
                <a:cubicBezTo>
                  <a:pt x="9000" y="10343"/>
                  <a:pt x="10343" y="9000"/>
                  <a:pt x="12000" y="9000"/>
                </a:cubicBezTo>
                <a:cubicBezTo>
                  <a:pt x="13657" y="9000"/>
                  <a:pt x="15000" y="10343"/>
                  <a:pt x="15000" y="12000"/>
                </a:cubicBezTo>
                <a:close/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124" name="slot.enabler.3.icon"/>
          <p:cNvSpPr/>
          <p:nvPr/>
        </p:nvSpPr>
        <p:spPr>
          <a:xfrm>
            <a:off x="8287478" y="5715050"/>
            <a:ext cx="261177" cy="26117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maturity-model:rising-curve-foundations-rail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338328" y="256032"/>
            <a:ext cx="11512296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Finance value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climbs fastest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once teams move past automated posting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plot"/>
          <p:cNvSpPr/>
          <p:nvPr/>
        </p:nvSpPr>
        <p:spPr>
          <a:xfrm>
            <a:off x="1319906" y="1110739"/>
            <a:ext cx="8601785" cy="514788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" name="struct.axis.y"/>
          <p:cNvCxnSpPr/>
          <p:nvPr/>
        </p:nvCxnSpPr>
        <p:spPr>
          <a:xfrm rot="10800000">
            <a:off x="1319907" y="1115817"/>
            <a:ext cx="0" cy="5102102"/>
          </a:xfrm>
          <a:prstGeom prst="straightConnector1">
            <a:avLst/>
          </a:prstGeom>
          <a:noFill/>
          <a:ln cap="flat" cmpd="sng" w="14300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cxnSp>
        <p:nvCxnSpPr>
          <p:cNvPr id="5" name="struct.axis.x"/>
          <p:cNvCxnSpPr/>
          <p:nvPr/>
        </p:nvCxnSpPr>
        <p:spPr>
          <a:xfrm>
            <a:off x="1312258" y="6221185"/>
            <a:ext cx="8714582" cy="0"/>
          </a:xfrm>
          <a:prstGeom prst="straightConnector1">
            <a:avLst/>
          </a:prstGeom>
          <a:noFill/>
          <a:ln cap="flat" cmpd="sng" w="14300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6" name="slot.marker"/>
          <p:cNvSpPr txBox="1"/>
          <p:nvPr/>
        </p:nvSpPr>
        <p:spPr>
          <a:xfrm>
            <a:off x="4822136" y="5266925"/>
            <a:ext cx="1570506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Most teams today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axis.y.label"/>
          <p:cNvSpPr txBox="1"/>
          <p:nvPr/>
        </p:nvSpPr>
        <p:spPr>
          <a:xfrm flipH="1" rot="-5398089">
            <a:off x="-685800" y="3511420"/>
            <a:ext cx="2377440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Value to the business</a:t>
            </a:r>
            <a:endParaRPr lang="en-US" sz="1050" b="1" i="0" kern="0"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axis.y.tick.4"/>
          <p:cNvSpPr txBox="1"/>
          <p:nvPr/>
        </p:nvSpPr>
        <p:spPr>
          <a:xfrm>
            <a:off x="676656" y="5581182"/>
            <a:ext cx="603504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27000" lIns="27000" spcFirstLastPara="1" rIns="27000" wrap="square" tIns="2700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Low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axis.y.tick.3"/>
          <p:cNvSpPr txBox="1"/>
          <p:nvPr/>
        </p:nvSpPr>
        <p:spPr>
          <a:xfrm>
            <a:off x="676656" y="4099680"/>
            <a:ext cx="603504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27000" lIns="27000" spcFirstLastPara="1" rIns="27000" wrap="square" tIns="2700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Medium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slot.axis.y.tick.2"/>
          <p:cNvSpPr txBox="1"/>
          <p:nvPr/>
        </p:nvSpPr>
        <p:spPr>
          <a:xfrm>
            <a:off x="676656" y="2618178"/>
            <a:ext cx="603504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27000" lIns="27000" spcFirstLastPara="1" rIns="27000" wrap="square" tIns="2700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High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axis.y.tick.1"/>
          <p:cNvSpPr txBox="1"/>
          <p:nvPr/>
        </p:nvSpPr>
        <p:spPr>
          <a:xfrm>
            <a:off x="676656" y="1136676"/>
            <a:ext cx="603504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27000" lIns="27000" spcFirstLastPara="1" rIns="27000" wrap="square" tIns="27000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Highest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truct.rail"/>
          <p:cNvSpPr/>
          <p:nvPr/>
        </p:nvSpPr>
        <p:spPr>
          <a:xfrm>
            <a:off x="10021824" y="1115817"/>
            <a:ext cx="1828800" cy="5102102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struct.curve"/>
          <p:cNvSpPr/>
          <p:nvPr/>
        </p:nvSpPr>
        <p:spPr>
          <a:xfrm>
            <a:off x="1318566" y="1613094"/>
            <a:ext cx="8601544" cy="3561106"/>
          </a:xfrm>
          <a:custGeom>
            <a:rect b="b" l="l" r="r" t="t"/>
            <a:pathLst>
              <a:path extrusionOk="0" h="79923" w="181510">
                <a:moveTo>
                  <a:pt x="0" y="79740"/>
                </a:moveTo>
                <a:cubicBezTo>
                  <a:pt x="8077" y="79006"/>
                  <a:pt x="26140" y="81943"/>
                  <a:pt x="48462" y="75335"/>
                </a:cubicBezTo>
                <a:cubicBezTo>
                  <a:pt x="70784" y="68727"/>
                  <a:pt x="111755" y="52646"/>
                  <a:pt x="133930" y="40090"/>
                </a:cubicBezTo>
                <a:cubicBezTo>
                  <a:pt x="156105" y="27534"/>
                  <a:pt x="173580" y="6682"/>
                  <a:pt x="181510" y="0"/>
                </a:cubicBezTo>
              </a:path>
            </a:pathLst>
          </a:custGeom>
          <a:noFill/>
          <a:ln cap="flat" cmpd="sng" w="13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9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" name="struct.fence.1"/>
          <p:cNvCxnSpPr/>
          <p:nvPr/>
        </p:nvCxnSpPr>
        <p:spPr>
          <a:xfrm>
            <a:off x="3114470" y="5185283"/>
            <a:ext cx="0" cy="745194"/>
          </a:xfrm>
          <a:prstGeom prst="straightConnector1">
            <a:avLst/>
          </a:prstGeom>
          <a:noFill/>
          <a:ln cap="rnd" cmpd="sng" w="9525">
            <a:solidFill>
              <a:schemeClr val="bg1">
                <a:lumMod val="5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5" name="struct.fence.2"/>
          <p:cNvCxnSpPr/>
          <p:nvPr/>
        </p:nvCxnSpPr>
        <p:spPr>
          <a:xfrm>
            <a:off x="4776417" y="4777201"/>
            <a:ext cx="0" cy="1153275"/>
          </a:xfrm>
          <a:prstGeom prst="straightConnector1">
            <a:avLst/>
          </a:prstGeom>
          <a:noFill/>
          <a:ln cap="rnd" cmpd="sng" w="9525">
            <a:solidFill>
              <a:schemeClr val="bg1">
                <a:lumMod val="5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6" name="struct.fence.3"/>
          <p:cNvCxnSpPr/>
          <p:nvPr/>
        </p:nvCxnSpPr>
        <p:spPr>
          <a:xfrm>
            <a:off x="6438363" y="4179614"/>
            <a:ext cx="0" cy="1750863"/>
          </a:xfrm>
          <a:prstGeom prst="straightConnector1">
            <a:avLst/>
          </a:prstGeom>
          <a:noFill/>
          <a:ln cap="rnd" cmpd="sng" w="9525">
            <a:solidFill>
              <a:schemeClr val="bg1">
                <a:lumMod val="5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7" name="struct.fence.4"/>
          <p:cNvCxnSpPr/>
          <p:nvPr/>
        </p:nvCxnSpPr>
        <p:spPr>
          <a:xfrm>
            <a:off x="8100309" y="3429417"/>
            <a:ext cx="0" cy="2501060"/>
          </a:xfrm>
          <a:prstGeom prst="straightConnector1">
            <a:avLst/>
          </a:prstGeom>
          <a:noFill/>
          <a:ln cap="rnd" cmpd="sng" w="9525">
            <a:solidFill>
              <a:schemeClr val="bg1">
                <a:lumMod val="5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sp>
        <p:nvSpPr>
          <p:cNvPr id="18" name="slot.level.1.num"/>
          <p:cNvSpPr/>
          <p:nvPr/>
        </p:nvSpPr>
        <p:spPr>
          <a:xfrm>
            <a:off x="2139696" y="4994745"/>
            <a:ext cx="274320" cy="274320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level.1.label"/>
          <p:cNvSpPr txBox="1"/>
          <p:nvPr/>
        </p:nvSpPr>
        <p:spPr>
          <a:xfrm>
            <a:off x="1536192" y="5333073"/>
            <a:ext cx="14813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Slow close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level.1.body"/>
          <p:cNvSpPr txBox="1"/>
          <p:nvPr/>
        </p:nvSpPr>
        <p:spPr>
          <a:xfrm>
            <a:off x="1536192" y="5570817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Errors only surface late in the review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level.2.num"/>
          <p:cNvSpPr/>
          <p:nvPr/>
        </p:nvSpPr>
        <p:spPr>
          <a:xfrm>
            <a:off x="3840479" y="4707075"/>
            <a:ext cx="274320" cy="274320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level.2.label"/>
          <p:cNvSpPr txBox="1"/>
          <p:nvPr/>
        </p:nvSpPr>
        <p:spPr>
          <a:xfrm>
            <a:off x="3236975" y="5045403"/>
            <a:ext cx="14813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Fewer errors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lot.level.2.body"/>
          <p:cNvSpPr txBox="1"/>
          <p:nvPr/>
        </p:nvSpPr>
        <p:spPr>
          <a:xfrm>
            <a:off x="3236975" y="5283147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Staff still clear every exception by hand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lot.level.3.num"/>
          <p:cNvSpPr/>
          <p:nvPr/>
        </p:nvSpPr>
        <p:spPr>
          <a:xfrm>
            <a:off x="5468112" y="4160501"/>
            <a:ext cx="274320" cy="274320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level.3.label"/>
          <p:cNvSpPr txBox="1"/>
          <p:nvPr/>
        </p:nvSpPr>
        <p:spPr>
          <a:xfrm>
            <a:off x="4864608" y="4498829"/>
            <a:ext cx="14813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Faster close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level.3.body"/>
          <p:cNvSpPr txBox="1"/>
          <p:nvPr/>
        </p:nvSpPr>
        <p:spPr>
          <a:xfrm>
            <a:off x="4864608" y="4736573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Exceptions queue for an analyst to clear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level.4.num"/>
          <p:cNvSpPr/>
          <p:nvPr/>
        </p:nvSpPr>
        <p:spPr>
          <a:xfrm>
            <a:off x="7132320" y="3455709"/>
            <a:ext cx="274320" cy="274320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level.4.label"/>
          <p:cNvSpPr txBox="1"/>
          <p:nvPr/>
        </p:nvSpPr>
        <p:spPr>
          <a:xfrm>
            <a:off x="6528816" y="3794037"/>
            <a:ext cx="14813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Earlier insight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level.4.body"/>
          <p:cNvSpPr txBox="1"/>
          <p:nvPr/>
        </p:nvSpPr>
        <p:spPr>
          <a:xfrm>
            <a:off x="6528816" y="4031781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Analysts act on model advice each day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level.5.num"/>
          <p:cNvSpPr/>
          <p:nvPr/>
        </p:nvSpPr>
        <p:spPr>
          <a:xfrm>
            <a:off x="8787384" y="2348179"/>
            <a:ext cx="274320" cy="274320"/>
          </a:xfrm>
          <a:prstGeom prst="ellipse">
            <a:avLst/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level.5.label"/>
          <p:cNvSpPr txBox="1"/>
          <p:nvPr/>
        </p:nvSpPr>
        <p:spPr>
          <a:xfrm>
            <a:off x="8321040" y="3052267"/>
            <a:ext cx="1481328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Continuous close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lot.level.5.body"/>
          <p:cNvSpPr txBox="1"/>
          <p:nvPr/>
        </p:nvSpPr>
        <p:spPr>
          <a:xfrm>
            <a:off x="8321040" y="3290011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People govern the policy and every limit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lot.level.1.head"/>
          <p:cNvSpPr/>
          <p:nvPr/>
        </p:nvSpPr>
        <p:spPr>
          <a:xfrm>
            <a:off x="1444752" y="4034625"/>
            <a:ext cx="1481328" cy="384048"/>
          </a:xfrm>
          <a:prstGeom prst="roundRect">
            <a:avLst>
              <a:gd fmla="val 16667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27432" lIns="384048" spcFirstLastPara="1" rIns="36576" wrap="square" tIns="27432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Manual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level.1.desc"/>
          <p:cNvSpPr txBox="1"/>
          <p:nvPr/>
        </p:nvSpPr>
        <p:spPr>
          <a:xfrm>
            <a:off x="1444752" y="4455249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Staff key and check every entry by hand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level.2.head"/>
          <p:cNvSpPr/>
          <p:nvPr/>
        </p:nvSpPr>
        <p:spPr>
          <a:xfrm>
            <a:off x="3145535" y="3746955"/>
            <a:ext cx="1481328" cy="384048"/>
          </a:xfrm>
          <a:prstGeom prst="roundRect">
            <a:avLst>
              <a:gd fmla="val 16667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27432" lIns="384048" spcFirstLastPara="1" rIns="36576" wrap="square" tIns="27432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Assisted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level.2.desc"/>
          <p:cNvSpPr txBox="1"/>
          <p:nvPr/>
        </p:nvSpPr>
        <p:spPr>
          <a:xfrm>
            <a:off x="3145535" y="4167579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Rules flag gaps for staff to review and fix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level.3.head"/>
          <p:cNvSpPr/>
          <p:nvPr/>
        </p:nvSpPr>
        <p:spPr>
          <a:xfrm>
            <a:off x="4773168" y="3200381"/>
            <a:ext cx="1481328" cy="384048"/>
          </a:xfrm>
          <a:prstGeom prst="roundRect">
            <a:avLst>
              <a:gd fmla="val 16667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27432" lIns="384048" spcFirstLastPara="1" rIns="36576" wrap="square" tIns="27432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Automated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level.3.desc"/>
          <p:cNvSpPr txBox="1"/>
          <p:nvPr/>
        </p:nvSpPr>
        <p:spPr>
          <a:xfrm>
            <a:off x="4773168" y="3621005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Bots post routine entries end to end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level.4.head"/>
          <p:cNvSpPr/>
          <p:nvPr/>
        </p:nvSpPr>
        <p:spPr>
          <a:xfrm>
            <a:off x="6437376" y="2495589"/>
            <a:ext cx="1481328" cy="384048"/>
          </a:xfrm>
          <a:prstGeom prst="roundRect">
            <a:avLst>
              <a:gd fmla="val 16667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27432" lIns="384048" spcFirstLastPara="1" rIns="36576" wrap="square" tIns="27432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Augmented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level.4.desc"/>
          <p:cNvSpPr txBox="1"/>
          <p:nvPr/>
        </p:nvSpPr>
        <p:spPr>
          <a:xfrm>
            <a:off x="6437376" y="2916213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Models forecast and suggest next steps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level.5.head"/>
          <p:cNvSpPr/>
          <p:nvPr/>
        </p:nvSpPr>
        <p:spPr>
          <a:xfrm>
            <a:off x="8092440" y="1388059"/>
            <a:ext cx="1481328" cy="384048"/>
          </a:xfrm>
          <a:prstGeom prst="roundRect">
            <a:avLst>
              <a:gd fmla="val 16667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27432" lIns="384048" spcFirstLastPara="1" rIns="36576" wrap="square" tIns="27432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Autonomous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level.5.desc"/>
          <p:cNvSpPr txBox="1"/>
          <p:nvPr/>
        </p:nvSpPr>
        <p:spPr>
          <a:xfrm>
            <a:off x="8092440" y="1808683"/>
            <a:ext cx="1481328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27000" lIns="27000" spcFirstLastPara="1" rIns="27000" wrap="square" tIns="270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Agents run the close within set limits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rail.item.1"/>
          <p:cNvSpPr/>
          <p:nvPr/>
        </p:nvSpPr>
        <p:spPr>
          <a:xfrm>
            <a:off x="10113264" y="1865625"/>
            <a:ext cx="1645920" cy="760730"/>
          </a:xfrm>
          <a:prstGeom prst="roundRect">
            <a:avLst>
              <a:gd fmla="val 6010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4864" lIns="438912" spcFirstLastPara="1" rIns="54864" wrap="square" tIns="54864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Controls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Every entry has an audit trail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rail.item.2"/>
          <p:cNvSpPr/>
          <p:nvPr/>
        </p:nvSpPr>
        <p:spPr>
          <a:xfrm>
            <a:off x="10113264" y="2736084"/>
            <a:ext cx="1645920" cy="760730"/>
          </a:xfrm>
          <a:prstGeom prst="roundRect">
            <a:avLst>
              <a:gd fmla="val 6010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4864" lIns="438912" spcFirstLastPara="1" rIns="54864" wrap="square" tIns="54864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Oversight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People approve agent limits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rail.item.3"/>
          <p:cNvSpPr/>
          <p:nvPr/>
        </p:nvSpPr>
        <p:spPr>
          <a:xfrm>
            <a:off x="10113264" y="3606543"/>
            <a:ext cx="1645920" cy="760730"/>
          </a:xfrm>
          <a:prstGeom prst="roundRect">
            <a:avLst>
              <a:gd fmla="val 6010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4864" lIns="438912" spcFirstLastPara="1" rIns="54864" wrap="square" tIns="54864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Integration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ledger and data model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rail.item.4"/>
          <p:cNvSpPr/>
          <p:nvPr/>
        </p:nvSpPr>
        <p:spPr>
          <a:xfrm>
            <a:off x="10113264" y="4477002"/>
            <a:ext cx="1645920" cy="760730"/>
          </a:xfrm>
          <a:prstGeom prst="roundRect">
            <a:avLst>
              <a:gd fmla="val 6010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4864" lIns="438912" spcFirstLastPara="1" rIns="54864" wrap="square" tIns="54864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Data quality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Master data cleaned monthly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rail.item.5"/>
          <p:cNvSpPr/>
          <p:nvPr/>
        </p:nvSpPr>
        <p:spPr>
          <a:xfrm>
            <a:off x="10113264" y="5347461"/>
            <a:ext cx="1645920" cy="760730"/>
          </a:xfrm>
          <a:prstGeom prst="roundRect">
            <a:avLst>
              <a:gd fmla="val 6010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4864" lIns="438912" spcFirstLastPara="1" rIns="54864" wrap="square" tIns="54864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Skills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Analysts trained for each level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level.1.icon"/>
          <p:cNvSpPr/>
          <p:nvPr/>
        </p:nvSpPr>
        <p:spPr>
          <a:xfrm>
            <a:off x="1545336" y="4089489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49" name="slot.level.2.icon"/>
          <p:cNvSpPr/>
          <p:nvPr/>
        </p:nvSpPr>
        <p:spPr>
          <a:xfrm>
            <a:off x="3246120" y="3801819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50" name="slot.level.3.icon"/>
          <p:cNvSpPr/>
          <p:nvPr/>
        </p:nvSpPr>
        <p:spPr>
          <a:xfrm>
            <a:off x="4873752" y="325524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3000"/>
                </a:moveTo>
                <a:lnTo>
                  <a:pt x="9000" y="3000"/>
                </a:lnTo>
                <a:cubicBezTo>
                  <a:pt x="10105" y="3000"/>
                  <a:pt x="11000" y="3895"/>
                  <a:pt x="11000" y="5000"/>
                </a:cubicBezTo>
                <a:lnTo>
                  <a:pt x="11000" y="9000"/>
                </a:lnTo>
                <a:cubicBezTo>
                  <a:pt x="11000" y="10105"/>
                  <a:pt x="10105" y="11000"/>
                  <a:pt x="9000" y="11000"/>
                </a:cubicBezTo>
                <a:lnTo>
                  <a:pt x="5000" y="11000"/>
                </a:lnTo>
                <a:cubicBezTo>
                  <a:pt x="3895" y="11000"/>
                  <a:pt x="3000" y="10105"/>
                  <a:pt x="3000" y="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7000" y="11000"/>
                </a:moveTo>
                <a:lnTo>
                  <a:pt x="7000" y="15000"/>
                </a:lnTo>
                <a:cubicBezTo>
                  <a:pt x="7000" y="16105"/>
                  <a:pt x="7895" y="17000"/>
                  <a:pt x="9000" y="17000"/>
                </a:cubicBezTo>
                <a:lnTo>
                  <a:pt x="13000" y="17000"/>
                </a:lnTo>
                <a:moveTo>
                  <a:pt x="15000" y="13000"/>
                </a:moveTo>
                <a:lnTo>
                  <a:pt x="19000" y="13000"/>
                </a:lnTo>
                <a:cubicBezTo>
                  <a:pt x="20105" y="13000"/>
                  <a:pt x="21000" y="13895"/>
                  <a:pt x="21000" y="1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5000" y="21000"/>
                </a:lnTo>
                <a:cubicBezTo>
                  <a:pt x="13895" y="21000"/>
                  <a:pt x="13000" y="20105"/>
                  <a:pt x="13000" y="19000"/>
                </a:cubicBezTo>
                <a:lnTo>
                  <a:pt x="13000" y="15000"/>
                </a:lnTo>
                <a:cubicBezTo>
                  <a:pt x="13000" y="13895"/>
                  <a:pt x="13895" y="13000"/>
                  <a:pt x="15000" y="13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51" name="slot.level.4.icon"/>
          <p:cNvSpPr/>
          <p:nvPr/>
        </p:nvSpPr>
        <p:spPr>
          <a:xfrm>
            <a:off x="6537960" y="255045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52" name="slot.level.5.icon"/>
          <p:cNvSpPr/>
          <p:nvPr/>
        </p:nvSpPr>
        <p:spPr>
          <a:xfrm>
            <a:off x="8193024" y="1442923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53" name="slot.rail.icon"/>
          <p:cNvSpPr/>
          <p:nvPr/>
        </p:nvSpPr>
        <p:spPr>
          <a:xfrm>
            <a:off x="10149840" y="127126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54" name="slot.rail.head"/>
          <p:cNvSpPr txBox="1"/>
          <p:nvPr/>
        </p:nvSpPr>
        <p:spPr>
          <a:xfrm>
            <a:off x="10588752" y="1207258"/>
            <a:ext cx="1188720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Foundations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for every level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rail.item.1.icon"/>
          <p:cNvSpPr/>
          <p:nvPr/>
        </p:nvSpPr>
        <p:spPr>
          <a:xfrm>
            <a:off x="10195560" y="209968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56" name="slot.rail.item.2.icon"/>
          <p:cNvSpPr/>
          <p:nvPr/>
        </p:nvSpPr>
        <p:spPr>
          <a:xfrm>
            <a:off x="10195560" y="297014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57" name="slot.rail.item.3.icon"/>
          <p:cNvSpPr/>
          <p:nvPr/>
        </p:nvSpPr>
        <p:spPr>
          <a:xfrm>
            <a:off x="10195560" y="384060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970" y="12920"/>
                </a:moveTo>
                <a:cubicBezTo>
                  <a:pt x="2369" y="13281"/>
                  <a:pt x="2002" y="13929"/>
                  <a:pt x="2000" y="14630"/>
                </a:cubicBezTo>
                <a:lnTo>
                  <a:pt x="2000" y="17870"/>
                </a:lnTo>
                <a:cubicBezTo>
                  <a:pt x="2002" y="18571"/>
                  <a:pt x="2369" y="19219"/>
                  <a:pt x="2970" y="19580"/>
                </a:cubicBezTo>
                <a:lnTo>
                  <a:pt x="5970" y="21380"/>
                </a:lnTo>
                <a:cubicBezTo>
                  <a:pt x="6604" y="21761"/>
                  <a:pt x="7396" y="21761"/>
                  <a:pt x="8030" y="21380"/>
                </a:cubicBezTo>
                <a:lnTo>
                  <a:pt x="12000" y="19000"/>
                </a:lnTo>
                <a:lnTo>
                  <a:pt x="12000" y="13500"/>
                </a:lnTo>
                <a:lnTo>
                  <a:pt x="7000" y="10500"/>
                </a:lnTo>
                <a:lnTo>
                  <a:pt x="2970" y="12920"/>
                </a:lnTo>
                <a:close/>
                <a:moveTo>
                  <a:pt x="7000" y="16500"/>
                </a:moveTo>
                <a:lnTo>
                  <a:pt x="2260" y="13650"/>
                </a:lnTo>
                <a:moveTo>
                  <a:pt x="7000" y="16500"/>
                </a:moveTo>
                <a:lnTo>
                  <a:pt x="12000" y="13500"/>
                </a:lnTo>
                <a:moveTo>
                  <a:pt x="7000" y="16500"/>
                </a:moveTo>
                <a:lnTo>
                  <a:pt x="7000" y="21670"/>
                </a:lnTo>
                <a:moveTo>
                  <a:pt x="12000" y="13500"/>
                </a:moveTo>
                <a:lnTo>
                  <a:pt x="12000" y="19000"/>
                </a:lnTo>
                <a:lnTo>
                  <a:pt x="15970" y="21380"/>
                </a:lnTo>
                <a:cubicBezTo>
                  <a:pt x="16604" y="21761"/>
                  <a:pt x="17396" y="21761"/>
                  <a:pt x="18030" y="21380"/>
                </a:cubicBezTo>
                <a:lnTo>
                  <a:pt x="21030" y="19580"/>
                </a:lnTo>
                <a:cubicBezTo>
                  <a:pt x="21631" y="19219"/>
                  <a:pt x="21998" y="18571"/>
                  <a:pt x="22000" y="17870"/>
                </a:cubicBezTo>
                <a:lnTo>
                  <a:pt x="22000" y="14630"/>
                </a:lnTo>
                <a:cubicBezTo>
                  <a:pt x="21998" y="13929"/>
                  <a:pt x="21631" y="13281"/>
                  <a:pt x="21030" y="12920"/>
                </a:cubicBezTo>
                <a:lnTo>
                  <a:pt x="17000" y="10500"/>
                </a:lnTo>
                <a:lnTo>
                  <a:pt x="12000" y="13500"/>
                </a:lnTo>
                <a:close/>
                <a:moveTo>
                  <a:pt x="17000" y="16500"/>
                </a:moveTo>
                <a:lnTo>
                  <a:pt x="12000" y="13500"/>
                </a:lnTo>
                <a:moveTo>
                  <a:pt x="17000" y="16500"/>
                </a:moveTo>
                <a:lnTo>
                  <a:pt x="21740" y="13650"/>
                </a:lnTo>
                <a:moveTo>
                  <a:pt x="17000" y="16500"/>
                </a:moveTo>
                <a:lnTo>
                  <a:pt x="17000" y="21670"/>
                </a:lnTo>
                <a:moveTo>
                  <a:pt x="7970" y="4420"/>
                </a:moveTo>
                <a:cubicBezTo>
                  <a:pt x="7369" y="4781"/>
                  <a:pt x="7002" y="5429"/>
                  <a:pt x="7000" y="6130"/>
                </a:cubicBezTo>
                <a:lnTo>
                  <a:pt x="7000" y="10500"/>
                </a:lnTo>
                <a:lnTo>
                  <a:pt x="12000" y="13500"/>
                </a:lnTo>
                <a:lnTo>
                  <a:pt x="17000" y="10500"/>
                </a:lnTo>
                <a:lnTo>
                  <a:pt x="17000" y="6130"/>
                </a:lnTo>
                <a:cubicBezTo>
                  <a:pt x="16998" y="5429"/>
                  <a:pt x="16631" y="4781"/>
                  <a:pt x="16030" y="4420"/>
                </a:cubicBezTo>
                <a:lnTo>
                  <a:pt x="13030" y="2620"/>
                </a:lnTo>
                <a:cubicBezTo>
                  <a:pt x="12396" y="2239"/>
                  <a:pt x="11604" y="2239"/>
                  <a:pt x="10970" y="2620"/>
                </a:cubicBezTo>
                <a:lnTo>
                  <a:pt x="7970" y="4420"/>
                </a:lnTo>
                <a:close/>
                <a:moveTo>
                  <a:pt x="12000" y="8000"/>
                </a:moveTo>
                <a:lnTo>
                  <a:pt x="7260" y="5150"/>
                </a:lnTo>
                <a:moveTo>
                  <a:pt x="12000" y="8000"/>
                </a:moveTo>
                <a:lnTo>
                  <a:pt x="16740" y="5150"/>
                </a:lnTo>
                <a:moveTo>
                  <a:pt x="12000" y="13500"/>
                </a:moveTo>
                <a:lnTo>
                  <a:pt x="12000" y="8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58" name="slot.rail.item.4.icon"/>
          <p:cNvSpPr/>
          <p:nvPr/>
        </p:nvSpPr>
        <p:spPr>
          <a:xfrm>
            <a:off x="10195560" y="471106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59" name="slot.rail.item.5.icon"/>
          <p:cNvSpPr/>
          <p:nvPr/>
        </p:nvSpPr>
        <p:spPr>
          <a:xfrm>
            <a:off x="10195560" y="5581523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420" y="10922"/>
                </a:moveTo>
                <a:cubicBezTo>
                  <a:pt x="21786" y="10761"/>
                  <a:pt x="22020" y="10397"/>
                  <a:pt x="22016" y="9997"/>
                </a:cubicBezTo>
                <a:cubicBezTo>
                  <a:pt x="22012" y="9597"/>
                  <a:pt x="21770" y="9238"/>
                  <a:pt x="21401" y="9084"/>
                </a:cubicBezTo>
                <a:lnTo>
                  <a:pt x="12830" y="5180"/>
                </a:lnTo>
                <a:cubicBezTo>
                  <a:pt x="12303" y="4940"/>
                  <a:pt x="11697" y="4940"/>
                  <a:pt x="11170" y="5180"/>
                </a:cubicBezTo>
                <a:lnTo>
                  <a:pt x="2600" y="9080"/>
                </a:lnTo>
                <a:cubicBezTo>
                  <a:pt x="2236" y="9239"/>
                  <a:pt x="2001" y="9599"/>
                  <a:pt x="2001" y="9996"/>
                </a:cubicBezTo>
                <a:cubicBezTo>
                  <a:pt x="2001" y="10393"/>
                  <a:pt x="2236" y="10753"/>
                  <a:pt x="2600" y="10912"/>
                </a:cubicBezTo>
                <a:lnTo>
                  <a:pt x="11170" y="14820"/>
                </a:lnTo>
                <a:cubicBezTo>
                  <a:pt x="11697" y="15060"/>
                  <a:pt x="12303" y="15060"/>
                  <a:pt x="12830" y="14820"/>
                </a:cubicBezTo>
                <a:close/>
                <a:moveTo>
                  <a:pt x="22000" y="10000"/>
                </a:moveTo>
                <a:lnTo>
                  <a:pt x="22000" y="16000"/>
                </a:lnTo>
                <a:moveTo>
                  <a:pt x="6000" y="12500"/>
                </a:moveTo>
                <a:lnTo>
                  <a:pt x="6000" y="16000"/>
                </a:lnTo>
                <a:cubicBezTo>
                  <a:pt x="6000" y="17657"/>
                  <a:pt x="8686" y="19000"/>
                  <a:pt x="12000" y="19000"/>
                </a:cubicBezTo>
                <a:cubicBezTo>
                  <a:pt x="15314" y="19000"/>
                  <a:pt x="18000" y="17657"/>
                  <a:pt x="18000" y="16000"/>
                </a:cubicBezTo>
                <a:lnTo>
                  <a:pt x="18000" y="125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hased-roadmap:gated-rail-phase-columns-loop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338328" y="128016"/>
            <a:ext cx="11512296" cy="7863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Four phases take the first AI use case to scale in </a:t>
            </a: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40 weeks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" name="struct.rail"/>
          <p:cNvCxnSpPr/>
          <p:nvPr/>
        </p:nvCxnSpPr>
        <p:spPr>
          <a:xfrm>
            <a:off x="334954" y="1620987"/>
            <a:ext cx="11148921" cy="0"/>
          </a:xfrm>
          <a:prstGeom prst="straightConnector1">
            <a:avLst/>
          </a:prstGeom>
          <a:noFill/>
          <a:ln cap="flat" cmpd="sng" w="11900">
            <a:solidFill>
              <a:schemeClr val="accent1"/>
            </a:solidFill>
            <a:prstDash val="dash"/>
            <a:round/>
            <a:headEnd len="sm" w="sm" type="none"/>
            <a:tailEnd len="med" w="med" type="triangle"/>
          </a:ln>
          <a:effectLst/>
        </p:spPr>
      </p:cxnSp>
      <p:sp>
        <p:nvSpPr>
          <p:cNvPr id="4" name="struct.phase.1.disc"/>
          <p:cNvSpPr/>
          <p:nvPr/>
        </p:nvSpPr>
        <p:spPr>
          <a:xfrm>
            <a:off x="2239481" y="1429750"/>
            <a:ext cx="382390" cy="3823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" name="struct.phase.1.arrow"/>
          <p:cNvCxnSpPr/>
          <p:nvPr/>
        </p:nvCxnSpPr>
        <p:spPr>
          <a:xfrm>
            <a:off x="2430719" y="1191230"/>
            <a:ext cx="0" cy="22879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6" name="struct.phase.2.disc"/>
          <p:cNvSpPr/>
          <p:nvPr/>
        </p:nvSpPr>
        <p:spPr>
          <a:xfrm>
            <a:off x="4516318" y="1429750"/>
            <a:ext cx="382390" cy="3823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" name="struct.phase.2.arrow"/>
          <p:cNvCxnSpPr/>
          <p:nvPr/>
        </p:nvCxnSpPr>
        <p:spPr>
          <a:xfrm>
            <a:off x="4707557" y="1191230"/>
            <a:ext cx="0" cy="22879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8" name="struct.phase.3.disc"/>
          <p:cNvSpPr/>
          <p:nvPr/>
        </p:nvSpPr>
        <p:spPr>
          <a:xfrm>
            <a:off x="7287158" y="1429750"/>
            <a:ext cx="382390" cy="3823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struct.phase.3.arrow"/>
          <p:cNvCxnSpPr/>
          <p:nvPr/>
        </p:nvCxnSpPr>
        <p:spPr>
          <a:xfrm>
            <a:off x="7478396" y="1191230"/>
            <a:ext cx="0" cy="22879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10" name="struct.phase.4.disc"/>
          <p:cNvSpPr/>
          <p:nvPr/>
        </p:nvSpPr>
        <p:spPr>
          <a:xfrm>
            <a:off x="9569738" y="1429750"/>
            <a:ext cx="382390" cy="3823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" name="struct.phase.4.arrow"/>
          <p:cNvCxnSpPr/>
          <p:nvPr/>
        </p:nvCxnSpPr>
        <p:spPr>
          <a:xfrm>
            <a:off x="9760976" y="1191230"/>
            <a:ext cx="0" cy="22879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12" name="struct.target.1"/>
          <p:cNvSpPr/>
          <p:nvPr/>
        </p:nvSpPr>
        <p:spPr>
          <a:xfrm>
            <a:off x="11483993" y="1456400"/>
            <a:ext cx="329192" cy="329192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struct.target.2"/>
          <p:cNvSpPr/>
          <p:nvPr/>
        </p:nvSpPr>
        <p:spPr>
          <a:xfrm>
            <a:off x="11521076" y="1493483"/>
            <a:ext cx="255194" cy="255194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struct.target.3"/>
          <p:cNvSpPr/>
          <p:nvPr/>
        </p:nvSpPr>
        <p:spPr>
          <a:xfrm>
            <a:off x="11561715" y="1534122"/>
            <a:ext cx="173596" cy="173596"/>
          </a:xfrm>
          <a:prstGeom prst="ellipse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struct.target.4"/>
          <p:cNvSpPr/>
          <p:nvPr/>
        </p:nvSpPr>
        <p:spPr>
          <a:xfrm>
            <a:off x="11599179" y="1571586"/>
            <a:ext cx="98798" cy="98798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slot.start.when"/>
          <p:cNvSpPr/>
          <p:nvPr/>
        </p:nvSpPr>
        <p:spPr>
          <a:xfrm>
            <a:off x="438912" y="1243584"/>
            <a:ext cx="109728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0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phase.4.when"/>
          <p:cNvSpPr/>
          <p:nvPr/>
        </p:nvSpPr>
        <p:spPr>
          <a:xfrm>
            <a:off x="9303733" y="987552"/>
            <a:ext cx="9144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40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phase.3.when"/>
          <p:cNvSpPr/>
          <p:nvPr/>
        </p:nvSpPr>
        <p:spPr>
          <a:xfrm>
            <a:off x="7021153" y="987552"/>
            <a:ext cx="9144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26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phase.2.when"/>
          <p:cNvSpPr/>
          <p:nvPr/>
        </p:nvSpPr>
        <p:spPr>
          <a:xfrm>
            <a:off x="4250313" y="987552"/>
            <a:ext cx="9144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14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phase.1.when"/>
          <p:cNvSpPr/>
          <p:nvPr/>
        </p:nvSpPr>
        <p:spPr>
          <a:xfrm>
            <a:off x="1973475" y="987552"/>
            <a:ext cx="9144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Week 6</a:t>
            </a:r>
            <a:endParaRPr lang="en-US" sz="9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start.label"/>
          <p:cNvSpPr/>
          <p:nvPr/>
        </p:nvSpPr>
        <p:spPr>
          <a:xfrm>
            <a:off x="589788" y="1531620"/>
            <a:ext cx="1591056" cy="17373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Scope and sponsor agreed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truct.gate.1"/>
          <p:cNvSpPr/>
          <p:nvPr/>
        </p:nvSpPr>
        <p:spPr>
          <a:xfrm>
            <a:off x="419598" y="1552917"/>
            <a:ext cx="136397" cy="136397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struct.start.arrow"/>
          <p:cNvCxnSpPr/>
          <p:nvPr/>
        </p:nvCxnSpPr>
        <p:spPr>
          <a:xfrm>
            <a:off x="378527" y="1376856"/>
            <a:ext cx="0" cy="22879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24" name="struct.gate.2"/>
          <p:cNvSpPr/>
          <p:nvPr/>
        </p:nvSpPr>
        <p:spPr>
          <a:xfrm>
            <a:off x="3286017" y="1552917"/>
            <a:ext cx="136397" cy="136397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struct.gate.3"/>
          <p:cNvSpPr/>
          <p:nvPr/>
        </p:nvSpPr>
        <p:spPr>
          <a:xfrm>
            <a:off x="6033240" y="1552917"/>
            <a:ext cx="136397" cy="136397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struct.gate.4"/>
          <p:cNvSpPr/>
          <p:nvPr/>
        </p:nvSpPr>
        <p:spPr>
          <a:xfrm>
            <a:off x="8825901" y="1552917"/>
            <a:ext cx="136397" cy="136397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struct.list.1"/>
          <p:cNvSpPr/>
          <p:nvPr/>
        </p:nvSpPr>
        <p:spPr>
          <a:xfrm>
            <a:off x="334952" y="3561264"/>
            <a:ext cx="2569936" cy="12963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slot.list.1.item.1"/>
          <p:cNvSpPr/>
          <p:nvPr/>
        </p:nvSpPr>
        <p:spPr>
          <a:xfrm>
            <a:off x="747064" y="3608888"/>
            <a:ext cx="2048095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 source inventory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9" name="struct.list.1.rule.1"/>
          <p:cNvCxnSpPr/>
          <p:nvPr/>
        </p:nvCxnSpPr>
        <p:spPr>
          <a:xfrm>
            <a:off x="487665" y="3830115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30" name="slot.list.1.item.2"/>
          <p:cNvSpPr/>
          <p:nvPr/>
        </p:nvSpPr>
        <p:spPr>
          <a:xfrm>
            <a:off x="747064" y="3850303"/>
            <a:ext cx="2048095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Process maps for top flows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1" name="struct.list.1.rule.2"/>
          <p:cNvCxnSpPr/>
          <p:nvPr/>
        </p:nvCxnSpPr>
        <p:spPr>
          <a:xfrm>
            <a:off x="487665" y="4071530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32" name="slot.list.1.item.3"/>
          <p:cNvSpPr/>
          <p:nvPr/>
        </p:nvSpPr>
        <p:spPr>
          <a:xfrm>
            <a:off x="747064" y="4091719"/>
            <a:ext cx="2048095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Skills and role survey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3" name="struct.list.1.rule.3"/>
          <p:cNvCxnSpPr/>
          <p:nvPr/>
        </p:nvCxnSpPr>
        <p:spPr>
          <a:xfrm>
            <a:off x="487665" y="4312947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34" name="slot.list.1.item.4"/>
          <p:cNvSpPr/>
          <p:nvPr/>
        </p:nvSpPr>
        <p:spPr>
          <a:xfrm>
            <a:off x="747064" y="4333135"/>
            <a:ext cx="2048095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Value case per use case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5" name="struct.list.1.rule.4"/>
          <p:cNvCxnSpPr/>
          <p:nvPr/>
        </p:nvCxnSpPr>
        <p:spPr>
          <a:xfrm>
            <a:off x="487665" y="4554361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36" name="slot.list.1.item.5"/>
          <p:cNvSpPr/>
          <p:nvPr/>
        </p:nvSpPr>
        <p:spPr>
          <a:xfrm>
            <a:off x="747064" y="4574549"/>
            <a:ext cx="2048095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Shortlist of three pilots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list.2"/>
          <p:cNvSpPr/>
          <p:nvPr/>
        </p:nvSpPr>
        <p:spPr>
          <a:xfrm>
            <a:off x="3321146" y="3561264"/>
            <a:ext cx="2569936" cy="12963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slot.list.2.item.1"/>
          <p:cNvSpPr/>
          <p:nvPr/>
        </p:nvSpPr>
        <p:spPr>
          <a:xfrm>
            <a:off x="3722522" y="3608888"/>
            <a:ext cx="2058831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Working model on live data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9" name="struct.list.2.rule.1"/>
          <p:cNvCxnSpPr/>
          <p:nvPr/>
        </p:nvCxnSpPr>
        <p:spPr>
          <a:xfrm>
            <a:off x="3445682" y="3830115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0" name="slot.list.2.item.2"/>
          <p:cNvSpPr/>
          <p:nvPr/>
        </p:nvSpPr>
        <p:spPr>
          <a:xfrm>
            <a:off x="3722522" y="3850303"/>
            <a:ext cx="2058831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Control group comparison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1" name="struct.list.2.rule.2"/>
          <p:cNvCxnSpPr/>
          <p:nvPr/>
        </p:nvCxnSpPr>
        <p:spPr>
          <a:xfrm>
            <a:off x="3445682" y="4071530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2" name="slot.list.2.item.3"/>
          <p:cNvSpPr/>
          <p:nvPr/>
        </p:nvSpPr>
        <p:spPr>
          <a:xfrm>
            <a:off x="3722522" y="4091719"/>
            <a:ext cx="2058831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Five-measure scorecard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list.2.rule.3"/>
          <p:cNvCxnSpPr/>
          <p:nvPr/>
        </p:nvCxnSpPr>
        <p:spPr>
          <a:xfrm>
            <a:off x="3445682" y="4312947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4" name="slot.list.2.item.4"/>
          <p:cNvSpPr/>
          <p:nvPr/>
        </p:nvSpPr>
        <p:spPr>
          <a:xfrm>
            <a:off x="3722522" y="4333135"/>
            <a:ext cx="2058831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Two user feedback rounds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" name="struct.list.2.rule.4"/>
          <p:cNvCxnSpPr/>
          <p:nvPr/>
        </p:nvCxnSpPr>
        <p:spPr>
          <a:xfrm>
            <a:off x="3445682" y="4554361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46" name="slot.list.2.item.5"/>
          <p:cNvSpPr/>
          <p:nvPr/>
        </p:nvSpPr>
        <p:spPr>
          <a:xfrm>
            <a:off x="3722522" y="4574549"/>
            <a:ext cx="2058831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Go or stop decision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truct.list.3"/>
          <p:cNvSpPr/>
          <p:nvPr/>
        </p:nvSpPr>
        <p:spPr>
          <a:xfrm>
            <a:off x="6307341" y="3561264"/>
            <a:ext cx="2569936" cy="12963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slot.list.3.item.1"/>
          <p:cNvSpPr/>
          <p:nvPr/>
        </p:nvSpPr>
        <p:spPr>
          <a:xfrm>
            <a:off x="6699808" y="3608888"/>
            <a:ext cx="20677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Shared feature store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9" name="struct.list.3.rule.1"/>
          <p:cNvCxnSpPr/>
          <p:nvPr/>
        </p:nvCxnSpPr>
        <p:spPr>
          <a:xfrm>
            <a:off x="6420366" y="3830115"/>
            <a:ext cx="2339942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0" name="slot.list.3.item.2"/>
          <p:cNvSpPr/>
          <p:nvPr/>
        </p:nvSpPr>
        <p:spPr>
          <a:xfrm>
            <a:off x="6699808" y="3850303"/>
            <a:ext cx="20677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Automated release pipeline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" name="struct.list.3.rule.2"/>
          <p:cNvCxnSpPr/>
          <p:nvPr/>
        </p:nvCxnSpPr>
        <p:spPr>
          <a:xfrm>
            <a:off x="6420366" y="4071530"/>
            <a:ext cx="2339942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2" name="slot.list.3.item.3"/>
          <p:cNvSpPr/>
          <p:nvPr/>
        </p:nvSpPr>
        <p:spPr>
          <a:xfrm>
            <a:off x="6699808" y="4091719"/>
            <a:ext cx="20677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 risk controls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3" name="struct.list.3.rule.3"/>
          <p:cNvCxnSpPr/>
          <p:nvPr/>
        </p:nvCxnSpPr>
        <p:spPr>
          <a:xfrm>
            <a:off x="6420366" y="4312947"/>
            <a:ext cx="2339942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4" name="slot.list.3.item.4"/>
          <p:cNvSpPr/>
          <p:nvPr/>
        </p:nvSpPr>
        <p:spPr>
          <a:xfrm>
            <a:off x="6699808" y="4333135"/>
            <a:ext cx="20677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Access and audit logs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5" name="struct.list.3.rule.4"/>
          <p:cNvCxnSpPr/>
          <p:nvPr/>
        </p:nvCxnSpPr>
        <p:spPr>
          <a:xfrm>
            <a:off x="6420366" y="4554361"/>
            <a:ext cx="2339942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56" name="slot.list.3.item.5"/>
          <p:cNvSpPr/>
          <p:nvPr/>
        </p:nvSpPr>
        <p:spPr>
          <a:xfrm>
            <a:off x="6699808" y="4574549"/>
            <a:ext cx="20677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Team onboarding kit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truct.list.4"/>
          <p:cNvSpPr/>
          <p:nvPr/>
        </p:nvSpPr>
        <p:spPr>
          <a:xfrm>
            <a:off x="9293534" y="3561264"/>
            <a:ext cx="2569936" cy="12963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slot.list.4.item.1"/>
          <p:cNvSpPr/>
          <p:nvPr/>
        </p:nvSpPr>
        <p:spPr>
          <a:xfrm>
            <a:off x="9694468" y="3608888"/>
            <a:ext cx="2059273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Regional rollout plan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9" name="struct.list.4.rule.1"/>
          <p:cNvCxnSpPr/>
          <p:nvPr/>
        </p:nvCxnSpPr>
        <p:spPr>
          <a:xfrm>
            <a:off x="9411450" y="3830115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0" name="slot.list.4.item.2"/>
          <p:cNvSpPr/>
          <p:nvPr/>
        </p:nvSpPr>
        <p:spPr>
          <a:xfrm>
            <a:off x="9694468" y="3850303"/>
            <a:ext cx="2059273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Adoption dashboard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1" name="struct.list.4.rule.2"/>
          <p:cNvCxnSpPr/>
          <p:nvPr/>
        </p:nvCxnSpPr>
        <p:spPr>
          <a:xfrm>
            <a:off x="9411450" y="4071530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2" name="slot.list.4.item.3"/>
          <p:cNvSpPr/>
          <p:nvPr/>
        </p:nvSpPr>
        <p:spPr>
          <a:xfrm>
            <a:off x="9694468" y="4091719"/>
            <a:ext cx="2059273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Quarterly value review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3" name="struct.list.4.rule.3"/>
          <p:cNvCxnSpPr/>
          <p:nvPr/>
        </p:nvCxnSpPr>
        <p:spPr>
          <a:xfrm>
            <a:off x="9411450" y="4312947"/>
            <a:ext cx="2231944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64" name="slot.list.4.item.4"/>
          <p:cNvSpPr/>
          <p:nvPr/>
        </p:nvSpPr>
        <p:spPr>
          <a:xfrm>
            <a:off x="9694468" y="4333135"/>
            <a:ext cx="2059273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Handover to operations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truct.phase.1.pill"/>
          <p:cNvSpPr/>
          <p:nvPr/>
        </p:nvSpPr>
        <p:spPr>
          <a:xfrm>
            <a:off x="334954" y="1974980"/>
            <a:ext cx="2569936" cy="286393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rnd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struct.phase.2.pill"/>
          <p:cNvSpPr/>
          <p:nvPr/>
        </p:nvSpPr>
        <p:spPr>
          <a:xfrm>
            <a:off x="3318906" y="1974980"/>
            <a:ext cx="2569936" cy="286393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rnd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struct.phase.3.pill"/>
          <p:cNvSpPr/>
          <p:nvPr/>
        </p:nvSpPr>
        <p:spPr>
          <a:xfrm>
            <a:off x="6302860" y="1974980"/>
            <a:ext cx="2569936" cy="286393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rnd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struct.phase.4.pill"/>
          <p:cNvSpPr/>
          <p:nvPr/>
        </p:nvSpPr>
        <p:spPr>
          <a:xfrm>
            <a:off x="9286812" y="1974980"/>
            <a:ext cx="2569936" cy="286393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rnd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slot.phase.1.name"/>
          <p:cNvSpPr/>
          <p:nvPr/>
        </p:nvSpPr>
        <p:spPr>
          <a:xfrm>
            <a:off x="652536" y="2008380"/>
            <a:ext cx="1934752" cy="2195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Assess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phase.2.name"/>
          <p:cNvSpPr/>
          <p:nvPr/>
        </p:nvSpPr>
        <p:spPr>
          <a:xfrm>
            <a:off x="3636488" y="2008380"/>
            <a:ext cx="1934752" cy="2195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Pilot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lot.phase.3.name"/>
          <p:cNvSpPr/>
          <p:nvPr/>
        </p:nvSpPr>
        <p:spPr>
          <a:xfrm>
            <a:off x="6620441" y="2008380"/>
            <a:ext cx="1934752" cy="2195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Scale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lot.phase.4.name"/>
          <p:cNvSpPr/>
          <p:nvPr/>
        </p:nvSpPr>
        <p:spPr>
          <a:xfrm>
            <a:off x="9604395" y="2008380"/>
            <a:ext cx="1934752" cy="2195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Run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lot.phase.1.head"/>
          <p:cNvSpPr/>
          <p:nvPr/>
        </p:nvSpPr>
        <p:spPr>
          <a:xfrm>
            <a:off x="455551" y="2971800"/>
            <a:ext cx="23774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Readiness scored three ways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phase.1.body"/>
          <p:cNvSpPr/>
          <p:nvPr/>
        </p:nvSpPr>
        <p:spPr>
          <a:xfrm>
            <a:off x="455551" y="3172968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From interviews and system access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lot.phase.2.head"/>
          <p:cNvSpPr/>
          <p:nvPr/>
        </p:nvSpPr>
        <p:spPr>
          <a:xfrm>
            <a:off x="3420968" y="2971800"/>
            <a:ext cx="23774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Two use cases proven live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lot.phase.2.body"/>
          <p:cNvSpPr/>
          <p:nvPr/>
        </p:nvSpPr>
        <p:spPr>
          <a:xfrm>
            <a:off x="3420968" y="3172968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Scored on five value measures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lot.phase.3.head"/>
          <p:cNvSpPr/>
          <p:nvPr/>
        </p:nvSpPr>
        <p:spPr>
          <a:xfrm>
            <a:off x="6409090" y="2971800"/>
            <a:ext cx="23774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platform for every team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lot.phase.3.body"/>
          <p:cNvSpPr/>
          <p:nvPr/>
        </p:nvSpPr>
        <p:spPr>
          <a:xfrm>
            <a:off x="6409090" y="3172968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Built once, reused by each team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lot.phase.4.head"/>
          <p:cNvSpPr/>
          <p:nvPr/>
        </p:nvSpPr>
        <p:spPr>
          <a:xfrm>
            <a:off x="9380255" y="2971800"/>
            <a:ext cx="237744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Adoption tied to the value case</a:t>
            </a:r>
            <a:endParaRPr lang="en-US" sz="105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phase.4.body"/>
          <p:cNvSpPr/>
          <p:nvPr/>
        </p:nvSpPr>
        <p:spPr>
          <a:xfrm>
            <a:off x="9380255" y="3172968"/>
            <a:ext cx="237744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Owned by the business after handover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truct.lens.1"/>
          <p:cNvSpPr/>
          <p:nvPr/>
        </p:nvSpPr>
        <p:spPr>
          <a:xfrm>
            <a:off x="790956" y="2331720"/>
            <a:ext cx="603504" cy="603504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slot.lens.1"/>
          <p:cNvSpPr/>
          <p:nvPr/>
        </p:nvSpPr>
        <p:spPr>
          <a:xfrm>
            <a:off x="854964" y="2551176"/>
            <a:ext cx="475488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truct.lens.2"/>
          <p:cNvSpPr/>
          <p:nvPr/>
        </p:nvSpPr>
        <p:spPr>
          <a:xfrm>
            <a:off x="1321307" y="2331720"/>
            <a:ext cx="603504" cy="603504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slot.lens.2"/>
          <p:cNvSpPr/>
          <p:nvPr/>
        </p:nvSpPr>
        <p:spPr>
          <a:xfrm>
            <a:off x="1385315" y="2551176"/>
            <a:ext cx="475488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Process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truct.lens.3"/>
          <p:cNvSpPr/>
          <p:nvPr/>
        </p:nvSpPr>
        <p:spPr>
          <a:xfrm>
            <a:off x="1851660" y="2331720"/>
            <a:ext cx="603504" cy="603504"/>
          </a:xfrm>
          <a:prstGeom prst="ellipse">
            <a:avLst/>
          </a:prstGeom>
          <a:solidFill>
            <a:schemeClr val="bg1"/>
          </a:solidFill>
          <a:ln cap="flat" cmpd="sng" w="119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slot.lens.3"/>
          <p:cNvSpPr/>
          <p:nvPr/>
        </p:nvSpPr>
        <p:spPr>
          <a:xfrm>
            <a:off x="1915667" y="2551176"/>
            <a:ext cx="475488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People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truct.radar.1"/>
          <p:cNvSpPr/>
          <p:nvPr/>
        </p:nvSpPr>
        <p:spPr>
          <a:xfrm>
            <a:off x="3629659" y="2335706"/>
            <a:ext cx="648384" cy="589185"/>
          </a:xfrm>
          <a:prstGeom prst="pentagon">
            <a:avLst>
              <a:gd fmla="val 105146" name="hf"/>
              <a:gd fmla="val 110557" name="vf"/>
            </a:avLst>
          </a:prstGeom>
          <a:solidFill>
            <a:schemeClr val="bg1">
              <a:lumMod val="95000"/>
            </a:schemeClr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slot.track.1"/>
          <p:cNvSpPr/>
          <p:nvPr/>
        </p:nvSpPr>
        <p:spPr>
          <a:xfrm>
            <a:off x="4261066" y="2377440"/>
            <a:ext cx="438912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Build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slot.track.2"/>
          <p:cNvSpPr/>
          <p:nvPr/>
        </p:nvSpPr>
        <p:spPr>
          <a:xfrm>
            <a:off x="4638253" y="2377440"/>
            <a:ext cx="438912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Test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lot.track.3"/>
          <p:cNvSpPr/>
          <p:nvPr/>
        </p:nvSpPr>
        <p:spPr>
          <a:xfrm>
            <a:off x="5015439" y="2377440"/>
            <a:ext cx="438912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Tune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1" name="struct.track"/>
          <p:cNvCxnSpPr/>
          <p:nvPr/>
        </p:nvCxnSpPr>
        <p:spPr>
          <a:xfrm>
            <a:off x="4343983" y="2623868"/>
            <a:ext cx="1227169" cy="0"/>
          </a:xfrm>
          <a:prstGeom prst="straightConnector1">
            <a:avLst/>
          </a:prstGeom>
          <a:noFill/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sp>
        <p:nvSpPr>
          <p:cNvPr id="92" name="struct.track.node.1"/>
          <p:cNvSpPr/>
          <p:nvPr/>
        </p:nvSpPr>
        <p:spPr>
          <a:xfrm>
            <a:off x="4428524" y="2571842"/>
            <a:ext cx="103997" cy="103997"/>
          </a:xfrm>
          <a:prstGeom prst="ellipse">
            <a:avLst/>
          </a:prstGeom>
          <a:solidFill>
            <a:schemeClr val="bg1"/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struct.track.node.2"/>
          <p:cNvSpPr/>
          <p:nvPr/>
        </p:nvSpPr>
        <p:spPr>
          <a:xfrm>
            <a:off x="4805711" y="2571842"/>
            <a:ext cx="103997" cy="103997"/>
          </a:xfrm>
          <a:prstGeom prst="ellipse">
            <a:avLst/>
          </a:prstGeom>
          <a:solidFill>
            <a:schemeClr val="bg1"/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struct.track.node.3"/>
          <p:cNvSpPr/>
          <p:nvPr/>
        </p:nvSpPr>
        <p:spPr>
          <a:xfrm>
            <a:off x="5182897" y="2571842"/>
            <a:ext cx="103997" cy="103997"/>
          </a:xfrm>
          <a:prstGeom prst="ellipse">
            <a:avLst/>
          </a:prstGeom>
          <a:solidFill>
            <a:schemeClr val="bg1"/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struct.step.1"/>
          <p:cNvSpPr/>
          <p:nvPr/>
        </p:nvSpPr>
        <p:spPr>
          <a:xfrm>
            <a:off x="6627289" y="2387031"/>
            <a:ext cx="418790" cy="4187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slot.step.1"/>
          <p:cNvSpPr/>
          <p:nvPr/>
        </p:nvSpPr>
        <p:spPr>
          <a:xfrm>
            <a:off x="6470924" y="2825496"/>
            <a:ext cx="731520" cy="1554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Integrate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7" name="struct.step.arrow.1"/>
          <p:cNvCxnSpPr/>
          <p:nvPr/>
        </p:nvCxnSpPr>
        <p:spPr>
          <a:xfrm>
            <a:off x="7093416" y="2596456"/>
            <a:ext cx="205595" cy="0"/>
          </a:xfrm>
          <a:prstGeom prst="straightConnector1">
            <a:avLst/>
          </a:prstGeom>
          <a:noFill/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98" name="struct.step.2"/>
          <p:cNvSpPr/>
          <p:nvPr/>
        </p:nvSpPr>
        <p:spPr>
          <a:xfrm>
            <a:off x="7324044" y="2387031"/>
            <a:ext cx="418790" cy="4187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slot.step.2"/>
          <p:cNvSpPr/>
          <p:nvPr/>
        </p:nvSpPr>
        <p:spPr>
          <a:xfrm>
            <a:off x="7167679" y="2825496"/>
            <a:ext cx="731520" cy="1554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Automate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0" name="struct.step.arrow.2"/>
          <p:cNvCxnSpPr/>
          <p:nvPr/>
        </p:nvCxnSpPr>
        <p:spPr>
          <a:xfrm>
            <a:off x="7790169" y="2596456"/>
            <a:ext cx="205595" cy="0"/>
          </a:xfrm>
          <a:prstGeom prst="straightConnector1">
            <a:avLst/>
          </a:prstGeom>
          <a:noFill/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101" name="struct.step.3"/>
          <p:cNvSpPr/>
          <p:nvPr/>
        </p:nvSpPr>
        <p:spPr>
          <a:xfrm>
            <a:off x="8020798" y="2387031"/>
            <a:ext cx="418790" cy="41879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slot.step.3"/>
          <p:cNvSpPr/>
          <p:nvPr/>
        </p:nvSpPr>
        <p:spPr>
          <a:xfrm>
            <a:off x="7864433" y="2825496"/>
            <a:ext cx="731520" cy="1554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Govern</a:t>
            </a:r>
            <a:endParaRPr lang="en-US" sz="8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truct.wave.3"/>
          <p:cNvSpPr/>
          <p:nvPr/>
        </p:nvSpPr>
        <p:spPr>
          <a:xfrm>
            <a:off x="10894161" y="2377440"/>
            <a:ext cx="966520" cy="329184"/>
          </a:xfrm>
          <a:prstGeom prst="homePlate">
            <a:avLst>
              <a:gd fmla="val 50000" name="adj"/>
            </a:avLst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slot.wave.label"/>
          <p:cNvSpPr/>
          <p:nvPr/>
        </p:nvSpPr>
        <p:spPr>
          <a:xfrm>
            <a:off x="9286810" y="2752344"/>
            <a:ext cx="2546736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Rollout by region over three waves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truct.wave.2"/>
          <p:cNvSpPr/>
          <p:nvPr/>
        </p:nvSpPr>
        <p:spPr>
          <a:xfrm>
            <a:off x="10092232" y="2377440"/>
            <a:ext cx="966520" cy="329184"/>
          </a:xfrm>
          <a:prstGeom prst="homePlate">
            <a:avLst>
              <a:gd fmla="val 50000" name="adj"/>
            </a:avLst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struct.wave.1"/>
          <p:cNvSpPr/>
          <p:nvPr/>
        </p:nvSpPr>
        <p:spPr>
          <a:xfrm>
            <a:off x="9290304" y="2377440"/>
            <a:ext cx="966520" cy="329184"/>
          </a:xfrm>
          <a:prstGeom prst="homePlate">
            <a:avLst>
              <a:gd fmla="val 50000" name="adj"/>
            </a:avLst>
          </a:prstGeom>
          <a:solidFill>
            <a:schemeClr val="tx1">
              <a:lumMod val="75000"/>
              <a:lumOff val="2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slot.wave.1"/>
          <p:cNvSpPr/>
          <p:nvPr/>
        </p:nvSpPr>
        <p:spPr>
          <a:xfrm>
            <a:off x="9418320" y="2459736"/>
            <a:ext cx="676656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1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slot.wave.2"/>
          <p:cNvSpPr/>
          <p:nvPr/>
        </p:nvSpPr>
        <p:spPr>
          <a:xfrm>
            <a:off x="10220248" y="2459736"/>
            <a:ext cx="676656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2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slot.wave.3"/>
          <p:cNvSpPr/>
          <p:nvPr/>
        </p:nvSpPr>
        <p:spPr>
          <a:xfrm>
            <a:off x="11022177" y="2459736"/>
            <a:ext cx="676656" cy="1645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Wave 3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truct.radar.2"/>
          <p:cNvSpPr/>
          <p:nvPr/>
        </p:nvSpPr>
        <p:spPr>
          <a:xfrm>
            <a:off x="3783723" y="2496122"/>
            <a:ext cx="353591" cy="321592"/>
          </a:xfrm>
          <a:prstGeom prst="pentagon">
            <a:avLst>
              <a:gd fmla="val 105146" name="hf"/>
              <a:gd fmla="val 110557" name="vf"/>
            </a:avLst>
          </a:prstGeom>
          <a:solidFill>
            <a:schemeClr val="bg1">
              <a:lumMod val="95000"/>
            </a:schemeClr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struct.radar.3"/>
          <p:cNvSpPr/>
          <p:nvPr/>
        </p:nvSpPr>
        <p:spPr>
          <a:xfrm>
            <a:off x="3937508" y="2644801"/>
            <a:ext cx="50399" cy="45599"/>
          </a:xfrm>
          <a:prstGeom prst="pentagon">
            <a:avLst>
              <a:gd fmla="val 105146" name="hf"/>
              <a:gd fmla="val 110557" name="vf"/>
            </a:avLst>
          </a:prstGeom>
          <a:solidFill>
            <a:schemeClr val="bg1">
              <a:lumMod val="75000"/>
            </a:schemeClr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slot.phase.1.metric"/>
          <p:cNvSpPr/>
          <p:nvPr/>
        </p:nvSpPr>
        <p:spPr>
          <a:xfrm>
            <a:off x="455551" y="3355848"/>
            <a:ext cx="2377440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6 weeks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slot.phase.2.metric"/>
          <p:cNvSpPr/>
          <p:nvPr/>
        </p:nvSpPr>
        <p:spPr>
          <a:xfrm>
            <a:off x="3420968" y="3355848"/>
            <a:ext cx="2377440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8 weeks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slot.phase.3.metric"/>
          <p:cNvSpPr/>
          <p:nvPr/>
        </p:nvSpPr>
        <p:spPr>
          <a:xfrm>
            <a:off x="6409090" y="3355848"/>
            <a:ext cx="2377440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12 weeks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slot.phase.4.metric"/>
          <p:cNvSpPr/>
          <p:nvPr/>
        </p:nvSpPr>
        <p:spPr>
          <a:xfrm>
            <a:off x="9380255" y="3355848"/>
            <a:ext cx="2377440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14 weeks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truct.brace"/>
          <p:cNvSpPr/>
          <p:nvPr/>
        </p:nvSpPr>
        <p:spPr>
          <a:xfrm rot="-5400000">
            <a:off x="8989670" y="2054227"/>
            <a:ext cx="183595" cy="5704257"/>
          </a:xfrm>
          <a:prstGeom prst="leftBrace">
            <a:avLst>
              <a:gd fmla="val 43215" name="adj1"/>
              <a:gd fmla="val 50000" name="adj2"/>
            </a:avLst>
          </a:prstGeom>
          <a:noFill/>
          <a:ln cap="flat" cmpd="sng" w="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struct.loop.head.1"/>
          <p:cNvSpPr/>
          <p:nvPr/>
        </p:nvSpPr>
        <p:spPr>
          <a:xfrm rot="5400000">
            <a:off x="6852211" y="5108831"/>
            <a:ext cx="95198" cy="81998"/>
          </a:xfrm>
          <a:prstGeom prst="triangle">
            <a:avLst>
              <a:gd fmla="val 50000" name="adj"/>
            </a:avLst>
          </a:prstGeom>
          <a:solidFill>
            <a:schemeClr val="bg1">
              <a:lumMod val="85000"/>
            </a:schemeClr>
          </a:solidFill>
          <a:ln cap="rnd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struct.loop.head.2"/>
          <p:cNvSpPr/>
          <p:nvPr/>
        </p:nvSpPr>
        <p:spPr>
          <a:xfrm>
            <a:off x="6184996" y="5633802"/>
            <a:ext cx="95198" cy="81998"/>
          </a:xfrm>
          <a:prstGeom prst="triangle">
            <a:avLst>
              <a:gd fmla="val 50000" name="adj"/>
            </a:avLst>
          </a:prstGeom>
          <a:solidFill>
            <a:schemeClr val="bg1">
              <a:lumMod val="85000"/>
            </a:schemeClr>
          </a:solidFill>
          <a:ln cap="rnd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struct.loop.head.3"/>
          <p:cNvSpPr/>
          <p:nvPr/>
        </p:nvSpPr>
        <p:spPr>
          <a:xfrm rot="-5400000">
            <a:off x="11205591" y="5103746"/>
            <a:ext cx="95198" cy="81998"/>
          </a:xfrm>
          <a:prstGeom prst="triangle">
            <a:avLst>
              <a:gd fmla="val 50000" name="adj"/>
            </a:avLst>
          </a:prstGeom>
          <a:solidFill>
            <a:schemeClr val="bg1">
              <a:lumMod val="85000"/>
            </a:schemeClr>
          </a:solidFill>
          <a:ln cap="rnd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struct.loop.head.4"/>
          <p:cNvSpPr/>
          <p:nvPr/>
        </p:nvSpPr>
        <p:spPr>
          <a:xfrm rot="10800000">
            <a:off x="11868912" y="5623510"/>
            <a:ext cx="95198" cy="81998"/>
          </a:xfrm>
          <a:prstGeom prst="triangle">
            <a:avLst>
              <a:gd fmla="val 50000" name="adj"/>
            </a:avLst>
          </a:prstGeom>
          <a:solidFill>
            <a:schemeClr val="bg1">
              <a:lumMod val="85000"/>
            </a:schemeClr>
          </a:solidFill>
          <a:ln cap="rnd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struct.loop"/>
          <p:cNvSpPr/>
          <p:nvPr/>
        </p:nvSpPr>
        <p:spPr>
          <a:xfrm>
            <a:off x="6228156" y="5144791"/>
            <a:ext cx="5683858" cy="1170771"/>
          </a:xfrm>
          <a:prstGeom prst="roundRect">
            <a:avLst>
              <a:gd fmla="val 50000" name="adj"/>
            </a:avLst>
          </a:prstGeom>
          <a:noFill/>
          <a:ln cap="rnd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slot.loop.label"/>
          <p:cNvSpPr/>
          <p:nvPr/>
        </p:nvSpPr>
        <p:spPr>
          <a:xfrm>
            <a:off x="6950470" y="5230368"/>
            <a:ext cx="4259494" cy="17373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Continuous improvement once live</a:t>
            </a:r>
            <a:endParaRPr lang="en-US" sz="105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truct.loop.step.1"/>
          <p:cNvSpPr/>
          <p:nvPr/>
        </p:nvSpPr>
        <p:spPr>
          <a:xfrm>
            <a:off x="6689343" y="5440680"/>
            <a:ext cx="487988" cy="4879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slot.loop.step.1"/>
          <p:cNvSpPr/>
          <p:nvPr/>
        </p:nvSpPr>
        <p:spPr>
          <a:xfrm>
            <a:off x="6476137" y="5989320"/>
            <a:ext cx="914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Monitor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struct.loop.step.2"/>
          <p:cNvSpPr/>
          <p:nvPr/>
        </p:nvSpPr>
        <p:spPr>
          <a:xfrm>
            <a:off x="7679127" y="5440680"/>
            <a:ext cx="487988" cy="4879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slot.loop.step.2"/>
          <p:cNvSpPr/>
          <p:nvPr/>
        </p:nvSpPr>
        <p:spPr>
          <a:xfrm>
            <a:off x="7465921" y="5989320"/>
            <a:ext cx="914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Diagnose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struct.loop.step.3"/>
          <p:cNvSpPr/>
          <p:nvPr/>
        </p:nvSpPr>
        <p:spPr>
          <a:xfrm>
            <a:off x="8649826" y="5440680"/>
            <a:ext cx="487988" cy="4879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slot.loop.step.3"/>
          <p:cNvSpPr/>
          <p:nvPr/>
        </p:nvSpPr>
        <p:spPr>
          <a:xfrm>
            <a:off x="8436620" y="5989320"/>
            <a:ext cx="914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Retrain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truct.loop.step.4"/>
          <p:cNvSpPr/>
          <p:nvPr/>
        </p:nvSpPr>
        <p:spPr>
          <a:xfrm>
            <a:off x="9715188" y="5440680"/>
            <a:ext cx="487988" cy="4879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slot.loop.step.4"/>
          <p:cNvSpPr/>
          <p:nvPr/>
        </p:nvSpPr>
        <p:spPr>
          <a:xfrm>
            <a:off x="9501982" y="5989320"/>
            <a:ext cx="914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Release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struct.loop.step.5"/>
          <p:cNvSpPr/>
          <p:nvPr/>
        </p:nvSpPr>
        <p:spPr>
          <a:xfrm>
            <a:off x="10794658" y="5440680"/>
            <a:ext cx="487988" cy="487988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b="0" i="0" sz="14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slot.loop.step.5"/>
          <p:cNvSpPr/>
          <p:nvPr/>
        </p:nvSpPr>
        <p:spPr>
          <a:xfrm>
            <a:off x="10581452" y="5989320"/>
            <a:ext cx="9144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Measure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3" name="struct.radar.spoke.1"/>
          <p:cNvCxnSpPr/>
          <p:nvPr/>
        </p:nvCxnSpPr>
        <p:spPr>
          <a:xfrm rot="10800000">
            <a:off x="4069813" y="2817692"/>
            <a:ext cx="84398" cy="107197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134" name="struct.radar.spoke.2"/>
          <p:cNvCxnSpPr/>
          <p:nvPr/>
        </p:nvCxnSpPr>
        <p:spPr>
          <a:xfrm flipH="1">
            <a:off x="4137245" y="2560753"/>
            <a:ext cx="140796" cy="58399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135" name="struct.radar.spoke.3"/>
          <p:cNvCxnSpPr/>
          <p:nvPr/>
        </p:nvCxnSpPr>
        <p:spPr>
          <a:xfrm>
            <a:off x="3953850" y="2335706"/>
            <a:ext cx="6800" cy="160396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136" name="struct.radar.spoke.4"/>
          <p:cNvCxnSpPr/>
          <p:nvPr/>
        </p:nvCxnSpPr>
        <p:spPr>
          <a:xfrm>
            <a:off x="3629659" y="2560753"/>
            <a:ext cx="153996" cy="58399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137" name="struct.radar.spoke.5"/>
          <p:cNvCxnSpPr/>
          <p:nvPr/>
        </p:nvCxnSpPr>
        <p:spPr>
          <a:xfrm flipH="1" rot="10800000">
            <a:off x="3753489" y="2817692"/>
            <a:ext cx="97598" cy="107197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</p:cxnSp>
      <p:cxnSp>
        <p:nvCxnSpPr>
          <p:cNvPr id="138" name="struct.radar.spoke.6"/>
          <p:cNvCxnSpPr/>
          <p:nvPr/>
        </p:nvCxnSpPr>
        <p:spPr>
          <a:xfrm flipH="1" rot="10800000">
            <a:off x="3851253" y="2690515"/>
            <a:ext cx="95998" cy="127197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39" name="struct.radar.spoke.7"/>
          <p:cNvCxnSpPr/>
          <p:nvPr/>
        </p:nvCxnSpPr>
        <p:spPr>
          <a:xfrm rot="10800000">
            <a:off x="3978186" y="2690515"/>
            <a:ext cx="91598" cy="127197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40" name="struct.radar.spoke.8"/>
          <p:cNvCxnSpPr/>
          <p:nvPr/>
        </p:nvCxnSpPr>
        <p:spPr>
          <a:xfrm flipH="1">
            <a:off x="3987716" y="2618959"/>
            <a:ext cx="149596" cy="43199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41" name="struct.radar.spoke.9"/>
          <p:cNvCxnSpPr/>
          <p:nvPr/>
        </p:nvCxnSpPr>
        <p:spPr>
          <a:xfrm>
            <a:off x="3960518" y="2496122"/>
            <a:ext cx="2000" cy="148796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cxnSp>
        <p:nvCxnSpPr>
          <p:cNvPr id="142" name="struct.radar.spoke.10"/>
          <p:cNvCxnSpPr/>
          <p:nvPr/>
        </p:nvCxnSpPr>
        <p:spPr>
          <a:xfrm>
            <a:off x="3783723" y="2618959"/>
            <a:ext cx="159196" cy="48799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75000"/>
              </a:schemeClr>
            </a:solidFill>
            <a:prstDash val="dash"/>
            <a:round/>
            <a:headEnd len="sm" w="sm" type="none"/>
            <a:tailEnd len="sm" w="sm" type="none"/>
          </a:ln>
          <a:effectLst/>
        </p:spPr>
      </p:cxnSp>
      <p:sp>
        <p:nvSpPr>
          <p:cNvPr id="143" name="struct.gate.1.icon"/>
          <p:cNvSpPr/>
          <p:nvPr/>
        </p:nvSpPr>
        <p:spPr>
          <a:xfrm>
            <a:off x="410454" y="154377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44" name="struct.gate.2.icon"/>
          <p:cNvSpPr/>
          <p:nvPr/>
        </p:nvSpPr>
        <p:spPr>
          <a:xfrm>
            <a:off x="3276873" y="154377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45" name="struct.gate.3.icon"/>
          <p:cNvSpPr/>
          <p:nvPr/>
        </p:nvSpPr>
        <p:spPr>
          <a:xfrm>
            <a:off x="6024096" y="154377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46" name="struct.gate.4.icon"/>
          <p:cNvSpPr/>
          <p:nvPr/>
        </p:nvSpPr>
        <p:spPr>
          <a:xfrm>
            <a:off x="8816757" y="1543773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000" y="9000"/>
                </a:moveTo>
                <a:lnTo>
                  <a:pt x="10500" y="14500"/>
                </a:lnTo>
                <a:lnTo>
                  <a:pt x="8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47" name="slot.phase.1.icon"/>
          <p:cNvSpPr/>
          <p:nvPr/>
        </p:nvSpPr>
        <p:spPr>
          <a:xfrm>
            <a:off x="2311804" y="1502073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240" y="7760"/>
                </a:moveTo>
                <a:lnTo>
                  <a:pt x="14436" y="13171"/>
                </a:lnTo>
                <a:cubicBezTo>
                  <a:pt x="14237" y="13768"/>
                  <a:pt x="13768" y="14237"/>
                  <a:pt x="13171" y="14436"/>
                </a:cubicBezTo>
                <a:lnTo>
                  <a:pt x="7760" y="16240"/>
                </a:lnTo>
                <a:lnTo>
                  <a:pt x="9564" y="10829"/>
                </a:lnTo>
                <a:cubicBezTo>
                  <a:pt x="9763" y="10232"/>
                  <a:pt x="10232" y="9763"/>
                  <a:pt x="10829" y="9564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48" name="slot.phase.2.icon"/>
          <p:cNvSpPr/>
          <p:nvPr/>
        </p:nvSpPr>
        <p:spPr>
          <a:xfrm>
            <a:off x="4588641" y="1502073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2000"/>
                </a:moveTo>
                <a:lnTo>
                  <a:pt x="14000" y="8000"/>
                </a:lnTo>
                <a:cubicBezTo>
                  <a:pt x="14000" y="8335"/>
                  <a:pt x="14084" y="8666"/>
                  <a:pt x="14245" y="8960"/>
                </a:cubicBezTo>
                <a:lnTo>
                  <a:pt x="19755" y="19040"/>
                </a:lnTo>
                <a:cubicBezTo>
                  <a:pt x="20094" y="19660"/>
                  <a:pt x="20081" y="20412"/>
                  <a:pt x="19721" y="21020"/>
                </a:cubicBezTo>
                <a:cubicBezTo>
                  <a:pt x="19361" y="21628"/>
                  <a:pt x="18706" y="22000"/>
                  <a:pt x="18000" y="22000"/>
                </a:cubicBezTo>
                <a:lnTo>
                  <a:pt x="6000" y="22000"/>
                </a:lnTo>
                <a:cubicBezTo>
                  <a:pt x="5294" y="22000"/>
                  <a:pt x="4639" y="21628"/>
                  <a:pt x="4279" y="21020"/>
                </a:cubicBezTo>
                <a:cubicBezTo>
                  <a:pt x="3919" y="20412"/>
                  <a:pt x="3906" y="19660"/>
                  <a:pt x="4245" y="19040"/>
                </a:cubicBezTo>
                <a:lnTo>
                  <a:pt x="9755" y="8960"/>
                </a:lnTo>
                <a:cubicBezTo>
                  <a:pt x="9916" y="8666"/>
                  <a:pt x="10000" y="8335"/>
                  <a:pt x="10000" y="8000"/>
                </a:cubicBezTo>
                <a:lnTo>
                  <a:pt x="10000" y="2000"/>
                </a:lnTo>
                <a:moveTo>
                  <a:pt x="6453" y="15000"/>
                </a:moveTo>
                <a:lnTo>
                  <a:pt x="17547" y="15000"/>
                </a:lnTo>
                <a:moveTo>
                  <a:pt x="8500" y="2000"/>
                </a:moveTo>
                <a:lnTo>
                  <a:pt x="15500" y="2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49" name="slot.phase.3.icon"/>
          <p:cNvSpPr/>
          <p:nvPr/>
        </p:nvSpPr>
        <p:spPr>
          <a:xfrm>
            <a:off x="7359481" y="1502073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50" name="slot.phase.4.icon"/>
          <p:cNvSpPr/>
          <p:nvPr/>
        </p:nvSpPr>
        <p:spPr>
          <a:xfrm>
            <a:off x="9642061" y="1502073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7000"/>
                </a:moveTo>
                <a:lnTo>
                  <a:pt x="22000" y="7000"/>
                </a:lnTo>
                <a:lnTo>
                  <a:pt x="22000" y="13000"/>
                </a:lnTo>
                <a:moveTo>
                  <a:pt x="22000" y="7000"/>
                </a:moveTo>
                <a:lnTo>
                  <a:pt x="13500" y="15500"/>
                </a:lnTo>
                <a:lnTo>
                  <a:pt x="8500" y="10500"/>
                </a:lnTo>
                <a:lnTo>
                  <a:pt x="2000" y="17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151" name="slot.step.1.icon"/>
          <p:cNvSpPr/>
          <p:nvPr/>
        </p:nvSpPr>
        <p:spPr>
          <a:xfrm>
            <a:off x="6708668" y="2468410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152" name="slot.step.2.icon"/>
          <p:cNvSpPr/>
          <p:nvPr/>
        </p:nvSpPr>
        <p:spPr>
          <a:xfrm>
            <a:off x="7405423" y="2468410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0270"/>
                </a:moveTo>
                <a:lnTo>
                  <a:pt x="7000" y="3340"/>
                </a:lnTo>
                <a:moveTo>
                  <a:pt x="11000" y="13730"/>
                </a:moveTo>
                <a:lnTo>
                  <a:pt x="7000" y="20660"/>
                </a:lnTo>
                <a:moveTo>
                  <a:pt x="12000" y="22000"/>
                </a:moveTo>
                <a:lnTo>
                  <a:pt x="12000" y="20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4000" y="12000"/>
                </a:moveTo>
                <a:lnTo>
                  <a:pt x="22000" y="12000"/>
                </a:lnTo>
                <a:moveTo>
                  <a:pt x="17000" y="20660"/>
                </a:moveTo>
                <a:lnTo>
                  <a:pt x="16000" y="18930"/>
                </a:lnTo>
                <a:moveTo>
                  <a:pt x="17000" y="3340"/>
                </a:moveTo>
                <a:lnTo>
                  <a:pt x="16000" y="507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660" y="17000"/>
                </a:moveTo>
                <a:lnTo>
                  <a:pt x="18930" y="16000"/>
                </a:lnTo>
                <a:moveTo>
                  <a:pt x="20660" y="7000"/>
                </a:moveTo>
                <a:lnTo>
                  <a:pt x="18930" y="8000"/>
                </a:lnTo>
                <a:moveTo>
                  <a:pt x="3340" y="17000"/>
                </a:moveTo>
                <a:lnTo>
                  <a:pt x="5070" y="16000"/>
                </a:lnTo>
                <a:moveTo>
                  <a:pt x="3340" y="7000"/>
                </a:moveTo>
                <a:lnTo>
                  <a:pt x="5070" y="8000"/>
                </a:lnTo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  <a:moveTo>
                  <a:pt x="20000" y="12000"/>
                </a:moveTo>
                <a:cubicBezTo>
                  <a:pt x="20000" y="16418"/>
                  <a:pt x="16418" y="20000"/>
                  <a:pt x="12000" y="20000"/>
                </a:cubicBezTo>
                <a:cubicBezTo>
                  <a:pt x="7582" y="20000"/>
                  <a:pt x="4000" y="16418"/>
                  <a:pt x="4000" y="12000"/>
                </a:cubicBezTo>
                <a:cubicBezTo>
                  <a:pt x="4000" y="7582"/>
                  <a:pt x="7582" y="4000"/>
                  <a:pt x="12000" y="4000"/>
                </a:cubicBezTo>
                <a:cubicBezTo>
                  <a:pt x="16418" y="4000"/>
                  <a:pt x="20000" y="7582"/>
                  <a:pt x="20000" y="12000"/>
                </a:cubicBezTo>
                <a:close/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153" name="slot.step.3.icon"/>
          <p:cNvSpPr/>
          <p:nvPr/>
        </p:nvSpPr>
        <p:spPr>
          <a:xfrm>
            <a:off x="8102177" y="2468410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1590" cap="rnd">
            <a:solidFill>
              <a:schemeClr val="bg1"/>
            </a:solidFill>
            <a:round/>
          </a:ln>
          <a:effectLst/>
        </p:spPr>
      </p:sp>
      <p:sp>
        <p:nvSpPr>
          <p:cNvPr id="154" name="struct.list.1.mark.1"/>
          <p:cNvSpPr/>
          <p:nvPr/>
        </p:nvSpPr>
        <p:spPr>
          <a:xfrm>
            <a:off x="509321" y="363174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55" name="struct.list.1.mark.2"/>
          <p:cNvSpPr/>
          <p:nvPr/>
        </p:nvSpPr>
        <p:spPr>
          <a:xfrm>
            <a:off x="509321" y="38731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56" name="struct.list.1.mark.3"/>
          <p:cNvSpPr/>
          <p:nvPr/>
        </p:nvSpPr>
        <p:spPr>
          <a:xfrm>
            <a:off x="509321" y="411458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57" name="struct.list.1.mark.4"/>
          <p:cNvSpPr/>
          <p:nvPr/>
        </p:nvSpPr>
        <p:spPr>
          <a:xfrm>
            <a:off x="509321" y="435599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58" name="struct.list.1.mark.5"/>
          <p:cNvSpPr/>
          <p:nvPr/>
        </p:nvSpPr>
        <p:spPr>
          <a:xfrm>
            <a:off x="509321" y="459741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59" name="struct.list.2.mark.1"/>
          <p:cNvSpPr/>
          <p:nvPr/>
        </p:nvSpPr>
        <p:spPr>
          <a:xfrm>
            <a:off x="3484778" y="363174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0" name="struct.list.2.mark.2"/>
          <p:cNvSpPr/>
          <p:nvPr/>
        </p:nvSpPr>
        <p:spPr>
          <a:xfrm>
            <a:off x="3484778" y="38731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1" name="struct.list.2.mark.3"/>
          <p:cNvSpPr/>
          <p:nvPr/>
        </p:nvSpPr>
        <p:spPr>
          <a:xfrm>
            <a:off x="3484778" y="411458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2" name="struct.list.2.mark.4"/>
          <p:cNvSpPr/>
          <p:nvPr/>
        </p:nvSpPr>
        <p:spPr>
          <a:xfrm>
            <a:off x="3484778" y="435599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3" name="struct.list.2.mark.5"/>
          <p:cNvSpPr/>
          <p:nvPr/>
        </p:nvSpPr>
        <p:spPr>
          <a:xfrm>
            <a:off x="3484778" y="459741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4" name="struct.list.3.mark.1"/>
          <p:cNvSpPr/>
          <p:nvPr/>
        </p:nvSpPr>
        <p:spPr>
          <a:xfrm>
            <a:off x="6462065" y="363174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5" name="struct.list.3.mark.2"/>
          <p:cNvSpPr/>
          <p:nvPr/>
        </p:nvSpPr>
        <p:spPr>
          <a:xfrm>
            <a:off x="6462065" y="38731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6" name="struct.list.3.mark.3"/>
          <p:cNvSpPr/>
          <p:nvPr/>
        </p:nvSpPr>
        <p:spPr>
          <a:xfrm>
            <a:off x="6462065" y="411458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7" name="struct.list.3.mark.4"/>
          <p:cNvSpPr/>
          <p:nvPr/>
        </p:nvSpPr>
        <p:spPr>
          <a:xfrm>
            <a:off x="6462065" y="435599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8" name="struct.list.3.mark.5"/>
          <p:cNvSpPr/>
          <p:nvPr/>
        </p:nvSpPr>
        <p:spPr>
          <a:xfrm>
            <a:off x="6462065" y="459741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69" name="struct.list.4.mark.1"/>
          <p:cNvSpPr/>
          <p:nvPr/>
        </p:nvSpPr>
        <p:spPr>
          <a:xfrm>
            <a:off x="9456725" y="3631749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0" name="struct.list.4.mark.2"/>
          <p:cNvSpPr/>
          <p:nvPr/>
        </p:nvSpPr>
        <p:spPr>
          <a:xfrm>
            <a:off x="9456725" y="38731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1" name="struct.list.4.mark.3"/>
          <p:cNvSpPr/>
          <p:nvPr/>
        </p:nvSpPr>
        <p:spPr>
          <a:xfrm>
            <a:off x="9456725" y="4114580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2" name="struct.list.4.mark.4"/>
          <p:cNvSpPr/>
          <p:nvPr/>
        </p:nvSpPr>
        <p:spPr>
          <a:xfrm>
            <a:off x="9456725" y="4355996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173" name="slot.loop.step.1.icon"/>
          <p:cNvSpPr/>
          <p:nvPr/>
        </p:nvSpPr>
        <p:spPr>
          <a:xfrm>
            <a:off x="6787033" y="553837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174" name="slot.loop.step.2.icon"/>
          <p:cNvSpPr/>
          <p:nvPr/>
        </p:nvSpPr>
        <p:spPr>
          <a:xfrm>
            <a:off x="7776817" y="553837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175" name="slot.loop.step.3.icon"/>
          <p:cNvSpPr/>
          <p:nvPr/>
        </p:nvSpPr>
        <p:spPr>
          <a:xfrm>
            <a:off x="8747516" y="553837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2000"/>
                </a:moveTo>
                <a:cubicBezTo>
                  <a:pt x="3000" y="7029"/>
                  <a:pt x="7029" y="3000"/>
                  <a:pt x="12000" y="3000"/>
                </a:cubicBezTo>
                <a:cubicBezTo>
                  <a:pt x="14516" y="3009"/>
                  <a:pt x="16931" y="3991"/>
                  <a:pt x="18740" y="5740"/>
                </a:cubicBezTo>
                <a:lnTo>
                  <a:pt x="21000" y="8000"/>
                </a:lnTo>
                <a:moveTo>
                  <a:pt x="21000" y="3000"/>
                </a:moveTo>
                <a:lnTo>
                  <a:pt x="21000" y="8000"/>
                </a:lnTo>
                <a:lnTo>
                  <a:pt x="16000" y="8000"/>
                </a:lnTo>
                <a:moveTo>
                  <a:pt x="21000" y="12000"/>
                </a:moveTo>
                <a:cubicBezTo>
                  <a:pt x="21000" y="16971"/>
                  <a:pt x="16971" y="21000"/>
                  <a:pt x="12000" y="21000"/>
                </a:cubicBezTo>
                <a:cubicBezTo>
                  <a:pt x="9484" y="20991"/>
                  <a:pt x="7069" y="20009"/>
                  <a:pt x="5260" y="18260"/>
                </a:cubicBezTo>
                <a:lnTo>
                  <a:pt x="3000" y="16000"/>
                </a:lnTo>
                <a:moveTo>
                  <a:pt x="8000" y="16000"/>
                </a:moveTo>
                <a:lnTo>
                  <a:pt x="3000" y="16000"/>
                </a:lnTo>
                <a:lnTo>
                  <a:pt x="3000" y="21000"/>
                </a:ln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176" name="slot.loop.step.4.icon"/>
          <p:cNvSpPr/>
          <p:nvPr/>
        </p:nvSpPr>
        <p:spPr>
          <a:xfrm>
            <a:off x="9812878" y="553837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5000"/>
                </a:moveTo>
                <a:lnTo>
                  <a:pt x="12000" y="20000"/>
                </a:lnTo>
                <a:cubicBezTo>
                  <a:pt x="12000" y="20000"/>
                  <a:pt x="15030" y="19450"/>
                  <a:pt x="16000" y="18000"/>
                </a:cubicBezTo>
                <a:cubicBezTo>
                  <a:pt x="17080" y="16380"/>
                  <a:pt x="16000" y="13000"/>
                  <a:pt x="16000" y="13000"/>
                </a:cubicBezTo>
                <a:moveTo>
                  <a:pt x="4500" y="16500"/>
                </a:moveTo>
                <a:cubicBezTo>
                  <a:pt x="3000" y="17760"/>
                  <a:pt x="2500" y="21500"/>
                  <a:pt x="2500" y="21500"/>
                </a:cubicBezTo>
                <a:cubicBezTo>
                  <a:pt x="2500" y="21500"/>
                  <a:pt x="6240" y="21000"/>
                  <a:pt x="7500" y="19500"/>
                </a:cubicBezTo>
                <a:cubicBezTo>
                  <a:pt x="8210" y="18660"/>
                  <a:pt x="8200" y="17370"/>
                  <a:pt x="7410" y="16590"/>
                </a:cubicBezTo>
                <a:cubicBezTo>
                  <a:pt x="6605" y="15822"/>
                  <a:pt x="5351" y="15783"/>
                  <a:pt x="4500" y="16500"/>
                </a:cubicBezTo>
                <a:moveTo>
                  <a:pt x="9000" y="12000"/>
                </a:moveTo>
                <a:cubicBezTo>
                  <a:pt x="9532" y="10619"/>
                  <a:pt x="10202" y="9296"/>
                  <a:pt x="11000" y="8050"/>
                </a:cubicBezTo>
                <a:cubicBezTo>
                  <a:pt x="13369" y="4262"/>
                  <a:pt x="17532" y="1972"/>
                  <a:pt x="22000" y="2000"/>
                </a:cubicBezTo>
                <a:cubicBezTo>
                  <a:pt x="22000" y="4720"/>
                  <a:pt x="21220" y="9500"/>
                  <a:pt x="16000" y="13000"/>
                </a:cubicBezTo>
                <a:cubicBezTo>
                  <a:pt x="14737" y="13798"/>
                  <a:pt x="13397" y="14468"/>
                  <a:pt x="12000" y="15000"/>
                </a:cubicBezTo>
                <a:close/>
                <a:moveTo>
                  <a:pt x="9000" y="12000"/>
                </a:moveTo>
                <a:lnTo>
                  <a:pt x="4000" y="12000"/>
                </a:lnTo>
                <a:cubicBezTo>
                  <a:pt x="4000" y="12000"/>
                  <a:pt x="4550" y="8970"/>
                  <a:pt x="6000" y="8000"/>
                </a:cubicBezTo>
                <a:cubicBezTo>
                  <a:pt x="7620" y="6920"/>
                  <a:pt x="11000" y="8050"/>
                  <a:pt x="11000" y="8050"/>
                </a:cubicBez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  <p:sp>
        <p:nvSpPr>
          <p:cNvPr id="177" name="slot.loop.step.5.icon"/>
          <p:cNvSpPr/>
          <p:nvPr/>
        </p:nvSpPr>
        <p:spPr>
          <a:xfrm>
            <a:off x="10892348" y="553837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2413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nvergence-hub:nested-core-feeders-outcomes">
    <p:spTree>
      <p:nvGrpSpPr>
        <p:cNvPr id="1" name=""/>
        <p:cNvGrpSpPr/>
        <p:nvPr/>
      </p:nvGrpSpPr>
      <p:grpSpPr/>
      <p:sp>
        <p:nvSpPr>
          <p:cNvPr id="2" name="struct.hub.outer"/>
          <p:cNvSpPr/>
          <p:nvPr/>
        </p:nvSpPr>
        <p:spPr>
          <a:xfrm>
            <a:off x="4123944" y="978408"/>
            <a:ext cx="3950208" cy="5111496"/>
          </a:xfrm>
          <a:prstGeom prst="roundRect">
            <a:avLst>
              <a:gd name="adj" fmla="val 1157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truct.hub.inner"/>
          <p:cNvSpPr/>
          <p:nvPr/>
        </p:nvSpPr>
        <p:spPr>
          <a:xfrm>
            <a:off x="4425696" y="1344168"/>
            <a:ext cx="3337560" cy="4645152"/>
          </a:xfrm>
          <a:prstGeom prst="roundRect">
            <a:avLst>
              <a:gd name="adj" fmla="val 1369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accent1">
                <a:lumMod val="20000"/>
                <a:lumOff val="80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struct.hub.core"/>
          <p:cNvSpPr/>
          <p:nvPr/>
        </p:nvSpPr>
        <p:spPr>
          <a:xfrm>
            <a:off x="4727448" y="1801368"/>
            <a:ext cx="2743200" cy="4087368"/>
          </a:xfrm>
          <a:prstGeom prst="roundRect">
            <a:avLst>
              <a:gd name="adj" fmla="val 1666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struct.step.rule.1"/>
          <p:cNvSpPr/>
          <p:nvPr/>
        </p:nvSpPr>
        <p:spPr>
          <a:xfrm>
            <a:off x="4846320" y="3131820"/>
            <a:ext cx="2496312" cy="914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struct.step.rule.2"/>
          <p:cNvSpPr/>
          <p:nvPr/>
        </p:nvSpPr>
        <p:spPr>
          <a:xfrm>
            <a:off x="4846320" y="4027932"/>
            <a:ext cx="2496312" cy="914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struct.step.rule.3"/>
          <p:cNvSpPr/>
          <p:nvPr/>
        </p:nvSpPr>
        <p:spPr>
          <a:xfrm>
            <a:off x="4846320" y="4924044"/>
            <a:ext cx="2496312" cy="914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struct.feeder.1"/>
          <p:cNvSpPr/>
          <p:nvPr/>
        </p:nvSpPr>
        <p:spPr>
          <a:xfrm>
            <a:off x="457200" y="97532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uct.feeder.1.arrow"/>
          <p:cNvCxnSpPr/>
          <p:nvPr/>
        </p:nvCxnSpPr>
        <p:spPr>
          <a:xfrm>
            <a:off x="3584448" y="135788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10" name="struct.feeder.1.tile"/>
          <p:cNvSpPr/>
          <p:nvPr/>
        </p:nvSpPr>
        <p:spPr>
          <a:xfrm>
            <a:off x="590550" y="111823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struct.feeder.2"/>
          <p:cNvSpPr/>
          <p:nvPr/>
        </p:nvSpPr>
        <p:spPr>
          <a:xfrm>
            <a:off x="457200" y="184403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" name="struct.feeder.2.arrow"/>
          <p:cNvCxnSpPr/>
          <p:nvPr/>
        </p:nvCxnSpPr>
        <p:spPr>
          <a:xfrm>
            <a:off x="3584448" y="222656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13" name="struct.feeder.2.tile"/>
          <p:cNvSpPr/>
          <p:nvPr/>
        </p:nvSpPr>
        <p:spPr>
          <a:xfrm>
            <a:off x="590550" y="198691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struct.feeder.3"/>
          <p:cNvSpPr/>
          <p:nvPr/>
        </p:nvSpPr>
        <p:spPr>
          <a:xfrm>
            <a:off x="457200" y="271269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" name="struct.feeder.3.arrow"/>
          <p:cNvCxnSpPr/>
          <p:nvPr/>
        </p:nvCxnSpPr>
        <p:spPr>
          <a:xfrm>
            <a:off x="3584448" y="309524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16" name="struct.feeder.3.tile"/>
          <p:cNvSpPr/>
          <p:nvPr/>
        </p:nvSpPr>
        <p:spPr>
          <a:xfrm>
            <a:off x="590550" y="285559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struct.feeder.4"/>
          <p:cNvSpPr/>
          <p:nvPr/>
        </p:nvSpPr>
        <p:spPr>
          <a:xfrm>
            <a:off x="457200" y="358140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struct.feeder.4.arrow"/>
          <p:cNvCxnSpPr/>
          <p:nvPr/>
        </p:nvCxnSpPr>
        <p:spPr>
          <a:xfrm>
            <a:off x="3584448" y="396392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19" name="struct.feeder.4.tile"/>
          <p:cNvSpPr/>
          <p:nvPr/>
        </p:nvSpPr>
        <p:spPr>
          <a:xfrm>
            <a:off x="590550" y="372427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struct.feeder.5"/>
          <p:cNvSpPr/>
          <p:nvPr/>
        </p:nvSpPr>
        <p:spPr>
          <a:xfrm>
            <a:off x="457200" y="445006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struct.feeder.5.arrow"/>
          <p:cNvCxnSpPr/>
          <p:nvPr/>
        </p:nvCxnSpPr>
        <p:spPr>
          <a:xfrm>
            <a:off x="3584448" y="483260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22" name="struct.feeder.5.tile"/>
          <p:cNvSpPr/>
          <p:nvPr/>
        </p:nvSpPr>
        <p:spPr>
          <a:xfrm>
            <a:off x="590550" y="459295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struct.feeder.6"/>
          <p:cNvSpPr/>
          <p:nvPr/>
        </p:nvSpPr>
        <p:spPr>
          <a:xfrm>
            <a:off x="457200" y="5318720"/>
            <a:ext cx="31242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struct.feeder.6.arrow"/>
          <p:cNvCxnSpPr/>
          <p:nvPr/>
        </p:nvCxnSpPr>
        <p:spPr>
          <a:xfrm>
            <a:off x="3584448" y="5701284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25" name="struct.feeder.6.tile"/>
          <p:cNvSpPr/>
          <p:nvPr/>
        </p:nvSpPr>
        <p:spPr>
          <a:xfrm>
            <a:off x="590550" y="5461635"/>
            <a:ext cx="476250" cy="476250"/>
          </a:xfrm>
          <a:prstGeom prst="roundRect">
            <a:avLst>
              <a:gd fmla="val 15385" name="adj"/>
            </a:avLst>
          </a:prstGeom>
          <a:solidFill>
            <a:schemeClr val="bg1"/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struct.outcome.1"/>
          <p:cNvSpPr/>
          <p:nvPr/>
        </p:nvSpPr>
        <p:spPr>
          <a:xfrm>
            <a:off x="8613648" y="978408"/>
            <a:ext cx="3127248" cy="8906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" name="struct.outcome.1.arrow"/>
          <p:cNvCxnSpPr/>
          <p:nvPr/>
        </p:nvCxnSpPr>
        <p:spPr>
          <a:xfrm>
            <a:off x="8074152" y="1423720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28" name="struct.outcome.2"/>
          <p:cNvSpPr/>
          <p:nvPr/>
        </p:nvSpPr>
        <p:spPr>
          <a:xfrm>
            <a:off x="8613648" y="2033625"/>
            <a:ext cx="3127248" cy="8906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9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struct.outcome.2.arrow"/>
          <p:cNvCxnSpPr/>
          <p:nvPr/>
        </p:nvCxnSpPr>
        <p:spPr>
          <a:xfrm>
            <a:off x="8074152" y="2478938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30" name="struct.outcome.3"/>
          <p:cNvSpPr/>
          <p:nvPr/>
        </p:nvSpPr>
        <p:spPr>
          <a:xfrm>
            <a:off x="8613648" y="3088843"/>
            <a:ext cx="3127248" cy="8906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9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struct.outcome.3.arrow"/>
          <p:cNvCxnSpPr/>
          <p:nvPr/>
        </p:nvCxnSpPr>
        <p:spPr>
          <a:xfrm>
            <a:off x="8074152" y="3534156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32" name="struct.outcome.4"/>
          <p:cNvSpPr/>
          <p:nvPr/>
        </p:nvSpPr>
        <p:spPr>
          <a:xfrm>
            <a:off x="8613648" y="4144060"/>
            <a:ext cx="3127248" cy="8906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9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" name="struct.outcome.4.arrow"/>
          <p:cNvCxnSpPr/>
          <p:nvPr/>
        </p:nvCxnSpPr>
        <p:spPr>
          <a:xfrm>
            <a:off x="8074152" y="4589373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34" name="struct.outcome.5"/>
          <p:cNvSpPr/>
          <p:nvPr/>
        </p:nvSpPr>
        <p:spPr>
          <a:xfrm>
            <a:off x="8613648" y="5199278"/>
            <a:ext cx="3127248" cy="8906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9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struct.outcome.5.arrow"/>
          <p:cNvCxnSpPr/>
          <p:nvPr/>
        </p:nvCxnSpPr>
        <p:spPr>
          <a:xfrm>
            <a:off x="8074152" y="5644591"/>
            <a:ext cx="539496" cy="0"/>
          </a:xfrm>
          <a:prstGeom prst="straightConnector1">
            <a:avLst/>
          </a:prstGeom>
          <a:noFill/>
          <a:ln w="15875">
            <a:solidFill>
              <a:schemeClr val="accent1"/>
            </a:solidFill>
            <a:tailEnd type="triangle" w="med" len="med"/>
          </a:ln>
          <a:effectLst/>
        </p:spPr>
      </p:cxnSp>
      <p:sp>
        <p:nvSpPr>
          <p:cNvPr id="36" name="slot.title"/>
          <p:cNvSpPr/>
          <p:nvPr/>
        </p:nvSpPr>
        <p:spPr>
          <a:xfrm>
            <a:off x="347472" y="256032"/>
            <a:ext cx="1147572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Six sources converge on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governed platform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that serves five teams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hub.outer.label"/>
          <p:cNvSpPr/>
          <p:nvPr/>
        </p:nvSpPr>
        <p:spPr>
          <a:xfrm>
            <a:off x="4187952" y="1042415"/>
            <a:ext cx="381304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Shared data foundation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hub.inner.label"/>
          <p:cNvSpPr/>
          <p:nvPr/>
        </p:nvSpPr>
        <p:spPr>
          <a:xfrm>
            <a:off x="4480560" y="1408176"/>
            <a:ext cx="32186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Common definitions and access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hub.core.label"/>
          <p:cNvSpPr/>
          <p:nvPr/>
        </p:nvSpPr>
        <p:spPr>
          <a:xfrm>
            <a:off x="4782312" y="1865376"/>
            <a:ext cx="2633472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Platform services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feeder.1.text"/>
          <p:cNvSpPr/>
          <p:nvPr/>
        </p:nvSpPr>
        <p:spPr>
          <a:xfrm>
            <a:off x="1161288" y="103327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Sales and order history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Daily orders from three regions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feeder.2.text"/>
          <p:cNvSpPr/>
          <p:nvPr/>
        </p:nvSpPr>
        <p:spPr>
          <a:xfrm>
            <a:off x="1161288" y="190195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Quality and audit records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Inspections and corrective actions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feeder.3.text"/>
          <p:cNvSpPr/>
          <p:nvPr/>
        </p:nvSpPr>
        <p:spPr>
          <a:xfrm>
            <a:off x="1161288" y="277063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Product reference data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Specifications, packs and pricing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feeder.4.text"/>
          <p:cNvSpPr/>
          <p:nvPr/>
        </p:nvSpPr>
        <p:spPr>
          <a:xfrm>
            <a:off x="1161288" y="363931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Customer master records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Accounts, contacts and service tiers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feeder.5.text"/>
          <p:cNvSpPr/>
          <p:nvPr/>
        </p:nvSpPr>
        <p:spPr>
          <a:xfrm>
            <a:off x="1161288" y="450799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Partner and supplier feeds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Weekly files from outside partners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feeder.6.text"/>
          <p:cNvSpPr/>
          <p:nvPr/>
        </p:nvSpPr>
        <p:spPr>
          <a:xfrm>
            <a:off x="1161288" y="5376672"/>
            <a:ext cx="2377440" cy="6492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Field service logs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Visit notes and parts used per job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step.1.num"/>
          <p:cNvSpPr/>
          <p:nvPr/>
        </p:nvSpPr>
        <p:spPr>
          <a:xfrm>
            <a:off x="4791456" y="2459736"/>
            <a:ext cx="42062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01</a:t>
            </a:r>
            <a:endParaRPr lang="en-US" sz="1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step.1.head"/>
          <p:cNvSpPr/>
          <p:nvPr/>
        </p:nvSpPr>
        <p:spPr>
          <a:xfrm>
            <a:off x="5239512" y="2432304"/>
            <a:ext cx="18288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Ingest once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step.1.body"/>
          <p:cNvSpPr/>
          <p:nvPr/>
        </p:nvSpPr>
        <p:spPr>
          <a:xfrm>
            <a:off x="5239512" y="2679192"/>
            <a:ext cx="2157984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One schedule for every source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step.2.num"/>
          <p:cNvSpPr/>
          <p:nvPr/>
        </p:nvSpPr>
        <p:spPr>
          <a:xfrm>
            <a:off x="4791456" y="3355848"/>
            <a:ext cx="42062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02</a:t>
            </a:r>
            <a:endParaRPr lang="en-US" sz="1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step.2.head"/>
          <p:cNvSpPr/>
          <p:nvPr/>
        </p:nvSpPr>
        <p:spPr>
          <a:xfrm>
            <a:off x="5239512" y="3328416"/>
            <a:ext cx="18288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Standardize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step.2.body"/>
          <p:cNvSpPr/>
          <p:nvPr/>
        </p:nvSpPr>
        <p:spPr>
          <a:xfrm>
            <a:off x="5239512" y="3575304"/>
            <a:ext cx="2157984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 terms on every record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step.3.num"/>
          <p:cNvSpPr/>
          <p:nvPr/>
        </p:nvSpPr>
        <p:spPr>
          <a:xfrm>
            <a:off x="4791456" y="4251960"/>
            <a:ext cx="42062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03</a:t>
            </a:r>
            <a:endParaRPr lang="en-US" sz="1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lot.step.3.head"/>
          <p:cNvSpPr/>
          <p:nvPr/>
        </p:nvSpPr>
        <p:spPr>
          <a:xfrm>
            <a:off x="5239512" y="4224528"/>
            <a:ext cx="18288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Govern access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step.3.body"/>
          <p:cNvSpPr/>
          <p:nvPr/>
        </p:nvSpPr>
        <p:spPr>
          <a:xfrm>
            <a:off x="5239512" y="4471416"/>
            <a:ext cx="2157984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Role rules at query time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step.4.num"/>
          <p:cNvSpPr/>
          <p:nvPr/>
        </p:nvSpPr>
        <p:spPr>
          <a:xfrm>
            <a:off x="4791456" y="5148072"/>
            <a:ext cx="420624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04</a:t>
            </a:r>
            <a:endParaRPr lang="en-US" sz="18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step.4.head"/>
          <p:cNvSpPr/>
          <p:nvPr/>
        </p:nvSpPr>
        <p:spPr>
          <a:xfrm>
            <a:off x="5239512" y="5120640"/>
            <a:ext cx="18288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Serve by API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step.4.body"/>
          <p:cNvSpPr/>
          <p:nvPr/>
        </p:nvSpPr>
        <p:spPr>
          <a:xfrm>
            <a:off x="5239512" y="5367527"/>
            <a:ext cx="2157984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One endpoint per question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outcome.1.head"/>
          <p:cNvSpPr/>
          <p:nvPr/>
        </p:nvSpPr>
        <p:spPr>
          <a:xfrm>
            <a:off x="9144000" y="1115568"/>
            <a:ext cx="250545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Faster market reports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outcome.1.body"/>
          <p:cNvSpPr/>
          <p:nvPr/>
        </p:nvSpPr>
        <p:spPr>
          <a:xfrm>
            <a:off x="8741664" y="1417320"/>
            <a:ext cx="290779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New reports ship in days instead of quarters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outcome.2.head"/>
          <p:cNvSpPr/>
          <p:nvPr/>
        </p:nvSpPr>
        <p:spPr>
          <a:xfrm>
            <a:off x="9144000" y="2170785"/>
            <a:ext cx="250545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Fewer audit findings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outcome.2.body"/>
          <p:cNvSpPr/>
          <p:nvPr/>
        </p:nvSpPr>
        <p:spPr>
          <a:xfrm>
            <a:off x="8741664" y="2472537"/>
            <a:ext cx="290779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lineage trail answers each reviewer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outcome.3.head"/>
          <p:cNvSpPr/>
          <p:nvPr/>
        </p:nvSpPr>
        <p:spPr>
          <a:xfrm>
            <a:off x="9144000" y="3226003"/>
            <a:ext cx="250545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Steadier forecasts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outcome.3.body"/>
          <p:cNvSpPr/>
          <p:nvPr/>
        </p:nvSpPr>
        <p:spPr>
          <a:xfrm>
            <a:off x="8741664" y="3527755"/>
            <a:ext cx="290779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Demand models train on one reconciled history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outcome.4.head"/>
          <p:cNvSpPr/>
          <p:nvPr/>
        </p:nvSpPr>
        <p:spPr>
          <a:xfrm>
            <a:off x="9144000" y="4281220"/>
            <a:ext cx="250545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leadership view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lot.outcome.4.body"/>
          <p:cNvSpPr/>
          <p:nvPr/>
        </p:nvSpPr>
        <p:spPr>
          <a:xfrm>
            <a:off x="8741664" y="4582972"/>
            <a:ext cx="290779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Every review reads the same numbers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outcome.5.head"/>
          <p:cNvSpPr/>
          <p:nvPr/>
        </p:nvSpPr>
        <p:spPr>
          <a:xfrm>
            <a:off x="9144000" y="5336438"/>
            <a:ext cx="250545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Self-serve analysts</a:t>
            </a:r>
            <a:endParaRPr lang="en-US" sz="1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outcome.5.body"/>
          <p:cNvSpPr/>
          <p:nvPr/>
        </p:nvSpPr>
        <p:spPr>
          <a:xfrm>
            <a:off x="8741664" y="5638190"/>
            <a:ext cx="290779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Teams query governed data without tickets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step.1.icon"/>
          <p:cNvSpPr/>
          <p:nvPr/>
        </p:nvSpPr>
        <p:spPr>
          <a:xfrm>
            <a:off x="7132320" y="2441448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69" name="slot.step.2.icon"/>
          <p:cNvSpPr/>
          <p:nvPr/>
        </p:nvSpPr>
        <p:spPr>
          <a:xfrm>
            <a:off x="7132320" y="33375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70" name="slot.step.3.icon"/>
          <p:cNvSpPr/>
          <p:nvPr/>
        </p:nvSpPr>
        <p:spPr>
          <a:xfrm>
            <a:off x="7132320" y="4233672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71" name="slot.step.4.icon"/>
          <p:cNvSpPr/>
          <p:nvPr/>
        </p:nvSpPr>
        <p:spPr>
          <a:xfrm>
            <a:off x="7132320" y="512978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7000"/>
                </a:lnTo>
                <a:moveTo>
                  <a:pt x="15000" y="8000"/>
                </a:moveTo>
                <a:lnTo>
                  <a:pt x="15000" y="2000"/>
                </a:lnTo>
                <a:moveTo>
                  <a:pt x="17000" y="8000"/>
                </a:moveTo>
                <a:cubicBezTo>
                  <a:pt x="17552" y="8000"/>
                  <a:pt x="18000" y="8448"/>
                  <a:pt x="18000" y="9000"/>
                </a:cubicBezTo>
                <a:lnTo>
                  <a:pt x="18000" y="13000"/>
                </a:lnTo>
                <a:cubicBezTo>
                  <a:pt x="18000" y="15209"/>
                  <a:pt x="16209" y="17000"/>
                  <a:pt x="14000" y="17000"/>
                </a:cubicBezTo>
                <a:lnTo>
                  <a:pt x="10000" y="17000"/>
                </a:lnTo>
                <a:cubicBezTo>
                  <a:pt x="7791" y="17000"/>
                  <a:pt x="6000" y="15209"/>
                  <a:pt x="6000" y="13000"/>
                </a:cubicBezTo>
                <a:lnTo>
                  <a:pt x="6000" y="9000"/>
                </a:lnTo>
                <a:cubicBezTo>
                  <a:pt x="6000" y="8448"/>
                  <a:pt x="6448" y="8000"/>
                  <a:pt x="7000" y="8000"/>
                </a:cubicBezTo>
                <a:close/>
                <a:moveTo>
                  <a:pt x="9000" y="8000"/>
                </a:moveTo>
                <a:lnTo>
                  <a:pt x="9000" y="2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72" name="slot.feeder.1.icon"/>
          <p:cNvSpPr/>
          <p:nvPr/>
        </p:nvSpPr>
        <p:spPr>
          <a:xfrm>
            <a:off x="657454" y="118506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9000" y="3000"/>
                </a:lnTo>
                <a:cubicBezTo>
                  <a:pt x="9552" y="3000"/>
                  <a:pt x="10000" y="3448"/>
                  <a:pt x="10000" y="4000"/>
                </a:cubicBezTo>
                <a:lnTo>
                  <a:pt x="10000" y="11000"/>
                </a:lnTo>
                <a:cubicBezTo>
                  <a:pt x="10000" y="11552"/>
                  <a:pt x="9552" y="12000"/>
                  <a:pt x="9000" y="12000"/>
                </a:cubicBezTo>
                <a:lnTo>
                  <a:pt x="4000" y="12000"/>
                </a:lnTo>
                <a:cubicBezTo>
                  <a:pt x="3448" y="12000"/>
                  <a:pt x="3000" y="11552"/>
                  <a:pt x="3000" y="11000"/>
                </a:cubicBezTo>
                <a:lnTo>
                  <a:pt x="3000" y="4000"/>
                </a:lnTo>
                <a:cubicBezTo>
                  <a:pt x="3000" y="3448"/>
                  <a:pt x="3448" y="3000"/>
                  <a:pt x="4000" y="3000"/>
                </a:cubicBezTo>
                <a:close/>
                <a:moveTo>
                  <a:pt x="15000" y="3000"/>
                </a:moveTo>
                <a:lnTo>
                  <a:pt x="20000" y="3000"/>
                </a:lnTo>
                <a:cubicBezTo>
                  <a:pt x="20552" y="3000"/>
                  <a:pt x="21000" y="3448"/>
                  <a:pt x="21000" y="4000"/>
                </a:cubicBezTo>
                <a:lnTo>
                  <a:pt x="21000" y="7000"/>
                </a:lnTo>
                <a:cubicBezTo>
                  <a:pt x="21000" y="7552"/>
                  <a:pt x="20552" y="8000"/>
                  <a:pt x="20000" y="8000"/>
                </a:cubicBezTo>
                <a:lnTo>
                  <a:pt x="15000" y="8000"/>
                </a:lnTo>
                <a:cubicBezTo>
                  <a:pt x="14448" y="8000"/>
                  <a:pt x="14000" y="7552"/>
                  <a:pt x="14000" y="7000"/>
                </a:cubicBezTo>
                <a:lnTo>
                  <a:pt x="14000" y="4000"/>
                </a:lnTo>
                <a:cubicBezTo>
                  <a:pt x="14000" y="3448"/>
                  <a:pt x="14448" y="3000"/>
                  <a:pt x="15000" y="3000"/>
                </a:cubicBezTo>
                <a:close/>
                <a:moveTo>
                  <a:pt x="15000" y="12000"/>
                </a:moveTo>
                <a:lnTo>
                  <a:pt x="20000" y="12000"/>
                </a:lnTo>
                <a:cubicBezTo>
                  <a:pt x="20552" y="12000"/>
                  <a:pt x="21000" y="12448"/>
                  <a:pt x="21000" y="13000"/>
                </a:cubicBezTo>
                <a:lnTo>
                  <a:pt x="21000" y="20000"/>
                </a:lnTo>
                <a:cubicBezTo>
                  <a:pt x="21000" y="20552"/>
                  <a:pt x="20552" y="21000"/>
                  <a:pt x="20000" y="21000"/>
                </a:cubicBezTo>
                <a:lnTo>
                  <a:pt x="15000" y="21000"/>
                </a:lnTo>
                <a:cubicBezTo>
                  <a:pt x="14448" y="21000"/>
                  <a:pt x="14000" y="20552"/>
                  <a:pt x="14000" y="20000"/>
                </a:cubicBezTo>
                <a:lnTo>
                  <a:pt x="14000" y="13000"/>
                </a:lnTo>
                <a:cubicBezTo>
                  <a:pt x="14000" y="12448"/>
                  <a:pt x="14448" y="12000"/>
                  <a:pt x="15000" y="12000"/>
                </a:cubicBezTo>
                <a:close/>
                <a:moveTo>
                  <a:pt x="4000" y="16000"/>
                </a:moveTo>
                <a:lnTo>
                  <a:pt x="9000" y="16000"/>
                </a:lnTo>
                <a:cubicBezTo>
                  <a:pt x="9552" y="16000"/>
                  <a:pt x="10000" y="16448"/>
                  <a:pt x="10000" y="17000"/>
                </a:cubicBezTo>
                <a:lnTo>
                  <a:pt x="10000" y="20000"/>
                </a:lnTo>
                <a:cubicBezTo>
                  <a:pt x="10000" y="20552"/>
                  <a:pt x="9552" y="21000"/>
                  <a:pt x="9000" y="21000"/>
                </a:cubicBezTo>
                <a:lnTo>
                  <a:pt x="4000" y="21000"/>
                </a:lnTo>
                <a:cubicBezTo>
                  <a:pt x="3448" y="21000"/>
                  <a:pt x="3000" y="20552"/>
                  <a:pt x="3000" y="20000"/>
                </a:cubicBezTo>
                <a:lnTo>
                  <a:pt x="3000" y="17000"/>
                </a:lnTo>
                <a:cubicBezTo>
                  <a:pt x="3000" y="16448"/>
                  <a:pt x="3448" y="16000"/>
                  <a:pt x="4000" y="16000"/>
                </a:cubicBezTo>
                <a:close/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3" name="slot.feeder.2.icon"/>
          <p:cNvSpPr/>
          <p:nvPr/>
        </p:nvSpPr>
        <p:spPr>
          <a:xfrm>
            <a:off x="657454" y="205374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477" y="12890"/>
                </a:moveTo>
                <a:lnTo>
                  <a:pt x="16992" y="21416"/>
                </a:lnTo>
                <a:cubicBezTo>
                  <a:pt x="17027" y="21622"/>
                  <a:pt x="16930" y="21827"/>
                  <a:pt x="16750" y="21932"/>
                </a:cubicBezTo>
                <a:cubicBezTo>
                  <a:pt x="16570" y="22036"/>
                  <a:pt x="16343" y="22018"/>
                  <a:pt x="16182" y="21886"/>
                </a:cubicBezTo>
                <a:lnTo>
                  <a:pt x="12602" y="19199"/>
                </a:lnTo>
                <a:cubicBezTo>
                  <a:pt x="12247" y="18934"/>
                  <a:pt x="11760" y="18934"/>
                  <a:pt x="11405" y="19199"/>
                </a:cubicBezTo>
                <a:lnTo>
                  <a:pt x="7819" y="21885"/>
                </a:lnTo>
                <a:cubicBezTo>
                  <a:pt x="7658" y="22017"/>
                  <a:pt x="7432" y="22035"/>
                  <a:pt x="7252" y="21931"/>
                </a:cubicBezTo>
                <a:cubicBezTo>
                  <a:pt x="7071" y="21827"/>
                  <a:pt x="6975" y="21621"/>
                  <a:pt x="7009" y="21416"/>
                </a:cubicBezTo>
                <a:lnTo>
                  <a:pt x="8523" y="12890"/>
                </a:lnTo>
                <a:moveTo>
                  <a:pt x="18000" y="8000"/>
                </a:moveTo>
                <a:cubicBezTo>
                  <a:pt x="18000" y="11314"/>
                  <a:pt x="15314" y="14000"/>
                  <a:pt x="12000" y="14000"/>
                </a:cubicBezTo>
                <a:cubicBezTo>
                  <a:pt x="8686" y="14000"/>
                  <a:pt x="6000" y="11314"/>
                  <a:pt x="6000" y="8000"/>
                </a:cubicBezTo>
                <a:cubicBezTo>
                  <a:pt x="6000" y="4686"/>
                  <a:pt x="8686" y="2000"/>
                  <a:pt x="12000" y="2000"/>
                </a:cubicBezTo>
                <a:cubicBezTo>
                  <a:pt x="15314" y="2000"/>
                  <a:pt x="18000" y="4686"/>
                  <a:pt x="18000" y="8000"/>
                </a:cubicBezTo>
                <a:close/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4" name="slot.feeder.3.icon"/>
          <p:cNvSpPr/>
          <p:nvPr/>
        </p:nvSpPr>
        <p:spPr>
          <a:xfrm>
            <a:off x="657454" y="292242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lnTo>
                  <a:pt x="12000" y="21000"/>
                </a:lnTo>
                <a:moveTo>
                  <a:pt x="20001" y="19000"/>
                </a:moveTo>
                <a:cubicBezTo>
                  <a:pt x="21105" y="18999"/>
                  <a:pt x="22000" y="18104"/>
                  <a:pt x="22000" y="17000"/>
                </a:cubicBezTo>
                <a:lnTo>
                  <a:pt x="22000" y="5000"/>
                </a:lnTo>
                <a:cubicBezTo>
                  <a:pt x="22000" y="3896"/>
                  <a:pt x="21105" y="3001"/>
                  <a:pt x="20001" y="3000"/>
                </a:cubicBezTo>
                <a:lnTo>
                  <a:pt x="16000" y="3002"/>
                </a:lnTo>
                <a:cubicBezTo>
                  <a:pt x="14427" y="3002"/>
                  <a:pt x="12945" y="3742"/>
                  <a:pt x="12000" y="5000"/>
                </a:cubicBezTo>
                <a:cubicBezTo>
                  <a:pt x="11056" y="3741"/>
                  <a:pt x="9574" y="3000"/>
                  <a:pt x="8000" y="3000"/>
                </a:cubicBezTo>
                <a:lnTo>
                  <a:pt x="4000" y="3000"/>
                </a:lnTo>
                <a:cubicBezTo>
                  <a:pt x="2895" y="3000"/>
                  <a:pt x="2000" y="3895"/>
                  <a:pt x="2000" y="5000"/>
                </a:cubicBezTo>
                <a:lnTo>
                  <a:pt x="2000" y="17000"/>
                </a:lnTo>
                <a:cubicBezTo>
                  <a:pt x="2000" y="18104"/>
                  <a:pt x="2895" y="18999"/>
                  <a:pt x="3999" y="19000"/>
                </a:cubicBezTo>
                <a:lnTo>
                  <a:pt x="8000" y="19000"/>
                </a:lnTo>
                <a:cubicBezTo>
                  <a:pt x="9574" y="19000"/>
                  <a:pt x="11056" y="19741"/>
                  <a:pt x="12000" y="21000"/>
                </a:cubicBezTo>
                <a:cubicBezTo>
                  <a:pt x="12944" y="19741"/>
                  <a:pt x="14426" y="19000"/>
                  <a:pt x="16000" y="19000"/>
                </a:cubicBezTo>
                <a:close/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5" name="slot.feeder.4.icon"/>
          <p:cNvSpPr/>
          <p:nvPr/>
        </p:nvSpPr>
        <p:spPr>
          <a:xfrm>
            <a:off x="657454" y="379110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6" name="slot.feeder.5.icon"/>
          <p:cNvSpPr/>
          <p:nvPr/>
        </p:nvSpPr>
        <p:spPr>
          <a:xfrm>
            <a:off x="657454" y="465978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13000"/>
                </a:moveTo>
                <a:cubicBezTo>
                  <a:pt x="10869" y="14162"/>
                  <a:pt x="12200" y="14889"/>
                  <a:pt x="13647" y="14992"/>
                </a:cubicBezTo>
                <a:cubicBezTo>
                  <a:pt x="15094" y="15096"/>
                  <a:pt x="16514" y="14566"/>
                  <a:pt x="17540" y="13540"/>
                </a:cubicBezTo>
                <a:lnTo>
                  <a:pt x="20540" y="10540"/>
                </a:lnTo>
                <a:cubicBezTo>
                  <a:pt x="22435" y="8578"/>
                  <a:pt x="22408" y="5460"/>
                  <a:pt x="20479" y="3531"/>
                </a:cubicBezTo>
                <a:cubicBezTo>
                  <a:pt x="18550" y="1602"/>
                  <a:pt x="15432" y="1575"/>
                  <a:pt x="13470" y="3470"/>
                </a:cubicBezTo>
                <a:lnTo>
                  <a:pt x="11750" y="5180"/>
                </a:lnTo>
                <a:moveTo>
                  <a:pt x="14000" y="11000"/>
                </a:moveTo>
                <a:cubicBezTo>
                  <a:pt x="13131" y="9838"/>
                  <a:pt x="11800" y="9111"/>
                  <a:pt x="10353" y="9008"/>
                </a:cubicBezTo>
                <a:cubicBezTo>
                  <a:pt x="8906" y="8904"/>
                  <a:pt x="7486" y="9434"/>
                  <a:pt x="6460" y="10460"/>
                </a:cubicBezTo>
                <a:lnTo>
                  <a:pt x="3460" y="13460"/>
                </a:lnTo>
                <a:cubicBezTo>
                  <a:pt x="1565" y="15422"/>
                  <a:pt x="1592" y="18540"/>
                  <a:pt x="3521" y="20469"/>
                </a:cubicBezTo>
                <a:cubicBezTo>
                  <a:pt x="5450" y="22398"/>
                  <a:pt x="8568" y="22425"/>
                  <a:pt x="10530" y="20530"/>
                </a:cubicBezTo>
                <a:lnTo>
                  <a:pt x="12240" y="18820"/>
                </a:lnTo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7" name="slot.feeder.6.icon"/>
          <p:cNvSpPr/>
          <p:nvPr/>
        </p:nvSpPr>
        <p:spPr>
          <a:xfrm>
            <a:off x="657454" y="552846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8575" cap="rnd">
            <a:solidFill>
              <a:schemeClr val="accent1"/>
            </a:solidFill>
            <a:round/>
          </a:ln>
          <a:effectLst/>
        </p:spPr>
      </p:sp>
      <p:sp>
        <p:nvSpPr>
          <p:cNvPr id="78" name="slot.outcome.1.icon"/>
          <p:cNvSpPr/>
          <p:nvPr/>
        </p:nvSpPr>
        <p:spPr>
          <a:xfrm>
            <a:off x="8753551" y="1129284"/>
            <a:ext cx="267005" cy="2670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5000"/>
                </a:moveTo>
                <a:lnTo>
                  <a:pt x="12000" y="20000"/>
                </a:lnTo>
                <a:cubicBezTo>
                  <a:pt x="12000" y="20000"/>
                  <a:pt x="15030" y="19450"/>
                  <a:pt x="16000" y="18000"/>
                </a:cubicBezTo>
                <a:cubicBezTo>
                  <a:pt x="17080" y="16380"/>
                  <a:pt x="16000" y="13000"/>
                  <a:pt x="16000" y="13000"/>
                </a:cubicBezTo>
                <a:moveTo>
                  <a:pt x="4500" y="16500"/>
                </a:moveTo>
                <a:cubicBezTo>
                  <a:pt x="3000" y="17760"/>
                  <a:pt x="2500" y="21500"/>
                  <a:pt x="2500" y="21500"/>
                </a:cubicBezTo>
                <a:cubicBezTo>
                  <a:pt x="2500" y="21500"/>
                  <a:pt x="6240" y="21000"/>
                  <a:pt x="7500" y="19500"/>
                </a:cubicBezTo>
                <a:cubicBezTo>
                  <a:pt x="8210" y="18660"/>
                  <a:pt x="8200" y="17370"/>
                  <a:pt x="7410" y="16590"/>
                </a:cubicBezTo>
                <a:cubicBezTo>
                  <a:pt x="6605" y="15822"/>
                  <a:pt x="5351" y="15783"/>
                  <a:pt x="4500" y="16500"/>
                </a:cubicBezTo>
                <a:moveTo>
                  <a:pt x="9000" y="12000"/>
                </a:moveTo>
                <a:cubicBezTo>
                  <a:pt x="9532" y="10619"/>
                  <a:pt x="10202" y="9296"/>
                  <a:pt x="11000" y="8050"/>
                </a:cubicBezTo>
                <a:cubicBezTo>
                  <a:pt x="13369" y="4262"/>
                  <a:pt x="17532" y="1972"/>
                  <a:pt x="22000" y="2000"/>
                </a:cubicBezTo>
                <a:cubicBezTo>
                  <a:pt x="22000" y="4720"/>
                  <a:pt x="21220" y="9500"/>
                  <a:pt x="16000" y="13000"/>
                </a:cubicBezTo>
                <a:cubicBezTo>
                  <a:pt x="14737" y="13798"/>
                  <a:pt x="13397" y="14468"/>
                  <a:pt x="12000" y="15000"/>
                </a:cubicBezTo>
                <a:close/>
                <a:moveTo>
                  <a:pt x="9000" y="12000"/>
                </a:moveTo>
                <a:lnTo>
                  <a:pt x="4000" y="12000"/>
                </a:lnTo>
                <a:cubicBezTo>
                  <a:pt x="4000" y="12000"/>
                  <a:pt x="4550" y="8970"/>
                  <a:pt x="6000" y="8000"/>
                </a:cubicBezTo>
                <a:cubicBezTo>
                  <a:pt x="7620" y="6920"/>
                  <a:pt x="11000" y="8050"/>
                  <a:pt x="11000" y="8050"/>
                </a:cubicBezTo>
              </a:path>
            </a:pathLst>
          </a:custGeom>
          <a:noFill/>
          <a:ln w="22225" cap="rnd">
            <a:solidFill>
              <a:schemeClr val="accent1"/>
            </a:solidFill>
            <a:round/>
          </a:ln>
          <a:effectLst/>
        </p:spPr>
      </p:sp>
      <p:sp>
        <p:nvSpPr>
          <p:cNvPr id="79" name="slot.outcome.2.icon"/>
          <p:cNvSpPr/>
          <p:nvPr/>
        </p:nvSpPr>
        <p:spPr>
          <a:xfrm>
            <a:off x="8753551" y="2184502"/>
            <a:ext cx="267005" cy="2670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2225" cap="rnd">
            <a:solidFill>
              <a:schemeClr val="accent1"/>
            </a:solidFill>
            <a:round/>
          </a:ln>
          <a:effectLst/>
        </p:spPr>
      </p:sp>
      <p:sp>
        <p:nvSpPr>
          <p:cNvPr id="80" name="slot.outcome.3.icon"/>
          <p:cNvSpPr/>
          <p:nvPr/>
        </p:nvSpPr>
        <p:spPr>
          <a:xfrm>
            <a:off x="8753551" y="3239719"/>
            <a:ext cx="267005" cy="2670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8000"/>
                </a:moveTo>
                <a:lnTo>
                  <a:pt x="12000" y="5000"/>
                </a:lnTo>
                <a:moveTo>
                  <a:pt x="15000" y="13000"/>
                </a:moveTo>
                <a:cubicBezTo>
                  <a:pt x="13223" y="12481"/>
                  <a:pt x="12001" y="10851"/>
                  <a:pt x="12000" y="9000"/>
                </a:cubicBezTo>
                <a:cubicBezTo>
                  <a:pt x="11999" y="10851"/>
                  <a:pt x="10777" y="12481"/>
                  <a:pt x="9000" y="13000"/>
                </a:cubicBezTo>
                <a:moveTo>
                  <a:pt x="17598" y="6500"/>
                </a:moveTo>
                <a:cubicBezTo>
                  <a:pt x="18229" y="5408"/>
                  <a:pt x="18109" y="4038"/>
                  <a:pt x="17298" y="3072"/>
                </a:cubicBezTo>
                <a:cubicBezTo>
                  <a:pt x="16487" y="2105"/>
                  <a:pt x="15159" y="1749"/>
                  <a:pt x="13974" y="2181"/>
                </a:cubicBezTo>
                <a:cubicBezTo>
                  <a:pt x="12789" y="2612"/>
                  <a:pt x="12000" y="3739"/>
                  <a:pt x="12000" y="5000"/>
                </a:cubicBezTo>
                <a:cubicBezTo>
                  <a:pt x="12000" y="3739"/>
                  <a:pt x="11211" y="2612"/>
                  <a:pt x="10026" y="2181"/>
                </a:cubicBezTo>
                <a:cubicBezTo>
                  <a:pt x="8841" y="1749"/>
                  <a:pt x="7513" y="2105"/>
                  <a:pt x="6702" y="3072"/>
                </a:cubicBezTo>
                <a:cubicBezTo>
                  <a:pt x="5891" y="4038"/>
                  <a:pt x="5771" y="5408"/>
                  <a:pt x="6402" y="6500"/>
                </a:cubicBezTo>
                <a:moveTo>
                  <a:pt x="17997" y="5125"/>
                </a:moveTo>
                <a:cubicBezTo>
                  <a:pt x="19188" y="5431"/>
                  <a:pt x="20172" y="6268"/>
                  <a:pt x="20665" y="7395"/>
                </a:cubicBezTo>
                <a:cubicBezTo>
                  <a:pt x="21158" y="8521"/>
                  <a:pt x="21106" y="9812"/>
                  <a:pt x="20523" y="10895"/>
                </a:cubicBezTo>
                <a:moveTo>
                  <a:pt x="18000" y="18000"/>
                </a:moveTo>
                <a:cubicBezTo>
                  <a:pt x="19810" y="18000"/>
                  <a:pt x="21395" y="16784"/>
                  <a:pt x="21864" y="15035"/>
                </a:cubicBezTo>
                <a:cubicBezTo>
                  <a:pt x="22332" y="13287"/>
                  <a:pt x="21568" y="11441"/>
                  <a:pt x="20000" y="10536"/>
                </a:cubicBezTo>
                <a:moveTo>
                  <a:pt x="19967" y="17483"/>
                </a:moveTo>
                <a:cubicBezTo>
                  <a:pt x="20158" y="18961"/>
                  <a:pt x="19512" y="20422"/>
                  <a:pt x="18290" y="21275"/>
                </a:cubicBezTo>
                <a:cubicBezTo>
                  <a:pt x="17069" y="22128"/>
                  <a:pt x="15474" y="22232"/>
                  <a:pt x="14153" y="21544"/>
                </a:cubicBezTo>
                <a:cubicBezTo>
                  <a:pt x="12831" y="20856"/>
                  <a:pt x="12002" y="19490"/>
                  <a:pt x="12000" y="18000"/>
                </a:cubicBezTo>
                <a:cubicBezTo>
                  <a:pt x="11998" y="19490"/>
                  <a:pt x="11169" y="20856"/>
                  <a:pt x="9847" y="21544"/>
                </a:cubicBezTo>
                <a:cubicBezTo>
                  <a:pt x="8526" y="22232"/>
                  <a:pt x="6931" y="22128"/>
                  <a:pt x="5710" y="21275"/>
                </a:cubicBezTo>
                <a:cubicBezTo>
                  <a:pt x="4488" y="20422"/>
                  <a:pt x="3842" y="18961"/>
                  <a:pt x="4033" y="17483"/>
                </a:cubicBezTo>
                <a:moveTo>
                  <a:pt x="6000" y="18000"/>
                </a:moveTo>
                <a:cubicBezTo>
                  <a:pt x="4190" y="18000"/>
                  <a:pt x="2605" y="16784"/>
                  <a:pt x="2136" y="15035"/>
                </a:cubicBezTo>
                <a:cubicBezTo>
                  <a:pt x="1668" y="13287"/>
                  <a:pt x="2432" y="11441"/>
                  <a:pt x="4000" y="10536"/>
                </a:cubicBezTo>
                <a:moveTo>
                  <a:pt x="6003" y="5125"/>
                </a:move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</a:path>
            </a:pathLst>
          </a:custGeom>
          <a:noFill/>
          <a:ln w="22225" cap="rnd">
            <a:solidFill>
              <a:schemeClr val="accent1"/>
            </a:solidFill>
            <a:round/>
          </a:ln>
          <a:effectLst/>
        </p:spPr>
      </p:sp>
      <p:sp>
        <p:nvSpPr>
          <p:cNvPr id="81" name="slot.outcome.4.icon"/>
          <p:cNvSpPr/>
          <p:nvPr/>
        </p:nvSpPr>
        <p:spPr>
          <a:xfrm>
            <a:off x="8753551" y="4294937"/>
            <a:ext cx="267005" cy="2670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lnTo>
                  <a:pt x="22000" y="15000"/>
                </a:lnTo>
                <a:cubicBezTo>
                  <a:pt x="22000" y="16105"/>
                  <a:pt x="21105" y="17000"/>
                  <a:pt x="20000" y="17000"/>
                </a:cubicBezTo>
                <a:lnTo>
                  <a:pt x="4000" y="17000"/>
                </a:lnTo>
                <a:cubicBezTo>
                  <a:pt x="2895" y="17000"/>
                  <a:pt x="2000" y="16105"/>
                  <a:pt x="2000" y="15000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close/>
                <a:moveTo>
                  <a:pt x="8000" y="21000"/>
                </a:moveTo>
                <a:lnTo>
                  <a:pt x="16000" y="21000"/>
                </a:lnTo>
                <a:moveTo>
                  <a:pt x="12000" y="17000"/>
                </a:moveTo>
                <a:lnTo>
                  <a:pt x="12000" y="21000"/>
                </a:lnTo>
              </a:path>
            </a:pathLst>
          </a:custGeom>
          <a:noFill/>
          <a:ln w="22225" cap="rnd">
            <a:solidFill>
              <a:schemeClr val="accent1"/>
            </a:solidFill>
            <a:round/>
          </a:ln>
          <a:effectLst/>
        </p:spPr>
      </p:sp>
      <p:sp>
        <p:nvSpPr>
          <p:cNvPr id="82" name="slot.outcome.5.icon"/>
          <p:cNvSpPr/>
          <p:nvPr/>
        </p:nvSpPr>
        <p:spPr>
          <a:xfrm>
            <a:off x="8753551" y="5350154"/>
            <a:ext cx="267005" cy="2670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222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input-process-output:pill-triptych-step-stack-proofs">
    <p:spTree>
      <p:nvGrpSpPr>
        <p:cNvPr id="1" name=""/>
        <p:cNvGrpSpPr/>
        <p:nvPr/>
      </p:nvGrpSpPr>
      <p:grpSpPr/>
      <p:sp>
        <p:nvSpPr>
          <p:cNvPr id="2" name="slot.title"/>
          <p:cNvSpPr/>
          <p:nvPr/>
        </p:nvSpPr>
        <p:spPr>
          <a:xfrm>
            <a:off x="411480" y="256032"/>
            <a:ext cx="11365992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Six automated steps</a:t>
            </a: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turn sales signals into a </a:t>
            </a: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weekly demand plan</a:t>
            </a:r>
            <a:endParaRPr lang="en-US" sz="24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input.panel"/>
          <p:cNvSpPr/>
          <p:nvPr/>
        </p:nvSpPr>
        <p:spPr>
          <a:xfrm>
            <a:off x="411480" y="896112"/>
            <a:ext cx="3246120" cy="4443984"/>
          </a:xfrm>
          <a:prstGeom prst="roundRect">
            <a:avLst>
              <a:gd fmla="val 1408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struct.method.panel"/>
          <p:cNvSpPr/>
          <p:nvPr/>
        </p:nvSpPr>
        <p:spPr>
          <a:xfrm>
            <a:off x="3913632" y="896112"/>
            <a:ext cx="4526280" cy="4443984"/>
          </a:xfrm>
          <a:prstGeom prst="roundRect">
            <a:avLst>
              <a:gd fmla="val 1029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truct.output.panel"/>
          <p:cNvSpPr/>
          <p:nvPr/>
        </p:nvSpPr>
        <p:spPr>
          <a:xfrm>
            <a:off x="8695944" y="896112"/>
            <a:ext cx="3081528" cy="4443984"/>
          </a:xfrm>
          <a:prstGeom prst="roundRect">
            <a:avLst>
              <a:gd fmla="val 1484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struct.input.pill"/>
          <p:cNvSpPr/>
          <p:nvPr/>
        </p:nvSpPr>
        <p:spPr>
          <a:xfrm>
            <a:off x="576072" y="969264"/>
            <a:ext cx="1207008" cy="36576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truct.input.disc"/>
          <p:cNvSpPr/>
          <p:nvPr/>
        </p:nvSpPr>
        <p:spPr>
          <a:xfrm>
            <a:off x="621792" y="1014984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slot.input.head"/>
          <p:cNvSpPr/>
          <p:nvPr/>
        </p:nvSpPr>
        <p:spPr>
          <a:xfrm>
            <a:off x="969264" y="969264"/>
            <a:ext cx="786384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Inputs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truct.method.pill"/>
          <p:cNvSpPr/>
          <p:nvPr/>
        </p:nvSpPr>
        <p:spPr>
          <a:xfrm>
            <a:off x="4078224" y="969264"/>
            <a:ext cx="2221992" cy="36576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struct.method.disc"/>
          <p:cNvSpPr/>
          <p:nvPr/>
        </p:nvSpPr>
        <p:spPr>
          <a:xfrm>
            <a:off x="4123944" y="1014984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slot.method.head"/>
          <p:cNvSpPr/>
          <p:nvPr/>
        </p:nvSpPr>
        <p:spPr>
          <a:xfrm>
            <a:off x="4471416" y="969264"/>
            <a:ext cx="180136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Forecast engine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truct.output.pill"/>
          <p:cNvSpPr/>
          <p:nvPr/>
        </p:nvSpPr>
        <p:spPr>
          <a:xfrm>
            <a:off x="8860536" y="969264"/>
            <a:ext cx="1353312" cy="36576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struct.output.disc"/>
          <p:cNvSpPr/>
          <p:nvPr/>
        </p:nvSpPr>
        <p:spPr>
          <a:xfrm>
            <a:off x="8906256" y="1014984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slot.output.head"/>
          <p:cNvSpPr/>
          <p:nvPr/>
        </p:nvSpPr>
        <p:spPr>
          <a:xfrm>
            <a:off x="9253728" y="969264"/>
            <a:ext cx="932688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Outputs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lot.input.brief.head"/>
          <p:cNvSpPr/>
          <p:nvPr/>
        </p:nvSpPr>
        <p:spPr>
          <a:xfrm>
            <a:off x="786384" y="1490472"/>
            <a:ext cx="273405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Planning questions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input.brief.1"/>
          <p:cNvSpPr/>
          <p:nvPr/>
        </p:nvSpPr>
        <p:spPr>
          <a:xfrm>
            <a:off x="777240" y="1737360"/>
            <a:ext cx="273405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Forecast horizon of 13 weeks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input.brief.2"/>
          <p:cNvSpPr/>
          <p:nvPr/>
        </p:nvSpPr>
        <p:spPr>
          <a:xfrm>
            <a:off x="777240" y="2011680"/>
            <a:ext cx="273405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Regions and channels in scope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input.brief.3"/>
          <p:cNvSpPr/>
          <p:nvPr/>
        </p:nvSpPr>
        <p:spPr>
          <a:xfrm>
            <a:off x="777240" y="2286000"/>
            <a:ext cx="273405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Accuracy target per product family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9" name="struct.input.rule"/>
          <p:cNvCxnSpPr/>
          <p:nvPr/>
        </p:nvCxnSpPr>
        <p:spPr>
          <a:xfrm>
            <a:off x="557784" y="2624328"/>
            <a:ext cx="2953512" cy="0"/>
          </a:xfrm>
          <a:prstGeom prst="straightConnector1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20" name="slot.input.sources.head"/>
          <p:cNvSpPr/>
          <p:nvPr/>
        </p:nvSpPr>
        <p:spPr>
          <a:xfrm>
            <a:off x="786384" y="2770632"/>
            <a:ext cx="2724912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Data sources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input.source.1"/>
          <p:cNvSpPr/>
          <p:nvPr/>
        </p:nvSpPr>
        <p:spPr>
          <a:xfrm>
            <a:off x="777240" y="301752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history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input.source.2"/>
          <p:cNvSpPr/>
          <p:nvPr/>
        </p:nvSpPr>
        <p:spPr>
          <a:xfrm>
            <a:off x="2258568" y="301752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Promotions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lot.input.source.3"/>
          <p:cNvSpPr/>
          <p:nvPr/>
        </p:nvSpPr>
        <p:spPr>
          <a:xfrm>
            <a:off x="777240" y="329184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Shipments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lot.input.source.4"/>
          <p:cNvSpPr/>
          <p:nvPr/>
        </p:nvSpPr>
        <p:spPr>
          <a:xfrm>
            <a:off x="2258568" y="329184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Market trends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input.source.5"/>
          <p:cNvSpPr/>
          <p:nvPr/>
        </p:nvSpPr>
        <p:spPr>
          <a:xfrm>
            <a:off x="777240" y="356616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Inventory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input.source.6"/>
          <p:cNvSpPr/>
          <p:nvPr/>
        </p:nvSpPr>
        <p:spPr>
          <a:xfrm>
            <a:off x="2258568" y="356616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Field notes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input.source.7"/>
          <p:cNvSpPr/>
          <p:nvPr/>
        </p:nvSpPr>
        <p:spPr>
          <a:xfrm>
            <a:off x="777240" y="384048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lists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input.source.8"/>
          <p:cNvSpPr/>
          <p:nvPr/>
        </p:nvSpPr>
        <p:spPr>
          <a:xfrm>
            <a:off x="2258568" y="3840480"/>
            <a:ext cx="1188720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Event calendar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method.legend.1"/>
          <p:cNvSpPr/>
          <p:nvPr/>
        </p:nvSpPr>
        <p:spPr>
          <a:xfrm>
            <a:off x="6400800" y="1389888"/>
            <a:ext cx="484632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Rules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lot.method.legend.2"/>
          <p:cNvSpPr/>
          <p:nvPr/>
        </p:nvSpPr>
        <p:spPr>
          <a:xfrm>
            <a:off x="7013448" y="1389888"/>
            <a:ext cx="52120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method.legend.3"/>
          <p:cNvSpPr/>
          <p:nvPr/>
        </p:nvSpPr>
        <p:spPr>
          <a:xfrm>
            <a:off x="7671815" y="1389888"/>
            <a:ext cx="804672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Reviewer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step.1.card"/>
          <p:cNvSpPr/>
          <p:nvPr/>
        </p:nvSpPr>
        <p:spPr>
          <a:xfrm>
            <a:off x="4059936" y="1664208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lot.step.1.num"/>
          <p:cNvSpPr/>
          <p:nvPr/>
        </p:nvSpPr>
        <p:spPr>
          <a:xfrm>
            <a:off x="4151376" y="1792224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ot.step.1.head"/>
          <p:cNvSpPr/>
          <p:nvPr/>
        </p:nvSpPr>
        <p:spPr>
          <a:xfrm>
            <a:off x="4498848" y="1719072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Clean and join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5" name="struct.step.link.1"/>
          <p:cNvCxnSpPr/>
          <p:nvPr/>
        </p:nvCxnSpPr>
        <p:spPr>
          <a:xfrm>
            <a:off x="4288536" y="2240280"/>
            <a:ext cx="0" cy="32004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</a:ln>
          <a:effectLst/>
        </p:spPr>
      </p:cxnSp>
      <p:sp>
        <p:nvSpPr>
          <p:cNvPr id="36" name="struct.step.2.card"/>
          <p:cNvSpPr/>
          <p:nvPr/>
        </p:nvSpPr>
        <p:spPr>
          <a:xfrm>
            <a:off x="4059936" y="2267712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slot.step.2.num"/>
          <p:cNvSpPr/>
          <p:nvPr/>
        </p:nvSpPr>
        <p:spPr>
          <a:xfrm>
            <a:off x="4151376" y="2395728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step.2.head"/>
          <p:cNvSpPr/>
          <p:nvPr/>
        </p:nvSpPr>
        <p:spPr>
          <a:xfrm>
            <a:off x="4498848" y="2322576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Detect demand drivers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9" name="struct.step.link.2"/>
          <p:cNvCxnSpPr/>
          <p:nvPr/>
        </p:nvCxnSpPr>
        <p:spPr>
          <a:xfrm>
            <a:off x="4288536" y="2843784"/>
            <a:ext cx="0" cy="32004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</a:ln>
          <a:effectLst/>
        </p:spPr>
      </p:cxnSp>
      <p:sp>
        <p:nvSpPr>
          <p:cNvPr id="40" name="struct.step.3.card"/>
          <p:cNvSpPr/>
          <p:nvPr/>
        </p:nvSpPr>
        <p:spPr>
          <a:xfrm>
            <a:off x="4059936" y="2871216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slot.step.3.num"/>
          <p:cNvSpPr/>
          <p:nvPr/>
        </p:nvSpPr>
        <p:spPr>
          <a:xfrm>
            <a:off x="4151376" y="2999232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step.3.head"/>
          <p:cNvSpPr/>
          <p:nvPr/>
        </p:nvSpPr>
        <p:spPr>
          <a:xfrm>
            <a:off x="4498848" y="2926080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Build the baseline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3" name="struct.step.link.3"/>
          <p:cNvCxnSpPr/>
          <p:nvPr/>
        </p:nvCxnSpPr>
        <p:spPr>
          <a:xfrm>
            <a:off x="4288536" y="3447288"/>
            <a:ext cx="0" cy="32004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</a:ln>
          <a:effectLst/>
        </p:spPr>
      </p:cxnSp>
      <p:sp>
        <p:nvSpPr>
          <p:cNvPr id="44" name="struct.step.4.card"/>
          <p:cNvSpPr/>
          <p:nvPr/>
        </p:nvSpPr>
        <p:spPr>
          <a:xfrm>
            <a:off x="4059936" y="3474720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slot.step.4.num"/>
          <p:cNvSpPr/>
          <p:nvPr/>
        </p:nvSpPr>
        <p:spPr>
          <a:xfrm>
            <a:off x="4151376" y="3602736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step.4.head"/>
          <p:cNvSpPr/>
          <p:nvPr/>
        </p:nvSpPr>
        <p:spPr>
          <a:xfrm>
            <a:off x="4498848" y="3529584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Adjust for signals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7" name="struct.step.link.4"/>
          <p:cNvCxnSpPr/>
          <p:nvPr/>
        </p:nvCxnSpPr>
        <p:spPr>
          <a:xfrm>
            <a:off x="4288536" y="4050791"/>
            <a:ext cx="0" cy="320041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</a:ln>
          <a:effectLst/>
        </p:spPr>
      </p:cxnSp>
      <p:sp>
        <p:nvSpPr>
          <p:cNvPr id="48" name="struct.step.5.card"/>
          <p:cNvSpPr/>
          <p:nvPr/>
        </p:nvSpPr>
        <p:spPr>
          <a:xfrm>
            <a:off x="4059936" y="4078224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slot.step.5.num"/>
          <p:cNvSpPr/>
          <p:nvPr/>
        </p:nvSpPr>
        <p:spPr>
          <a:xfrm>
            <a:off x="4151376" y="4206240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step.5.head"/>
          <p:cNvSpPr/>
          <p:nvPr/>
        </p:nvSpPr>
        <p:spPr>
          <a:xfrm>
            <a:off x="4498848" y="4133087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Explain each change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" name="struct.step.link.5"/>
          <p:cNvCxnSpPr/>
          <p:nvPr/>
        </p:nvCxnSpPr>
        <p:spPr>
          <a:xfrm>
            <a:off x="4288536" y="4654296"/>
            <a:ext cx="0" cy="320040"/>
          </a:xfrm>
          <a:prstGeom prst="straightConnector1">
            <a:avLst/>
          </a:prstGeom>
          <a:noFill/>
          <a:ln w="9525">
            <a:solidFill>
              <a:schemeClr val="bg1">
                <a:lumMod val="55000"/>
              </a:schemeClr>
            </a:solidFill>
          </a:ln>
          <a:effectLst/>
        </p:spPr>
      </p:cxnSp>
      <p:sp>
        <p:nvSpPr>
          <p:cNvPr id="52" name="struct.step.6.card"/>
          <p:cNvSpPr/>
          <p:nvPr/>
        </p:nvSpPr>
        <p:spPr>
          <a:xfrm>
            <a:off x="4059936" y="4681728"/>
            <a:ext cx="2743200" cy="539496"/>
          </a:xfrm>
          <a:prstGeom prst="roundRect">
            <a:avLst>
              <a:gd fmla="val 8475" name="adj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slot.step.6.num"/>
          <p:cNvSpPr/>
          <p:nvPr/>
        </p:nvSpPr>
        <p:spPr>
          <a:xfrm>
            <a:off x="4151376" y="4809744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step.6.head"/>
          <p:cNvSpPr/>
          <p:nvPr/>
        </p:nvSpPr>
        <p:spPr>
          <a:xfrm>
            <a:off x="4498848" y="4736592"/>
            <a:ext cx="18288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Planner sign-off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truct.handoff.1.disc"/>
          <p:cNvSpPr/>
          <p:nvPr/>
        </p:nvSpPr>
        <p:spPr>
          <a:xfrm>
            <a:off x="3657600" y="3127248"/>
            <a:ext cx="256032" cy="2560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struct.handoff.2.disc"/>
          <p:cNvSpPr/>
          <p:nvPr/>
        </p:nvSpPr>
        <p:spPr>
          <a:xfrm>
            <a:off x="8439912" y="3127248"/>
            <a:ext cx="256032" cy="2560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slot.output.1.head"/>
          <p:cNvSpPr/>
          <p:nvPr/>
        </p:nvSpPr>
        <p:spPr>
          <a:xfrm>
            <a:off x="9052560" y="1481328"/>
            <a:ext cx="141732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Demand plan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output.1.tag.2"/>
          <p:cNvSpPr/>
          <p:nvPr/>
        </p:nvSpPr>
        <p:spPr>
          <a:xfrm>
            <a:off x="11100816" y="1499616"/>
            <a:ext cx="530352" cy="201168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Table</a:t>
            </a:r>
            <a:endParaRPr lang="en-US" sz="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output.1.tag.1"/>
          <p:cNvSpPr/>
          <p:nvPr/>
        </p:nvSpPr>
        <p:spPr>
          <a:xfrm>
            <a:off x="10515600" y="1499616"/>
            <a:ext cx="530352" cy="201168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Weekly</a:t>
            </a:r>
            <a:endParaRPr lang="en-US" sz="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output.1.body"/>
          <p:cNvSpPr/>
          <p:nvPr/>
        </p:nvSpPr>
        <p:spPr>
          <a:xfrm>
            <a:off x="8842248" y="1746504"/>
            <a:ext cx="27889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Units by product, region and week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output.2.head"/>
          <p:cNvSpPr/>
          <p:nvPr/>
        </p:nvSpPr>
        <p:spPr>
          <a:xfrm>
            <a:off x="9052560" y="2770632"/>
            <a:ext cx="141732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Exception list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output.2.tag.2"/>
          <p:cNvSpPr/>
          <p:nvPr/>
        </p:nvSpPr>
        <p:spPr>
          <a:xfrm>
            <a:off x="11100816" y="2788920"/>
            <a:ext cx="530352" cy="201168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Alert</a:t>
            </a:r>
            <a:endParaRPr lang="en-US" sz="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output.2.tag.1"/>
          <p:cNvSpPr/>
          <p:nvPr/>
        </p:nvSpPr>
        <p:spPr>
          <a:xfrm>
            <a:off x="10515600" y="2788920"/>
            <a:ext cx="530352" cy="201168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Daily</a:t>
            </a:r>
            <a:endParaRPr lang="en-US" sz="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output.2.body"/>
          <p:cNvSpPr/>
          <p:nvPr/>
        </p:nvSpPr>
        <p:spPr>
          <a:xfrm>
            <a:off x="8842248" y="3035808"/>
            <a:ext cx="27889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Products drifting more than 10% off target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slot.output.3.head"/>
          <p:cNvSpPr/>
          <p:nvPr/>
        </p:nvSpPr>
        <p:spPr>
          <a:xfrm>
            <a:off x="9052560" y="4059936"/>
            <a:ext cx="141732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Change summary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output.3.tag.1"/>
          <p:cNvSpPr/>
          <p:nvPr/>
        </p:nvSpPr>
        <p:spPr>
          <a:xfrm>
            <a:off x="11100816" y="4078224"/>
            <a:ext cx="530352" cy="201168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Weekly</a:t>
            </a:r>
            <a:endParaRPr lang="en-US" sz="8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output.3.body"/>
          <p:cNvSpPr/>
          <p:nvPr/>
        </p:nvSpPr>
        <p:spPr>
          <a:xfrm>
            <a:off x="8842248" y="4325112"/>
            <a:ext cx="27889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Reasons behind each forecast shift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output.3.note"/>
          <p:cNvSpPr/>
          <p:nvPr/>
        </p:nvSpPr>
        <p:spPr>
          <a:xfrm>
            <a:off x="10058400" y="4599432"/>
            <a:ext cx="1591056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Planner brief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page per region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truct.reuse.panel"/>
          <p:cNvSpPr/>
          <p:nvPr/>
        </p:nvSpPr>
        <p:spPr>
          <a:xfrm>
            <a:off x="411480" y="5449824"/>
            <a:ext cx="5522976" cy="768096"/>
          </a:xfrm>
          <a:prstGeom prst="roundRect">
            <a:avLst>
              <a:gd fmla="val 5952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struct.uses.panel"/>
          <p:cNvSpPr/>
          <p:nvPr/>
        </p:nvSpPr>
        <p:spPr>
          <a:xfrm>
            <a:off x="6117336" y="5449824"/>
            <a:ext cx="5660136" cy="768096"/>
          </a:xfrm>
          <a:prstGeom prst="roundRect">
            <a:avLst>
              <a:gd fmla="val 5952" name="adj"/>
            </a:avLst>
          </a:prstGeom>
          <a:solidFill>
            <a:schemeClr val="bg1"/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struct.reuse.pill"/>
          <p:cNvSpPr/>
          <p:nvPr/>
        </p:nvSpPr>
        <p:spPr>
          <a:xfrm>
            <a:off x="576072" y="5504688"/>
            <a:ext cx="1737360" cy="292608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struct.reuse.disc"/>
          <p:cNvSpPr/>
          <p:nvPr/>
        </p:nvSpPr>
        <p:spPr>
          <a:xfrm>
            <a:off x="621792" y="5550408"/>
            <a:ext cx="201168" cy="20116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slot.reuse.head"/>
          <p:cNvSpPr/>
          <p:nvPr/>
        </p:nvSpPr>
        <p:spPr>
          <a:xfrm>
            <a:off x="886968" y="5504688"/>
            <a:ext cx="1408176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Reusable skills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truct.uses.pill"/>
          <p:cNvSpPr/>
          <p:nvPr/>
        </p:nvSpPr>
        <p:spPr>
          <a:xfrm>
            <a:off x="6281928" y="5504688"/>
            <a:ext cx="2322576" cy="292608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struct.uses.disc"/>
          <p:cNvSpPr/>
          <p:nvPr/>
        </p:nvSpPr>
        <p:spPr>
          <a:xfrm>
            <a:off x="6327648" y="5550408"/>
            <a:ext cx="201168" cy="20116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slot.uses.head"/>
          <p:cNvSpPr/>
          <p:nvPr/>
        </p:nvSpPr>
        <p:spPr>
          <a:xfrm>
            <a:off x="6592824" y="5504688"/>
            <a:ext cx="1993392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Further uses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truct.reuse.chip.1"/>
          <p:cNvSpPr/>
          <p:nvPr/>
        </p:nvSpPr>
        <p:spPr>
          <a:xfrm>
            <a:off x="548640" y="5870448"/>
            <a:ext cx="1326427" cy="237744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slot.reuse.1"/>
          <p:cNvSpPr/>
          <p:nvPr/>
        </p:nvSpPr>
        <p:spPr>
          <a:xfrm>
            <a:off x="822959" y="5870448"/>
            <a:ext cx="997242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Data cleaning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truct.reuse.chip.2"/>
          <p:cNvSpPr/>
          <p:nvPr/>
        </p:nvSpPr>
        <p:spPr>
          <a:xfrm>
            <a:off x="1915301" y="5870448"/>
            <a:ext cx="1405636" cy="237744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slot.reuse.2"/>
          <p:cNvSpPr/>
          <p:nvPr/>
        </p:nvSpPr>
        <p:spPr>
          <a:xfrm>
            <a:off x="2189988" y="5870448"/>
            <a:ext cx="1076085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Driver search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truct.reuse.chip.3"/>
          <p:cNvSpPr/>
          <p:nvPr/>
        </p:nvSpPr>
        <p:spPr>
          <a:xfrm>
            <a:off x="3361170" y="5870448"/>
            <a:ext cx="1456182" cy="237744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slot.reuse.3"/>
          <p:cNvSpPr/>
          <p:nvPr/>
        </p:nvSpPr>
        <p:spPr>
          <a:xfrm>
            <a:off x="3635654" y="5870448"/>
            <a:ext cx="1126833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Report writer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truct.reuse.chip.4"/>
          <p:cNvSpPr/>
          <p:nvPr/>
        </p:nvSpPr>
        <p:spPr>
          <a:xfrm>
            <a:off x="4857586" y="5870448"/>
            <a:ext cx="920214" cy="237744"/>
          </a:xfrm>
          <a:prstGeom prst="roundRect">
            <a:avLst>
              <a:gd fmla="val 50000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sz="180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slot.reuse.4"/>
          <p:cNvSpPr/>
          <p:nvPr/>
        </p:nvSpPr>
        <p:spPr>
          <a:xfrm>
            <a:off x="5131612" y="5870448"/>
            <a:ext cx="591323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Feeds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ot.uses.1"/>
          <p:cNvSpPr/>
          <p:nvPr/>
        </p:nvSpPr>
        <p:spPr>
          <a:xfrm>
            <a:off x="6464807" y="5870448"/>
            <a:ext cx="146304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Inventory planning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uses.2"/>
          <p:cNvSpPr/>
          <p:nvPr/>
        </p:nvSpPr>
        <p:spPr>
          <a:xfrm>
            <a:off x="8247888" y="5870448"/>
            <a:ext cx="146304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testing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uses.3"/>
          <p:cNvSpPr/>
          <p:nvPr/>
        </p:nvSpPr>
        <p:spPr>
          <a:xfrm>
            <a:off x="10030968" y="5870448"/>
            <a:ext cx="1463040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Staff scheduling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lot.input.icon"/>
          <p:cNvSpPr/>
          <p:nvPr/>
        </p:nvSpPr>
        <p:spPr>
          <a:xfrm>
            <a:off x="676656" y="1069848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14000"/>
                </a:moveTo>
                <a:lnTo>
                  <a:pt x="7500" y="11100"/>
                </a:lnTo>
                <a:cubicBezTo>
                  <a:pt x="7832" y="10440"/>
                  <a:pt x="8501" y="10017"/>
                  <a:pt x="9240" y="10000"/>
                </a:cubicBezTo>
                <a:lnTo>
                  <a:pt x="20000" y="10000"/>
                </a:lnTo>
                <a:cubicBezTo>
                  <a:pt x="20619" y="9999"/>
                  <a:pt x="21204" y="10285"/>
                  <a:pt x="21584" y="10774"/>
                </a:cubicBezTo>
                <a:cubicBezTo>
                  <a:pt x="21963" y="11263"/>
                  <a:pt x="22095" y="11900"/>
                  <a:pt x="21940" y="12500"/>
                </a:cubicBezTo>
                <a:lnTo>
                  <a:pt x="20400" y="18500"/>
                </a:lnTo>
                <a:cubicBezTo>
                  <a:pt x="20171" y="19388"/>
                  <a:pt x="19367" y="20006"/>
                  <a:pt x="1845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lnTo>
                  <a:pt x="7900" y="3000"/>
                </a:lnTo>
                <a:cubicBezTo>
                  <a:pt x="8580" y="2993"/>
                  <a:pt x="9216" y="3332"/>
                  <a:pt x="9590" y="3900"/>
                </a:cubicBezTo>
                <a:lnTo>
                  <a:pt x="10400" y="5100"/>
                </a:lnTo>
                <a:cubicBezTo>
                  <a:pt x="10770" y="5662"/>
                  <a:pt x="11397" y="6000"/>
                  <a:pt x="12070" y="6000"/>
                </a:cubicBezTo>
                <a:lnTo>
                  <a:pt x="18000" y="6000"/>
                </a:lnTo>
                <a:cubicBezTo>
                  <a:pt x="19105" y="6000"/>
                  <a:pt x="20000" y="6895"/>
                  <a:pt x="20000" y="8000"/>
                </a:cubicBezTo>
                <a:lnTo>
                  <a:pt x="20000" y="10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89" name="slot.method.icon"/>
          <p:cNvSpPr/>
          <p:nvPr/>
        </p:nvSpPr>
        <p:spPr>
          <a:xfrm>
            <a:off x="4178808" y="1069848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3000"/>
                </a:moveTo>
                <a:lnTo>
                  <a:pt x="9000" y="3000"/>
                </a:lnTo>
                <a:cubicBezTo>
                  <a:pt x="10105" y="3000"/>
                  <a:pt x="11000" y="3895"/>
                  <a:pt x="11000" y="5000"/>
                </a:cubicBezTo>
                <a:lnTo>
                  <a:pt x="11000" y="9000"/>
                </a:lnTo>
                <a:cubicBezTo>
                  <a:pt x="11000" y="10105"/>
                  <a:pt x="10105" y="11000"/>
                  <a:pt x="9000" y="11000"/>
                </a:cubicBezTo>
                <a:lnTo>
                  <a:pt x="5000" y="11000"/>
                </a:lnTo>
                <a:cubicBezTo>
                  <a:pt x="3895" y="11000"/>
                  <a:pt x="3000" y="10105"/>
                  <a:pt x="3000" y="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7000" y="11000"/>
                </a:moveTo>
                <a:lnTo>
                  <a:pt x="7000" y="15000"/>
                </a:lnTo>
                <a:cubicBezTo>
                  <a:pt x="7000" y="16105"/>
                  <a:pt x="7895" y="17000"/>
                  <a:pt x="9000" y="17000"/>
                </a:cubicBezTo>
                <a:lnTo>
                  <a:pt x="13000" y="17000"/>
                </a:lnTo>
                <a:moveTo>
                  <a:pt x="15000" y="13000"/>
                </a:moveTo>
                <a:lnTo>
                  <a:pt x="19000" y="13000"/>
                </a:lnTo>
                <a:cubicBezTo>
                  <a:pt x="20105" y="13000"/>
                  <a:pt x="21000" y="13895"/>
                  <a:pt x="21000" y="1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5000" y="21000"/>
                </a:lnTo>
                <a:cubicBezTo>
                  <a:pt x="13895" y="21000"/>
                  <a:pt x="13000" y="20105"/>
                  <a:pt x="13000" y="19000"/>
                </a:cubicBezTo>
                <a:lnTo>
                  <a:pt x="13000" y="15000"/>
                </a:lnTo>
                <a:cubicBezTo>
                  <a:pt x="13000" y="13895"/>
                  <a:pt x="13895" y="13000"/>
                  <a:pt x="15000" y="13000"/>
                </a:cubicBezTo>
                <a:close/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0" name="slot.output.icon"/>
          <p:cNvSpPr/>
          <p:nvPr/>
        </p:nvSpPr>
        <p:spPr>
          <a:xfrm>
            <a:off x="8961120" y="1069848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536" y="21686"/>
                </a:moveTo>
                <a:cubicBezTo>
                  <a:pt x="14614" y="21880"/>
                  <a:pt x="14804" y="22005"/>
                  <a:pt x="15013" y="22000"/>
                </a:cubicBezTo>
                <a:cubicBezTo>
                  <a:pt x="15222" y="21994"/>
                  <a:pt x="15405" y="21860"/>
                  <a:pt x="15473" y="21662"/>
                </a:cubicBezTo>
                <a:lnTo>
                  <a:pt x="21973" y="2662"/>
                </a:lnTo>
                <a:cubicBezTo>
                  <a:pt x="22038" y="2481"/>
                  <a:pt x="21993" y="2279"/>
                  <a:pt x="21857" y="2143"/>
                </a:cubicBezTo>
                <a:cubicBezTo>
                  <a:pt x="21721" y="2007"/>
                  <a:pt x="21519" y="1962"/>
                  <a:pt x="21338" y="2027"/>
                </a:cubicBezTo>
                <a:lnTo>
                  <a:pt x="2338" y="8527"/>
                </a:lnTo>
                <a:cubicBezTo>
                  <a:pt x="2140" y="8595"/>
                  <a:pt x="2006" y="8778"/>
                  <a:pt x="2000" y="8987"/>
                </a:cubicBezTo>
                <a:cubicBezTo>
                  <a:pt x="1995" y="9196"/>
                  <a:pt x="2120" y="9386"/>
                  <a:pt x="2314" y="9464"/>
                </a:cubicBezTo>
                <a:lnTo>
                  <a:pt x="10244" y="12644"/>
                </a:lnTo>
                <a:cubicBezTo>
                  <a:pt x="10751" y="12847"/>
                  <a:pt x="11152" y="13248"/>
                  <a:pt x="11356" y="13754"/>
                </a:cubicBezTo>
                <a:close/>
                <a:moveTo>
                  <a:pt x="21854" y="2147"/>
                </a:moveTo>
                <a:lnTo>
                  <a:pt x="10914" y="13086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1" name="slot.input.brief.head.icon"/>
          <p:cNvSpPr/>
          <p:nvPr/>
        </p:nvSpPr>
        <p:spPr>
          <a:xfrm>
            <a:off x="557784" y="151790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9090" y="9000"/>
                </a:moveTo>
                <a:cubicBezTo>
                  <a:pt x="9575" y="7620"/>
                  <a:pt x="10985" y="6791"/>
                  <a:pt x="12427" y="7039"/>
                </a:cubicBezTo>
                <a:cubicBezTo>
                  <a:pt x="13869" y="7286"/>
                  <a:pt x="14922" y="8537"/>
                  <a:pt x="14920" y="10000"/>
                </a:cubicBezTo>
                <a:cubicBezTo>
                  <a:pt x="14920" y="12000"/>
                  <a:pt x="11920" y="13000"/>
                  <a:pt x="11920" y="13000"/>
                </a:cubicBezTo>
                <a:moveTo>
                  <a:pt x="12000" y="17000"/>
                </a:moveTo>
                <a:lnTo>
                  <a:pt x="12010" y="17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2" name="slot.input.brief.1.icon"/>
          <p:cNvSpPr/>
          <p:nvPr/>
        </p:nvSpPr>
        <p:spPr>
          <a:xfrm>
            <a:off x="557784" y="1764792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8000" y="13000"/>
                </a:moveTo>
                <a:lnTo>
                  <a:pt x="8010" y="13000"/>
                </a:lnTo>
                <a:moveTo>
                  <a:pt x="12000" y="13000"/>
                </a:moveTo>
                <a:lnTo>
                  <a:pt x="12010" y="13000"/>
                </a:lnTo>
                <a:moveTo>
                  <a:pt x="16000" y="13000"/>
                </a:moveTo>
                <a:lnTo>
                  <a:pt x="16010" y="13000"/>
                </a:lnTo>
                <a:moveTo>
                  <a:pt x="8000" y="17000"/>
                </a:moveTo>
                <a:lnTo>
                  <a:pt x="8010" y="17000"/>
                </a:lnTo>
                <a:moveTo>
                  <a:pt x="12000" y="17000"/>
                </a:moveTo>
                <a:lnTo>
                  <a:pt x="12010" y="17000"/>
                </a:lnTo>
                <a:moveTo>
                  <a:pt x="16000" y="17000"/>
                </a:moveTo>
                <a:lnTo>
                  <a:pt x="16010" y="17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3" name="slot.input.brief.2.icon"/>
          <p:cNvSpPr/>
          <p:nvPr/>
        </p:nvSpPr>
        <p:spPr>
          <a:xfrm>
            <a:off x="557784" y="2039112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2000" y="2000"/>
                </a:moveTo>
                <a:cubicBezTo>
                  <a:pt x="6667" y="7600"/>
                  <a:pt x="6667" y="16400"/>
                  <a:pt x="12000" y="22000"/>
                </a:cubicBezTo>
                <a:cubicBezTo>
                  <a:pt x="17333" y="16400"/>
                  <a:pt x="17333" y="7600"/>
                  <a:pt x="12000" y="2000"/>
                </a:cubicBezTo>
                <a:moveTo>
                  <a:pt x="2000" y="12000"/>
                </a:moveTo>
                <a:lnTo>
                  <a:pt x="22000" y="12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4" name="slot.input.brief.3.icon"/>
          <p:cNvSpPr/>
          <p:nvPr/>
        </p:nvSpPr>
        <p:spPr>
          <a:xfrm>
            <a:off x="557784" y="2313432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8000" y="12000"/>
                </a:moveTo>
                <a:cubicBezTo>
                  <a:pt x="18000" y="15314"/>
                  <a:pt x="15314" y="18000"/>
                  <a:pt x="12000" y="18000"/>
                </a:cubicBezTo>
                <a:cubicBezTo>
                  <a:pt x="8686" y="18000"/>
                  <a:pt x="6000" y="15314"/>
                  <a:pt x="6000" y="12000"/>
                </a:cubicBezTo>
                <a:cubicBezTo>
                  <a:pt x="6000" y="8686"/>
                  <a:pt x="8686" y="6000"/>
                  <a:pt x="12000" y="6000"/>
                </a:cubicBezTo>
                <a:cubicBezTo>
                  <a:pt x="15314" y="6000"/>
                  <a:pt x="18000" y="8686"/>
                  <a:pt x="18000" y="12000"/>
                </a:cubicBezTo>
                <a:close/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5" name="slot.input.sources.head.icon"/>
          <p:cNvSpPr/>
          <p:nvPr/>
        </p:nvSpPr>
        <p:spPr>
          <a:xfrm>
            <a:off x="557784" y="279806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6000"/>
                </a:moveTo>
                <a:lnTo>
                  <a:pt x="20000" y="20000"/>
                </a:lnTo>
                <a:moveTo>
                  <a:pt x="12000" y="6000"/>
                </a:moveTo>
                <a:lnTo>
                  <a:pt x="12000" y="20000"/>
                </a:lnTo>
                <a:moveTo>
                  <a:pt x="8000" y="8000"/>
                </a:moveTo>
                <a:lnTo>
                  <a:pt x="8000" y="20000"/>
                </a:lnTo>
                <a:moveTo>
                  <a:pt x="4000" y="4000"/>
                </a:moveTo>
                <a:lnTo>
                  <a:pt x="4000" y="20000"/>
                </a:lnTo>
              </a:path>
            </a:pathLst>
          </a:custGeom>
          <a:noFill/>
          <a:ln w="12700" cap="rnd">
            <a:solidFill>
              <a:schemeClr val="accent1"/>
            </a:solidFill>
            <a:round/>
          </a:ln>
          <a:effectLst/>
        </p:spPr>
      </p:sp>
      <p:sp>
        <p:nvSpPr>
          <p:cNvPr id="96" name="slot.input.source.1.icon"/>
          <p:cNvSpPr/>
          <p:nvPr/>
        </p:nvSpPr>
        <p:spPr>
          <a:xfrm>
            <a:off x="557784" y="304495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97" name="slot.input.source.2.icon"/>
          <p:cNvSpPr/>
          <p:nvPr/>
        </p:nvSpPr>
        <p:spPr>
          <a:xfrm>
            <a:off x="2039112" y="304495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98" name="slot.input.source.3.icon"/>
          <p:cNvSpPr/>
          <p:nvPr/>
        </p:nvSpPr>
        <p:spPr>
          <a:xfrm>
            <a:off x="557784" y="331927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99" name="slot.input.source.4.icon"/>
          <p:cNvSpPr/>
          <p:nvPr/>
        </p:nvSpPr>
        <p:spPr>
          <a:xfrm>
            <a:off x="2039112" y="331927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00" name="slot.input.source.5.icon"/>
          <p:cNvSpPr/>
          <p:nvPr/>
        </p:nvSpPr>
        <p:spPr>
          <a:xfrm>
            <a:off x="557784" y="359359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01" name="slot.input.source.6.icon"/>
          <p:cNvSpPr/>
          <p:nvPr/>
        </p:nvSpPr>
        <p:spPr>
          <a:xfrm>
            <a:off x="2039112" y="359359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0000"/>
                </a:moveTo>
                <a:cubicBezTo>
                  <a:pt x="16000" y="11105"/>
                  <a:pt x="15105" y="12000"/>
                  <a:pt x="14000" y="12000"/>
                </a:cubicBezTo>
                <a:lnTo>
                  <a:pt x="6828" y="12000"/>
                </a:lnTo>
                <a:cubicBezTo>
                  <a:pt x="6298" y="12000"/>
                  <a:pt x="5789" y="12211"/>
                  <a:pt x="5414" y="12586"/>
                </a:cubicBezTo>
                <a:lnTo>
                  <a:pt x="3212" y="14788"/>
                </a:lnTo>
                <a:cubicBezTo>
                  <a:pt x="3009" y="14991"/>
                  <a:pt x="2704" y="15052"/>
                  <a:pt x="2438" y="14942"/>
                </a:cubicBezTo>
                <a:cubicBezTo>
                  <a:pt x="2173" y="14832"/>
                  <a:pt x="2000" y="14573"/>
                  <a:pt x="2000" y="14286"/>
                </a:cubicBezTo>
                <a:lnTo>
                  <a:pt x="2000" y="4000"/>
                </a:lnTo>
                <a:cubicBezTo>
                  <a:pt x="2000" y="2895"/>
                  <a:pt x="2895" y="2000"/>
                  <a:pt x="4000" y="2000"/>
                </a:cubicBezTo>
                <a:lnTo>
                  <a:pt x="14000" y="2000"/>
                </a:lnTo>
                <a:cubicBezTo>
                  <a:pt x="15105" y="2000"/>
                  <a:pt x="16000" y="2895"/>
                  <a:pt x="16000" y="4000"/>
                </a:cubicBezTo>
                <a:close/>
                <a:moveTo>
                  <a:pt x="20000" y="9000"/>
                </a:moveTo>
                <a:cubicBezTo>
                  <a:pt x="21105" y="9000"/>
                  <a:pt x="22000" y="9895"/>
                  <a:pt x="22000" y="11000"/>
                </a:cubicBezTo>
                <a:lnTo>
                  <a:pt x="22000" y="21286"/>
                </a:lnTo>
                <a:cubicBezTo>
                  <a:pt x="22000" y="21573"/>
                  <a:pt x="21827" y="21832"/>
                  <a:pt x="21562" y="21942"/>
                </a:cubicBezTo>
                <a:cubicBezTo>
                  <a:pt x="21296" y="22052"/>
                  <a:pt x="20991" y="21991"/>
                  <a:pt x="20788" y="21788"/>
                </a:cubicBezTo>
                <a:lnTo>
                  <a:pt x="18586" y="19586"/>
                </a:lnTo>
                <a:cubicBezTo>
                  <a:pt x="18211" y="19211"/>
                  <a:pt x="17702" y="19000"/>
                  <a:pt x="17172" y="19000"/>
                </a:cubicBezTo>
                <a:lnTo>
                  <a:pt x="10000" y="19000"/>
                </a:lnTo>
                <a:cubicBezTo>
                  <a:pt x="8895" y="19000"/>
                  <a:pt x="8000" y="18105"/>
                  <a:pt x="8000" y="17000"/>
                </a:cubicBezTo>
                <a:lnTo>
                  <a:pt x="8000" y="16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02" name="slot.input.source.7.icon"/>
          <p:cNvSpPr/>
          <p:nvPr/>
        </p:nvSpPr>
        <p:spPr>
          <a:xfrm>
            <a:off x="557784" y="386791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586" y="2586"/>
                </a:moveTo>
                <a:cubicBezTo>
                  <a:pt x="12211" y="2211"/>
                  <a:pt x="11702" y="2000"/>
                  <a:pt x="11172" y="2000"/>
                </a:cubicBezTo>
                <a:lnTo>
                  <a:pt x="4000" y="2000"/>
                </a:lnTo>
                <a:cubicBezTo>
                  <a:pt x="2895" y="2000"/>
                  <a:pt x="2000" y="2895"/>
                  <a:pt x="2000" y="4000"/>
                </a:cubicBezTo>
                <a:lnTo>
                  <a:pt x="2000" y="11172"/>
                </a:lnTo>
                <a:cubicBezTo>
                  <a:pt x="2000" y="11702"/>
                  <a:pt x="2211" y="12211"/>
                  <a:pt x="2586" y="12586"/>
                </a:cubicBezTo>
                <a:lnTo>
                  <a:pt x="11290" y="21290"/>
                </a:lnTo>
                <a:cubicBezTo>
                  <a:pt x="12236" y="22230"/>
                  <a:pt x="13764" y="22230"/>
                  <a:pt x="14710" y="21290"/>
                </a:cubicBezTo>
                <a:lnTo>
                  <a:pt x="21290" y="14710"/>
                </a:lnTo>
                <a:cubicBezTo>
                  <a:pt x="22230" y="13764"/>
                  <a:pt x="22230" y="12236"/>
                  <a:pt x="21290" y="11290"/>
                </a:cubicBezTo>
                <a:close/>
              </a:path>
              <a:path w="24000" h="24000">
                <a:moveTo>
                  <a:pt x="8000" y="7500"/>
                </a:moveTo>
                <a:cubicBezTo>
                  <a:pt x="8000" y="7776"/>
                  <a:pt x="7776" y="8000"/>
                  <a:pt x="7500" y="8000"/>
                </a:cubicBezTo>
                <a:cubicBezTo>
                  <a:pt x="7224" y="8000"/>
                  <a:pt x="7000" y="7776"/>
                  <a:pt x="7000" y="7500"/>
                </a:cubicBezTo>
                <a:cubicBezTo>
                  <a:pt x="7000" y="7224"/>
                  <a:pt x="7224" y="7000"/>
                  <a:pt x="7500" y="7000"/>
                </a:cubicBezTo>
                <a:cubicBezTo>
                  <a:pt x="7776" y="7000"/>
                  <a:pt x="8000" y="7224"/>
                  <a:pt x="8000" y="7500"/>
                </a:cubicBezTo>
                <a:close/>
              </a:path>
            </a:pathLst>
          </a:custGeom>
          <a:solidFill>
            <a:schemeClr val="accent1"/>
          </a:solidFill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03" name="slot.input.source.8.icon"/>
          <p:cNvSpPr/>
          <p:nvPr/>
        </p:nvSpPr>
        <p:spPr>
          <a:xfrm>
            <a:off x="2039112" y="386791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04" name="struct.input.sample.1.zone"/>
          <p:cNvSpPr/>
          <p:nvPr/>
        </p:nvSpPr>
        <p:spPr>
          <a:xfrm>
            <a:off x="557784" y="4315968"/>
            <a:ext cx="1426464" cy="896112"/>
          </a:xfrm>
          <a:prstGeom prst="roundRect">
            <a:avLst>
              <a:gd name="adj" fmla="val 6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5" name="slot.input.sample.1.icon"/>
          <p:cNvSpPr/>
          <p:nvPr/>
        </p:nvSpPr>
        <p:spPr>
          <a:xfrm>
            <a:off x="1133856" y="452628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06" name="slot.input.sample.1.label"/>
          <p:cNvSpPr txBox="1"/>
          <p:nvPr/>
        </p:nvSpPr>
        <p:spPr>
          <a:xfrm>
            <a:off x="612648" y="4837176"/>
            <a:ext cx="1316736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archive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struct.input.sample.2.zone"/>
          <p:cNvSpPr/>
          <p:nvPr/>
        </p:nvSpPr>
        <p:spPr>
          <a:xfrm>
            <a:off x="2075688" y="4315968"/>
            <a:ext cx="1426464" cy="896112"/>
          </a:xfrm>
          <a:prstGeom prst="roundRect">
            <a:avLst>
              <a:gd name="adj" fmla="val 6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08" name="slot.input.sample.2.icon"/>
          <p:cNvSpPr/>
          <p:nvPr/>
        </p:nvSpPr>
        <p:spPr>
          <a:xfrm>
            <a:off x="2651760" y="452628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09" name="slot.input.sample.2.label"/>
          <p:cNvSpPr txBox="1"/>
          <p:nvPr/>
        </p:nvSpPr>
        <p:spPr>
          <a:xfrm>
            <a:off x="2130552" y="4837176"/>
            <a:ext cx="1316736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Daily store feeds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lot.method.legend.1.icon"/>
          <p:cNvSpPr/>
          <p:nvPr/>
        </p:nvSpPr>
        <p:spPr>
          <a:xfrm>
            <a:off x="6227064" y="1417320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8000"/>
                </a:moveTo>
                <a:lnTo>
                  <a:pt x="22000" y="12000"/>
                </a:lnTo>
                <a:lnTo>
                  <a:pt x="16000" y="6000"/>
                </a:lnTo>
                <a:moveTo>
                  <a:pt x="8000" y="6000"/>
                </a:moveTo>
                <a:lnTo>
                  <a:pt x="2000" y="12000"/>
                </a:lnTo>
                <a:lnTo>
                  <a:pt x="8000" y="18000"/>
                </a:lnTo>
              </a:path>
            </a:pathLst>
          </a:custGeom>
          <a:noFill/>
          <a:ln w="1079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1" name="slot.method.legend.2.icon"/>
          <p:cNvSpPr/>
          <p:nvPr/>
        </p:nvSpPr>
        <p:spPr>
          <a:xfrm>
            <a:off x="6839712" y="1417320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079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2" name="slot.method.legend.3.icon"/>
          <p:cNvSpPr/>
          <p:nvPr/>
        </p:nvSpPr>
        <p:spPr>
          <a:xfrm>
            <a:off x="7498080" y="1417320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079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3" name="slot.step.1.body"/>
          <p:cNvSpPr txBox="1"/>
          <p:nvPr/>
        </p:nvSpPr>
        <p:spPr>
          <a:xfrm>
            <a:off x="4498848" y="1938528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Units aligned, gaps filled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slot.step.1.mark.1"/>
          <p:cNvSpPr/>
          <p:nvPr/>
        </p:nvSpPr>
        <p:spPr>
          <a:xfrm>
            <a:off x="6364224" y="185623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8000"/>
                </a:moveTo>
                <a:lnTo>
                  <a:pt x="22000" y="12000"/>
                </a:lnTo>
                <a:lnTo>
                  <a:pt x="16000" y="6000"/>
                </a:lnTo>
                <a:moveTo>
                  <a:pt x="8000" y="6000"/>
                </a:moveTo>
                <a:lnTo>
                  <a:pt x="2000" y="12000"/>
                </a:lnTo>
                <a:lnTo>
                  <a:pt x="8000" y="18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5" name="slot.step.1.mark.2"/>
          <p:cNvSpPr/>
          <p:nvPr/>
        </p:nvSpPr>
        <p:spPr>
          <a:xfrm>
            <a:off x="6565392" y="185623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6" name="slot.step.2.body"/>
          <p:cNvSpPr txBox="1"/>
          <p:nvPr/>
        </p:nvSpPr>
        <p:spPr>
          <a:xfrm>
            <a:off x="4498848" y="2542032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Seasonality tagged by item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slot.step.2.mark.1"/>
          <p:cNvSpPr/>
          <p:nvPr/>
        </p:nvSpPr>
        <p:spPr>
          <a:xfrm>
            <a:off x="6565392" y="2459736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8000"/>
                </a:moveTo>
                <a:lnTo>
                  <a:pt x="22000" y="12000"/>
                </a:lnTo>
                <a:lnTo>
                  <a:pt x="16000" y="6000"/>
                </a:lnTo>
                <a:moveTo>
                  <a:pt x="8000" y="6000"/>
                </a:moveTo>
                <a:lnTo>
                  <a:pt x="2000" y="12000"/>
                </a:lnTo>
                <a:lnTo>
                  <a:pt x="8000" y="18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18" name="slot.step.3.body"/>
          <p:cNvSpPr txBox="1"/>
          <p:nvPr/>
        </p:nvSpPr>
        <p:spPr>
          <a:xfrm>
            <a:off x="4498848" y="3145536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Forecast per product line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slot.step.3.mark.1"/>
          <p:cNvSpPr/>
          <p:nvPr/>
        </p:nvSpPr>
        <p:spPr>
          <a:xfrm>
            <a:off x="6565392" y="3063240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8000"/>
                </a:moveTo>
                <a:lnTo>
                  <a:pt x="22000" y="12000"/>
                </a:lnTo>
                <a:lnTo>
                  <a:pt x="16000" y="6000"/>
                </a:lnTo>
                <a:moveTo>
                  <a:pt x="8000" y="6000"/>
                </a:moveTo>
                <a:lnTo>
                  <a:pt x="2000" y="12000"/>
                </a:lnTo>
                <a:lnTo>
                  <a:pt x="8000" y="18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20" name="slot.step.4.body"/>
          <p:cNvSpPr txBox="1"/>
          <p:nvPr/>
        </p:nvSpPr>
        <p:spPr>
          <a:xfrm>
            <a:off x="4498848" y="3749040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Trends shift the baseline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lot.step.4.mark.1"/>
          <p:cNvSpPr/>
          <p:nvPr/>
        </p:nvSpPr>
        <p:spPr>
          <a:xfrm>
            <a:off x="6565392" y="3666744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8000"/>
                </a:moveTo>
                <a:lnTo>
                  <a:pt x="22000" y="12000"/>
                </a:lnTo>
                <a:lnTo>
                  <a:pt x="16000" y="6000"/>
                </a:lnTo>
                <a:moveTo>
                  <a:pt x="8000" y="6000"/>
                </a:moveTo>
                <a:lnTo>
                  <a:pt x="2000" y="12000"/>
                </a:lnTo>
                <a:lnTo>
                  <a:pt x="8000" y="18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22" name="slot.step.5.body"/>
          <p:cNvSpPr txBox="1"/>
          <p:nvPr/>
        </p:nvSpPr>
        <p:spPr>
          <a:xfrm>
            <a:off x="4498848" y="4352544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 reason drafted per shift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lot.step.5.mark.1"/>
          <p:cNvSpPr/>
          <p:nvPr/>
        </p:nvSpPr>
        <p:spPr>
          <a:xfrm>
            <a:off x="6565392" y="427024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8000"/>
                </a:moveTo>
                <a:lnTo>
                  <a:pt x="12000" y="4000"/>
                </a:lnTo>
                <a:lnTo>
                  <a:pt x="8000" y="4000"/>
                </a:lnTo>
                <a:moveTo>
                  <a:pt x="6000" y="8000"/>
                </a:moveTo>
                <a:lnTo>
                  <a:pt x="18000" y="8000"/>
                </a:lnTo>
                <a:cubicBezTo>
                  <a:pt x="19105" y="8000"/>
                  <a:pt x="20000" y="8895"/>
                  <a:pt x="20000" y="10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10000"/>
                </a:lnTo>
                <a:cubicBezTo>
                  <a:pt x="4000" y="8895"/>
                  <a:pt x="4895" y="8000"/>
                  <a:pt x="6000" y="8000"/>
                </a:cubicBezTo>
                <a:close/>
                <a:moveTo>
                  <a:pt x="2000" y="14000"/>
                </a:moveTo>
                <a:lnTo>
                  <a:pt x="4000" y="14000"/>
                </a:lnTo>
                <a:moveTo>
                  <a:pt x="20000" y="14000"/>
                </a:moveTo>
                <a:lnTo>
                  <a:pt x="22000" y="14000"/>
                </a:lnTo>
                <a:moveTo>
                  <a:pt x="15000" y="13000"/>
                </a:moveTo>
                <a:lnTo>
                  <a:pt x="15000" y="15000"/>
                </a:lnTo>
                <a:moveTo>
                  <a:pt x="9000" y="13000"/>
                </a:moveTo>
                <a:lnTo>
                  <a:pt x="9000" y="15000"/>
                </a:lnTo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24" name="slot.step.6.body"/>
          <p:cNvSpPr txBox="1"/>
          <p:nvPr/>
        </p:nvSpPr>
        <p:spPr>
          <a:xfrm>
            <a:off x="4498848" y="4956048"/>
            <a:ext cx="1828800" cy="20116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Overrides logged and dated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slot.step.6.mark.1"/>
          <p:cNvSpPr/>
          <p:nvPr/>
        </p:nvSpPr>
        <p:spPr>
          <a:xfrm>
            <a:off x="6565392" y="487375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9000" y="21000"/>
                </a:moveTo>
                <a:lnTo>
                  <a:pt x="19000" y="19000"/>
                </a:lnTo>
                <a:cubicBezTo>
                  <a:pt x="19000" y="16791"/>
                  <a:pt x="17209" y="15000"/>
                  <a:pt x="15000" y="15000"/>
                </a:cubicBezTo>
                <a:lnTo>
                  <a:pt x="9000" y="15000"/>
                </a:lnTo>
                <a:cubicBezTo>
                  <a:pt x="6791" y="15000"/>
                  <a:pt x="5000" y="16791"/>
                  <a:pt x="5000" y="19000"/>
                </a:cubicBezTo>
                <a:lnTo>
                  <a:pt x="5000" y="21000"/>
                </a:lnTo>
                <a:moveTo>
                  <a:pt x="16000" y="7000"/>
                </a:moveTo>
                <a:cubicBezTo>
                  <a:pt x="16000" y="9209"/>
                  <a:pt x="14209" y="11000"/>
                  <a:pt x="12000" y="11000"/>
                </a:cubicBezTo>
                <a:cubicBezTo>
                  <a:pt x="9791" y="11000"/>
                  <a:pt x="8000" y="9209"/>
                  <a:pt x="8000" y="7000"/>
                </a:cubicBezTo>
                <a:cubicBezTo>
                  <a:pt x="8000" y="4791"/>
                  <a:pt x="9791" y="3000"/>
                  <a:pt x="12000" y="3000"/>
                </a:cubicBezTo>
                <a:cubicBezTo>
                  <a:pt x="14209" y="3000"/>
                  <a:pt x="16000" y="4791"/>
                  <a:pt x="16000" y="7000"/>
                </a:cubicBezTo>
                <a:close/>
              </a:path>
            </a:pathLst>
          </a:custGeom>
          <a:noFill/>
          <a:ln w="12065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26" name="struct.method.proof.1.zone"/>
          <p:cNvSpPr/>
          <p:nvPr/>
        </p:nvSpPr>
        <p:spPr>
          <a:xfrm>
            <a:off x="6931152" y="1719072"/>
            <a:ext cx="1252728" cy="1042416"/>
          </a:xfrm>
          <a:prstGeom prst="roundRect">
            <a:avLst>
              <a:gd name="adj" fmla="val 5263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27" name="slot.method.proof.1.icon"/>
          <p:cNvSpPr/>
          <p:nvPr/>
        </p:nvSpPr>
        <p:spPr>
          <a:xfrm>
            <a:off x="7420356" y="200253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3000"/>
                </a:moveTo>
                <a:lnTo>
                  <a:pt x="12000" y="21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3000" y="15000"/>
                </a:moveTo>
                <a:lnTo>
                  <a:pt x="21000" y="15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28" name="slot.method.proof.1.label"/>
          <p:cNvSpPr txBox="1"/>
          <p:nvPr/>
        </p:nvSpPr>
        <p:spPr>
          <a:xfrm>
            <a:off x="6986016" y="2313432"/>
            <a:ext cx="1143000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Joined dataset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truct.method.proof.2.zone"/>
          <p:cNvSpPr/>
          <p:nvPr/>
        </p:nvSpPr>
        <p:spPr>
          <a:xfrm>
            <a:off x="6931152" y="2944368"/>
            <a:ext cx="1252728" cy="1042416"/>
          </a:xfrm>
          <a:prstGeom prst="roundRect">
            <a:avLst>
              <a:gd name="adj" fmla="val 5263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30" name="slot.method.proof.2.icon"/>
          <p:cNvSpPr/>
          <p:nvPr/>
        </p:nvSpPr>
        <p:spPr>
          <a:xfrm>
            <a:off x="7420356" y="3227832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31" name="slot.method.proof.2.label"/>
          <p:cNvSpPr txBox="1"/>
          <p:nvPr/>
        </p:nvSpPr>
        <p:spPr>
          <a:xfrm>
            <a:off x="6986016" y="3538728"/>
            <a:ext cx="1143000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Baseline forecast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struct.method.proof.3.zone"/>
          <p:cNvSpPr/>
          <p:nvPr/>
        </p:nvSpPr>
        <p:spPr>
          <a:xfrm>
            <a:off x="6931152" y="4142232"/>
            <a:ext cx="1252728" cy="1042416"/>
          </a:xfrm>
          <a:prstGeom prst="roundRect">
            <a:avLst>
              <a:gd name="adj" fmla="val 5263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33" name="slot.method.proof.3.icon"/>
          <p:cNvSpPr/>
          <p:nvPr/>
        </p:nvSpPr>
        <p:spPr>
          <a:xfrm>
            <a:off x="7420356" y="44256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34" name="slot.method.proof.3.label"/>
          <p:cNvSpPr txBox="1"/>
          <p:nvPr/>
        </p:nvSpPr>
        <p:spPr>
          <a:xfrm>
            <a:off x="6986016" y="4736592"/>
            <a:ext cx="1143000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Change notes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struct.handoff.1.mark"/>
          <p:cNvSpPr/>
          <p:nvPr/>
        </p:nvSpPr>
        <p:spPr>
          <a:xfrm>
            <a:off x="3712464" y="318211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36" name="struct.handoff.2.mark"/>
          <p:cNvSpPr/>
          <p:nvPr/>
        </p:nvSpPr>
        <p:spPr>
          <a:xfrm>
            <a:off x="8494776" y="318211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37" name="slot.output.1.icon"/>
          <p:cNvSpPr/>
          <p:nvPr/>
        </p:nvSpPr>
        <p:spPr>
          <a:xfrm>
            <a:off x="8842248" y="1527048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9000" y="3000"/>
                </a:lnTo>
                <a:cubicBezTo>
                  <a:pt x="9552" y="3000"/>
                  <a:pt x="10000" y="3448"/>
                  <a:pt x="10000" y="4000"/>
                </a:cubicBezTo>
                <a:lnTo>
                  <a:pt x="10000" y="11000"/>
                </a:lnTo>
                <a:cubicBezTo>
                  <a:pt x="10000" y="11552"/>
                  <a:pt x="9552" y="12000"/>
                  <a:pt x="9000" y="12000"/>
                </a:cubicBezTo>
                <a:lnTo>
                  <a:pt x="4000" y="12000"/>
                </a:lnTo>
                <a:cubicBezTo>
                  <a:pt x="3448" y="12000"/>
                  <a:pt x="3000" y="11552"/>
                  <a:pt x="3000" y="11000"/>
                </a:cubicBezTo>
                <a:lnTo>
                  <a:pt x="3000" y="4000"/>
                </a:lnTo>
                <a:cubicBezTo>
                  <a:pt x="3000" y="3448"/>
                  <a:pt x="3448" y="3000"/>
                  <a:pt x="4000" y="3000"/>
                </a:cubicBezTo>
                <a:close/>
                <a:moveTo>
                  <a:pt x="15000" y="3000"/>
                </a:moveTo>
                <a:lnTo>
                  <a:pt x="20000" y="3000"/>
                </a:lnTo>
                <a:cubicBezTo>
                  <a:pt x="20552" y="3000"/>
                  <a:pt x="21000" y="3448"/>
                  <a:pt x="21000" y="4000"/>
                </a:cubicBezTo>
                <a:lnTo>
                  <a:pt x="21000" y="7000"/>
                </a:lnTo>
                <a:cubicBezTo>
                  <a:pt x="21000" y="7552"/>
                  <a:pt x="20552" y="8000"/>
                  <a:pt x="20000" y="8000"/>
                </a:cubicBezTo>
                <a:lnTo>
                  <a:pt x="15000" y="8000"/>
                </a:lnTo>
                <a:cubicBezTo>
                  <a:pt x="14448" y="8000"/>
                  <a:pt x="14000" y="7552"/>
                  <a:pt x="14000" y="7000"/>
                </a:cubicBezTo>
                <a:lnTo>
                  <a:pt x="14000" y="4000"/>
                </a:lnTo>
                <a:cubicBezTo>
                  <a:pt x="14000" y="3448"/>
                  <a:pt x="14448" y="3000"/>
                  <a:pt x="15000" y="3000"/>
                </a:cubicBezTo>
                <a:close/>
                <a:moveTo>
                  <a:pt x="15000" y="12000"/>
                </a:moveTo>
                <a:lnTo>
                  <a:pt x="20000" y="12000"/>
                </a:lnTo>
                <a:cubicBezTo>
                  <a:pt x="20552" y="12000"/>
                  <a:pt x="21000" y="12448"/>
                  <a:pt x="21000" y="13000"/>
                </a:cubicBezTo>
                <a:lnTo>
                  <a:pt x="21000" y="20000"/>
                </a:lnTo>
                <a:cubicBezTo>
                  <a:pt x="21000" y="20552"/>
                  <a:pt x="20552" y="21000"/>
                  <a:pt x="20000" y="21000"/>
                </a:cubicBezTo>
                <a:lnTo>
                  <a:pt x="15000" y="21000"/>
                </a:lnTo>
                <a:cubicBezTo>
                  <a:pt x="14448" y="21000"/>
                  <a:pt x="14000" y="20552"/>
                  <a:pt x="14000" y="20000"/>
                </a:cubicBezTo>
                <a:lnTo>
                  <a:pt x="14000" y="13000"/>
                </a:lnTo>
                <a:cubicBezTo>
                  <a:pt x="14000" y="12448"/>
                  <a:pt x="14448" y="12000"/>
                  <a:pt x="15000" y="12000"/>
                </a:cubicBezTo>
                <a:close/>
                <a:moveTo>
                  <a:pt x="4000" y="16000"/>
                </a:moveTo>
                <a:lnTo>
                  <a:pt x="9000" y="16000"/>
                </a:lnTo>
                <a:cubicBezTo>
                  <a:pt x="9552" y="16000"/>
                  <a:pt x="10000" y="16448"/>
                  <a:pt x="10000" y="17000"/>
                </a:cubicBezTo>
                <a:lnTo>
                  <a:pt x="10000" y="20000"/>
                </a:lnTo>
                <a:cubicBezTo>
                  <a:pt x="10000" y="20552"/>
                  <a:pt x="9552" y="21000"/>
                  <a:pt x="9000" y="21000"/>
                </a:cubicBezTo>
                <a:lnTo>
                  <a:pt x="4000" y="21000"/>
                </a:lnTo>
                <a:cubicBezTo>
                  <a:pt x="3448" y="21000"/>
                  <a:pt x="3000" y="20552"/>
                  <a:pt x="3000" y="20000"/>
                </a:cubicBezTo>
                <a:lnTo>
                  <a:pt x="3000" y="17000"/>
                </a:lnTo>
                <a:cubicBezTo>
                  <a:pt x="3000" y="16448"/>
                  <a:pt x="3448" y="16000"/>
                  <a:pt x="4000" y="16000"/>
                </a:cubicBezTo>
                <a:close/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38" name="slot.output.2.icon"/>
          <p:cNvSpPr/>
          <p:nvPr/>
        </p:nvSpPr>
        <p:spPr>
          <a:xfrm>
            <a:off x="8842248" y="2816352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730" y="18000"/>
                </a:moveTo>
                <a:lnTo>
                  <a:pt x="13730" y="4000"/>
                </a:lnTo>
                <a:cubicBezTo>
                  <a:pt x="13375" y="3373"/>
                  <a:pt x="12710" y="2986"/>
                  <a:pt x="11990" y="2986"/>
                </a:cubicBezTo>
                <a:cubicBezTo>
                  <a:pt x="11270" y="2986"/>
                  <a:pt x="10605" y="3373"/>
                  <a:pt x="10250" y="4000"/>
                </a:cubicBezTo>
                <a:lnTo>
                  <a:pt x="2250" y="18000"/>
                </a:lnTo>
                <a:cubicBezTo>
                  <a:pt x="1891" y="18622"/>
                  <a:pt x="1893" y="19388"/>
                  <a:pt x="2254" y="20008"/>
                </a:cubicBezTo>
                <a:cubicBezTo>
                  <a:pt x="2616" y="20628"/>
                  <a:pt x="3282" y="21006"/>
                  <a:pt x="4000" y="21000"/>
                </a:cubicBezTo>
                <a:lnTo>
                  <a:pt x="20000" y="21000"/>
                </a:lnTo>
                <a:cubicBezTo>
                  <a:pt x="20714" y="20999"/>
                  <a:pt x="21374" y="20618"/>
                  <a:pt x="21731" y="19999"/>
                </a:cubicBezTo>
                <a:cubicBezTo>
                  <a:pt x="22087" y="19380"/>
                  <a:pt x="22087" y="18618"/>
                  <a:pt x="21730" y="18000"/>
                </a:cubicBezTo>
                <a:moveTo>
                  <a:pt x="12000" y="9000"/>
                </a:moveTo>
                <a:lnTo>
                  <a:pt x="12000" y="13000"/>
                </a:lnTo>
                <a:moveTo>
                  <a:pt x="12000" y="17000"/>
                </a:moveTo>
                <a:lnTo>
                  <a:pt x="12010" y="17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39" name="slot.output.3.icon"/>
          <p:cNvSpPr/>
          <p:nvPr/>
        </p:nvSpPr>
        <p:spPr>
          <a:xfrm>
            <a:off x="8842248" y="4105656"/>
            <a:ext cx="146304" cy="14630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2065" cap="rnd">
            <a:solidFill>
              <a:schemeClr val="accent1"/>
            </a:solidFill>
            <a:round/>
          </a:ln>
          <a:effectLst/>
        </p:spPr>
      </p:sp>
      <p:sp>
        <p:nvSpPr>
          <p:cNvPr id="140" name="struct.output.proof.1.zone"/>
          <p:cNvSpPr/>
          <p:nvPr/>
        </p:nvSpPr>
        <p:spPr>
          <a:xfrm>
            <a:off x="9418320" y="2020824"/>
            <a:ext cx="1417320" cy="713232"/>
          </a:xfrm>
          <a:prstGeom prst="roundRect">
            <a:avLst>
              <a:gd name="adj" fmla="val 769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41" name="slot.output.proof.1.icon"/>
          <p:cNvSpPr/>
          <p:nvPr/>
        </p:nvSpPr>
        <p:spPr>
          <a:xfrm>
            <a:off x="9989820" y="213969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42" name="slot.output.proof.1.label"/>
          <p:cNvSpPr txBox="1"/>
          <p:nvPr/>
        </p:nvSpPr>
        <p:spPr>
          <a:xfrm>
            <a:off x="9473184" y="2450592"/>
            <a:ext cx="1307592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Plan view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struct.output.proof.2.zone"/>
          <p:cNvSpPr/>
          <p:nvPr/>
        </p:nvSpPr>
        <p:spPr>
          <a:xfrm>
            <a:off x="9418320" y="3310128"/>
            <a:ext cx="1417320" cy="713232"/>
          </a:xfrm>
          <a:prstGeom prst="roundRect">
            <a:avLst>
              <a:gd name="adj" fmla="val 769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44" name="slot.output.proof.2.icon"/>
          <p:cNvSpPr/>
          <p:nvPr/>
        </p:nvSpPr>
        <p:spPr>
          <a:xfrm>
            <a:off x="9989820" y="342900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45" name="slot.output.proof.2.label"/>
          <p:cNvSpPr txBox="1"/>
          <p:nvPr/>
        </p:nvSpPr>
        <p:spPr>
          <a:xfrm>
            <a:off x="9473184" y="3739896"/>
            <a:ext cx="1307592" cy="219456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Flag queue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struct.output.proof.3.zone"/>
          <p:cNvSpPr/>
          <p:nvPr/>
        </p:nvSpPr>
        <p:spPr>
          <a:xfrm>
            <a:off x="8961120" y="4599432"/>
            <a:ext cx="932688" cy="640080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147" name="slot.output.proof.3.icon"/>
          <p:cNvSpPr/>
          <p:nvPr/>
        </p:nvSpPr>
        <p:spPr>
          <a:xfrm>
            <a:off x="9281160" y="4773168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8" name="slot.reuse.icon"/>
          <p:cNvSpPr/>
          <p:nvPr/>
        </p:nvSpPr>
        <p:spPr>
          <a:xfrm>
            <a:off x="667512" y="5596128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22000"/>
                </a:moveTo>
                <a:lnTo>
                  <a:pt x="10000" y="7000"/>
                </a:lnTo>
                <a:cubicBezTo>
                  <a:pt x="10000" y="6448"/>
                  <a:pt x="9552" y="6000"/>
                  <a:pt x="9000" y="6000"/>
                </a:cubicBezTo>
                <a:lnTo>
                  <a:pt x="4000" y="6000"/>
                </a:lnTo>
                <a:cubicBezTo>
                  <a:pt x="2895" y="6000"/>
                  <a:pt x="2000" y="6895"/>
                  <a:pt x="2000" y="8000"/>
                </a:cubicBezTo>
                <a:lnTo>
                  <a:pt x="2000" y="20000"/>
                </a:lnTo>
                <a:cubicBezTo>
                  <a:pt x="2000" y="21105"/>
                  <a:pt x="2895" y="22000"/>
                  <a:pt x="4000" y="22000"/>
                </a:cubicBezTo>
                <a:lnTo>
                  <a:pt x="16000" y="22000"/>
                </a:lnTo>
                <a:cubicBezTo>
                  <a:pt x="17105" y="22000"/>
                  <a:pt x="18000" y="21105"/>
                  <a:pt x="18000" y="20000"/>
                </a:cubicBezTo>
                <a:lnTo>
                  <a:pt x="18000" y="15000"/>
                </a:lnTo>
                <a:cubicBezTo>
                  <a:pt x="18000" y="14448"/>
                  <a:pt x="17552" y="14000"/>
                  <a:pt x="17000" y="14000"/>
                </a:cubicBezTo>
                <a:lnTo>
                  <a:pt x="2000" y="14000"/>
                </a:lnTo>
                <a:moveTo>
                  <a:pt x="15000" y="2000"/>
                </a:moveTo>
                <a:lnTo>
                  <a:pt x="21000" y="2000"/>
                </a:lnTo>
                <a:cubicBezTo>
                  <a:pt x="21552" y="2000"/>
                  <a:pt x="22000" y="2448"/>
                  <a:pt x="22000" y="3000"/>
                </a:cubicBezTo>
                <a:lnTo>
                  <a:pt x="22000" y="9000"/>
                </a:lnTo>
                <a:cubicBezTo>
                  <a:pt x="22000" y="9552"/>
                  <a:pt x="21552" y="10000"/>
                  <a:pt x="21000" y="10000"/>
                </a:cubicBezTo>
                <a:lnTo>
                  <a:pt x="15000" y="10000"/>
                </a:lnTo>
                <a:cubicBezTo>
                  <a:pt x="14448" y="10000"/>
                  <a:pt x="14000" y="9552"/>
                  <a:pt x="14000" y="9000"/>
                </a:cubicBezTo>
                <a:lnTo>
                  <a:pt x="14000" y="3000"/>
                </a:lnTo>
                <a:cubicBezTo>
                  <a:pt x="14000" y="2448"/>
                  <a:pt x="14448" y="2000"/>
                  <a:pt x="15000" y="2000"/>
                </a:cubicBezTo>
                <a:close/>
              </a:path>
            </a:pathLst>
          </a:custGeom>
          <a:noFill/>
          <a:ln w="10160" cap="rnd">
            <a:solidFill>
              <a:schemeClr val="accent1"/>
            </a:solidFill>
            <a:round/>
          </a:ln>
          <a:effectLst/>
        </p:spPr>
      </p:sp>
      <p:sp>
        <p:nvSpPr>
          <p:cNvPr id="149" name="slot.uses.icon"/>
          <p:cNvSpPr/>
          <p:nvPr/>
        </p:nvSpPr>
        <p:spPr>
          <a:xfrm>
            <a:off x="6373368" y="5596128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6240" y="7760"/>
                </a:moveTo>
                <a:lnTo>
                  <a:pt x="14436" y="13171"/>
                </a:lnTo>
                <a:cubicBezTo>
                  <a:pt x="14237" y="13768"/>
                  <a:pt x="13768" y="14237"/>
                  <a:pt x="13171" y="14436"/>
                </a:cubicBezTo>
                <a:lnTo>
                  <a:pt x="7760" y="16240"/>
                </a:lnTo>
                <a:lnTo>
                  <a:pt x="9564" y="10829"/>
                </a:lnTo>
                <a:cubicBezTo>
                  <a:pt x="9763" y="10232"/>
                  <a:pt x="10232" y="9763"/>
                  <a:pt x="10829" y="9564"/>
                </a:cubicBezTo>
                <a:close/>
              </a:path>
            </a:pathLst>
          </a:custGeom>
          <a:noFill/>
          <a:ln w="10160" cap="rnd">
            <a:solidFill>
              <a:schemeClr val="accent1"/>
            </a:solidFill>
            <a:round/>
          </a:ln>
          <a:effectLst/>
        </p:spPr>
      </p:sp>
      <p:sp>
        <p:nvSpPr>
          <p:cNvPr id="150" name="slot.reuse.1.icon"/>
          <p:cNvSpPr/>
          <p:nvPr/>
        </p:nvSpPr>
        <p:spPr>
          <a:xfrm>
            <a:off x="640080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1" name="slot.reuse.2.icon"/>
          <p:cNvSpPr/>
          <p:nvPr/>
        </p:nvSpPr>
        <p:spPr>
          <a:xfrm>
            <a:off x="2007108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2" name="slot.reuse.3.icon"/>
          <p:cNvSpPr/>
          <p:nvPr/>
        </p:nvSpPr>
        <p:spPr>
          <a:xfrm>
            <a:off x="3452774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3" name="slot.reuse.4.icon"/>
          <p:cNvSpPr/>
          <p:nvPr/>
        </p:nvSpPr>
        <p:spPr>
          <a:xfrm>
            <a:off x="4948733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7000"/>
                </a:lnTo>
                <a:moveTo>
                  <a:pt x="15000" y="8000"/>
                </a:moveTo>
                <a:lnTo>
                  <a:pt x="15000" y="2000"/>
                </a:lnTo>
                <a:moveTo>
                  <a:pt x="17000" y="8000"/>
                </a:moveTo>
                <a:cubicBezTo>
                  <a:pt x="17552" y="8000"/>
                  <a:pt x="18000" y="8448"/>
                  <a:pt x="18000" y="9000"/>
                </a:cubicBezTo>
                <a:lnTo>
                  <a:pt x="18000" y="13000"/>
                </a:lnTo>
                <a:cubicBezTo>
                  <a:pt x="18000" y="15209"/>
                  <a:pt x="16209" y="17000"/>
                  <a:pt x="14000" y="17000"/>
                </a:cubicBezTo>
                <a:lnTo>
                  <a:pt x="10000" y="17000"/>
                </a:lnTo>
                <a:cubicBezTo>
                  <a:pt x="7791" y="17000"/>
                  <a:pt x="6000" y="15209"/>
                  <a:pt x="6000" y="13000"/>
                </a:cubicBezTo>
                <a:lnTo>
                  <a:pt x="6000" y="9000"/>
                </a:lnTo>
                <a:cubicBezTo>
                  <a:pt x="6000" y="8448"/>
                  <a:pt x="6448" y="8000"/>
                  <a:pt x="7000" y="8000"/>
                </a:cubicBezTo>
                <a:close/>
                <a:moveTo>
                  <a:pt x="9000" y="8000"/>
                </a:moveTo>
                <a:lnTo>
                  <a:pt x="9000" y="2000"/>
                </a:lnTo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4" name="slot.uses.1.icon"/>
          <p:cNvSpPr/>
          <p:nvPr/>
        </p:nvSpPr>
        <p:spPr>
          <a:xfrm>
            <a:off x="6263640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5" name="slot.uses.2.icon"/>
          <p:cNvSpPr/>
          <p:nvPr/>
        </p:nvSpPr>
        <p:spPr>
          <a:xfrm>
            <a:off x="8046720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586" y="2586"/>
                </a:moveTo>
                <a:cubicBezTo>
                  <a:pt x="12211" y="2211"/>
                  <a:pt x="11702" y="2000"/>
                  <a:pt x="11172" y="2000"/>
                </a:cubicBezTo>
                <a:lnTo>
                  <a:pt x="4000" y="2000"/>
                </a:lnTo>
                <a:cubicBezTo>
                  <a:pt x="2895" y="2000"/>
                  <a:pt x="2000" y="2895"/>
                  <a:pt x="2000" y="4000"/>
                </a:cubicBezTo>
                <a:lnTo>
                  <a:pt x="2000" y="11172"/>
                </a:lnTo>
                <a:cubicBezTo>
                  <a:pt x="2000" y="11702"/>
                  <a:pt x="2211" y="12211"/>
                  <a:pt x="2586" y="12586"/>
                </a:cubicBezTo>
                <a:lnTo>
                  <a:pt x="11290" y="21290"/>
                </a:lnTo>
                <a:cubicBezTo>
                  <a:pt x="12236" y="22230"/>
                  <a:pt x="13764" y="22230"/>
                  <a:pt x="14710" y="21290"/>
                </a:cubicBezTo>
                <a:lnTo>
                  <a:pt x="21290" y="14710"/>
                </a:lnTo>
                <a:cubicBezTo>
                  <a:pt x="22230" y="13764"/>
                  <a:pt x="22230" y="12236"/>
                  <a:pt x="21290" y="11290"/>
                </a:cubicBezTo>
                <a:close/>
              </a:path>
              <a:path w="24000" h="24000">
                <a:moveTo>
                  <a:pt x="8000" y="7500"/>
                </a:moveTo>
                <a:cubicBezTo>
                  <a:pt x="8000" y="7776"/>
                  <a:pt x="7776" y="8000"/>
                  <a:pt x="7500" y="8000"/>
                </a:cubicBezTo>
                <a:cubicBezTo>
                  <a:pt x="7224" y="8000"/>
                  <a:pt x="7000" y="7776"/>
                  <a:pt x="7000" y="7500"/>
                </a:cubicBezTo>
                <a:cubicBezTo>
                  <a:pt x="7000" y="7224"/>
                  <a:pt x="7224" y="7000"/>
                  <a:pt x="7500" y="7000"/>
                </a:cubicBezTo>
                <a:cubicBezTo>
                  <a:pt x="7776" y="7000"/>
                  <a:pt x="8000" y="7224"/>
                  <a:pt x="8000" y="7500"/>
                </a:cubicBezTo>
                <a:close/>
              </a:path>
            </a:pathLst>
          </a:custGeom>
          <a:solidFill>
            <a:schemeClr val="accent1"/>
          </a:solidFill>
          <a:ln w="10795" cap="rnd">
            <a:solidFill>
              <a:schemeClr val="accent1"/>
            </a:solidFill>
            <a:round/>
          </a:ln>
          <a:effectLst/>
        </p:spPr>
      </p:sp>
      <p:sp>
        <p:nvSpPr>
          <p:cNvPr id="156" name="slot.uses.3.icon"/>
          <p:cNvSpPr/>
          <p:nvPr/>
        </p:nvSpPr>
        <p:spPr>
          <a:xfrm>
            <a:off x="9829800" y="5925312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9000" y="15000"/>
                </a:moveTo>
                <a:lnTo>
                  <a:pt x="11000" y="17000"/>
                </a:lnTo>
                <a:lnTo>
                  <a:pt x="15000" y="13000"/>
                </a:lnTo>
              </a:path>
            </a:pathLst>
          </a:custGeom>
          <a:noFill/>
          <a:ln w="10795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ecision-logic:staged-rule-lanes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232561" y="212655"/>
            <a:ext cx="11954101" cy="61558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Five ordered rules</a:t>
            </a: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route every late shipment to expedite or hold</a:t>
            </a:r>
            <a:endParaRPr lang="en-US" sz="2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tab.1"/>
          <p:cNvSpPr/>
          <p:nvPr/>
        </p:nvSpPr>
        <p:spPr>
          <a:xfrm>
            <a:off x="237594" y="1307566"/>
            <a:ext cx="2199945" cy="369591"/>
          </a:xfrm>
          <a:prstGeom prst="roundRect">
            <a:avLst>
              <a:gd fmla="val 15909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" name="struct.tab.1.disc"/>
          <p:cNvSpPr/>
          <p:nvPr/>
        </p:nvSpPr>
        <p:spPr>
          <a:xfrm>
            <a:off x="329966" y="1383212"/>
            <a:ext cx="239994" cy="2183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5" name="struct.tab.1.num"/>
          <p:cNvSpPr/>
          <p:nvPr/>
        </p:nvSpPr>
        <p:spPr>
          <a:xfrm>
            <a:off x="329966" y="1383212"/>
            <a:ext cx="239994" cy="2183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stage.1.label"/>
          <p:cNvSpPr/>
          <p:nvPr/>
        </p:nvSpPr>
        <p:spPr>
          <a:xfrm>
            <a:off x="625559" y="1307566"/>
            <a:ext cx="1738357" cy="369591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Order signals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stage.1.caption"/>
          <p:cNvSpPr/>
          <p:nvPr/>
        </p:nvSpPr>
        <p:spPr>
          <a:xfrm>
            <a:off x="256068" y="1711012"/>
            <a:ext cx="219994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Six inputs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ruct.tab.2"/>
          <p:cNvSpPr/>
          <p:nvPr/>
        </p:nvSpPr>
        <p:spPr>
          <a:xfrm>
            <a:off x="2604183" y="1307566"/>
            <a:ext cx="2199945" cy="369591"/>
          </a:xfrm>
          <a:prstGeom prst="roundRect">
            <a:avLst>
              <a:gd fmla="val 15909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9" name="struct.tab.2.disc"/>
          <p:cNvSpPr/>
          <p:nvPr/>
        </p:nvSpPr>
        <p:spPr>
          <a:xfrm>
            <a:off x="2696555" y="1383212"/>
            <a:ext cx="239994" cy="2183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0" name="struct.tab.2.num"/>
          <p:cNvSpPr/>
          <p:nvPr/>
        </p:nvSpPr>
        <p:spPr>
          <a:xfrm>
            <a:off x="2696555" y="1383212"/>
            <a:ext cx="239994" cy="2183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lot.stage.2.label"/>
          <p:cNvSpPr/>
          <p:nvPr/>
        </p:nvSpPr>
        <p:spPr>
          <a:xfrm>
            <a:off x="2992148" y="1307566"/>
            <a:ext cx="1738357" cy="369591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Checks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stage.2.caption"/>
          <p:cNvSpPr/>
          <p:nvPr/>
        </p:nvSpPr>
        <p:spPr>
          <a:xfrm>
            <a:off x="2622657" y="1711012"/>
            <a:ext cx="219994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Yes or no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tab.3"/>
          <p:cNvSpPr/>
          <p:nvPr/>
        </p:nvSpPr>
        <p:spPr>
          <a:xfrm>
            <a:off x="4970772" y="1307566"/>
            <a:ext cx="2199945" cy="369591"/>
          </a:xfrm>
          <a:prstGeom prst="roundRect">
            <a:avLst>
              <a:gd fmla="val 15909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4" name="struct.tab.3.disc"/>
          <p:cNvSpPr/>
          <p:nvPr/>
        </p:nvSpPr>
        <p:spPr>
          <a:xfrm>
            <a:off x="5063145" y="1383212"/>
            <a:ext cx="239994" cy="2183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5" name="struct.tab.3.num"/>
          <p:cNvSpPr/>
          <p:nvPr/>
        </p:nvSpPr>
        <p:spPr>
          <a:xfrm>
            <a:off x="5063145" y="1383212"/>
            <a:ext cx="239994" cy="2183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stage.3.label"/>
          <p:cNvSpPr/>
          <p:nvPr/>
        </p:nvSpPr>
        <p:spPr>
          <a:xfrm>
            <a:off x="5358738" y="1307566"/>
            <a:ext cx="1738357" cy="369591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Routing rules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ot.stage.3.caption"/>
          <p:cNvSpPr/>
          <p:nvPr/>
        </p:nvSpPr>
        <p:spPr>
          <a:xfrm>
            <a:off x="4989247" y="1711012"/>
            <a:ext cx="219994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Five rules, in order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uct.tab.4"/>
          <p:cNvSpPr/>
          <p:nvPr/>
        </p:nvSpPr>
        <p:spPr>
          <a:xfrm>
            <a:off x="7337361" y="1307566"/>
            <a:ext cx="2199945" cy="369591"/>
          </a:xfrm>
          <a:prstGeom prst="roundRect">
            <a:avLst>
              <a:gd fmla="val 15909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9" name="struct.tab.4.disc"/>
          <p:cNvSpPr/>
          <p:nvPr/>
        </p:nvSpPr>
        <p:spPr>
          <a:xfrm>
            <a:off x="7429733" y="1383212"/>
            <a:ext cx="239994" cy="2183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20" name="struct.tab.4.num"/>
          <p:cNvSpPr/>
          <p:nvPr/>
        </p:nvSpPr>
        <p:spPr>
          <a:xfrm>
            <a:off x="7429733" y="1383212"/>
            <a:ext cx="239994" cy="2183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stage.4.label"/>
          <p:cNvSpPr/>
          <p:nvPr/>
        </p:nvSpPr>
        <p:spPr>
          <a:xfrm>
            <a:off x="7725326" y="1307566"/>
            <a:ext cx="1738357" cy="369591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Outcomes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stage.4.caption"/>
          <p:cNvSpPr/>
          <p:nvPr/>
        </p:nvSpPr>
        <p:spPr>
          <a:xfrm>
            <a:off x="7355835" y="1711012"/>
            <a:ext cx="219994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Two dispositions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tab.5"/>
          <p:cNvSpPr/>
          <p:nvPr/>
        </p:nvSpPr>
        <p:spPr>
          <a:xfrm>
            <a:off x="9703949" y="1307566"/>
            <a:ext cx="2199945" cy="369591"/>
          </a:xfrm>
          <a:prstGeom prst="roundRect">
            <a:avLst>
              <a:gd fmla="val 15909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24" name="struct.tab.5.disc"/>
          <p:cNvSpPr/>
          <p:nvPr/>
        </p:nvSpPr>
        <p:spPr>
          <a:xfrm>
            <a:off x="9796322" y="1383212"/>
            <a:ext cx="239994" cy="2183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25" name="struct.tab.5.num"/>
          <p:cNvSpPr/>
          <p:nvPr/>
        </p:nvSpPr>
        <p:spPr>
          <a:xfrm>
            <a:off x="9796322" y="1383212"/>
            <a:ext cx="239994" cy="2183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5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lot.stage.5.label"/>
          <p:cNvSpPr/>
          <p:nvPr/>
        </p:nvSpPr>
        <p:spPr>
          <a:xfrm>
            <a:off x="10091914" y="1307566"/>
            <a:ext cx="1738357" cy="369591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Decision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stage.5.caption"/>
          <p:cNvSpPr/>
          <p:nvPr/>
        </p:nvSpPr>
        <p:spPr>
          <a:xfrm>
            <a:off x="9722424" y="1711012"/>
            <a:ext cx="219994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Per order</a:t>
            </a:r>
            <a:endParaRPr lang="en-US" sz="9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input.1"/>
          <p:cNvSpPr/>
          <p:nvPr/>
        </p:nvSpPr>
        <p:spPr>
          <a:xfrm>
            <a:off x="329966" y="1946357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29" name="struct.input.1.tile"/>
          <p:cNvSpPr/>
          <p:nvPr/>
        </p:nvSpPr>
        <p:spPr>
          <a:xfrm>
            <a:off x="422340" y="2093446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30" name="slot.input.1.head"/>
          <p:cNvSpPr/>
          <p:nvPr/>
        </p:nvSpPr>
        <p:spPr>
          <a:xfrm>
            <a:off x="886968" y="2057400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Order profile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input.1.body"/>
          <p:cNvSpPr/>
          <p:nvPr/>
        </p:nvSpPr>
        <p:spPr>
          <a:xfrm>
            <a:off x="886968" y="229514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Units and margin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struct.input.2"/>
          <p:cNvSpPr/>
          <p:nvPr/>
        </p:nvSpPr>
        <p:spPr>
          <a:xfrm>
            <a:off x="329966" y="2677604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33" name="struct.input.2.tile"/>
          <p:cNvSpPr/>
          <p:nvPr/>
        </p:nvSpPr>
        <p:spPr>
          <a:xfrm>
            <a:off x="422340" y="2824693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34" name="slot.input.2.head"/>
          <p:cNvSpPr/>
          <p:nvPr/>
        </p:nvSpPr>
        <p:spPr>
          <a:xfrm>
            <a:off x="886968" y="2788920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Store stock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input.2.body"/>
          <p:cNvSpPr/>
          <p:nvPr/>
        </p:nvSpPr>
        <p:spPr>
          <a:xfrm>
            <a:off x="886968" y="302666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Days of cover left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uct.input.3"/>
          <p:cNvSpPr/>
          <p:nvPr/>
        </p:nvSpPr>
        <p:spPr>
          <a:xfrm>
            <a:off x="329966" y="3408851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37" name="struct.input.3.tile"/>
          <p:cNvSpPr/>
          <p:nvPr/>
        </p:nvSpPr>
        <p:spPr>
          <a:xfrm>
            <a:off x="422340" y="3555940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38" name="slot.input.3.head"/>
          <p:cNvSpPr/>
          <p:nvPr/>
        </p:nvSpPr>
        <p:spPr>
          <a:xfrm>
            <a:off x="886968" y="3520440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Carrier status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input.3.body"/>
          <p:cNvSpPr/>
          <p:nvPr/>
        </p:nvSpPr>
        <p:spPr>
          <a:xfrm>
            <a:off x="886968" y="375818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Last scan and delay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uct.input.4"/>
          <p:cNvSpPr/>
          <p:nvPr/>
        </p:nvSpPr>
        <p:spPr>
          <a:xfrm>
            <a:off x="329966" y="4140096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1" name="struct.input.4.tile"/>
          <p:cNvSpPr/>
          <p:nvPr/>
        </p:nvSpPr>
        <p:spPr>
          <a:xfrm>
            <a:off x="422340" y="4287187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2" name="slot.input.4.head"/>
          <p:cNvSpPr/>
          <p:nvPr/>
        </p:nvSpPr>
        <p:spPr>
          <a:xfrm>
            <a:off x="886968" y="4251959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Lane distance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input.4.body"/>
          <p:cNvSpPr/>
          <p:nvPr/>
        </p:nvSpPr>
        <p:spPr>
          <a:xfrm>
            <a:off x="886968" y="448970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Hub to store miles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truct.input.5"/>
          <p:cNvSpPr/>
          <p:nvPr/>
        </p:nvSpPr>
        <p:spPr>
          <a:xfrm>
            <a:off x="329966" y="4871344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5" name="struct.input.5.tile"/>
          <p:cNvSpPr/>
          <p:nvPr/>
        </p:nvSpPr>
        <p:spPr>
          <a:xfrm>
            <a:off x="422340" y="5018435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6" name="slot.input.5.head"/>
          <p:cNvSpPr/>
          <p:nvPr/>
        </p:nvSpPr>
        <p:spPr>
          <a:xfrm>
            <a:off x="886968" y="4983480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Promo calendar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input.5.body"/>
          <p:cNvSpPr/>
          <p:nvPr/>
        </p:nvSpPr>
        <p:spPr>
          <a:xfrm>
            <a:off x="886968" y="522122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Upcoming events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uct.input.6"/>
          <p:cNvSpPr/>
          <p:nvPr/>
        </p:nvSpPr>
        <p:spPr>
          <a:xfrm>
            <a:off x="329966" y="5602591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49" name="struct.input.6.tile"/>
          <p:cNvSpPr/>
          <p:nvPr/>
        </p:nvSpPr>
        <p:spPr>
          <a:xfrm>
            <a:off x="422340" y="5749682"/>
            <a:ext cx="387590" cy="352791"/>
          </a:xfrm>
          <a:prstGeom prst="roundRect">
            <a:avLst>
              <a:gd fmla="val 14286" name="adj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50" name="slot.input.6.head"/>
          <p:cNvSpPr/>
          <p:nvPr/>
        </p:nvSpPr>
        <p:spPr>
          <a:xfrm>
            <a:off x="886968" y="5714999"/>
            <a:ext cx="1408176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Price tier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input.6.body"/>
          <p:cNvSpPr/>
          <p:nvPr/>
        </p:nvSpPr>
        <p:spPr>
          <a:xfrm>
            <a:off x="886968" y="5952744"/>
            <a:ext cx="140817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Markdown exposure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truct.check.1"/>
          <p:cNvSpPr/>
          <p:nvPr/>
        </p:nvSpPr>
        <p:spPr>
          <a:xfrm>
            <a:off x="2696555" y="1946357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53" name="slot.check.1.head"/>
          <p:cNvSpPr/>
          <p:nvPr/>
        </p:nvSpPr>
        <p:spPr>
          <a:xfrm>
            <a:off x="2779776" y="198424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Shelf empties first?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lot.check.1.test"/>
          <p:cNvSpPr/>
          <p:nvPr/>
        </p:nvSpPr>
        <p:spPr>
          <a:xfrm>
            <a:off x="2779776" y="217627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Cover shorter than the delay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check.1.source"/>
          <p:cNvSpPr/>
          <p:nvPr/>
        </p:nvSpPr>
        <p:spPr>
          <a:xfrm>
            <a:off x="2779776" y="235915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stock and carrier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truct.check.2"/>
          <p:cNvSpPr/>
          <p:nvPr/>
        </p:nvSpPr>
        <p:spPr>
          <a:xfrm>
            <a:off x="2696555" y="2677604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57" name="slot.check.2.head"/>
          <p:cNvSpPr/>
          <p:nvPr/>
        </p:nvSpPr>
        <p:spPr>
          <a:xfrm>
            <a:off x="2779776" y="271576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Event at stake?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check.2.test"/>
          <p:cNvSpPr/>
          <p:nvPr/>
        </p:nvSpPr>
        <p:spPr>
          <a:xfrm>
            <a:off x="2779776" y="2907791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Promo starts within 7 days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check.2.source"/>
          <p:cNvSpPr/>
          <p:nvPr/>
        </p:nvSpPr>
        <p:spPr>
          <a:xfrm>
            <a:off x="2779776" y="309067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promo calendar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truct.check.3"/>
          <p:cNvSpPr/>
          <p:nvPr/>
        </p:nvSpPr>
        <p:spPr>
          <a:xfrm>
            <a:off x="2696555" y="3408851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61" name="slot.check.3.head"/>
          <p:cNvSpPr/>
          <p:nvPr/>
        </p:nvSpPr>
        <p:spPr>
          <a:xfrm>
            <a:off x="2779776" y="344728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Margin worth saving?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check.3.test"/>
          <p:cNvSpPr/>
          <p:nvPr/>
        </p:nvSpPr>
        <p:spPr>
          <a:xfrm>
            <a:off x="2779776" y="363931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Lost margin above $5K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lot.check.3.source"/>
          <p:cNvSpPr/>
          <p:nvPr/>
        </p:nvSpPr>
        <p:spPr>
          <a:xfrm>
            <a:off x="2779776" y="3822191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order profile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truct.check.4"/>
          <p:cNvSpPr/>
          <p:nvPr/>
        </p:nvSpPr>
        <p:spPr>
          <a:xfrm>
            <a:off x="2696555" y="4140096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65" name="slot.check.4.head"/>
          <p:cNvSpPr/>
          <p:nvPr/>
        </p:nvSpPr>
        <p:spPr>
          <a:xfrm>
            <a:off x="2779776" y="417880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Faster lane open?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check.4.test"/>
          <p:cNvSpPr/>
          <p:nvPr/>
        </p:nvSpPr>
        <p:spPr>
          <a:xfrm>
            <a:off x="2779776" y="437083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Air or direct truck free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check.4.source"/>
          <p:cNvSpPr/>
          <p:nvPr/>
        </p:nvSpPr>
        <p:spPr>
          <a:xfrm>
            <a:off x="2779776" y="455371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lane distance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truct.check.5"/>
          <p:cNvSpPr/>
          <p:nvPr/>
        </p:nvSpPr>
        <p:spPr>
          <a:xfrm>
            <a:off x="2696555" y="4871344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69" name="slot.check.5.head"/>
          <p:cNvSpPr/>
          <p:nvPr/>
        </p:nvSpPr>
        <p:spPr>
          <a:xfrm>
            <a:off x="2779776" y="491032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Cost in bounds?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check.5.test"/>
          <p:cNvSpPr/>
          <p:nvPr/>
        </p:nvSpPr>
        <p:spPr>
          <a:xfrm>
            <a:off x="2779776" y="510235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Expedite under 20% of value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lot.check.5.source"/>
          <p:cNvSpPr/>
          <p:nvPr/>
        </p:nvSpPr>
        <p:spPr>
          <a:xfrm>
            <a:off x="2779776" y="528523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price tier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truct.check.6"/>
          <p:cNvSpPr/>
          <p:nvPr/>
        </p:nvSpPr>
        <p:spPr>
          <a:xfrm>
            <a:off x="2696555" y="5602591"/>
            <a:ext cx="2015550" cy="647184"/>
          </a:xfrm>
          <a:prstGeom prst="roundRect">
            <a:avLst>
              <a:gd fmla="val 7792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73" name="slot.check.6.head"/>
          <p:cNvSpPr/>
          <p:nvPr/>
        </p:nvSpPr>
        <p:spPr>
          <a:xfrm>
            <a:off x="2779776" y="5641848"/>
            <a:ext cx="184708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Substitute on hand?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check.6.test"/>
          <p:cNvSpPr/>
          <p:nvPr/>
        </p:nvSpPr>
        <p:spPr>
          <a:xfrm>
            <a:off x="2779776" y="583387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Like item within 30 miles</a:t>
            </a:r>
            <a:endParaRPr lang="en-US" sz="900" b="0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lot.check.6.source"/>
          <p:cNvSpPr/>
          <p:nvPr/>
        </p:nvSpPr>
        <p:spPr>
          <a:xfrm>
            <a:off x="2779776" y="6016752"/>
            <a:ext cx="1847088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Reads store stock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truct.rules.head"/>
          <p:cNvSpPr/>
          <p:nvPr/>
        </p:nvSpPr>
        <p:spPr>
          <a:xfrm>
            <a:off x="5063145" y="1946357"/>
            <a:ext cx="2015550" cy="520787"/>
          </a:xfrm>
          <a:prstGeom prst="roundRect">
            <a:avLst>
              <a:gd fmla="val 9677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77" name="slot.rules.head"/>
          <p:cNvSpPr/>
          <p:nvPr/>
        </p:nvSpPr>
        <p:spPr>
          <a:xfrm>
            <a:off x="5432636" y="1946357"/>
            <a:ext cx="1553961" cy="520787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First match sets the route</a:t>
            </a:r>
            <a:endParaRPr lang="en-US" sz="9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truct.rule.1"/>
          <p:cNvSpPr/>
          <p:nvPr/>
        </p:nvSpPr>
        <p:spPr>
          <a:xfrm>
            <a:off x="5063145" y="2568336"/>
            <a:ext cx="2015550" cy="675983"/>
          </a:xfrm>
          <a:prstGeom prst="roundRect">
            <a:avLst>
              <a:gd fmla="val 6219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79" name="struct.rule.1.disc"/>
          <p:cNvSpPr/>
          <p:nvPr/>
        </p:nvSpPr>
        <p:spPr>
          <a:xfrm>
            <a:off x="5157216" y="2614056"/>
            <a:ext cx="203595" cy="1847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80" name="slot.rule.1.num"/>
          <p:cNvSpPr/>
          <p:nvPr/>
        </p:nvSpPr>
        <p:spPr>
          <a:xfrm>
            <a:off x="5157216" y="2614056"/>
            <a:ext cx="20359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lot.rule.1.head"/>
          <p:cNvSpPr/>
          <p:nvPr/>
        </p:nvSpPr>
        <p:spPr>
          <a:xfrm>
            <a:off x="5431536" y="2604912"/>
            <a:ext cx="159105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Promo stock-out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rule.1.body"/>
          <p:cNvSpPr/>
          <p:nvPr/>
        </p:nvSpPr>
        <p:spPr>
          <a:xfrm>
            <a:off x="5157216" y="2806080"/>
            <a:ext cx="1883664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Shelf empty during a promo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rule.1.route"/>
          <p:cNvSpPr/>
          <p:nvPr/>
        </p:nvSpPr>
        <p:spPr>
          <a:xfrm>
            <a:off x="5157216" y="2988960"/>
            <a:ext cx="1883664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Expedite by air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truct.rule.2"/>
          <p:cNvSpPr/>
          <p:nvPr/>
        </p:nvSpPr>
        <p:spPr>
          <a:xfrm>
            <a:off x="5063145" y="3319756"/>
            <a:ext cx="2015550" cy="675983"/>
          </a:xfrm>
          <a:prstGeom prst="roundRect">
            <a:avLst>
              <a:gd fmla="val 6219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85" name="struct.rule.2.disc"/>
          <p:cNvSpPr/>
          <p:nvPr/>
        </p:nvSpPr>
        <p:spPr>
          <a:xfrm>
            <a:off x="5157216" y="3365475"/>
            <a:ext cx="203595" cy="1847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86" name="slot.rule.2.num"/>
          <p:cNvSpPr/>
          <p:nvPr/>
        </p:nvSpPr>
        <p:spPr>
          <a:xfrm>
            <a:off x="5157216" y="3365475"/>
            <a:ext cx="20359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rule.2.head"/>
          <p:cNvSpPr/>
          <p:nvPr/>
        </p:nvSpPr>
        <p:spPr>
          <a:xfrm>
            <a:off x="5431536" y="3356332"/>
            <a:ext cx="159105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Margin and lane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lot.rule.2.body"/>
          <p:cNvSpPr/>
          <p:nvPr/>
        </p:nvSpPr>
        <p:spPr>
          <a:xfrm>
            <a:off x="5157216" y="3557500"/>
            <a:ext cx="1883664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Loss over limit, lane open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slot.rule.2.route"/>
          <p:cNvSpPr/>
          <p:nvPr/>
        </p:nvSpPr>
        <p:spPr>
          <a:xfrm>
            <a:off x="5157216" y="3740380"/>
            <a:ext cx="1883664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Expedite by truck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truct.rule.3"/>
          <p:cNvSpPr/>
          <p:nvPr/>
        </p:nvSpPr>
        <p:spPr>
          <a:xfrm>
            <a:off x="5063145" y="4071174"/>
            <a:ext cx="2015550" cy="675983"/>
          </a:xfrm>
          <a:prstGeom prst="roundRect">
            <a:avLst>
              <a:gd fmla="val 6219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91" name="struct.rule.3.disc"/>
          <p:cNvSpPr/>
          <p:nvPr/>
        </p:nvSpPr>
        <p:spPr>
          <a:xfrm>
            <a:off x="5157216" y="4116894"/>
            <a:ext cx="203595" cy="1847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92" name="slot.rule.3.num"/>
          <p:cNvSpPr/>
          <p:nvPr/>
        </p:nvSpPr>
        <p:spPr>
          <a:xfrm>
            <a:off x="5157216" y="4116894"/>
            <a:ext cx="20359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slot.rule.3.head"/>
          <p:cNvSpPr/>
          <p:nvPr/>
        </p:nvSpPr>
        <p:spPr>
          <a:xfrm>
            <a:off x="5431536" y="4107750"/>
            <a:ext cx="159105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Substitute nearby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slot.rule.3.body"/>
          <p:cNvSpPr/>
          <p:nvPr/>
        </p:nvSpPr>
        <p:spPr>
          <a:xfrm>
            <a:off x="5157216" y="4308918"/>
            <a:ext cx="1883664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Like item covers the gap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slot.rule.3.route"/>
          <p:cNvSpPr/>
          <p:nvPr/>
        </p:nvSpPr>
        <p:spPr>
          <a:xfrm>
            <a:off x="5157216" y="4491798"/>
            <a:ext cx="1883664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Hold and transfer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struct.rule.4"/>
          <p:cNvSpPr/>
          <p:nvPr/>
        </p:nvSpPr>
        <p:spPr>
          <a:xfrm>
            <a:off x="5063145" y="4822594"/>
            <a:ext cx="2015550" cy="675983"/>
          </a:xfrm>
          <a:prstGeom prst="roundRect">
            <a:avLst>
              <a:gd fmla="val 6219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97" name="struct.rule.4.disc"/>
          <p:cNvSpPr/>
          <p:nvPr/>
        </p:nvSpPr>
        <p:spPr>
          <a:xfrm>
            <a:off x="5157216" y="4868314"/>
            <a:ext cx="203595" cy="1847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98" name="slot.rule.4.num"/>
          <p:cNvSpPr/>
          <p:nvPr/>
        </p:nvSpPr>
        <p:spPr>
          <a:xfrm>
            <a:off x="5157216" y="4868314"/>
            <a:ext cx="20359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slot.rule.4.head"/>
          <p:cNvSpPr/>
          <p:nvPr/>
        </p:nvSpPr>
        <p:spPr>
          <a:xfrm>
            <a:off x="5431536" y="4859170"/>
            <a:ext cx="159105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Cost over bounds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slot.rule.4.body"/>
          <p:cNvSpPr/>
          <p:nvPr/>
        </p:nvSpPr>
        <p:spPr>
          <a:xfrm>
            <a:off x="5157216" y="5060338"/>
            <a:ext cx="1883664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Cost above 20% of value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slot.rule.4.route"/>
          <p:cNvSpPr/>
          <p:nvPr/>
        </p:nvSpPr>
        <p:spPr>
          <a:xfrm>
            <a:off x="5157216" y="5243218"/>
            <a:ext cx="1883664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Hold and transfer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struct.rule.5"/>
          <p:cNvSpPr/>
          <p:nvPr/>
        </p:nvSpPr>
        <p:spPr>
          <a:xfrm>
            <a:off x="5063145" y="5574013"/>
            <a:ext cx="2015550" cy="675983"/>
          </a:xfrm>
          <a:prstGeom prst="roundRect">
            <a:avLst>
              <a:gd fmla="val 6219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03" name="struct.rule.5.disc"/>
          <p:cNvSpPr/>
          <p:nvPr/>
        </p:nvSpPr>
        <p:spPr>
          <a:xfrm>
            <a:off x="5157216" y="5619733"/>
            <a:ext cx="203595" cy="1847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04" name="slot.rule.5.num"/>
          <p:cNvSpPr/>
          <p:nvPr/>
        </p:nvSpPr>
        <p:spPr>
          <a:xfrm>
            <a:off x="5157216" y="5619733"/>
            <a:ext cx="203595" cy="18479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18288" lIns="36576" spcFirstLastPara="1" rIns="36576" wrap="square" tIns="18288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5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lot.rule.5.head"/>
          <p:cNvSpPr/>
          <p:nvPr/>
        </p:nvSpPr>
        <p:spPr>
          <a:xfrm>
            <a:off x="5431536" y="5610589"/>
            <a:ext cx="1591056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No rule matched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slot.rule.5.body"/>
          <p:cNvSpPr/>
          <p:nvPr/>
        </p:nvSpPr>
        <p:spPr>
          <a:xfrm>
            <a:off x="5157216" y="5811757"/>
            <a:ext cx="1883664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All other late orders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slot.rule.5.route"/>
          <p:cNvSpPr/>
          <p:nvPr/>
        </p:nvSpPr>
        <p:spPr>
          <a:xfrm>
            <a:off x="5157216" y="5994637"/>
            <a:ext cx="1883664" cy="19202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Hold and transfer</a:t>
            </a:r>
            <a:endParaRPr lang="en-US" sz="9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struct.outcome.1"/>
          <p:cNvSpPr/>
          <p:nvPr/>
        </p:nvSpPr>
        <p:spPr>
          <a:xfrm>
            <a:off x="7429733" y="1946357"/>
            <a:ext cx="2015550" cy="793180"/>
          </a:xfrm>
          <a:prstGeom prst="roundRect">
            <a:avLst>
              <a:gd fmla="val 6356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09" name="slot.outcome.1.head"/>
          <p:cNvSpPr/>
          <p:nvPr/>
        </p:nvSpPr>
        <p:spPr>
          <a:xfrm>
            <a:off x="7543800" y="2019509"/>
            <a:ext cx="1792224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Expedite now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lot.outcome.1.body"/>
          <p:cNvSpPr/>
          <p:nvPr/>
        </p:nvSpPr>
        <p:spPr>
          <a:xfrm>
            <a:off x="7543800" y="2275541"/>
            <a:ext cx="1792224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Carrier booked same day, cost charged to promo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truct.outcome.2"/>
          <p:cNvSpPr/>
          <p:nvPr/>
        </p:nvSpPr>
        <p:spPr>
          <a:xfrm>
            <a:off x="7429733" y="2823853"/>
            <a:ext cx="2015550" cy="793180"/>
          </a:xfrm>
          <a:prstGeom prst="roundRect">
            <a:avLst>
              <a:gd fmla="val 6356" name="adj"/>
            </a:avLst>
          </a:prstGeom>
          <a:solidFill>
            <a:schemeClr val="bg1"/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12" name="slot.outcome.2.head"/>
          <p:cNvSpPr/>
          <p:nvPr/>
        </p:nvSpPr>
        <p:spPr>
          <a:xfrm>
            <a:off x="7543800" y="2897005"/>
            <a:ext cx="1792224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Hold and transfer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slot.outcome.2.body"/>
          <p:cNvSpPr/>
          <p:nvPr/>
        </p:nvSpPr>
        <p:spPr>
          <a:xfrm>
            <a:off x="7543800" y="3153036"/>
            <a:ext cx="1792224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Like item moved in, planner alerted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struct.record"/>
          <p:cNvSpPr/>
          <p:nvPr/>
        </p:nvSpPr>
        <p:spPr>
          <a:xfrm>
            <a:off x="9796322" y="1946357"/>
            <a:ext cx="2015550" cy="1680758"/>
          </a:xfrm>
          <a:prstGeom prst="roundRect">
            <a:avLst>
              <a:gd fmla="val 4000" name="adj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15" name="slot.record.head"/>
          <p:cNvSpPr/>
          <p:nvPr/>
        </p:nvSpPr>
        <p:spPr>
          <a:xfrm>
            <a:off x="9944118" y="2080839"/>
            <a:ext cx="1738357" cy="41999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Each decision logs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lot.record.body"/>
          <p:cNvSpPr/>
          <p:nvPr/>
        </p:nvSpPr>
        <p:spPr>
          <a:xfrm>
            <a:off x="9966960" y="2523744"/>
            <a:ext cx="1700784" cy="1042415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164592" indent="-164592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·"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Rule that fired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164592" indent="-164592" lv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Char char="·"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Inputs it read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164592" indent="-164592" lv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Char char="·"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Cost and owner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164592" indent="-164592" lv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Char char="·"/>
            </a:pPr>
            <a:r>
              <a:rPr lang="en-US" sz="11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Decision time</a:t>
            </a:r>
            <a:endParaRPr lang="en-US" sz="11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struct.example"/>
          <p:cNvSpPr/>
          <p:nvPr/>
        </p:nvSpPr>
        <p:spPr>
          <a:xfrm>
            <a:off x="9796322" y="3745056"/>
            <a:ext cx="2015550" cy="1429164"/>
          </a:xfrm>
          <a:prstGeom prst="roundRect">
            <a:avLst>
              <a:gd fmla="val 3199" name="adj"/>
            </a:avLst>
          </a:prstGeom>
          <a:solidFill>
            <a:schemeClr val="bg1">
              <a:lumMod val="95000"/>
            </a:schemeClr>
          </a:solidFill>
          <a:ln cap="flat" cmpd="sng" w="9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65900" lIns="65900" spcFirstLastPara="1" rIns="65900" wrap="square" tIns="65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/>
          </a:p>
        </p:txBody>
      </p:sp>
      <p:sp>
        <p:nvSpPr>
          <p:cNvPr id="118" name="slot.example.label"/>
          <p:cNvSpPr/>
          <p:nvPr/>
        </p:nvSpPr>
        <p:spPr>
          <a:xfrm>
            <a:off x="9921240" y="3822191"/>
            <a:ext cx="1755648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Sample late order</a:t>
            </a:r>
            <a:endParaRPr lang="en-US" sz="10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slot.example.body"/>
          <p:cNvSpPr/>
          <p:nvPr/>
        </p:nvSpPr>
        <p:spPr>
          <a:xfrm>
            <a:off x="9921240" y="4078224"/>
            <a:ext cx="1755648" cy="102412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18288" lIns="36576" spcFirstLastPara="1" rIns="36576" wrap="square" tIns="18288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Cover  </a:t>
            </a: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2 days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Promo  </a:t>
            </a: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 5 days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Rule fired  </a:t>
            </a: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Route  </a:t>
            </a: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expedite by air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Owner  </a:t>
            </a: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store planner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truct.arrow.1"/>
          <p:cNvSpPr/>
          <p:nvPr/>
        </p:nvSpPr>
        <p:spPr>
          <a:xfrm>
            <a:off x="2423160" y="33467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9685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121" name="struct.arrow.2"/>
          <p:cNvSpPr/>
          <p:nvPr/>
        </p:nvSpPr>
        <p:spPr>
          <a:xfrm>
            <a:off x="4782312" y="33467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9685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122" name="struct.arrow.3"/>
          <p:cNvSpPr/>
          <p:nvPr/>
        </p:nvSpPr>
        <p:spPr>
          <a:xfrm>
            <a:off x="7150608" y="33467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9685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123" name="struct.arrow.4"/>
          <p:cNvSpPr/>
          <p:nvPr/>
        </p:nvSpPr>
        <p:spPr>
          <a:xfrm>
            <a:off x="9518904" y="3346704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8000"/>
                </a:moveTo>
                <a:lnTo>
                  <a:pt x="15000" y="12000"/>
                </a:lnTo>
                <a:lnTo>
                  <a:pt x="9000" y="6000"/>
                </a:lnTo>
              </a:path>
            </a:pathLst>
          </a:custGeom>
          <a:noFill/>
          <a:ln w="19685" cap="rnd">
            <a:solidFill>
              <a:schemeClr val="tx1">
                <a:lumMod val="65000"/>
                <a:lumOff val="35000"/>
              </a:schemeClr>
            </a:solidFill>
            <a:round/>
          </a:ln>
          <a:effectLst/>
        </p:spPr>
      </p:sp>
      <p:sp>
        <p:nvSpPr>
          <p:cNvPr id="124" name="slot.input.1.icon"/>
          <p:cNvSpPr/>
          <p:nvPr/>
        </p:nvSpPr>
        <p:spPr>
          <a:xfrm>
            <a:off x="506578" y="2159813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21730"/>
                </a:moveTo>
                <a:cubicBezTo>
                  <a:pt x="11619" y="22087"/>
                  <a:pt x="12381" y="22087"/>
                  <a:pt x="13000" y="21730"/>
                </a:cubicBezTo>
                <a:lnTo>
                  <a:pt x="20000" y="17730"/>
                </a:lnTo>
                <a:cubicBezTo>
                  <a:pt x="20618" y="17373"/>
                  <a:pt x="20999" y="16714"/>
                  <a:pt x="21000" y="16000"/>
                </a:cubicBezTo>
                <a:lnTo>
                  <a:pt x="21000" y="8000"/>
                </a:lnTo>
                <a:cubicBezTo>
                  <a:pt x="20999" y="7286"/>
                  <a:pt x="20618" y="6627"/>
                  <a:pt x="20000" y="6270"/>
                </a:cubicBezTo>
                <a:lnTo>
                  <a:pt x="13000" y="2270"/>
                </a:lnTo>
                <a:cubicBezTo>
                  <a:pt x="12381" y="1913"/>
                  <a:pt x="11619" y="1913"/>
                  <a:pt x="11000" y="2270"/>
                </a:cubicBezTo>
                <a:lnTo>
                  <a:pt x="4000" y="6270"/>
                </a:lnTo>
                <a:cubicBezTo>
                  <a:pt x="3382" y="6627"/>
                  <a:pt x="3001" y="7286"/>
                  <a:pt x="3000" y="8000"/>
                </a:cubicBezTo>
                <a:lnTo>
                  <a:pt x="3000" y="16000"/>
                </a:lnTo>
                <a:cubicBezTo>
                  <a:pt x="3001" y="16714"/>
                  <a:pt x="3382" y="17373"/>
                  <a:pt x="4000" y="17730"/>
                </a:cubicBezTo>
                <a:close/>
                <a:moveTo>
                  <a:pt x="12000" y="22000"/>
                </a:moveTo>
                <a:lnTo>
                  <a:pt x="12000" y="12000"/>
                </a:lnTo>
                <a:moveTo>
                  <a:pt x="3290" y="7000"/>
                </a:moveTo>
                <a:lnTo>
                  <a:pt x="12000" y="12000"/>
                </a:lnTo>
                <a:lnTo>
                  <a:pt x="20710" y="7000"/>
                </a:lnTo>
                <a:moveTo>
                  <a:pt x="7500" y="4270"/>
                </a:moveTo>
                <a:lnTo>
                  <a:pt x="16500" y="942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5" name="slot.input.2.icon"/>
          <p:cNvSpPr/>
          <p:nvPr/>
        </p:nvSpPr>
        <p:spPr>
          <a:xfrm>
            <a:off x="506578" y="2891333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21000"/>
                </a:moveTo>
                <a:lnTo>
                  <a:pt x="15000" y="16000"/>
                </a:lnTo>
                <a:cubicBezTo>
                  <a:pt x="15000" y="15448"/>
                  <a:pt x="14552" y="15000"/>
                  <a:pt x="14000" y="15000"/>
                </a:cubicBezTo>
                <a:lnTo>
                  <a:pt x="10000" y="15000"/>
                </a:lnTo>
                <a:cubicBezTo>
                  <a:pt x="9448" y="15000"/>
                  <a:pt x="9000" y="15448"/>
                  <a:pt x="9000" y="16000"/>
                </a:cubicBezTo>
                <a:lnTo>
                  <a:pt x="9000" y="21000"/>
                </a:lnTo>
                <a:moveTo>
                  <a:pt x="17774" y="10310"/>
                </a:moveTo>
                <a:cubicBezTo>
                  <a:pt x="17341" y="9895"/>
                  <a:pt x="16658" y="9895"/>
                  <a:pt x="16225" y="10310"/>
                </a:cubicBezTo>
                <a:cubicBezTo>
                  <a:pt x="15259" y="11231"/>
                  <a:pt x="13740" y="11231"/>
                  <a:pt x="12774" y="10310"/>
                </a:cubicBezTo>
                <a:cubicBezTo>
                  <a:pt x="12341" y="9896"/>
                  <a:pt x="11659" y="9896"/>
                  <a:pt x="11226" y="10310"/>
                </a:cubicBezTo>
                <a:cubicBezTo>
                  <a:pt x="10260" y="11232"/>
                  <a:pt x="8740" y="11232"/>
                  <a:pt x="7774" y="10310"/>
                </a:cubicBezTo>
                <a:cubicBezTo>
                  <a:pt x="7341" y="9895"/>
                  <a:pt x="6658" y="9895"/>
                  <a:pt x="6225" y="10310"/>
                </a:cubicBezTo>
                <a:cubicBezTo>
                  <a:pt x="5294" y="11198"/>
                  <a:pt x="3842" y="11235"/>
                  <a:pt x="2867" y="10395"/>
                </a:cubicBezTo>
                <a:cubicBezTo>
                  <a:pt x="1893" y="9556"/>
                  <a:pt x="1714" y="8114"/>
                  <a:pt x="2455" y="7062"/>
                </a:cubicBezTo>
                <a:lnTo>
                  <a:pt x="5344" y="2878"/>
                </a:lnTo>
                <a:cubicBezTo>
                  <a:pt x="5716" y="2329"/>
                  <a:pt x="6337" y="2000"/>
                  <a:pt x="7000" y="2000"/>
                </a:cubicBezTo>
                <a:lnTo>
                  <a:pt x="17000" y="2000"/>
                </a:lnTo>
                <a:cubicBezTo>
                  <a:pt x="17661" y="2000"/>
                  <a:pt x="18280" y="2327"/>
                  <a:pt x="18653" y="2873"/>
                </a:cubicBezTo>
                <a:lnTo>
                  <a:pt x="21548" y="7065"/>
                </a:lnTo>
                <a:cubicBezTo>
                  <a:pt x="22289" y="8118"/>
                  <a:pt x="22109" y="9561"/>
                  <a:pt x="21133" y="10400"/>
                </a:cubicBezTo>
                <a:cubicBezTo>
                  <a:pt x="20157" y="11239"/>
                  <a:pt x="18703" y="11199"/>
                  <a:pt x="17774" y="10309"/>
                </a:cubicBezTo>
                <a:moveTo>
                  <a:pt x="4000" y="10950"/>
                </a:moveTo>
                <a:lnTo>
                  <a:pt x="4000" y="19000"/>
                </a:lnTo>
                <a:cubicBezTo>
                  <a:pt x="4000" y="20105"/>
                  <a:pt x="4895" y="21000"/>
                  <a:pt x="6000" y="21000"/>
                </a:cubicBezTo>
                <a:lnTo>
                  <a:pt x="18000" y="21000"/>
                </a:lnTo>
                <a:cubicBezTo>
                  <a:pt x="19105" y="21000"/>
                  <a:pt x="20000" y="20105"/>
                  <a:pt x="20000" y="19000"/>
                </a:cubicBezTo>
                <a:lnTo>
                  <a:pt x="20000" y="1095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6" name="slot.input.3.icon"/>
          <p:cNvSpPr/>
          <p:nvPr/>
        </p:nvSpPr>
        <p:spPr>
          <a:xfrm>
            <a:off x="506578" y="3622853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7" name="slot.input.4.icon"/>
          <p:cNvSpPr/>
          <p:nvPr/>
        </p:nvSpPr>
        <p:spPr>
          <a:xfrm>
            <a:off x="506578" y="435345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0000"/>
                </a:moveTo>
                <a:cubicBezTo>
                  <a:pt x="20000" y="14993"/>
                  <a:pt x="14461" y="20193"/>
                  <a:pt x="12601" y="21799"/>
                </a:cubicBezTo>
                <a:cubicBezTo>
                  <a:pt x="12245" y="22067"/>
                  <a:pt x="11755" y="22067"/>
                  <a:pt x="11399" y="21799"/>
                </a:cubicBezTo>
                <a:cubicBezTo>
                  <a:pt x="9539" y="20193"/>
                  <a:pt x="4000" y="14993"/>
                  <a:pt x="4000" y="10000"/>
                </a:cubicBezTo>
                <a:cubicBezTo>
                  <a:pt x="4000" y="5582"/>
                  <a:pt x="7582" y="2000"/>
                  <a:pt x="12000" y="2000"/>
                </a:cubicBezTo>
                <a:cubicBezTo>
                  <a:pt x="16418" y="2000"/>
                  <a:pt x="20000" y="5582"/>
                  <a:pt x="20000" y="10000"/>
                </a:cubicBezTo>
                <a:moveTo>
                  <a:pt x="15000" y="10000"/>
                </a:moveTo>
                <a:cubicBezTo>
                  <a:pt x="15000" y="11657"/>
                  <a:pt x="13657" y="13000"/>
                  <a:pt x="12000" y="13000"/>
                </a:cubicBezTo>
                <a:cubicBezTo>
                  <a:pt x="10343" y="13000"/>
                  <a:pt x="9000" y="11657"/>
                  <a:pt x="9000" y="10000"/>
                </a:cubicBezTo>
                <a:cubicBezTo>
                  <a:pt x="9000" y="8343"/>
                  <a:pt x="10343" y="7000"/>
                  <a:pt x="12000" y="7000"/>
                </a:cubicBezTo>
                <a:cubicBezTo>
                  <a:pt x="13657" y="7000"/>
                  <a:pt x="15000" y="8343"/>
                  <a:pt x="15000" y="10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8" name="slot.input.5.icon"/>
          <p:cNvSpPr/>
          <p:nvPr/>
        </p:nvSpPr>
        <p:spPr>
          <a:xfrm>
            <a:off x="506578" y="508497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2000"/>
                </a:moveTo>
                <a:lnTo>
                  <a:pt x="8000" y="5000"/>
                </a:lnTo>
                <a:moveTo>
                  <a:pt x="16000" y="2000"/>
                </a:moveTo>
                <a:lnTo>
                  <a:pt x="16000" y="5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9" name="slot.input.6.icon"/>
          <p:cNvSpPr/>
          <p:nvPr/>
        </p:nvSpPr>
        <p:spPr>
          <a:xfrm>
            <a:off x="506578" y="581649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586" y="2586"/>
                </a:moveTo>
                <a:cubicBezTo>
                  <a:pt x="12211" y="2211"/>
                  <a:pt x="11702" y="2000"/>
                  <a:pt x="11172" y="2000"/>
                </a:cubicBezTo>
                <a:lnTo>
                  <a:pt x="4000" y="2000"/>
                </a:lnTo>
                <a:cubicBezTo>
                  <a:pt x="2895" y="2000"/>
                  <a:pt x="2000" y="2895"/>
                  <a:pt x="2000" y="4000"/>
                </a:cubicBezTo>
                <a:lnTo>
                  <a:pt x="2000" y="11172"/>
                </a:lnTo>
                <a:cubicBezTo>
                  <a:pt x="2000" y="11702"/>
                  <a:pt x="2211" y="12211"/>
                  <a:pt x="2586" y="12586"/>
                </a:cubicBezTo>
                <a:lnTo>
                  <a:pt x="11290" y="21290"/>
                </a:lnTo>
                <a:cubicBezTo>
                  <a:pt x="12236" y="22230"/>
                  <a:pt x="13764" y="22230"/>
                  <a:pt x="14710" y="21290"/>
                </a:cubicBezTo>
                <a:lnTo>
                  <a:pt x="21290" y="14710"/>
                </a:lnTo>
                <a:cubicBezTo>
                  <a:pt x="22230" y="13764"/>
                  <a:pt x="22230" y="12236"/>
                  <a:pt x="21290" y="11290"/>
                </a:cubicBezTo>
                <a:close/>
              </a:path>
              <a:path w="24000" h="24000">
                <a:moveTo>
                  <a:pt x="8000" y="7500"/>
                </a:moveTo>
                <a:cubicBezTo>
                  <a:pt x="8000" y="7776"/>
                  <a:pt x="7776" y="8000"/>
                  <a:pt x="7500" y="8000"/>
                </a:cubicBezTo>
                <a:cubicBezTo>
                  <a:pt x="7224" y="8000"/>
                  <a:pt x="7000" y="7776"/>
                  <a:pt x="7000" y="7500"/>
                </a:cubicBezTo>
                <a:cubicBezTo>
                  <a:pt x="7000" y="7224"/>
                  <a:pt x="7224" y="7000"/>
                  <a:pt x="7500" y="7000"/>
                </a:cubicBezTo>
                <a:cubicBezTo>
                  <a:pt x="7776" y="7000"/>
                  <a:pt x="8000" y="7224"/>
                  <a:pt x="8000" y="7500"/>
                </a:cubicBezTo>
                <a:close/>
              </a:path>
            </a:pathLst>
          </a:custGeom>
          <a:solidFill>
            <a:schemeClr val="accent1"/>
          </a:solidFill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30" name="slot.rules.icon"/>
          <p:cNvSpPr/>
          <p:nvPr/>
        </p:nvSpPr>
        <p:spPr>
          <a:xfrm>
            <a:off x="5148072" y="209397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20000"/>
                </a:moveTo>
                <a:cubicBezTo>
                  <a:pt x="10000" y="20379"/>
                  <a:pt x="10214" y="20726"/>
                  <a:pt x="10553" y="20895"/>
                </a:cubicBezTo>
                <a:lnTo>
                  <a:pt x="12553" y="21895"/>
                </a:lnTo>
                <a:cubicBezTo>
                  <a:pt x="12863" y="22050"/>
                  <a:pt x="13231" y="22033"/>
                  <a:pt x="13526" y="21851"/>
                </a:cubicBezTo>
                <a:cubicBezTo>
                  <a:pt x="13821" y="21669"/>
                  <a:pt x="14000" y="21347"/>
                  <a:pt x="14000" y="21000"/>
                </a:cubicBezTo>
                <a:lnTo>
                  <a:pt x="14000" y="14000"/>
                </a:lnTo>
                <a:cubicBezTo>
                  <a:pt x="14000" y="13504"/>
                  <a:pt x="14184" y="13027"/>
                  <a:pt x="14517" y="12659"/>
                </a:cubicBezTo>
                <a:lnTo>
                  <a:pt x="21740" y="4670"/>
                </a:lnTo>
                <a:cubicBezTo>
                  <a:pt x="22004" y="4377"/>
                  <a:pt x="22072" y="3956"/>
                  <a:pt x="21912" y="3595"/>
                </a:cubicBezTo>
                <a:cubicBezTo>
                  <a:pt x="21752" y="3234"/>
                  <a:pt x="21395" y="3001"/>
                  <a:pt x="21000" y="3000"/>
                </a:cubicBezTo>
                <a:lnTo>
                  <a:pt x="3000" y="3000"/>
                </a:lnTo>
                <a:cubicBezTo>
                  <a:pt x="2605" y="3000"/>
                  <a:pt x="2247" y="3233"/>
                  <a:pt x="2087" y="3594"/>
                </a:cubicBezTo>
                <a:cubicBezTo>
                  <a:pt x="1926" y="3955"/>
                  <a:pt x="1993" y="4377"/>
                  <a:pt x="2258" y="4670"/>
                </a:cubicBezTo>
                <a:lnTo>
                  <a:pt x="9483" y="12659"/>
                </a:lnTo>
                <a:cubicBezTo>
                  <a:pt x="9816" y="13027"/>
                  <a:pt x="10000" y="13504"/>
                  <a:pt x="10000" y="14000"/>
                </a:cubicBezTo>
                <a:close/>
              </a:path>
            </a:pathLst>
          </a:custGeom>
          <a:noFill/>
          <a:ln w="18415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prioritization-matrix:value-effort-waves">
    <p:spTree>
      <p:nvGrpSpPr>
        <p:cNvPr id="1" name=""/>
        <p:cNvGrpSpPr/>
        <p:nvPr/>
      </p:nvGrpSpPr>
      <p:grpSpPr/>
      <p:sp>
        <p:nvSpPr>
          <p:cNvPr id="2" name="slot.title"/>
          <p:cNvSpPr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Three quick wins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start next quarter while four bets wait for the platform</a:t>
            </a:r>
            <a:endParaRPr lang="en-US" sz="2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lot.axis.x"/>
          <p:cNvSpPr/>
          <p:nvPr/>
        </p:nvSpPr>
        <p:spPr>
          <a:xfrm>
            <a:off x="868680" y="6153912"/>
            <a:ext cx="7498079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Effort to deliver</a:t>
            </a:r>
            <a:endParaRPr lang="en-US" sz="1100" b="1" i="0" kern="0"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ot.axis.y"/>
          <p:cNvSpPr/>
          <p:nvPr/>
        </p:nvSpPr>
        <p:spPr>
          <a:xfrm rot="-5400000">
            <a:off x="0" y="3406140"/>
            <a:ext cx="1426464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34275" lIns="68575" spcFirstLastPara="1" rIns="68575" wrap="square" tIns="34275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Business value</a:t>
            </a:r>
            <a:endParaRPr lang="en-US" sz="1100" b="1" i="0" kern="0"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truct.field"/>
          <p:cNvSpPr/>
          <p:nvPr/>
        </p:nvSpPr>
        <p:spPr>
          <a:xfrm>
            <a:off x="868680" y="1005840"/>
            <a:ext cx="7498079" cy="5074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slot.quadrant.1.label"/>
          <p:cNvSpPr/>
          <p:nvPr/>
        </p:nvSpPr>
        <p:spPr>
          <a:xfrm>
            <a:off x="1252728" y="1078992"/>
            <a:ext cx="164592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Quick wins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lot.quadrant.2.label"/>
          <p:cNvSpPr/>
          <p:nvPr/>
        </p:nvSpPr>
        <p:spPr>
          <a:xfrm>
            <a:off x="5001768" y="1078992"/>
            <a:ext cx="164592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Strategic bets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lot.quadrant.3.label"/>
          <p:cNvSpPr/>
          <p:nvPr/>
        </p:nvSpPr>
        <p:spPr>
          <a:xfrm>
            <a:off x="1252728" y="3611880"/>
            <a:ext cx="164592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Fill-ins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lot.quadrant.4.label"/>
          <p:cNvSpPr/>
          <p:nvPr/>
        </p:nvSpPr>
        <p:spPr>
          <a:xfrm>
            <a:off x="5001768" y="3611880"/>
            <a:ext cx="164592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Deprioritize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" name="struct.grid.1"/>
          <p:cNvCxnSpPr/>
          <p:nvPr/>
        </p:nvCxnSpPr>
        <p:spPr>
          <a:xfrm>
            <a:off x="2743131" y="1005815"/>
            <a:ext cx="800" cy="5074673"/>
          </a:xfrm>
          <a:prstGeom prst="straightConnector1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  <a:effectLst/>
        </p:spPr>
      </p:cxnSp>
      <p:cxnSp>
        <p:nvCxnSpPr>
          <p:cNvPr id="11" name="struct.grid.2"/>
          <p:cNvCxnSpPr/>
          <p:nvPr/>
        </p:nvCxnSpPr>
        <p:spPr>
          <a:xfrm>
            <a:off x="868658" y="2274514"/>
            <a:ext cx="7497813" cy="0"/>
          </a:xfrm>
          <a:prstGeom prst="straightConnector1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  <a:effectLst/>
        </p:spPr>
      </p:cxnSp>
      <p:cxnSp>
        <p:nvCxnSpPr>
          <p:cNvPr id="12" name="struct.grid.5"/>
          <p:cNvCxnSpPr/>
          <p:nvPr/>
        </p:nvCxnSpPr>
        <p:spPr>
          <a:xfrm>
            <a:off x="6492078" y="1005815"/>
            <a:ext cx="800" cy="5074673"/>
          </a:xfrm>
          <a:prstGeom prst="straightConnector1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  <a:effectLst/>
        </p:spPr>
      </p:cxnSp>
      <p:cxnSp>
        <p:nvCxnSpPr>
          <p:cNvPr id="13" name="struct.grid.6"/>
          <p:cNvCxnSpPr/>
          <p:nvPr/>
        </p:nvCxnSpPr>
        <p:spPr>
          <a:xfrm>
            <a:off x="868658" y="4811910"/>
            <a:ext cx="7497813" cy="0"/>
          </a:xfrm>
          <a:prstGeom prst="straightConnector1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  <a:effectLst/>
        </p:spPr>
      </p:cxnSp>
      <p:cxnSp>
        <p:nvCxnSpPr>
          <p:cNvPr id="14" name="struct.grid.7"/>
          <p:cNvCxnSpPr/>
          <p:nvPr/>
        </p:nvCxnSpPr>
        <p:spPr>
          <a:xfrm>
            <a:off x="4617605" y="1005815"/>
            <a:ext cx="800" cy="5074673"/>
          </a:xfrm>
          <a:prstGeom prst="straightConnector1">
            <a:avLst/>
          </a:prstGeom>
          <a:noFill/>
          <a:ln w="12700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cxnSp>
        <p:nvCxnSpPr>
          <p:cNvPr id="15" name="struct.grid.8"/>
          <p:cNvCxnSpPr/>
          <p:nvPr/>
        </p:nvCxnSpPr>
        <p:spPr>
          <a:xfrm>
            <a:off x="868658" y="3543211"/>
            <a:ext cx="7497813" cy="0"/>
          </a:xfrm>
          <a:prstGeom prst="straightConnector1">
            <a:avLst/>
          </a:prstGeom>
          <a:noFill/>
          <a:ln w="12700">
            <a:solidFill>
              <a:schemeClr val="bg1">
                <a:lumMod val="55000"/>
              </a:schemeClr>
            </a:solidFill>
            <a:prstDash val="dash"/>
          </a:ln>
          <a:effectLst/>
        </p:spPr>
      </p:cxnSp>
      <p:sp>
        <p:nvSpPr>
          <p:cNvPr id="16" name="struct.field.frame"/>
          <p:cNvSpPr/>
          <p:nvPr/>
        </p:nvSpPr>
        <p:spPr>
          <a:xfrm>
            <a:off x="868658" y="1005815"/>
            <a:ext cx="7497813" cy="5074673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struct.disc.1"/>
          <p:cNvSpPr/>
          <p:nvPr/>
        </p:nvSpPr>
        <p:spPr>
          <a:xfrm>
            <a:off x="1618488" y="147218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slot.disc.1.num"/>
          <p:cNvSpPr/>
          <p:nvPr/>
        </p:nvSpPr>
        <p:spPr>
          <a:xfrm>
            <a:off x="1618488" y="1472184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1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truct.disc.2"/>
          <p:cNvSpPr/>
          <p:nvPr/>
        </p:nvSpPr>
        <p:spPr>
          <a:xfrm>
            <a:off x="2057400" y="181051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slot.disc.2.num"/>
          <p:cNvSpPr/>
          <p:nvPr/>
        </p:nvSpPr>
        <p:spPr>
          <a:xfrm>
            <a:off x="2057400" y="1810512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2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truct.disc.3"/>
          <p:cNvSpPr/>
          <p:nvPr/>
        </p:nvSpPr>
        <p:spPr>
          <a:xfrm>
            <a:off x="2487168" y="210312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slot.disc.3.num"/>
          <p:cNvSpPr/>
          <p:nvPr/>
        </p:nvSpPr>
        <p:spPr>
          <a:xfrm>
            <a:off x="2487168" y="2103120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3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disc.4"/>
          <p:cNvSpPr/>
          <p:nvPr/>
        </p:nvSpPr>
        <p:spPr>
          <a:xfrm>
            <a:off x="3703320" y="1362456"/>
            <a:ext cx="310896" cy="31089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slot.disc.4.num"/>
          <p:cNvSpPr/>
          <p:nvPr/>
        </p:nvSpPr>
        <p:spPr>
          <a:xfrm>
            <a:off x="3703320" y="1362456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4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truct.disc.5"/>
          <p:cNvSpPr/>
          <p:nvPr/>
        </p:nvSpPr>
        <p:spPr>
          <a:xfrm>
            <a:off x="3273552" y="1874519"/>
            <a:ext cx="310896" cy="31089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slot.disc.5.num"/>
          <p:cNvSpPr/>
          <p:nvPr/>
        </p:nvSpPr>
        <p:spPr>
          <a:xfrm>
            <a:off x="3273552" y="1874519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5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truct.disc.6"/>
          <p:cNvSpPr/>
          <p:nvPr/>
        </p:nvSpPr>
        <p:spPr>
          <a:xfrm>
            <a:off x="4032504" y="2523744"/>
            <a:ext cx="310896" cy="31089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slot.disc.6.num"/>
          <p:cNvSpPr/>
          <p:nvPr/>
        </p:nvSpPr>
        <p:spPr>
          <a:xfrm>
            <a:off x="4032504" y="2523744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6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disc.7"/>
          <p:cNvSpPr/>
          <p:nvPr/>
        </p:nvSpPr>
        <p:spPr>
          <a:xfrm>
            <a:off x="3886200" y="3108960"/>
            <a:ext cx="310896" cy="31089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9050">
            <a:solidFill>
              <a:schemeClr val="bg1"/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slot.disc.7.num"/>
          <p:cNvSpPr/>
          <p:nvPr/>
        </p:nvSpPr>
        <p:spPr>
          <a:xfrm>
            <a:off x="3886200" y="3108960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7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disc.8"/>
          <p:cNvSpPr/>
          <p:nvPr/>
        </p:nvSpPr>
        <p:spPr>
          <a:xfrm>
            <a:off x="6574536" y="1261872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slot.disc.8.num"/>
          <p:cNvSpPr/>
          <p:nvPr/>
        </p:nvSpPr>
        <p:spPr>
          <a:xfrm>
            <a:off x="6574536" y="1261872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8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disc.9"/>
          <p:cNvSpPr/>
          <p:nvPr/>
        </p:nvSpPr>
        <p:spPr>
          <a:xfrm>
            <a:off x="6108192" y="2679192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slot.disc.9.num"/>
          <p:cNvSpPr/>
          <p:nvPr/>
        </p:nvSpPr>
        <p:spPr>
          <a:xfrm>
            <a:off x="6108192" y="2679192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9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truct.disc.11"/>
          <p:cNvSpPr/>
          <p:nvPr/>
        </p:nvSpPr>
        <p:spPr>
          <a:xfrm>
            <a:off x="6867144" y="3904487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slot.disc.11.num"/>
          <p:cNvSpPr/>
          <p:nvPr/>
        </p:nvSpPr>
        <p:spPr>
          <a:xfrm>
            <a:off x="6867144" y="3904487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11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truct.disc.10"/>
          <p:cNvSpPr/>
          <p:nvPr/>
        </p:nvSpPr>
        <p:spPr>
          <a:xfrm>
            <a:off x="3419856" y="3794760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slot.disc.10.num"/>
          <p:cNvSpPr/>
          <p:nvPr/>
        </p:nvSpPr>
        <p:spPr>
          <a:xfrm>
            <a:off x="3419856" y="3794760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10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truct.disc.12"/>
          <p:cNvSpPr/>
          <p:nvPr/>
        </p:nvSpPr>
        <p:spPr>
          <a:xfrm>
            <a:off x="7470648" y="5138928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>
                <a:lumMod val="55000"/>
              </a:schemeClr>
            </a:solidFill>
            <a:prstDash val="dash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slot.disc.12.num"/>
          <p:cNvSpPr/>
          <p:nvPr/>
        </p:nvSpPr>
        <p:spPr>
          <a:xfrm>
            <a:off x="7470648" y="5138928"/>
            <a:ext cx="310896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12</a:t>
            </a:r>
            <a:endParaRPr lang="en-US" sz="1000" b="1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key.head"/>
          <p:cNvSpPr/>
          <p:nvPr/>
        </p:nvSpPr>
        <p:spPr>
          <a:xfrm>
            <a:off x="8732520" y="1005840"/>
            <a:ext cx="30175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Candidates by delivery wave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truct.key.1.dot"/>
          <p:cNvSpPr/>
          <p:nvPr/>
        </p:nvSpPr>
        <p:spPr>
          <a:xfrm>
            <a:off x="8732520" y="1463040"/>
            <a:ext cx="137160" cy="1371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slot.key.1.head"/>
          <p:cNvSpPr/>
          <p:nvPr/>
        </p:nvSpPr>
        <p:spPr>
          <a:xfrm>
            <a:off x="8961120" y="1389888"/>
            <a:ext cx="27889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Wave 1, next quarter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key.1.item.1"/>
          <p:cNvSpPr/>
          <p:nvPr/>
        </p:nvSpPr>
        <p:spPr>
          <a:xfrm>
            <a:off x="8961120" y="1682496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 1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Invoice matching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key.1.item.2"/>
          <p:cNvSpPr/>
          <p:nvPr/>
        </p:nvSpPr>
        <p:spPr>
          <a:xfrm>
            <a:off x="8961120" y="1929384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 2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Contract clause search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key.1.item.3"/>
          <p:cNvSpPr/>
          <p:nvPr/>
        </p:nvSpPr>
        <p:spPr>
          <a:xfrm>
            <a:off x="8961120" y="2176272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 3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Service ticket triage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truct.key.2.dot"/>
          <p:cNvSpPr/>
          <p:nvPr/>
        </p:nvSpPr>
        <p:spPr>
          <a:xfrm>
            <a:off x="8732520" y="2679192"/>
            <a:ext cx="137160" cy="13716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slot.key.2.head"/>
          <p:cNvSpPr/>
          <p:nvPr/>
        </p:nvSpPr>
        <p:spPr>
          <a:xfrm>
            <a:off x="8961120" y="2606040"/>
            <a:ext cx="27889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Wave 2, within two quarters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key.2.item.1"/>
          <p:cNvSpPr/>
          <p:nvPr/>
        </p:nvSpPr>
        <p:spPr>
          <a:xfrm>
            <a:off x="8961120" y="2898648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 4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Supplier risk alerts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key.2.item.2"/>
          <p:cNvSpPr/>
          <p:nvPr/>
        </p:nvSpPr>
        <p:spPr>
          <a:xfrm>
            <a:off x="8961120" y="3145536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 5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Demand forecast refresh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key.2.item.3"/>
          <p:cNvSpPr/>
          <p:nvPr/>
        </p:nvSpPr>
        <p:spPr>
          <a:xfrm>
            <a:off x="8961120" y="3392424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 6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Sales call summaries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key.2.item.4"/>
          <p:cNvSpPr/>
          <p:nvPr/>
        </p:nvSpPr>
        <p:spPr>
          <a:xfrm>
            <a:off x="8961120" y="3639312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 7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Field visit planning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truct.key.3.dot"/>
          <p:cNvSpPr/>
          <p:nvPr/>
        </p:nvSpPr>
        <p:spPr>
          <a:xfrm>
            <a:off x="8732520" y="4142232"/>
            <a:ext cx="137160" cy="1371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>
                <a:lumMod val="75000"/>
                <a:lumOff val="25000"/>
              </a:schemeClr>
            </a:solidFill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slot.key.3.head"/>
          <p:cNvSpPr/>
          <p:nvPr/>
        </p:nvSpPr>
        <p:spPr>
          <a:xfrm>
            <a:off x="8961120" y="4069080"/>
            <a:ext cx="27889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Wave 3, after the platform build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key.3.item.1"/>
          <p:cNvSpPr/>
          <p:nvPr/>
        </p:nvSpPr>
        <p:spPr>
          <a:xfrm>
            <a:off x="8961120" y="4361688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 8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Dynamic pricing engine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key.3.item.2"/>
          <p:cNvSpPr/>
          <p:nvPr/>
        </p:nvSpPr>
        <p:spPr>
          <a:xfrm>
            <a:off x="8961120" y="4608576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 9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Inventory rebalancing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key.3.item.3"/>
          <p:cNvSpPr/>
          <p:nvPr/>
        </p:nvSpPr>
        <p:spPr>
          <a:xfrm>
            <a:off x="8961120" y="4855464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10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Warranty claim screening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slot.key.3.item.4"/>
          <p:cNvSpPr/>
          <p:nvPr/>
        </p:nvSpPr>
        <p:spPr>
          <a:xfrm>
            <a:off x="8961120" y="5102352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11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Customer churn model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truct.key.4.dot"/>
          <p:cNvSpPr/>
          <p:nvPr/>
        </p:nvSpPr>
        <p:spPr>
          <a:xfrm>
            <a:off x="8732520" y="5605272"/>
            <a:ext cx="137160" cy="1371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bg1">
                <a:lumMod val="55000"/>
              </a:schemeClr>
            </a:solidFill>
            <a:prstDash val="dash"/>
          </a:ln>
          <a:effectLst/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50"/>
              <a:t/>
            </a:r>
            <a:endParaRPr sz="1400">
              <a:solidFill>
                <a:schemeClr val="tx1">
                  <a:lumMod val="90000"/>
                  <a:lumOff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slot.key.4.head"/>
          <p:cNvSpPr/>
          <p:nvPr/>
        </p:nvSpPr>
        <p:spPr>
          <a:xfrm>
            <a:off x="8961120" y="5532120"/>
            <a:ext cx="278892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Parked for review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lot.key.4.item.1"/>
          <p:cNvSpPr/>
          <p:nvPr/>
        </p:nvSpPr>
        <p:spPr>
          <a:xfrm>
            <a:off x="8961120" y="5824728"/>
            <a:ext cx="2788920" cy="24688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12</a:t>
            </a:r>
            <a:r>
              <a:rPr lang="en-US" sz="11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   Autonomous purchasing</a:t>
            </a:r>
            <a:endParaRPr lang="en-US" sz="11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lot.quadrant.1.icon"/>
          <p:cNvSpPr/>
          <p:nvPr/>
        </p:nvSpPr>
        <p:spPr>
          <a:xfrm>
            <a:off x="996696" y="1106424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914" y="4000"/>
                </a:moveTo>
                <a:cubicBezTo>
                  <a:pt x="16147" y="3340"/>
                  <a:pt x="15892" y="2606"/>
                  <a:pt x="15300" y="2232"/>
                </a:cubicBezTo>
                <a:cubicBezTo>
                  <a:pt x="14708" y="1859"/>
                  <a:pt x="13936" y="1944"/>
                  <a:pt x="13440" y="2439"/>
                </a:cubicBezTo>
                <a:lnTo>
                  <a:pt x="4440" y="11439"/>
                </a:lnTo>
                <a:cubicBezTo>
                  <a:pt x="4011" y="11868"/>
                  <a:pt x="3882" y="12513"/>
                  <a:pt x="4114" y="13074"/>
                </a:cubicBezTo>
                <a:cubicBezTo>
                  <a:pt x="4346" y="13634"/>
                  <a:pt x="4893" y="14000"/>
                  <a:pt x="5500" y="14000"/>
                </a:cubicBezTo>
                <a:lnTo>
                  <a:pt x="9502" y="14000"/>
                </a:lnTo>
                <a:cubicBezTo>
                  <a:pt x="9664" y="14000"/>
                  <a:pt x="9816" y="14079"/>
                  <a:pt x="9910" y="14211"/>
                </a:cubicBezTo>
                <a:cubicBezTo>
                  <a:pt x="10003" y="14344"/>
                  <a:pt x="10027" y="14513"/>
                  <a:pt x="9973" y="14666"/>
                </a:cubicBezTo>
                <a:lnTo>
                  <a:pt x="8086" y="20000"/>
                </a:lnTo>
                <a:cubicBezTo>
                  <a:pt x="7853" y="20661"/>
                  <a:pt x="8108" y="21395"/>
                  <a:pt x="8701" y="21768"/>
                </a:cubicBezTo>
                <a:cubicBezTo>
                  <a:pt x="9293" y="22142"/>
                  <a:pt x="10066" y="22055"/>
                  <a:pt x="10561" y="21560"/>
                </a:cubicBezTo>
                <a:lnTo>
                  <a:pt x="19561" y="12560"/>
                </a:lnTo>
                <a:cubicBezTo>
                  <a:pt x="19990" y="12131"/>
                  <a:pt x="20118" y="11486"/>
                  <a:pt x="19885" y="10926"/>
                </a:cubicBezTo>
                <a:cubicBezTo>
                  <a:pt x="19653" y="10365"/>
                  <a:pt x="19106" y="10000"/>
                  <a:pt x="18500" y="10000"/>
                </a:cubicBezTo>
                <a:lnTo>
                  <a:pt x="14503" y="10000"/>
                </a:lnTo>
                <a:cubicBezTo>
                  <a:pt x="14340" y="10000"/>
                  <a:pt x="14188" y="9921"/>
                  <a:pt x="14094" y="9789"/>
                </a:cubicBezTo>
                <a:cubicBezTo>
                  <a:pt x="14000" y="9656"/>
                  <a:pt x="13977" y="9486"/>
                  <a:pt x="14031" y="9333"/>
                </a:cubicBezTo>
                <a:close/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63" name="slot.quadrant.2.icon"/>
          <p:cNvSpPr/>
          <p:nvPr/>
        </p:nvSpPr>
        <p:spPr>
          <a:xfrm>
            <a:off x="4745736" y="1106424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8000" y="12000"/>
                </a:moveTo>
                <a:cubicBezTo>
                  <a:pt x="18000" y="15314"/>
                  <a:pt x="15314" y="18000"/>
                  <a:pt x="12000" y="18000"/>
                </a:cubicBezTo>
                <a:cubicBezTo>
                  <a:pt x="8686" y="18000"/>
                  <a:pt x="6000" y="15314"/>
                  <a:pt x="6000" y="12000"/>
                </a:cubicBezTo>
                <a:cubicBezTo>
                  <a:pt x="6000" y="8686"/>
                  <a:pt x="8686" y="6000"/>
                  <a:pt x="12000" y="6000"/>
                </a:cubicBezTo>
                <a:cubicBezTo>
                  <a:pt x="15314" y="6000"/>
                  <a:pt x="18000" y="8686"/>
                  <a:pt x="18000" y="12000"/>
                </a:cubicBezTo>
                <a:close/>
                <a:moveTo>
                  <a:pt x="14000" y="12000"/>
                </a:moveTo>
                <a:cubicBezTo>
                  <a:pt x="14000" y="13105"/>
                  <a:pt x="13105" y="14000"/>
                  <a:pt x="12000" y="14000"/>
                </a:cubicBezTo>
                <a:cubicBezTo>
                  <a:pt x="10895" y="14000"/>
                  <a:pt x="10000" y="13105"/>
                  <a:pt x="10000" y="12000"/>
                </a:cubicBezTo>
                <a:cubicBezTo>
                  <a:pt x="10000" y="10895"/>
                  <a:pt x="10895" y="10000"/>
                  <a:pt x="12000" y="10000"/>
                </a:cubicBezTo>
                <a:cubicBezTo>
                  <a:pt x="13105" y="10000"/>
                  <a:pt x="14000" y="10895"/>
                  <a:pt x="14000" y="12000"/>
                </a:cubicBezTo>
                <a:close/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64" name="slot.quadrant.3.icon"/>
          <p:cNvSpPr/>
          <p:nvPr/>
        </p:nvSpPr>
        <p:spPr>
          <a:xfrm>
            <a:off x="996696" y="3639312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65" name="slot.quadrant.4.icon"/>
          <p:cNvSpPr/>
          <p:nvPr/>
        </p:nvSpPr>
        <p:spPr>
          <a:xfrm>
            <a:off x="4745736" y="3639312"/>
            <a:ext cx="201168" cy="2011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22000"/>
                </a:moveTo>
                <a:lnTo>
                  <a:pt x="19000" y="22000"/>
                </a:lnTo>
                <a:moveTo>
                  <a:pt x="5000" y="2000"/>
                </a:moveTo>
                <a:lnTo>
                  <a:pt x="19000" y="2000"/>
                </a:lnTo>
                <a:moveTo>
                  <a:pt x="17000" y="22000"/>
                </a:moveTo>
                <a:lnTo>
                  <a:pt x="17000" y="17828"/>
                </a:lnTo>
                <a:cubicBezTo>
                  <a:pt x="17000" y="17298"/>
                  <a:pt x="16789" y="16789"/>
                  <a:pt x="16414" y="16414"/>
                </a:cubicBezTo>
                <a:lnTo>
                  <a:pt x="12000" y="12000"/>
                </a:lnTo>
                <a:lnTo>
                  <a:pt x="7586" y="16414"/>
                </a:lnTo>
                <a:cubicBezTo>
                  <a:pt x="7211" y="16789"/>
                  <a:pt x="7000" y="17298"/>
                  <a:pt x="7000" y="17828"/>
                </a:cubicBezTo>
                <a:lnTo>
                  <a:pt x="7000" y="22000"/>
                </a:lnTo>
                <a:moveTo>
                  <a:pt x="7000" y="2000"/>
                </a:moveTo>
                <a:lnTo>
                  <a:pt x="7000" y="6172"/>
                </a:lnTo>
                <a:cubicBezTo>
                  <a:pt x="7000" y="6702"/>
                  <a:pt x="7211" y="7211"/>
                  <a:pt x="7586" y="7586"/>
                </a:cubicBezTo>
                <a:lnTo>
                  <a:pt x="12000" y="12000"/>
                </a:lnTo>
                <a:lnTo>
                  <a:pt x="16414" y="7586"/>
                </a:lnTo>
                <a:cubicBezTo>
                  <a:pt x="16789" y="7211"/>
                  <a:pt x="17000" y="6702"/>
                  <a:pt x="17000" y="6172"/>
                </a:cubicBezTo>
                <a:lnTo>
                  <a:pt x="17000" y="2000"/>
                </a:lnTo>
              </a:path>
            </a:pathLst>
          </a:custGeom>
          <a:noFill/>
          <a:ln w="16510" cap="rnd">
            <a:solidFill>
              <a:schemeClr val="accent1"/>
            </a:solidFill>
            <a:round/>
          </a:ln>
          <a:effectLst/>
        </p:spPr>
      </p:sp>
      <p:sp>
        <p:nvSpPr>
          <p:cNvPr id="66" name="slot.axis.x.low"/>
          <p:cNvSpPr txBox="1"/>
          <p:nvPr/>
        </p:nvSpPr>
        <p:spPr>
          <a:xfrm>
            <a:off x="978407" y="5751576"/>
            <a:ext cx="1371600" cy="25603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Low effort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lot.axis.x.high"/>
          <p:cNvSpPr txBox="1"/>
          <p:nvPr/>
        </p:nvSpPr>
        <p:spPr>
          <a:xfrm>
            <a:off x="6885431" y="5751576"/>
            <a:ext cx="1371600" cy="25603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ctr" rtlCol="0">
            <a:noAutofit/>
          </a:bodyPr>
          <a:lstStyle/>
          <a:p>
            <a:pPr marL="0" indent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High effort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alue-horizons:winding-road-growing-cards">
    <p:spTree>
      <p:nvGrpSpPr>
        <p:cNvPr id="1" name=""/>
        <p:cNvGrpSpPr/>
        <p:nvPr/>
      </p:nvGrpSpPr>
      <p:grpSpPr/>
      <p:sp>
        <p:nvSpPr>
          <p:cNvPr id="2" name="bleed.road"/>
          <p:cNvSpPr/>
          <p:nvPr/>
        </p:nvSpPr>
        <p:spPr>
          <a:xfrm>
            <a:off x="14750" y="1629896"/>
            <a:ext cx="12166475" cy="4615210"/>
          </a:xfrm>
          <a:custGeom>
            <a:rect b="b" l="l" r="r" t="t"/>
            <a:pathLst>
              <a:path extrusionOk="0" h="3284847" w="8179143">
                <a:moveTo>
                  <a:pt x="1780" y="0"/>
                </a:moveTo>
                <a:cubicBezTo>
                  <a:pt x="790066" y="17014"/>
                  <a:pt x="1648607" y="1173"/>
                  <a:pt x="1761119" y="167134"/>
                </a:cubicBezTo>
                <a:cubicBezTo>
                  <a:pt x="1873631" y="333095"/>
                  <a:pt x="612804" y="818104"/>
                  <a:pt x="676850" y="995768"/>
                </a:cubicBezTo>
                <a:cubicBezTo>
                  <a:pt x="1053531" y="1137766"/>
                  <a:pt x="4959523" y="990631"/>
                  <a:pt x="5375629" y="1227042"/>
                </a:cubicBezTo>
                <a:cubicBezTo>
                  <a:pt x="5821031" y="1492971"/>
                  <a:pt x="2890600" y="2332884"/>
                  <a:pt x="3308249" y="2609055"/>
                </a:cubicBezTo>
                <a:cubicBezTo>
                  <a:pt x="3725898" y="2885226"/>
                  <a:pt x="6039616" y="2884942"/>
                  <a:pt x="7881524" y="2884066"/>
                </a:cubicBezTo>
                <a:lnTo>
                  <a:pt x="8179143" y="2884701"/>
                </a:lnTo>
                <a:lnTo>
                  <a:pt x="8179143" y="3284847"/>
                </a:lnTo>
                <a:lnTo>
                  <a:pt x="8164626" y="3284577"/>
                </a:lnTo>
                <a:cubicBezTo>
                  <a:pt x="6536830" y="3257193"/>
                  <a:pt x="3519012" y="3286701"/>
                  <a:pt x="2616956" y="2827153"/>
                </a:cubicBezTo>
                <a:cubicBezTo>
                  <a:pt x="1847444" y="2285014"/>
                  <a:pt x="4527120" y="1585777"/>
                  <a:pt x="4793683" y="1357886"/>
                </a:cubicBezTo>
                <a:cubicBezTo>
                  <a:pt x="4536465" y="1207898"/>
                  <a:pt x="1231411" y="1456314"/>
                  <a:pt x="416251" y="1147303"/>
                </a:cubicBezTo>
                <a:cubicBezTo>
                  <a:pt x="66344" y="841407"/>
                  <a:pt x="1490151" y="386828"/>
                  <a:pt x="1559908" y="172718"/>
                </a:cubicBezTo>
                <a:cubicBezTo>
                  <a:pt x="1424603" y="78200"/>
                  <a:pt x="638309" y="84887"/>
                  <a:pt x="0" y="42274"/>
                </a:cubicBezTo>
                <a:cubicBezTo>
                  <a:pt x="594" y="28183"/>
                  <a:pt x="1186" y="14091"/>
                  <a:pt x="178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67"/>
              <a:buFont typeface="Arial"/>
              <a:buNone/>
            </a:pPr>
            <a:r>
              <a:rPr sz="1400"/>
              <a:t/>
            </a:r>
            <a:endParaRPr b="0" i="0" sz="1867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bleed.road.line"/>
          <p:cNvSpPr/>
          <p:nvPr/>
        </p:nvSpPr>
        <p:spPr>
          <a:xfrm>
            <a:off x="21099" y="1659392"/>
            <a:ext cx="12164203" cy="4354746"/>
          </a:xfrm>
          <a:custGeom>
            <a:rect b="b" l="l" r="r" t="t"/>
            <a:pathLst>
              <a:path extrusionOk="0" h="2903164" w="6427584">
                <a:moveTo>
                  <a:pt x="0" y="0"/>
                </a:moveTo>
                <a:cubicBezTo>
                  <a:pt x="662178" y="13716"/>
                  <a:pt x="1214830" y="45194"/>
                  <a:pt x="1298872" y="139983"/>
                </a:cubicBezTo>
                <a:cubicBezTo>
                  <a:pt x="1373652" y="305328"/>
                  <a:pt x="187259" y="820590"/>
                  <a:pt x="448678" y="992068"/>
                </a:cubicBezTo>
                <a:cubicBezTo>
                  <a:pt x="890154" y="1171674"/>
                  <a:pt x="3892332" y="994608"/>
                  <a:pt x="3996054" y="1217620"/>
                </a:cubicBezTo>
                <a:cubicBezTo>
                  <a:pt x="4013864" y="1399992"/>
                  <a:pt x="2399303" y="2006996"/>
                  <a:pt x="2231373" y="2330140"/>
                </a:cubicBezTo>
                <a:cubicBezTo>
                  <a:pt x="2149356" y="2592324"/>
                  <a:pt x="2881613" y="2712833"/>
                  <a:pt x="3503953" y="2790727"/>
                </a:cubicBezTo>
                <a:cubicBezTo>
                  <a:pt x="4173829" y="2876410"/>
                  <a:pt x="6085830" y="2869636"/>
                  <a:pt x="6427584" y="2903164"/>
                </a:cubicBezTo>
              </a:path>
            </a:pathLst>
          </a:custGeom>
          <a:noFill/>
          <a:ln cap="flat" cmpd="sng" w="9525">
            <a:solidFill>
              <a:schemeClr val="bg1">
                <a:lumMod val="75000"/>
              </a:schemeClr>
            </a:solidFill>
            <a:prstDash val="lgDash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67"/>
              <a:buFont typeface="Arial"/>
              <a:buNone/>
            </a:pPr>
            <a:r>
              <a:rPr sz="1400"/>
              <a:t/>
            </a:r>
            <a:endParaRPr b="0" i="0" sz="1867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slot.horizon.1.year"/>
          <p:cNvSpPr/>
          <p:nvPr/>
        </p:nvSpPr>
        <p:spPr>
          <a:xfrm>
            <a:off x="822960" y="1351540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2027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5" name="struct.pin.1"/>
          <p:cNvGrpSpPr/>
          <p:nvPr/>
        </p:nvGrpSpPr>
        <p:grpSpPr>
          <a:xfrm>
            <a:off x="478196" y="1255984"/>
            <a:ext cx="298240" cy="403486"/>
            <a:chOff x="478196" y="1255984"/>
            <a:chExt cx="298240" cy="403486"/>
          </a:xfrm>
          <a:effectLst/>
        </p:grpSpPr>
        <p:sp>
          <p:nvSpPr>
            <p:cNvPr id="6" name="struct.pin.1.body"/>
            <p:cNvSpPr/>
            <p:nvPr/>
          </p:nvSpPr>
          <p:spPr>
            <a:xfrm>
              <a:off x="478196" y="1255984"/>
              <a:ext cx="298240" cy="403486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" name="struct.pin.1.eye"/>
            <p:cNvSpPr/>
            <p:nvPr/>
          </p:nvSpPr>
          <p:spPr>
            <a:xfrm>
              <a:off x="539777" y="1317564"/>
              <a:ext cx="175079" cy="175079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" name="struct.pin.2"/>
          <p:cNvGrpSpPr/>
          <p:nvPr/>
        </p:nvGrpSpPr>
        <p:grpSpPr>
          <a:xfrm>
            <a:off x="676740" y="2512491"/>
            <a:ext cx="409812" cy="554430"/>
            <a:chOff x="676740" y="2512491"/>
            <a:chExt cx="409812" cy="554430"/>
          </a:xfrm>
          <a:effectLst/>
        </p:grpSpPr>
        <p:sp>
          <p:nvSpPr>
            <p:cNvPr id="9" name="struct.pin.2.body"/>
            <p:cNvSpPr/>
            <p:nvPr/>
          </p:nvSpPr>
          <p:spPr>
            <a:xfrm>
              <a:off x="676740" y="2512491"/>
              <a:ext cx="409812" cy="554430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struct.pin.2.eye"/>
            <p:cNvSpPr/>
            <p:nvPr/>
          </p:nvSpPr>
          <p:spPr>
            <a:xfrm>
              <a:off x="761358" y="2597108"/>
              <a:ext cx="240576" cy="240576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" name="slot.horizon.2.year"/>
          <p:cNvSpPr/>
          <p:nvPr/>
        </p:nvSpPr>
        <p:spPr>
          <a:xfrm>
            <a:off x="1133856" y="2788687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2028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2" name="struct.pin.3"/>
          <p:cNvGrpSpPr/>
          <p:nvPr/>
        </p:nvGrpSpPr>
        <p:grpSpPr>
          <a:xfrm>
            <a:off x="4398148" y="2731889"/>
            <a:ext cx="436900" cy="591078"/>
            <a:chOff x="4398148" y="2731889"/>
            <a:chExt cx="436900" cy="591078"/>
          </a:xfrm>
          <a:effectLst/>
        </p:grpSpPr>
        <p:sp>
          <p:nvSpPr>
            <p:cNvPr id="13" name="struct.pin.3.body"/>
            <p:cNvSpPr/>
            <p:nvPr/>
          </p:nvSpPr>
          <p:spPr>
            <a:xfrm>
              <a:off x="4398148" y="2731889"/>
              <a:ext cx="436900" cy="591078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struct.pin.3.eye"/>
            <p:cNvSpPr/>
            <p:nvPr/>
          </p:nvSpPr>
          <p:spPr>
            <a:xfrm>
              <a:off x="4488359" y="2822100"/>
              <a:ext cx="256478" cy="256478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" name="slot.horizon.3.year"/>
          <p:cNvSpPr/>
          <p:nvPr/>
        </p:nvSpPr>
        <p:spPr>
          <a:xfrm>
            <a:off x="4864608" y="2809238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2029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6" name="struct.pin.4"/>
          <p:cNvGrpSpPr/>
          <p:nvPr/>
        </p:nvGrpSpPr>
        <p:grpSpPr>
          <a:xfrm>
            <a:off x="7563767" y="2815835"/>
            <a:ext cx="496441" cy="671630"/>
            <a:chOff x="7563767" y="2815835"/>
            <a:chExt cx="496441" cy="671630"/>
          </a:xfrm>
          <a:effectLst/>
        </p:grpSpPr>
        <p:sp>
          <p:nvSpPr>
            <p:cNvPr id="17" name="struct.pin.4.body"/>
            <p:cNvSpPr/>
            <p:nvPr/>
          </p:nvSpPr>
          <p:spPr>
            <a:xfrm>
              <a:off x="7563767" y="2815835"/>
              <a:ext cx="496441" cy="671630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struct.pin.4.eye"/>
            <p:cNvSpPr/>
            <p:nvPr/>
          </p:nvSpPr>
          <p:spPr>
            <a:xfrm>
              <a:off x="7666272" y="2918340"/>
              <a:ext cx="291431" cy="291430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" name="slot.horizon.5.year"/>
          <p:cNvSpPr/>
          <p:nvPr/>
        </p:nvSpPr>
        <p:spPr>
          <a:xfrm>
            <a:off x="3749039" y="4013571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2031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0" name="struct.pin.5"/>
          <p:cNvGrpSpPr/>
          <p:nvPr/>
        </p:nvGrpSpPr>
        <p:grpSpPr>
          <a:xfrm>
            <a:off x="3874215" y="4352923"/>
            <a:ext cx="612840" cy="829105"/>
            <a:chOff x="3874215" y="4352923"/>
            <a:chExt cx="612840" cy="829105"/>
          </a:xfrm>
          <a:effectLst/>
        </p:grpSpPr>
        <p:sp>
          <p:nvSpPr>
            <p:cNvPr id="21" name="struct.pin.5.body"/>
            <p:cNvSpPr/>
            <p:nvPr/>
          </p:nvSpPr>
          <p:spPr>
            <a:xfrm>
              <a:off x="3874215" y="4352923"/>
              <a:ext cx="612840" cy="829105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struct.pin.5.eye"/>
            <p:cNvSpPr/>
            <p:nvPr/>
          </p:nvSpPr>
          <p:spPr>
            <a:xfrm>
              <a:off x="4000754" y="4479461"/>
              <a:ext cx="359761" cy="359761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slot.horizon.4.year"/>
          <p:cNvSpPr/>
          <p:nvPr/>
        </p:nvSpPr>
        <p:spPr>
          <a:xfrm>
            <a:off x="8074152" y="2905410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2030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4" name="struct.pin.6"/>
          <p:cNvGrpSpPr/>
          <p:nvPr/>
        </p:nvGrpSpPr>
        <p:grpSpPr>
          <a:xfrm>
            <a:off x="7747084" y="4893124"/>
            <a:ext cx="752841" cy="1018512"/>
            <a:chOff x="7747084" y="4893124"/>
            <a:chExt cx="752841" cy="1018512"/>
          </a:xfrm>
          <a:effectLst/>
        </p:grpSpPr>
        <p:sp>
          <p:nvSpPr>
            <p:cNvPr id="25" name="struct.pin.6.body"/>
            <p:cNvSpPr/>
            <p:nvPr/>
          </p:nvSpPr>
          <p:spPr>
            <a:xfrm>
              <a:off x="7747084" y="4893124"/>
              <a:ext cx="752841" cy="1018512"/>
            </a:xfrm>
            <a:custGeom>
              <a:rect b="b" l="l" r="r" t="t"/>
              <a:pathLst>
                <a:path extrusionOk="0" h="3628470" w="2682012">
                  <a:moveTo>
                    <a:pt x="2682013" y="1341401"/>
                  </a:moveTo>
                  <a:cubicBezTo>
                    <a:pt x="2682013" y="1615580"/>
                    <a:pt x="2598222" y="1891092"/>
                    <a:pt x="2427388" y="2127146"/>
                  </a:cubicBezTo>
                  <a:lnTo>
                    <a:pt x="1341004" y="3628470"/>
                  </a:lnTo>
                  <a:lnTo>
                    <a:pt x="254617" y="2127146"/>
                  </a:lnTo>
                  <a:cubicBezTo>
                    <a:pt x="-131503" y="1593552"/>
                    <a:pt x="-72961" y="858539"/>
                    <a:pt x="392785" y="392793"/>
                  </a:cubicBezTo>
                  <a:cubicBezTo>
                    <a:pt x="654634" y="130944"/>
                    <a:pt x="997839" y="0"/>
                    <a:pt x="1341002" y="0"/>
                  </a:cubicBezTo>
                  <a:cubicBezTo>
                    <a:pt x="1684164" y="0"/>
                    <a:pt x="2027369" y="130944"/>
                    <a:pt x="2289217" y="392793"/>
                  </a:cubicBezTo>
                  <a:cubicBezTo>
                    <a:pt x="2548908" y="652481"/>
                    <a:pt x="2682013" y="995882"/>
                    <a:pt x="2682013" y="134140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struct.pin.6.eye"/>
            <p:cNvSpPr/>
            <p:nvPr/>
          </p:nvSpPr>
          <p:spPr>
            <a:xfrm>
              <a:off x="7902531" y="5048570"/>
              <a:ext cx="441948" cy="441948"/>
            </a:xfrm>
            <a:custGeom>
              <a:rect b="b" l="l" r="r" t="t"/>
              <a:pathLst>
                <a:path extrusionOk="0" h="1574448" w="1574448">
                  <a:moveTo>
                    <a:pt x="1574449" y="787224"/>
                  </a:moveTo>
                  <a:cubicBezTo>
                    <a:pt x="1574449" y="1221996"/>
                    <a:pt x="1221996" y="1574449"/>
                    <a:pt x="787224" y="1574449"/>
                  </a:cubicBezTo>
                  <a:cubicBezTo>
                    <a:pt x="352452" y="1574449"/>
                    <a:pt x="0" y="1221996"/>
                    <a:pt x="0" y="787224"/>
                  </a:cubicBezTo>
                  <a:cubicBezTo>
                    <a:pt x="0" y="352452"/>
                    <a:pt x="352452" y="0"/>
                    <a:pt x="787224" y="0"/>
                  </a:cubicBezTo>
                  <a:cubicBezTo>
                    <a:pt x="1221996" y="0"/>
                    <a:pt x="1574449" y="352452"/>
                    <a:pt x="1574449" y="7872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" name="slot.horizon.6.year"/>
          <p:cNvSpPr/>
          <p:nvPr/>
        </p:nvSpPr>
        <p:spPr>
          <a:xfrm>
            <a:off x="7708392" y="4572284"/>
            <a:ext cx="603504" cy="2463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2032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truct.card.1.body"/>
          <p:cNvSpPr/>
          <p:nvPr/>
        </p:nvSpPr>
        <p:spPr>
          <a:xfrm>
            <a:off x="1450194" y="1060623"/>
            <a:ext cx="1743300" cy="661500"/>
          </a:xfrm>
          <a:prstGeom prst="roundRect">
            <a:avLst>
              <a:gd fmla="val 6912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struct.card.1.panel"/>
          <p:cNvSpPr/>
          <p:nvPr/>
        </p:nvSpPr>
        <p:spPr>
          <a:xfrm rot="5400000">
            <a:off x="2337095" y="862023"/>
            <a:ext cx="661500" cy="1058700"/>
          </a:xfrm>
          <a:prstGeom prst="round2SameRect">
            <a:avLst>
              <a:gd fmla="val 6912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slot.card.1.count"/>
          <p:cNvSpPr/>
          <p:nvPr/>
        </p:nvSpPr>
        <p:spPr>
          <a:xfrm>
            <a:off x="1901952" y="1106424"/>
            <a:ext cx="237744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lot.card.1.item.1"/>
          <p:cNvSpPr/>
          <p:nvPr/>
        </p:nvSpPr>
        <p:spPr>
          <a:xfrm>
            <a:off x="2194560" y="1115568"/>
            <a:ext cx="950976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Campaign drafts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2" name="struct.card.1.area.1"/>
          <p:cNvGrpSpPr/>
          <p:nvPr/>
        </p:nvGrpSpPr>
        <p:grpSpPr>
          <a:xfrm>
            <a:off x="1567420" y="1416312"/>
            <a:ext cx="264651" cy="264651"/>
            <a:chOff x="1567420" y="1416312"/>
            <a:chExt cx="264651" cy="264651"/>
          </a:xfrm>
          <a:effectLst/>
        </p:grpSpPr>
        <p:sp>
          <p:nvSpPr>
            <p:cNvPr id="33" name="struct.card.1.area.1.disc"/>
            <p:cNvSpPr/>
            <p:nvPr/>
          </p:nvSpPr>
          <p:spPr>
            <a:xfrm>
              <a:off x="1567420" y="1416312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" name="struct.card.2.body"/>
          <p:cNvSpPr/>
          <p:nvPr/>
        </p:nvSpPr>
        <p:spPr>
          <a:xfrm>
            <a:off x="1854519" y="2427441"/>
            <a:ext cx="1743300" cy="661500"/>
          </a:xfrm>
          <a:prstGeom prst="roundRect">
            <a:avLst>
              <a:gd fmla="val 6912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struct.card.2.panel"/>
          <p:cNvSpPr/>
          <p:nvPr/>
        </p:nvSpPr>
        <p:spPr>
          <a:xfrm rot="5400000">
            <a:off x="2741420" y="2228841"/>
            <a:ext cx="661500" cy="1058700"/>
          </a:xfrm>
          <a:prstGeom prst="round2SameRect">
            <a:avLst>
              <a:gd fmla="val 6912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slot.card.2.count"/>
          <p:cNvSpPr/>
          <p:nvPr/>
        </p:nvSpPr>
        <p:spPr>
          <a:xfrm>
            <a:off x="2313432" y="2478024"/>
            <a:ext cx="237744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4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card.2.item.1"/>
          <p:cNvSpPr/>
          <p:nvPr/>
        </p:nvSpPr>
        <p:spPr>
          <a:xfrm>
            <a:off x="2606040" y="2487168"/>
            <a:ext cx="950976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Brief summaries</a:t>
            </a:r>
            <a:endParaRPr lang="en-US" sz="105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8" name="struct.card.2.area.1"/>
          <p:cNvGrpSpPr/>
          <p:nvPr/>
        </p:nvGrpSpPr>
        <p:grpSpPr>
          <a:xfrm>
            <a:off x="1971745" y="2783130"/>
            <a:ext cx="264651" cy="264651"/>
            <a:chOff x="1971745" y="2783130"/>
            <a:chExt cx="264651" cy="264651"/>
          </a:xfrm>
          <a:effectLst/>
        </p:grpSpPr>
        <p:sp>
          <p:nvSpPr>
            <p:cNvPr id="39" name="struct.card.2.area.1.disc"/>
            <p:cNvSpPr/>
            <p:nvPr/>
          </p:nvSpPr>
          <p:spPr>
            <a:xfrm>
              <a:off x="1971745" y="2783130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" name="struct.card.5.body"/>
          <p:cNvSpPr/>
          <p:nvPr/>
        </p:nvSpPr>
        <p:spPr>
          <a:xfrm>
            <a:off x="340384" y="3952034"/>
            <a:ext cx="3390300" cy="2355300"/>
          </a:xfrm>
          <a:prstGeom prst="roundRect">
            <a:avLst>
              <a:gd fmla="val 1941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struct.card.5.panel"/>
          <p:cNvSpPr/>
          <p:nvPr/>
        </p:nvSpPr>
        <p:spPr>
          <a:xfrm flipH="1" rot="-5400000">
            <a:off x="289541" y="3998540"/>
            <a:ext cx="2355300" cy="2262300"/>
          </a:xfrm>
          <a:prstGeom prst="round2SameRect">
            <a:avLst>
              <a:gd fmla="val 2021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slot.card.5.item.1"/>
          <p:cNvSpPr/>
          <p:nvPr/>
        </p:nvSpPr>
        <p:spPr>
          <a:xfrm flipH="1">
            <a:off x="536893" y="410878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Demand sensing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card.5.item.2"/>
          <p:cNvSpPr/>
          <p:nvPr/>
        </p:nvSpPr>
        <p:spPr>
          <a:xfrm flipH="1">
            <a:off x="536893" y="434358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Supplier risk alerts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card.5.item.3"/>
          <p:cNvSpPr/>
          <p:nvPr/>
        </p:nvSpPr>
        <p:spPr>
          <a:xfrm flipH="1">
            <a:off x="536893" y="457839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scenario testing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card.5.item.4"/>
          <p:cNvSpPr/>
          <p:nvPr/>
        </p:nvSpPr>
        <p:spPr>
          <a:xfrm flipH="1">
            <a:off x="536893" y="481319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status assistant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lot.card.5.item.5"/>
          <p:cNvSpPr/>
          <p:nvPr/>
        </p:nvSpPr>
        <p:spPr>
          <a:xfrm flipH="1">
            <a:off x="536893" y="504800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Inventory rebalancing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slot.card.5.item.6"/>
          <p:cNvSpPr/>
          <p:nvPr/>
        </p:nvSpPr>
        <p:spPr>
          <a:xfrm flipH="1">
            <a:off x="536893" y="528280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Weekly sales forecast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lot.card.5.item.7"/>
          <p:cNvSpPr/>
          <p:nvPr/>
        </p:nvSpPr>
        <p:spPr>
          <a:xfrm flipH="1">
            <a:off x="536893" y="551761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Survey verbatim coding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slot.card.5.item.8"/>
          <p:cNvSpPr/>
          <p:nvPr/>
        </p:nvSpPr>
        <p:spPr>
          <a:xfrm flipH="1">
            <a:off x="536893" y="575241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Campaign variants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card.5.item.9"/>
          <p:cNvSpPr/>
          <p:nvPr/>
        </p:nvSpPr>
        <p:spPr>
          <a:xfrm flipH="1">
            <a:off x="536893" y="5987224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 quality alerts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ot.card.5.count"/>
          <p:cNvSpPr/>
          <p:nvPr/>
        </p:nvSpPr>
        <p:spPr>
          <a:xfrm>
            <a:off x="3017520" y="4059936"/>
            <a:ext cx="420624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22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52" name="struct.card.5.areas"/>
          <p:cNvGrpSpPr/>
          <p:nvPr/>
        </p:nvGrpSpPr>
        <p:grpSpPr>
          <a:xfrm>
            <a:off x="2697657" y="4427997"/>
            <a:ext cx="944401" cy="880790"/>
            <a:chOff x="2697657" y="4427997"/>
            <a:chExt cx="944401" cy="880790"/>
          </a:xfrm>
          <a:effectLst/>
        </p:grpSpPr>
        <p:grpSp>
          <p:nvGrpSpPr>
            <p:cNvPr id="53" name="struct.card.5.area.3"/>
            <p:cNvGrpSpPr/>
            <p:nvPr/>
          </p:nvGrpSpPr>
          <p:grpSpPr>
            <a:xfrm>
              <a:off x="3377394" y="4427997"/>
              <a:ext cx="264664" cy="264664"/>
              <a:chOff x="3377394" y="4427997"/>
              <a:chExt cx="264664" cy="264664"/>
            </a:xfrm>
          </p:grpSpPr>
          <p:sp>
            <p:nvSpPr>
              <p:cNvPr id="54" name="struct.card.5.area.3.disc"/>
              <p:cNvSpPr/>
              <p:nvPr/>
            </p:nvSpPr>
            <p:spPr>
              <a:xfrm>
                <a:off x="3377394" y="4427997"/>
                <a:ext cx="264664" cy="264664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5" name="struct.card.5.area.2"/>
            <p:cNvGrpSpPr/>
            <p:nvPr/>
          </p:nvGrpSpPr>
          <p:grpSpPr>
            <a:xfrm>
              <a:off x="3037695" y="4427997"/>
              <a:ext cx="264664" cy="264664"/>
              <a:chOff x="3037695" y="4427997"/>
              <a:chExt cx="264664" cy="264664"/>
            </a:xfrm>
          </p:grpSpPr>
          <p:sp>
            <p:nvSpPr>
              <p:cNvPr id="56" name="struct.card.5.area.2.disc"/>
              <p:cNvSpPr/>
              <p:nvPr/>
            </p:nvSpPr>
            <p:spPr>
              <a:xfrm>
                <a:off x="3037695" y="4427997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7" name="struct.card.5.area.1"/>
            <p:cNvGrpSpPr/>
            <p:nvPr/>
          </p:nvGrpSpPr>
          <p:grpSpPr>
            <a:xfrm>
              <a:off x="2697998" y="4427997"/>
              <a:ext cx="264663" cy="264664"/>
              <a:chOff x="2697998" y="4427997"/>
              <a:chExt cx="264663" cy="264664"/>
            </a:xfrm>
          </p:grpSpPr>
          <p:sp>
            <p:nvSpPr>
              <p:cNvPr id="58" name="struct.card.5.area.1.disc"/>
              <p:cNvSpPr/>
              <p:nvPr/>
            </p:nvSpPr>
            <p:spPr>
              <a:xfrm>
                <a:off x="2697998" y="4427997"/>
                <a:ext cx="264663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9" name="struct.card.5.area.4"/>
            <p:cNvGrpSpPr/>
            <p:nvPr/>
          </p:nvGrpSpPr>
          <p:grpSpPr>
            <a:xfrm>
              <a:off x="2697932" y="4733617"/>
              <a:ext cx="264664" cy="264664"/>
              <a:chOff x="2697932" y="4733617"/>
              <a:chExt cx="264664" cy="264664"/>
            </a:xfrm>
          </p:grpSpPr>
          <p:sp>
            <p:nvSpPr>
              <p:cNvPr id="60" name="struct.card.5.area.4.disc"/>
              <p:cNvSpPr/>
              <p:nvPr/>
            </p:nvSpPr>
            <p:spPr>
              <a:xfrm>
                <a:off x="2697932" y="4733617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" name="struct.card.5.area.5"/>
            <p:cNvGrpSpPr/>
            <p:nvPr/>
          </p:nvGrpSpPr>
          <p:grpSpPr>
            <a:xfrm>
              <a:off x="3037631" y="4733617"/>
              <a:ext cx="264664" cy="264664"/>
              <a:chOff x="3037631" y="4733617"/>
              <a:chExt cx="264664" cy="264664"/>
            </a:xfrm>
          </p:grpSpPr>
          <p:sp>
            <p:nvSpPr>
              <p:cNvPr id="62" name="struct.card.5.area.5.disc"/>
              <p:cNvSpPr/>
              <p:nvPr/>
            </p:nvSpPr>
            <p:spPr>
              <a:xfrm>
                <a:off x="3037631" y="4733617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3" name="struct.card.5.area.6"/>
            <p:cNvGrpSpPr/>
            <p:nvPr/>
          </p:nvGrpSpPr>
          <p:grpSpPr>
            <a:xfrm>
              <a:off x="3377308" y="4733617"/>
              <a:ext cx="264664" cy="264664"/>
              <a:chOff x="3377308" y="4733617"/>
              <a:chExt cx="264664" cy="264664"/>
            </a:xfrm>
          </p:grpSpPr>
          <p:sp>
            <p:nvSpPr>
              <p:cNvPr id="64" name="struct.card.5.area.6.disc"/>
              <p:cNvSpPr/>
              <p:nvPr/>
            </p:nvSpPr>
            <p:spPr>
              <a:xfrm>
                <a:off x="3377308" y="4733617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5" name="struct.card.5.area.7"/>
            <p:cNvGrpSpPr/>
            <p:nvPr/>
          </p:nvGrpSpPr>
          <p:grpSpPr>
            <a:xfrm>
              <a:off x="2697657" y="5043994"/>
              <a:ext cx="264794" cy="264793"/>
              <a:chOff x="2697657" y="5043994"/>
              <a:chExt cx="264794" cy="264793"/>
            </a:xfrm>
          </p:grpSpPr>
          <p:sp>
            <p:nvSpPr>
              <p:cNvPr id="66" name="struct.card.5.area.7.disc"/>
              <p:cNvSpPr/>
              <p:nvPr/>
            </p:nvSpPr>
            <p:spPr>
              <a:xfrm>
                <a:off x="2697657" y="5043994"/>
                <a:ext cx="264794" cy="264793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7" name="struct.card.5.dot.1"/>
          <p:cNvSpPr/>
          <p:nvPr/>
        </p:nvSpPr>
        <p:spPr>
          <a:xfrm>
            <a:off x="563775" y="4173961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struct.card.5.dot.2"/>
          <p:cNvSpPr/>
          <p:nvPr/>
        </p:nvSpPr>
        <p:spPr>
          <a:xfrm>
            <a:off x="563775" y="440876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struct.card.5.dot.3"/>
          <p:cNvSpPr/>
          <p:nvPr/>
        </p:nvSpPr>
        <p:spPr>
          <a:xfrm>
            <a:off x="563775" y="4643571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struct.card.5.dot.4"/>
          <p:cNvSpPr/>
          <p:nvPr/>
        </p:nvSpPr>
        <p:spPr>
          <a:xfrm>
            <a:off x="563775" y="487837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struct.card.5.dot.5"/>
          <p:cNvSpPr/>
          <p:nvPr/>
        </p:nvSpPr>
        <p:spPr>
          <a:xfrm>
            <a:off x="563775" y="5113181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struct.card.5.dot.6"/>
          <p:cNvSpPr/>
          <p:nvPr/>
        </p:nvSpPr>
        <p:spPr>
          <a:xfrm>
            <a:off x="563775" y="534798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struct.card.5.dot.7"/>
          <p:cNvSpPr/>
          <p:nvPr/>
        </p:nvSpPr>
        <p:spPr>
          <a:xfrm>
            <a:off x="563775" y="5582791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struct.card.5.dot.8"/>
          <p:cNvSpPr/>
          <p:nvPr/>
        </p:nvSpPr>
        <p:spPr>
          <a:xfrm>
            <a:off x="563775" y="581759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struct.card.5.dot.9"/>
          <p:cNvSpPr/>
          <p:nvPr/>
        </p:nvSpPr>
        <p:spPr>
          <a:xfrm>
            <a:off x="563775" y="6052402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slot.key.label"/>
          <p:cNvSpPr txBox="1"/>
          <p:nvPr/>
        </p:nvSpPr>
        <p:spPr>
          <a:xfrm>
            <a:off x="5284843" y="6358740"/>
            <a:ext cx="1918500" cy="2463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36576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New in this horizon</a:t>
            </a:r>
            <a:endParaRPr lang="en-US" sz="1000" b="1" i="0" kern="0"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struct.card.6.body"/>
          <p:cNvSpPr/>
          <p:nvPr/>
        </p:nvSpPr>
        <p:spPr>
          <a:xfrm>
            <a:off x="8627388" y="3219949"/>
            <a:ext cx="3390300" cy="2355300"/>
          </a:xfrm>
          <a:prstGeom prst="roundRect">
            <a:avLst>
              <a:gd fmla="val 1941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struct.card.6.panel"/>
          <p:cNvSpPr/>
          <p:nvPr/>
        </p:nvSpPr>
        <p:spPr>
          <a:xfrm rot="5400000">
            <a:off x="9715538" y="3266457"/>
            <a:ext cx="2355300" cy="2262300"/>
          </a:xfrm>
          <a:prstGeom prst="round2SameRect">
            <a:avLst>
              <a:gd fmla="val 2021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slot.card.6.item.1"/>
          <p:cNvSpPr/>
          <p:nvPr/>
        </p:nvSpPr>
        <p:spPr>
          <a:xfrm flipH="1">
            <a:off x="9841554" y="3376699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Contract clause review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card.6.item.2"/>
          <p:cNvSpPr/>
          <p:nvPr/>
        </p:nvSpPr>
        <p:spPr>
          <a:xfrm flipH="1">
            <a:off x="9841554" y="3611504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Fraud pattern alerts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lot.card.6.item.3"/>
          <p:cNvSpPr/>
          <p:nvPr/>
        </p:nvSpPr>
        <p:spPr>
          <a:xfrm flipH="1">
            <a:off x="9841554" y="3846309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Service chat assistant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card.6.item.4"/>
          <p:cNvSpPr/>
          <p:nvPr/>
        </p:nvSpPr>
        <p:spPr>
          <a:xfrm flipH="1">
            <a:off x="9841554" y="4081114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Next best offer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card.6.item.5"/>
          <p:cNvSpPr/>
          <p:nvPr/>
        </p:nvSpPr>
        <p:spPr>
          <a:xfrm flipH="1">
            <a:off x="9841554" y="4315919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Output policy checks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card.6.item.6"/>
          <p:cNvSpPr/>
          <p:nvPr/>
        </p:nvSpPr>
        <p:spPr>
          <a:xfrm flipH="1">
            <a:off x="9841554" y="4550724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Demand sensing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ot.card.6.item.7"/>
          <p:cNvSpPr/>
          <p:nvPr/>
        </p:nvSpPr>
        <p:spPr>
          <a:xfrm flipH="1">
            <a:off x="9841554" y="4785529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Supplier risk alerts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card.6.item.8"/>
          <p:cNvSpPr/>
          <p:nvPr/>
        </p:nvSpPr>
        <p:spPr>
          <a:xfrm flipH="1">
            <a:off x="9841554" y="5020334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status assistant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card.6.item.9"/>
          <p:cNvSpPr/>
          <p:nvPr/>
        </p:nvSpPr>
        <p:spPr>
          <a:xfrm flipH="1">
            <a:off x="9841554" y="5255140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Self-serve models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truct.card.6.dot.1"/>
          <p:cNvSpPr/>
          <p:nvPr/>
        </p:nvSpPr>
        <p:spPr>
          <a:xfrm>
            <a:off x="9868436" y="3441877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struct.card.6.dot.2"/>
          <p:cNvSpPr/>
          <p:nvPr/>
        </p:nvSpPr>
        <p:spPr>
          <a:xfrm>
            <a:off x="9868436" y="3676682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struct.card.6.dot.3"/>
          <p:cNvSpPr/>
          <p:nvPr/>
        </p:nvSpPr>
        <p:spPr>
          <a:xfrm>
            <a:off x="9868436" y="3911487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struct.card.6.dot.4"/>
          <p:cNvSpPr/>
          <p:nvPr/>
        </p:nvSpPr>
        <p:spPr>
          <a:xfrm>
            <a:off x="9868436" y="4146292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struct.card.6.dot.5"/>
          <p:cNvSpPr/>
          <p:nvPr/>
        </p:nvSpPr>
        <p:spPr>
          <a:xfrm>
            <a:off x="9868436" y="4381097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struct.card.6.dot.6"/>
          <p:cNvSpPr/>
          <p:nvPr/>
        </p:nvSpPr>
        <p:spPr>
          <a:xfrm>
            <a:off x="9868436" y="4615902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struct.card.6.dot.7"/>
          <p:cNvSpPr/>
          <p:nvPr/>
        </p:nvSpPr>
        <p:spPr>
          <a:xfrm>
            <a:off x="9868436" y="4850707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struct.card.6.dot.8"/>
          <p:cNvSpPr/>
          <p:nvPr/>
        </p:nvSpPr>
        <p:spPr>
          <a:xfrm>
            <a:off x="9868436" y="5085512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struct.card.6.dot.9"/>
          <p:cNvSpPr/>
          <p:nvPr/>
        </p:nvSpPr>
        <p:spPr>
          <a:xfrm>
            <a:off x="9868436" y="5320318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slot.card.6.count"/>
          <p:cNvSpPr/>
          <p:nvPr/>
        </p:nvSpPr>
        <p:spPr>
          <a:xfrm>
            <a:off x="9079992" y="3392424"/>
            <a:ext cx="420624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30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98" name="struct.card.6.areas"/>
          <p:cNvGrpSpPr/>
          <p:nvPr/>
        </p:nvGrpSpPr>
        <p:grpSpPr>
          <a:xfrm>
            <a:off x="8758024" y="3761671"/>
            <a:ext cx="944401" cy="879574"/>
            <a:chOff x="8758024" y="3761671"/>
            <a:chExt cx="944401" cy="879574"/>
          </a:xfrm>
          <a:effectLst/>
        </p:grpSpPr>
        <p:grpSp>
          <p:nvGrpSpPr>
            <p:cNvPr id="99" name="struct.card.6.area.3"/>
            <p:cNvGrpSpPr/>
            <p:nvPr/>
          </p:nvGrpSpPr>
          <p:grpSpPr>
            <a:xfrm>
              <a:off x="9437762" y="3761671"/>
              <a:ext cx="264663" cy="264664"/>
              <a:chOff x="9437762" y="3761671"/>
              <a:chExt cx="264663" cy="264664"/>
            </a:xfrm>
          </p:grpSpPr>
          <p:sp>
            <p:nvSpPr>
              <p:cNvPr id="100" name="struct.card.6.area.3.disc"/>
              <p:cNvSpPr/>
              <p:nvPr/>
            </p:nvSpPr>
            <p:spPr>
              <a:xfrm>
                <a:off x="9437762" y="3761671"/>
                <a:ext cx="264663" cy="264664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1" name="struct.card.6.area.2"/>
            <p:cNvGrpSpPr/>
            <p:nvPr/>
          </p:nvGrpSpPr>
          <p:grpSpPr>
            <a:xfrm>
              <a:off x="9098064" y="3761671"/>
              <a:ext cx="264664" cy="264664"/>
              <a:chOff x="9098064" y="3761671"/>
              <a:chExt cx="264664" cy="264664"/>
            </a:xfrm>
          </p:grpSpPr>
          <p:sp>
            <p:nvSpPr>
              <p:cNvPr id="102" name="struct.card.6.area.2.disc"/>
              <p:cNvSpPr/>
              <p:nvPr/>
            </p:nvSpPr>
            <p:spPr>
              <a:xfrm>
                <a:off x="9098064" y="3761671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3" name="struct.card.6.area.1"/>
            <p:cNvGrpSpPr/>
            <p:nvPr/>
          </p:nvGrpSpPr>
          <p:grpSpPr>
            <a:xfrm>
              <a:off x="8758364" y="3761671"/>
              <a:ext cx="264663" cy="264664"/>
              <a:chOff x="8758364" y="3761671"/>
              <a:chExt cx="264663" cy="264664"/>
            </a:xfrm>
          </p:grpSpPr>
          <p:sp>
            <p:nvSpPr>
              <p:cNvPr id="104" name="struct.card.6.area.1.disc"/>
              <p:cNvSpPr/>
              <p:nvPr/>
            </p:nvSpPr>
            <p:spPr>
              <a:xfrm>
                <a:off x="8758364" y="3761671"/>
                <a:ext cx="264663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5" name="struct.card.6.area.4"/>
            <p:cNvGrpSpPr/>
            <p:nvPr/>
          </p:nvGrpSpPr>
          <p:grpSpPr>
            <a:xfrm>
              <a:off x="8758300" y="4067291"/>
              <a:ext cx="264663" cy="264664"/>
              <a:chOff x="8758300" y="4067291"/>
              <a:chExt cx="264663" cy="264664"/>
            </a:xfrm>
          </p:grpSpPr>
          <p:sp>
            <p:nvSpPr>
              <p:cNvPr id="106" name="struct.card.6.area.4.disc"/>
              <p:cNvSpPr/>
              <p:nvPr/>
            </p:nvSpPr>
            <p:spPr>
              <a:xfrm>
                <a:off x="8758300" y="4067291"/>
                <a:ext cx="264663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7" name="struct.card.6.area.5"/>
            <p:cNvGrpSpPr/>
            <p:nvPr/>
          </p:nvGrpSpPr>
          <p:grpSpPr>
            <a:xfrm>
              <a:off x="9098000" y="4067291"/>
              <a:ext cx="264664" cy="264664"/>
              <a:chOff x="9098000" y="4067291"/>
              <a:chExt cx="264664" cy="264664"/>
            </a:xfrm>
          </p:grpSpPr>
          <p:sp>
            <p:nvSpPr>
              <p:cNvPr id="108" name="struct.card.6.area.5.disc"/>
              <p:cNvSpPr/>
              <p:nvPr/>
            </p:nvSpPr>
            <p:spPr>
              <a:xfrm>
                <a:off x="9098000" y="4067291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9" name="struct.card.6.area.6"/>
            <p:cNvGrpSpPr/>
            <p:nvPr/>
          </p:nvGrpSpPr>
          <p:grpSpPr>
            <a:xfrm>
              <a:off x="9437675" y="4067291"/>
              <a:ext cx="264664" cy="264664"/>
              <a:chOff x="9437675" y="4067291"/>
              <a:chExt cx="264664" cy="264664"/>
            </a:xfrm>
          </p:grpSpPr>
          <p:sp>
            <p:nvSpPr>
              <p:cNvPr id="110" name="struct.card.6.area.6.disc"/>
              <p:cNvSpPr/>
              <p:nvPr/>
            </p:nvSpPr>
            <p:spPr>
              <a:xfrm>
                <a:off x="9437675" y="4067291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1" name="struct.card.6.area.7"/>
            <p:cNvGrpSpPr/>
            <p:nvPr/>
          </p:nvGrpSpPr>
          <p:grpSpPr>
            <a:xfrm>
              <a:off x="8758024" y="4376452"/>
              <a:ext cx="264794" cy="264793"/>
              <a:chOff x="8758024" y="4376452"/>
              <a:chExt cx="264794" cy="264793"/>
            </a:xfrm>
          </p:grpSpPr>
          <p:sp>
            <p:nvSpPr>
              <p:cNvPr id="112" name="struct.card.6.area.7.disc"/>
              <p:cNvSpPr/>
              <p:nvPr/>
            </p:nvSpPr>
            <p:spPr>
              <a:xfrm>
                <a:off x="8758024" y="4376452"/>
                <a:ext cx="264794" cy="264793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3" name="struct.card.6.area.8"/>
            <p:cNvGrpSpPr/>
            <p:nvPr/>
          </p:nvGrpSpPr>
          <p:grpSpPr>
            <a:xfrm>
              <a:off x="9097977" y="4376482"/>
              <a:ext cx="264664" cy="264664"/>
              <a:chOff x="9097977" y="4376482"/>
              <a:chExt cx="264664" cy="264664"/>
            </a:xfrm>
          </p:grpSpPr>
          <p:sp>
            <p:nvSpPr>
              <p:cNvPr id="114" name="struct.card.6.area.8.disc"/>
              <p:cNvSpPr/>
              <p:nvPr/>
            </p:nvSpPr>
            <p:spPr>
              <a:xfrm>
                <a:off x="9097977" y="4376482"/>
                <a:ext cx="264664" cy="26466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1867"/>
                  <a:buFont typeface="Arial"/>
                  <a:buNone/>
                </a:pPr>
                <a:r>
                  <a:rPr sz="1400"/>
                  <a:t/>
                </a:r>
                <a:endParaRPr b="0" i="0" sz="1867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15" name="struct.card.3.body"/>
          <p:cNvSpPr/>
          <p:nvPr/>
        </p:nvSpPr>
        <p:spPr>
          <a:xfrm>
            <a:off x="4635252" y="967404"/>
            <a:ext cx="3390300" cy="1661700"/>
          </a:xfrm>
          <a:prstGeom prst="roundRect">
            <a:avLst>
              <a:gd fmla="val 2751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struct.card.3.panel"/>
          <p:cNvSpPr/>
          <p:nvPr/>
        </p:nvSpPr>
        <p:spPr>
          <a:xfrm rot="5400000">
            <a:off x="6070202" y="667111"/>
            <a:ext cx="1661700" cy="2262300"/>
          </a:xfrm>
          <a:prstGeom prst="round2SameRect">
            <a:avLst>
              <a:gd fmla="val 2751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slot.card.3.item.1"/>
          <p:cNvSpPr/>
          <p:nvPr/>
        </p:nvSpPr>
        <p:spPr>
          <a:xfrm flipH="1">
            <a:off x="5849418" y="112415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Campaign variants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slot.card.3.item.2"/>
          <p:cNvSpPr/>
          <p:nvPr/>
        </p:nvSpPr>
        <p:spPr>
          <a:xfrm flipH="1">
            <a:off x="5849418" y="135895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Survey verbatim coding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slot.card.3.item.3"/>
          <p:cNvSpPr/>
          <p:nvPr/>
        </p:nvSpPr>
        <p:spPr>
          <a:xfrm flipH="1">
            <a:off x="5849418" y="159376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Weekly sales forecast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lot.card.3.item.4"/>
          <p:cNvSpPr/>
          <p:nvPr/>
        </p:nvSpPr>
        <p:spPr>
          <a:xfrm flipH="1">
            <a:off x="5849418" y="182856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Competitor news digest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lot.card.3.item.5"/>
          <p:cNvSpPr/>
          <p:nvPr/>
        </p:nvSpPr>
        <p:spPr>
          <a:xfrm flipH="1">
            <a:off x="5849418" y="2063373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Field call summaries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slot.card.3.item.6"/>
          <p:cNvSpPr/>
          <p:nvPr/>
        </p:nvSpPr>
        <p:spPr>
          <a:xfrm flipH="1">
            <a:off x="5849418" y="2298178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27432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Brief summaries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truct.card.3.dot.1"/>
          <p:cNvSpPr/>
          <p:nvPr/>
        </p:nvSpPr>
        <p:spPr>
          <a:xfrm>
            <a:off x="5876300" y="1189331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struct.card.3.dot.2"/>
          <p:cNvSpPr/>
          <p:nvPr/>
        </p:nvSpPr>
        <p:spPr>
          <a:xfrm>
            <a:off x="5876300" y="142413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struct.card.3.dot.3"/>
          <p:cNvSpPr/>
          <p:nvPr/>
        </p:nvSpPr>
        <p:spPr>
          <a:xfrm>
            <a:off x="5876300" y="1658941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struct.card.3.dot.4"/>
          <p:cNvSpPr/>
          <p:nvPr/>
        </p:nvSpPr>
        <p:spPr>
          <a:xfrm>
            <a:off x="5876300" y="1893746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struct.card.3.dot.5"/>
          <p:cNvSpPr/>
          <p:nvPr/>
        </p:nvSpPr>
        <p:spPr>
          <a:xfrm>
            <a:off x="5876300" y="2128551"/>
            <a:ext cx="72000" cy="720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struct.card.3.dot.6"/>
          <p:cNvSpPr/>
          <p:nvPr/>
        </p:nvSpPr>
        <p:spPr>
          <a:xfrm>
            <a:off x="5876300" y="2363356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slot.card.3.count"/>
          <p:cNvSpPr/>
          <p:nvPr/>
        </p:nvSpPr>
        <p:spPr>
          <a:xfrm>
            <a:off x="5157216" y="1133856"/>
            <a:ext cx="329184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8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30" name="struct.card.3.area.3"/>
          <p:cNvGrpSpPr/>
          <p:nvPr/>
        </p:nvGrpSpPr>
        <p:grpSpPr>
          <a:xfrm>
            <a:off x="5445399" y="1509175"/>
            <a:ext cx="264651" cy="264651"/>
            <a:chOff x="5445399" y="1509175"/>
            <a:chExt cx="264651" cy="264651"/>
          </a:xfrm>
          <a:effectLst/>
        </p:grpSpPr>
        <p:sp>
          <p:nvSpPr>
            <p:cNvPr id="131" name="struct.card.3.area.3.disc"/>
            <p:cNvSpPr/>
            <p:nvPr/>
          </p:nvSpPr>
          <p:spPr>
            <a:xfrm>
              <a:off x="5445399" y="1509175"/>
              <a:ext cx="264651" cy="264651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2" name="struct.card.3.area.2"/>
          <p:cNvGrpSpPr/>
          <p:nvPr/>
        </p:nvGrpSpPr>
        <p:grpSpPr>
          <a:xfrm>
            <a:off x="5105659" y="1509175"/>
            <a:ext cx="264651" cy="264651"/>
            <a:chOff x="5105659" y="1509175"/>
            <a:chExt cx="264651" cy="264651"/>
          </a:xfrm>
          <a:effectLst/>
        </p:grpSpPr>
        <p:sp>
          <p:nvSpPr>
            <p:cNvPr id="133" name="struct.card.3.area.2.disc"/>
            <p:cNvSpPr/>
            <p:nvPr/>
          </p:nvSpPr>
          <p:spPr>
            <a:xfrm>
              <a:off x="5105659" y="1509175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" name="struct.card.3.area.1"/>
          <p:cNvGrpSpPr/>
          <p:nvPr/>
        </p:nvGrpSpPr>
        <p:grpSpPr>
          <a:xfrm>
            <a:off x="4765918" y="1509175"/>
            <a:ext cx="264651" cy="264651"/>
            <a:chOff x="4765918" y="1509175"/>
            <a:chExt cx="264651" cy="264651"/>
          </a:xfrm>
          <a:effectLst/>
        </p:grpSpPr>
        <p:sp>
          <p:nvSpPr>
            <p:cNvPr id="135" name="struct.card.3.area.1.disc"/>
            <p:cNvSpPr/>
            <p:nvPr/>
          </p:nvSpPr>
          <p:spPr>
            <a:xfrm>
              <a:off x="4765918" y="1509175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6" name="struct.card.4.body"/>
          <p:cNvSpPr/>
          <p:nvPr/>
        </p:nvSpPr>
        <p:spPr>
          <a:xfrm>
            <a:off x="8627388" y="1000958"/>
            <a:ext cx="3390300" cy="1938600"/>
          </a:xfrm>
          <a:prstGeom prst="roundRect">
            <a:avLst>
              <a:gd fmla="val 2358" name="adj"/>
            </a:avLst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96000" lIns="144000" spcFirstLastPara="1" rIns="144000" wrap="square" tIns="96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467"/>
              <a:buFont typeface="Arial"/>
              <a:buNone/>
            </a:pPr>
            <a:r>
              <a:rPr sz="1400"/>
              <a:t/>
            </a:r>
            <a:endParaRPr b="1" i="0" sz="14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struct.card.4.panel"/>
          <p:cNvSpPr/>
          <p:nvPr/>
        </p:nvSpPr>
        <p:spPr>
          <a:xfrm rot="5400000">
            <a:off x="9923888" y="839117"/>
            <a:ext cx="1938600" cy="2262300"/>
          </a:xfrm>
          <a:prstGeom prst="round2SameRect">
            <a:avLst>
              <a:gd fmla="val 2358" name="adj1"/>
              <a:gd fmla="val 0" name="adj2"/>
            </a:avLst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4000" lIns="0" spcFirstLastPara="1" rIns="0" wrap="square" tIns="24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067"/>
              <a:buFont typeface="Arial"/>
              <a:buNone/>
            </a:pPr>
            <a:r>
              <a:rPr sz="1400"/>
              <a:t/>
            </a:r>
            <a:endParaRPr b="0" i="0" sz="1067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slot.card.4.item.1"/>
          <p:cNvSpPr/>
          <p:nvPr/>
        </p:nvSpPr>
        <p:spPr>
          <a:xfrm flipH="1">
            <a:off x="9841554" y="1157707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Shared prompt library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slot.card.4.item.2"/>
          <p:cNvSpPr/>
          <p:nvPr/>
        </p:nvSpPr>
        <p:spPr>
          <a:xfrm flipH="1">
            <a:off x="9841554" y="1392512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Model review board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slot.card.4.item.3"/>
          <p:cNvSpPr/>
          <p:nvPr/>
        </p:nvSpPr>
        <p:spPr>
          <a:xfrm flipH="1">
            <a:off x="9841554" y="1627317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Usage and cost tracking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slot.card.4.item.4"/>
          <p:cNvSpPr/>
          <p:nvPr/>
        </p:nvSpPr>
        <p:spPr>
          <a:xfrm flipH="1">
            <a:off x="9841554" y="1862122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Price scenario testing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slot.card.4.item.5"/>
          <p:cNvSpPr/>
          <p:nvPr/>
        </p:nvSpPr>
        <p:spPr>
          <a:xfrm flipH="1">
            <a:off x="9841554" y="2096927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Forecast accuracy checks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slot.card.4.item.6"/>
          <p:cNvSpPr/>
          <p:nvPr/>
        </p:nvSpPr>
        <p:spPr>
          <a:xfrm flipH="1">
            <a:off x="9841554" y="2331732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One data request queue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slot.card.4.item.7"/>
          <p:cNvSpPr/>
          <p:nvPr/>
        </p:nvSpPr>
        <p:spPr>
          <a:xfrm flipH="1">
            <a:off x="9841554" y="2566537"/>
            <a:ext cx="1980000" cy="20250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0" lIns="146304" spcFirstLastPara="1" rIns="36576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Analyst training plan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struct.card.4.dot.1"/>
          <p:cNvSpPr/>
          <p:nvPr/>
        </p:nvSpPr>
        <p:spPr>
          <a:xfrm>
            <a:off x="9868436" y="1222885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struct.card.4.dot.2"/>
          <p:cNvSpPr/>
          <p:nvPr/>
        </p:nvSpPr>
        <p:spPr>
          <a:xfrm>
            <a:off x="9868436" y="1457690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struct.card.4.dot.3"/>
          <p:cNvSpPr/>
          <p:nvPr/>
        </p:nvSpPr>
        <p:spPr>
          <a:xfrm>
            <a:off x="9868436" y="1692495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struct.card.4.dot.4"/>
          <p:cNvSpPr/>
          <p:nvPr/>
        </p:nvSpPr>
        <p:spPr>
          <a:xfrm>
            <a:off x="9868436" y="1927300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struct.card.4.dot.5"/>
          <p:cNvSpPr/>
          <p:nvPr/>
        </p:nvSpPr>
        <p:spPr>
          <a:xfrm>
            <a:off x="9868436" y="2162105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struct.card.4.dot.6"/>
          <p:cNvSpPr/>
          <p:nvPr/>
        </p:nvSpPr>
        <p:spPr>
          <a:xfrm>
            <a:off x="9868436" y="2396910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struct.card.4.dot.7"/>
          <p:cNvSpPr/>
          <p:nvPr/>
        </p:nvSpPr>
        <p:spPr>
          <a:xfrm>
            <a:off x="9868436" y="2631715"/>
            <a:ext cx="72000" cy="72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1800"/>
              <a:buFont typeface="Arial"/>
              <a:buNone/>
            </a:pPr>
            <a:r>
              <a:rPr sz="1400"/>
              <a:t/>
            </a:r>
            <a:endParaRPr b="0" i="0" sz="1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slot.card.4.count"/>
          <p:cNvSpPr/>
          <p:nvPr/>
        </p:nvSpPr>
        <p:spPr>
          <a:xfrm>
            <a:off x="9144000" y="1170432"/>
            <a:ext cx="365760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14</a:t>
            </a:r>
            <a:endParaRPr lang="en-US" sz="13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53" name="struct.card.4.area.3"/>
          <p:cNvGrpSpPr/>
          <p:nvPr/>
        </p:nvGrpSpPr>
        <p:grpSpPr>
          <a:xfrm>
            <a:off x="9437535" y="1542729"/>
            <a:ext cx="264651" cy="264651"/>
            <a:chOff x="9437535" y="1542729"/>
            <a:chExt cx="264651" cy="264651"/>
          </a:xfrm>
          <a:effectLst/>
        </p:grpSpPr>
        <p:sp>
          <p:nvSpPr>
            <p:cNvPr id="154" name="struct.card.4.area.3.disc"/>
            <p:cNvSpPr/>
            <p:nvPr/>
          </p:nvSpPr>
          <p:spPr>
            <a:xfrm>
              <a:off x="9437535" y="1542729"/>
              <a:ext cx="264651" cy="264651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struct.card.4.area.2"/>
          <p:cNvGrpSpPr/>
          <p:nvPr/>
        </p:nvGrpSpPr>
        <p:grpSpPr>
          <a:xfrm>
            <a:off x="9097795" y="1542729"/>
            <a:ext cx="264651" cy="264651"/>
            <a:chOff x="9097795" y="1542729"/>
            <a:chExt cx="264651" cy="264651"/>
          </a:xfrm>
          <a:effectLst/>
        </p:grpSpPr>
        <p:sp>
          <p:nvSpPr>
            <p:cNvPr id="156" name="struct.card.4.area.2.disc"/>
            <p:cNvSpPr/>
            <p:nvPr/>
          </p:nvSpPr>
          <p:spPr>
            <a:xfrm>
              <a:off x="9097795" y="1542729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7" name="struct.card.4.area.1"/>
          <p:cNvGrpSpPr/>
          <p:nvPr/>
        </p:nvGrpSpPr>
        <p:grpSpPr>
          <a:xfrm>
            <a:off x="8758054" y="1542729"/>
            <a:ext cx="264651" cy="264651"/>
            <a:chOff x="8758054" y="1542729"/>
            <a:chExt cx="264651" cy="264651"/>
          </a:xfrm>
          <a:effectLst/>
        </p:grpSpPr>
        <p:sp>
          <p:nvSpPr>
            <p:cNvPr id="158" name="struct.card.4.area.1.disc"/>
            <p:cNvSpPr/>
            <p:nvPr/>
          </p:nvSpPr>
          <p:spPr>
            <a:xfrm>
              <a:off x="8758054" y="1542729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9" name="struct.card.4.area.4"/>
          <p:cNvGrpSpPr/>
          <p:nvPr/>
        </p:nvGrpSpPr>
        <p:grpSpPr>
          <a:xfrm>
            <a:off x="8758090" y="1848357"/>
            <a:ext cx="264651" cy="264651"/>
            <a:chOff x="8758090" y="1848357"/>
            <a:chExt cx="264651" cy="264651"/>
          </a:xfrm>
          <a:effectLst/>
        </p:grpSpPr>
        <p:sp>
          <p:nvSpPr>
            <p:cNvPr id="160" name="struct.card.4.area.4.disc"/>
            <p:cNvSpPr/>
            <p:nvPr/>
          </p:nvSpPr>
          <p:spPr>
            <a:xfrm>
              <a:off x="8758090" y="1848357"/>
              <a:ext cx="264651" cy="26465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1">
                    <a:lumMod val="90000"/>
                    <a:lumOff val="10000"/>
                  </a:schemeClr>
                </a:buClr>
                <a:buSzPts val="1867"/>
                <a:buFont typeface="Arial"/>
                <a:buNone/>
              </a:pPr>
              <a:r>
                <a:rPr sz="1400"/>
                <a:t/>
              </a:r>
              <a:endParaRPr b="0" i="0" sz="1867" u="none" cap="none" strike="noStrike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" name="struct.legend.1"/>
          <p:cNvGrpSpPr/>
          <p:nvPr/>
        </p:nvGrpSpPr>
        <p:grpSpPr>
          <a:xfrm>
            <a:off x="7529289" y="188572"/>
            <a:ext cx="1493963" cy="534027"/>
            <a:chOff x="7529289" y="188572"/>
            <a:chExt cx="1493963" cy="534027"/>
          </a:xfrm>
          <a:effectLst/>
        </p:grpSpPr>
        <p:grpSp>
          <p:nvGrpSpPr>
            <p:cNvPr id="162" name="struct.legend.1.disc"/>
            <p:cNvGrpSpPr/>
            <p:nvPr/>
          </p:nvGrpSpPr>
          <p:grpSpPr>
            <a:xfrm>
              <a:off x="8213000" y="188572"/>
              <a:ext cx="234237" cy="234237"/>
              <a:chOff x="8213000" y="188572"/>
              <a:chExt cx="234237" cy="234237"/>
            </a:xfrm>
          </p:grpSpPr>
          <p:sp>
            <p:nvSpPr>
              <p:cNvPr id="163" name="struct.legend.1.disc.fill"/>
              <p:cNvSpPr/>
              <p:nvPr/>
            </p:nvSpPr>
            <p:spPr>
              <a:xfrm>
                <a:off x="8213000" y="188572"/>
                <a:ext cx="234237" cy="23423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4" name="struct.legend.2.disc"/>
            <p:cNvGrpSpPr/>
            <p:nvPr/>
          </p:nvGrpSpPr>
          <p:grpSpPr>
            <a:xfrm>
              <a:off x="8213041" y="488487"/>
              <a:ext cx="234112" cy="234112"/>
              <a:chOff x="8213041" y="488487"/>
              <a:chExt cx="234112" cy="234112"/>
            </a:xfrm>
          </p:grpSpPr>
          <p:sp>
            <p:nvSpPr>
              <p:cNvPr id="165" name="struct.legend.2.disc.fill"/>
              <p:cNvSpPr/>
              <p:nvPr/>
            </p:nvSpPr>
            <p:spPr>
              <a:xfrm>
                <a:off x="8213041" y="488487"/>
                <a:ext cx="234112" cy="23411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66" name="slot.legend.1.label"/>
            <p:cNvSpPr/>
            <p:nvPr/>
          </p:nvSpPr>
          <p:spPr>
            <a:xfrm>
              <a:off x="8494465" y="206446"/>
              <a:ext cx="667823" cy="1984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Marketing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7" name="slot.legend.2.label"/>
            <p:cNvSpPr/>
            <p:nvPr/>
          </p:nvSpPr>
          <p:spPr>
            <a:xfrm>
              <a:off x="8494465" y="506347"/>
              <a:ext cx="667823" cy="1984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Supply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8" name="slot.legend.head"/>
            <p:cNvSpPr/>
            <p:nvPr/>
          </p:nvSpPr>
          <p:spPr>
            <a:xfrm>
              <a:off x="7529289" y="223555"/>
              <a:ext cx="501588" cy="1643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b="1" i="0" kern="0" dirty="0">
                  <a:solidFill>
                    <a:schemeClr val="tx1">
                      <a:lumMod val="90000"/>
                      <a:lumOff val="10000"/>
                    </a:schemeClr>
                  </a:solidFill>
                  <a:latin typeface="Arial"/>
                  <a:ea typeface="Arial"/>
                  <a:cs typeface="Arial"/>
                </a:rPr>
                <a:t>Areas</a:t>
              </a:r>
              <a:endParaRPr lang="en-US" sz="105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69" name="struct.legend.2"/>
          <p:cNvGrpSpPr/>
          <p:nvPr/>
        </p:nvGrpSpPr>
        <p:grpSpPr>
          <a:xfrm>
            <a:off x="9188831" y="192031"/>
            <a:ext cx="755835" cy="530567"/>
            <a:chOff x="9188831" y="192031"/>
            <a:chExt cx="755835" cy="530567"/>
          </a:xfrm>
          <a:effectLst/>
        </p:grpSpPr>
        <p:grpSp>
          <p:nvGrpSpPr>
            <p:cNvPr id="170" name="struct.legend.3.disc"/>
            <p:cNvGrpSpPr/>
            <p:nvPr/>
          </p:nvGrpSpPr>
          <p:grpSpPr>
            <a:xfrm>
              <a:off x="9188884" y="192031"/>
              <a:ext cx="234113" cy="234112"/>
              <a:chOff x="9188884" y="192031"/>
              <a:chExt cx="234113" cy="234112"/>
            </a:xfrm>
          </p:grpSpPr>
          <p:sp>
            <p:nvSpPr>
              <p:cNvPr id="171" name="struct.legend.3.disc.fill"/>
              <p:cNvSpPr/>
              <p:nvPr/>
            </p:nvSpPr>
            <p:spPr>
              <a:xfrm>
                <a:off x="9188884" y="192031"/>
                <a:ext cx="234113" cy="23411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2" name="struct.legend.4.disc"/>
            <p:cNvGrpSpPr/>
            <p:nvPr/>
          </p:nvGrpSpPr>
          <p:grpSpPr>
            <a:xfrm>
              <a:off x="9188831" y="488486"/>
              <a:ext cx="234112" cy="234112"/>
              <a:chOff x="9188831" y="488486"/>
              <a:chExt cx="234112" cy="234112"/>
            </a:xfrm>
          </p:grpSpPr>
          <p:sp>
            <p:nvSpPr>
              <p:cNvPr id="173" name="struct.legend.4.disc.fill"/>
              <p:cNvSpPr/>
              <p:nvPr/>
            </p:nvSpPr>
            <p:spPr>
              <a:xfrm>
                <a:off x="9188831" y="488486"/>
                <a:ext cx="234112" cy="23411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74" name="slot.legend.3.label"/>
            <p:cNvSpPr/>
            <p:nvPr/>
          </p:nvSpPr>
          <p:spPr>
            <a:xfrm>
              <a:off x="9470278" y="206446"/>
              <a:ext cx="615553" cy="1984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Insight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75" name="slot.legend.4.label"/>
            <p:cNvSpPr/>
            <p:nvPr/>
          </p:nvSpPr>
          <p:spPr>
            <a:xfrm>
              <a:off x="9470278" y="506347"/>
              <a:ext cx="615553" cy="1984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Data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76" name="struct.legend.3"/>
          <p:cNvGrpSpPr/>
          <p:nvPr/>
        </p:nvGrpSpPr>
        <p:grpSpPr>
          <a:xfrm>
            <a:off x="10111117" y="192031"/>
            <a:ext cx="582737" cy="530762"/>
            <a:chOff x="10111117" y="192031"/>
            <a:chExt cx="582737" cy="530762"/>
          </a:xfrm>
          <a:effectLst/>
        </p:grpSpPr>
        <p:grpSp>
          <p:nvGrpSpPr>
            <p:cNvPr id="177" name="struct.legend.5.disc"/>
            <p:cNvGrpSpPr/>
            <p:nvPr/>
          </p:nvGrpSpPr>
          <p:grpSpPr>
            <a:xfrm>
              <a:off x="10111257" y="192031"/>
              <a:ext cx="234112" cy="234112"/>
              <a:chOff x="10111257" y="192031"/>
              <a:chExt cx="234112" cy="234112"/>
            </a:xfrm>
          </p:grpSpPr>
          <p:sp>
            <p:nvSpPr>
              <p:cNvPr id="178" name="struct.legend.5.disc.fill"/>
              <p:cNvSpPr/>
              <p:nvPr/>
            </p:nvSpPr>
            <p:spPr>
              <a:xfrm>
                <a:off x="10111257" y="192031"/>
                <a:ext cx="234112" cy="23411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9" name="struct.legend.6.disc"/>
            <p:cNvGrpSpPr/>
            <p:nvPr/>
          </p:nvGrpSpPr>
          <p:grpSpPr>
            <a:xfrm>
              <a:off x="10111117" y="488556"/>
              <a:ext cx="234237" cy="234237"/>
              <a:chOff x="10111117" y="488556"/>
              <a:chExt cx="234237" cy="234237"/>
            </a:xfrm>
          </p:grpSpPr>
          <p:sp>
            <p:nvSpPr>
              <p:cNvPr id="180" name="struct.legend.6.disc.fill"/>
              <p:cNvSpPr/>
              <p:nvPr/>
            </p:nvSpPr>
            <p:spPr>
              <a:xfrm>
                <a:off x="10111117" y="488556"/>
                <a:ext cx="234237" cy="23423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1" name="slot.legend.5.label"/>
            <p:cNvSpPr/>
            <p:nvPr/>
          </p:nvSpPr>
          <p:spPr>
            <a:xfrm>
              <a:off x="10392661" y="206446"/>
              <a:ext cx="433834" cy="1984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Sales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82" name="slot.legend.6.label"/>
            <p:cNvSpPr/>
            <p:nvPr/>
          </p:nvSpPr>
          <p:spPr>
            <a:xfrm>
              <a:off x="10392661" y="506347"/>
              <a:ext cx="433834" cy="1984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Care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183" name="struct.legend.4"/>
          <p:cNvGrpSpPr/>
          <p:nvPr/>
        </p:nvGrpSpPr>
        <p:grpSpPr>
          <a:xfrm>
            <a:off x="10858358" y="192031"/>
            <a:ext cx="935418" cy="530567"/>
            <a:chOff x="10858358" y="192031"/>
            <a:chExt cx="935418" cy="530567"/>
          </a:xfrm>
          <a:effectLst/>
        </p:grpSpPr>
        <p:grpSp>
          <p:nvGrpSpPr>
            <p:cNvPr id="184" name="struct.legend.7.disc"/>
            <p:cNvGrpSpPr/>
            <p:nvPr/>
          </p:nvGrpSpPr>
          <p:grpSpPr>
            <a:xfrm>
              <a:off x="10858379" y="192031"/>
              <a:ext cx="234113" cy="234112"/>
              <a:chOff x="10858379" y="192031"/>
              <a:chExt cx="234113" cy="234112"/>
            </a:xfrm>
          </p:grpSpPr>
          <p:sp>
            <p:nvSpPr>
              <p:cNvPr id="185" name="struct.legend.7.disc.fill"/>
              <p:cNvSpPr/>
              <p:nvPr/>
            </p:nvSpPr>
            <p:spPr>
              <a:xfrm>
                <a:off x="10858379" y="192031"/>
                <a:ext cx="234113" cy="23411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6" name="struct.legend.8.disc"/>
            <p:cNvGrpSpPr/>
            <p:nvPr/>
          </p:nvGrpSpPr>
          <p:grpSpPr>
            <a:xfrm>
              <a:off x="10858358" y="488486"/>
              <a:ext cx="234111" cy="234112"/>
              <a:chOff x="10858358" y="488486"/>
              <a:chExt cx="234111" cy="234112"/>
            </a:xfrm>
          </p:grpSpPr>
          <p:sp>
            <p:nvSpPr>
              <p:cNvPr id="187" name="struct.legend.8.disc.fill"/>
              <p:cNvSpPr/>
              <p:nvPr/>
            </p:nvSpPr>
            <p:spPr>
              <a:xfrm>
                <a:off x="10858358" y="488486"/>
                <a:ext cx="234111" cy="23411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90000"/>
                      <a:lumOff val="10000"/>
                    </a:schemeClr>
                  </a:buClr>
                  <a:buSzPts val="933"/>
                  <a:buFont typeface="Arial"/>
                  <a:buNone/>
                </a:pPr>
                <a:r>
                  <a:rPr sz="1400"/>
                  <a:t/>
                </a:r>
                <a:endParaRPr b="0" i="0" sz="933" u="none" cap="none" strike="noStrike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8" name="slot.legend.7.label"/>
            <p:cNvSpPr/>
            <p:nvPr/>
          </p:nvSpPr>
          <p:spPr>
            <a:xfrm>
              <a:off x="11139792" y="206446"/>
              <a:ext cx="838848" cy="1984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Pricing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89" name="slot.legend.8.label"/>
            <p:cNvSpPr/>
            <p:nvPr/>
          </p:nvSpPr>
          <p:spPr>
            <a:xfrm>
              <a:off x="11139792" y="506347"/>
              <a:ext cx="838848" cy="1984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 rtlCol="0">
              <a:noAutofit/>
            </a:bodyPr>
            <a:lstStyle/>
            <a:p>
              <a:pPr marL="0" indent="0" lv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kern="0" dirty="0">
                  <a:solidFill>
                    <a:schemeClr val="tx1">
                      <a:lumMod val="80000"/>
                      <a:lumOff val="20000"/>
                    </a:schemeClr>
                  </a:solidFill>
                  <a:latin typeface="Arial"/>
                  <a:ea typeface="Arial"/>
                  <a:cs typeface="Arial"/>
                </a:rPr>
                <a:t>Risk</a:t>
              </a:r>
              <a:endPara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90" name="slot.callout"/>
          <p:cNvSpPr/>
          <p:nvPr/>
        </p:nvSpPr>
        <p:spPr>
          <a:xfrm>
            <a:off x="5248656" y="5084064"/>
            <a:ext cx="2450592" cy="384048"/>
          </a:xfrm>
          <a:prstGeom prst="rect">
            <a:avLst/>
          </a:prstGeom>
          <a:solidFill>
            <a:schemeClr val="bg1">
              <a:lumMod val="95000"/>
            </a:schemeClr>
          </a:solidFill>
          <a:ln cap="flat" cmpd="sng" w="9525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7432" lIns="73152" spcFirstLastPara="1" rIns="73152" wrap="square" tIns="27432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30 people serve eight areas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slot.title"/>
          <p:cNvSpPr txBox="1"/>
          <p:nvPr/>
        </p:nvSpPr>
        <p:spPr>
          <a:xfrm>
            <a:off x="274320" y="128016"/>
            <a:ext cx="7040880" cy="76809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One AI team scales from a pilot to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every area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slot.card.1.icon"/>
          <p:cNvSpPr/>
          <p:nvPr/>
        </p:nvSpPr>
        <p:spPr>
          <a:xfrm>
            <a:off x="1504188" y="1101771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93" name="slot.card.1.area.1"/>
          <p:cNvSpPr/>
          <p:nvPr/>
        </p:nvSpPr>
        <p:spPr>
          <a:xfrm>
            <a:off x="1622997" y="1471889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4" name="slot.card.2.icon"/>
          <p:cNvSpPr/>
          <p:nvPr/>
        </p:nvSpPr>
        <p:spPr>
          <a:xfrm>
            <a:off x="1908353" y="2468589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95" name="slot.card.2.area.1"/>
          <p:cNvSpPr/>
          <p:nvPr/>
        </p:nvSpPr>
        <p:spPr>
          <a:xfrm>
            <a:off x="2027322" y="2838707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6" name="slot.card.3.icon"/>
          <p:cNvSpPr/>
          <p:nvPr/>
        </p:nvSpPr>
        <p:spPr>
          <a:xfrm>
            <a:off x="4705502" y="1100023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197" name="slot.card.3.area.1"/>
          <p:cNvSpPr/>
          <p:nvPr/>
        </p:nvSpPr>
        <p:spPr>
          <a:xfrm>
            <a:off x="4821495" y="1564752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8" name="slot.card.3.area.2"/>
          <p:cNvSpPr/>
          <p:nvPr/>
        </p:nvSpPr>
        <p:spPr>
          <a:xfrm>
            <a:off x="5161236" y="1564752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199" name="slot.card.3.area.3"/>
          <p:cNvSpPr/>
          <p:nvPr/>
        </p:nvSpPr>
        <p:spPr>
          <a:xfrm>
            <a:off x="5500976" y="1564752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0" name="slot.card.3.star.1"/>
          <p:cNvSpPr/>
          <p:nvPr/>
        </p:nvSpPr>
        <p:spPr>
          <a:xfrm>
            <a:off x="7628839" y="1133963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01" name="slot.card.3.star.2"/>
          <p:cNvSpPr/>
          <p:nvPr/>
        </p:nvSpPr>
        <p:spPr>
          <a:xfrm>
            <a:off x="7628839" y="136876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02" name="slot.card.3.star.3"/>
          <p:cNvSpPr/>
          <p:nvPr/>
        </p:nvSpPr>
        <p:spPr>
          <a:xfrm>
            <a:off x="7628839" y="1603573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03" name="slot.card.3.star.4"/>
          <p:cNvSpPr/>
          <p:nvPr/>
        </p:nvSpPr>
        <p:spPr>
          <a:xfrm>
            <a:off x="7628839" y="183837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04" name="slot.card.3.star.5"/>
          <p:cNvSpPr/>
          <p:nvPr/>
        </p:nvSpPr>
        <p:spPr>
          <a:xfrm>
            <a:off x="7628839" y="2073183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05" name="slot.card.4.icon"/>
          <p:cNvSpPr/>
          <p:nvPr/>
        </p:nvSpPr>
        <p:spPr>
          <a:xfrm>
            <a:off x="8697773" y="113294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206" name="slot.card.4.area.1"/>
          <p:cNvSpPr/>
          <p:nvPr/>
        </p:nvSpPr>
        <p:spPr>
          <a:xfrm>
            <a:off x="8813631" y="1598306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7" name="slot.card.4.area.2"/>
          <p:cNvSpPr/>
          <p:nvPr/>
        </p:nvSpPr>
        <p:spPr>
          <a:xfrm>
            <a:off x="9153372" y="1598306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8" name="slot.card.4.area.3"/>
          <p:cNvSpPr/>
          <p:nvPr/>
        </p:nvSpPr>
        <p:spPr>
          <a:xfrm>
            <a:off x="9493112" y="1598306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09" name="slot.card.4.area.4"/>
          <p:cNvSpPr/>
          <p:nvPr/>
        </p:nvSpPr>
        <p:spPr>
          <a:xfrm>
            <a:off x="8813667" y="1903934"/>
            <a:ext cx="153498" cy="15349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0" name="slot.card.5.icon"/>
          <p:cNvSpPr/>
          <p:nvPr/>
        </p:nvSpPr>
        <p:spPr>
          <a:xfrm>
            <a:off x="2631643" y="402244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211" name="slot.card.5.area.1"/>
          <p:cNvSpPr/>
          <p:nvPr/>
        </p:nvSpPr>
        <p:spPr>
          <a:xfrm>
            <a:off x="2753577" y="448357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2" name="slot.card.5.area.2"/>
          <p:cNvSpPr/>
          <p:nvPr/>
        </p:nvSpPr>
        <p:spPr>
          <a:xfrm>
            <a:off x="3093274" y="448357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3" name="slot.card.5.area.3"/>
          <p:cNvSpPr/>
          <p:nvPr/>
        </p:nvSpPr>
        <p:spPr>
          <a:xfrm>
            <a:off x="3432973" y="448357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4" name="slot.card.5.area.4"/>
          <p:cNvSpPr/>
          <p:nvPr/>
        </p:nvSpPr>
        <p:spPr>
          <a:xfrm>
            <a:off x="2753511" y="478919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5" name="slot.card.5.area.5"/>
          <p:cNvSpPr/>
          <p:nvPr/>
        </p:nvSpPr>
        <p:spPr>
          <a:xfrm>
            <a:off x="3093210" y="478919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6" name="slot.card.5.area.6"/>
          <p:cNvSpPr/>
          <p:nvPr/>
        </p:nvSpPr>
        <p:spPr>
          <a:xfrm>
            <a:off x="3432887" y="4789196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17" name="slot.card.5.area.7"/>
          <p:cNvSpPr/>
          <p:nvPr/>
        </p:nvSpPr>
        <p:spPr>
          <a:xfrm>
            <a:off x="2753264" y="5099601"/>
            <a:ext cx="153581" cy="153581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127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218" name="slot.card.5.star.1"/>
          <p:cNvSpPr/>
          <p:nvPr/>
        </p:nvSpPr>
        <p:spPr>
          <a:xfrm>
            <a:off x="2316175" y="4118593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19" name="slot.card.5.star.2"/>
          <p:cNvSpPr/>
          <p:nvPr/>
        </p:nvSpPr>
        <p:spPr>
          <a:xfrm>
            <a:off x="2316175" y="435339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20" name="slot.card.5.star.4"/>
          <p:cNvSpPr/>
          <p:nvPr/>
        </p:nvSpPr>
        <p:spPr>
          <a:xfrm>
            <a:off x="2316175" y="482300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21" name="slot.card.5.star.5"/>
          <p:cNvSpPr/>
          <p:nvPr/>
        </p:nvSpPr>
        <p:spPr>
          <a:xfrm>
            <a:off x="2316175" y="5057813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22" name="slot.card.5.star.9"/>
          <p:cNvSpPr/>
          <p:nvPr/>
        </p:nvSpPr>
        <p:spPr>
          <a:xfrm>
            <a:off x="2316175" y="599703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23" name="slot.card.6.icon"/>
          <p:cNvSpPr/>
          <p:nvPr/>
        </p:nvSpPr>
        <p:spPr>
          <a:xfrm>
            <a:off x="8697773" y="335219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30480" cap="rnd">
            <a:solidFill>
              <a:schemeClr val="tx1">
                <a:lumMod val="75000"/>
                <a:lumOff val="25000"/>
              </a:schemeClr>
            </a:solidFill>
            <a:round/>
          </a:ln>
          <a:effectLst/>
        </p:spPr>
      </p:sp>
      <p:sp>
        <p:nvSpPr>
          <p:cNvPr id="224" name="slot.card.6.area.1"/>
          <p:cNvSpPr/>
          <p:nvPr/>
        </p:nvSpPr>
        <p:spPr>
          <a:xfrm>
            <a:off x="8813943" y="381725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25" name="slot.card.6.area.2"/>
          <p:cNvSpPr/>
          <p:nvPr/>
        </p:nvSpPr>
        <p:spPr>
          <a:xfrm>
            <a:off x="9153643" y="381725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26" name="slot.card.6.area.3"/>
          <p:cNvSpPr/>
          <p:nvPr/>
        </p:nvSpPr>
        <p:spPr>
          <a:xfrm>
            <a:off x="9493341" y="381725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27" name="slot.card.6.area.4"/>
          <p:cNvSpPr/>
          <p:nvPr/>
        </p:nvSpPr>
        <p:spPr>
          <a:xfrm>
            <a:off x="8813879" y="412287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28" name="slot.card.6.area.5"/>
          <p:cNvSpPr/>
          <p:nvPr/>
        </p:nvSpPr>
        <p:spPr>
          <a:xfrm>
            <a:off x="9153579" y="412287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29" name="slot.card.6.area.6"/>
          <p:cNvSpPr/>
          <p:nvPr/>
        </p:nvSpPr>
        <p:spPr>
          <a:xfrm>
            <a:off x="9493254" y="4122870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30" name="slot.card.6.area.7"/>
          <p:cNvSpPr/>
          <p:nvPr/>
        </p:nvSpPr>
        <p:spPr>
          <a:xfrm>
            <a:off x="8813631" y="4432059"/>
            <a:ext cx="153581" cy="153581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1270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231" name="slot.card.6.area.8"/>
          <p:cNvSpPr/>
          <p:nvPr/>
        </p:nvSpPr>
        <p:spPr>
          <a:xfrm>
            <a:off x="9153556" y="4432061"/>
            <a:ext cx="153505" cy="153505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12700" cap="rnd">
            <a:solidFill>
              <a:schemeClr val="bg1"/>
            </a:solidFill>
            <a:round/>
          </a:ln>
          <a:effectLst/>
        </p:spPr>
      </p:sp>
      <p:sp>
        <p:nvSpPr>
          <p:cNvPr id="232" name="slot.card.6.star.1"/>
          <p:cNvSpPr/>
          <p:nvPr/>
        </p:nvSpPr>
        <p:spPr>
          <a:xfrm>
            <a:off x="11621110" y="3386509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3" name="slot.card.6.star.2"/>
          <p:cNvSpPr/>
          <p:nvPr/>
        </p:nvSpPr>
        <p:spPr>
          <a:xfrm>
            <a:off x="11621110" y="362131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4" name="slot.card.6.star.3"/>
          <p:cNvSpPr/>
          <p:nvPr/>
        </p:nvSpPr>
        <p:spPr>
          <a:xfrm>
            <a:off x="11621110" y="3856119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5" name="slot.card.6.star.4"/>
          <p:cNvSpPr/>
          <p:nvPr/>
        </p:nvSpPr>
        <p:spPr>
          <a:xfrm>
            <a:off x="11621110" y="409092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6" name="slot.card.6.star.5"/>
          <p:cNvSpPr/>
          <p:nvPr/>
        </p:nvSpPr>
        <p:spPr>
          <a:xfrm>
            <a:off x="11621110" y="4325729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7" name="slot.card.6.star.9"/>
          <p:cNvSpPr/>
          <p:nvPr/>
        </p:nvSpPr>
        <p:spPr>
          <a:xfrm>
            <a:off x="11621110" y="5264950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8" name="slot.key.icon"/>
          <p:cNvSpPr/>
          <p:nvPr/>
        </p:nvSpPr>
        <p:spPr>
          <a:xfrm>
            <a:off x="5098694" y="6388913"/>
            <a:ext cx="185623" cy="185623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17" y="2814"/>
                </a:moveTo>
                <a:cubicBezTo>
                  <a:pt x="11105" y="2341"/>
                  <a:pt x="11519" y="1998"/>
                  <a:pt x="12000" y="1998"/>
                </a:cubicBezTo>
                <a:cubicBezTo>
                  <a:pt x="12481" y="1998"/>
                  <a:pt x="12895" y="2341"/>
                  <a:pt x="12983" y="2814"/>
                </a:cubicBezTo>
                <a:lnTo>
                  <a:pt x="14034" y="8372"/>
                </a:lnTo>
                <a:cubicBezTo>
                  <a:pt x="14187" y="9181"/>
                  <a:pt x="14819" y="9813"/>
                  <a:pt x="15628" y="9966"/>
                </a:cubicBezTo>
                <a:lnTo>
                  <a:pt x="21186" y="11017"/>
                </a:lnTo>
                <a:cubicBezTo>
                  <a:pt x="21659" y="11105"/>
                  <a:pt x="22002" y="11519"/>
                  <a:pt x="22002" y="12000"/>
                </a:cubicBezTo>
                <a:cubicBezTo>
                  <a:pt x="22002" y="12481"/>
                  <a:pt x="21659" y="12895"/>
                  <a:pt x="21186" y="12983"/>
                </a:cubicBezTo>
                <a:lnTo>
                  <a:pt x="15628" y="14034"/>
                </a:lnTo>
                <a:cubicBezTo>
                  <a:pt x="14819" y="14187"/>
                  <a:pt x="14187" y="14819"/>
                  <a:pt x="14034" y="15628"/>
                </a:cubicBezTo>
                <a:lnTo>
                  <a:pt x="12983" y="21186"/>
                </a:lnTo>
                <a:cubicBezTo>
                  <a:pt x="12895" y="21659"/>
                  <a:pt x="12481" y="22002"/>
                  <a:pt x="12000" y="22002"/>
                </a:cubicBezTo>
                <a:cubicBezTo>
                  <a:pt x="11519" y="22002"/>
                  <a:pt x="11105" y="21659"/>
                  <a:pt x="11017" y="21186"/>
                </a:cubicBezTo>
                <a:lnTo>
                  <a:pt x="9966" y="15628"/>
                </a:lnTo>
                <a:cubicBezTo>
                  <a:pt x="9813" y="14819"/>
                  <a:pt x="9181" y="14187"/>
                  <a:pt x="8372" y="14034"/>
                </a:cubicBezTo>
                <a:lnTo>
                  <a:pt x="2814" y="12983"/>
                </a:lnTo>
                <a:cubicBezTo>
                  <a:pt x="2341" y="12895"/>
                  <a:pt x="1998" y="12481"/>
                  <a:pt x="1998" y="12000"/>
                </a:cubicBezTo>
                <a:cubicBezTo>
                  <a:pt x="1998" y="11519"/>
                  <a:pt x="2341" y="11105"/>
                  <a:pt x="2814" y="11017"/>
                </a:cubicBezTo>
                <a:lnTo>
                  <a:pt x="8372" y="9966"/>
                </a:lnTo>
                <a:cubicBezTo>
                  <a:pt x="9181" y="9813"/>
                  <a:pt x="9813" y="9181"/>
                  <a:pt x="9966" y="8372"/>
                </a:cubicBezTo>
                <a:close/>
                <a:moveTo>
                  <a:pt x="20000" y="2000"/>
                </a:moveTo>
                <a:lnTo>
                  <a:pt x="20000" y="6000"/>
                </a:lnTo>
                <a:moveTo>
                  <a:pt x="22000" y="4000"/>
                </a:moveTo>
                <a:lnTo>
                  <a:pt x="18000" y="4000"/>
                </a:lnTo>
                <a:moveTo>
                  <a:pt x="6000" y="20000"/>
                </a:moveTo>
                <a:cubicBezTo>
                  <a:pt x="6000" y="21105"/>
                  <a:pt x="5105" y="22000"/>
                  <a:pt x="4000" y="22000"/>
                </a:cubicBezTo>
                <a:cubicBezTo>
                  <a:pt x="2895" y="22000"/>
                  <a:pt x="2000" y="21105"/>
                  <a:pt x="2000" y="20000"/>
                </a:cubicBezTo>
                <a:cubicBezTo>
                  <a:pt x="2000" y="18895"/>
                  <a:pt x="2895" y="18000"/>
                  <a:pt x="4000" y="18000"/>
                </a:cubicBezTo>
                <a:cubicBezTo>
                  <a:pt x="5105" y="18000"/>
                  <a:pt x="6000" y="18895"/>
                  <a:pt x="6000" y="20000"/>
                </a:cubicBezTo>
                <a:close/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239" name="slot.legend.1.icon"/>
          <p:cNvSpPr/>
          <p:nvPr/>
        </p:nvSpPr>
        <p:spPr>
          <a:xfrm>
            <a:off x="8259847" y="235419"/>
            <a:ext cx="140542" cy="14054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0" name="slot.legend.2.icon"/>
          <p:cNvSpPr/>
          <p:nvPr/>
        </p:nvSpPr>
        <p:spPr>
          <a:xfrm>
            <a:off x="8259863" y="535309"/>
            <a:ext cx="140467" cy="14046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1" name="slot.legend.3.icon"/>
          <p:cNvSpPr/>
          <p:nvPr/>
        </p:nvSpPr>
        <p:spPr>
          <a:xfrm>
            <a:off x="9235707" y="238854"/>
            <a:ext cx="140468" cy="1404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2" name="slot.legend.4.icon"/>
          <p:cNvSpPr/>
          <p:nvPr/>
        </p:nvSpPr>
        <p:spPr>
          <a:xfrm>
            <a:off x="9235653" y="535308"/>
            <a:ext cx="140467" cy="14046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3" name="slot.legend.5.icon"/>
          <p:cNvSpPr/>
          <p:nvPr/>
        </p:nvSpPr>
        <p:spPr>
          <a:xfrm>
            <a:off x="10158079" y="238853"/>
            <a:ext cx="140467" cy="14046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4" name="slot.legend.6.icon"/>
          <p:cNvSpPr/>
          <p:nvPr/>
        </p:nvSpPr>
        <p:spPr>
          <a:xfrm>
            <a:off x="10157964" y="535403"/>
            <a:ext cx="140542" cy="14054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11430" cap="rnd">
            <a:solidFill>
              <a:schemeClr val="tx1">
                <a:lumMod val="90000"/>
                <a:lumOff val="10000"/>
              </a:schemeClr>
            </a:solidFill>
            <a:round/>
          </a:ln>
          <a:effectLst/>
        </p:spPr>
      </p:sp>
      <p:sp>
        <p:nvSpPr>
          <p:cNvPr id="245" name="slot.legend.7.icon"/>
          <p:cNvSpPr/>
          <p:nvPr/>
        </p:nvSpPr>
        <p:spPr>
          <a:xfrm>
            <a:off x="10905202" y="238854"/>
            <a:ext cx="140468" cy="14046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  <p:sp>
        <p:nvSpPr>
          <p:cNvPr id="246" name="slot.legend.8.icon"/>
          <p:cNvSpPr/>
          <p:nvPr/>
        </p:nvSpPr>
        <p:spPr>
          <a:xfrm>
            <a:off x="10905180" y="535308"/>
            <a:ext cx="140467" cy="140467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11430" cap="rnd">
            <a:solidFill>
              <a:schemeClr val="bg1"/>
            </a:solidFill>
            <a:round/>
          </a:ln>
          <a:effectLst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hub-and-spoke:half-wheel-layered-base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438912" y="329184"/>
            <a:ext cx="11338560" cy="502920"/>
          </a:xfrm>
          <a:prstGeom prst="rect">
            <a:avLst/>
          </a:prstGeom>
          <a:effectLst/>
        </p:spPr>
        <p:txBody>
          <a:bodyPr anchorCtr="0" anchor="ctr" bIns="45700" lIns="91425" spcFirstLastPara="1" rIns="91425" wrap="square" tIns="457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governed data core</a:t>
            </a:r>
            <a:r>
              <a:rPr lang="en-US" sz="24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now serves all five planning teams</a:t>
            </a:r>
            <a:endParaRPr lang="en-US" sz="24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fan"/>
          <p:cNvSpPr/>
          <p:nvPr/>
        </p:nvSpPr>
        <p:spPr>
          <a:xfrm>
            <a:off x="1805939" y="1161288"/>
            <a:ext cx="8540496" cy="2450592"/>
          </a:xfrm>
          <a:custGeom>
            <a:avLst/>
            <a:gdLst/>
            <a:ahLst/>
            <a:cxnLst/>
            <a:rect l="l" t="t" r="r" b="b"/>
            <a:pathLst>
              <a:path w="8540496" h="2450592">
                <a:moveTo>
                  <a:pt x="0" y="2450592"/>
                </a:moveTo>
                <a:arcTo wR="4270248" hR="2450592" stAng="10800000" swAng="10800000"/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1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struct.ring.outer"/>
          <p:cNvSpPr/>
          <p:nvPr/>
        </p:nvSpPr>
        <p:spPr>
          <a:xfrm>
            <a:off x="4658868" y="2194560"/>
            <a:ext cx="2834640" cy="1417320"/>
          </a:xfrm>
          <a:custGeom>
            <a:avLst/>
            <a:gdLst/>
            <a:ahLst/>
            <a:cxnLst/>
            <a:rect l="l" t="t" r="r" b="b"/>
            <a:pathLst>
              <a:path w="2834640" h="1417320">
                <a:moveTo>
                  <a:pt x="0" y="1417320"/>
                </a:moveTo>
                <a:arcTo wR="1417320" hR="1417320" stAng="10800000" swAng="10800000"/>
                <a:lnTo>
                  <a:pt x="2514600" y="1417320"/>
                </a:lnTo>
                <a:arcTo wR="1097280" hR="1097280" stAng="0" swAng="-10800000"/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3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truct.base.1"/>
          <p:cNvSpPr/>
          <p:nvPr/>
        </p:nvSpPr>
        <p:spPr>
          <a:xfrm>
            <a:off x="1700784" y="5358384"/>
            <a:ext cx="4197096" cy="932688"/>
          </a:xfrm>
          <a:prstGeom prst="roundRect">
            <a:avLst>
              <a:gd fmla="val 16667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1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struct.base.2"/>
          <p:cNvSpPr/>
          <p:nvPr/>
        </p:nvSpPr>
        <p:spPr>
          <a:xfrm>
            <a:off x="6236208" y="5358384"/>
            <a:ext cx="4197096" cy="932688"/>
          </a:xfrm>
          <a:prstGeom prst="roundRect">
            <a:avLst>
              <a:gd fmla="val 16667" name="adj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1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truct.ring.inner"/>
          <p:cNvSpPr/>
          <p:nvPr/>
        </p:nvSpPr>
        <p:spPr>
          <a:xfrm>
            <a:off x="4978907" y="2514600"/>
            <a:ext cx="2194560" cy="1097280"/>
          </a:xfrm>
          <a:custGeom>
            <a:avLst/>
            <a:gdLst/>
            <a:ahLst/>
            <a:cxnLst/>
            <a:rect l="l" t="t" r="r" b="b"/>
            <a:pathLst>
              <a:path w="2194560" h="1097280">
                <a:moveTo>
                  <a:pt x="0" y="1097280"/>
                </a:moveTo>
                <a:arcTo wR="1097280" hR="1097280" stAng="10800000" swAng="10800000"/>
                <a:lnTo>
                  <a:pt x="1993393" y="1097280"/>
                </a:lnTo>
                <a:arcTo wR="896113" hR="896113" stAng="0" swAng="-10800000"/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1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struct.hub"/>
          <p:cNvSpPr/>
          <p:nvPr/>
        </p:nvSpPr>
        <p:spPr>
          <a:xfrm>
            <a:off x="5180075" y="2715768"/>
            <a:ext cx="1792224" cy="896112"/>
          </a:xfrm>
          <a:custGeom>
            <a:avLst/>
            <a:gdLst/>
            <a:ahLst/>
            <a:cxnLst/>
            <a:rect l="l" t="t" r="r" b="b"/>
            <a:pathLst>
              <a:path w="1792224" h="896112">
                <a:moveTo>
                  <a:pt x="0" y="896112"/>
                </a:moveTo>
                <a:arcTo wR="896112" hR="896112" stAng="10800000" swAng="10800000"/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anchorCtr="0" anchor="ctr" bIns="40775" lIns="81600" spcFirstLastPara="1" rIns="81600" wrap="square" tIns="40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/>
            </a:r>
            <a:endParaRPr b="0" i="0" sz="11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slot.hub"/>
          <p:cNvSpPr txBox="1"/>
          <p:nvPr/>
        </p:nvSpPr>
        <p:spPr>
          <a:xfrm>
            <a:off x="5390388" y="2971800"/>
            <a:ext cx="137160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b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Shared data core</a:t>
            </a:r>
            <a:endParaRPr lang="en-US" sz="16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" name="struct.spoke.1"/>
          <p:cNvCxnSpPr/>
          <p:nvPr/>
        </p:nvCxnSpPr>
        <p:spPr>
          <a:xfrm flipH="1" flipV="1">
            <a:off x="2621485" y="2171458"/>
            <a:ext cx="2146537" cy="894988"/>
          </a:xfrm>
          <a:prstGeom prst="line">
            <a:avLst/>
          </a:prstGeom>
          <a:ln w="63500">
            <a:solidFill>
              <a:schemeClr val="bg1">
                <a:lumMod val="75000"/>
              </a:schemeClr>
            </a:solidFill>
          </a:ln>
          <a:effectLst/>
        </p:spPr>
      </p:cxnSp>
      <p:cxnSp>
        <p:nvCxnSpPr>
          <p:cNvPr id="11" name="struct.spoke.2"/>
          <p:cNvCxnSpPr/>
          <p:nvPr/>
        </p:nvCxnSpPr>
        <p:spPr>
          <a:xfrm flipH="1" flipV="1">
            <a:off x="4756609" y="1281229"/>
            <a:ext cx="621272" cy="1097296"/>
          </a:xfrm>
          <a:prstGeom prst="line">
            <a:avLst/>
          </a:prstGeom>
          <a:ln w="63500">
            <a:solidFill>
              <a:schemeClr val="bg1">
                <a:lumMod val="75000"/>
              </a:schemeClr>
            </a:solidFill>
          </a:ln>
          <a:effectLst/>
        </p:spPr>
      </p:cxnSp>
      <p:cxnSp>
        <p:nvCxnSpPr>
          <p:cNvPr id="12" name="struct.spoke.3"/>
          <p:cNvCxnSpPr/>
          <p:nvPr/>
        </p:nvCxnSpPr>
        <p:spPr>
          <a:xfrm flipV="1">
            <a:off x="6774495" y="1281229"/>
            <a:ext cx="621272" cy="1097296"/>
          </a:xfrm>
          <a:prstGeom prst="line">
            <a:avLst/>
          </a:prstGeom>
          <a:ln w="63500">
            <a:solidFill>
              <a:schemeClr val="bg1">
                <a:lumMod val="75000"/>
              </a:schemeClr>
            </a:solidFill>
          </a:ln>
          <a:effectLst/>
        </p:spPr>
      </p:cxnSp>
      <p:cxnSp>
        <p:nvCxnSpPr>
          <p:cNvPr id="13" name="struct.spoke.4"/>
          <p:cNvCxnSpPr/>
          <p:nvPr/>
        </p:nvCxnSpPr>
        <p:spPr>
          <a:xfrm flipV="1">
            <a:off x="7384354" y="2171458"/>
            <a:ext cx="2146537" cy="894988"/>
          </a:xfrm>
          <a:prstGeom prst="line">
            <a:avLst/>
          </a:prstGeom>
          <a:ln w="63500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14" name="slot.sector.1.icon"/>
          <p:cNvSpPr/>
          <p:nvPr/>
        </p:nvSpPr>
        <p:spPr>
          <a:xfrm>
            <a:off x="3059579" y="2716028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15" name="slot.sector.1.label"/>
          <p:cNvSpPr txBox="1"/>
          <p:nvPr/>
        </p:nvSpPr>
        <p:spPr>
          <a:xfrm>
            <a:off x="2666387" y="3109220"/>
            <a:ext cx="113385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Demand planning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lot.sector.2.icon"/>
          <p:cNvSpPr/>
          <p:nvPr/>
        </p:nvSpPr>
        <p:spPr>
          <a:xfrm>
            <a:off x="3894461" y="166006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586" y="2586"/>
                </a:moveTo>
                <a:cubicBezTo>
                  <a:pt x="12211" y="2211"/>
                  <a:pt x="11702" y="2000"/>
                  <a:pt x="11172" y="2000"/>
                </a:cubicBezTo>
                <a:lnTo>
                  <a:pt x="4000" y="2000"/>
                </a:lnTo>
                <a:cubicBezTo>
                  <a:pt x="2895" y="2000"/>
                  <a:pt x="2000" y="2895"/>
                  <a:pt x="2000" y="4000"/>
                </a:cubicBezTo>
                <a:lnTo>
                  <a:pt x="2000" y="11172"/>
                </a:lnTo>
                <a:cubicBezTo>
                  <a:pt x="2000" y="11702"/>
                  <a:pt x="2211" y="12211"/>
                  <a:pt x="2586" y="12586"/>
                </a:cubicBezTo>
                <a:lnTo>
                  <a:pt x="11290" y="21290"/>
                </a:lnTo>
                <a:cubicBezTo>
                  <a:pt x="12236" y="22230"/>
                  <a:pt x="13764" y="22230"/>
                  <a:pt x="14710" y="21290"/>
                </a:cubicBezTo>
                <a:lnTo>
                  <a:pt x="21290" y="14710"/>
                </a:lnTo>
                <a:cubicBezTo>
                  <a:pt x="22230" y="13764"/>
                  <a:pt x="22230" y="12236"/>
                  <a:pt x="21290" y="11290"/>
                </a:cubicBezTo>
                <a:close/>
              </a:path>
              <a:path w="24000" h="24000">
                <a:moveTo>
                  <a:pt x="8000" y="7500"/>
                </a:moveTo>
                <a:cubicBezTo>
                  <a:pt x="8000" y="7776"/>
                  <a:pt x="7776" y="8000"/>
                  <a:pt x="7500" y="8000"/>
                </a:cubicBezTo>
                <a:cubicBezTo>
                  <a:pt x="7224" y="8000"/>
                  <a:pt x="7000" y="7776"/>
                  <a:pt x="7000" y="7500"/>
                </a:cubicBezTo>
                <a:cubicBezTo>
                  <a:pt x="7000" y="7224"/>
                  <a:pt x="7224" y="7000"/>
                  <a:pt x="7500" y="7000"/>
                </a:cubicBezTo>
                <a:cubicBezTo>
                  <a:pt x="7776" y="7000"/>
                  <a:pt x="8000" y="7224"/>
                  <a:pt x="8000" y="7500"/>
                </a:cubicBezTo>
                <a:close/>
              </a:path>
            </a:pathLst>
          </a:custGeom>
          <a:solidFill>
            <a:schemeClr val="accent1"/>
          </a:solidFill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17" name="slot.sector.2.label"/>
          <p:cNvSpPr txBox="1"/>
          <p:nvPr/>
        </p:nvSpPr>
        <p:spPr>
          <a:xfrm>
            <a:off x="3501269" y="2053256"/>
            <a:ext cx="113385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Pricing analytics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lot.sector.3.icon"/>
          <p:cNvSpPr/>
          <p:nvPr/>
        </p:nvSpPr>
        <p:spPr>
          <a:xfrm>
            <a:off x="5902452" y="1334658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19" name="slot.sector.3.label"/>
          <p:cNvSpPr txBox="1"/>
          <p:nvPr/>
        </p:nvSpPr>
        <p:spPr>
          <a:xfrm>
            <a:off x="5509260" y="1727850"/>
            <a:ext cx="113385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Supply planning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sector.4.icon"/>
          <p:cNvSpPr/>
          <p:nvPr/>
        </p:nvSpPr>
        <p:spPr>
          <a:xfrm>
            <a:off x="7910443" y="1660064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  <a:moveTo>
                  <a:pt x="8000" y="6000"/>
                </a:moveTo>
                <a:lnTo>
                  <a:pt x="16000" y="6000"/>
                </a:lnTo>
                <a:moveTo>
                  <a:pt x="16000" y="14000"/>
                </a:moveTo>
                <a:lnTo>
                  <a:pt x="16000" y="18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2000" y="10000"/>
                </a:moveTo>
                <a:lnTo>
                  <a:pt x="12010" y="10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12000" y="18000"/>
                </a:moveTo>
                <a:lnTo>
                  <a:pt x="12010" y="18000"/>
                </a:lnTo>
                <a:moveTo>
                  <a:pt x="8000" y="18000"/>
                </a:moveTo>
                <a:lnTo>
                  <a:pt x="8010" y="18000"/>
                </a:lnTo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21" name="slot.sector.4.label"/>
          <p:cNvSpPr txBox="1"/>
          <p:nvPr/>
        </p:nvSpPr>
        <p:spPr>
          <a:xfrm>
            <a:off x="7517251" y="2053256"/>
            <a:ext cx="113385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Finance reporting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sector.5.icon"/>
          <p:cNvSpPr/>
          <p:nvPr/>
        </p:nvSpPr>
        <p:spPr>
          <a:xfrm>
            <a:off x="8745325" y="2716028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9210" cap="rnd">
            <a:solidFill>
              <a:schemeClr val="accent1"/>
            </a:solidFill>
            <a:round/>
          </a:ln>
          <a:effectLst/>
        </p:spPr>
      </p:sp>
      <p:sp>
        <p:nvSpPr>
          <p:cNvPr id="23" name="slot.sector.5.label"/>
          <p:cNvSpPr txBox="1"/>
          <p:nvPr/>
        </p:nvSpPr>
        <p:spPr>
          <a:xfrm>
            <a:off x="8352133" y="3109220"/>
            <a:ext cx="113385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Customer insight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struct.card.1.tab"/>
          <p:cNvSpPr/>
          <p:nvPr/>
        </p:nvSpPr>
        <p:spPr>
          <a:xfrm>
            <a:off x="1700784" y="3822192"/>
            <a:ext cx="365760" cy="987552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25" name="struct.card.1"/>
          <p:cNvSpPr/>
          <p:nvPr/>
        </p:nvSpPr>
        <p:spPr>
          <a:xfrm>
            <a:off x="2103120" y="3822192"/>
            <a:ext cx="3794760" cy="987552"/>
          </a:xfrm>
          <a:prstGeom prst="roundRect">
            <a:avLst>
              <a:gd name="adj" fmla="val 4629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26" name="slot.card.1.tab"/>
          <p:cNvSpPr/>
          <p:nvPr/>
        </p:nvSpPr>
        <p:spPr>
          <a:xfrm rot="-5400000">
            <a:off x="1453896" y="4178807"/>
            <a:ext cx="859536" cy="27432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Ingest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lot.card.1.item.1.icon"/>
          <p:cNvSpPr/>
          <p:nvPr/>
        </p:nvSpPr>
        <p:spPr>
          <a:xfrm>
            <a:off x="2476881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28" name="slot.card.1.item.1.label"/>
          <p:cNvSpPr txBox="1"/>
          <p:nvPr/>
        </p:nvSpPr>
        <p:spPr>
          <a:xfrm>
            <a:off x="2231136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Batch loads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lot.card.1.item.2.icon"/>
          <p:cNvSpPr/>
          <p:nvPr/>
        </p:nvSpPr>
        <p:spPr>
          <a:xfrm>
            <a:off x="3388995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30" name="slot.card.1.item.2.label"/>
          <p:cNvSpPr txBox="1"/>
          <p:nvPr/>
        </p:nvSpPr>
        <p:spPr>
          <a:xfrm>
            <a:off x="3143250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Event streams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1" name="struct.card.1.rule.1"/>
          <p:cNvCxnSpPr/>
          <p:nvPr/>
        </p:nvCxnSpPr>
        <p:spPr>
          <a:xfrm>
            <a:off x="3088386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32" name="slot.card.1.item.3.icon"/>
          <p:cNvSpPr/>
          <p:nvPr/>
        </p:nvSpPr>
        <p:spPr>
          <a:xfrm>
            <a:off x="4301109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33" name="slot.card.1.item.3.label"/>
          <p:cNvSpPr txBox="1"/>
          <p:nvPr/>
        </p:nvSpPr>
        <p:spPr>
          <a:xfrm>
            <a:off x="4055364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Quality checks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4" name="struct.card.1.rule.2"/>
          <p:cNvCxnSpPr/>
          <p:nvPr/>
        </p:nvCxnSpPr>
        <p:spPr>
          <a:xfrm>
            <a:off x="4000500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35" name="slot.card.1.item.4.icon"/>
          <p:cNvSpPr/>
          <p:nvPr/>
        </p:nvSpPr>
        <p:spPr>
          <a:xfrm>
            <a:off x="5213223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6000"/>
                </a:moveTo>
                <a:cubicBezTo>
                  <a:pt x="10029" y="6000"/>
                  <a:pt x="6000" y="10029"/>
                  <a:pt x="6000" y="15000"/>
                </a:cubicBezTo>
                <a:lnTo>
                  <a:pt x="6000" y="3000"/>
                </a:lnTo>
                <a:moveTo>
                  <a:pt x="21000" y="6000"/>
                </a:moveTo>
                <a:cubicBezTo>
                  <a:pt x="21000" y="7657"/>
                  <a:pt x="19657" y="9000"/>
                  <a:pt x="18000" y="9000"/>
                </a:cubicBezTo>
                <a:cubicBezTo>
                  <a:pt x="16343" y="9000"/>
                  <a:pt x="15000" y="7657"/>
                  <a:pt x="15000" y="6000"/>
                </a:cubicBezTo>
                <a:cubicBezTo>
                  <a:pt x="15000" y="4343"/>
                  <a:pt x="16343" y="3000"/>
                  <a:pt x="18000" y="3000"/>
                </a:cubicBezTo>
                <a:cubicBezTo>
                  <a:pt x="19657" y="3000"/>
                  <a:pt x="21000" y="4343"/>
                  <a:pt x="21000" y="6000"/>
                </a:cubicBezTo>
                <a:close/>
                <a:moveTo>
                  <a:pt x="9000" y="18000"/>
                </a:moveTo>
                <a:cubicBezTo>
                  <a:pt x="9000" y="19657"/>
                  <a:pt x="7657" y="21000"/>
                  <a:pt x="6000" y="21000"/>
                </a:cubicBezTo>
                <a:cubicBezTo>
                  <a:pt x="4343" y="21000"/>
                  <a:pt x="3000" y="19657"/>
                  <a:pt x="3000" y="18000"/>
                </a:cubicBezTo>
                <a:cubicBezTo>
                  <a:pt x="3000" y="16343"/>
                  <a:pt x="4343" y="15000"/>
                  <a:pt x="6000" y="15000"/>
                </a:cubicBezTo>
                <a:cubicBezTo>
                  <a:pt x="7657" y="15000"/>
                  <a:pt x="9000" y="16343"/>
                  <a:pt x="9000" y="18000"/>
                </a:cubicBezTo>
                <a:close/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36" name="slot.card.1.item.4.label"/>
          <p:cNvSpPr txBox="1"/>
          <p:nvPr/>
        </p:nvSpPr>
        <p:spPr>
          <a:xfrm>
            <a:off x="4967478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Lineage tracking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37" name="struct.card.1.rule.3"/>
          <p:cNvCxnSpPr/>
          <p:nvPr/>
        </p:nvCxnSpPr>
        <p:spPr>
          <a:xfrm>
            <a:off x="4912614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38" name="struct.card.2.tab"/>
          <p:cNvSpPr/>
          <p:nvPr/>
        </p:nvSpPr>
        <p:spPr>
          <a:xfrm>
            <a:off x="10067544" y="3822192"/>
            <a:ext cx="365760" cy="987552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39" name="struct.card.2"/>
          <p:cNvSpPr/>
          <p:nvPr/>
        </p:nvSpPr>
        <p:spPr>
          <a:xfrm>
            <a:off x="6236208" y="3822192"/>
            <a:ext cx="3794760" cy="987552"/>
          </a:xfrm>
          <a:prstGeom prst="roundRect">
            <a:avLst>
              <a:gd name="adj" fmla="val 4629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  <a:effectLst/>
        </p:spPr>
      </p:sp>
      <p:sp>
        <p:nvSpPr>
          <p:cNvPr id="40" name="slot.card.2.tab"/>
          <p:cNvSpPr/>
          <p:nvPr/>
        </p:nvSpPr>
        <p:spPr>
          <a:xfrm flipH="1" rot="5400000">
            <a:off x="9820655" y="4178807"/>
            <a:ext cx="859536" cy="27432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Govern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card.2.item.1.icon"/>
          <p:cNvSpPr/>
          <p:nvPr/>
        </p:nvSpPr>
        <p:spPr>
          <a:xfrm>
            <a:off x="6609969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42" name="slot.card.2.item.1.label"/>
          <p:cNvSpPr txBox="1"/>
          <p:nvPr/>
        </p:nvSpPr>
        <p:spPr>
          <a:xfrm>
            <a:off x="6364224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Access control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card.2.item.2.icon"/>
          <p:cNvSpPr/>
          <p:nvPr/>
        </p:nvSpPr>
        <p:spPr>
          <a:xfrm>
            <a:off x="7522083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44" name="slot.card.2.item.2.label"/>
          <p:cNvSpPr txBox="1"/>
          <p:nvPr/>
        </p:nvSpPr>
        <p:spPr>
          <a:xfrm>
            <a:off x="7276338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Privacy rules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5" name="struct.card.2.rule.1"/>
          <p:cNvCxnSpPr/>
          <p:nvPr/>
        </p:nvCxnSpPr>
        <p:spPr>
          <a:xfrm>
            <a:off x="7221474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46" name="slot.card.2.item.3.icon"/>
          <p:cNvSpPr/>
          <p:nvPr/>
        </p:nvSpPr>
        <p:spPr>
          <a:xfrm>
            <a:off x="8434197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4000" y="3000"/>
                </a:move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lnTo>
                  <a:pt x="22000" y="15000"/>
                </a:lnTo>
                <a:cubicBezTo>
                  <a:pt x="22000" y="16105"/>
                  <a:pt x="21105" y="17000"/>
                  <a:pt x="20000" y="17000"/>
                </a:cubicBezTo>
                <a:lnTo>
                  <a:pt x="4000" y="17000"/>
                </a:lnTo>
                <a:cubicBezTo>
                  <a:pt x="2895" y="17000"/>
                  <a:pt x="2000" y="16105"/>
                  <a:pt x="2000" y="15000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close/>
                <a:moveTo>
                  <a:pt x="8000" y="21000"/>
                </a:moveTo>
                <a:lnTo>
                  <a:pt x="16000" y="21000"/>
                </a:lnTo>
                <a:moveTo>
                  <a:pt x="12000" y="17000"/>
                </a:moveTo>
                <a:lnTo>
                  <a:pt x="12000" y="21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47" name="slot.card.2.item.3.label"/>
          <p:cNvSpPr txBox="1"/>
          <p:nvPr/>
        </p:nvSpPr>
        <p:spPr>
          <a:xfrm>
            <a:off x="8188452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Usage monitoring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8" name="struct.card.2.rule.2"/>
          <p:cNvCxnSpPr/>
          <p:nvPr/>
        </p:nvCxnSpPr>
        <p:spPr>
          <a:xfrm>
            <a:off x="8133588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49" name="slot.card.2.item.4.icon"/>
          <p:cNvSpPr/>
          <p:nvPr/>
        </p:nvSpPr>
        <p:spPr>
          <a:xfrm>
            <a:off x="9346311" y="39502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lnTo>
                  <a:pt x="12000" y="21000"/>
                </a:lnTo>
                <a:moveTo>
                  <a:pt x="20001" y="19000"/>
                </a:moveTo>
                <a:cubicBezTo>
                  <a:pt x="21105" y="18999"/>
                  <a:pt x="22000" y="18104"/>
                  <a:pt x="22000" y="17000"/>
                </a:cubicBezTo>
                <a:lnTo>
                  <a:pt x="22000" y="5000"/>
                </a:lnTo>
                <a:cubicBezTo>
                  <a:pt x="22000" y="3896"/>
                  <a:pt x="21105" y="3001"/>
                  <a:pt x="20001" y="3000"/>
                </a:cubicBezTo>
                <a:lnTo>
                  <a:pt x="16000" y="3002"/>
                </a:lnTo>
                <a:cubicBezTo>
                  <a:pt x="14427" y="3002"/>
                  <a:pt x="12945" y="3742"/>
                  <a:pt x="12000" y="5000"/>
                </a:cubicBezTo>
                <a:cubicBezTo>
                  <a:pt x="11056" y="3741"/>
                  <a:pt x="9574" y="3000"/>
                  <a:pt x="8000" y="3000"/>
                </a:cubicBezTo>
                <a:lnTo>
                  <a:pt x="4000" y="3000"/>
                </a:lnTo>
                <a:cubicBezTo>
                  <a:pt x="2895" y="3000"/>
                  <a:pt x="2000" y="3895"/>
                  <a:pt x="2000" y="5000"/>
                </a:cubicBezTo>
                <a:lnTo>
                  <a:pt x="2000" y="17000"/>
                </a:lnTo>
                <a:cubicBezTo>
                  <a:pt x="2000" y="18104"/>
                  <a:pt x="2895" y="18999"/>
                  <a:pt x="3999" y="19000"/>
                </a:cubicBezTo>
                <a:lnTo>
                  <a:pt x="8000" y="19000"/>
                </a:lnTo>
                <a:cubicBezTo>
                  <a:pt x="9574" y="19000"/>
                  <a:pt x="11056" y="19741"/>
                  <a:pt x="12000" y="21000"/>
                </a:cubicBezTo>
                <a:cubicBezTo>
                  <a:pt x="12944" y="19741"/>
                  <a:pt x="14426" y="19000"/>
                  <a:pt x="16000" y="19000"/>
                </a:cubicBezTo>
                <a:close/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50" name="slot.card.2.item.4.label"/>
          <p:cNvSpPr txBox="1"/>
          <p:nvPr/>
        </p:nvSpPr>
        <p:spPr>
          <a:xfrm>
            <a:off x="9100566" y="4315968"/>
            <a:ext cx="802386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 catalog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1" name="struct.card.2.rule.3"/>
          <p:cNvCxnSpPr/>
          <p:nvPr/>
        </p:nvCxnSpPr>
        <p:spPr>
          <a:xfrm>
            <a:off x="9045702" y="3968496"/>
            <a:ext cx="0" cy="694944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  <a:effectLst/>
        </p:spPr>
      </p:cxnSp>
      <p:sp>
        <p:nvSpPr>
          <p:cNvPr id="52" name="slot.base.1.head"/>
          <p:cNvSpPr txBox="1"/>
          <p:nvPr/>
        </p:nvSpPr>
        <p:spPr>
          <a:xfrm>
            <a:off x="1901952" y="5449824"/>
            <a:ext cx="27432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Source systems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lot.base.1.item.1.icon"/>
          <p:cNvSpPr/>
          <p:nvPr/>
        </p:nvSpPr>
        <p:spPr>
          <a:xfrm>
            <a:off x="1901952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50" y="2050"/>
                </a:moveTo>
                <a:lnTo>
                  <a:pt x="3149" y="2022"/>
                </a:lnTo>
                <a:cubicBezTo>
                  <a:pt x="3639" y="2010"/>
                  <a:pt x="4066" y="2355"/>
                  <a:pt x="4157" y="2837"/>
                </a:cubicBezTo>
                <a:lnTo>
                  <a:pt x="6847" y="17184"/>
                </a:lnTo>
                <a:cubicBezTo>
                  <a:pt x="6936" y="17657"/>
                  <a:pt x="7349" y="18000"/>
                  <a:pt x="7830" y="18000"/>
                </a:cubicBezTo>
                <a:lnTo>
                  <a:pt x="18000" y="18000"/>
                </a:lnTo>
                <a:moveTo>
                  <a:pt x="4563" y="5000"/>
                </a:moveTo>
                <a:lnTo>
                  <a:pt x="20998" y="5000"/>
                </a:lnTo>
                <a:cubicBezTo>
                  <a:pt x="21299" y="4999"/>
                  <a:pt x="21585" y="5135"/>
                  <a:pt x="21775" y="5368"/>
                </a:cubicBezTo>
                <a:cubicBezTo>
                  <a:pt x="21966" y="5602"/>
                  <a:pt x="22040" y="5909"/>
                  <a:pt x="21979" y="6204"/>
                </a:cubicBezTo>
                <a:lnTo>
                  <a:pt x="20953" y="12430"/>
                </a:lnTo>
                <a:cubicBezTo>
                  <a:pt x="20748" y="13361"/>
                  <a:pt x="19915" y="14018"/>
                  <a:pt x="18962" y="14000"/>
                </a:cubicBezTo>
                <a:lnTo>
                  <a:pt x="6250" y="14000"/>
                </a:lnTo>
                <a:moveTo>
                  <a:pt x="20000" y="20000"/>
                </a:moveTo>
                <a:cubicBezTo>
                  <a:pt x="20000" y="21105"/>
                  <a:pt x="19105" y="22000"/>
                  <a:pt x="18000" y="22000"/>
                </a:cubicBezTo>
                <a:cubicBezTo>
                  <a:pt x="16895" y="22000"/>
                  <a:pt x="16000" y="21105"/>
                  <a:pt x="16000" y="20000"/>
                </a:cubicBezTo>
                <a:cubicBezTo>
                  <a:pt x="16000" y="18895"/>
                  <a:pt x="16895" y="18000"/>
                  <a:pt x="18000" y="18000"/>
                </a:cubicBezTo>
                <a:cubicBezTo>
                  <a:pt x="19105" y="18000"/>
                  <a:pt x="20000" y="18895"/>
                  <a:pt x="20000" y="20000"/>
                </a:cubicBezTo>
                <a:close/>
                <a:moveTo>
                  <a:pt x="10000" y="20000"/>
                </a:moveTo>
                <a:cubicBezTo>
                  <a:pt x="10000" y="21105"/>
                  <a:pt x="9105" y="22000"/>
                  <a:pt x="8000" y="22000"/>
                </a:cubicBezTo>
                <a:cubicBezTo>
                  <a:pt x="6895" y="22000"/>
                  <a:pt x="6000" y="21105"/>
                  <a:pt x="6000" y="20000"/>
                </a:cubicBezTo>
                <a:cubicBezTo>
                  <a:pt x="6000" y="18895"/>
                  <a:pt x="6895" y="18000"/>
                  <a:pt x="8000" y="18000"/>
                </a:cubicBezTo>
                <a:cubicBezTo>
                  <a:pt x="9105" y="18000"/>
                  <a:pt x="10000" y="18895"/>
                  <a:pt x="10000" y="20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54" name="slot.base.1.item.1.label"/>
          <p:cNvSpPr txBox="1"/>
          <p:nvPr/>
        </p:nvSpPr>
        <p:spPr>
          <a:xfrm>
            <a:off x="2185416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Orders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base.1.item.2.icon"/>
          <p:cNvSpPr/>
          <p:nvPr/>
        </p:nvSpPr>
        <p:spPr>
          <a:xfrm>
            <a:off x="2850642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8000" y="21000"/>
                </a:moveTo>
                <a:lnTo>
                  <a:pt x="18000" y="10000"/>
                </a:lnTo>
                <a:cubicBezTo>
                  <a:pt x="18000" y="9448"/>
                  <a:pt x="17552" y="9000"/>
                  <a:pt x="17000" y="9000"/>
                </a:cubicBezTo>
                <a:lnTo>
                  <a:pt x="7000" y="9000"/>
                </a:lnTo>
                <a:cubicBezTo>
                  <a:pt x="6448" y="9000"/>
                  <a:pt x="6000" y="9448"/>
                  <a:pt x="6000" y="10000"/>
                </a:cubicBezTo>
                <a:lnTo>
                  <a:pt x="6000" y="21000"/>
                </a:lnTo>
                <a:moveTo>
                  <a:pt x="22000" y="19000"/>
                </a:moveTo>
                <a:cubicBezTo>
                  <a:pt x="22000" y="20105"/>
                  <a:pt x="21105" y="21000"/>
                  <a:pt x="20000" y="21000"/>
                </a:cubicBezTo>
                <a:lnTo>
                  <a:pt x="4000" y="21000"/>
                </a:lnTo>
                <a:cubicBezTo>
                  <a:pt x="2895" y="21000"/>
                  <a:pt x="2000" y="20105"/>
                  <a:pt x="2000" y="19000"/>
                </a:cubicBezTo>
                <a:lnTo>
                  <a:pt x="2000" y="8000"/>
                </a:lnTo>
                <a:cubicBezTo>
                  <a:pt x="2000" y="7231"/>
                  <a:pt x="2440" y="6531"/>
                  <a:pt x="3132" y="6197"/>
                </a:cubicBezTo>
                <a:lnTo>
                  <a:pt x="11082" y="2223"/>
                </a:lnTo>
                <a:cubicBezTo>
                  <a:pt x="11658" y="1925"/>
                  <a:pt x="12343" y="1925"/>
                  <a:pt x="12919" y="2223"/>
                </a:cubicBezTo>
                <a:lnTo>
                  <a:pt x="20867" y="6197"/>
                </a:lnTo>
                <a:cubicBezTo>
                  <a:pt x="21560" y="6530"/>
                  <a:pt x="22000" y="7231"/>
                  <a:pt x="22000" y="8000"/>
                </a:cubicBezTo>
                <a:close/>
                <a:moveTo>
                  <a:pt x="6000" y="13000"/>
                </a:moveTo>
                <a:lnTo>
                  <a:pt x="18000" y="13000"/>
                </a:lnTo>
                <a:moveTo>
                  <a:pt x="6000" y="17000"/>
                </a:moveTo>
                <a:lnTo>
                  <a:pt x="18000" y="17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56" name="slot.base.1.item.2.label"/>
          <p:cNvSpPr txBox="1"/>
          <p:nvPr/>
        </p:nvSpPr>
        <p:spPr>
          <a:xfrm>
            <a:off x="3134106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Inventory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base.1.item.3.icon"/>
          <p:cNvSpPr/>
          <p:nvPr/>
        </p:nvSpPr>
        <p:spPr>
          <a:xfrm>
            <a:off x="3799332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58" name="slot.base.1.item.3.label"/>
          <p:cNvSpPr txBox="1"/>
          <p:nvPr/>
        </p:nvSpPr>
        <p:spPr>
          <a:xfrm>
            <a:off x="4082796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Contracts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lot.base.1.item.4.icon"/>
          <p:cNvSpPr/>
          <p:nvPr/>
        </p:nvSpPr>
        <p:spPr>
          <a:xfrm>
            <a:off x="4748022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000"/>
                </a:moveTo>
                <a:lnTo>
                  <a:pt x="16000" y="4000"/>
                </a:lnTo>
                <a:moveTo>
                  <a:pt x="7000" y="21000"/>
                </a:moveTo>
                <a:lnTo>
                  <a:pt x="7000" y="19000"/>
                </a:lnTo>
                <a:cubicBezTo>
                  <a:pt x="7000" y="17895"/>
                  <a:pt x="7895" y="17000"/>
                  <a:pt x="9000" y="17000"/>
                </a:cubicBezTo>
                <a:lnTo>
                  <a:pt x="15000" y="17000"/>
                </a:lnTo>
                <a:cubicBezTo>
                  <a:pt x="16105" y="17000"/>
                  <a:pt x="17000" y="17895"/>
                  <a:pt x="17000" y="19000"/>
                </a:cubicBezTo>
                <a:lnTo>
                  <a:pt x="17000" y="21000"/>
                </a:lnTo>
                <a:moveTo>
                  <a:pt x="8000" y="2000"/>
                </a:moveTo>
                <a:lnTo>
                  <a:pt x="8000" y="4000"/>
                </a:lnTo>
                <a:moveTo>
                  <a:pt x="15000" y="10000"/>
                </a:moveTo>
                <a:cubicBezTo>
                  <a:pt x="15000" y="11657"/>
                  <a:pt x="13657" y="13000"/>
                  <a:pt x="12000" y="13000"/>
                </a:cubicBezTo>
                <a:cubicBezTo>
                  <a:pt x="10343" y="13000"/>
                  <a:pt x="9000" y="11657"/>
                  <a:pt x="9000" y="10000"/>
                </a:cubicBezTo>
                <a:cubicBezTo>
                  <a:pt x="9000" y="8343"/>
                  <a:pt x="10343" y="7000"/>
                  <a:pt x="12000" y="7000"/>
                </a:cubicBezTo>
                <a:cubicBezTo>
                  <a:pt x="13657" y="7000"/>
                  <a:pt x="15000" y="8343"/>
                  <a:pt x="15000" y="10000"/>
                </a:cubicBezTo>
                <a:close/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60" name="slot.base.1.item.4.label"/>
          <p:cNvSpPr txBox="1"/>
          <p:nvPr/>
        </p:nvSpPr>
        <p:spPr>
          <a:xfrm>
            <a:off x="5031486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Accounts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truct.funnel.1.top"/>
          <p:cNvSpPr/>
          <p:nvPr/>
        </p:nvSpPr>
        <p:spPr>
          <a:xfrm flipV="1">
            <a:off x="3387852" y="4809744"/>
            <a:ext cx="822960" cy="274320"/>
          </a:xfrm>
          <a:prstGeom prst="trapezoid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62" name="struct.funnel.1.stem"/>
          <p:cNvSpPr/>
          <p:nvPr/>
        </p:nvSpPr>
        <p:spPr>
          <a:xfrm>
            <a:off x="3671316" y="5084064"/>
            <a:ext cx="256032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63" name="slot.base.2.head"/>
          <p:cNvSpPr txBox="1"/>
          <p:nvPr/>
        </p:nvSpPr>
        <p:spPr>
          <a:xfrm>
            <a:off x="6437376" y="5449824"/>
            <a:ext cx="27432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t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Model services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slot.base.2.item.1.icon"/>
          <p:cNvSpPr/>
          <p:nvPr/>
        </p:nvSpPr>
        <p:spPr>
          <a:xfrm>
            <a:off x="6437376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7000"/>
                </a:moveTo>
                <a:lnTo>
                  <a:pt x="22000" y="7000"/>
                </a:lnTo>
                <a:lnTo>
                  <a:pt x="22000" y="13000"/>
                </a:lnTo>
                <a:moveTo>
                  <a:pt x="22000" y="7000"/>
                </a:moveTo>
                <a:lnTo>
                  <a:pt x="13500" y="15500"/>
                </a:lnTo>
                <a:lnTo>
                  <a:pt x="8500" y="10500"/>
                </a:lnTo>
                <a:lnTo>
                  <a:pt x="2000" y="17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65" name="slot.base.2.item.1.label"/>
          <p:cNvSpPr txBox="1"/>
          <p:nvPr/>
        </p:nvSpPr>
        <p:spPr>
          <a:xfrm>
            <a:off x="6720840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Forecasts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ot.base.2.item.2.icon"/>
          <p:cNvSpPr/>
          <p:nvPr/>
        </p:nvSpPr>
        <p:spPr>
          <a:xfrm>
            <a:off x="7386066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5000"/>
                </a:moveTo>
                <a:lnTo>
                  <a:pt x="3000" y="5000"/>
                </a:lnTo>
                <a:moveTo>
                  <a:pt x="12000" y="19000"/>
                </a:moveTo>
                <a:lnTo>
                  <a:pt x="3000" y="19000"/>
                </a:lnTo>
                <a:moveTo>
                  <a:pt x="14000" y="3000"/>
                </a:moveTo>
                <a:lnTo>
                  <a:pt x="14000" y="7000"/>
                </a:lnTo>
                <a:moveTo>
                  <a:pt x="16000" y="17000"/>
                </a:moveTo>
                <a:lnTo>
                  <a:pt x="16000" y="21000"/>
                </a:lnTo>
                <a:moveTo>
                  <a:pt x="21000" y="12000"/>
                </a:moveTo>
                <a:lnTo>
                  <a:pt x="12000" y="12000"/>
                </a:lnTo>
                <a:moveTo>
                  <a:pt x="21000" y="19000"/>
                </a:moveTo>
                <a:lnTo>
                  <a:pt x="16000" y="19000"/>
                </a:lnTo>
                <a:moveTo>
                  <a:pt x="21000" y="5000"/>
                </a:moveTo>
                <a:lnTo>
                  <a:pt x="14000" y="5000"/>
                </a:lnTo>
                <a:moveTo>
                  <a:pt x="8000" y="10000"/>
                </a:moveTo>
                <a:lnTo>
                  <a:pt x="8000" y="14000"/>
                </a:lnTo>
                <a:moveTo>
                  <a:pt x="8000" y="12000"/>
                </a:moveTo>
                <a:lnTo>
                  <a:pt x="3000" y="12000"/>
                </a:ln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67" name="slot.base.2.item.2.label"/>
          <p:cNvSpPr txBox="1"/>
          <p:nvPr/>
        </p:nvSpPr>
        <p:spPr>
          <a:xfrm>
            <a:off x="7669530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Solvers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lot.base.2.item.3.icon"/>
          <p:cNvSpPr/>
          <p:nvPr/>
        </p:nvSpPr>
        <p:spPr>
          <a:xfrm>
            <a:off x="8334756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69" name="slot.base.2.item.3.label"/>
          <p:cNvSpPr txBox="1"/>
          <p:nvPr/>
        </p:nvSpPr>
        <p:spPr>
          <a:xfrm>
            <a:off x="8618220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Scenarios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slot.base.2.item.4.icon"/>
          <p:cNvSpPr/>
          <p:nvPr/>
        </p:nvSpPr>
        <p:spPr>
          <a:xfrm>
            <a:off x="9283446" y="5852160"/>
            <a:ext cx="237744" cy="23774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268" y="21000"/>
                </a:moveTo>
                <a:cubicBezTo>
                  <a:pt x="10625" y="21619"/>
                  <a:pt x="11286" y="22000"/>
                  <a:pt x="12000" y="22000"/>
                </a:cubicBezTo>
                <a:cubicBezTo>
                  <a:pt x="12714" y="22000"/>
                  <a:pt x="13375" y="21619"/>
                  <a:pt x="13732" y="21000"/>
                </a:cubicBezTo>
                <a:moveTo>
                  <a:pt x="3262" y="15326"/>
                </a:moveTo>
                <a:cubicBezTo>
                  <a:pt x="2995" y="15619"/>
                  <a:pt x="2926" y="16041"/>
                  <a:pt x="3086" y="16403"/>
                </a:cubicBezTo>
                <a:cubicBezTo>
                  <a:pt x="3245" y="16766"/>
                  <a:pt x="3604" y="17000"/>
                  <a:pt x="4000" y="17000"/>
                </a:cubicBezTo>
                <a:lnTo>
                  <a:pt x="20000" y="17000"/>
                </a:lnTo>
                <a:cubicBezTo>
                  <a:pt x="20396" y="17000"/>
                  <a:pt x="20755" y="16767"/>
                  <a:pt x="20915" y="16405"/>
                </a:cubicBezTo>
                <a:cubicBezTo>
                  <a:pt x="21075" y="16042"/>
                  <a:pt x="21006" y="15620"/>
                  <a:pt x="20740" y="15327"/>
                </a:cubicBezTo>
                <a:cubicBezTo>
                  <a:pt x="19410" y="13956"/>
                  <a:pt x="18000" y="12499"/>
                  <a:pt x="18000" y="8000"/>
                </a:cubicBezTo>
                <a:cubicBezTo>
                  <a:pt x="18000" y="4686"/>
                  <a:pt x="15314" y="2000"/>
                  <a:pt x="12000" y="2000"/>
                </a:cubicBezTo>
                <a:cubicBezTo>
                  <a:pt x="8686" y="2000"/>
                  <a:pt x="6000" y="4686"/>
                  <a:pt x="6000" y="8000"/>
                </a:cubicBezTo>
                <a:cubicBezTo>
                  <a:pt x="6000" y="12499"/>
                  <a:pt x="4589" y="13956"/>
                  <a:pt x="3262" y="15326"/>
                </a:cubicBezTo>
              </a:path>
            </a:pathLst>
          </a:custGeom>
          <a:noFill/>
          <a:ln w="19685" cap="rnd">
            <a:solidFill>
              <a:schemeClr val="bg1"/>
            </a:solidFill>
            <a:round/>
          </a:ln>
          <a:effectLst/>
        </p:spPr>
      </p:sp>
      <p:sp>
        <p:nvSpPr>
          <p:cNvPr id="71" name="slot.base.2.item.4.label"/>
          <p:cNvSpPr txBox="1"/>
          <p:nvPr/>
        </p:nvSpPr>
        <p:spPr>
          <a:xfrm>
            <a:off x="9566910" y="5824728"/>
            <a:ext cx="66522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Alerts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truct.funnel.2.top"/>
          <p:cNvSpPr/>
          <p:nvPr/>
        </p:nvSpPr>
        <p:spPr>
          <a:xfrm flipV="1">
            <a:off x="7923276" y="4809744"/>
            <a:ext cx="822960" cy="274320"/>
          </a:xfrm>
          <a:prstGeom prst="trapezoid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</p:sp>
      <p:sp>
        <p:nvSpPr>
          <p:cNvPr id="73" name="struct.funnel.2.stem"/>
          <p:cNvSpPr/>
          <p:nvPr/>
        </p:nvSpPr>
        <p:spPr>
          <a:xfrm>
            <a:off x="8206740" y="5084064"/>
            <a:ext cx="256032" cy="274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nvergence-hub:lanes-into-ring-mosaic-readout">
    <p:spTree>
      <p:nvGrpSpPr>
        <p:cNvPr id="1" name=""/>
        <p:cNvGrpSpPr/>
        <p:nvPr/>
      </p:nvGrpSpPr>
      <p:grpSpPr/>
      <p:sp>
        <p:nvSpPr>
          <p:cNvPr id="2" name="slot.title"/>
          <p:cNvSpPr txBox="1"/>
          <p:nvPr/>
        </p:nvSpPr>
        <p:spPr>
          <a:xfrm>
            <a:off x="338328" y="256032"/>
            <a:ext cx="11484864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Sources land once in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governed platform</a:t>
            </a:r>
            <a:r>
              <a:rPr lang="en-US" sz="2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that serves </a:t>
            </a:r>
            <a:r>
              <a:rPr lang="en-US" sz="22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ten use cases</a:t>
            </a:r>
            <a:endParaRPr lang="en-US" sz="22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struct.base"/>
          <p:cNvSpPr/>
          <p:nvPr/>
        </p:nvSpPr>
        <p:spPr>
          <a:xfrm>
            <a:off x="3913632" y="5879592"/>
            <a:ext cx="3666744" cy="402336"/>
          </a:xfrm>
          <a:prstGeom prst="roundRect">
            <a:avLst>
              <a:gd fmla="val 11364" name="adj"/>
            </a:avLst>
          </a:prstGeom>
          <a:solidFill>
            <a:schemeClr val="bg1"/>
          </a:solidFill>
          <a:ln cap="flat" cmpd="sng" w="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struct.source.1"/>
          <p:cNvSpPr/>
          <p:nvPr/>
        </p:nvSpPr>
        <p:spPr>
          <a:xfrm>
            <a:off x="338328" y="1773936"/>
            <a:ext cx="1645920" cy="1243584"/>
          </a:xfrm>
          <a:prstGeom prst="roundRect">
            <a:avLst>
              <a:gd fmla="val 3676" name="adj"/>
            </a:avLst>
          </a:prstGeom>
          <a:solidFill>
            <a:schemeClr val="bg1"/>
          </a:solidFill>
          <a:ln cap="flat" cmpd="sng" w="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lot.lane.1.head"/>
          <p:cNvSpPr txBox="1"/>
          <p:nvPr/>
        </p:nvSpPr>
        <p:spPr>
          <a:xfrm>
            <a:off x="2450591" y="1828800"/>
            <a:ext cx="1152144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Batch loads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uct.lane.1"/>
          <p:cNvSpPr/>
          <p:nvPr/>
        </p:nvSpPr>
        <p:spPr>
          <a:xfrm>
            <a:off x="2212848" y="2057400"/>
            <a:ext cx="1389888" cy="566928"/>
          </a:xfrm>
          <a:prstGeom prst="roundRect">
            <a:avLst>
              <a:gd fmla="val 8065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19275" lIns="38575" spcFirstLastPara="1" rIns="38575" wrap="square" tIns="19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lot.sources.label"/>
          <p:cNvSpPr/>
          <p:nvPr/>
        </p:nvSpPr>
        <p:spPr>
          <a:xfrm>
            <a:off x="338328" y="1243584"/>
            <a:ext cx="1645920" cy="301752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5700" lIns="51425" spcFirstLastPara="1" rIns="51425" wrap="square" tIns="2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Source systems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ruct.source.2"/>
          <p:cNvSpPr/>
          <p:nvPr/>
        </p:nvSpPr>
        <p:spPr>
          <a:xfrm>
            <a:off x="338328" y="3127248"/>
            <a:ext cx="1645920" cy="1700784"/>
          </a:xfrm>
          <a:prstGeom prst="roundRect">
            <a:avLst>
              <a:gd fmla="val 2778" name="adj"/>
            </a:avLst>
          </a:prstGeom>
          <a:solidFill>
            <a:schemeClr val="bg1"/>
          </a:solidFill>
          <a:ln cap="flat" cmpd="sng" w="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struct.feed.3"/>
          <p:cNvCxnSpPr/>
          <p:nvPr/>
        </p:nvCxnSpPr>
        <p:spPr>
          <a:xfrm>
            <a:off x="1984248" y="4544568"/>
            <a:ext cx="228599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5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cxnSp>
        <p:nvCxnSpPr>
          <p:cNvPr id="10" name="struct.feed.1"/>
          <p:cNvCxnSpPr/>
          <p:nvPr/>
        </p:nvCxnSpPr>
        <p:spPr>
          <a:xfrm>
            <a:off x="1984248" y="2340864"/>
            <a:ext cx="228599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5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11" name="slot.lanes.label"/>
          <p:cNvSpPr/>
          <p:nvPr/>
        </p:nvSpPr>
        <p:spPr>
          <a:xfrm>
            <a:off x="2212848" y="1243584"/>
            <a:ext cx="1389888" cy="301752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5700" lIns="51425" spcFirstLastPara="1" rIns="51425" wrap="square" tIns="2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Ingestion lanes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lot.lane.3.head"/>
          <p:cNvSpPr txBox="1"/>
          <p:nvPr/>
        </p:nvSpPr>
        <p:spPr>
          <a:xfrm>
            <a:off x="2450591" y="4032504"/>
            <a:ext cx="1152144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Event streams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truct.lane.3"/>
          <p:cNvSpPr/>
          <p:nvPr/>
        </p:nvSpPr>
        <p:spPr>
          <a:xfrm>
            <a:off x="2212848" y="4261104"/>
            <a:ext cx="1389888" cy="566928"/>
          </a:xfrm>
          <a:prstGeom prst="roundRect">
            <a:avLst>
              <a:gd fmla="val 8065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19275" lIns="38575" spcFirstLastPara="1" rIns="38575" wrap="square" tIns="19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slot.platform.label"/>
          <p:cNvSpPr/>
          <p:nvPr/>
        </p:nvSpPr>
        <p:spPr>
          <a:xfrm>
            <a:off x="4338828" y="1243584"/>
            <a:ext cx="2816352" cy="301752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25700" lIns="51425" spcFirstLastPara="1" rIns="51425" wrap="square" tIns="2570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Governed data platform</a:t>
            </a:r>
            <a:endParaRPr lang="en-US" sz="11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truct.mosaic"/>
          <p:cNvSpPr/>
          <p:nvPr/>
        </p:nvSpPr>
        <p:spPr>
          <a:xfrm>
            <a:off x="7616369" y="1469182"/>
            <a:ext cx="4233422" cy="4378773"/>
          </a:xfrm>
          <a:custGeom>
            <a:rect b="b" l="l" r="r" t="t"/>
            <a:pathLst>
              <a:path extrusionOk="0" h="4378773" w="4846034">
                <a:moveTo>
                  <a:pt x="1186203" y="0"/>
                </a:moveTo>
                <a:lnTo>
                  <a:pt x="4769757" y="0"/>
                </a:lnTo>
                <a:lnTo>
                  <a:pt x="4769757" y="0"/>
                </a:lnTo>
                <a:lnTo>
                  <a:pt x="732677" y="1653317"/>
                </a:lnTo>
                <a:lnTo>
                  <a:pt x="648949" y="1557135"/>
                </a:lnTo>
                <a:lnTo>
                  <a:pt x="548476" y="1468040"/>
                </a:lnTo>
                <a:lnTo>
                  <a:pt x="438234" y="1386032"/>
                </a:lnTo>
                <a:lnTo>
                  <a:pt x="315433" y="1313137"/>
                </a:lnTo>
                <a:lnTo>
                  <a:pt x="182864" y="1249353"/>
                </a:lnTo>
                <a:lnTo>
                  <a:pt x="1186203" y="0"/>
                </a:lnTo>
                <a:close/>
              </a:path>
              <a:path extrusionOk="0" h="4378773" w="4846034">
                <a:moveTo>
                  <a:pt x="4769759" y="0"/>
                </a:moveTo>
                <a:lnTo>
                  <a:pt x="4769759" y="2188884"/>
                </a:lnTo>
                <a:lnTo>
                  <a:pt x="591379" y="2188884"/>
                </a:lnTo>
                <a:lnTo>
                  <a:pt x="580754" y="2074479"/>
                </a:lnTo>
                <a:lnTo>
                  <a:pt x="554953" y="1964123"/>
                </a:lnTo>
                <a:lnTo>
                  <a:pt x="509420" y="1855793"/>
                </a:lnTo>
                <a:lnTo>
                  <a:pt x="453263" y="1752525"/>
                </a:lnTo>
                <a:lnTo>
                  <a:pt x="378893" y="1653306"/>
                </a:lnTo>
                <a:lnTo>
                  <a:pt x="4769759" y="0"/>
                </a:lnTo>
                <a:close/>
              </a:path>
              <a:path extrusionOk="0" h="4378773" w="4846034">
                <a:moveTo>
                  <a:pt x="589939" y="2724454"/>
                </a:moveTo>
                <a:lnTo>
                  <a:pt x="4846034" y="4376748"/>
                </a:lnTo>
                <a:lnTo>
                  <a:pt x="4846034" y="4378773"/>
                </a:lnTo>
                <a:lnTo>
                  <a:pt x="1034233" y="4378773"/>
                </a:lnTo>
                <a:lnTo>
                  <a:pt x="0" y="3133478"/>
                </a:lnTo>
                <a:lnTo>
                  <a:pt x="142703" y="3069694"/>
                </a:lnTo>
                <a:lnTo>
                  <a:pt x="272166" y="2997811"/>
                </a:lnTo>
                <a:lnTo>
                  <a:pt x="392802" y="2912767"/>
                </a:lnTo>
                <a:lnTo>
                  <a:pt x="498727" y="2823673"/>
                </a:lnTo>
                <a:lnTo>
                  <a:pt x="589939" y="2724454"/>
                </a:lnTo>
                <a:close/>
              </a:path>
              <a:path extrusionOk="0" h="4378773" w="4846034">
                <a:moveTo>
                  <a:pt x="508335" y="2188880"/>
                </a:moveTo>
                <a:lnTo>
                  <a:pt x="4769762" y="2188880"/>
                </a:lnTo>
                <a:lnTo>
                  <a:pt x="4769762" y="4376752"/>
                </a:lnTo>
                <a:lnTo>
                  <a:pt x="291626" y="2724458"/>
                </a:lnTo>
                <a:lnTo>
                  <a:pt x="367474" y="2626252"/>
                </a:lnTo>
                <a:lnTo>
                  <a:pt x="424747" y="2522984"/>
                </a:lnTo>
                <a:lnTo>
                  <a:pt x="471185" y="2416678"/>
                </a:lnTo>
                <a:lnTo>
                  <a:pt x="497500" y="2304298"/>
                </a:lnTo>
                <a:lnTo>
                  <a:pt x="508335" y="2188880"/>
                </a:lnTo>
                <a:close/>
              </a:path>
              <a:path extrusionOk="0" h="4378773" w="4846034">
                <a:moveTo>
                  <a:pt x="497249" y="2049567"/>
                </a:moveTo>
                <a:lnTo>
                  <a:pt x="497249" y="2362487"/>
                </a:lnTo>
                <a:lnTo>
                  <a:pt x="4774249" y="2675407"/>
                </a:lnTo>
                <a:lnTo>
                  <a:pt x="4774249" y="1674063"/>
                </a:lnTo>
                <a:close/>
              </a:path>
            </a:pathLst>
          </a:cu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25700" lIns="51425" spcFirstLastPara="1" rIns="51425" wrap="square" tIns="2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slot.lane.2.head"/>
          <p:cNvSpPr txBox="1"/>
          <p:nvPr/>
        </p:nvSpPr>
        <p:spPr>
          <a:xfrm>
            <a:off x="2450591" y="2935224"/>
            <a:ext cx="1152144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Change capture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truct.lane.2"/>
          <p:cNvSpPr/>
          <p:nvPr/>
        </p:nvSpPr>
        <p:spPr>
          <a:xfrm>
            <a:off x="2212848" y="3163824"/>
            <a:ext cx="1389888" cy="566928"/>
          </a:xfrm>
          <a:prstGeom prst="roundRect">
            <a:avLst>
              <a:gd fmla="val 8065" name="adj"/>
            </a:avLst>
          </a:prstGeom>
          <a:solidFill>
            <a:schemeClr val="bg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miter lim="800000"/>
            <a:headEnd len="sm" w="sm" type="none"/>
            <a:tailEnd len="sm" w="sm" type="none"/>
          </a:ln>
          <a:effectLst/>
        </p:spPr>
        <p:txBody>
          <a:bodyPr anchorCtr="0" anchor="ctr" bIns="19275" lIns="38575" spcFirstLastPara="1" rIns="38575" wrap="square" tIns="19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struct.feed.2"/>
          <p:cNvCxnSpPr/>
          <p:nvPr/>
        </p:nvCxnSpPr>
        <p:spPr>
          <a:xfrm>
            <a:off x="1984248" y="3447288"/>
            <a:ext cx="228599" cy="0"/>
          </a:xfrm>
          <a:prstGeom prst="straightConnector1">
            <a:avLst/>
          </a:prstGeom>
          <a:noFill/>
          <a:ln cap="flat" cmpd="sng" w="7150">
            <a:solidFill>
              <a:schemeClr val="bg1">
                <a:lumMod val="55000"/>
              </a:schemeClr>
            </a:solidFill>
            <a:prstDash val="solid"/>
            <a:round/>
            <a:headEnd len="sm" w="sm" type="none"/>
            <a:tailEnd len="med" w="med" type="triangle"/>
          </a:ln>
          <a:effectLst/>
        </p:spPr>
      </p:cxnSp>
      <p:sp>
        <p:nvSpPr>
          <p:cNvPr id="19" name="struct.mosaic.lines.1"/>
          <p:cNvSpPr/>
          <p:nvPr/>
        </p:nvSpPr>
        <p:spPr>
          <a:xfrm>
            <a:off x="8343758" y="1731847"/>
            <a:ext cx="1616366" cy="3834067"/>
          </a:xfrm>
          <a:custGeom>
            <a:rect b="b" l="l" r="r" t="t"/>
            <a:pathLst>
              <a:path extrusionOk="0" h="158962" w="62943">
                <a:moveTo>
                  <a:pt x="1656" y="0"/>
                </a:moveTo>
                <a:lnTo>
                  <a:pt x="41882" y="31703"/>
                </a:lnTo>
                <a:lnTo>
                  <a:pt x="62943" y="66530"/>
                </a:lnTo>
                <a:lnTo>
                  <a:pt x="60038" y="92868"/>
                </a:lnTo>
                <a:lnTo>
                  <a:pt x="43604" y="130381"/>
                </a:lnTo>
                <a:lnTo>
                  <a:pt x="0" y="158962"/>
                </a:lnTo>
              </a:path>
            </a:pathLst>
          </a:custGeom>
          <a:noFill/>
          <a:ln cap="flat" cmpd="sng" w="107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25700" lIns="51425" spcFirstLastPara="1" rIns="51425" wrap="square" tIns="2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slot.base.label"/>
          <p:cNvSpPr/>
          <p:nvPr/>
        </p:nvSpPr>
        <p:spPr>
          <a:xfrm>
            <a:off x="4814316" y="5650992"/>
            <a:ext cx="1865376" cy="2286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Platform foundations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lot.source.1.body"/>
          <p:cNvSpPr txBox="1"/>
          <p:nvPr/>
        </p:nvSpPr>
        <p:spPr>
          <a:xfrm>
            <a:off x="466344" y="1865376"/>
            <a:ext cx="1426464" cy="10789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27000" lIns="27000" spcFirstLastPara="1" rIns="27000" wrap="square" tIns="270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Internal systems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Order management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Billing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Service desk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Web store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slot.source.2.body"/>
          <p:cNvSpPr txBox="1"/>
          <p:nvPr/>
        </p:nvSpPr>
        <p:spPr>
          <a:xfrm>
            <a:off x="466344" y="3218688"/>
            <a:ext cx="1426464" cy="153619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27000" lIns="27000" spcFirstLastPara="1" rIns="27000" wrap="square" tIns="2700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External feeds</a:t>
            </a:r>
            <a:endParaRPr lang="en-US" sz="1100" b="1" i="0" kern="0" dirty="0">
              <a:solidFill>
                <a:schemeClr val="accent1"/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Partner sales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Market panels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Weather data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Social listening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Credit scores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Supplier portals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store.6"/>
          <p:cNvSpPr/>
          <p:nvPr/>
        </p:nvSpPr>
        <p:spPr>
          <a:xfrm>
            <a:off x="4466844" y="2674620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struct.store.2"/>
          <p:cNvSpPr/>
          <p:nvPr/>
        </p:nvSpPr>
        <p:spPr>
          <a:xfrm>
            <a:off x="6295644" y="2674620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struct.store.1"/>
          <p:cNvSpPr/>
          <p:nvPr/>
        </p:nvSpPr>
        <p:spPr>
          <a:xfrm>
            <a:off x="5381244" y="2144268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slot.store.1"/>
          <p:cNvSpPr txBox="1"/>
          <p:nvPr/>
        </p:nvSpPr>
        <p:spPr>
          <a:xfrm>
            <a:off x="5326380" y="2382011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Customers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struct.store.5"/>
          <p:cNvSpPr/>
          <p:nvPr/>
        </p:nvSpPr>
        <p:spPr>
          <a:xfrm>
            <a:off x="4466844" y="3698748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struct.store.3"/>
          <p:cNvSpPr/>
          <p:nvPr/>
        </p:nvSpPr>
        <p:spPr>
          <a:xfrm>
            <a:off x="6295644" y="3698748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struct.store.4"/>
          <p:cNvSpPr/>
          <p:nvPr/>
        </p:nvSpPr>
        <p:spPr>
          <a:xfrm>
            <a:off x="5381244" y="4229100"/>
            <a:ext cx="731520" cy="603504"/>
          </a:xfrm>
          <a:prstGeom prst="can">
            <a:avLst>
              <a:gd fmla="val 25000" name="adj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5000"/>
              </a:schemeClr>
            </a:solidFill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slot.store.4"/>
          <p:cNvSpPr txBox="1"/>
          <p:nvPr/>
        </p:nvSpPr>
        <p:spPr>
          <a:xfrm>
            <a:off x="5326380" y="4466844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Events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core"/>
          <p:cNvSpPr/>
          <p:nvPr/>
        </p:nvSpPr>
        <p:spPr>
          <a:xfrm>
            <a:off x="5326380" y="3195828"/>
            <a:ext cx="841248" cy="694944"/>
          </a:xfrm>
          <a:prstGeom prst="can">
            <a:avLst>
              <a:gd fmla="val 25000" name="adj"/>
            </a:avLst>
          </a:prstGeom>
          <a:solidFill>
            <a:schemeClr val="accent1"/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b" bIns="34250" lIns="68575" spcFirstLastPara="1" rIns="68575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600"/>
              <a:buFont typeface="Arial"/>
              <a:buNone/>
            </a:pPr>
            <a:r>
              <a:rPr sz="1850"/>
              <a:t/>
            </a:r>
            <a:endParaRPr b="0" i="0" sz="600" u="none" cap="none" strike="noStrik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lot.core"/>
          <p:cNvSpPr txBox="1"/>
          <p:nvPr/>
        </p:nvSpPr>
        <p:spPr>
          <a:xfrm>
            <a:off x="5326380" y="3378708"/>
            <a:ext cx="841248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Shared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model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ring"/>
          <p:cNvSpPr/>
          <p:nvPr/>
        </p:nvSpPr>
        <p:spPr>
          <a:xfrm>
            <a:off x="3913632" y="1709928"/>
            <a:ext cx="3666744" cy="3666744"/>
          </a:xfrm>
          <a:prstGeom prst="donut">
            <a:avLst>
              <a:gd fmla="val 9348" name="adj"/>
            </a:avLst>
          </a:prstGeom>
          <a:solidFill>
            <a:schemeClr val="bg1">
              <a:lumMod val="85000"/>
            </a:schemeClr>
          </a:solidFill>
          <a:ln cap="flat" cmpd="sng" w="7150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lot.ring.top"/>
          <p:cNvSpPr txBox="1"/>
          <p:nvPr/>
        </p:nvSpPr>
        <p:spPr>
          <a:xfrm>
            <a:off x="4924044" y="1773936"/>
            <a:ext cx="16459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Single governed copy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ring.right"/>
          <p:cNvSpPr txBox="1"/>
          <p:nvPr/>
        </p:nvSpPr>
        <p:spPr>
          <a:xfrm rot="5400000">
            <a:off x="6723192" y="3433572"/>
            <a:ext cx="13716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lot.ring.left"/>
          <p:cNvSpPr txBox="1"/>
          <p:nvPr/>
        </p:nvSpPr>
        <p:spPr>
          <a:xfrm rot="-5400000">
            <a:off x="3399215" y="3433572"/>
            <a:ext cx="137160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Ingest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slot.ring.bottom"/>
          <p:cNvSpPr txBox="1"/>
          <p:nvPr/>
        </p:nvSpPr>
        <p:spPr>
          <a:xfrm>
            <a:off x="4924044" y="5088768"/>
            <a:ext cx="1645920" cy="21945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Versioned and audited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lot.store.2"/>
          <p:cNvSpPr txBox="1"/>
          <p:nvPr/>
        </p:nvSpPr>
        <p:spPr>
          <a:xfrm>
            <a:off x="6240780" y="2912363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slot.store.3"/>
          <p:cNvSpPr txBox="1"/>
          <p:nvPr/>
        </p:nvSpPr>
        <p:spPr>
          <a:xfrm>
            <a:off x="6240780" y="3936491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Products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lot.store.5"/>
          <p:cNvSpPr txBox="1"/>
          <p:nvPr/>
        </p:nvSpPr>
        <p:spPr>
          <a:xfrm>
            <a:off x="4411980" y="3936491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Documents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lot.store.6"/>
          <p:cNvSpPr txBox="1"/>
          <p:nvPr/>
        </p:nvSpPr>
        <p:spPr>
          <a:xfrm>
            <a:off x="4411980" y="2912363"/>
            <a:ext cx="841248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Features</a:t>
            </a:r>
            <a:endParaRPr lang="en-US" sz="900" b="0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lot.base.1"/>
          <p:cNvSpPr txBox="1"/>
          <p:nvPr/>
        </p:nvSpPr>
        <p:spPr>
          <a:xfrm>
            <a:off x="3968496" y="5916168"/>
            <a:ext cx="836676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Access rules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slot.base.2"/>
          <p:cNvSpPr txBox="1"/>
          <p:nvPr/>
        </p:nvSpPr>
        <p:spPr>
          <a:xfrm>
            <a:off x="4860036" y="5916168"/>
            <a:ext cx="836676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Data quality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lot.base.3"/>
          <p:cNvSpPr txBox="1"/>
          <p:nvPr/>
        </p:nvSpPr>
        <p:spPr>
          <a:xfrm>
            <a:off x="5751576" y="5916168"/>
            <a:ext cx="836676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Lineage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slot.base.4"/>
          <p:cNvSpPr txBox="1"/>
          <p:nvPr/>
        </p:nvSpPr>
        <p:spPr>
          <a:xfrm>
            <a:off x="6643116" y="5916168"/>
            <a:ext cx="836676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Cost tracking</a:t>
            </a:r>
            <a:endParaRPr lang="en-US" sz="10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truct.mosaic.lines.2"/>
          <p:cNvSpPr/>
          <p:nvPr/>
        </p:nvSpPr>
        <p:spPr>
          <a:xfrm>
            <a:off x="9417125" y="1457289"/>
            <a:ext cx="1585165" cy="4393070"/>
          </a:xfrm>
          <a:custGeom>
            <a:rect b="b" l="l" r="r" t="t"/>
            <a:pathLst>
              <a:path extrusionOk="0" h="158962" w="61728">
                <a:moveTo>
                  <a:pt x="1656" y="0"/>
                </a:moveTo>
                <a:lnTo>
                  <a:pt x="35564" y="23690"/>
                </a:lnTo>
                <a:lnTo>
                  <a:pt x="61728" y="63945"/>
                </a:lnTo>
                <a:cubicBezTo>
                  <a:pt x="61165" y="73586"/>
                  <a:pt x="60601" y="85295"/>
                  <a:pt x="60038" y="94936"/>
                </a:cubicBezTo>
                <a:lnTo>
                  <a:pt x="36557" y="137360"/>
                </a:lnTo>
                <a:lnTo>
                  <a:pt x="0" y="158962"/>
                </a:lnTo>
              </a:path>
            </a:pathLst>
          </a:custGeom>
          <a:noFill/>
          <a:ln cap="flat" cmpd="sng" w="10725">
            <a:solidFill>
              <a:schemeClr val="bg1">
                <a:lumMod val="75000"/>
              </a:schemeClr>
            </a:solidFill>
            <a:prstDash val="solid"/>
            <a:round/>
            <a:headEnd len="sm" w="sm" type="none"/>
            <a:tailEnd len="sm" w="sm" type="none"/>
          </a:ln>
          <a:effectLst/>
        </p:spPr>
        <p:txBody>
          <a:bodyPr anchorCtr="0" anchor="t" bIns="25700" lIns="51425" spcFirstLastPara="1" rIns="51425" wrap="square" tIns="2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ts val="800"/>
              <a:buFont typeface="Arial"/>
              <a:buNone/>
            </a:pPr>
            <a:r>
              <a:rPr sz="1850"/>
              <a:t/>
            </a:r>
            <a:endParaRPr b="0" i="0" sz="800" u="none" cap="none" strike="noStrike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slot.lane.1.icon"/>
          <p:cNvSpPr/>
          <p:nvPr/>
        </p:nvSpPr>
        <p:spPr>
          <a:xfrm>
            <a:off x="2212848" y="1837944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cubicBezTo>
                  <a:pt x="22000" y="17523"/>
                  <a:pt x="17523" y="22000"/>
                  <a:pt x="12000" y="22000"/>
                </a:cubicBezTo>
                <a:cubicBezTo>
                  <a:pt x="6477" y="22000"/>
                  <a:pt x="2000" y="17523"/>
                  <a:pt x="2000" y="12000"/>
                </a:cubicBezTo>
                <a:cubicBezTo>
                  <a:pt x="2000" y="6477"/>
                  <a:pt x="6477" y="2000"/>
                  <a:pt x="12000" y="2000"/>
                </a:cubicBezTo>
                <a:cubicBezTo>
                  <a:pt x="17523" y="2000"/>
                  <a:pt x="22000" y="6477"/>
                  <a:pt x="22000" y="12000"/>
                </a:cubicBezTo>
                <a:close/>
                <a:moveTo>
                  <a:pt x="12000" y="6000"/>
                </a:moveTo>
                <a:lnTo>
                  <a:pt x="12000" y="12000"/>
                </a:lnTo>
                <a:lnTo>
                  <a:pt x="16000" y="14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48" name="slot.lane.1.item.1.icon"/>
          <p:cNvSpPr/>
          <p:nvPr/>
        </p:nvSpPr>
        <p:spPr>
          <a:xfrm>
            <a:off x="2450592" y="21214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8000" y="13000"/>
                </a:moveTo>
                <a:lnTo>
                  <a:pt x="10000" y="13000"/>
                </a:lnTo>
                <a:moveTo>
                  <a:pt x="14000" y="13000"/>
                </a:moveTo>
                <a:lnTo>
                  <a:pt x="16000" y="13000"/>
                </a:lnTo>
                <a:moveTo>
                  <a:pt x="8000" y="17000"/>
                </a:moveTo>
                <a:lnTo>
                  <a:pt x="10000" y="17000"/>
                </a:lnTo>
                <a:moveTo>
                  <a:pt x="14000" y="17000"/>
                </a:moveTo>
                <a:lnTo>
                  <a:pt x="16000" y="17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49" name="slot.lane.1.item.1"/>
          <p:cNvSpPr txBox="1"/>
          <p:nvPr/>
        </p:nvSpPr>
        <p:spPr>
          <a:xfrm>
            <a:off x="2231136" y="2368296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Files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lot.lane.1.item.2.icon"/>
          <p:cNvSpPr/>
          <p:nvPr/>
        </p:nvSpPr>
        <p:spPr>
          <a:xfrm>
            <a:off x="3145536" y="2121408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3000"/>
                </a:moveTo>
                <a:lnTo>
                  <a:pt x="12000" y="21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3000" y="15000"/>
                </a:moveTo>
                <a:lnTo>
                  <a:pt x="21000" y="15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51" name="slot.lane.1.item.2"/>
          <p:cNvSpPr txBox="1"/>
          <p:nvPr/>
        </p:nvSpPr>
        <p:spPr>
          <a:xfrm>
            <a:off x="2926080" y="2368296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Tables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lot.lane.2.icon"/>
          <p:cNvSpPr/>
          <p:nvPr/>
        </p:nvSpPr>
        <p:spPr>
          <a:xfrm>
            <a:off x="2212848" y="294436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2000"/>
                </a:moveTo>
                <a:cubicBezTo>
                  <a:pt x="3000" y="7029"/>
                  <a:pt x="7029" y="3000"/>
                  <a:pt x="12000" y="3000"/>
                </a:cubicBezTo>
                <a:cubicBezTo>
                  <a:pt x="14516" y="3009"/>
                  <a:pt x="16931" y="3991"/>
                  <a:pt x="18740" y="5740"/>
                </a:cubicBezTo>
                <a:lnTo>
                  <a:pt x="21000" y="8000"/>
                </a:lnTo>
                <a:moveTo>
                  <a:pt x="21000" y="3000"/>
                </a:moveTo>
                <a:lnTo>
                  <a:pt x="21000" y="8000"/>
                </a:lnTo>
                <a:lnTo>
                  <a:pt x="16000" y="8000"/>
                </a:lnTo>
                <a:moveTo>
                  <a:pt x="21000" y="12000"/>
                </a:moveTo>
                <a:cubicBezTo>
                  <a:pt x="21000" y="16971"/>
                  <a:pt x="16971" y="21000"/>
                  <a:pt x="12000" y="21000"/>
                </a:cubicBezTo>
                <a:cubicBezTo>
                  <a:pt x="9484" y="20991"/>
                  <a:pt x="7069" y="20009"/>
                  <a:pt x="5260" y="18260"/>
                </a:cubicBezTo>
                <a:lnTo>
                  <a:pt x="3000" y="16000"/>
                </a:lnTo>
                <a:moveTo>
                  <a:pt x="8000" y="16000"/>
                </a:moveTo>
                <a:lnTo>
                  <a:pt x="3000" y="16000"/>
                </a:lnTo>
                <a:lnTo>
                  <a:pt x="3000" y="21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53" name="slot.lane.2.item.1.icon"/>
          <p:cNvSpPr/>
          <p:nvPr/>
        </p:nvSpPr>
        <p:spPr>
          <a:xfrm>
            <a:off x="2450592" y="32278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54" name="slot.lane.2.item.1"/>
          <p:cNvSpPr txBox="1"/>
          <p:nvPr/>
        </p:nvSpPr>
        <p:spPr>
          <a:xfrm>
            <a:off x="2231136" y="3474720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Logs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lot.lane.2.item.2.icon"/>
          <p:cNvSpPr/>
          <p:nvPr/>
        </p:nvSpPr>
        <p:spPr>
          <a:xfrm>
            <a:off x="3145536" y="322783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830" y="2180"/>
                </a:moveTo>
                <a:cubicBezTo>
                  <a:pt x="12303" y="1940"/>
                  <a:pt x="11697" y="1940"/>
                  <a:pt x="11170" y="2180"/>
                </a:cubicBezTo>
                <a:lnTo>
                  <a:pt x="2600" y="6080"/>
                </a:lnTo>
                <a:cubicBezTo>
                  <a:pt x="2237" y="6240"/>
                  <a:pt x="2003" y="6599"/>
                  <a:pt x="2003" y="6995"/>
                </a:cubicBezTo>
                <a:cubicBezTo>
                  <a:pt x="2003" y="7391"/>
                  <a:pt x="2237" y="7750"/>
                  <a:pt x="2600" y="7910"/>
                </a:cubicBezTo>
                <a:lnTo>
                  <a:pt x="11180" y="11820"/>
                </a:lnTo>
                <a:cubicBezTo>
                  <a:pt x="11707" y="12060"/>
                  <a:pt x="12313" y="12060"/>
                  <a:pt x="12840" y="11820"/>
                </a:cubicBezTo>
                <a:lnTo>
                  <a:pt x="21420" y="7920"/>
                </a:lnTo>
                <a:cubicBezTo>
                  <a:pt x="21783" y="7760"/>
                  <a:pt x="22017" y="7401"/>
                  <a:pt x="22017" y="7005"/>
                </a:cubicBezTo>
                <a:cubicBezTo>
                  <a:pt x="22017" y="6609"/>
                  <a:pt x="21783" y="6250"/>
                  <a:pt x="21420" y="6090"/>
                </a:cubicBezTo>
                <a:close/>
                <a:moveTo>
                  <a:pt x="2000" y="12000"/>
                </a:moveTo>
                <a:cubicBezTo>
                  <a:pt x="1999" y="12391"/>
                  <a:pt x="2226" y="12746"/>
                  <a:pt x="2580" y="12910"/>
                </a:cubicBezTo>
                <a:lnTo>
                  <a:pt x="11180" y="16820"/>
                </a:lnTo>
                <a:cubicBezTo>
                  <a:pt x="11704" y="17057"/>
                  <a:pt x="12306" y="17057"/>
                  <a:pt x="12830" y="16820"/>
                </a:cubicBezTo>
                <a:lnTo>
                  <a:pt x="21410" y="12920"/>
                </a:lnTo>
                <a:cubicBezTo>
                  <a:pt x="21772" y="12757"/>
                  <a:pt x="22003" y="12397"/>
                  <a:pt x="22000" y="12000"/>
                </a:cubicBezTo>
                <a:moveTo>
                  <a:pt x="2000" y="17000"/>
                </a:moveTo>
                <a:cubicBezTo>
                  <a:pt x="1999" y="17391"/>
                  <a:pt x="2226" y="17746"/>
                  <a:pt x="2580" y="17910"/>
                </a:cubicBezTo>
                <a:lnTo>
                  <a:pt x="11180" y="21820"/>
                </a:lnTo>
                <a:cubicBezTo>
                  <a:pt x="11704" y="22057"/>
                  <a:pt x="12306" y="22057"/>
                  <a:pt x="12830" y="21820"/>
                </a:cubicBezTo>
                <a:lnTo>
                  <a:pt x="21410" y="17920"/>
                </a:lnTo>
                <a:cubicBezTo>
                  <a:pt x="21772" y="17757"/>
                  <a:pt x="22003" y="17397"/>
                  <a:pt x="22000" y="17000"/>
                </a:cubicBez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56" name="slot.lane.2.item.2"/>
          <p:cNvSpPr txBox="1"/>
          <p:nvPr/>
        </p:nvSpPr>
        <p:spPr>
          <a:xfrm>
            <a:off x="2926080" y="3474720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Replicas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lot.lane.3.icon"/>
          <p:cNvSpPr/>
          <p:nvPr/>
        </p:nvSpPr>
        <p:spPr>
          <a:xfrm>
            <a:off x="2212848" y="4041648"/>
            <a:ext cx="182880" cy="18288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15240" cap="rnd">
            <a:solidFill>
              <a:schemeClr val="accent1"/>
            </a:solidFill>
            <a:round/>
          </a:ln>
          <a:effectLst/>
        </p:spPr>
      </p:sp>
      <p:sp>
        <p:nvSpPr>
          <p:cNvPr id="58" name="slot.lane.3.item.1.icon"/>
          <p:cNvSpPr/>
          <p:nvPr/>
        </p:nvSpPr>
        <p:spPr>
          <a:xfrm>
            <a:off x="2450592" y="432511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7000" y="2000"/>
                </a:moveTo>
                <a:lnTo>
                  <a:pt x="17000" y="2000"/>
                </a:lnTo>
                <a:cubicBezTo>
                  <a:pt x="18105" y="2000"/>
                  <a:pt x="19000" y="2895"/>
                  <a:pt x="19000" y="4000"/>
                </a:cubicBezTo>
                <a:lnTo>
                  <a:pt x="19000" y="20000"/>
                </a:lnTo>
                <a:cubicBezTo>
                  <a:pt x="19000" y="21105"/>
                  <a:pt x="18105" y="22000"/>
                  <a:pt x="17000" y="22000"/>
                </a:cubicBezTo>
                <a:lnTo>
                  <a:pt x="7000" y="22000"/>
                </a:lnTo>
                <a:cubicBezTo>
                  <a:pt x="5895" y="22000"/>
                  <a:pt x="5000" y="21105"/>
                  <a:pt x="5000" y="20000"/>
                </a:cubicBezTo>
                <a:lnTo>
                  <a:pt x="5000" y="4000"/>
                </a:lnTo>
                <a:cubicBezTo>
                  <a:pt x="5000" y="2895"/>
                  <a:pt x="5895" y="2000"/>
                  <a:pt x="7000" y="2000"/>
                </a:cubicBezTo>
                <a:close/>
                <a:moveTo>
                  <a:pt x="12000" y="18000"/>
                </a:moveTo>
                <a:lnTo>
                  <a:pt x="12010" y="18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59" name="slot.lane.3.item.1"/>
          <p:cNvSpPr txBox="1"/>
          <p:nvPr/>
        </p:nvSpPr>
        <p:spPr>
          <a:xfrm>
            <a:off x="2231136" y="4572000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Apps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slot.lane.3.item.2.icon"/>
          <p:cNvSpPr/>
          <p:nvPr/>
        </p:nvSpPr>
        <p:spPr>
          <a:xfrm>
            <a:off x="3145536" y="432511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0000"/>
                </a:moveTo>
                <a:lnTo>
                  <a:pt x="12000" y="22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7000" y="20000"/>
                </a:moveTo>
                <a:lnTo>
                  <a:pt x="17000" y="22000"/>
                </a:lnTo>
                <a:moveTo>
                  <a:pt x="17000" y="2000"/>
                </a:moveTo>
                <a:lnTo>
                  <a:pt x="17000" y="400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00" y="17000"/>
                </a:moveTo>
                <a:lnTo>
                  <a:pt x="4000" y="17000"/>
                </a:lnTo>
                <a:moveTo>
                  <a:pt x="2000" y="7000"/>
                </a:moveTo>
                <a:lnTo>
                  <a:pt x="4000" y="7000"/>
                </a:lnTo>
                <a:moveTo>
                  <a:pt x="20000" y="12000"/>
                </a:moveTo>
                <a:lnTo>
                  <a:pt x="22000" y="12000"/>
                </a:lnTo>
                <a:moveTo>
                  <a:pt x="20000" y="17000"/>
                </a:moveTo>
                <a:lnTo>
                  <a:pt x="22000" y="17000"/>
                </a:lnTo>
                <a:moveTo>
                  <a:pt x="20000" y="7000"/>
                </a:moveTo>
                <a:lnTo>
                  <a:pt x="22000" y="7000"/>
                </a:lnTo>
                <a:moveTo>
                  <a:pt x="7000" y="20000"/>
                </a:moveTo>
                <a:lnTo>
                  <a:pt x="7000" y="22000"/>
                </a:lnTo>
                <a:moveTo>
                  <a:pt x="7000" y="2000"/>
                </a:moveTo>
                <a:lnTo>
                  <a:pt x="7000" y="4000"/>
                </a:lnTo>
                <a:moveTo>
                  <a:pt x="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close/>
                <a:moveTo>
                  <a:pt x="9000" y="8000"/>
                </a:moveTo>
                <a:lnTo>
                  <a:pt x="15000" y="8000"/>
                </a:lnTo>
                <a:cubicBezTo>
                  <a:pt x="15552" y="8000"/>
                  <a:pt x="16000" y="8448"/>
                  <a:pt x="16000" y="9000"/>
                </a:cubicBezTo>
                <a:lnTo>
                  <a:pt x="16000" y="15000"/>
                </a:lnTo>
                <a:cubicBezTo>
                  <a:pt x="16000" y="15552"/>
                  <a:pt x="15552" y="16000"/>
                  <a:pt x="15000" y="16000"/>
                </a:cubicBezTo>
                <a:lnTo>
                  <a:pt x="9000" y="16000"/>
                </a:lnTo>
                <a:cubicBezTo>
                  <a:pt x="8448" y="16000"/>
                  <a:pt x="8000" y="15552"/>
                  <a:pt x="8000" y="15000"/>
                </a:cubicBezTo>
                <a:lnTo>
                  <a:pt x="8000" y="9000"/>
                </a:lnTo>
                <a:cubicBezTo>
                  <a:pt x="8000" y="8448"/>
                  <a:pt x="8448" y="8000"/>
                  <a:pt x="9000" y="8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61" name="slot.lane.3.item.2"/>
          <p:cNvSpPr txBox="1"/>
          <p:nvPr/>
        </p:nvSpPr>
        <p:spPr>
          <a:xfrm>
            <a:off x="2926080" y="4572000"/>
            <a:ext cx="658368" cy="2011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ctr" bIns="0" lIns="0" spcFirstLastPara="1" rIns="0" wrap="square" tIns="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80000"/>
                    <a:lumOff val="20000"/>
                  </a:schemeClr>
                </a:solidFill>
                <a:latin typeface="Arial"/>
                <a:ea typeface="Arial"/>
                <a:cs typeface="Arial"/>
              </a:rPr>
              <a:t>Sensors</a:t>
            </a:r>
            <a:endParaRPr lang="en-US" sz="900" b="0" i="0" kern="0" dirty="0">
              <a:solidFill>
                <a:schemeClr val="tx1">
                  <a:lumMod val="80000"/>
                  <a:lumOff val="2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truct.lane.1.out"/>
          <p:cNvSpPr/>
          <p:nvPr/>
        </p:nvSpPr>
        <p:spPr>
          <a:xfrm>
            <a:off x="3602736" y="2340864"/>
            <a:ext cx="331535" cy="928116"/>
          </a:xfrm>
          <a:custGeom>
            <a:avLst/>
            <a:gdLst/>
            <a:ahLst/>
            <a:cxnLst/>
            <a:rect l="l" t="t" r="r" b="b"/>
            <a:pathLst>
              <a:path w="331535" h="928116" fill="none">
                <a:moveTo>
                  <a:pt x="0" y="0"/>
                </a:moveTo>
                <a:lnTo>
                  <a:pt x="146304" y="0"/>
                </a:lnTo>
                <a:lnTo>
                  <a:pt x="146304" y="928116"/>
                </a:lnTo>
                <a:lnTo>
                  <a:pt x="331535" y="928116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cxnSp>
        <p:nvCxnSpPr>
          <p:cNvPr id="63" name="struct.lane.2.out"/>
          <p:cNvCxnSpPr/>
          <p:nvPr/>
        </p:nvCxnSpPr>
        <p:spPr>
          <a:xfrm>
            <a:off x="3602736" y="3447288"/>
            <a:ext cx="313412" cy="0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sp>
        <p:nvSpPr>
          <p:cNvPr id="64" name="struct.lane.3.out"/>
          <p:cNvSpPr/>
          <p:nvPr/>
        </p:nvSpPr>
        <p:spPr>
          <a:xfrm>
            <a:off x="3602736" y="3817620"/>
            <a:ext cx="331535" cy="726948"/>
          </a:xfrm>
          <a:custGeom>
            <a:avLst/>
            <a:gdLst/>
            <a:ahLst/>
            <a:cxnLst/>
            <a:rect l="l" t="t" r="r" b="b"/>
            <a:pathLst>
              <a:path w="331535" h="726948" fill="none">
                <a:moveTo>
                  <a:pt x="0" y="726948"/>
                </a:moveTo>
                <a:lnTo>
                  <a:pt x="146304" y="726948"/>
                </a:lnTo>
                <a:lnTo>
                  <a:pt x="146304" y="0"/>
                </a:lnTo>
                <a:lnTo>
                  <a:pt x="331535" y="0"/>
                </a:lnTo>
              </a:path>
            </a:pathLst>
          </a:custGeom>
          <a:noFill/>
          <a:ln w="9525">
            <a:solidFill>
              <a:schemeClr val="tx1">
                <a:lumMod val="65000"/>
                <a:lumOff val="35000"/>
              </a:schemeClr>
            </a:solidFill>
            <a:miter lim="800000"/>
            <a:tailEnd type="triangle" w="med" len="med"/>
          </a:ln>
          <a:effectLst/>
        </p:spPr>
      </p:sp>
      <p:cxnSp>
        <p:nvCxnSpPr>
          <p:cNvPr id="65" name="struct.spoke.1"/>
          <p:cNvCxnSpPr/>
          <p:nvPr/>
        </p:nvCxnSpPr>
        <p:spPr>
          <a:xfrm>
            <a:off x="5747004" y="2747772"/>
            <a:ext cx="0" cy="448056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cxnSp>
        <p:nvCxnSpPr>
          <p:cNvPr id="66" name="struct.spoke.2"/>
          <p:cNvCxnSpPr/>
          <p:nvPr/>
        </p:nvCxnSpPr>
        <p:spPr>
          <a:xfrm flipH="1">
            <a:off x="6167628" y="3305556"/>
            <a:ext cx="128016" cy="0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cxnSp>
        <p:nvCxnSpPr>
          <p:cNvPr id="67" name="struct.spoke.3"/>
          <p:cNvCxnSpPr/>
          <p:nvPr/>
        </p:nvCxnSpPr>
        <p:spPr>
          <a:xfrm flipH="1">
            <a:off x="6167628" y="3781044"/>
            <a:ext cx="128016" cy="0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cxnSp>
        <p:nvCxnSpPr>
          <p:cNvPr id="68" name="struct.spoke.4"/>
          <p:cNvCxnSpPr/>
          <p:nvPr/>
        </p:nvCxnSpPr>
        <p:spPr>
          <a:xfrm flipV="1">
            <a:off x="5747004" y="3890772"/>
            <a:ext cx="0" cy="338328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cxnSp>
        <p:nvCxnSpPr>
          <p:cNvPr id="69" name="struct.spoke.5"/>
          <p:cNvCxnSpPr/>
          <p:nvPr/>
        </p:nvCxnSpPr>
        <p:spPr>
          <a:xfrm>
            <a:off x="5198364" y="3781044"/>
            <a:ext cx="128016" cy="0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cxnSp>
        <p:nvCxnSpPr>
          <p:cNvPr id="70" name="struct.spoke.6"/>
          <p:cNvCxnSpPr/>
          <p:nvPr/>
        </p:nvCxnSpPr>
        <p:spPr>
          <a:xfrm>
            <a:off x="5198364" y="3305556"/>
            <a:ext cx="128016" cy="0"/>
          </a:xfrm>
          <a:prstGeom prst="line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 w="med" len="med"/>
          </a:ln>
          <a:effectLst/>
        </p:spPr>
      </p:cxnSp>
      <p:sp>
        <p:nvSpPr>
          <p:cNvPr id="71" name="slot.domain.1.head"/>
          <p:cNvSpPr txBox="1"/>
          <p:nvPr/>
        </p:nvSpPr>
        <p:spPr>
          <a:xfrm>
            <a:off x="8152152" y="2432304"/>
            <a:ext cx="896112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b" bIns="34250" lIns="68575" spcFirstLastPara="1" rIns="68575" wrap="square" tIns="3425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Marketing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lot.domain.1.icon"/>
          <p:cNvSpPr/>
          <p:nvPr/>
        </p:nvSpPr>
        <p:spPr>
          <a:xfrm>
            <a:off x="8551555" y="215798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6000"/>
                </a:moveTo>
                <a:cubicBezTo>
                  <a:pt x="14041" y="6078"/>
                  <a:pt x="17014" y="5088"/>
                  <a:pt x="19400" y="3200"/>
                </a:cubicBezTo>
                <a:cubicBezTo>
                  <a:pt x="19703" y="2973"/>
                  <a:pt x="20108" y="2936"/>
                  <a:pt x="20447" y="3106"/>
                </a:cubicBezTo>
                <a:cubicBezTo>
                  <a:pt x="20786" y="3275"/>
                  <a:pt x="21000" y="3621"/>
                  <a:pt x="21000" y="4000"/>
                </a:cubicBezTo>
                <a:lnTo>
                  <a:pt x="21000" y="16000"/>
                </a:lnTo>
                <a:cubicBezTo>
                  <a:pt x="21000" y="16379"/>
                  <a:pt x="20786" y="16725"/>
                  <a:pt x="20447" y="16894"/>
                </a:cubicBezTo>
                <a:cubicBezTo>
                  <a:pt x="20108" y="17064"/>
                  <a:pt x="19703" y="17027"/>
                  <a:pt x="19400" y="16800"/>
                </a:cubicBezTo>
                <a:cubicBezTo>
                  <a:pt x="17014" y="14912"/>
                  <a:pt x="14041" y="13922"/>
                  <a:pt x="11000" y="14000"/>
                </a:cubicBezTo>
                <a:lnTo>
                  <a:pt x="5000" y="14000"/>
                </a:lnTo>
                <a:cubicBezTo>
                  <a:pt x="3895" y="14000"/>
                  <a:pt x="3000" y="13105"/>
                  <a:pt x="3000" y="12000"/>
                </a:cubicBezTo>
                <a:lnTo>
                  <a:pt x="3000" y="8000"/>
                </a:lnTo>
                <a:cubicBezTo>
                  <a:pt x="3000" y="6895"/>
                  <a:pt x="3895" y="6000"/>
                  <a:pt x="5000" y="6000"/>
                </a:cubicBezTo>
                <a:close/>
                <a:moveTo>
                  <a:pt x="6000" y="14000"/>
                </a:moveTo>
                <a:cubicBezTo>
                  <a:pt x="6000" y="16596"/>
                  <a:pt x="6842" y="19123"/>
                  <a:pt x="8400" y="21200"/>
                </a:cubicBezTo>
                <a:cubicBezTo>
                  <a:pt x="9063" y="22084"/>
                  <a:pt x="10316" y="22263"/>
                  <a:pt x="11200" y="21600"/>
                </a:cubicBezTo>
                <a:cubicBezTo>
                  <a:pt x="12084" y="20937"/>
                  <a:pt x="12263" y="19684"/>
                  <a:pt x="11600" y="18800"/>
                </a:cubicBezTo>
                <a:cubicBezTo>
                  <a:pt x="10561" y="17415"/>
                  <a:pt x="10000" y="15731"/>
                  <a:pt x="10000" y="14000"/>
                </a:cubicBezTo>
                <a:moveTo>
                  <a:pt x="8000" y="6000"/>
                </a:moveTo>
                <a:lnTo>
                  <a:pt x="8000" y="14000"/>
                </a:lnTo>
              </a:path>
            </a:pathLst>
          </a:custGeom>
          <a:noFill/>
          <a:ln w="22860" cap="rnd">
            <a:solidFill>
              <a:schemeClr val="bg1"/>
            </a:solidFill>
            <a:round/>
          </a:ln>
          <a:effectLst/>
        </p:spPr>
      </p:sp>
      <p:sp>
        <p:nvSpPr>
          <p:cNvPr id="73" name="slot.domain.1.use.1"/>
          <p:cNvSpPr txBox="1"/>
          <p:nvPr/>
        </p:nvSpPr>
        <p:spPr>
          <a:xfrm>
            <a:off x="9099048" y="1778608"/>
            <a:ext cx="914400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Audience segments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slot.domain.1.use.2"/>
          <p:cNvSpPr txBox="1"/>
          <p:nvPr/>
        </p:nvSpPr>
        <p:spPr>
          <a:xfrm rot="-1501">
            <a:off x="10100917" y="1507670"/>
            <a:ext cx="916377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Campaign lift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lot.domain.2.head"/>
          <p:cNvSpPr txBox="1"/>
          <p:nvPr/>
        </p:nvSpPr>
        <p:spPr>
          <a:xfrm>
            <a:off x="8575519" y="2953512"/>
            <a:ext cx="7315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34250" lIns="68575" spcFirstLastPara="1" rIns="68575" wrap="square" tIns="3425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Sales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slot.domain.2.icon"/>
          <p:cNvSpPr/>
          <p:nvPr/>
        </p:nvSpPr>
        <p:spPr>
          <a:xfrm>
            <a:off x="9206576" y="288950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1000" y="17000"/>
                </a:moveTo>
                <a:lnTo>
                  <a:pt x="13000" y="19000"/>
                </a:lnTo>
                <a:cubicBezTo>
                  <a:pt x="13828" y="19828"/>
                  <a:pt x="15172" y="19828"/>
                  <a:pt x="16000" y="19000"/>
                </a:cubicBezTo>
                <a:cubicBezTo>
                  <a:pt x="16828" y="18172"/>
                  <a:pt x="16828" y="16828"/>
                  <a:pt x="16000" y="16000"/>
                </a:cubicBezTo>
                <a:moveTo>
                  <a:pt x="14000" y="14000"/>
                </a:moveTo>
                <a:lnTo>
                  <a:pt x="16500" y="16500"/>
                </a:lnTo>
                <a:cubicBezTo>
                  <a:pt x="17328" y="17328"/>
                  <a:pt x="18672" y="17328"/>
                  <a:pt x="19500" y="16500"/>
                </a:cubicBezTo>
                <a:cubicBezTo>
                  <a:pt x="20328" y="15672"/>
                  <a:pt x="20328" y="14328"/>
                  <a:pt x="19500" y="13500"/>
                </a:cubicBezTo>
                <a:lnTo>
                  <a:pt x="15620" y="9620"/>
                </a:lnTo>
                <a:cubicBezTo>
                  <a:pt x="14449" y="8450"/>
                  <a:pt x="12551" y="8450"/>
                  <a:pt x="11380" y="9620"/>
                </a:cubicBezTo>
                <a:lnTo>
                  <a:pt x="10500" y="10500"/>
                </a:lnTo>
                <a:cubicBezTo>
                  <a:pt x="9672" y="11328"/>
                  <a:pt x="8328" y="11328"/>
                  <a:pt x="7500" y="10500"/>
                </a:cubicBezTo>
                <a:cubicBezTo>
                  <a:pt x="6672" y="9672"/>
                  <a:pt x="6672" y="8328"/>
                  <a:pt x="7500" y="7500"/>
                </a:cubicBezTo>
                <a:lnTo>
                  <a:pt x="10310" y="4690"/>
                </a:lnTo>
                <a:cubicBezTo>
                  <a:pt x="12187" y="2818"/>
                  <a:pt x="15095" y="2460"/>
                  <a:pt x="17370" y="3820"/>
                </a:cubicBezTo>
                <a:lnTo>
                  <a:pt x="17840" y="4100"/>
                </a:lnTo>
                <a:cubicBezTo>
                  <a:pt x="18266" y="4357"/>
                  <a:pt x="18772" y="4446"/>
                  <a:pt x="19260" y="4350"/>
                </a:cubicBezTo>
                <a:lnTo>
                  <a:pt x="21000" y="4000"/>
                </a:lnTo>
                <a:moveTo>
                  <a:pt x="21000" y="3000"/>
                </a:moveTo>
                <a:lnTo>
                  <a:pt x="22000" y="14000"/>
                </a:lnTo>
                <a:lnTo>
                  <a:pt x="20000" y="14000"/>
                </a:lnTo>
                <a:moveTo>
                  <a:pt x="3000" y="3000"/>
                </a:moveTo>
                <a:lnTo>
                  <a:pt x="2000" y="14000"/>
                </a:lnTo>
                <a:lnTo>
                  <a:pt x="8500" y="20500"/>
                </a:lnTo>
                <a:cubicBezTo>
                  <a:pt x="9328" y="21328"/>
                  <a:pt x="10672" y="21328"/>
                  <a:pt x="11500" y="20500"/>
                </a:cubicBezTo>
                <a:cubicBezTo>
                  <a:pt x="12328" y="19672"/>
                  <a:pt x="12328" y="18328"/>
                  <a:pt x="11500" y="17500"/>
                </a:cubicBezTo>
                <a:moveTo>
                  <a:pt x="3000" y="4000"/>
                </a:moveTo>
                <a:lnTo>
                  <a:pt x="11000" y="4000"/>
                </a:lnTo>
              </a:path>
            </a:pathLst>
          </a:custGeom>
          <a:noFill/>
          <a:ln w="22860" cap="rnd">
            <a:solidFill>
              <a:schemeClr val="bg1"/>
            </a:solidFill>
            <a:round/>
          </a:ln>
          <a:effectLst/>
        </p:spPr>
      </p:sp>
      <p:sp>
        <p:nvSpPr>
          <p:cNvPr id="77" name="slot.domain.2.use.1"/>
          <p:cNvSpPr txBox="1"/>
          <p:nvPr/>
        </p:nvSpPr>
        <p:spPr>
          <a:xfrm>
            <a:off x="9749286" y="2596762"/>
            <a:ext cx="1273968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Lead scoring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slot.domain.2.use.2"/>
          <p:cNvSpPr txBox="1"/>
          <p:nvPr/>
        </p:nvSpPr>
        <p:spPr>
          <a:xfrm rot="-1501">
            <a:off x="10857829" y="2361054"/>
            <a:ext cx="916377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Price guidance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slot.domain.3.head"/>
          <p:cNvSpPr txBox="1"/>
          <p:nvPr/>
        </p:nvSpPr>
        <p:spPr>
          <a:xfrm>
            <a:off x="8679364" y="3465576"/>
            <a:ext cx="841248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34250" lIns="68575" spcFirstLastPara="1" rIns="68575" wrap="square" tIns="3425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Service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slot.domain.3.icon"/>
          <p:cNvSpPr/>
          <p:nvPr/>
        </p:nvSpPr>
        <p:spPr>
          <a:xfrm>
            <a:off x="9446218" y="3529584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22860" cap="rnd">
            <a:solidFill>
              <a:schemeClr val="bg1"/>
            </a:solidFill>
            <a:round/>
          </a:ln>
          <a:effectLst/>
        </p:spPr>
      </p:sp>
      <p:sp>
        <p:nvSpPr>
          <p:cNvPr id="81" name="slot.domain.3.use.1"/>
          <p:cNvSpPr txBox="1"/>
          <p:nvPr/>
        </p:nvSpPr>
        <p:spPr>
          <a:xfrm>
            <a:off x="10053341" y="3386971"/>
            <a:ext cx="949976" cy="56958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Churn alerts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lot.domain.3.use.2"/>
          <p:cNvSpPr txBox="1"/>
          <p:nvPr/>
        </p:nvSpPr>
        <p:spPr>
          <a:xfrm rot="-1707">
            <a:off x="11009376" y="3376754"/>
            <a:ext cx="786384" cy="569586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Case routing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domain.4.head"/>
          <p:cNvSpPr txBox="1"/>
          <p:nvPr/>
        </p:nvSpPr>
        <p:spPr>
          <a:xfrm>
            <a:off x="8495638" y="4014215"/>
            <a:ext cx="795528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34250" lIns="68575" spcFirstLastPara="1" rIns="68575" wrap="square" tIns="3425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Supply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lot.domain.4.icon"/>
          <p:cNvSpPr/>
          <p:nvPr/>
        </p:nvSpPr>
        <p:spPr>
          <a:xfrm>
            <a:off x="9190600" y="415137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4000" y="18000"/>
                </a:moveTo>
                <a:lnTo>
                  <a:pt x="14000" y="6000"/>
                </a:lnTo>
                <a:cubicBezTo>
                  <a:pt x="14000" y="4895"/>
                  <a:pt x="13105" y="4000"/>
                  <a:pt x="12000" y="4000"/>
                </a:cubicBezTo>
                <a:lnTo>
                  <a:pt x="4000" y="4000"/>
                </a:lnTo>
                <a:cubicBezTo>
                  <a:pt x="2895" y="4000"/>
                  <a:pt x="2000" y="4895"/>
                  <a:pt x="2000" y="6000"/>
                </a:cubicBezTo>
                <a:lnTo>
                  <a:pt x="2000" y="17000"/>
                </a:lnTo>
                <a:cubicBezTo>
                  <a:pt x="2000" y="17552"/>
                  <a:pt x="2448" y="18000"/>
                  <a:pt x="3000" y="18000"/>
                </a:cubicBezTo>
                <a:lnTo>
                  <a:pt x="5000" y="18000"/>
                </a:lnTo>
                <a:moveTo>
                  <a:pt x="15000" y="18000"/>
                </a:moveTo>
                <a:lnTo>
                  <a:pt x="9000" y="18000"/>
                </a:lnTo>
                <a:moveTo>
                  <a:pt x="19000" y="18000"/>
                </a:moveTo>
                <a:lnTo>
                  <a:pt x="21000" y="18000"/>
                </a:lnTo>
                <a:cubicBezTo>
                  <a:pt x="21552" y="18000"/>
                  <a:pt x="22000" y="17552"/>
                  <a:pt x="22000" y="17000"/>
                </a:cubicBezTo>
                <a:lnTo>
                  <a:pt x="22000" y="13350"/>
                </a:lnTo>
                <a:cubicBezTo>
                  <a:pt x="22000" y="13123"/>
                  <a:pt x="21922" y="12903"/>
                  <a:pt x="21780" y="12726"/>
                </a:cubicBezTo>
                <a:lnTo>
                  <a:pt x="18300" y="8376"/>
                </a:lnTo>
                <a:cubicBezTo>
                  <a:pt x="18111" y="8139"/>
                  <a:pt x="17824" y="8000"/>
                  <a:pt x="17520" y="8000"/>
                </a:cubicBezTo>
                <a:lnTo>
                  <a:pt x="14000" y="8000"/>
                </a:lnTo>
                <a:moveTo>
                  <a:pt x="19000" y="18000"/>
                </a:moveTo>
                <a:cubicBezTo>
                  <a:pt x="19000" y="19105"/>
                  <a:pt x="18105" y="20000"/>
                  <a:pt x="17000" y="20000"/>
                </a:cubicBezTo>
                <a:cubicBezTo>
                  <a:pt x="15895" y="20000"/>
                  <a:pt x="15000" y="19105"/>
                  <a:pt x="15000" y="18000"/>
                </a:cubicBezTo>
                <a:cubicBezTo>
                  <a:pt x="15000" y="16895"/>
                  <a:pt x="15895" y="16000"/>
                  <a:pt x="17000" y="16000"/>
                </a:cubicBezTo>
                <a:cubicBezTo>
                  <a:pt x="18105" y="16000"/>
                  <a:pt x="19000" y="16895"/>
                  <a:pt x="19000" y="18000"/>
                </a:cubicBezTo>
                <a:close/>
                <a:moveTo>
                  <a:pt x="9000" y="18000"/>
                </a:moveTo>
                <a:cubicBezTo>
                  <a:pt x="9000" y="19105"/>
                  <a:pt x="8105" y="20000"/>
                  <a:pt x="7000" y="20000"/>
                </a:cubicBezTo>
                <a:cubicBezTo>
                  <a:pt x="5895" y="20000"/>
                  <a:pt x="5000" y="19105"/>
                  <a:pt x="5000" y="18000"/>
                </a:cubicBezTo>
                <a:cubicBezTo>
                  <a:pt x="5000" y="16895"/>
                  <a:pt x="5895" y="16000"/>
                  <a:pt x="7000" y="16000"/>
                </a:cubicBezTo>
                <a:cubicBezTo>
                  <a:pt x="8105" y="16000"/>
                  <a:pt x="9000" y="16895"/>
                  <a:pt x="9000" y="18000"/>
                </a:cubicBezTo>
                <a:close/>
              </a:path>
            </a:pathLst>
          </a:custGeom>
          <a:noFill/>
          <a:ln w="22860" cap="rnd">
            <a:solidFill>
              <a:schemeClr val="bg1"/>
            </a:solidFill>
            <a:round/>
          </a:ln>
          <a:effectLst/>
        </p:spPr>
      </p:sp>
      <p:sp>
        <p:nvSpPr>
          <p:cNvPr id="85" name="slot.domain.4.use.1"/>
          <p:cNvSpPr txBox="1"/>
          <p:nvPr/>
        </p:nvSpPr>
        <p:spPr>
          <a:xfrm rot="-1870">
            <a:off x="9858984" y="4336369"/>
            <a:ext cx="914400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Demand forecast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lot.domain.4.use.2"/>
          <p:cNvSpPr txBox="1"/>
          <p:nvPr/>
        </p:nvSpPr>
        <p:spPr>
          <a:xfrm rot="-1917">
            <a:off x="10881360" y="4520827"/>
            <a:ext cx="914400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Stock balancing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slot.domain.5.head"/>
          <p:cNvSpPr txBox="1"/>
          <p:nvPr/>
        </p:nvSpPr>
        <p:spPr>
          <a:xfrm>
            <a:off x="8024343" y="4882896"/>
            <a:ext cx="832104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b" bIns="34250" lIns="68575" spcFirstLastPara="1" rIns="68575" wrap="square" tIns="3425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Finance</a:t>
            </a:r>
            <a:endParaRPr lang="en-US" sz="10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lot.domain.5.icon"/>
          <p:cNvSpPr/>
          <p:nvPr/>
        </p:nvSpPr>
        <p:spPr>
          <a:xfrm>
            <a:off x="8375818" y="4590288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22860" cap="rnd">
            <a:solidFill>
              <a:schemeClr val="bg1"/>
            </a:solidFill>
            <a:round/>
          </a:ln>
          <a:effectLst/>
        </p:spPr>
      </p:sp>
      <p:sp>
        <p:nvSpPr>
          <p:cNvPr id="89" name="slot.domain.5.use.1"/>
          <p:cNvSpPr txBox="1"/>
          <p:nvPr/>
        </p:nvSpPr>
        <p:spPr>
          <a:xfrm rot="-1447">
            <a:off x="9055572" y="5209676"/>
            <a:ext cx="950376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Margin by account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lot.domain.5.use.2"/>
          <p:cNvSpPr txBox="1"/>
          <p:nvPr/>
        </p:nvSpPr>
        <p:spPr>
          <a:xfrm rot="-1287">
            <a:off x="10089350" y="5431318"/>
            <a:ext cx="1068373" cy="429768"/>
          </a:xfrm>
          <a:prstGeom prst="rect">
            <a:avLst/>
          </a:prstGeom>
          <a:noFill/>
          <a:ln>
            <a:noFill/>
          </a:ln>
          <a:effectLst/>
        </p:spPr>
        <p:txBody>
          <a:bodyPr anchorCtr="0" anchor="t" bIns="51425" lIns="51425" spcFirstLastPara="1" rIns="51425" wrap="square" tIns="51425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Cash forecast</a:t>
            </a:r>
            <a:endParaRPr lang="en-US" sz="1000" b="0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olution-architecture:bounded-core-side-columns">
    <p:spTree>
      <p:nvGrpSpPr>
        <p:cNvPr id="1" name=""/>
        <p:cNvGrpSpPr/>
        <p:nvPr/>
      </p:nvGrpSpPr>
      <p:grpSpPr/>
      <p:sp>
        <p:nvSpPr>
          <p:cNvPr id="2" name="struct.page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slot.title"/>
          <p:cNvSpPr txBox="1"/>
          <p:nvPr/>
        </p:nvSpPr>
        <p:spPr>
          <a:xfrm>
            <a:off x="118872" y="91440"/>
            <a:ext cx="11951208" cy="457200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 dirty="0">
                <a:solidFill>
                  <a:schemeClr val="accent1"/>
                </a:solidFill>
                <a:latin typeface="Arial"/>
                <a:ea typeface="Arial"/>
                <a:cs typeface="Arial"/>
              </a:rPr>
              <a:t>One governed platform</a:t>
            </a:r>
            <a:r>
              <a:rPr lang="en-US" sz="2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 serves every agent from shared, certified data</a:t>
            </a:r>
            <a:endParaRPr lang="en-US" sz="2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uct.sources.frame"/>
          <p:cNvSpPr/>
          <p:nvPr/>
        </p:nvSpPr>
        <p:spPr>
          <a:xfrm>
            <a:off x="121917" y="609585"/>
            <a:ext cx="1463003" cy="6126327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" name="slot.sources.tab"/>
          <p:cNvSpPr/>
          <p:nvPr/>
        </p:nvSpPr>
        <p:spPr>
          <a:xfrm>
            <a:off x="121917" y="609585"/>
            <a:ext cx="1463003" cy="29260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Sources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lot.sources.group.1"/>
          <p:cNvSpPr txBox="1"/>
          <p:nvPr/>
        </p:nvSpPr>
        <p:spPr>
          <a:xfrm>
            <a:off x="195067" y="999719"/>
            <a:ext cx="1316703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Operational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struct.source.1.card"/>
          <p:cNvSpPr/>
          <p:nvPr/>
        </p:nvSpPr>
        <p:spPr>
          <a:xfrm>
            <a:off x="195067" y="1170403"/>
            <a:ext cx="1316703" cy="380482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" name="slot.source.1.label"/>
          <p:cNvSpPr txBox="1"/>
          <p:nvPr/>
        </p:nvSpPr>
        <p:spPr>
          <a:xfrm>
            <a:off x="499860" y="1170403"/>
            <a:ext cx="963144" cy="380482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ERP ledger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truct.source.2.card"/>
          <p:cNvSpPr/>
          <p:nvPr/>
        </p:nvSpPr>
        <p:spPr>
          <a:xfrm>
            <a:off x="195067" y="1587460"/>
            <a:ext cx="1316703" cy="380482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slot.source.2.label"/>
          <p:cNvSpPr txBox="1"/>
          <p:nvPr/>
        </p:nvSpPr>
        <p:spPr>
          <a:xfrm>
            <a:off x="499860" y="1587460"/>
            <a:ext cx="963144" cy="380482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CRM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struct.source.3.card"/>
          <p:cNvSpPr/>
          <p:nvPr/>
        </p:nvSpPr>
        <p:spPr>
          <a:xfrm>
            <a:off x="195067" y="2004518"/>
            <a:ext cx="1316703" cy="380482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2" name="slot.source.3.label"/>
          <p:cNvSpPr txBox="1"/>
          <p:nvPr/>
        </p:nvSpPr>
        <p:spPr>
          <a:xfrm>
            <a:off x="499860" y="2004518"/>
            <a:ext cx="963144" cy="380482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Orders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slot.sources.more.1"/>
          <p:cNvSpPr/>
          <p:nvPr/>
        </p:nvSpPr>
        <p:spPr>
          <a:xfrm>
            <a:off x="195067" y="2421575"/>
            <a:ext cx="1316703" cy="380482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54864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+4 more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lot.sources.group.2"/>
          <p:cNvSpPr txBox="1"/>
          <p:nvPr/>
        </p:nvSpPr>
        <p:spPr>
          <a:xfrm>
            <a:off x="195067" y="2887400"/>
            <a:ext cx="1316703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Documents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truct.source.4.card"/>
          <p:cNvSpPr/>
          <p:nvPr/>
        </p:nvSpPr>
        <p:spPr>
          <a:xfrm>
            <a:off x="192024" y="3058084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slot.source.4.label"/>
          <p:cNvSpPr txBox="1"/>
          <p:nvPr/>
        </p:nvSpPr>
        <p:spPr>
          <a:xfrm>
            <a:off x="502920" y="3058084"/>
            <a:ext cx="960120" cy="49377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Contracts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truct.source.5.card"/>
          <p:cNvSpPr/>
          <p:nvPr/>
        </p:nvSpPr>
        <p:spPr>
          <a:xfrm>
            <a:off x="192024" y="3629584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8" name="slot.source.5.label"/>
          <p:cNvSpPr txBox="1"/>
          <p:nvPr/>
        </p:nvSpPr>
        <p:spPr>
          <a:xfrm>
            <a:off x="502920" y="3629584"/>
            <a:ext cx="960120" cy="49377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Tickets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slot.sources.more.2"/>
          <p:cNvSpPr/>
          <p:nvPr/>
        </p:nvSpPr>
        <p:spPr>
          <a:xfrm>
            <a:off x="192024" y="4201083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54864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+2 more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slot.sources.group.3"/>
          <p:cNvSpPr txBox="1"/>
          <p:nvPr/>
        </p:nvSpPr>
        <p:spPr>
          <a:xfrm>
            <a:off x="195067" y="4775081"/>
            <a:ext cx="1316703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External feeds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truct.source.6.card"/>
          <p:cNvSpPr/>
          <p:nvPr/>
        </p:nvSpPr>
        <p:spPr>
          <a:xfrm>
            <a:off x="192024" y="4945764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2" name="slot.source.6.label"/>
          <p:cNvSpPr txBox="1"/>
          <p:nvPr/>
        </p:nvSpPr>
        <p:spPr>
          <a:xfrm>
            <a:off x="502920" y="4945764"/>
            <a:ext cx="960120" cy="49377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Market prices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struct.source.7.card"/>
          <p:cNvSpPr/>
          <p:nvPr/>
        </p:nvSpPr>
        <p:spPr>
          <a:xfrm>
            <a:off x="192024" y="5517264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4" name="slot.source.7.label"/>
          <p:cNvSpPr txBox="1"/>
          <p:nvPr/>
        </p:nvSpPr>
        <p:spPr>
          <a:xfrm>
            <a:off x="502920" y="5517264"/>
            <a:ext cx="960120" cy="49377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Partner files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slot.sources.more.3"/>
          <p:cNvSpPr/>
          <p:nvPr/>
        </p:nvSpPr>
        <p:spPr>
          <a:xfrm>
            <a:off x="192024" y="6088764"/>
            <a:ext cx="1316736" cy="493776"/>
          </a:xfrm>
          <a:prstGeom prst="rect">
            <a:avLst/>
          </a:prstGeom>
          <a:solidFill>
            <a:schemeClr val="bg1"/>
          </a:solidFill>
          <a:ln w="381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54864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+3 more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struct.consumers.frame"/>
          <p:cNvSpPr/>
          <p:nvPr/>
        </p:nvSpPr>
        <p:spPr>
          <a:xfrm>
            <a:off x="10606773" y="609585"/>
            <a:ext cx="1463003" cy="6126327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7" name="slot.consumers.tab"/>
          <p:cNvSpPr/>
          <p:nvPr/>
        </p:nvSpPr>
        <p:spPr>
          <a:xfrm>
            <a:off x="10606773" y="609585"/>
            <a:ext cx="1463003" cy="29260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Consumers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slot.consumers.group.1"/>
          <p:cNvSpPr txBox="1"/>
          <p:nvPr/>
        </p:nvSpPr>
        <p:spPr>
          <a:xfrm>
            <a:off x="10707624" y="1005840"/>
            <a:ext cx="1271016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Channels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truct.consumer.1.card"/>
          <p:cNvSpPr/>
          <p:nvPr/>
        </p:nvSpPr>
        <p:spPr>
          <a:xfrm>
            <a:off x="10707624" y="1197864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0" name="slot.consumer.1.text"/>
          <p:cNvSpPr txBox="1"/>
          <p:nvPr/>
        </p:nvSpPr>
        <p:spPr>
          <a:xfrm>
            <a:off x="11091672" y="1197864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Sales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CRM copilot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struct.consumer.2.card"/>
          <p:cNvSpPr/>
          <p:nvPr/>
        </p:nvSpPr>
        <p:spPr>
          <a:xfrm>
            <a:off x="10707624" y="1819656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2" name="slot.consumer.2.text"/>
          <p:cNvSpPr txBox="1"/>
          <p:nvPr/>
        </p:nvSpPr>
        <p:spPr>
          <a:xfrm>
            <a:off x="11091672" y="1819656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Service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Case replies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truct.consumer.3.card"/>
          <p:cNvSpPr/>
          <p:nvPr/>
        </p:nvSpPr>
        <p:spPr>
          <a:xfrm>
            <a:off x="10707624" y="2441448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4" name="slot.consumer.3.text"/>
          <p:cNvSpPr txBox="1"/>
          <p:nvPr/>
        </p:nvSpPr>
        <p:spPr>
          <a:xfrm>
            <a:off x="11091672" y="2441448"/>
            <a:ext cx="868680" cy="548640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Finance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Close checks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lot.consumers.group.2"/>
          <p:cNvSpPr txBox="1"/>
          <p:nvPr/>
        </p:nvSpPr>
        <p:spPr>
          <a:xfrm>
            <a:off x="10707624" y="3108959"/>
            <a:ext cx="1271016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Integrations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uct.consumer.4.card"/>
          <p:cNvSpPr/>
          <p:nvPr/>
        </p:nvSpPr>
        <p:spPr>
          <a:xfrm>
            <a:off x="10707624" y="3300983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7" name="slot.consumer.4.text"/>
          <p:cNvSpPr txBox="1"/>
          <p:nvPr/>
        </p:nvSpPr>
        <p:spPr>
          <a:xfrm>
            <a:off x="11091672" y="3300983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APIs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Partner apps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ruct.consumer.5.card"/>
          <p:cNvSpPr/>
          <p:nvPr/>
        </p:nvSpPr>
        <p:spPr>
          <a:xfrm>
            <a:off x="10707624" y="3922775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9" name="slot.consumer.5.text"/>
          <p:cNvSpPr txBox="1"/>
          <p:nvPr/>
        </p:nvSpPr>
        <p:spPr>
          <a:xfrm>
            <a:off x="11091672" y="3922775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Reports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BI views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uct.consumer.6.card"/>
          <p:cNvSpPr/>
          <p:nvPr/>
        </p:nvSpPr>
        <p:spPr>
          <a:xfrm>
            <a:off x="10707624" y="4544567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1" name="slot.consumer.6.text"/>
          <p:cNvSpPr txBox="1"/>
          <p:nvPr/>
        </p:nvSpPr>
        <p:spPr>
          <a:xfrm>
            <a:off x="11091672" y="4544567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Alerts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Team chat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struct.access.frame"/>
          <p:cNvSpPr/>
          <p:nvPr/>
        </p:nvSpPr>
        <p:spPr>
          <a:xfrm>
            <a:off x="1706837" y="609585"/>
            <a:ext cx="8778021" cy="999719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3" name="slot.access.tab"/>
          <p:cNvSpPr/>
          <p:nvPr/>
        </p:nvSpPr>
        <p:spPr>
          <a:xfrm>
            <a:off x="1706837" y="609585"/>
            <a:ext cx="8778021" cy="29260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Access layer</a:t>
            </a:r>
            <a:endParaRPr lang="en-US" sz="1200" b="1" i="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truct.access.1.card"/>
          <p:cNvSpPr/>
          <p:nvPr/>
        </p:nvSpPr>
        <p:spPr>
          <a:xfrm>
            <a:off x="1828754" y="999719"/>
            <a:ext cx="2042109" cy="5364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5" name="slot.access.1.text"/>
          <p:cNvSpPr txBox="1"/>
          <p:nvPr/>
        </p:nvSpPr>
        <p:spPr>
          <a:xfrm>
            <a:off x="2389572" y="999719"/>
            <a:ext cx="1432524" cy="536433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 gateway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Routes every request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struct.access.2.card"/>
          <p:cNvSpPr/>
          <p:nvPr/>
        </p:nvSpPr>
        <p:spPr>
          <a:xfrm>
            <a:off x="3992780" y="999719"/>
            <a:ext cx="2042109" cy="5364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7" name="slot.access.2.text"/>
          <p:cNvSpPr txBox="1"/>
          <p:nvPr/>
        </p:nvSpPr>
        <p:spPr>
          <a:xfrm>
            <a:off x="4553598" y="999719"/>
            <a:ext cx="1432524" cy="536433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Identity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Single sign-on, roles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uct.access.3.card"/>
          <p:cNvSpPr/>
          <p:nvPr/>
        </p:nvSpPr>
        <p:spPr>
          <a:xfrm>
            <a:off x="6156806" y="999719"/>
            <a:ext cx="2042109" cy="5364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9" name="slot.access.3.text"/>
          <p:cNvSpPr txBox="1"/>
          <p:nvPr/>
        </p:nvSpPr>
        <p:spPr>
          <a:xfrm>
            <a:off x="6717624" y="999719"/>
            <a:ext cx="1432524" cy="536433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Orchestrator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Plans multi-step tasks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struct.access.4.card"/>
          <p:cNvSpPr/>
          <p:nvPr/>
        </p:nvSpPr>
        <p:spPr>
          <a:xfrm>
            <a:off x="8320832" y="999719"/>
            <a:ext cx="2042109" cy="5364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1" name="slot.access.4.text"/>
          <p:cNvSpPr txBox="1"/>
          <p:nvPr/>
        </p:nvSpPr>
        <p:spPr>
          <a:xfrm>
            <a:off x="8881650" y="999719"/>
            <a:ext cx="1432524" cy="536433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Guardrails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Checks every output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truct.pipelines.frame"/>
          <p:cNvSpPr/>
          <p:nvPr/>
        </p:nvSpPr>
        <p:spPr>
          <a:xfrm>
            <a:off x="1706837" y="1728216"/>
            <a:ext cx="3970589" cy="380390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3" name="slot.pipelines.tab"/>
          <p:cNvSpPr/>
          <p:nvPr/>
        </p:nvSpPr>
        <p:spPr>
          <a:xfrm>
            <a:off x="1706837" y="1731221"/>
            <a:ext cx="3970590" cy="29260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Data pipelines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truct.runtime.frame"/>
          <p:cNvSpPr/>
          <p:nvPr/>
        </p:nvSpPr>
        <p:spPr>
          <a:xfrm>
            <a:off x="5823728" y="1728216"/>
            <a:ext cx="4661129" cy="380390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5" name="slot.runtime.tab"/>
          <p:cNvSpPr/>
          <p:nvPr/>
        </p:nvSpPr>
        <p:spPr>
          <a:xfrm>
            <a:off x="5823728" y="1731221"/>
            <a:ext cx="4661129" cy="29260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Agent runtime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lot.lane.1.label"/>
          <p:cNvSpPr txBox="1"/>
          <p:nvPr/>
        </p:nvSpPr>
        <p:spPr>
          <a:xfrm>
            <a:off x="1783080" y="2093976"/>
            <a:ext cx="3822191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Batch ingest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struct.lane.1.step.1.card"/>
          <p:cNvSpPr/>
          <p:nvPr/>
        </p:nvSpPr>
        <p:spPr>
          <a:xfrm>
            <a:off x="1783080" y="2286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8" name="slot.lane.1.step.1.text"/>
          <p:cNvSpPr txBox="1"/>
          <p:nvPr/>
        </p:nvSpPr>
        <p:spPr>
          <a:xfrm>
            <a:off x="1810512" y="2670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Extract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Nightly loads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struct.lane.1.step.2.card"/>
          <p:cNvSpPr/>
          <p:nvPr/>
        </p:nvSpPr>
        <p:spPr>
          <a:xfrm>
            <a:off x="2761488" y="2286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0" name="slot.lane.1.step.2.text"/>
          <p:cNvSpPr txBox="1"/>
          <p:nvPr/>
        </p:nvSpPr>
        <p:spPr>
          <a:xfrm>
            <a:off x="2788920" y="2670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Validate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Rules and tests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truct.lane.1.step.3.card"/>
          <p:cNvSpPr/>
          <p:nvPr/>
        </p:nvSpPr>
        <p:spPr>
          <a:xfrm>
            <a:off x="3739896" y="2286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2" name="slot.lane.1.step.3.text"/>
          <p:cNvSpPr txBox="1"/>
          <p:nvPr/>
        </p:nvSpPr>
        <p:spPr>
          <a:xfrm>
            <a:off x="3767328" y="2670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Shared tables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struct.lane.1.step.4.card"/>
          <p:cNvSpPr/>
          <p:nvPr/>
        </p:nvSpPr>
        <p:spPr>
          <a:xfrm>
            <a:off x="4718304" y="2286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4" name="slot.lane.1.step.4.text"/>
          <p:cNvSpPr txBox="1"/>
          <p:nvPr/>
        </p:nvSpPr>
        <p:spPr>
          <a:xfrm>
            <a:off x="4745736" y="2670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Publish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Certified sets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65" name="struct.lane.1.arrow.1"/>
          <p:cNvCxnSpPr/>
          <p:nvPr/>
        </p:nvCxnSpPr>
        <p:spPr>
          <a:xfrm>
            <a:off x="2660904" y="2715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66" name="struct.lane.1.arrow.2"/>
          <p:cNvCxnSpPr/>
          <p:nvPr/>
        </p:nvCxnSpPr>
        <p:spPr>
          <a:xfrm>
            <a:off x="3639312" y="2715768"/>
            <a:ext cx="109727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67" name="struct.lane.1.arrow.3"/>
          <p:cNvCxnSpPr/>
          <p:nvPr/>
        </p:nvCxnSpPr>
        <p:spPr>
          <a:xfrm>
            <a:off x="4617720" y="2715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sp>
        <p:nvSpPr>
          <p:cNvPr id="68" name="slot.lane.2.label"/>
          <p:cNvSpPr txBox="1"/>
          <p:nvPr/>
        </p:nvSpPr>
        <p:spPr>
          <a:xfrm>
            <a:off x="1783080" y="3236976"/>
            <a:ext cx="3822191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Streaming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struct.lane.2.step.1.card"/>
          <p:cNvSpPr/>
          <p:nvPr/>
        </p:nvSpPr>
        <p:spPr>
          <a:xfrm>
            <a:off x="1783080" y="3429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70" name="slot.lane.2.step.1.text"/>
          <p:cNvSpPr txBox="1"/>
          <p:nvPr/>
        </p:nvSpPr>
        <p:spPr>
          <a:xfrm>
            <a:off x="1810512" y="3813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Capture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Change events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struct.lane.2.step.2.card"/>
          <p:cNvSpPr/>
          <p:nvPr/>
        </p:nvSpPr>
        <p:spPr>
          <a:xfrm>
            <a:off x="2761488" y="3429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72" name="slot.lane.2.step.2.text"/>
          <p:cNvSpPr txBox="1"/>
          <p:nvPr/>
        </p:nvSpPr>
        <p:spPr>
          <a:xfrm>
            <a:off x="2788920" y="3813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Enrich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Join reference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truct.lane.2.step.3.card"/>
          <p:cNvSpPr/>
          <p:nvPr/>
        </p:nvSpPr>
        <p:spPr>
          <a:xfrm>
            <a:off x="3739896" y="3429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74" name="slot.lane.2.step.3.text"/>
          <p:cNvSpPr txBox="1"/>
          <p:nvPr/>
        </p:nvSpPr>
        <p:spPr>
          <a:xfrm>
            <a:off x="3767328" y="3813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Score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Live features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truct.lane.2.step.4.card"/>
          <p:cNvSpPr/>
          <p:nvPr/>
        </p:nvSpPr>
        <p:spPr>
          <a:xfrm>
            <a:off x="4718304" y="3429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76" name="slot.lane.2.step.4.text"/>
          <p:cNvSpPr txBox="1"/>
          <p:nvPr/>
        </p:nvSpPr>
        <p:spPr>
          <a:xfrm>
            <a:off x="4745736" y="3813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Land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Hot store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7" name="struct.lane.2.arrow.1"/>
          <p:cNvCxnSpPr/>
          <p:nvPr/>
        </p:nvCxnSpPr>
        <p:spPr>
          <a:xfrm>
            <a:off x="2660904" y="3858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78" name="struct.lane.2.arrow.2"/>
          <p:cNvCxnSpPr/>
          <p:nvPr/>
        </p:nvCxnSpPr>
        <p:spPr>
          <a:xfrm>
            <a:off x="3639312" y="3858768"/>
            <a:ext cx="109727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79" name="struct.lane.2.arrow.3"/>
          <p:cNvCxnSpPr/>
          <p:nvPr/>
        </p:nvCxnSpPr>
        <p:spPr>
          <a:xfrm>
            <a:off x="4617720" y="3858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sp>
        <p:nvSpPr>
          <p:cNvPr id="80" name="slot.models.label"/>
          <p:cNvSpPr txBox="1"/>
          <p:nvPr/>
        </p:nvSpPr>
        <p:spPr>
          <a:xfrm>
            <a:off x="5896878" y="2096972"/>
            <a:ext cx="4514828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Model access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struct.models.card"/>
          <p:cNvSpPr/>
          <p:nvPr/>
        </p:nvSpPr>
        <p:spPr>
          <a:xfrm>
            <a:off x="5896878" y="2267655"/>
            <a:ext cx="4514828" cy="512051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2" name="slot.models.text"/>
          <p:cNvSpPr txBox="1"/>
          <p:nvPr/>
        </p:nvSpPr>
        <p:spPr>
          <a:xfrm>
            <a:off x="6384546" y="2267655"/>
            <a:ext cx="3978394" cy="512051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Model router</a:t>
            </a:r>
            <a:endParaRPr lang="en-US" sz="11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Every call logged</a:t>
            </a:r>
            <a:endParaRPr lang="en-US" sz="10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slot.services.label"/>
          <p:cNvSpPr txBox="1"/>
          <p:nvPr/>
        </p:nvSpPr>
        <p:spPr>
          <a:xfrm>
            <a:off x="5896878" y="2950390"/>
            <a:ext cx="4514828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Shared services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struct.service.1.card"/>
          <p:cNvSpPr/>
          <p:nvPr/>
        </p:nvSpPr>
        <p:spPr>
          <a:xfrm>
            <a:off x="5896878" y="3121074"/>
            <a:ext cx="1456176" cy="755885"/>
          </a:xfrm>
          <a:prstGeom prst="roundRect">
            <a:avLst>
              <a:gd name="adj" fmla="val 6049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5" name="slot.service.1.text"/>
          <p:cNvSpPr txBox="1"/>
          <p:nvPr/>
        </p:nvSpPr>
        <p:spPr>
          <a:xfrm>
            <a:off x="6354078" y="3157650"/>
            <a:ext cx="962400" cy="682733"/>
          </a:xfrm>
          <a:prstGeom prst="rect">
            <a:avLst/>
          </a:prstGeom>
          <a:noFill/>
          <a:effectLst/>
        </p:spPr>
        <p:txBody>
          <a:bodyPr wrap="square" tIns="0" bIns="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Memory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Session context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truct.service.2.card"/>
          <p:cNvSpPr/>
          <p:nvPr/>
        </p:nvSpPr>
        <p:spPr>
          <a:xfrm>
            <a:off x="7426205" y="3121074"/>
            <a:ext cx="1456176" cy="755885"/>
          </a:xfrm>
          <a:prstGeom prst="roundRect">
            <a:avLst>
              <a:gd name="adj" fmla="val 6049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7" name="slot.service.2.text"/>
          <p:cNvSpPr txBox="1"/>
          <p:nvPr/>
        </p:nvSpPr>
        <p:spPr>
          <a:xfrm>
            <a:off x="7883404" y="3157650"/>
            <a:ext cx="962400" cy="682733"/>
          </a:xfrm>
          <a:prstGeom prst="rect">
            <a:avLst/>
          </a:prstGeom>
          <a:noFill/>
          <a:effectLst/>
        </p:spPr>
        <p:txBody>
          <a:bodyPr wrap="square" tIns="0" bIns="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Retrieval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Indexed documents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struct.service.3.card"/>
          <p:cNvSpPr/>
          <p:nvPr/>
        </p:nvSpPr>
        <p:spPr>
          <a:xfrm>
            <a:off x="8955531" y="3121074"/>
            <a:ext cx="1456176" cy="755885"/>
          </a:xfrm>
          <a:prstGeom prst="roundRect">
            <a:avLst>
              <a:gd name="adj" fmla="val 6049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89" name="slot.service.3.text"/>
          <p:cNvSpPr txBox="1"/>
          <p:nvPr/>
        </p:nvSpPr>
        <p:spPr>
          <a:xfrm>
            <a:off x="9412731" y="3157650"/>
            <a:ext cx="962400" cy="682733"/>
          </a:xfrm>
          <a:prstGeom prst="rect">
            <a:avLst/>
          </a:prstGeom>
          <a:noFill/>
          <a:effectLst/>
        </p:spPr>
        <p:txBody>
          <a:bodyPr wrap="square" tIns="0" bIns="0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Evaluation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Scores each answer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lot.tools.label"/>
          <p:cNvSpPr txBox="1"/>
          <p:nvPr/>
        </p:nvSpPr>
        <p:spPr>
          <a:xfrm>
            <a:off x="5896878" y="4047643"/>
            <a:ext cx="4514828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Agent tools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struct.tool.1.card"/>
          <p:cNvSpPr/>
          <p:nvPr/>
        </p:nvSpPr>
        <p:spPr>
          <a:xfrm>
            <a:off x="5896878" y="4215384"/>
            <a:ext cx="863952" cy="1261872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2" name="slot.tool.1.text"/>
          <p:cNvSpPr txBox="1"/>
          <p:nvPr/>
        </p:nvSpPr>
        <p:spPr>
          <a:xfrm>
            <a:off x="5915166" y="4782312"/>
            <a:ext cx="827376" cy="621792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Search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Catalog and files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struct.tool.2.card"/>
          <p:cNvSpPr/>
          <p:nvPr/>
        </p:nvSpPr>
        <p:spPr>
          <a:xfrm>
            <a:off x="6809598" y="4215384"/>
            <a:ext cx="863952" cy="1261872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4" name="slot.tool.2.text"/>
          <p:cNvSpPr txBox="1"/>
          <p:nvPr/>
        </p:nvSpPr>
        <p:spPr>
          <a:xfrm>
            <a:off x="6827886" y="4782312"/>
            <a:ext cx="827376" cy="621792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Compute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Governed metrics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struct.tool.3.card"/>
          <p:cNvSpPr/>
          <p:nvPr/>
        </p:nvSpPr>
        <p:spPr>
          <a:xfrm>
            <a:off x="7722316" y="4215384"/>
            <a:ext cx="863952" cy="1261872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6" name="slot.tool.3.text"/>
          <p:cNvSpPr txBox="1"/>
          <p:nvPr/>
        </p:nvSpPr>
        <p:spPr>
          <a:xfrm>
            <a:off x="7740604" y="4782312"/>
            <a:ext cx="827376" cy="621792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Draft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Replies for review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struct.tool.4.card"/>
          <p:cNvSpPr/>
          <p:nvPr/>
        </p:nvSpPr>
        <p:spPr>
          <a:xfrm>
            <a:off x="8635036" y="4215384"/>
            <a:ext cx="863952" cy="1261872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8" name="slot.tool.4.text"/>
          <p:cNvSpPr txBox="1"/>
          <p:nvPr/>
        </p:nvSpPr>
        <p:spPr>
          <a:xfrm>
            <a:off x="8653324" y="4782312"/>
            <a:ext cx="827376" cy="621792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Escalate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Hand off to a person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struct.tool.5.card"/>
          <p:cNvSpPr/>
          <p:nvPr/>
        </p:nvSpPr>
        <p:spPr>
          <a:xfrm>
            <a:off x="9547755" y="4215384"/>
            <a:ext cx="863952" cy="1261872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accent1"/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0" name="slot.tool.5.text"/>
          <p:cNvSpPr txBox="1"/>
          <p:nvPr/>
        </p:nvSpPr>
        <p:spPr>
          <a:xfrm>
            <a:off x="9566043" y="4782312"/>
            <a:ext cx="827376" cy="621792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Gated writes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struct.platform.frame"/>
          <p:cNvSpPr/>
          <p:nvPr/>
        </p:nvSpPr>
        <p:spPr>
          <a:xfrm>
            <a:off x="1709928" y="5632704"/>
            <a:ext cx="8778240" cy="110642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2" name="slot.platform.tab"/>
          <p:cNvSpPr/>
          <p:nvPr/>
        </p:nvSpPr>
        <p:spPr>
          <a:xfrm>
            <a:off x="1709928" y="5632704"/>
            <a:ext cx="8778240" cy="29260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txBody>
          <a:bodyPr wrap="square" lIns="109728" tIns="9144" rIns="27432" bIns="9144" rtlCol="0" anchor="ctr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Shared platform and governance</a:t>
            </a:r>
            <a:endParaRPr lang="en-US" sz="12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truct.platform.1.card"/>
          <p:cNvSpPr/>
          <p:nvPr/>
        </p:nvSpPr>
        <p:spPr>
          <a:xfrm>
            <a:off x="1804371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4" name="slot.platform.1.label"/>
          <p:cNvSpPr txBox="1"/>
          <p:nvPr/>
        </p:nvSpPr>
        <p:spPr>
          <a:xfrm>
            <a:off x="2142699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Code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truct.platform.2.card"/>
          <p:cNvSpPr/>
          <p:nvPr/>
        </p:nvSpPr>
        <p:spPr>
          <a:xfrm>
            <a:off x="2886384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6" name="slot.platform.2.label"/>
          <p:cNvSpPr txBox="1"/>
          <p:nvPr/>
        </p:nvSpPr>
        <p:spPr>
          <a:xfrm>
            <a:off x="3224712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Deploy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struct.platform.3.card"/>
          <p:cNvSpPr/>
          <p:nvPr/>
        </p:nvSpPr>
        <p:spPr>
          <a:xfrm>
            <a:off x="3968397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8" name="slot.platform.3.label"/>
          <p:cNvSpPr txBox="1"/>
          <p:nvPr/>
        </p:nvSpPr>
        <p:spPr>
          <a:xfrm>
            <a:off x="4306725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Catalog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struct.platform.4.card"/>
          <p:cNvSpPr/>
          <p:nvPr/>
        </p:nvSpPr>
        <p:spPr>
          <a:xfrm>
            <a:off x="5050410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0" name="slot.platform.4.label"/>
          <p:cNvSpPr txBox="1"/>
          <p:nvPr/>
        </p:nvSpPr>
        <p:spPr>
          <a:xfrm>
            <a:off x="5388738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Lineage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truct.platform.5.card"/>
          <p:cNvSpPr/>
          <p:nvPr/>
        </p:nvSpPr>
        <p:spPr>
          <a:xfrm>
            <a:off x="6132423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2" name="slot.platform.5.label"/>
          <p:cNvSpPr txBox="1"/>
          <p:nvPr/>
        </p:nvSpPr>
        <p:spPr>
          <a:xfrm>
            <a:off x="6470751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Access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struct.platform.6.card"/>
          <p:cNvSpPr/>
          <p:nvPr/>
        </p:nvSpPr>
        <p:spPr>
          <a:xfrm>
            <a:off x="7214436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4" name="slot.platform.6.label"/>
          <p:cNvSpPr txBox="1"/>
          <p:nvPr/>
        </p:nvSpPr>
        <p:spPr>
          <a:xfrm>
            <a:off x="7552763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Audit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struct.platform.7.card"/>
          <p:cNvSpPr/>
          <p:nvPr/>
        </p:nvSpPr>
        <p:spPr>
          <a:xfrm>
            <a:off x="8296449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6" name="slot.platform.7.label"/>
          <p:cNvSpPr txBox="1"/>
          <p:nvPr/>
        </p:nvSpPr>
        <p:spPr>
          <a:xfrm>
            <a:off x="8634777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Monitor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struct.platform.8.card"/>
          <p:cNvSpPr/>
          <p:nvPr/>
        </p:nvSpPr>
        <p:spPr>
          <a:xfrm>
            <a:off x="9378462" y="6048756"/>
            <a:ext cx="1008863" cy="566928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8" name="slot.platform.8.label"/>
          <p:cNvSpPr txBox="1"/>
          <p:nvPr/>
        </p:nvSpPr>
        <p:spPr>
          <a:xfrm>
            <a:off x="9716789" y="6048756"/>
            <a:ext cx="652247" cy="566928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Spend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9" name="struct.flow.in"/>
          <p:cNvCxnSpPr/>
          <p:nvPr/>
        </p:nvCxnSpPr>
        <p:spPr>
          <a:xfrm>
            <a:off x="1591016" y="3758090"/>
            <a:ext cx="109725" cy="0"/>
          </a:xfrm>
          <a:prstGeom prst="line">
            <a:avLst/>
          </a:prstGeom>
          <a:ln w="1524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120" name="struct.flow.out"/>
          <p:cNvCxnSpPr/>
          <p:nvPr/>
        </p:nvCxnSpPr>
        <p:spPr>
          <a:xfrm>
            <a:off x="10490954" y="3758090"/>
            <a:ext cx="109724" cy="0"/>
          </a:xfrm>
          <a:prstGeom prst="line">
            <a:avLst/>
          </a:prstGeom>
          <a:ln w="1524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121" name="struct.flow.across"/>
          <p:cNvCxnSpPr/>
          <p:nvPr/>
        </p:nvCxnSpPr>
        <p:spPr>
          <a:xfrm>
            <a:off x="5683523" y="3758090"/>
            <a:ext cx="134109" cy="0"/>
          </a:xfrm>
          <a:prstGeom prst="line">
            <a:avLst/>
          </a:prstGeom>
          <a:ln w="1524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sp>
        <p:nvSpPr>
          <p:cNvPr id="122" name="slot.access.1.icon"/>
          <p:cNvSpPr/>
          <p:nvPr/>
        </p:nvSpPr>
        <p:spPr>
          <a:xfrm>
            <a:off x="1920194" y="1042416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7000" y="16000"/>
                </a:moveTo>
                <a:lnTo>
                  <a:pt x="21000" y="16000"/>
                </a:lnTo>
                <a:cubicBezTo>
                  <a:pt x="21552" y="16000"/>
                  <a:pt x="22000" y="16448"/>
                  <a:pt x="22000" y="17000"/>
                </a:cubicBezTo>
                <a:lnTo>
                  <a:pt x="22000" y="21000"/>
                </a:lnTo>
                <a:cubicBezTo>
                  <a:pt x="22000" y="21552"/>
                  <a:pt x="21552" y="22000"/>
                  <a:pt x="21000" y="22000"/>
                </a:cubicBezTo>
                <a:lnTo>
                  <a:pt x="17000" y="22000"/>
                </a:lnTo>
                <a:cubicBezTo>
                  <a:pt x="16448" y="22000"/>
                  <a:pt x="16000" y="21552"/>
                  <a:pt x="16000" y="21000"/>
                </a:cubicBezTo>
                <a:lnTo>
                  <a:pt x="16000" y="17000"/>
                </a:lnTo>
                <a:cubicBezTo>
                  <a:pt x="16000" y="16448"/>
                  <a:pt x="16448" y="16000"/>
                  <a:pt x="17000" y="16000"/>
                </a:cubicBezTo>
                <a:close/>
                <a:moveTo>
                  <a:pt x="3000" y="16000"/>
                </a:moveTo>
                <a:lnTo>
                  <a:pt x="7000" y="16000"/>
                </a:lnTo>
                <a:cubicBezTo>
                  <a:pt x="7552" y="16000"/>
                  <a:pt x="8000" y="16448"/>
                  <a:pt x="8000" y="17000"/>
                </a:cubicBezTo>
                <a:lnTo>
                  <a:pt x="8000" y="21000"/>
                </a:lnTo>
                <a:cubicBezTo>
                  <a:pt x="8000" y="21552"/>
                  <a:pt x="7552" y="22000"/>
                  <a:pt x="7000" y="22000"/>
                </a:cubicBezTo>
                <a:lnTo>
                  <a:pt x="3000" y="22000"/>
                </a:lnTo>
                <a:cubicBezTo>
                  <a:pt x="2448" y="22000"/>
                  <a:pt x="2000" y="21552"/>
                  <a:pt x="2000" y="21000"/>
                </a:cubicBezTo>
                <a:lnTo>
                  <a:pt x="2000" y="17000"/>
                </a:lnTo>
                <a:cubicBezTo>
                  <a:pt x="2000" y="16448"/>
                  <a:pt x="2448" y="16000"/>
                  <a:pt x="3000" y="16000"/>
                </a:cubicBezTo>
                <a:close/>
                <a:moveTo>
                  <a:pt x="10000" y="2000"/>
                </a:moveTo>
                <a:lnTo>
                  <a:pt x="14000" y="2000"/>
                </a:lnTo>
                <a:cubicBezTo>
                  <a:pt x="14552" y="2000"/>
                  <a:pt x="15000" y="2448"/>
                  <a:pt x="15000" y="3000"/>
                </a:cubicBezTo>
                <a:lnTo>
                  <a:pt x="15000" y="7000"/>
                </a:lnTo>
                <a:cubicBezTo>
                  <a:pt x="15000" y="7552"/>
                  <a:pt x="14552" y="8000"/>
                  <a:pt x="14000" y="8000"/>
                </a:cubicBezTo>
                <a:lnTo>
                  <a:pt x="10000" y="8000"/>
                </a:lnTo>
                <a:cubicBezTo>
                  <a:pt x="9448" y="8000"/>
                  <a:pt x="9000" y="7552"/>
                  <a:pt x="9000" y="7000"/>
                </a:cubicBezTo>
                <a:lnTo>
                  <a:pt x="9000" y="3000"/>
                </a:lnTo>
                <a:cubicBezTo>
                  <a:pt x="9000" y="2448"/>
                  <a:pt x="9448" y="2000"/>
                  <a:pt x="10000" y="2000"/>
                </a:cubicBezTo>
                <a:close/>
                <a:moveTo>
                  <a:pt x="5000" y="16000"/>
                </a:moveTo>
                <a:lnTo>
                  <a:pt x="5000" y="13000"/>
                </a:lnTo>
                <a:cubicBezTo>
                  <a:pt x="5000" y="12448"/>
                  <a:pt x="5448" y="12000"/>
                  <a:pt x="6000" y="12000"/>
                </a:cubicBezTo>
                <a:lnTo>
                  <a:pt x="18000" y="12000"/>
                </a:lnTo>
                <a:cubicBezTo>
                  <a:pt x="18552" y="12000"/>
                  <a:pt x="19000" y="12448"/>
                  <a:pt x="19000" y="13000"/>
                </a:cubicBezTo>
                <a:lnTo>
                  <a:pt x="19000" y="16000"/>
                </a:lnTo>
                <a:moveTo>
                  <a:pt x="12000" y="12000"/>
                </a:moveTo>
                <a:lnTo>
                  <a:pt x="12000" y="8000"/>
                </a:lnTo>
              </a:path>
            </a:pathLst>
          </a:custGeom>
          <a:noFill/>
          <a:ln w="36830" cap="rnd">
            <a:solidFill>
              <a:schemeClr val="accent1"/>
            </a:solidFill>
            <a:round/>
          </a:ln>
          <a:effectLst/>
        </p:spPr>
      </p:sp>
      <p:sp>
        <p:nvSpPr>
          <p:cNvPr id="123" name="slot.access.2.icon"/>
          <p:cNvSpPr/>
          <p:nvPr/>
        </p:nvSpPr>
        <p:spPr>
          <a:xfrm>
            <a:off x="4084220" y="1042416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586" y="17414"/>
                </a:moveTo>
                <a:cubicBezTo>
                  <a:pt x="2211" y="17789"/>
                  <a:pt x="2000" y="18298"/>
                  <a:pt x="2000" y="18828"/>
                </a:cubicBezTo>
                <a:lnTo>
                  <a:pt x="2000" y="21000"/>
                </a:lnTo>
                <a:cubicBezTo>
                  <a:pt x="2000" y="21552"/>
                  <a:pt x="2448" y="22000"/>
                  <a:pt x="3000" y="22000"/>
                </a:cubicBezTo>
                <a:lnTo>
                  <a:pt x="6000" y="22000"/>
                </a:lnTo>
                <a:cubicBezTo>
                  <a:pt x="6552" y="22000"/>
                  <a:pt x="7000" y="21552"/>
                  <a:pt x="7000" y="21000"/>
                </a:cubicBezTo>
                <a:lnTo>
                  <a:pt x="7000" y="20000"/>
                </a:lnTo>
                <a:cubicBezTo>
                  <a:pt x="7000" y="19448"/>
                  <a:pt x="7448" y="19000"/>
                  <a:pt x="8000" y="19000"/>
                </a:cubicBezTo>
                <a:lnTo>
                  <a:pt x="9000" y="19000"/>
                </a:lnTo>
                <a:cubicBezTo>
                  <a:pt x="9552" y="19000"/>
                  <a:pt x="10000" y="18552"/>
                  <a:pt x="10000" y="18000"/>
                </a:cubicBezTo>
                <a:lnTo>
                  <a:pt x="10000" y="17000"/>
                </a:lnTo>
                <a:cubicBezTo>
                  <a:pt x="10000" y="16448"/>
                  <a:pt x="10448" y="16000"/>
                  <a:pt x="11000" y="16000"/>
                </a:cubicBezTo>
                <a:lnTo>
                  <a:pt x="11172" y="16000"/>
                </a:lnTo>
                <a:cubicBezTo>
                  <a:pt x="11702" y="16000"/>
                  <a:pt x="12211" y="15789"/>
                  <a:pt x="12586" y="15414"/>
                </a:cubicBezTo>
                <a:lnTo>
                  <a:pt x="13400" y="14600"/>
                </a:lnTo>
                <a:cubicBezTo>
                  <a:pt x="16262" y="15597"/>
                  <a:pt x="19434" y="14484"/>
                  <a:pt x="21044" y="11916"/>
                </a:cubicBezTo>
                <a:cubicBezTo>
                  <a:pt x="22655" y="9349"/>
                  <a:pt x="22278" y="6009"/>
                  <a:pt x="20134" y="3866"/>
                </a:cubicBezTo>
                <a:cubicBezTo>
                  <a:pt x="17991" y="1722"/>
                  <a:pt x="14651" y="1345"/>
                  <a:pt x="12084" y="2956"/>
                </a:cubicBezTo>
                <a:cubicBezTo>
                  <a:pt x="9516" y="4566"/>
                  <a:pt x="8403" y="7738"/>
                  <a:pt x="9400" y="10600"/>
                </a:cubicBezTo>
                <a:close/>
              </a:path>
              <a:path w="24000" h="24000">
                <a:moveTo>
                  <a:pt x="17000" y="7500"/>
                </a:moveTo>
                <a:cubicBezTo>
                  <a:pt x="17000" y="7776"/>
                  <a:pt x="16776" y="8000"/>
                  <a:pt x="16500" y="8000"/>
                </a:cubicBezTo>
                <a:cubicBezTo>
                  <a:pt x="16224" y="8000"/>
                  <a:pt x="16000" y="7776"/>
                  <a:pt x="16000" y="7500"/>
                </a:cubicBezTo>
                <a:cubicBezTo>
                  <a:pt x="16000" y="7224"/>
                  <a:pt x="16224" y="7000"/>
                  <a:pt x="16500" y="7000"/>
                </a:cubicBezTo>
                <a:cubicBezTo>
                  <a:pt x="16776" y="7000"/>
                  <a:pt x="17000" y="7224"/>
                  <a:pt x="17000" y="7500"/>
                </a:cubicBezTo>
                <a:close/>
              </a:path>
            </a:pathLst>
          </a:custGeom>
          <a:solidFill>
            <a:schemeClr val="accent1"/>
          </a:solidFill>
          <a:ln w="36830" cap="rnd">
            <a:solidFill>
              <a:schemeClr val="accent1"/>
            </a:solidFill>
            <a:round/>
          </a:ln>
          <a:effectLst/>
        </p:spPr>
      </p:sp>
      <p:sp>
        <p:nvSpPr>
          <p:cNvPr id="124" name="slot.access.3.icon"/>
          <p:cNvSpPr/>
          <p:nvPr/>
        </p:nvSpPr>
        <p:spPr>
          <a:xfrm>
            <a:off x="6248246" y="1042416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3000"/>
                </a:moveTo>
                <a:lnTo>
                  <a:pt x="9000" y="3000"/>
                </a:lnTo>
                <a:cubicBezTo>
                  <a:pt x="10105" y="3000"/>
                  <a:pt x="11000" y="3895"/>
                  <a:pt x="11000" y="5000"/>
                </a:cubicBezTo>
                <a:lnTo>
                  <a:pt x="11000" y="9000"/>
                </a:lnTo>
                <a:cubicBezTo>
                  <a:pt x="11000" y="10105"/>
                  <a:pt x="10105" y="11000"/>
                  <a:pt x="9000" y="11000"/>
                </a:cubicBezTo>
                <a:lnTo>
                  <a:pt x="5000" y="11000"/>
                </a:lnTo>
                <a:cubicBezTo>
                  <a:pt x="3895" y="11000"/>
                  <a:pt x="3000" y="10105"/>
                  <a:pt x="3000" y="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7000" y="11000"/>
                </a:moveTo>
                <a:lnTo>
                  <a:pt x="7000" y="15000"/>
                </a:lnTo>
                <a:cubicBezTo>
                  <a:pt x="7000" y="16105"/>
                  <a:pt x="7895" y="17000"/>
                  <a:pt x="9000" y="17000"/>
                </a:cubicBezTo>
                <a:lnTo>
                  <a:pt x="13000" y="17000"/>
                </a:lnTo>
                <a:moveTo>
                  <a:pt x="15000" y="13000"/>
                </a:moveTo>
                <a:lnTo>
                  <a:pt x="19000" y="13000"/>
                </a:lnTo>
                <a:cubicBezTo>
                  <a:pt x="20105" y="13000"/>
                  <a:pt x="21000" y="13895"/>
                  <a:pt x="21000" y="1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5000" y="21000"/>
                </a:lnTo>
                <a:cubicBezTo>
                  <a:pt x="13895" y="21000"/>
                  <a:pt x="13000" y="20105"/>
                  <a:pt x="13000" y="19000"/>
                </a:cubicBezTo>
                <a:lnTo>
                  <a:pt x="13000" y="15000"/>
                </a:lnTo>
                <a:cubicBezTo>
                  <a:pt x="13000" y="13895"/>
                  <a:pt x="13895" y="13000"/>
                  <a:pt x="15000" y="13000"/>
                </a:cubicBezTo>
                <a:close/>
              </a:path>
            </a:pathLst>
          </a:custGeom>
          <a:noFill/>
          <a:ln w="36830" cap="rnd">
            <a:solidFill>
              <a:schemeClr val="accent1"/>
            </a:solidFill>
            <a:round/>
          </a:ln>
          <a:effectLst/>
        </p:spPr>
      </p:sp>
      <p:sp>
        <p:nvSpPr>
          <p:cNvPr id="125" name="slot.access.4.icon"/>
          <p:cNvSpPr/>
          <p:nvPr/>
        </p:nvSpPr>
        <p:spPr>
          <a:xfrm>
            <a:off x="8412272" y="1042416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13000"/>
                </a:moveTo>
                <a:cubicBezTo>
                  <a:pt x="20000" y="18000"/>
                  <a:pt x="16500" y="20500"/>
                  <a:pt x="12340" y="21950"/>
                </a:cubicBezTo>
                <a:cubicBezTo>
                  <a:pt x="12122" y="22024"/>
                  <a:pt x="11886" y="22020"/>
                  <a:pt x="11670" y="21940"/>
                </a:cubicBezTo>
                <a:cubicBezTo>
                  <a:pt x="7500" y="20500"/>
                  <a:pt x="4000" y="18000"/>
                  <a:pt x="4000" y="13000"/>
                </a:cubicBezTo>
                <a:lnTo>
                  <a:pt x="4000" y="6000"/>
                </a:lnTo>
                <a:cubicBezTo>
                  <a:pt x="4000" y="5448"/>
                  <a:pt x="4448" y="5000"/>
                  <a:pt x="5000" y="5000"/>
                </a:cubicBezTo>
                <a:cubicBezTo>
                  <a:pt x="7000" y="5000"/>
                  <a:pt x="9500" y="3800"/>
                  <a:pt x="11240" y="2280"/>
                </a:cubicBezTo>
                <a:cubicBezTo>
                  <a:pt x="11678" y="1906"/>
                  <a:pt x="12322" y="1906"/>
                  <a:pt x="12760" y="2280"/>
                </a:cubicBezTo>
                <a:cubicBezTo>
                  <a:pt x="14510" y="3810"/>
                  <a:pt x="17000" y="5000"/>
                  <a:pt x="19000" y="5000"/>
                </a:cubicBezTo>
                <a:cubicBezTo>
                  <a:pt x="19552" y="5000"/>
                  <a:pt x="20000" y="5448"/>
                  <a:pt x="20000" y="6000"/>
                </a:cubicBezTo>
                <a:close/>
                <a:moveTo>
                  <a:pt x="9000" y="12000"/>
                </a:moveTo>
                <a:lnTo>
                  <a:pt x="11000" y="14000"/>
                </a:lnTo>
                <a:lnTo>
                  <a:pt x="15000" y="10000"/>
                </a:lnTo>
              </a:path>
            </a:pathLst>
          </a:custGeom>
          <a:noFill/>
          <a:ln w="36830" cap="rnd">
            <a:solidFill>
              <a:schemeClr val="accent1"/>
            </a:solidFill>
            <a:round/>
          </a:ln>
          <a:effectLst/>
        </p:spPr>
      </p:sp>
      <p:sp>
        <p:nvSpPr>
          <p:cNvPr id="126" name="slot.source.1.icon"/>
          <p:cNvSpPr/>
          <p:nvPr/>
        </p:nvSpPr>
        <p:spPr>
          <a:xfrm>
            <a:off x="246888" y="1250916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  <a:moveTo>
                  <a:pt x="3000" y="5000"/>
                </a:moveTo>
                <a:lnTo>
                  <a:pt x="3000" y="19000"/>
                </a:lnTo>
                <a:cubicBezTo>
                  <a:pt x="3000" y="20657"/>
                  <a:pt x="7029" y="22000"/>
                  <a:pt x="12000" y="22000"/>
                </a:cubicBezTo>
                <a:cubicBezTo>
                  <a:pt x="16971" y="22000"/>
                  <a:pt x="21000" y="20657"/>
                  <a:pt x="21000" y="19000"/>
                </a:cubicBezTo>
                <a:lnTo>
                  <a:pt x="21000" y="5000"/>
                </a:lnTo>
                <a:moveTo>
                  <a:pt x="3000" y="12000"/>
                </a:moveTo>
                <a:cubicBezTo>
                  <a:pt x="3000" y="13657"/>
                  <a:pt x="7029" y="15000"/>
                  <a:pt x="12000" y="15000"/>
                </a:cubicBezTo>
                <a:cubicBezTo>
                  <a:pt x="16971" y="15000"/>
                  <a:pt x="21000" y="13657"/>
                  <a:pt x="21000" y="12000"/>
                </a:cubicBez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7" name="slot.source.2.icon"/>
          <p:cNvSpPr/>
          <p:nvPr/>
        </p:nvSpPr>
        <p:spPr>
          <a:xfrm>
            <a:off x="246888" y="1667973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000"/>
                </a:moveTo>
                <a:lnTo>
                  <a:pt x="16000" y="4000"/>
                </a:lnTo>
                <a:moveTo>
                  <a:pt x="7000" y="21000"/>
                </a:moveTo>
                <a:lnTo>
                  <a:pt x="7000" y="19000"/>
                </a:lnTo>
                <a:cubicBezTo>
                  <a:pt x="7000" y="17895"/>
                  <a:pt x="7895" y="17000"/>
                  <a:pt x="9000" y="17000"/>
                </a:cubicBezTo>
                <a:lnTo>
                  <a:pt x="15000" y="17000"/>
                </a:lnTo>
                <a:cubicBezTo>
                  <a:pt x="16105" y="17000"/>
                  <a:pt x="17000" y="17895"/>
                  <a:pt x="17000" y="19000"/>
                </a:cubicBezTo>
                <a:lnTo>
                  <a:pt x="17000" y="21000"/>
                </a:lnTo>
                <a:moveTo>
                  <a:pt x="8000" y="2000"/>
                </a:moveTo>
                <a:lnTo>
                  <a:pt x="8000" y="4000"/>
                </a:lnTo>
                <a:moveTo>
                  <a:pt x="15000" y="10000"/>
                </a:moveTo>
                <a:cubicBezTo>
                  <a:pt x="15000" y="11657"/>
                  <a:pt x="13657" y="13000"/>
                  <a:pt x="12000" y="13000"/>
                </a:cubicBezTo>
                <a:cubicBezTo>
                  <a:pt x="10343" y="13000"/>
                  <a:pt x="9000" y="11657"/>
                  <a:pt x="9000" y="10000"/>
                </a:cubicBezTo>
                <a:cubicBezTo>
                  <a:pt x="9000" y="8343"/>
                  <a:pt x="10343" y="7000"/>
                  <a:pt x="12000" y="7000"/>
                </a:cubicBezTo>
                <a:cubicBezTo>
                  <a:pt x="13657" y="7000"/>
                  <a:pt x="15000" y="8343"/>
                  <a:pt x="15000" y="10000"/>
                </a:cubicBezTo>
                <a:close/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8" name="slot.source.3.icon"/>
          <p:cNvSpPr/>
          <p:nvPr/>
        </p:nvSpPr>
        <p:spPr>
          <a:xfrm>
            <a:off x="246888" y="2085031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50" y="2050"/>
                </a:moveTo>
                <a:lnTo>
                  <a:pt x="3149" y="2022"/>
                </a:lnTo>
                <a:cubicBezTo>
                  <a:pt x="3639" y="2010"/>
                  <a:pt x="4066" y="2355"/>
                  <a:pt x="4157" y="2837"/>
                </a:cubicBezTo>
                <a:lnTo>
                  <a:pt x="6847" y="17184"/>
                </a:lnTo>
                <a:cubicBezTo>
                  <a:pt x="6936" y="17657"/>
                  <a:pt x="7349" y="18000"/>
                  <a:pt x="7830" y="18000"/>
                </a:cubicBezTo>
                <a:lnTo>
                  <a:pt x="18000" y="18000"/>
                </a:lnTo>
                <a:moveTo>
                  <a:pt x="4563" y="5000"/>
                </a:moveTo>
                <a:lnTo>
                  <a:pt x="20998" y="5000"/>
                </a:lnTo>
                <a:cubicBezTo>
                  <a:pt x="21299" y="4999"/>
                  <a:pt x="21585" y="5135"/>
                  <a:pt x="21775" y="5368"/>
                </a:cubicBezTo>
                <a:cubicBezTo>
                  <a:pt x="21966" y="5602"/>
                  <a:pt x="22040" y="5909"/>
                  <a:pt x="21979" y="6204"/>
                </a:cubicBezTo>
                <a:lnTo>
                  <a:pt x="20953" y="12430"/>
                </a:lnTo>
                <a:cubicBezTo>
                  <a:pt x="20748" y="13361"/>
                  <a:pt x="19915" y="14018"/>
                  <a:pt x="18962" y="14000"/>
                </a:cubicBezTo>
                <a:lnTo>
                  <a:pt x="6250" y="14000"/>
                </a:lnTo>
                <a:moveTo>
                  <a:pt x="20000" y="20000"/>
                </a:moveTo>
                <a:cubicBezTo>
                  <a:pt x="20000" y="21105"/>
                  <a:pt x="19105" y="22000"/>
                  <a:pt x="18000" y="22000"/>
                </a:cubicBezTo>
                <a:cubicBezTo>
                  <a:pt x="16895" y="22000"/>
                  <a:pt x="16000" y="21105"/>
                  <a:pt x="16000" y="20000"/>
                </a:cubicBezTo>
                <a:cubicBezTo>
                  <a:pt x="16000" y="18895"/>
                  <a:pt x="16895" y="18000"/>
                  <a:pt x="18000" y="18000"/>
                </a:cubicBezTo>
                <a:cubicBezTo>
                  <a:pt x="19105" y="18000"/>
                  <a:pt x="20000" y="18895"/>
                  <a:pt x="20000" y="20000"/>
                </a:cubicBezTo>
                <a:close/>
                <a:moveTo>
                  <a:pt x="10000" y="20000"/>
                </a:moveTo>
                <a:cubicBezTo>
                  <a:pt x="10000" y="21105"/>
                  <a:pt x="9105" y="22000"/>
                  <a:pt x="8000" y="22000"/>
                </a:cubicBezTo>
                <a:cubicBezTo>
                  <a:pt x="6895" y="22000"/>
                  <a:pt x="6000" y="21105"/>
                  <a:pt x="6000" y="20000"/>
                </a:cubicBezTo>
                <a:cubicBezTo>
                  <a:pt x="6000" y="18895"/>
                  <a:pt x="6895" y="18000"/>
                  <a:pt x="8000" y="18000"/>
                </a:cubicBezTo>
                <a:cubicBezTo>
                  <a:pt x="9105" y="18000"/>
                  <a:pt x="10000" y="18895"/>
                  <a:pt x="10000" y="20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29" name="slot.source.4.icon"/>
          <p:cNvSpPr/>
          <p:nvPr/>
        </p:nvSpPr>
        <p:spPr>
          <a:xfrm>
            <a:off x="246888" y="319524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30" name="slot.source.5.icon"/>
          <p:cNvSpPr/>
          <p:nvPr/>
        </p:nvSpPr>
        <p:spPr>
          <a:xfrm>
            <a:off x="246888" y="376674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7000"/>
                </a:moveTo>
                <a:cubicBezTo>
                  <a:pt x="22000" y="18105"/>
                  <a:pt x="21105" y="19000"/>
                  <a:pt x="20000" y="19000"/>
                </a:cubicBezTo>
                <a:lnTo>
                  <a:pt x="6828" y="19000"/>
                </a:lnTo>
                <a:cubicBezTo>
                  <a:pt x="6298" y="19000"/>
                  <a:pt x="5789" y="19211"/>
                  <a:pt x="5414" y="19586"/>
                </a:cubicBezTo>
                <a:lnTo>
                  <a:pt x="3212" y="21788"/>
                </a:lnTo>
                <a:cubicBezTo>
                  <a:pt x="3009" y="21991"/>
                  <a:pt x="2704" y="22052"/>
                  <a:pt x="2438" y="21942"/>
                </a:cubicBezTo>
                <a:cubicBezTo>
                  <a:pt x="2173" y="21832"/>
                  <a:pt x="2000" y="21573"/>
                  <a:pt x="2000" y="21286"/>
                </a:cubicBezTo>
                <a:lnTo>
                  <a:pt x="2000" y="5000"/>
                </a:lnTo>
                <a:cubicBezTo>
                  <a:pt x="2000" y="3895"/>
                  <a:pt x="2895" y="3000"/>
                  <a:pt x="4000" y="3000"/>
                </a:cubicBezTo>
                <a:lnTo>
                  <a:pt x="20000" y="3000"/>
                </a:lnTo>
                <a:cubicBezTo>
                  <a:pt x="21105" y="3000"/>
                  <a:pt x="22000" y="3895"/>
                  <a:pt x="22000" y="5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31" name="slot.source.6.icon"/>
          <p:cNvSpPr/>
          <p:nvPr/>
        </p:nvSpPr>
        <p:spPr>
          <a:xfrm>
            <a:off x="246888" y="508292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7000"/>
                </a:moveTo>
                <a:lnTo>
                  <a:pt x="22000" y="7000"/>
                </a:lnTo>
                <a:lnTo>
                  <a:pt x="22000" y="13000"/>
                </a:lnTo>
                <a:moveTo>
                  <a:pt x="22000" y="7000"/>
                </a:moveTo>
                <a:lnTo>
                  <a:pt x="13500" y="15500"/>
                </a:lnTo>
                <a:lnTo>
                  <a:pt x="8500" y="10500"/>
                </a:lnTo>
                <a:lnTo>
                  <a:pt x="2000" y="17000"/>
                </a:lnTo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32" name="slot.source.7.icon"/>
          <p:cNvSpPr/>
          <p:nvPr/>
        </p:nvSpPr>
        <p:spPr>
          <a:xfrm>
            <a:off x="246888" y="5654424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20000"/>
                </a:moveTo>
                <a:cubicBezTo>
                  <a:pt x="21105" y="20000"/>
                  <a:pt x="22000" y="19105"/>
                  <a:pt x="22000" y="18000"/>
                </a:cubicBezTo>
                <a:lnTo>
                  <a:pt x="22000" y="8000"/>
                </a:lnTo>
                <a:cubicBezTo>
                  <a:pt x="22000" y="6895"/>
                  <a:pt x="21105" y="6000"/>
                  <a:pt x="20000" y="6000"/>
                </a:cubicBezTo>
                <a:lnTo>
                  <a:pt x="12100" y="6000"/>
                </a:lnTo>
                <a:cubicBezTo>
                  <a:pt x="11420" y="6007"/>
                  <a:pt x="10784" y="5668"/>
                  <a:pt x="10410" y="5100"/>
                </a:cubicBezTo>
                <a:lnTo>
                  <a:pt x="9600" y="3900"/>
                </a:lnTo>
                <a:cubicBezTo>
                  <a:pt x="9230" y="3338"/>
                  <a:pt x="8603" y="3000"/>
                  <a:pt x="7930" y="3000"/>
                </a:cubicBezTo>
                <a:lnTo>
                  <a:pt x="4000" y="3000"/>
                </a:lnTo>
                <a:cubicBezTo>
                  <a:pt x="2895" y="3000"/>
                  <a:pt x="2000" y="3895"/>
                  <a:pt x="2000" y="5000"/>
                </a:cubicBezTo>
                <a:lnTo>
                  <a:pt x="2000" y="18000"/>
                </a:lnTo>
                <a:cubicBezTo>
                  <a:pt x="2000" y="19105"/>
                  <a:pt x="2895" y="20000"/>
                  <a:pt x="4000" y="20000"/>
                </a:cubicBezTo>
                <a:close/>
              </a:path>
            </a:pathLst>
          </a:custGeom>
          <a:noFill/>
          <a:ln w="18415" cap="rnd">
            <a:solidFill>
              <a:schemeClr val="accent1"/>
            </a:solidFill>
            <a:round/>
          </a:ln>
          <a:effectLst/>
        </p:spPr>
      </p:sp>
      <p:sp>
        <p:nvSpPr>
          <p:cNvPr id="133" name="slot.consumers.group.3"/>
          <p:cNvSpPr txBox="1"/>
          <p:nvPr/>
        </p:nvSpPr>
        <p:spPr>
          <a:xfrm>
            <a:off x="10707624" y="5212079"/>
            <a:ext cx="1271016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People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struct.consumer.7.card"/>
          <p:cNvSpPr/>
          <p:nvPr/>
        </p:nvSpPr>
        <p:spPr>
          <a:xfrm>
            <a:off x="10707624" y="5404103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5" name="slot.consumer.7.text"/>
          <p:cNvSpPr txBox="1"/>
          <p:nvPr/>
        </p:nvSpPr>
        <p:spPr>
          <a:xfrm>
            <a:off x="11091672" y="5404103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Analysts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Self-serve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struct.consumer.8.card"/>
          <p:cNvSpPr/>
          <p:nvPr/>
        </p:nvSpPr>
        <p:spPr>
          <a:xfrm>
            <a:off x="10707624" y="6025895"/>
            <a:ext cx="1271016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7" name="slot.consumer.8.text"/>
          <p:cNvSpPr txBox="1"/>
          <p:nvPr/>
        </p:nvSpPr>
        <p:spPr>
          <a:xfrm>
            <a:off x="11091672" y="6025895"/>
            <a:ext cx="868680" cy="548640"/>
          </a:xfrm>
          <a:prstGeom prst="rect">
            <a:avLst/>
          </a:prstGeom>
          <a:noFill/>
          <a:effectLst/>
        </p:spPr>
        <p:txBody>
          <a:bodyPr wrap="square" tIns="9144" bIns="9144" anchor="ctr" lIns="91440" rIns="91440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Leads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Final sign-off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slot.consumer.1.icon"/>
          <p:cNvSpPr/>
          <p:nvPr/>
        </p:nvSpPr>
        <p:spPr>
          <a:xfrm>
            <a:off x="10780776" y="132588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0000"/>
                </a:moveTo>
                <a:lnTo>
                  <a:pt x="16000" y="4000"/>
                </a:lnTo>
                <a:cubicBezTo>
                  <a:pt x="16000" y="2895"/>
                  <a:pt x="15105" y="2000"/>
                  <a:pt x="14000" y="2000"/>
                </a:cubicBezTo>
                <a:lnTo>
                  <a:pt x="10000" y="2000"/>
                </a:lnTo>
                <a:cubicBezTo>
                  <a:pt x="8895" y="2000"/>
                  <a:pt x="8000" y="2895"/>
                  <a:pt x="8000" y="4000"/>
                </a:cubicBezTo>
                <a:lnTo>
                  <a:pt x="8000" y="20000"/>
                </a:lnTo>
                <a:moveTo>
                  <a:pt x="4000" y="6000"/>
                </a:moveTo>
                <a:lnTo>
                  <a:pt x="20000" y="6000"/>
                </a:lnTo>
                <a:cubicBezTo>
                  <a:pt x="21105" y="6000"/>
                  <a:pt x="22000" y="6895"/>
                  <a:pt x="22000" y="8000"/>
                </a:cubicBezTo>
                <a:lnTo>
                  <a:pt x="22000" y="18000"/>
                </a:lnTo>
                <a:cubicBezTo>
                  <a:pt x="22000" y="19105"/>
                  <a:pt x="21105" y="20000"/>
                  <a:pt x="20000" y="20000"/>
                </a:cubicBezTo>
                <a:lnTo>
                  <a:pt x="4000" y="20000"/>
                </a:lnTo>
                <a:cubicBezTo>
                  <a:pt x="2895" y="20000"/>
                  <a:pt x="2000" y="19105"/>
                  <a:pt x="2000" y="18000"/>
                </a:cubicBezTo>
                <a:lnTo>
                  <a:pt x="2000" y="8000"/>
                </a:lnTo>
                <a:cubicBezTo>
                  <a:pt x="2000" y="6895"/>
                  <a:pt x="2895" y="6000"/>
                  <a:pt x="4000" y="6000"/>
                </a:cubicBezTo>
                <a:close/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39" name="slot.consumer.2.icon"/>
          <p:cNvSpPr/>
          <p:nvPr/>
        </p:nvSpPr>
        <p:spPr>
          <a:xfrm>
            <a:off x="10780776" y="194767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14000"/>
                </a:moveTo>
                <a:lnTo>
                  <a:pt x="6000" y="14000"/>
                </a:lnTo>
                <a:cubicBezTo>
                  <a:pt x="7105" y="14000"/>
                  <a:pt x="8000" y="14895"/>
                  <a:pt x="8000" y="16000"/>
                </a:cubicBezTo>
                <a:lnTo>
                  <a:pt x="8000" y="19000"/>
                </a:lnTo>
                <a:cubicBezTo>
                  <a:pt x="8000" y="20105"/>
                  <a:pt x="7105" y="21000"/>
                  <a:pt x="6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12000"/>
                </a:lnTo>
                <a:cubicBezTo>
                  <a:pt x="3000" y="7029"/>
                  <a:pt x="7029" y="3000"/>
                  <a:pt x="12000" y="3000"/>
                </a:cubicBezTo>
                <a:cubicBezTo>
                  <a:pt x="16971" y="3000"/>
                  <a:pt x="21000" y="7029"/>
                  <a:pt x="21000" y="12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18000" y="21000"/>
                </a:lnTo>
                <a:cubicBezTo>
                  <a:pt x="16895" y="21000"/>
                  <a:pt x="16000" y="20105"/>
                  <a:pt x="16000" y="19000"/>
                </a:cubicBezTo>
                <a:lnTo>
                  <a:pt x="16000" y="16000"/>
                </a:lnTo>
                <a:cubicBezTo>
                  <a:pt x="16000" y="14895"/>
                  <a:pt x="16895" y="14000"/>
                  <a:pt x="18000" y="14000"/>
                </a:cubicBezTo>
                <a:lnTo>
                  <a:pt x="21000" y="14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0" name="slot.consumer.3.icon"/>
          <p:cNvSpPr/>
          <p:nvPr/>
        </p:nvSpPr>
        <p:spPr>
          <a:xfrm>
            <a:off x="10780776" y="256946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  <a:moveTo>
                  <a:pt x="8000" y="6000"/>
                </a:moveTo>
                <a:lnTo>
                  <a:pt x="16000" y="6000"/>
                </a:lnTo>
                <a:moveTo>
                  <a:pt x="16000" y="14000"/>
                </a:moveTo>
                <a:lnTo>
                  <a:pt x="16000" y="18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2000" y="10000"/>
                </a:moveTo>
                <a:lnTo>
                  <a:pt x="12010" y="10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12000" y="18000"/>
                </a:moveTo>
                <a:lnTo>
                  <a:pt x="12010" y="18000"/>
                </a:lnTo>
                <a:moveTo>
                  <a:pt x="8000" y="18000"/>
                </a:moveTo>
                <a:lnTo>
                  <a:pt x="8010" y="18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1" name="slot.consumer.4.icon"/>
          <p:cNvSpPr/>
          <p:nvPr/>
        </p:nvSpPr>
        <p:spPr>
          <a:xfrm>
            <a:off x="10780776" y="342900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7000"/>
                </a:lnTo>
                <a:moveTo>
                  <a:pt x="15000" y="8000"/>
                </a:moveTo>
                <a:lnTo>
                  <a:pt x="15000" y="2000"/>
                </a:lnTo>
                <a:moveTo>
                  <a:pt x="17000" y="8000"/>
                </a:moveTo>
                <a:cubicBezTo>
                  <a:pt x="17552" y="8000"/>
                  <a:pt x="18000" y="8448"/>
                  <a:pt x="18000" y="9000"/>
                </a:cubicBezTo>
                <a:lnTo>
                  <a:pt x="18000" y="13000"/>
                </a:lnTo>
                <a:cubicBezTo>
                  <a:pt x="18000" y="15209"/>
                  <a:pt x="16209" y="17000"/>
                  <a:pt x="14000" y="17000"/>
                </a:cubicBezTo>
                <a:lnTo>
                  <a:pt x="10000" y="17000"/>
                </a:lnTo>
                <a:cubicBezTo>
                  <a:pt x="7791" y="17000"/>
                  <a:pt x="6000" y="15209"/>
                  <a:pt x="6000" y="13000"/>
                </a:cubicBezTo>
                <a:lnTo>
                  <a:pt x="6000" y="9000"/>
                </a:lnTo>
                <a:cubicBezTo>
                  <a:pt x="6000" y="8448"/>
                  <a:pt x="6448" y="8000"/>
                  <a:pt x="7000" y="8000"/>
                </a:cubicBezTo>
                <a:close/>
                <a:moveTo>
                  <a:pt x="9000" y="8000"/>
                </a:moveTo>
                <a:lnTo>
                  <a:pt x="9000" y="2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2" name="slot.consumer.5.icon"/>
          <p:cNvSpPr/>
          <p:nvPr/>
        </p:nvSpPr>
        <p:spPr>
          <a:xfrm>
            <a:off x="10780776" y="405079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8000" y="17000"/>
                </a:moveTo>
                <a:lnTo>
                  <a:pt x="18000" y="9000"/>
                </a:lnTo>
                <a:moveTo>
                  <a:pt x="13000" y="17000"/>
                </a:moveTo>
                <a:lnTo>
                  <a:pt x="13000" y="5000"/>
                </a:lnTo>
                <a:moveTo>
                  <a:pt x="8000" y="17000"/>
                </a:moveTo>
                <a:lnTo>
                  <a:pt x="8000" y="14000"/>
                </a:ln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3" name="slot.consumer.6.icon"/>
          <p:cNvSpPr/>
          <p:nvPr/>
        </p:nvSpPr>
        <p:spPr>
          <a:xfrm>
            <a:off x="10780776" y="467258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268" y="21000"/>
                </a:moveTo>
                <a:cubicBezTo>
                  <a:pt x="10625" y="21619"/>
                  <a:pt x="11286" y="22000"/>
                  <a:pt x="12000" y="22000"/>
                </a:cubicBezTo>
                <a:cubicBezTo>
                  <a:pt x="12714" y="22000"/>
                  <a:pt x="13375" y="21619"/>
                  <a:pt x="13732" y="21000"/>
                </a:cubicBezTo>
                <a:moveTo>
                  <a:pt x="3262" y="15326"/>
                </a:moveTo>
                <a:cubicBezTo>
                  <a:pt x="2995" y="15619"/>
                  <a:pt x="2926" y="16041"/>
                  <a:pt x="3086" y="16403"/>
                </a:cubicBezTo>
                <a:cubicBezTo>
                  <a:pt x="3245" y="16766"/>
                  <a:pt x="3604" y="17000"/>
                  <a:pt x="4000" y="17000"/>
                </a:cubicBezTo>
                <a:lnTo>
                  <a:pt x="20000" y="17000"/>
                </a:lnTo>
                <a:cubicBezTo>
                  <a:pt x="20396" y="17000"/>
                  <a:pt x="20755" y="16767"/>
                  <a:pt x="20915" y="16405"/>
                </a:cubicBezTo>
                <a:cubicBezTo>
                  <a:pt x="21075" y="16042"/>
                  <a:pt x="21006" y="15620"/>
                  <a:pt x="20740" y="15327"/>
                </a:cubicBezTo>
                <a:cubicBezTo>
                  <a:pt x="19410" y="13956"/>
                  <a:pt x="18000" y="12499"/>
                  <a:pt x="18000" y="8000"/>
                </a:cubicBezTo>
                <a:cubicBezTo>
                  <a:pt x="18000" y="4686"/>
                  <a:pt x="15314" y="2000"/>
                  <a:pt x="12000" y="2000"/>
                </a:cubicBezTo>
                <a:cubicBezTo>
                  <a:pt x="8686" y="2000"/>
                  <a:pt x="6000" y="4686"/>
                  <a:pt x="6000" y="8000"/>
                </a:cubicBezTo>
                <a:cubicBezTo>
                  <a:pt x="6000" y="12499"/>
                  <a:pt x="4589" y="13956"/>
                  <a:pt x="3262" y="15326"/>
                </a:cubicBezTo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4" name="slot.consumer.7.icon"/>
          <p:cNvSpPr/>
          <p:nvPr/>
        </p:nvSpPr>
        <p:spPr>
          <a:xfrm>
            <a:off x="10780776" y="5532120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6000" y="3128"/>
                </a:moveTo>
                <a:cubicBezTo>
                  <a:pt x="17764" y="3585"/>
                  <a:pt x="18996" y="5177"/>
                  <a:pt x="18996" y="7000"/>
                </a:cubicBezTo>
                <a:cubicBezTo>
                  <a:pt x="18996" y="8823"/>
                  <a:pt x="17764" y="10415"/>
                  <a:pt x="16000" y="10872"/>
                </a:cubicBezTo>
                <a:moveTo>
                  <a:pt x="22000" y="21000"/>
                </a:moveTo>
                <a:lnTo>
                  <a:pt x="22000" y="19000"/>
                </a:lnTo>
                <a:cubicBezTo>
                  <a:pt x="21999" y="17177"/>
                  <a:pt x="20765" y="15586"/>
                  <a:pt x="19000" y="15130"/>
                </a:cubicBez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5" name="slot.consumer.8.icon"/>
          <p:cNvSpPr/>
          <p:nvPr/>
        </p:nvSpPr>
        <p:spPr>
          <a:xfrm>
            <a:off x="10780776" y="6153912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11000"/>
                </a:moveTo>
                <a:lnTo>
                  <a:pt x="18000" y="13000"/>
                </a:lnTo>
                <a:lnTo>
                  <a:pt x="22000" y="9000"/>
                </a:lnTo>
                <a:moveTo>
                  <a:pt x="16000" y="21000"/>
                </a:moveTo>
                <a:lnTo>
                  <a:pt x="16000" y="19000"/>
                </a:lnTo>
                <a:cubicBezTo>
                  <a:pt x="16000" y="16791"/>
                  <a:pt x="14209" y="15000"/>
                  <a:pt x="12000" y="15000"/>
                </a:cubicBezTo>
                <a:lnTo>
                  <a:pt x="6000" y="15000"/>
                </a:lnTo>
                <a:cubicBezTo>
                  <a:pt x="3791" y="15000"/>
                  <a:pt x="2000" y="16791"/>
                  <a:pt x="2000" y="19000"/>
                </a:cubicBezTo>
                <a:lnTo>
                  <a:pt x="2000" y="21000"/>
                </a:lnTo>
                <a:moveTo>
                  <a:pt x="13000" y="7000"/>
                </a:moveTo>
                <a:cubicBezTo>
                  <a:pt x="13000" y="9209"/>
                  <a:pt x="11209" y="11000"/>
                  <a:pt x="9000" y="11000"/>
                </a:cubicBezTo>
                <a:cubicBezTo>
                  <a:pt x="6791" y="11000"/>
                  <a:pt x="5000" y="9209"/>
                  <a:pt x="5000" y="7000"/>
                </a:cubicBezTo>
                <a:cubicBezTo>
                  <a:pt x="5000" y="4791"/>
                  <a:pt x="6791" y="3000"/>
                  <a:pt x="9000" y="3000"/>
                </a:cubicBezTo>
                <a:cubicBezTo>
                  <a:pt x="11209" y="3000"/>
                  <a:pt x="13000" y="4791"/>
                  <a:pt x="13000" y="7000"/>
                </a:cubicBezTo>
                <a:close/>
              </a:path>
            </a:pathLst>
          </a:custGeom>
          <a:noFill/>
          <a:ln w="24130" cap="rnd">
            <a:solidFill>
              <a:schemeClr val="accent1"/>
            </a:solidFill>
            <a:round/>
          </a:ln>
          <a:effectLst/>
        </p:spPr>
      </p:sp>
      <p:sp>
        <p:nvSpPr>
          <p:cNvPr id="146" name="slot.lane.3.label"/>
          <p:cNvSpPr txBox="1"/>
          <p:nvPr/>
        </p:nvSpPr>
        <p:spPr>
          <a:xfrm>
            <a:off x="1783080" y="4379976"/>
            <a:ext cx="3822191" cy="173736"/>
          </a:xfrm>
          <a:prstGeom prst="rect">
            <a:avLst/>
          </a:prstGeom>
          <a:noFill/>
          <a:effectLst/>
        </p:spPr>
        <p:txBody>
          <a:bodyPr wrap="square" lIns="27432" tIns="9144" rIns="27432" bIns="9144" anchor="ctr" rtlCol="0">
            <a:noAutofit/>
          </a:bodyPr>
          <a:lstStyle/>
          <a:p>
            <a:pPr marL="0" indent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Document intake</a:t>
            </a:r>
            <a:endParaRPr lang="en-US" sz="1000" b="1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truct.lane.3.step.1.card"/>
          <p:cNvSpPr/>
          <p:nvPr/>
        </p:nvSpPr>
        <p:spPr>
          <a:xfrm>
            <a:off x="1783080" y="4572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48" name="struct.lane.3.step.2.card"/>
          <p:cNvSpPr/>
          <p:nvPr/>
        </p:nvSpPr>
        <p:spPr>
          <a:xfrm>
            <a:off x="2761488" y="4572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49" name="struct.lane.3.step.3.card"/>
          <p:cNvSpPr/>
          <p:nvPr/>
        </p:nvSpPr>
        <p:spPr>
          <a:xfrm>
            <a:off x="3739896" y="4572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50" name="struct.lane.3.step.4.card"/>
          <p:cNvSpPr/>
          <p:nvPr/>
        </p:nvSpPr>
        <p:spPr>
          <a:xfrm>
            <a:off x="4718304" y="4572000"/>
            <a:ext cx="886968" cy="859536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5080">
            <a:solidFill>
              <a:schemeClr val="bg1">
                <a:lumMod val="75000"/>
              </a:schemeClr>
            </a:solidFill>
          </a:ln>
          <a:effectLst/>
        </p:spPr>
        <p:txBody>
          <a:bodyPr lIns="27432" tIns="9144" rIns="27432" bIns="9144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51" name="slot.lane.3.step.1.text"/>
          <p:cNvSpPr txBox="1"/>
          <p:nvPr/>
        </p:nvSpPr>
        <p:spPr>
          <a:xfrm>
            <a:off x="1810512" y="4956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Parse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Text and tables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slot.lane.3.step.2.text"/>
          <p:cNvSpPr txBox="1"/>
          <p:nvPr/>
        </p:nvSpPr>
        <p:spPr>
          <a:xfrm>
            <a:off x="2788920" y="4956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Chunk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By section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slot.lane.3.step.3.text"/>
          <p:cNvSpPr txBox="1"/>
          <p:nvPr/>
        </p:nvSpPr>
        <p:spPr>
          <a:xfrm>
            <a:off x="3767328" y="4956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Embed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Vector per chunk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lot.lane.3.step.4.text"/>
          <p:cNvSpPr txBox="1"/>
          <p:nvPr/>
        </p:nvSpPr>
        <p:spPr>
          <a:xfrm>
            <a:off x="4745736" y="4956048"/>
            <a:ext cx="832103" cy="457200"/>
          </a:xfrm>
          <a:prstGeom prst="rect">
            <a:avLst/>
          </a:prstGeom>
          <a:noFill/>
          <a:effectLst/>
        </p:spPr>
        <p:txBody>
          <a:bodyPr wrap="square" tIns="0" bIns="0" anchor="t" lIns="91440" rIns="91440" rtlCol="0">
            <a:noAutofit/>
          </a:bodyPr>
          <a:lstStyle/>
          <a:p>
            <a:pPr marL="0" indent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 dirty="0">
                <a:solidFill>
                  <a:schemeClr val="tx1">
                    <a:lumMod val="90000"/>
                    <a:lumOff val="10000"/>
                  </a:schemeClr>
                </a:solidFill>
                <a:latin typeface="Arial"/>
                <a:ea typeface="Arial"/>
                <a:cs typeface="Arial"/>
              </a:rPr>
              <a:t>Index</a:t>
            </a:r>
            <a:endParaRPr lang="en-US" sz="1000" b="1" i="0" kern="0" dirty="0">
              <a:solidFill>
                <a:schemeClr val="tx1">
                  <a:lumMod val="90000"/>
                  <a:lumOff val="10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 lvl="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Search ready</a:t>
            </a:r>
            <a:endParaRPr lang="en-US" sz="900" b="0" i="0" kern="0" dirty="0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55" name="struct.lane.3.arrow.1"/>
          <p:cNvCxnSpPr/>
          <p:nvPr/>
        </p:nvCxnSpPr>
        <p:spPr>
          <a:xfrm>
            <a:off x="2660904" y="5001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156" name="struct.lane.3.arrow.2"/>
          <p:cNvCxnSpPr/>
          <p:nvPr/>
        </p:nvCxnSpPr>
        <p:spPr>
          <a:xfrm>
            <a:off x="3639312" y="5001768"/>
            <a:ext cx="109727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cxnSp>
        <p:nvCxnSpPr>
          <p:cNvPr id="157" name="struct.lane.3.arrow.3"/>
          <p:cNvCxnSpPr/>
          <p:nvPr/>
        </p:nvCxnSpPr>
        <p:spPr>
          <a:xfrm>
            <a:off x="4617720" y="5001768"/>
            <a:ext cx="109728" cy="0"/>
          </a:xfrm>
          <a:prstGeom prst="line">
            <a:avLst/>
          </a:prstGeom>
          <a:ln w="10160">
            <a:solidFill>
              <a:schemeClr val="bg1">
                <a:lumMod val="55000"/>
              </a:schemeClr>
            </a:solidFill>
            <a:tailEnd type="triangle" w="sm"/>
          </a:ln>
          <a:effectLst/>
        </p:spPr>
      </p:cxnSp>
      <p:sp>
        <p:nvSpPr>
          <p:cNvPr id="158" name="slot.lane.1.step.1.icon"/>
          <p:cNvSpPr/>
          <p:nvPr/>
        </p:nvSpPr>
        <p:spPr>
          <a:xfrm>
            <a:off x="2071116" y="2350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3000"/>
                </a:moveTo>
                <a:lnTo>
                  <a:pt x="12000" y="21000"/>
                </a:lnTo>
                <a:lnTo>
                  <a:pt x="8000" y="17000"/>
                </a:lnTo>
                <a:moveTo>
                  <a:pt x="12000" y="21000"/>
                </a:moveTo>
                <a:lnTo>
                  <a:pt x="16000" y="17000"/>
                </a:lnTo>
                <a:moveTo>
                  <a:pt x="4393" y="15269"/>
                </a:moveTo>
                <a:cubicBezTo>
                  <a:pt x="2153" y="13310"/>
                  <a:pt x="1397" y="10148"/>
                  <a:pt x="2508" y="7387"/>
                </a:cubicBezTo>
                <a:cubicBezTo>
                  <a:pt x="3619" y="4627"/>
                  <a:pt x="6354" y="2870"/>
                  <a:pt x="9326" y="3008"/>
                </a:cubicBezTo>
                <a:cubicBezTo>
                  <a:pt x="12299" y="3146"/>
                  <a:pt x="14860" y="5148"/>
                  <a:pt x="15710" y="8000"/>
                </a:cubicBezTo>
                <a:lnTo>
                  <a:pt x="17500" y="8000"/>
                </a:lnTo>
                <a:cubicBezTo>
                  <a:pt x="19497" y="8000"/>
                  <a:pt x="21255" y="9315"/>
                  <a:pt x="21818" y="11230"/>
                </a:cubicBezTo>
                <a:cubicBezTo>
                  <a:pt x="22381" y="13146"/>
                  <a:pt x="21615" y="15203"/>
                  <a:pt x="19936" y="16284"/>
                </a:cubicBez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59" name="slot.lane.1.step.2.icon"/>
          <p:cNvSpPr/>
          <p:nvPr/>
        </p:nvSpPr>
        <p:spPr>
          <a:xfrm>
            <a:off x="3049524" y="2350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000" y="5000"/>
                </a:moveTo>
                <a:lnTo>
                  <a:pt x="21000" y="5000"/>
                </a:lnTo>
                <a:moveTo>
                  <a:pt x="13000" y="12000"/>
                </a:moveTo>
                <a:lnTo>
                  <a:pt x="21000" y="12000"/>
                </a:lnTo>
                <a:moveTo>
                  <a:pt x="13000" y="19000"/>
                </a:moveTo>
                <a:lnTo>
                  <a:pt x="21000" y="19000"/>
                </a:lnTo>
                <a:moveTo>
                  <a:pt x="3000" y="17000"/>
                </a:moveTo>
                <a:lnTo>
                  <a:pt x="5000" y="19000"/>
                </a:lnTo>
                <a:lnTo>
                  <a:pt x="9000" y="15000"/>
                </a:lnTo>
                <a:moveTo>
                  <a:pt x="3000" y="7000"/>
                </a:moveTo>
                <a:lnTo>
                  <a:pt x="5000" y="9000"/>
                </a:lnTo>
                <a:lnTo>
                  <a:pt x="9000" y="5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0" name="slot.lane.1.step.3.icon"/>
          <p:cNvSpPr/>
          <p:nvPr/>
        </p:nvSpPr>
        <p:spPr>
          <a:xfrm>
            <a:off x="4027932" y="2350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3000"/>
                </a:moveTo>
                <a:lnTo>
                  <a:pt x="12000" y="21000"/>
                </a:lnTo>
                <a:moveTo>
                  <a:pt x="5000" y="3000"/>
                </a:moveTo>
                <a:lnTo>
                  <a:pt x="19000" y="3000"/>
                </a:lnTo>
                <a:cubicBezTo>
                  <a:pt x="20105" y="3000"/>
                  <a:pt x="21000" y="3895"/>
                  <a:pt x="21000" y="5000"/>
                </a:cubicBezTo>
                <a:lnTo>
                  <a:pt x="21000" y="19000"/>
                </a:lnTo>
                <a:cubicBezTo>
                  <a:pt x="21000" y="20105"/>
                  <a:pt x="20105" y="21000"/>
                  <a:pt x="19000" y="21000"/>
                </a:cubicBezTo>
                <a:lnTo>
                  <a:pt x="5000" y="21000"/>
                </a:lnTo>
                <a:cubicBezTo>
                  <a:pt x="3895" y="21000"/>
                  <a:pt x="3000" y="20105"/>
                  <a:pt x="3000" y="19000"/>
                </a:cubicBezTo>
                <a:lnTo>
                  <a:pt x="3000" y="5000"/>
                </a:lnTo>
                <a:cubicBezTo>
                  <a:pt x="3000" y="3895"/>
                  <a:pt x="3895" y="3000"/>
                  <a:pt x="5000" y="3000"/>
                </a:cubicBezTo>
                <a:close/>
                <a:moveTo>
                  <a:pt x="3000" y="9000"/>
                </a:moveTo>
                <a:lnTo>
                  <a:pt x="21000" y="9000"/>
                </a:lnTo>
                <a:moveTo>
                  <a:pt x="3000" y="15000"/>
                </a:moveTo>
                <a:lnTo>
                  <a:pt x="21000" y="15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1" name="slot.lane.1.step.4.icon"/>
          <p:cNvSpPr/>
          <p:nvPr/>
        </p:nvSpPr>
        <p:spPr>
          <a:xfrm>
            <a:off x="5006340" y="2350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2000"/>
                </a:moveTo>
                <a:lnTo>
                  <a:pt x="12000" y="12000"/>
                </a:lnTo>
                <a:moveTo>
                  <a:pt x="16000" y="17000"/>
                </a:moveTo>
                <a:lnTo>
                  <a:pt x="18000" y="19000"/>
                </a:lnTo>
                <a:lnTo>
                  <a:pt x="22000" y="15000"/>
                </a:lnTo>
                <a:moveTo>
                  <a:pt x="21000" y="11127"/>
                </a:moveTo>
                <a:lnTo>
                  <a:pt x="21000" y="8000"/>
                </a:lnTo>
                <a:cubicBezTo>
                  <a:pt x="20999" y="7286"/>
                  <a:pt x="20618" y="6627"/>
                  <a:pt x="20000" y="6270"/>
                </a:cubicBezTo>
                <a:lnTo>
                  <a:pt x="13000" y="2270"/>
                </a:lnTo>
                <a:cubicBezTo>
                  <a:pt x="12381" y="1913"/>
                  <a:pt x="11619" y="1913"/>
                  <a:pt x="11000" y="2270"/>
                </a:cubicBezTo>
                <a:lnTo>
                  <a:pt x="4000" y="6270"/>
                </a:lnTo>
                <a:cubicBezTo>
                  <a:pt x="3382" y="6627"/>
                  <a:pt x="3001" y="7286"/>
                  <a:pt x="3000" y="8000"/>
                </a:cubicBezTo>
                <a:lnTo>
                  <a:pt x="3000" y="16000"/>
                </a:lnTo>
                <a:cubicBezTo>
                  <a:pt x="3001" y="16713"/>
                  <a:pt x="3382" y="17372"/>
                  <a:pt x="4000" y="17729"/>
                </a:cubicBezTo>
                <a:lnTo>
                  <a:pt x="11000" y="21729"/>
                </a:lnTo>
                <a:cubicBezTo>
                  <a:pt x="11619" y="22087"/>
                  <a:pt x="12381" y="22087"/>
                  <a:pt x="13000" y="21730"/>
                </a:cubicBezTo>
                <a:lnTo>
                  <a:pt x="14320" y="20977"/>
                </a:lnTo>
                <a:moveTo>
                  <a:pt x="3290" y="7000"/>
                </a:moveTo>
                <a:lnTo>
                  <a:pt x="12000" y="12000"/>
                </a:lnTo>
                <a:lnTo>
                  <a:pt x="20710" y="7000"/>
                </a:lnTo>
                <a:moveTo>
                  <a:pt x="7500" y="4270"/>
                </a:moveTo>
                <a:lnTo>
                  <a:pt x="16497" y="9418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2" name="slot.lane.2.step.1.icon"/>
          <p:cNvSpPr/>
          <p:nvPr/>
        </p:nvSpPr>
        <p:spPr>
          <a:xfrm>
            <a:off x="2071116" y="3493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3" name="slot.lane.2.step.2.icon"/>
          <p:cNvSpPr/>
          <p:nvPr/>
        </p:nvSpPr>
        <p:spPr>
          <a:xfrm>
            <a:off x="3049524" y="3493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8000" y="6000"/>
                </a:moveTo>
                <a:lnTo>
                  <a:pt x="12000" y="2000"/>
                </a:lnTo>
                <a:lnTo>
                  <a:pt x="16000" y="6000"/>
                </a:lnTo>
                <a:moveTo>
                  <a:pt x="12000" y="2000"/>
                </a:moveTo>
                <a:lnTo>
                  <a:pt x="12000" y="12300"/>
                </a:lnTo>
                <a:cubicBezTo>
                  <a:pt x="12012" y="13376"/>
                  <a:pt x="11589" y="14411"/>
                  <a:pt x="10828" y="15172"/>
                </a:cubicBezTo>
                <a:lnTo>
                  <a:pt x="4000" y="22000"/>
                </a:lnTo>
                <a:moveTo>
                  <a:pt x="20000" y="22000"/>
                </a:moveTo>
                <a:lnTo>
                  <a:pt x="15000" y="17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4" name="slot.lane.2.step.3.icon"/>
          <p:cNvSpPr/>
          <p:nvPr/>
        </p:nvSpPr>
        <p:spPr>
          <a:xfrm>
            <a:off x="4027932" y="3493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4000"/>
                </a:moveTo>
                <a:lnTo>
                  <a:pt x="16000" y="10000"/>
                </a:lnTo>
                <a:moveTo>
                  <a:pt x="3340" y="19000"/>
                </a:moveTo>
                <a:cubicBezTo>
                  <a:pt x="913" y="14797"/>
                  <a:pt x="1854" y="9459"/>
                  <a:pt x="5572" y="6339"/>
                </a:cubicBezTo>
                <a:cubicBezTo>
                  <a:pt x="9290" y="3220"/>
                  <a:pt x="14710" y="3220"/>
                  <a:pt x="18428" y="6339"/>
                </a:cubicBezTo>
                <a:cubicBezTo>
                  <a:pt x="22146" y="9459"/>
                  <a:pt x="23087" y="14797"/>
                  <a:pt x="20660" y="19000"/>
                </a:cubicBez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5" name="slot.lane.2.step.4.icon"/>
          <p:cNvSpPr/>
          <p:nvPr/>
        </p:nvSpPr>
        <p:spPr>
          <a:xfrm>
            <a:off x="5006340" y="3493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0000" y="16000"/>
                </a:moveTo>
                <a:lnTo>
                  <a:pt x="10010" y="16000"/>
                </a:lnTo>
                <a:moveTo>
                  <a:pt x="2212" y="11577"/>
                </a:moveTo>
                <a:cubicBezTo>
                  <a:pt x="2073" y="11855"/>
                  <a:pt x="2000" y="12162"/>
                  <a:pt x="2000" y="12473"/>
                </a:cubicBezTo>
                <a:lnTo>
                  <a:pt x="2000" y="18000"/>
                </a:lnTo>
                <a:cubicBezTo>
                  <a:pt x="2000" y="19105"/>
                  <a:pt x="2895" y="20000"/>
                  <a:pt x="4000" y="20000"/>
                </a:cubicBezTo>
                <a:lnTo>
                  <a:pt x="20000" y="20000"/>
                </a:lnTo>
                <a:cubicBezTo>
                  <a:pt x="21105" y="20000"/>
                  <a:pt x="22000" y="19105"/>
                  <a:pt x="22000" y="18000"/>
                </a:cubicBezTo>
                <a:lnTo>
                  <a:pt x="22000" y="12473"/>
                </a:lnTo>
                <a:cubicBezTo>
                  <a:pt x="22000" y="12162"/>
                  <a:pt x="21927" y="11855"/>
                  <a:pt x="21788" y="11577"/>
                </a:cubicBezTo>
                <a:lnTo>
                  <a:pt x="18550" y="5110"/>
                </a:lnTo>
                <a:cubicBezTo>
                  <a:pt x="18212" y="4430"/>
                  <a:pt x="17519" y="4000"/>
                  <a:pt x="16760" y="4000"/>
                </a:cubicBezTo>
                <a:lnTo>
                  <a:pt x="7240" y="4000"/>
                </a:lnTo>
                <a:cubicBezTo>
                  <a:pt x="6481" y="4000"/>
                  <a:pt x="5788" y="4430"/>
                  <a:pt x="5450" y="5110"/>
                </a:cubicBezTo>
                <a:close/>
                <a:moveTo>
                  <a:pt x="21946" y="12013"/>
                </a:moveTo>
                <a:lnTo>
                  <a:pt x="2054" y="12013"/>
                </a:lnTo>
                <a:moveTo>
                  <a:pt x="6000" y="16000"/>
                </a:moveTo>
                <a:lnTo>
                  <a:pt x="6010" y="16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6" name="slot.lane.3.step.1.icon"/>
          <p:cNvSpPr/>
          <p:nvPr/>
        </p:nvSpPr>
        <p:spPr>
          <a:xfrm>
            <a:off x="2071116" y="4636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4000" y="14500"/>
                </a:moveTo>
                <a:cubicBezTo>
                  <a:pt x="14000" y="15881"/>
                  <a:pt x="12881" y="17000"/>
                  <a:pt x="11500" y="17000"/>
                </a:cubicBezTo>
                <a:cubicBezTo>
                  <a:pt x="10119" y="17000"/>
                  <a:pt x="9000" y="15881"/>
                  <a:pt x="9000" y="14500"/>
                </a:cubicBezTo>
                <a:cubicBezTo>
                  <a:pt x="9000" y="13119"/>
                  <a:pt x="10119" y="12000"/>
                  <a:pt x="11500" y="12000"/>
                </a:cubicBezTo>
                <a:cubicBezTo>
                  <a:pt x="12881" y="12000"/>
                  <a:pt x="14000" y="13119"/>
                  <a:pt x="14000" y="14500"/>
                </a:cubicBezTo>
                <a:close/>
                <a:moveTo>
                  <a:pt x="13300" y="16300"/>
                </a:moveTo>
                <a:lnTo>
                  <a:pt x="15000" y="18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7" name="slot.lane.3.step.2.icon"/>
          <p:cNvSpPr/>
          <p:nvPr/>
        </p:nvSpPr>
        <p:spPr>
          <a:xfrm>
            <a:off x="3049524" y="4636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3000"/>
                </a:moveTo>
                <a:lnTo>
                  <a:pt x="21000" y="3000"/>
                </a:lnTo>
                <a:lnTo>
                  <a:pt x="21000" y="8000"/>
                </a:lnTo>
                <a:moveTo>
                  <a:pt x="8000" y="3000"/>
                </a:moveTo>
                <a:lnTo>
                  <a:pt x="3000" y="3000"/>
                </a:lnTo>
                <a:lnTo>
                  <a:pt x="3000" y="8000"/>
                </a:lnTo>
                <a:moveTo>
                  <a:pt x="12000" y="22000"/>
                </a:moveTo>
                <a:lnTo>
                  <a:pt x="12000" y="13700"/>
                </a:lnTo>
                <a:cubicBezTo>
                  <a:pt x="12012" y="12624"/>
                  <a:pt x="11589" y="11589"/>
                  <a:pt x="10828" y="10828"/>
                </a:cubicBezTo>
                <a:lnTo>
                  <a:pt x="3000" y="3000"/>
                </a:lnTo>
                <a:moveTo>
                  <a:pt x="15000" y="9000"/>
                </a:moveTo>
                <a:lnTo>
                  <a:pt x="21000" y="3000"/>
                </a:lnTo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8" name="slot.lane.3.step.3.icon"/>
          <p:cNvSpPr/>
          <p:nvPr/>
        </p:nvSpPr>
        <p:spPr>
          <a:xfrm>
            <a:off x="4027932" y="4636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5000"/>
                </a:moveTo>
                <a:cubicBezTo>
                  <a:pt x="12003" y="3911"/>
                  <a:pt x="11416" y="2906"/>
                  <a:pt x="10466" y="2374"/>
                </a:cubicBezTo>
                <a:cubicBezTo>
                  <a:pt x="9516" y="1842"/>
                  <a:pt x="8353" y="1866"/>
                  <a:pt x="7426" y="2437"/>
                </a:cubicBezTo>
                <a:cubicBezTo>
                  <a:pt x="6499" y="3009"/>
                  <a:pt x="5954" y="4037"/>
                  <a:pt x="6003" y="5125"/>
                </a:cubicBez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  <a:cubicBezTo>
                  <a:pt x="2450" y="11729"/>
                  <a:pt x="1902" y="13018"/>
                  <a:pt x="2013" y="14336"/>
                </a:cubicBezTo>
                <a:cubicBezTo>
                  <a:pt x="2125" y="15654"/>
                  <a:pt x="2881" y="16833"/>
                  <a:pt x="4033" y="17483"/>
                </a:cubicBezTo>
                <a:cubicBezTo>
                  <a:pt x="3842" y="18961"/>
                  <a:pt x="4488" y="20422"/>
                  <a:pt x="5710" y="21275"/>
                </a:cubicBezTo>
                <a:cubicBezTo>
                  <a:pt x="6931" y="22128"/>
                  <a:pt x="8526" y="22232"/>
                  <a:pt x="9847" y="21544"/>
                </a:cubicBezTo>
                <a:cubicBezTo>
                  <a:pt x="11169" y="20856"/>
                  <a:pt x="11998" y="19490"/>
                  <a:pt x="12000" y="18000"/>
                </a:cubicBezTo>
                <a:close/>
                <a:moveTo>
                  <a:pt x="9000" y="13000"/>
                </a:moveTo>
                <a:cubicBezTo>
                  <a:pt x="10717" y="12396"/>
                  <a:pt x="11901" y="10817"/>
                  <a:pt x="12000" y="9000"/>
                </a:cubicBezTo>
                <a:moveTo>
                  <a:pt x="6003" y="5125"/>
                </a:moveTo>
                <a:cubicBezTo>
                  <a:pt x="6023" y="5609"/>
                  <a:pt x="6159" y="6080"/>
                  <a:pt x="6401" y="6500"/>
                </a:cubicBezTo>
                <a:moveTo>
                  <a:pt x="3477" y="10896"/>
                </a:moveTo>
                <a:cubicBezTo>
                  <a:pt x="3660" y="10747"/>
                  <a:pt x="3856" y="10614"/>
                  <a:pt x="4062" y="10500"/>
                </a:cubicBezTo>
                <a:moveTo>
                  <a:pt x="6000" y="18000"/>
                </a:moveTo>
                <a:cubicBezTo>
                  <a:pt x="5311" y="18000"/>
                  <a:pt x="4633" y="17823"/>
                  <a:pt x="4033" y="17484"/>
                </a:cubicBezTo>
                <a:moveTo>
                  <a:pt x="12000" y="13000"/>
                </a:moveTo>
                <a:lnTo>
                  <a:pt x="16000" y="13000"/>
                </a:lnTo>
                <a:moveTo>
                  <a:pt x="12000" y="18000"/>
                </a:moveTo>
                <a:lnTo>
                  <a:pt x="18000" y="18000"/>
                </a:lnTo>
                <a:cubicBezTo>
                  <a:pt x="19105" y="18000"/>
                  <a:pt x="20000" y="18895"/>
                  <a:pt x="20000" y="20000"/>
                </a:cubicBezTo>
                <a:lnTo>
                  <a:pt x="20000" y="21000"/>
                </a:lnTo>
                <a:moveTo>
                  <a:pt x="12000" y="8000"/>
                </a:moveTo>
                <a:lnTo>
                  <a:pt x="20000" y="8000"/>
                </a:lnTo>
                <a:moveTo>
                  <a:pt x="16000" y="8000"/>
                </a:moveTo>
                <a:lnTo>
                  <a:pt x="16000" y="5000"/>
                </a:lnTo>
                <a:cubicBezTo>
                  <a:pt x="16000" y="3895"/>
                  <a:pt x="16895" y="3000"/>
                  <a:pt x="18000" y="3000"/>
                </a:cubicBezTo>
                <a:moveTo>
                  <a:pt x="16500" y="13000"/>
                </a:moveTo>
                <a:cubicBezTo>
                  <a:pt x="16500" y="13276"/>
                  <a:pt x="16276" y="13500"/>
                  <a:pt x="16000" y="13500"/>
                </a:cubicBezTo>
                <a:cubicBezTo>
                  <a:pt x="15724" y="13500"/>
                  <a:pt x="15500" y="13276"/>
                  <a:pt x="15500" y="13000"/>
                </a:cubicBezTo>
                <a:cubicBezTo>
                  <a:pt x="15500" y="12724"/>
                  <a:pt x="15724" y="12500"/>
                  <a:pt x="16000" y="12500"/>
                </a:cubicBezTo>
                <a:cubicBezTo>
                  <a:pt x="16276" y="12500"/>
                  <a:pt x="16500" y="12724"/>
                  <a:pt x="16500" y="13000"/>
                </a:cubicBezTo>
                <a:close/>
                <a:moveTo>
                  <a:pt x="18500" y="3000"/>
                </a:moveTo>
                <a:cubicBezTo>
                  <a:pt x="18500" y="3276"/>
                  <a:pt x="18276" y="3500"/>
                  <a:pt x="18000" y="3500"/>
                </a:cubicBezTo>
                <a:cubicBezTo>
                  <a:pt x="17724" y="3500"/>
                  <a:pt x="17500" y="3276"/>
                  <a:pt x="17500" y="3000"/>
                </a:cubicBezTo>
                <a:cubicBezTo>
                  <a:pt x="17500" y="2724"/>
                  <a:pt x="17724" y="2500"/>
                  <a:pt x="18000" y="2500"/>
                </a:cubicBezTo>
                <a:cubicBezTo>
                  <a:pt x="18276" y="2500"/>
                  <a:pt x="18500" y="2724"/>
                  <a:pt x="18500" y="3000"/>
                </a:cubicBezTo>
                <a:close/>
                <a:moveTo>
                  <a:pt x="20500" y="21000"/>
                </a:moveTo>
                <a:cubicBezTo>
                  <a:pt x="20500" y="21276"/>
                  <a:pt x="20276" y="21500"/>
                  <a:pt x="20000" y="21500"/>
                </a:cubicBezTo>
                <a:cubicBezTo>
                  <a:pt x="19724" y="21500"/>
                  <a:pt x="19500" y="21276"/>
                  <a:pt x="19500" y="21000"/>
                </a:cubicBezTo>
                <a:cubicBezTo>
                  <a:pt x="19500" y="20724"/>
                  <a:pt x="19724" y="20500"/>
                  <a:pt x="20000" y="20500"/>
                </a:cubicBezTo>
                <a:cubicBezTo>
                  <a:pt x="20276" y="20500"/>
                  <a:pt x="20500" y="20724"/>
                  <a:pt x="20500" y="21000"/>
                </a:cubicBezTo>
                <a:close/>
                <a:moveTo>
                  <a:pt x="20500" y="8000"/>
                </a:moveTo>
                <a:cubicBezTo>
                  <a:pt x="20500" y="8276"/>
                  <a:pt x="20276" y="8500"/>
                  <a:pt x="20000" y="8500"/>
                </a:cubicBezTo>
                <a:cubicBezTo>
                  <a:pt x="19724" y="8500"/>
                  <a:pt x="19500" y="8276"/>
                  <a:pt x="19500" y="8000"/>
                </a:cubicBezTo>
                <a:cubicBezTo>
                  <a:pt x="19500" y="7724"/>
                  <a:pt x="19724" y="7500"/>
                  <a:pt x="20000" y="7500"/>
                </a:cubicBezTo>
                <a:cubicBezTo>
                  <a:pt x="20276" y="7500"/>
                  <a:pt x="20500" y="7724"/>
                  <a:pt x="20500" y="8000"/>
                </a:cubicBezTo>
                <a:close/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69" name="slot.lane.3.step.4.icon"/>
          <p:cNvSpPr/>
          <p:nvPr/>
        </p:nvSpPr>
        <p:spPr>
          <a:xfrm>
            <a:off x="5006340" y="4636008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11693"/>
                </a:moveTo>
                <a:lnTo>
                  <a:pt x="21000" y="5000"/>
                </a:lnTo>
                <a:moveTo>
                  <a:pt x="22000" y="22000"/>
                </a:moveTo>
                <a:lnTo>
                  <a:pt x="20125" y="20125"/>
                </a:lnTo>
                <a:moveTo>
                  <a:pt x="3000" y="12000"/>
                </a:moveTo>
                <a:cubicBezTo>
                  <a:pt x="3000" y="13617"/>
                  <a:pt x="6847" y="14944"/>
                  <a:pt x="11697" y="14998"/>
                </a:cubicBezTo>
                <a:moveTo>
                  <a:pt x="3000" y="5000"/>
                </a:moveTo>
                <a:lnTo>
                  <a:pt x="3000" y="19000"/>
                </a:lnTo>
                <a:cubicBezTo>
                  <a:pt x="3000" y="19812"/>
                  <a:pt x="3987" y="20589"/>
                  <a:pt x="5735" y="21154"/>
                </a:cubicBezTo>
                <a:cubicBezTo>
                  <a:pt x="7484" y="21720"/>
                  <a:pt x="9845" y="22024"/>
                  <a:pt x="12280" y="21999"/>
                </a:cubicBezTo>
                <a:moveTo>
                  <a:pt x="21000" y="18000"/>
                </a:moveTo>
                <a:cubicBezTo>
                  <a:pt x="21000" y="19657"/>
                  <a:pt x="19657" y="21000"/>
                  <a:pt x="18000" y="21000"/>
                </a:cubicBezTo>
                <a:cubicBezTo>
                  <a:pt x="16343" y="21000"/>
                  <a:pt x="15000" y="19657"/>
                  <a:pt x="15000" y="18000"/>
                </a:cubicBezTo>
                <a:cubicBezTo>
                  <a:pt x="15000" y="16343"/>
                  <a:pt x="16343" y="15000"/>
                  <a:pt x="18000" y="15000"/>
                </a:cubicBezTo>
                <a:cubicBezTo>
                  <a:pt x="19657" y="15000"/>
                  <a:pt x="21000" y="16343"/>
                  <a:pt x="21000" y="18000"/>
                </a:cubicBezTo>
                <a:close/>
                <a:moveTo>
                  <a:pt x="21000" y="5000"/>
                </a:moveTo>
                <a:cubicBezTo>
                  <a:pt x="21000" y="6657"/>
                  <a:pt x="16971" y="8000"/>
                  <a:pt x="12000" y="8000"/>
                </a:cubicBezTo>
                <a:cubicBezTo>
                  <a:pt x="7029" y="8000"/>
                  <a:pt x="3000" y="6657"/>
                  <a:pt x="3000" y="5000"/>
                </a:cubicBezTo>
                <a:cubicBezTo>
                  <a:pt x="3000" y="3343"/>
                  <a:pt x="7029" y="2000"/>
                  <a:pt x="12000" y="2000"/>
                </a:cubicBezTo>
                <a:cubicBezTo>
                  <a:pt x="16971" y="2000"/>
                  <a:pt x="21000" y="3343"/>
                  <a:pt x="21000" y="5000"/>
                </a:cubicBezTo>
                <a:close/>
              </a:path>
            </a:pathLst>
          </a:custGeom>
          <a:noFill/>
          <a:ln w="26035" cap="rnd">
            <a:solidFill>
              <a:schemeClr val="accent1"/>
            </a:solidFill>
            <a:round/>
          </a:ln>
          <a:effectLst/>
        </p:spPr>
      </p:sp>
      <p:sp>
        <p:nvSpPr>
          <p:cNvPr id="170" name="slot.models.icon"/>
          <p:cNvSpPr/>
          <p:nvPr/>
        </p:nvSpPr>
        <p:spPr>
          <a:xfrm>
            <a:off x="5971032" y="234086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20000"/>
                </a:moveTo>
                <a:lnTo>
                  <a:pt x="12000" y="22000"/>
                </a:lnTo>
                <a:moveTo>
                  <a:pt x="12000" y="2000"/>
                </a:moveTo>
                <a:lnTo>
                  <a:pt x="12000" y="4000"/>
                </a:lnTo>
                <a:moveTo>
                  <a:pt x="17000" y="20000"/>
                </a:moveTo>
                <a:lnTo>
                  <a:pt x="17000" y="22000"/>
                </a:lnTo>
                <a:moveTo>
                  <a:pt x="17000" y="2000"/>
                </a:moveTo>
                <a:lnTo>
                  <a:pt x="17000" y="4000"/>
                </a:lnTo>
                <a:moveTo>
                  <a:pt x="2000" y="12000"/>
                </a:moveTo>
                <a:lnTo>
                  <a:pt x="4000" y="12000"/>
                </a:lnTo>
                <a:moveTo>
                  <a:pt x="2000" y="17000"/>
                </a:moveTo>
                <a:lnTo>
                  <a:pt x="4000" y="17000"/>
                </a:lnTo>
                <a:moveTo>
                  <a:pt x="2000" y="7000"/>
                </a:moveTo>
                <a:lnTo>
                  <a:pt x="4000" y="7000"/>
                </a:lnTo>
                <a:moveTo>
                  <a:pt x="20000" y="12000"/>
                </a:moveTo>
                <a:lnTo>
                  <a:pt x="22000" y="12000"/>
                </a:lnTo>
                <a:moveTo>
                  <a:pt x="20000" y="17000"/>
                </a:moveTo>
                <a:lnTo>
                  <a:pt x="22000" y="17000"/>
                </a:lnTo>
                <a:moveTo>
                  <a:pt x="20000" y="7000"/>
                </a:moveTo>
                <a:lnTo>
                  <a:pt x="22000" y="7000"/>
                </a:lnTo>
                <a:moveTo>
                  <a:pt x="7000" y="20000"/>
                </a:moveTo>
                <a:lnTo>
                  <a:pt x="7000" y="22000"/>
                </a:lnTo>
                <a:moveTo>
                  <a:pt x="7000" y="2000"/>
                </a:moveTo>
                <a:lnTo>
                  <a:pt x="7000" y="4000"/>
                </a:lnTo>
                <a:moveTo>
                  <a:pt x="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18000"/>
                </a:lnTo>
                <a:cubicBezTo>
                  <a:pt x="20000" y="19105"/>
                  <a:pt x="19105" y="20000"/>
                  <a:pt x="18000" y="20000"/>
                </a:cubicBezTo>
                <a:lnTo>
                  <a:pt x="6000" y="20000"/>
                </a:lnTo>
                <a:cubicBezTo>
                  <a:pt x="4895" y="20000"/>
                  <a:pt x="4000" y="19105"/>
                  <a:pt x="4000" y="18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close/>
                <a:moveTo>
                  <a:pt x="9000" y="8000"/>
                </a:moveTo>
                <a:lnTo>
                  <a:pt x="15000" y="8000"/>
                </a:lnTo>
                <a:cubicBezTo>
                  <a:pt x="15552" y="8000"/>
                  <a:pt x="16000" y="8448"/>
                  <a:pt x="16000" y="9000"/>
                </a:cubicBezTo>
                <a:lnTo>
                  <a:pt x="16000" y="15000"/>
                </a:lnTo>
                <a:cubicBezTo>
                  <a:pt x="16000" y="15552"/>
                  <a:pt x="15552" y="16000"/>
                  <a:pt x="15000" y="16000"/>
                </a:cubicBezTo>
                <a:lnTo>
                  <a:pt x="9000" y="16000"/>
                </a:lnTo>
                <a:cubicBezTo>
                  <a:pt x="8448" y="16000"/>
                  <a:pt x="8000" y="15552"/>
                  <a:pt x="8000" y="15000"/>
                </a:cubicBezTo>
                <a:lnTo>
                  <a:pt x="8000" y="9000"/>
                </a:lnTo>
                <a:cubicBezTo>
                  <a:pt x="8000" y="8448"/>
                  <a:pt x="8448" y="8000"/>
                  <a:pt x="9000" y="8000"/>
                </a:cubicBezTo>
                <a:close/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1" name="slot.service.1.icon"/>
          <p:cNvSpPr/>
          <p:nvPr/>
        </p:nvSpPr>
        <p:spPr>
          <a:xfrm>
            <a:off x="5988318" y="333442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8000"/>
                </a:moveTo>
                <a:lnTo>
                  <a:pt x="12000" y="5000"/>
                </a:lnTo>
                <a:moveTo>
                  <a:pt x="15000" y="13000"/>
                </a:moveTo>
                <a:cubicBezTo>
                  <a:pt x="13223" y="12481"/>
                  <a:pt x="12001" y="10851"/>
                  <a:pt x="12000" y="9000"/>
                </a:cubicBezTo>
                <a:cubicBezTo>
                  <a:pt x="11999" y="10851"/>
                  <a:pt x="10777" y="12481"/>
                  <a:pt x="9000" y="13000"/>
                </a:cubicBezTo>
                <a:moveTo>
                  <a:pt x="17598" y="6500"/>
                </a:moveTo>
                <a:cubicBezTo>
                  <a:pt x="18229" y="5408"/>
                  <a:pt x="18109" y="4038"/>
                  <a:pt x="17298" y="3072"/>
                </a:cubicBezTo>
                <a:cubicBezTo>
                  <a:pt x="16487" y="2105"/>
                  <a:pt x="15159" y="1749"/>
                  <a:pt x="13974" y="2181"/>
                </a:cubicBezTo>
                <a:cubicBezTo>
                  <a:pt x="12789" y="2612"/>
                  <a:pt x="12000" y="3739"/>
                  <a:pt x="12000" y="5000"/>
                </a:cubicBezTo>
                <a:cubicBezTo>
                  <a:pt x="12000" y="3739"/>
                  <a:pt x="11211" y="2612"/>
                  <a:pt x="10026" y="2181"/>
                </a:cubicBezTo>
                <a:cubicBezTo>
                  <a:pt x="8841" y="1749"/>
                  <a:pt x="7513" y="2105"/>
                  <a:pt x="6702" y="3072"/>
                </a:cubicBezTo>
                <a:cubicBezTo>
                  <a:pt x="5891" y="4038"/>
                  <a:pt x="5771" y="5408"/>
                  <a:pt x="6402" y="6500"/>
                </a:cubicBezTo>
                <a:moveTo>
                  <a:pt x="17997" y="5125"/>
                </a:moveTo>
                <a:cubicBezTo>
                  <a:pt x="19188" y="5431"/>
                  <a:pt x="20172" y="6268"/>
                  <a:pt x="20665" y="7395"/>
                </a:cubicBezTo>
                <a:cubicBezTo>
                  <a:pt x="21158" y="8521"/>
                  <a:pt x="21106" y="9812"/>
                  <a:pt x="20523" y="10895"/>
                </a:cubicBezTo>
                <a:moveTo>
                  <a:pt x="18000" y="18000"/>
                </a:moveTo>
                <a:cubicBezTo>
                  <a:pt x="19810" y="18000"/>
                  <a:pt x="21395" y="16784"/>
                  <a:pt x="21864" y="15035"/>
                </a:cubicBezTo>
                <a:cubicBezTo>
                  <a:pt x="22332" y="13287"/>
                  <a:pt x="21568" y="11441"/>
                  <a:pt x="20000" y="10536"/>
                </a:cubicBezTo>
                <a:moveTo>
                  <a:pt x="19967" y="17483"/>
                </a:moveTo>
                <a:cubicBezTo>
                  <a:pt x="20158" y="18961"/>
                  <a:pt x="19512" y="20422"/>
                  <a:pt x="18290" y="21275"/>
                </a:cubicBezTo>
                <a:cubicBezTo>
                  <a:pt x="17069" y="22128"/>
                  <a:pt x="15474" y="22232"/>
                  <a:pt x="14153" y="21544"/>
                </a:cubicBezTo>
                <a:cubicBezTo>
                  <a:pt x="12831" y="20856"/>
                  <a:pt x="12002" y="19490"/>
                  <a:pt x="12000" y="18000"/>
                </a:cubicBezTo>
                <a:cubicBezTo>
                  <a:pt x="11998" y="19490"/>
                  <a:pt x="11169" y="20856"/>
                  <a:pt x="9847" y="21544"/>
                </a:cubicBezTo>
                <a:cubicBezTo>
                  <a:pt x="8526" y="22232"/>
                  <a:pt x="6931" y="22128"/>
                  <a:pt x="5710" y="21275"/>
                </a:cubicBezTo>
                <a:cubicBezTo>
                  <a:pt x="4488" y="20422"/>
                  <a:pt x="3842" y="18961"/>
                  <a:pt x="4033" y="17483"/>
                </a:cubicBezTo>
                <a:moveTo>
                  <a:pt x="6000" y="18000"/>
                </a:moveTo>
                <a:cubicBezTo>
                  <a:pt x="4190" y="18000"/>
                  <a:pt x="2605" y="16784"/>
                  <a:pt x="2136" y="15035"/>
                </a:cubicBezTo>
                <a:cubicBezTo>
                  <a:pt x="1668" y="13287"/>
                  <a:pt x="2432" y="11441"/>
                  <a:pt x="4000" y="10536"/>
                </a:cubicBezTo>
                <a:moveTo>
                  <a:pt x="6003" y="5125"/>
                </a:moveTo>
                <a:cubicBezTo>
                  <a:pt x="4812" y="5431"/>
                  <a:pt x="3828" y="6268"/>
                  <a:pt x="3335" y="7395"/>
                </a:cubicBezTo>
                <a:cubicBezTo>
                  <a:pt x="2842" y="8521"/>
                  <a:pt x="2894" y="9812"/>
                  <a:pt x="3477" y="10895"/>
                </a:cubicBez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2" name="slot.service.2.icon"/>
          <p:cNvSpPr/>
          <p:nvPr/>
        </p:nvSpPr>
        <p:spPr>
          <a:xfrm>
            <a:off x="7517645" y="333442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21000"/>
                </a:moveTo>
                <a:lnTo>
                  <a:pt x="16660" y="16660"/>
                </a:lnTo>
                <a:moveTo>
                  <a:pt x="19000" y="11000"/>
                </a:moveTo>
                <a:cubicBezTo>
                  <a:pt x="19000" y="15418"/>
                  <a:pt x="15418" y="19000"/>
                  <a:pt x="11000" y="19000"/>
                </a:cubicBezTo>
                <a:cubicBezTo>
                  <a:pt x="6582" y="19000"/>
                  <a:pt x="3000" y="15418"/>
                  <a:pt x="3000" y="11000"/>
                </a:cubicBezTo>
                <a:cubicBezTo>
                  <a:pt x="3000" y="6582"/>
                  <a:pt x="6582" y="3000"/>
                  <a:pt x="11000" y="3000"/>
                </a:cubicBezTo>
                <a:cubicBezTo>
                  <a:pt x="15418" y="3000"/>
                  <a:pt x="19000" y="6582"/>
                  <a:pt x="19000" y="11000"/>
                </a:cubicBezTo>
                <a:close/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3" name="slot.service.3.icon"/>
          <p:cNvSpPr/>
          <p:nvPr/>
        </p:nvSpPr>
        <p:spPr>
          <a:xfrm>
            <a:off x="9046971" y="3334424"/>
            <a:ext cx="329184" cy="329184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3000" y="3000"/>
                </a:moveTo>
                <a:lnTo>
                  <a:pt x="3000" y="19000"/>
                </a:lnTo>
                <a:cubicBezTo>
                  <a:pt x="3000" y="20105"/>
                  <a:pt x="3895" y="21000"/>
                  <a:pt x="5000" y="21000"/>
                </a:cubicBezTo>
                <a:lnTo>
                  <a:pt x="21000" y="21000"/>
                </a:lnTo>
                <a:moveTo>
                  <a:pt x="19000" y="9000"/>
                </a:moveTo>
                <a:lnTo>
                  <a:pt x="14000" y="14000"/>
                </a:lnTo>
                <a:lnTo>
                  <a:pt x="10000" y="10000"/>
                </a:lnTo>
                <a:lnTo>
                  <a:pt x="7000" y="13000"/>
                </a:lnTo>
              </a:path>
            </a:pathLst>
          </a:custGeom>
          <a:noFill/>
          <a:ln w="27305" cap="rnd">
            <a:solidFill>
              <a:schemeClr val="accent1"/>
            </a:solidFill>
            <a:round/>
          </a:ln>
          <a:effectLst/>
        </p:spPr>
      </p:sp>
      <p:sp>
        <p:nvSpPr>
          <p:cNvPr id="174" name="slot.tool.1.icon"/>
          <p:cNvSpPr/>
          <p:nvPr/>
        </p:nvSpPr>
        <p:spPr>
          <a:xfrm>
            <a:off x="6145974" y="43434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4000" y="14500"/>
                </a:moveTo>
                <a:cubicBezTo>
                  <a:pt x="14000" y="15881"/>
                  <a:pt x="12881" y="17000"/>
                  <a:pt x="11500" y="17000"/>
                </a:cubicBezTo>
                <a:cubicBezTo>
                  <a:pt x="10119" y="17000"/>
                  <a:pt x="9000" y="15881"/>
                  <a:pt x="9000" y="14500"/>
                </a:cubicBezTo>
                <a:cubicBezTo>
                  <a:pt x="9000" y="13119"/>
                  <a:pt x="10119" y="12000"/>
                  <a:pt x="11500" y="12000"/>
                </a:cubicBezTo>
                <a:cubicBezTo>
                  <a:pt x="12881" y="12000"/>
                  <a:pt x="14000" y="13119"/>
                  <a:pt x="14000" y="14500"/>
                </a:cubicBezTo>
                <a:close/>
                <a:moveTo>
                  <a:pt x="13300" y="16300"/>
                </a:moveTo>
                <a:lnTo>
                  <a:pt x="15000" y="18000"/>
                </a:ln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5" name="slot.tool.2.icon"/>
          <p:cNvSpPr/>
          <p:nvPr/>
        </p:nvSpPr>
        <p:spPr>
          <a:xfrm>
            <a:off x="7058694" y="43434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000"/>
                </a:moveTo>
                <a:lnTo>
                  <a:pt x="18000" y="2000"/>
                </a:lnTo>
                <a:cubicBezTo>
                  <a:pt x="19105" y="2000"/>
                  <a:pt x="20000" y="2895"/>
                  <a:pt x="20000" y="4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close/>
                <a:moveTo>
                  <a:pt x="8000" y="6000"/>
                </a:moveTo>
                <a:lnTo>
                  <a:pt x="16000" y="6000"/>
                </a:lnTo>
                <a:moveTo>
                  <a:pt x="16000" y="14000"/>
                </a:moveTo>
                <a:lnTo>
                  <a:pt x="16000" y="18000"/>
                </a:lnTo>
                <a:moveTo>
                  <a:pt x="16000" y="10000"/>
                </a:moveTo>
                <a:lnTo>
                  <a:pt x="16010" y="10000"/>
                </a:lnTo>
                <a:moveTo>
                  <a:pt x="12000" y="10000"/>
                </a:moveTo>
                <a:lnTo>
                  <a:pt x="12010" y="10000"/>
                </a:lnTo>
                <a:moveTo>
                  <a:pt x="8000" y="10000"/>
                </a:moveTo>
                <a:lnTo>
                  <a:pt x="8010" y="10000"/>
                </a:lnTo>
                <a:moveTo>
                  <a:pt x="12000" y="14000"/>
                </a:moveTo>
                <a:lnTo>
                  <a:pt x="12010" y="14000"/>
                </a:lnTo>
                <a:moveTo>
                  <a:pt x="8000" y="14000"/>
                </a:moveTo>
                <a:lnTo>
                  <a:pt x="8010" y="14000"/>
                </a:lnTo>
                <a:moveTo>
                  <a:pt x="12000" y="18000"/>
                </a:moveTo>
                <a:lnTo>
                  <a:pt x="12010" y="18000"/>
                </a:lnTo>
                <a:moveTo>
                  <a:pt x="8000" y="18000"/>
                </a:moveTo>
                <a:lnTo>
                  <a:pt x="8010" y="18000"/>
                </a:ln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6" name="slot.tool.3.icon"/>
          <p:cNvSpPr/>
          <p:nvPr/>
        </p:nvSpPr>
        <p:spPr>
          <a:xfrm>
            <a:off x="7971412" y="43434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6000" y="22000"/>
                </a:moveTo>
                <a:cubicBezTo>
                  <a:pt x="4895" y="22000"/>
                  <a:pt x="4000" y="21105"/>
                  <a:pt x="4000" y="20000"/>
                </a:cubicBezTo>
                <a:lnTo>
                  <a:pt x="4000" y="4000"/>
                </a:lnTo>
                <a:cubicBezTo>
                  <a:pt x="4000" y="2895"/>
                  <a:pt x="4895" y="2000"/>
                  <a:pt x="6000" y="2000"/>
                </a:cubicBezTo>
                <a:lnTo>
                  <a:pt x="14000" y="2000"/>
                </a:lnTo>
                <a:cubicBezTo>
                  <a:pt x="14639" y="1999"/>
                  <a:pt x="15253" y="2253"/>
                  <a:pt x="15704" y="2706"/>
                </a:cubicBezTo>
                <a:lnTo>
                  <a:pt x="19292" y="6294"/>
                </a:lnTo>
                <a:cubicBezTo>
                  <a:pt x="19746" y="6745"/>
                  <a:pt x="20001" y="7360"/>
                  <a:pt x="20000" y="8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close/>
                <a:moveTo>
                  <a:pt x="14000" y="2000"/>
                </a:moveTo>
                <a:lnTo>
                  <a:pt x="14000" y="7000"/>
                </a:lnTo>
                <a:cubicBezTo>
                  <a:pt x="14000" y="7552"/>
                  <a:pt x="14448" y="8000"/>
                  <a:pt x="15000" y="8000"/>
                </a:cubicBezTo>
                <a:lnTo>
                  <a:pt x="20000" y="8000"/>
                </a:lnTo>
                <a:moveTo>
                  <a:pt x="10000" y="9000"/>
                </a:moveTo>
                <a:lnTo>
                  <a:pt x="8000" y="9000"/>
                </a:lnTo>
                <a:moveTo>
                  <a:pt x="16000" y="13000"/>
                </a:moveTo>
                <a:lnTo>
                  <a:pt x="8000" y="13000"/>
                </a:lnTo>
                <a:moveTo>
                  <a:pt x="16000" y="17000"/>
                </a:moveTo>
                <a:lnTo>
                  <a:pt x="8000" y="17000"/>
                </a:ln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7" name="slot.tool.4.icon"/>
          <p:cNvSpPr/>
          <p:nvPr/>
        </p:nvSpPr>
        <p:spPr>
          <a:xfrm>
            <a:off x="8884132" y="43434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19000"/>
                </a:moveTo>
                <a:cubicBezTo>
                  <a:pt x="9000" y="20657"/>
                  <a:pt x="7657" y="22000"/>
                  <a:pt x="6000" y="22000"/>
                </a:cubicBezTo>
                <a:cubicBezTo>
                  <a:pt x="4343" y="22000"/>
                  <a:pt x="3000" y="20657"/>
                  <a:pt x="3000" y="19000"/>
                </a:cubicBezTo>
                <a:cubicBezTo>
                  <a:pt x="3000" y="17343"/>
                  <a:pt x="4343" y="16000"/>
                  <a:pt x="6000" y="16000"/>
                </a:cubicBezTo>
                <a:cubicBezTo>
                  <a:pt x="7657" y="16000"/>
                  <a:pt x="9000" y="17343"/>
                  <a:pt x="9000" y="19000"/>
                </a:cubicBezTo>
                <a:close/>
                <a:moveTo>
                  <a:pt x="9000" y="19000"/>
                </a:moveTo>
                <a:lnTo>
                  <a:pt x="17500" y="19000"/>
                </a:lnTo>
                <a:cubicBezTo>
                  <a:pt x="19433" y="19000"/>
                  <a:pt x="21000" y="17433"/>
                  <a:pt x="21000" y="15500"/>
                </a:cubicBezTo>
                <a:cubicBezTo>
                  <a:pt x="21000" y="13567"/>
                  <a:pt x="19433" y="12000"/>
                  <a:pt x="17500" y="12000"/>
                </a:cubicBezTo>
                <a:lnTo>
                  <a:pt x="6500" y="12000"/>
                </a:lnTo>
                <a:cubicBezTo>
                  <a:pt x="4567" y="12000"/>
                  <a:pt x="3000" y="10433"/>
                  <a:pt x="3000" y="8500"/>
                </a:cubicBezTo>
                <a:cubicBezTo>
                  <a:pt x="3000" y="6567"/>
                  <a:pt x="4567" y="5000"/>
                  <a:pt x="6500" y="5000"/>
                </a:cubicBezTo>
                <a:lnTo>
                  <a:pt x="15000" y="5000"/>
                </a:lnTo>
                <a:moveTo>
                  <a:pt x="21000" y="5000"/>
                </a:moveTo>
                <a:cubicBezTo>
                  <a:pt x="21000" y="6657"/>
                  <a:pt x="19657" y="8000"/>
                  <a:pt x="18000" y="8000"/>
                </a:cubicBezTo>
                <a:cubicBezTo>
                  <a:pt x="16343" y="8000"/>
                  <a:pt x="15000" y="6657"/>
                  <a:pt x="15000" y="5000"/>
                </a:cubicBezTo>
                <a:cubicBezTo>
                  <a:pt x="15000" y="3343"/>
                  <a:pt x="16343" y="2000"/>
                  <a:pt x="18000" y="2000"/>
                </a:cubicBezTo>
                <a:cubicBezTo>
                  <a:pt x="19657" y="2000"/>
                  <a:pt x="21000" y="3343"/>
                  <a:pt x="21000" y="5000"/>
                </a:cubicBezTo>
                <a:close/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8" name="slot.tool.5.icon"/>
          <p:cNvSpPr/>
          <p:nvPr/>
        </p:nvSpPr>
        <p:spPr>
          <a:xfrm>
            <a:off x="9796851" y="43434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0000" y="6000"/>
                </a:moveTo>
                <a:lnTo>
                  <a:pt x="9000" y="17000"/>
                </a:lnTo>
                <a:lnTo>
                  <a:pt x="4000" y="12000"/>
                </a:lnTo>
              </a:path>
            </a:pathLst>
          </a:custGeom>
          <a:noFill/>
          <a:ln w="30480" cap="rnd">
            <a:solidFill>
              <a:schemeClr val="accent1"/>
            </a:solidFill>
            <a:round/>
          </a:ln>
          <a:effectLst/>
        </p:spPr>
      </p:sp>
      <p:sp>
        <p:nvSpPr>
          <p:cNvPr id="179" name="slot.platform.1.icon"/>
          <p:cNvSpPr/>
          <p:nvPr/>
        </p:nvSpPr>
        <p:spPr>
          <a:xfrm>
            <a:off x="1868379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5000" y="6000"/>
                </a:moveTo>
                <a:cubicBezTo>
                  <a:pt x="10029" y="6000"/>
                  <a:pt x="6000" y="10029"/>
                  <a:pt x="6000" y="15000"/>
                </a:cubicBezTo>
                <a:lnTo>
                  <a:pt x="6000" y="3000"/>
                </a:lnTo>
                <a:moveTo>
                  <a:pt x="21000" y="6000"/>
                </a:moveTo>
                <a:cubicBezTo>
                  <a:pt x="21000" y="7657"/>
                  <a:pt x="19657" y="9000"/>
                  <a:pt x="18000" y="9000"/>
                </a:cubicBezTo>
                <a:cubicBezTo>
                  <a:pt x="16343" y="9000"/>
                  <a:pt x="15000" y="7657"/>
                  <a:pt x="15000" y="6000"/>
                </a:cubicBezTo>
                <a:cubicBezTo>
                  <a:pt x="15000" y="4343"/>
                  <a:pt x="16343" y="3000"/>
                  <a:pt x="18000" y="3000"/>
                </a:cubicBezTo>
                <a:cubicBezTo>
                  <a:pt x="19657" y="3000"/>
                  <a:pt x="21000" y="4343"/>
                  <a:pt x="21000" y="6000"/>
                </a:cubicBezTo>
                <a:close/>
                <a:moveTo>
                  <a:pt x="9000" y="18000"/>
                </a:moveTo>
                <a:cubicBezTo>
                  <a:pt x="9000" y="19657"/>
                  <a:pt x="7657" y="21000"/>
                  <a:pt x="6000" y="21000"/>
                </a:cubicBezTo>
                <a:cubicBezTo>
                  <a:pt x="4343" y="21000"/>
                  <a:pt x="3000" y="19657"/>
                  <a:pt x="3000" y="18000"/>
                </a:cubicBezTo>
                <a:cubicBezTo>
                  <a:pt x="3000" y="16343"/>
                  <a:pt x="4343" y="15000"/>
                  <a:pt x="6000" y="15000"/>
                </a:cubicBezTo>
                <a:cubicBezTo>
                  <a:pt x="7657" y="15000"/>
                  <a:pt x="9000" y="16343"/>
                  <a:pt x="9000" y="18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0" name="slot.platform.2.icon"/>
          <p:cNvSpPr/>
          <p:nvPr/>
        </p:nvSpPr>
        <p:spPr>
          <a:xfrm>
            <a:off x="2950392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2000" y="15000"/>
                </a:moveTo>
                <a:lnTo>
                  <a:pt x="12000" y="20000"/>
                </a:lnTo>
                <a:cubicBezTo>
                  <a:pt x="12000" y="20000"/>
                  <a:pt x="15030" y="19450"/>
                  <a:pt x="16000" y="18000"/>
                </a:cubicBezTo>
                <a:cubicBezTo>
                  <a:pt x="17080" y="16380"/>
                  <a:pt x="16000" y="13000"/>
                  <a:pt x="16000" y="13000"/>
                </a:cubicBezTo>
                <a:moveTo>
                  <a:pt x="4500" y="16500"/>
                </a:moveTo>
                <a:cubicBezTo>
                  <a:pt x="3000" y="17760"/>
                  <a:pt x="2500" y="21500"/>
                  <a:pt x="2500" y="21500"/>
                </a:cubicBezTo>
                <a:cubicBezTo>
                  <a:pt x="2500" y="21500"/>
                  <a:pt x="6240" y="21000"/>
                  <a:pt x="7500" y="19500"/>
                </a:cubicBezTo>
                <a:cubicBezTo>
                  <a:pt x="8210" y="18660"/>
                  <a:pt x="8200" y="17370"/>
                  <a:pt x="7410" y="16590"/>
                </a:cubicBezTo>
                <a:cubicBezTo>
                  <a:pt x="6605" y="15822"/>
                  <a:pt x="5351" y="15783"/>
                  <a:pt x="4500" y="16500"/>
                </a:cubicBezTo>
                <a:moveTo>
                  <a:pt x="9000" y="12000"/>
                </a:moveTo>
                <a:cubicBezTo>
                  <a:pt x="9532" y="10619"/>
                  <a:pt x="10202" y="9296"/>
                  <a:pt x="11000" y="8050"/>
                </a:cubicBezTo>
                <a:cubicBezTo>
                  <a:pt x="13369" y="4262"/>
                  <a:pt x="17532" y="1972"/>
                  <a:pt x="22000" y="2000"/>
                </a:cubicBezTo>
                <a:cubicBezTo>
                  <a:pt x="22000" y="4720"/>
                  <a:pt x="21220" y="9500"/>
                  <a:pt x="16000" y="13000"/>
                </a:cubicBezTo>
                <a:cubicBezTo>
                  <a:pt x="14737" y="13798"/>
                  <a:pt x="13397" y="14468"/>
                  <a:pt x="12000" y="15000"/>
                </a:cubicBezTo>
                <a:close/>
                <a:moveTo>
                  <a:pt x="9000" y="12000"/>
                </a:moveTo>
                <a:lnTo>
                  <a:pt x="4000" y="12000"/>
                </a:lnTo>
                <a:cubicBezTo>
                  <a:pt x="4000" y="12000"/>
                  <a:pt x="4550" y="8970"/>
                  <a:pt x="6000" y="8000"/>
                </a:cubicBezTo>
                <a:cubicBezTo>
                  <a:pt x="7620" y="6920"/>
                  <a:pt x="11000" y="8050"/>
                  <a:pt x="11000" y="8050"/>
                </a:cubicBez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1" name="slot.platform.3.icon"/>
          <p:cNvSpPr/>
          <p:nvPr/>
        </p:nvSpPr>
        <p:spPr>
          <a:xfrm>
            <a:off x="4032405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6000" y="6000"/>
                </a:moveTo>
                <a:lnTo>
                  <a:pt x="20000" y="20000"/>
                </a:lnTo>
                <a:moveTo>
                  <a:pt x="12000" y="6000"/>
                </a:moveTo>
                <a:lnTo>
                  <a:pt x="12000" y="20000"/>
                </a:lnTo>
                <a:moveTo>
                  <a:pt x="8000" y="8000"/>
                </a:moveTo>
                <a:lnTo>
                  <a:pt x="8000" y="20000"/>
                </a:lnTo>
                <a:moveTo>
                  <a:pt x="4000" y="4000"/>
                </a:moveTo>
                <a:lnTo>
                  <a:pt x="4000" y="20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2" name="slot.platform.4.icon"/>
          <p:cNvSpPr/>
          <p:nvPr/>
        </p:nvSpPr>
        <p:spPr>
          <a:xfrm>
            <a:off x="5114418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1000" y="5000"/>
                </a:moveTo>
                <a:cubicBezTo>
                  <a:pt x="21000" y="6657"/>
                  <a:pt x="19657" y="8000"/>
                  <a:pt x="18000" y="8000"/>
                </a:cubicBezTo>
                <a:cubicBezTo>
                  <a:pt x="16343" y="8000"/>
                  <a:pt x="15000" y="6657"/>
                  <a:pt x="15000" y="5000"/>
                </a:cubicBezTo>
                <a:cubicBezTo>
                  <a:pt x="15000" y="3343"/>
                  <a:pt x="16343" y="2000"/>
                  <a:pt x="18000" y="2000"/>
                </a:cubicBezTo>
                <a:cubicBezTo>
                  <a:pt x="19657" y="2000"/>
                  <a:pt x="21000" y="3343"/>
                  <a:pt x="21000" y="5000"/>
                </a:cubicBezTo>
                <a:close/>
                <a:moveTo>
                  <a:pt x="9000" y="12000"/>
                </a:moveTo>
                <a:cubicBezTo>
                  <a:pt x="9000" y="13657"/>
                  <a:pt x="7657" y="15000"/>
                  <a:pt x="6000" y="15000"/>
                </a:cubicBezTo>
                <a:cubicBezTo>
                  <a:pt x="4343" y="15000"/>
                  <a:pt x="3000" y="13657"/>
                  <a:pt x="3000" y="12000"/>
                </a:cubicBezTo>
                <a:cubicBezTo>
                  <a:pt x="3000" y="10343"/>
                  <a:pt x="4343" y="9000"/>
                  <a:pt x="6000" y="9000"/>
                </a:cubicBezTo>
                <a:cubicBezTo>
                  <a:pt x="7657" y="9000"/>
                  <a:pt x="9000" y="10343"/>
                  <a:pt x="9000" y="12000"/>
                </a:cubicBezTo>
                <a:close/>
                <a:moveTo>
                  <a:pt x="21000" y="19000"/>
                </a:moveTo>
                <a:cubicBezTo>
                  <a:pt x="21000" y="20657"/>
                  <a:pt x="19657" y="22000"/>
                  <a:pt x="18000" y="22000"/>
                </a:cubicBezTo>
                <a:cubicBezTo>
                  <a:pt x="16343" y="22000"/>
                  <a:pt x="15000" y="20657"/>
                  <a:pt x="15000" y="19000"/>
                </a:cubicBezTo>
                <a:cubicBezTo>
                  <a:pt x="15000" y="17343"/>
                  <a:pt x="16343" y="16000"/>
                  <a:pt x="18000" y="16000"/>
                </a:cubicBezTo>
                <a:cubicBezTo>
                  <a:pt x="19657" y="16000"/>
                  <a:pt x="21000" y="17343"/>
                  <a:pt x="21000" y="19000"/>
                </a:cubicBezTo>
                <a:close/>
                <a:moveTo>
                  <a:pt x="8590" y="13510"/>
                </a:moveTo>
                <a:lnTo>
                  <a:pt x="15420" y="17490"/>
                </a:lnTo>
                <a:moveTo>
                  <a:pt x="15410" y="6510"/>
                </a:moveTo>
                <a:lnTo>
                  <a:pt x="8590" y="1049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3" name="slot.platform.5.icon"/>
          <p:cNvSpPr/>
          <p:nvPr/>
        </p:nvSpPr>
        <p:spPr>
          <a:xfrm>
            <a:off x="6196431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5000" y="11000"/>
                </a:moveTo>
                <a:lnTo>
                  <a:pt x="19000" y="11000"/>
                </a:lnTo>
                <a:cubicBezTo>
                  <a:pt x="20105" y="11000"/>
                  <a:pt x="21000" y="11895"/>
                  <a:pt x="21000" y="13000"/>
                </a:cubicBezTo>
                <a:lnTo>
                  <a:pt x="21000" y="20000"/>
                </a:lnTo>
                <a:cubicBezTo>
                  <a:pt x="21000" y="21105"/>
                  <a:pt x="20105" y="22000"/>
                  <a:pt x="19000" y="22000"/>
                </a:cubicBezTo>
                <a:lnTo>
                  <a:pt x="5000" y="22000"/>
                </a:lnTo>
                <a:cubicBezTo>
                  <a:pt x="3895" y="22000"/>
                  <a:pt x="3000" y="21105"/>
                  <a:pt x="3000" y="20000"/>
                </a:cubicBezTo>
                <a:lnTo>
                  <a:pt x="3000" y="13000"/>
                </a:lnTo>
                <a:cubicBezTo>
                  <a:pt x="3000" y="11895"/>
                  <a:pt x="3895" y="11000"/>
                  <a:pt x="5000" y="11000"/>
                </a:cubicBezTo>
                <a:close/>
                <a:moveTo>
                  <a:pt x="7000" y="11000"/>
                </a:moveTo>
                <a:lnTo>
                  <a:pt x="7000" y="7000"/>
                </a:lnTo>
                <a:cubicBezTo>
                  <a:pt x="7000" y="4239"/>
                  <a:pt x="9239" y="2000"/>
                  <a:pt x="12000" y="2000"/>
                </a:cubicBezTo>
                <a:cubicBezTo>
                  <a:pt x="14761" y="2000"/>
                  <a:pt x="17000" y="4239"/>
                  <a:pt x="17000" y="7000"/>
                </a:cubicBezTo>
                <a:lnTo>
                  <a:pt x="17000" y="11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4" name="slot.platform.6.icon"/>
          <p:cNvSpPr/>
          <p:nvPr/>
        </p:nvSpPr>
        <p:spPr>
          <a:xfrm>
            <a:off x="7278444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9000" y="2000"/>
                </a:moveTo>
                <a:lnTo>
                  <a:pt x="15000" y="2000"/>
                </a:lnTo>
                <a:cubicBezTo>
                  <a:pt x="15552" y="2000"/>
                  <a:pt x="16000" y="2448"/>
                  <a:pt x="16000" y="3000"/>
                </a:cubicBezTo>
                <a:lnTo>
                  <a:pt x="16000" y="5000"/>
                </a:lnTo>
                <a:cubicBezTo>
                  <a:pt x="16000" y="5552"/>
                  <a:pt x="15552" y="6000"/>
                  <a:pt x="15000" y="6000"/>
                </a:cubicBezTo>
                <a:lnTo>
                  <a:pt x="9000" y="6000"/>
                </a:lnTo>
                <a:cubicBezTo>
                  <a:pt x="8448" y="6000"/>
                  <a:pt x="8000" y="5552"/>
                  <a:pt x="8000" y="5000"/>
                </a:cubicBezTo>
                <a:lnTo>
                  <a:pt x="8000" y="3000"/>
                </a:lnTo>
                <a:cubicBezTo>
                  <a:pt x="8000" y="2448"/>
                  <a:pt x="8448" y="2000"/>
                  <a:pt x="9000" y="2000"/>
                </a:cubicBezTo>
                <a:close/>
                <a:moveTo>
                  <a:pt x="16000" y="4000"/>
                </a:moveTo>
                <a:lnTo>
                  <a:pt x="18000" y="4000"/>
                </a:lnTo>
                <a:cubicBezTo>
                  <a:pt x="19105" y="4000"/>
                  <a:pt x="20000" y="4895"/>
                  <a:pt x="20000" y="6000"/>
                </a:cubicBezTo>
                <a:lnTo>
                  <a:pt x="20000" y="20000"/>
                </a:lnTo>
                <a:cubicBezTo>
                  <a:pt x="20000" y="21105"/>
                  <a:pt x="19105" y="22000"/>
                  <a:pt x="18000" y="22000"/>
                </a:cubicBezTo>
                <a:lnTo>
                  <a:pt x="6000" y="22000"/>
                </a:lnTo>
                <a:cubicBezTo>
                  <a:pt x="4895" y="22000"/>
                  <a:pt x="4000" y="21105"/>
                  <a:pt x="4000" y="20000"/>
                </a:cubicBezTo>
                <a:lnTo>
                  <a:pt x="4000" y="6000"/>
                </a:lnTo>
                <a:cubicBezTo>
                  <a:pt x="4000" y="4895"/>
                  <a:pt x="4895" y="4000"/>
                  <a:pt x="6000" y="4000"/>
                </a:cubicBezTo>
                <a:lnTo>
                  <a:pt x="8000" y="4000"/>
                </a:lnTo>
                <a:moveTo>
                  <a:pt x="9000" y="14000"/>
                </a:moveTo>
                <a:lnTo>
                  <a:pt x="11000" y="16000"/>
                </a:lnTo>
                <a:lnTo>
                  <a:pt x="15000" y="12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5" name="slot.platform.7.icon"/>
          <p:cNvSpPr/>
          <p:nvPr/>
        </p:nvSpPr>
        <p:spPr>
          <a:xfrm>
            <a:off x="8360457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22000" y="12000"/>
                </a:moveTo>
                <a:lnTo>
                  <a:pt x="19520" y="12000"/>
                </a:lnTo>
                <a:cubicBezTo>
                  <a:pt x="18622" y="11998"/>
                  <a:pt x="17833" y="12595"/>
                  <a:pt x="17590" y="13460"/>
                </a:cubicBezTo>
                <a:lnTo>
                  <a:pt x="15240" y="21820"/>
                </a:lnTo>
                <a:cubicBezTo>
                  <a:pt x="15209" y="21927"/>
                  <a:pt x="15111" y="22000"/>
                  <a:pt x="15000" y="22000"/>
                </a:cubicBezTo>
                <a:cubicBezTo>
                  <a:pt x="14889" y="22000"/>
                  <a:pt x="14791" y="21927"/>
                  <a:pt x="14760" y="21820"/>
                </a:cubicBezTo>
                <a:lnTo>
                  <a:pt x="9240" y="2180"/>
                </a:lnTo>
                <a:cubicBezTo>
                  <a:pt x="9209" y="2073"/>
                  <a:pt x="9111" y="2000"/>
                  <a:pt x="9000" y="2000"/>
                </a:cubicBezTo>
                <a:cubicBezTo>
                  <a:pt x="8889" y="2000"/>
                  <a:pt x="8791" y="2073"/>
                  <a:pt x="8760" y="2180"/>
                </a:cubicBezTo>
                <a:lnTo>
                  <a:pt x="6410" y="10540"/>
                </a:lnTo>
                <a:cubicBezTo>
                  <a:pt x="6168" y="11401"/>
                  <a:pt x="5384" y="11997"/>
                  <a:pt x="4490" y="12000"/>
                </a:cubicBezTo>
                <a:lnTo>
                  <a:pt x="2000" y="12000"/>
                </a:lnTo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  <p:sp>
        <p:nvSpPr>
          <p:cNvPr id="186" name="slot.platform.8.icon"/>
          <p:cNvSpPr/>
          <p:nvPr/>
        </p:nvSpPr>
        <p:spPr>
          <a:xfrm>
            <a:off x="9442470" y="61950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4000" h="24000" fill="none">
                <a:moveTo>
                  <a:pt x="13744" y="17736"/>
                </a:moveTo>
                <a:cubicBezTo>
                  <a:pt x="12915" y="20477"/>
                  <a:pt x="10264" y="22250"/>
                  <a:pt x="7414" y="21970"/>
                </a:cubicBezTo>
                <a:cubicBezTo>
                  <a:pt x="4564" y="21690"/>
                  <a:pt x="2310" y="19436"/>
                  <a:pt x="2030" y="16586"/>
                </a:cubicBezTo>
                <a:cubicBezTo>
                  <a:pt x="1750" y="13736"/>
                  <a:pt x="3523" y="11085"/>
                  <a:pt x="6264" y="10256"/>
                </a:cubicBezTo>
                <a:moveTo>
                  <a:pt x="15000" y="6000"/>
                </a:moveTo>
                <a:lnTo>
                  <a:pt x="16000" y="6000"/>
                </a:lnTo>
                <a:lnTo>
                  <a:pt x="16000" y="10000"/>
                </a:lnTo>
                <a:moveTo>
                  <a:pt x="6134" y="14768"/>
                </a:moveTo>
                <a:lnTo>
                  <a:pt x="7000" y="14268"/>
                </a:lnTo>
                <a:lnTo>
                  <a:pt x="9000" y="17732"/>
                </a:lnTo>
                <a:moveTo>
                  <a:pt x="22000" y="8000"/>
                </a:moveTo>
                <a:cubicBezTo>
                  <a:pt x="22000" y="11314"/>
                  <a:pt x="19314" y="14000"/>
                  <a:pt x="16000" y="14000"/>
                </a:cubicBezTo>
                <a:cubicBezTo>
                  <a:pt x="12686" y="14000"/>
                  <a:pt x="10000" y="11314"/>
                  <a:pt x="10000" y="8000"/>
                </a:cubicBezTo>
                <a:cubicBezTo>
                  <a:pt x="10000" y="4686"/>
                  <a:pt x="12686" y="2000"/>
                  <a:pt x="16000" y="2000"/>
                </a:cubicBezTo>
                <a:cubicBezTo>
                  <a:pt x="19314" y="2000"/>
                  <a:pt x="22000" y="4686"/>
                  <a:pt x="22000" y="8000"/>
                </a:cubicBezTo>
                <a:close/>
              </a:path>
            </a:pathLst>
          </a:custGeom>
          <a:noFill/>
          <a:ln w="22860" cap="rnd">
            <a:solidFill>
              <a:schemeClr val="accent1"/>
            </a:solidFill>
            <a:round/>
          </a:ln>
          <a:effectLst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igmoid">
  <a:themeElements>
    <a:clrScheme name="sigmoid">
      <a:dk1>
        <a:srgbClr val="000000"/>
      </a:dk1>
      <a:lt1>
        <a:srgbClr val="FFFFFF"/>
      </a:lt1>
      <a:dk2>
        <a:srgbClr val="4B5960"/>
      </a:dk2>
      <a:lt2>
        <a:srgbClr val="E7E6E6"/>
      </a:lt2>
      <a:accent1>
        <a:srgbClr val="D91E18"/>
      </a:accent1>
      <a:accent2>
        <a:srgbClr val="1E3C7D"/>
      </a:accent2>
      <a:accent3>
        <a:srgbClr val="00A0E9"/>
      </a:accent3>
      <a:accent4>
        <a:srgbClr val="F38B1F"/>
      </a:accent4>
      <a:accent5>
        <a:srgbClr val="4EA347"/>
      </a:accent5>
      <a:accent6>
        <a:srgbClr val="6B7983"/>
      </a:accent6>
      <a:hlink>
        <a:srgbClr val="1E3C7D"/>
      </a:hlink>
      <a:folHlink>
        <a:srgbClr val="6B7983"/>
      </a:folHlink>
    </a:clrScheme>
    <a:fontScheme name="sigmoi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igmoi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Custom</PresentationFormat>
  <Slides>31</Slides>
  <Company>Sigmoid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Device library</dc:title>
  <dc:creator>Sigmoid</dc:creator>
  <cp:lastModifiedBy>Sigmoid</cp:lastModifiedBy>
  <cp:revision>1</cp:revision>
  <dcterms:created xsi:type="dcterms:W3CDTF">2026-10-03T00:00:00Z</dcterms:created>
  <dcterms:modified xsi:type="dcterms:W3CDTF">2026-10-03T00:00:00Z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eckkit:256">
    <vt:lpwstr>the-ask:decision-cards-rail</vt:lpwstr>
  </property>
  <property fmtid="{D5CDD505-2E9C-101B-9397-08002B2CF9AE}" pid="3" name="deckkit:257">
    <vt:lpwstr>deep-dive:stage-band-brief-rail</vt:lpwstr>
  </property>
  <property fmtid="{D5CDD505-2E9C-101B-9397-08002B2CF9AE}" pid="4" name="deckkit:258">
    <vt:lpwstr>case-study:context-flow-results-rail</vt:lpwstr>
  </property>
  <property fmtid="{D5CDD505-2E9C-101B-9397-08002B2CF9AE}" pid="5" name="deckkit:259">
    <vt:lpwstr>governance-model:forum-calendars-escalation</vt:lpwstr>
  </property>
  <property fmtid="{D5CDD505-2E9C-101B-9397-08002B2CF9AE}" pid="6" name="deckkit:260">
    <vt:lpwstr>process-flow:chevron-stages-detail-panel</vt:lpwstr>
  </property>
  <property fmtid="{D5CDD505-2E9C-101B-9397-08002B2CF9AE}" pid="7" name="deckkit:261">
    <vt:lpwstr>phased-roadmap:wave-fanout-sites</vt:lpwstr>
  </property>
  <property fmtid="{D5CDD505-2E9C-101B-9397-08002B2CF9AE}" pid="8" name="deckkit:262">
    <vt:lpwstr>process-flow:gated-pipeline-stage-cards</vt:lpwstr>
  </property>
  <property fmtid="{D5CDD505-2E9C-101B-9397-08002B2CF9AE}" pid="9" name="deckkit:263">
    <vt:lpwstr>use-case-map:domain-tabs-agent-mesh</vt:lpwstr>
  </property>
  <property fmtid="{D5CDD505-2E9C-101B-9397-08002B2CF9AE}" pid="10" name="deckkit:264">
    <vt:lpwstr>value-horizons:s-curve-vignettes</vt:lpwstr>
  </property>
  <property fmtid="{D5CDD505-2E9C-101B-9397-08002B2CF9AE}" pid="11" name="deckkit:265">
    <vt:lpwstr>worked-example:stage-columns-hub-trace</vt:lpwstr>
  </property>
  <property fmtid="{D5CDD505-2E9C-101B-9397-08002B2CF9AE}" pid="12" name="deckkit:266">
    <vt:lpwstr>gantt:phase-lane-milestone-axis-stat-row</vt:lpwstr>
  </property>
  <property fmtid="{D5CDD505-2E9C-101B-9397-08002B2CF9AE}" pid="13" name="deckkit:267">
    <vt:lpwstr>governance-model:role-hub-workflow-escalation</vt:lpwstr>
  </property>
  <property fmtid="{D5CDD505-2E9C-101B-9397-08002B2CF9AE}" pid="14" name="deckkit:268">
    <vt:lpwstr>gantt:milestone-axis-phase-cards</vt:lpwstr>
  </property>
  <property fmtid="{D5CDD505-2E9C-101B-9397-08002B2CF9AE}" pid="15" name="deckkit:269">
    <vt:lpwstr>from-to-shift:channel-mesh-to-agent-hub</vt:lpwstr>
  </property>
  <property fmtid="{D5CDD505-2E9C-101B-9397-08002B2CF9AE}" pid="16" name="deckkit:270">
    <vt:lpwstr>value-horizons:step-network-handover</vt:lpwstr>
  </property>
  <property fmtid="{D5CDD505-2E9C-101B-9397-08002B2CF9AE}" pid="17" name="deckkit:271">
    <vt:lpwstr>principles:principle-columns-proof-diagrams</vt:lpwstr>
  </property>
  <property fmtid="{D5CDD505-2E9C-101B-9397-08002B2CF9AE}" pid="18" name="deckkit:272">
    <vt:lpwstr>headline-figures:disc-band-figures-card-row</vt:lpwstr>
  </property>
  <property fmtid="{D5CDD505-2E9C-101B-9397-08002B2CF9AE}" pid="19" name="deckkit:273">
    <vt:lpwstr>decision-logic:slanted-lanes</vt:lpwstr>
  </property>
  <property fmtid="{D5CDD505-2E9C-101B-9397-08002B2CF9AE}" pid="20" name="deckkit:274">
    <vt:lpwstr>process-flow:funnel-route-columns</vt:lpwstr>
  </property>
  <property fmtid="{D5CDD505-2E9C-101B-9397-08002B2CF9AE}" pid="21" name="deckkit:275">
    <vt:lpwstr>maturity-model:indented-ladder-status-rail</vt:lpwstr>
  </property>
  <property fmtid="{D5CDD505-2E9C-101B-9397-08002B2CF9AE}" pid="22" name="deckkit:276">
    <vt:lpwstr>layered-architecture:source-band-stage-cards-enablers</vt:lpwstr>
  </property>
  <property fmtid="{D5CDD505-2E9C-101B-9397-08002B2CF9AE}" pid="23" name="deckkit:277">
    <vt:lpwstr>maturity-model:rising-curve-foundations-rail</vt:lpwstr>
  </property>
  <property fmtid="{D5CDD505-2E9C-101B-9397-08002B2CF9AE}" pid="24" name="deckkit:278">
    <vt:lpwstr>phased-roadmap:gated-rail-phase-columns-loop</vt:lpwstr>
  </property>
  <property fmtid="{D5CDD505-2E9C-101B-9397-08002B2CF9AE}" pid="25" name="deckkit:279">
    <vt:lpwstr>convergence-hub:nested-core-feeders-outcomes</vt:lpwstr>
  </property>
  <property fmtid="{D5CDD505-2E9C-101B-9397-08002B2CF9AE}" pid="26" name="deckkit:280">
    <vt:lpwstr>input-process-output:pill-triptych-step-stack-proofs</vt:lpwstr>
  </property>
  <property fmtid="{D5CDD505-2E9C-101B-9397-08002B2CF9AE}" pid="27" name="deckkit:281">
    <vt:lpwstr>decision-logic:staged-rule-lanes</vt:lpwstr>
  </property>
  <property fmtid="{D5CDD505-2E9C-101B-9397-08002B2CF9AE}" pid="28" name="deckkit:282">
    <vt:lpwstr>prioritization-matrix:value-effort-waves</vt:lpwstr>
  </property>
  <property fmtid="{D5CDD505-2E9C-101B-9397-08002B2CF9AE}" pid="29" name="deckkit:283">
    <vt:lpwstr>value-horizons:winding-road-growing-cards</vt:lpwstr>
  </property>
  <property fmtid="{D5CDD505-2E9C-101B-9397-08002B2CF9AE}" pid="30" name="deckkit:284">
    <vt:lpwstr>hub-and-spoke:half-wheel-layered-base</vt:lpwstr>
  </property>
  <property fmtid="{D5CDD505-2E9C-101B-9397-08002B2CF9AE}" pid="31" name="deckkit:285">
    <vt:lpwstr>convergence-hub:lanes-into-ring-mosaic-readout</vt:lpwstr>
  </property>
  <property fmtid="{D5CDD505-2E9C-101B-9397-08002B2CF9AE}" pid="32" name="deckkit:286">
    <vt:lpwstr>solution-architecture:bounded-core-side-columns</vt:lpwstr>
  </property>
</Properties>
</file>