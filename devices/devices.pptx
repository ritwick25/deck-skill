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x="12192000" cy="6858000"/>
  <p:notesSz cx="6858000" cy="9144000"/>
  <p:defaultTextStyle>
    <a:defPPr>
      <a:defRPr lang="en-US"/>
    </a:defPPr>
    <a:lvl1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2pPr>
    <a:lvl3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3pPr>
    <a:lvl4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4pPr>
    <a:lvl5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5pPr>
    <a:lvl6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2100" b="1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-ask:decision-cards-rail">
    <p:spTree>
      <p:nvGrpSpPr>
        <p:cNvPr id="1" name=""/>
        <p:cNvGrpSpPr/>
        <p:nvPr/>
      </p:nvGrpSpPr>
      <p:grpSpPr/>
      <p:sp>
        <p:nvSpPr>
          <p:cNvPr id="2" name="struct.rail.panel"/>
          <p:cNvSpPr/>
          <p:nvPr/>
        </p:nvSpPr>
        <p:spPr>
          <a:xfrm>
            <a:off x="457200" y="3108960"/>
            <a:ext cx="11338560" cy="2359152"/>
          </a:xfrm>
          <a:prstGeom prst="roundRect">
            <a:avLst>
              <a:gd name="adj" fmla="val 193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3" name="slot.title"/>
          <p:cNvSpPr txBox="1"/>
          <p:nvPr/>
        </p:nvSpPr>
        <p:spPr>
          <a:xfrm>
            <a:off x="457200" y="329184"/>
            <a:ext cx="1133856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Four decisions</a:t>
            </a:r>
            <a:r>
              <a:rPr lang="en-US" sz="2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this month put the forecasting pilot live by week fourteen</a:t>
            </a:r>
            <a:endParaRPr lang="en-US" sz="2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ot.milestone.1"/>
          <p:cNvSpPr txBox="1"/>
          <p:nvPr/>
        </p:nvSpPr>
        <p:spPr>
          <a:xfrm>
            <a:off x="625035" y="4370831"/>
            <a:ext cx="2278650" cy="8229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Week 2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Scope and business owner confirmed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lot.milestone.2"/>
          <p:cNvSpPr txBox="1"/>
          <p:nvPr/>
        </p:nvSpPr>
        <p:spPr>
          <a:xfrm>
            <a:off x="3539427" y="4370831"/>
            <a:ext cx="2278650" cy="8229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Week 6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First forecasts run beside the current plan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ot.milestone.3"/>
          <p:cNvSpPr txBox="1"/>
          <p:nvPr/>
        </p:nvSpPr>
        <p:spPr>
          <a:xfrm>
            <a:off x="6453820" y="4370831"/>
            <a:ext cx="2278650" cy="8229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Week 10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Accuracy checked against the gate thresholds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lot.milestone.4"/>
          <p:cNvSpPr txBox="1"/>
          <p:nvPr/>
        </p:nvSpPr>
        <p:spPr>
          <a:xfrm>
            <a:off x="9368213" y="4370831"/>
            <a:ext cx="2278650" cy="8229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Week 14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Planners act on pilot forecasts each month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" name="struct.rail.line"/>
          <p:cNvCxnSpPr>
            <a:cxnSpLocks/>
          </p:cNvCxnSpPr>
          <p:nvPr/>
        </p:nvCxnSpPr>
        <p:spPr>
          <a:xfrm>
            <a:off x="1869963" y="4133087"/>
            <a:ext cx="8531264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  <a:effectLst/>
        </p:spPr>
      </p:cxnSp>
      <p:grpSp>
        <p:nvGrpSpPr>
          <p:cNvPr id="9" name="struct.rail.dot.4.1"/>
          <p:cNvGrpSpPr/>
          <p:nvPr/>
        </p:nvGrpSpPr>
        <p:grpSpPr>
          <a:xfrm>
            <a:off x="10402042" y="4032503"/>
            <a:ext cx="201168" cy="201168"/>
            <a:chOff x="10388727" y="4364312"/>
            <a:chExt cx="201168" cy="201168"/>
          </a:xfrm>
          <a:effectLst/>
        </p:grpSpPr>
        <p:sp>
          <p:nvSpPr>
            <p:cNvPr id="10" name="struct.rail.dot.4.2"/>
            <p:cNvSpPr/>
            <p:nvPr/>
          </p:nvSpPr>
          <p:spPr>
            <a:xfrm>
              <a:off x="10388727" y="4364312"/>
              <a:ext cx="201168" cy="201168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  <a:prstDash val="solid"/>
            </a:ln>
          </p:spPr>
          <p:txBody>
            <a:bodyPr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" name="struct.rail.dot.4.3"/>
            <p:cNvSpPr/>
            <p:nvPr/>
          </p:nvSpPr>
          <p:spPr>
            <a:xfrm>
              <a:off x="10439019" y="4414604"/>
              <a:ext cx="100584" cy="100584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2" name="struct.rail.dot.3.1"/>
          <p:cNvGrpSpPr/>
          <p:nvPr/>
        </p:nvGrpSpPr>
        <p:grpSpPr>
          <a:xfrm>
            <a:off x="7494294" y="4032503"/>
            <a:ext cx="201168" cy="201168"/>
            <a:chOff x="7471599" y="4364312"/>
            <a:chExt cx="201168" cy="201168"/>
          </a:xfrm>
          <a:effectLst/>
        </p:grpSpPr>
        <p:sp>
          <p:nvSpPr>
            <p:cNvPr id="13" name="struct.rail.dot.3.2"/>
            <p:cNvSpPr/>
            <p:nvPr/>
          </p:nvSpPr>
          <p:spPr>
            <a:xfrm>
              <a:off x="7471599" y="4364312"/>
              <a:ext cx="201168" cy="201168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  <a:prstDash val="solid"/>
            </a:ln>
          </p:spPr>
          <p:txBody>
            <a:bodyPr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" name="struct.rail.dot.3.3"/>
            <p:cNvSpPr/>
            <p:nvPr/>
          </p:nvSpPr>
          <p:spPr>
            <a:xfrm>
              <a:off x="7521891" y="4414604"/>
              <a:ext cx="100584" cy="100584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5" name="struct.rail.dot.2.1"/>
          <p:cNvGrpSpPr/>
          <p:nvPr/>
        </p:nvGrpSpPr>
        <p:grpSpPr>
          <a:xfrm>
            <a:off x="4579901" y="4032503"/>
            <a:ext cx="201168" cy="201168"/>
            <a:chOff x="4547805" y="4364312"/>
            <a:chExt cx="201168" cy="201168"/>
          </a:xfrm>
          <a:effectLst/>
        </p:grpSpPr>
        <p:sp>
          <p:nvSpPr>
            <p:cNvPr id="16" name="struct.rail.dot.2.2"/>
            <p:cNvSpPr/>
            <p:nvPr/>
          </p:nvSpPr>
          <p:spPr>
            <a:xfrm>
              <a:off x="4547805" y="4364312"/>
              <a:ext cx="201168" cy="201168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  <a:prstDash val="solid"/>
            </a:ln>
          </p:spPr>
          <p:txBody>
            <a:bodyPr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" name="struct.rail.dot.2.3"/>
            <p:cNvSpPr/>
            <p:nvPr/>
          </p:nvSpPr>
          <p:spPr>
            <a:xfrm>
              <a:off x="4598097" y="4414604"/>
              <a:ext cx="100584" cy="100584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8" name="struct.rail.dot.1.1"/>
          <p:cNvGrpSpPr/>
          <p:nvPr/>
        </p:nvGrpSpPr>
        <p:grpSpPr>
          <a:xfrm>
            <a:off x="1665509" y="4032503"/>
            <a:ext cx="201168" cy="201168"/>
            <a:chOff x="1624011" y="4364312"/>
            <a:chExt cx="201168" cy="201168"/>
          </a:xfrm>
          <a:effectLst/>
        </p:grpSpPr>
        <p:sp>
          <p:nvSpPr>
            <p:cNvPr id="19" name="struct.rail.dot.1.2"/>
            <p:cNvSpPr/>
            <p:nvPr/>
          </p:nvSpPr>
          <p:spPr>
            <a:xfrm>
              <a:off x="1624011" y="4364312"/>
              <a:ext cx="201168" cy="201168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  <a:prstDash val="solid"/>
            </a:ln>
          </p:spPr>
          <p:txBody>
            <a:bodyPr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" name="struct.rail.dot.1.3"/>
            <p:cNvSpPr/>
            <p:nvPr/>
          </p:nvSpPr>
          <p:spPr>
            <a:xfrm>
              <a:off x="1674303" y="4414604"/>
              <a:ext cx="100584" cy="100584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/>
          </p:spPr>
          <p:txBody>
            <a:bodyPr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1" name="struct.card.1"/>
          <p:cNvSpPr/>
          <p:nvPr/>
        </p:nvSpPr>
        <p:spPr>
          <a:xfrm>
            <a:off x="457200" y="1097280"/>
            <a:ext cx="2333337" cy="1883664"/>
          </a:xfrm>
          <a:prstGeom prst="roundRect">
            <a:avLst>
              <a:gd name="adj" fmla="val 2427"/>
            </a:avLst>
          </a:prstGeom>
          <a:solidFill>
            <a:schemeClr val="accent1">
              <a:lumMod val="10000"/>
              <a:lumOff val="90000"/>
            </a:schemeClr>
          </a:solidFill>
          <a:ln w="9525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2" name="struct.card.3"/>
          <p:cNvSpPr/>
          <p:nvPr/>
        </p:nvSpPr>
        <p:spPr>
          <a:xfrm>
            <a:off x="6459344" y="1097280"/>
            <a:ext cx="2333337" cy="1883664"/>
          </a:xfrm>
          <a:prstGeom prst="roundRect">
            <a:avLst>
              <a:gd name="adj" fmla="val 2427"/>
            </a:avLst>
          </a:prstGeom>
          <a:solidFill>
            <a:schemeClr val="accent1">
              <a:lumMod val="10000"/>
              <a:lumOff val="90000"/>
            </a:schemeClr>
          </a:solidFill>
          <a:ln w="9525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3" name="struct.card.4"/>
          <p:cNvSpPr/>
          <p:nvPr/>
        </p:nvSpPr>
        <p:spPr>
          <a:xfrm>
            <a:off x="9460415" y="1097280"/>
            <a:ext cx="2333337" cy="1883664"/>
          </a:xfrm>
          <a:prstGeom prst="roundRect">
            <a:avLst>
              <a:gd name="adj" fmla="val 2427"/>
            </a:avLst>
          </a:prstGeom>
          <a:solidFill>
            <a:schemeClr val="accent1">
              <a:lumMod val="10000"/>
              <a:lumOff val="90000"/>
            </a:schemeClr>
          </a:solidFill>
          <a:ln w="9525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4" name="struct.card.2"/>
          <p:cNvSpPr/>
          <p:nvPr/>
        </p:nvSpPr>
        <p:spPr>
          <a:xfrm>
            <a:off x="3458272" y="1097280"/>
            <a:ext cx="2333337" cy="1883664"/>
          </a:xfrm>
          <a:prstGeom prst="roundRect">
            <a:avLst>
              <a:gd name="adj" fmla="val 2427"/>
            </a:avLst>
          </a:prstGeom>
          <a:solidFill>
            <a:schemeClr val="accent1">
              <a:lumMod val="10000"/>
              <a:lumOff val="90000"/>
            </a:schemeClr>
          </a:solidFill>
          <a:ln w="9525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5" name="slot.card.1.body"/>
          <p:cNvSpPr txBox="1"/>
          <p:nvPr/>
        </p:nvSpPr>
        <p:spPr>
          <a:xfrm>
            <a:off x="593919" y="2249424"/>
            <a:ext cx="2059898" cy="51206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Two product lines and three regions in wave one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slot.card.2.body"/>
          <p:cNvSpPr txBox="1"/>
          <p:nvPr/>
        </p:nvSpPr>
        <p:spPr>
          <a:xfrm>
            <a:off x="3594991" y="2249424"/>
            <a:ext cx="2059898" cy="51206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 planning lead who signs off accuracy targets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lot.card.3.body"/>
          <p:cNvSpPr txBox="1"/>
          <p:nvPr/>
        </p:nvSpPr>
        <p:spPr>
          <a:xfrm>
            <a:off x="6596063" y="2249424"/>
            <a:ext cx="2059898" cy="51206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Three years of order history ready by week two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lot.card.1.head"/>
          <p:cNvSpPr txBox="1"/>
          <p:nvPr/>
        </p:nvSpPr>
        <p:spPr>
          <a:xfrm>
            <a:off x="593919" y="1938528"/>
            <a:ext cx="2059898" cy="31089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Endorse the scope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lot.card.2.head"/>
          <p:cNvSpPr txBox="1"/>
          <p:nvPr/>
        </p:nvSpPr>
        <p:spPr>
          <a:xfrm>
            <a:off x="3594991" y="1938528"/>
            <a:ext cx="2059898" cy="31089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Nominate one owner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slot.card.3.head"/>
          <p:cNvSpPr txBox="1"/>
          <p:nvPr/>
        </p:nvSpPr>
        <p:spPr>
          <a:xfrm>
            <a:off x="6596063" y="1938528"/>
            <a:ext cx="2059898" cy="31089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Grant data access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lot.card.4.head"/>
          <p:cNvSpPr txBox="1"/>
          <p:nvPr/>
        </p:nvSpPr>
        <p:spPr>
          <a:xfrm>
            <a:off x="9597134" y="1938528"/>
            <a:ext cx="2059898" cy="31089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Agree the gate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lot.card.4.body"/>
          <p:cNvSpPr txBox="1"/>
          <p:nvPr/>
        </p:nvSpPr>
        <p:spPr>
          <a:xfrm>
            <a:off x="9597134" y="2249424"/>
            <a:ext cx="2059898" cy="51206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Go live once accuracy holds for four weeks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33" name="struct.chevrons"/>
          <p:cNvGrpSpPr/>
          <p:nvPr/>
        </p:nvGrpSpPr>
        <p:grpSpPr>
          <a:xfrm>
            <a:off x="2997160" y="1917566"/>
            <a:ext cx="6252341" cy="243091"/>
            <a:chOff x="2959633" y="2219409"/>
            <a:chExt cx="6272510" cy="243091"/>
          </a:xfrm>
          <a:effectLst/>
        </p:grpSpPr>
        <p:grpSp>
          <p:nvGrpSpPr>
            <p:cNvPr id="34" name="struct.chevron.1.1"/>
            <p:cNvGrpSpPr/>
            <p:nvPr/>
          </p:nvGrpSpPr>
          <p:grpSpPr>
            <a:xfrm>
              <a:off x="2959633" y="2219409"/>
              <a:ext cx="251005" cy="243091"/>
              <a:chOff x="2959633" y="2219409"/>
              <a:chExt cx="251005" cy="243091"/>
            </a:xfrm>
            <a:solidFill>
              <a:schemeClr val="accent1"/>
            </a:solidFill>
          </p:grpSpPr>
          <p:sp>
            <p:nvSpPr>
              <p:cNvPr id="35" name="struct.chevron.1.2"/>
              <p:cNvSpPr/>
              <p:nvPr/>
            </p:nvSpPr>
            <p:spPr>
              <a:xfrm>
                <a:off x="3058561" y="2219409"/>
                <a:ext cx="152077" cy="243091"/>
              </a:xfrm>
              <a:prstGeom prst="chevron">
                <a:avLst/>
              </a:prstGeom>
              <a:grpFill/>
              <a:ln>
                <a:noFill/>
              </a:ln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6" name="struct.chevron.1.3"/>
              <p:cNvSpPr/>
              <p:nvPr/>
            </p:nvSpPr>
            <p:spPr>
              <a:xfrm>
                <a:off x="2959633" y="2219409"/>
                <a:ext cx="152077" cy="243091"/>
              </a:xfrm>
              <a:prstGeom prst="chevron">
                <a:avLst/>
              </a:prstGeom>
              <a:grpFill/>
              <a:ln>
                <a:noFill/>
              </a:ln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p:grpSp>
        <p:grpSp>
          <p:nvGrpSpPr>
            <p:cNvPr id="37" name="struct.chevron.2.1"/>
            <p:cNvGrpSpPr/>
            <p:nvPr/>
          </p:nvGrpSpPr>
          <p:grpSpPr>
            <a:xfrm>
              <a:off x="5970386" y="2219409"/>
              <a:ext cx="251005" cy="243091"/>
              <a:chOff x="5970386" y="2219409"/>
              <a:chExt cx="251005" cy="243091"/>
            </a:xfrm>
            <a:solidFill>
              <a:schemeClr val="accent1"/>
            </a:solidFill>
          </p:grpSpPr>
          <p:sp>
            <p:nvSpPr>
              <p:cNvPr id="38" name="struct.chevron.2.2"/>
              <p:cNvSpPr/>
              <p:nvPr/>
            </p:nvSpPr>
            <p:spPr>
              <a:xfrm>
                <a:off x="6069314" y="2219409"/>
                <a:ext cx="152077" cy="243091"/>
              </a:xfrm>
              <a:prstGeom prst="chevron">
                <a:avLst/>
              </a:prstGeom>
              <a:grpFill/>
              <a:ln>
                <a:noFill/>
              </a:ln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9" name="struct.chevron.2.3"/>
              <p:cNvSpPr/>
              <p:nvPr/>
            </p:nvSpPr>
            <p:spPr>
              <a:xfrm>
                <a:off x="5970386" y="2219409"/>
                <a:ext cx="152077" cy="243091"/>
              </a:xfrm>
              <a:prstGeom prst="chevron">
                <a:avLst/>
              </a:prstGeom>
              <a:grpFill/>
              <a:ln>
                <a:noFill/>
              </a:ln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p:grpSp>
        <p:grpSp>
          <p:nvGrpSpPr>
            <p:cNvPr id="40" name="struct.chevron.3.1"/>
            <p:cNvGrpSpPr/>
            <p:nvPr/>
          </p:nvGrpSpPr>
          <p:grpSpPr>
            <a:xfrm>
              <a:off x="8981138" y="2219409"/>
              <a:ext cx="251005" cy="243091"/>
              <a:chOff x="8981138" y="2219409"/>
              <a:chExt cx="251005" cy="243091"/>
            </a:xfrm>
            <a:solidFill>
              <a:schemeClr val="accent1"/>
            </a:solidFill>
          </p:grpSpPr>
          <p:sp>
            <p:nvSpPr>
              <p:cNvPr id="41" name="struct.chevron.3.2"/>
              <p:cNvSpPr/>
              <p:nvPr/>
            </p:nvSpPr>
            <p:spPr>
              <a:xfrm>
                <a:off x="9080066" y="2219409"/>
                <a:ext cx="152077" cy="243091"/>
              </a:xfrm>
              <a:prstGeom prst="chevron">
                <a:avLst/>
              </a:prstGeom>
              <a:grpFill/>
              <a:ln>
                <a:noFill/>
              </a:ln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42" name="struct.chevron.3.3"/>
              <p:cNvSpPr/>
              <p:nvPr/>
            </p:nvSpPr>
            <p:spPr>
              <a:xfrm>
                <a:off x="8981138" y="2219409"/>
                <a:ext cx="152077" cy="243091"/>
              </a:xfrm>
              <a:prstGeom prst="chevron">
                <a:avLst/>
              </a:prstGeom>
              <a:grpFill/>
              <a:ln>
                <a:noFill/>
              </a:ln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p:grpSp>
      </p:grpSp>
      <p:sp>
        <p:nvSpPr>
          <p:cNvPr id="43" name="slot.card.1.num"/>
          <p:cNvSpPr txBox="1"/>
          <p:nvPr/>
        </p:nvSpPr>
        <p:spPr>
          <a:xfrm>
            <a:off x="593919" y="1298448"/>
            <a:ext cx="638022" cy="38404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01</a:t>
            </a:r>
            <a:endParaRPr lang="en-US" sz="2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slot.card.2.num"/>
          <p:cNvSpPr txBox="1"/>
          <p:nvPr/>
        </p:nvSpPr>
        <p:spPr>
          <a:xfrm>
            <a:off x="3594991" y="1298448"/>
            <a:ext cx="638022" cy="38404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02</a:t>
            </a:r>
            <a:endParaRPr lang="en-US" sz="2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lot.card.3.num"/>
          <p:cNvSpPr txBox="1"/>
          <p:nvPr/>
        </p:nvSpPr>
        <p:spPr>
          <a:xfrm>
            <a:off x="6596063" y="1298448"/>
            <a:ext cx="638022" cy="38404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03</a:t>
            </a:r>
            <a:endParaRPr lang="en-US" sz="2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slot.card.4.num"/>
          <p:cNvSpPr txBox="1"/>
          <p:nvPr/>
        </p:nvSpPr>
        <p:spPr>
          <a:xfrm>
            <a:off x="9597134" y="1298448"/>
            <a:ext cx="638022" cy="38404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04</a:t>
            </a:r>
            <a:endParaRPr lang="en-US" sz="2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slot.rail.label"/>
          <p:cNvSpPr txBox="1"/>
          <p:nvPr/>
        </p:nvSpPr>
        <p:spPr>
          <a:xfrm>
            <a:off x="612148" y="3346704"/>
            <a:ext cx="3645839" cy="31089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Outcomes by date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slot.card.1.icon"/>
          <p:cNvSpPr/>
          <p:nvPr/>
        </p:nvSpPr>
        <p:spPr>
          <a:xfrm>
            <a:off x="2106134" y="126187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41910" cap="rnd">
            <a:solidFill>
              <a:schemeClr val="accent1"/>
            </a:solidFill>
            <a:round/>
          </a:ln>
          <a:effectLst/>
        </p:spPr>
      </p:sp>
      <p:sp>
        <p:nvSpPr>
          <p:cNvPr id="49" name="slot.card.2.icon"/>
          <p:cNvSpPr/>
          <p:nvPr/>
        </p:nvSpPr>
        <p:spPr>
          <a:xfrm>
            <a:off x="5107206" y="126187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41910" cap="rnd">
            <a:solidFill>
              <a:schemeClr val="accent1"/>
            </a:solidFill>
            <a:round/>
          </a:ln>
          <a:effectLst/>
        </p:spPr>
      </p:sp>
      <p:sp>
        <p:nvSpPr>
          <p:cNvPr id="50" name="slot.card.3.icon"/>
          <p:cNvSpPr/>
          <p:nvPr/>
        </p:nvSpPr>
        <p:spPr>
          <a:xfrm>
            <a:off x="8108278" y="126187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41910" cap="rnd">
            <a:solidFill>
              <a:schemeClr val="accent1"/>
            </a:solidFill>
            <a:round/>
          </a:ln>
          <a:effectLst/>
        </p:spPr>
      </p:sp>
      <p:sp>
        <p:nvSpPr>
          <p:cNvPr id="51" name="slot.card.4.icon"/>
          <p:cNvSpPr/>
          <p:nvPr/>
        </p:nvSpPr>
        <p:spPr>
          <a:xfrm>
            <a:off x="11109349" y="126187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41910" cap="rnd">
            <a:solidFill>
              <a:schemeClr val="accent1"/>
            </a:solidFill>
            <a:round/>
          </a:ln>
          <a:effectLst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eep-dive:stage-band-brief-rail">
    <p:spTree>
      <p:nvGrpSpPr>
        <p:cNvPr id="1" name=""/>
        <p:cNvGrpSpPr/>
        <p:nvPr/>
      </p:nvGrpSpPr>
      <p:grpSpPr/>
      <p:cxnSp>
        <p:nvCxnSpPr>
          <p:cNvPr id="2" name="struct.capture.link"/>
          <p:cNvCxnSpPr/>
          <p:nvPr/>
        </p:nvCxnSpPr>
        <p:spPr>
          <a:xfrm>
            <a:off x="1126307" y="3719078"/>
            <a:ext cx="122977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3" name="struct.capture.node"/>
          <p:cNvSpPr/>
          <p:nvPr/>
        </p:nvSpPr>
        <p:spPr>
          <a:xfrm>
            <a:off x="1427888" y="3291840"/>
            <a:ext cx="626610" cy="7890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truct.outcomes"/>
          <p:cNvSpPr/>
          <p:nvPr/>
        </p:nvSpPr>
        <p:spPr>
          <a:xfrm>
            <a:off x="6144755" y="4371340"/>
            <a:ext cx="2354748" cy="79098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wrap="square" tIns="72000" bIns="72000" rtlCol="0" anchor="ctr">
            <a:noAutofit/>
          </a:bodyPr>
          <a:lstStyle/>
          <a:p>
            <a:pPr>
              <a:lnSpc>
                <a:spcPct val="110000"/>
              </a:lnSpc>
            </a:pP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5" name="slot.title"/>
          <p:cNvSpPr txBox="1"/>
          <p:nvPr/>
        </p:nvSpPr>
        <p:spPr>
          <a:xfrm>
            <a:off x="457200" y="182880"/>
            <a:ext cx="1133856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Rule passes</a:t>
            </a:r>
            <a:r>
              <a:rPr lang="en-US" sz="2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clear routine invoices and reviewers settle the rest</a:t>
            </a:r>
            <a:endParaRPr lang="en-US" sz="2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truct.brief"/>
          <p:cNvSpPr/>
          <p:nvPr/>
        </p:nvSpPr>
        <p:spPr>
          <a:xfrm>
            <a:off x="9089273" y="727788"/>
            <a:ext cx="2706487" cy="5523723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12700">
            <a:solidFill>
              <a:schemeClr val="accent1"/>
            </a:solidFill>
          </a:ln>
          <a:effectLst/>
        </p:spPr>
        <p:txBody>
          <a:bodyPr wrap="square" tIns="72000" bIns="72000" rtlCol="0" anchor="ctr">
            <a:noAutofit/>
          </a:bodyPr>
          <a:lstStyle/>
          <a:p>
            <a:pPr algn="ctr">
              <a:lnSpc>
                <a:spcPct val="110000"/>
              </a:lnSpc>
            </a:pPr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7" name="slot.brief.head"/>
          <p:cNvSpPr txBox="1"/>
          <p:nvPr/>
        </p:nvSpPr>
        <p:spPr>
          <a:xfrm>
            <a:off x="9243868" y="939800"/>
            <a:ext cx="2397296" cy="2308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Use case brief</a:t>
            </a:r>
            <a:endParaRPr lang="en-US" sz="15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lot.brief.problem"/>
          <p:cNvSpPr txBox="1"/>
          <p:nvPr/>
        </p:nvSpPr>
        <p:spPr>
          <a:xfrm>
            <a:off x="9245821" y="1298448"/>
            <a:ext cx="2395425" cy="47548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Supplier invoices stall in manual matching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slot.brief.why"/>
          <p:cNvSpPr txBox="1"/>
          <p:nvPr/>
        </p:nvSpPr>
        <p:spPr>
          <a:xfrm>
            <a:off x="9245821" y="2011680"/>
            <a:ext cx="2395425" cy="80467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Why it matters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Held invoices delay payment runs and miss discount windows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lot.brief.approach"/>
          <p:cNvSpPr txBox="1"/>
          <p:nvPr/>
        </p:nvSpPr>
        <p:spPr>
          <a:xfrm>
            <a:off x="9245821" y="3017520"/>
            <a:ext cx="2395425" cy="80467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Approach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Rule passes match routine lines and reviewers clear the rest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ot.brief.scope"/>
          <p:cNvSpPr txBox="1"/>
          <p:nvPr/>
        </p:nvSpPr>
        <p:spPr>
          <a:xfrm>
            <a:off x="9245821" y="4023360"/>
            <a:ext cx="2395425" cy="80467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Scope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ledger, three entities and twelve weeks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lot.brief.decision"/>
          <p:cNvSpPr/>
          <p:nvPr/>
        </p:nvSpPr>
        <p:spPr>
          <a:xfrm>
            <a:off x="9245821" y="5084064"/>
            <a:ext cx="2395425" cy="98755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txBody>
          <a:bodyPr lIns="108000" rIns="108000" anchor="ctr" wrap="square" tIns="45720" bIns="4572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Decision supported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Fund a twelve-week pilot on one ledger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struct.challenge"/>
          <p:cNvSpPr/>
          <p:nvPr/>
        </p:nvSpPr>
        <p:spPr>
          <a:xfrm>
            <a:off x="459550" y="914400"/>
            <a:ext cx="8237701" cy="1005840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/>
        </p:spPr>
        <p:txBody>
          <a:bodyPr wrap="square" tIns="72000" bIns="72000" rtlCol="0" anchor="ctr">
            <a:noAutofit/>
          </a:bodyPr>
          <a:lstStyle/>
          <a:p>
            <a:pPr algn="ctr">
              <a:lnSpc>
                <a:spcPct val="110000"/>
              </a:lnSpc>
            </a:pPr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14" name="slot.challenge.label"/>
          <p:cNvSpPr txBox="1"/>
          <p:nvPr/>
        </p:nvSpPr>
        <p:spPr>
          <a:xfrm>
            <a:off x="459550" y="658368"/>
            <a:ext cx="1673140" cy="219456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Challenge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lot.pain.1.body"/>
          <p:cNvSpPr txBox="1"/>
          <p:nvPr/>
        </p:nvSpPr>
        <p:spPr>
          <a:xfrm>
            <a:off x="1446977" y="1024128"/>
            <a:ext cx="2011425" cy="786384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3 days</a:t>
            </a:r>
            <a:endParaRPr lang="en-US" sz="2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to clear one held invoice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lot.pain.2.body"/>
          <p:cNvSpPr txBox="1"/>
          <p:nvPr/>
        </p:nvSpPr>
        <p:spPr>
          <a:xfrm>
            <a:off x="4528114" y="1024128"/>
            <a:ext cx="1554283" cy="786384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Matching rules live in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personal spreadsheets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lot.pain.3.body"/>
          <p:cNvSpPr txBox="1"/>
          <p:nvPr/>
        </p:nvSpPr>
        <p:spPr>
          <a:xfrm>
            <a:off x="7097253" y="1024128"/>
            <a:ext cx="1526855" cy="786384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Late payments forfeit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early-pay discounts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8" name="struct.challenge.rule.1"/>
          <p:cNvCxnSpPr>
            <a:cxnSpLocks/>
          </p:cNvCxnSpPr>
          <p:nvPr/>
        </p:nvCxnSpPr>
        <p:spPr>
          <a:xfrm>
            <a:off x="3540687" y="1133856"/>
            <a:ext cx="0" cy="57607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9" name="struct.challenge.rule.2"/>
          <p:cNvCxnSpPr>
            <a:cxnSpLocks/>
          </p:cNvCxnSpPr>
          <p:nvPr/>
        </p:nvCxnSpPr>
        <p:spPr>
          <a:xfrm>
            <a:off x="6137255" y="1133856"/>
            <a:ext cx="0" cy="57607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20" name="slot.work.head"/>
          <p:cNvSpPr/>
          <p:nvPr/>
        </p:nvSpPr>
        <p:spPr>
          <a:xfrm>
            <a:off x="457200" y="2047678"/>
            <a:ext cx="8239220" cy="38735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txBody>
          <a:bodyPr wrap="square" tIns="72000" bIns="72000" rtlCol="0" anchor="ctr" lIns="91440" rIns="9144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How invoice matching works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truct.stage.1"/>
          <p:cNvSpPr/>
          <p:nvPr/>
        </p:nvSpPr>
        <p:spPr>
          <a:xfrm>
            <a:off x="457200" y="2531750"/>
            <a:ext cx="2882882" cy="506506"/>
          </a:xfrm>
          <a:prstGeom prst="homePlate">
            <a:avLst>
              <a:gd name="adj" fmla="val 33575"/>
            </a:avLst>
          </a:prstGeom>
          <a:solidFill>
            <a:schemeClr val="bg1">
              <a:lumMod val="85000"/>
            </a:schemeClr>
          </a:solidFill>
          <a:ln w="9525"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struct.stage.2"/>
          <p:cNvSpPr/>
          <p:nvPr/>
        </p:nvSpPr>
        <p:spPr>
          <a:xfrm>
            <a:off x="3220029" y="2531750"/>
            <a:ext cx="2882882" cy="506506"/>
          </a:xfrm>
          <a:prstGeom prst="chevron">
            <a:avLst>
              <a:gd name="adj" fmla="val 33575"/>
            </a:avLst>
          </a:prstGeom>
          <a:solidFill>
            <a:schemeClr val="bg1">
              <a:lumMod val="85000"/>
            </a:schemeClr>
          </a:solidFill>
          <a:ln w="9525"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struct.stage.3"/>
          <p:cNvSpPr/>
          <p:nvPr/>
        </p:nvSpPr>
        <p:spPr>
          <a:xfrm>
            <a:off x="5982859" y="2531750"/>
            <a:ext cx="2882882" cy="506506"/>
          </a:xfrm>
          <a:prstGeom prst="chevron">
            <a:avLst>
              <a:gd name="adj" fmla="val 33575"/>
            </a:avLst>
          </a:prstGeom>
          <a:solidFill>
            <a:schemeClr val="bg1">
              <a:lumMod val="85000"/>
            </a:schemeClr>
          </a:solidFill>
          <a:ln w="9525"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slot.value.label"/>
          <p:cNvSpPr/>
          <p:nvPr/>
        </p:nvSpPr>
        <p:spPr>
          <a:xfrm>
            <a:off x="457200" y="5655395"/>
            <a:ext cx="8239220" cy="509039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txBody>
          <a:bodyPr wrap="square" lIns="144000" tIns="72000" rIns="144000" bIns="7200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Value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struct.value.panel"/>
          <p:cNvSpPr/>
          <p:nvPr/>
        </p:nvSpPr>
        <p:spPr>
          <a:xfrm>
            <a:off x="1692131" y="5655395"/>
            <a:ext cx="7004288" cy="509039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txBody>
          <a:bodyPr wrap="square" tIns="72000" bIns="72000" rtlCol="0" anchor="ctr">
            <a:noAutofit/>
          </a:bodyPr>
          <a:lstStyle/>
          <a:p>
            <a:pPr algn="just">
              <a:lnSpc>
                <a:spcPct val="110000"/>
              </a:lnSpc>
            </a:pPr>
            <a:endParaRPr lang="en-US" b="1">
              <a:solidFill>
                <a:schemeClr val="bg1"/>
              </a:solidFill>
            </a:endParaRPr>
          </a:p>
        </p:txBody>
      </p:sp>
      <p:cxnSp>
        <p:nvCxnSpPr>
          <p:cNvPr id="26" name="struct.column.rule.1"/>
          <p:cNvCxnSpPr/>
          <p:nvPr/>
        </p:nvCxnSpPr>
        <p:spPr>
          <a:xfrm>
            <a:off x="3220029" y="3084750"/>
            <a:ext cx="0" cy="207757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27" name="struct.column.rule.2"/>
          <p:cNvCxnSpPr/>
          <p:nvPr/>
        </p:nvCxnSpPr>
        <p:spPr>
          <a:xfrm>
            <a:off x="5949908" y="3084750"/>
            <a:ext cx="0" cy="207757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28" name="slot.stage.1.num"/>
          <p:cNvSpPr txBox="1"/>
          <p:nvPr/>
        </p:nvSpPr>
        <p:spPr>
          <a:xfrm>
            <a:off x="532692" y="2660904"/>
            <a:ext cx="329142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01</a:t>
            </a:r>
            <a:endParaRPr lang="en-US" sz="16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lot.stage.1.head"/>
          <p:cNvSpPr txBox="1"/>
          <p:nvPr/>
        </p:nvSpPr>
        <p:spPr>
          <a:xfrm>
            <a:off x="1017395" y="2677281"/>
            <a:ext cx="2057526" cy="200055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Capture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0" name="struct.stage.1.rule"/>
          <p:cNvCxnSpPr>
            <a:cxnSpLocks/>
          </p:cNvCxnSpPr>
          <p:nvPr/>
        </p:nvCxnSpPr>
        <p:spPr>
          <a:xfrm>
            <a:off x="894500" y="2615965"/>
            <a:ext cx="0" cy="338076"/>
          </a:xfrm>
          <a:prstGeom prst="line">
            <a:avLst/>
          </a:prstGeom>
          <a:ln>
            <a:solidFill>
              <a:schemeClr val="accent1"/>
            </a:solidFill>
            <a:prstDash val="solid"/>
          </a:ln>
          <a:effectLst/>
        </p:spPr>
      </p:cxnSp>
      <p:sp>
        <p:nvSpPr>
          <p:cNvPr id="31" name="slot.stage.2.num"/>
          <p:cNvSpPr txBox="1"/>
          <p:nvPr/>
        </p:nvSpPr>
        <p:spPr>
          <a:xfrm>
            <a:off x="3540095" y="2661893"/>
            <a:ext cx="28586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02</a:t>
            </a:r>
            <a:endParaRPr lang="en-US" sz="16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lot.stage.2.head"/>
          <p:cNvSpPr txBox="1"/>
          <p:nvPr/>
        </p:nvSpPr>
        <p:spPr>
          <a:xfrm>
            <a:off x="4064110" y="2677281"/>
            <a:ext cx="1773640" cy="200055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Match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3" name="struct.stage.2.rule"/>
          <p:cNvCxnSpPr>
            <a:cxnSpLocks/>
          </p:cNvCxnSpPr>
          <p:nvPr/>
        </p:nvCxnSpPr>
        <p:spPr>
          <a:xfrm>
            <a:off x="3930960" y="2615965"/>
            <a:ext cx="0" cy="338076"/>
          </a:xfrm>
          <a:prstGeom prst="line">
            <a:avLst/>
          </a:prstGeom>
          <a:ln>
            <a:solidFill>
              <a:schemeClr val="accent1"/>
            </a:solidFill>
            <a:prstDash val="solid"/>
          </a:ln>
          <a:effectLst/>
        </p:spPr>
      </p:cxnSp>
      <p:sp>
        <p:nvSpPr>
          <p:cNvPr id="34" name="slot.stage.3.num"/>
          <p:cNvSpPr txBox="1"/>
          <p:nvPr/>
        </p:nvSpPr>
        <p:spPr>
          <a:xfrm>
            <a:off x="6317045" y="2661893"/>
            <a:ext cx="28586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03</a:t>
            </a:r>
            <a:endParaRPr lang="en-US" sz="16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lot.stage.3.head"/>
          <p:cNvSpPr txBox="1"/>
          <p:nvPr/>
        </p:nvSpPr>
        <p:spPr>
          <a:xfrm>
            <a:off x="6841061" y="2677281"/>
            <a:ext cx="1773640" cy="200055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Review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6" name="struct.stage.3.rule"/>
          <p:cNvCxnSpPr>
            <a:cxnSpLocks/>
          </p:cNvCxnSpPr>
          <p:nvPr/>
        </p:nvCxnSpPr>
        <p:spPr>
          <a:xfrm>
            <a:off x="6707910" y="2615965"/>
            <a:ext cx="0" cy="338076"/>
          </a:xfrm>
          <a:prstGeom prst="line">
            <a:avLst/>
          </a:prstGeom>
          <a:ln>
            <a:solidFill>
              <a:schemeClr val="accent1"/>
            </a:solidFill>
            <a:prstDash val="solid"/>
          </a:ln>
          <a:effectLst/>
        </p:spPr>
      </p:cxnSp>
      <p:sp>
        <p:nvSpPr>
          <p:cNvPr id="37" name="slot.rule.1"/>
          <p:cNvSpPr txBox="1"/>
          <p:nvPr/>
        </p:nvSpPr>
        <p:spPr>
          <a:xfrm>
            <a:off x="3373928" y="3331426"/>
            <a:ext cx="2422083" cy="376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5000"/>
              </a:schemeClr>
            </a:solidFill>
          </a:ln>
          <a:effectLst/>
        </p:spPr>
        <p:txBody>
          <a:bodyPr wrap="square" lIns="72000" tIns="72000" rIns="72000" bIns="7200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Exact order and amount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lot.rule.2"/>
          <p:cNvSpPr txBox="1"/>
          <p:nvPr/>
        </p:nvSpPr>
        <p:spPr>
          <a:xfrm>
            <a:off x="3373928" y="3864710"/>
            <a:ext cx="2422083" cy="376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5000"/>
              </a:schemeClr>
            </a:solidFill>
          </a:ln>
          <a:effectLst/>
        </p:spPr>
        <p:txBody>
          <a:bodyPr wrap="square" lIns="72000" tIns="72000" rIns="72000" bIns="7200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Price within tolerance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slot.rule.3"/>
          <p:cNvSpPr txBox="1"/>
          <p:nvPr/>
        </p:nvSpPr>
        <p:spPr>
          <a:xfrm>
            <a:off x="3373928" y="4397994"/>
            <a:ext cx="2422083" cy="376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5000"/>
              </a:schemeClr>
            </a:solidFill>
          </a:ln>
          <a:effectLst/>
        </p:spPr>
        <p:txBody>
          <a:bodyPr wrap="square" lIns="72000" tIns="72000" rIns="72000" bIns="7200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Fuzzy supplier and line text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slot.review.body"/>
          <p:cNvSpPr txBox="1"/>
          <p:nvPr/>
        </p:nvSpPr>
        <p:spPr>
          <a:xfrm>
            <a:off x="6144755" y="3662491"/>
            <a:ext cx="2354748" cy="1692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Unmatched lines go to review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lot.outcome.1"/>
          <p:cNvSpPr txBox="1"/>
          <p:nvPr/>
        </p:nvSpPr>
        <p:spPr>
          <a:xfrm>
            <a:off x="6219540" y="4489704"/>
            <a:ext cx="1051427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Approve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and post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slot.outcome.2"/>
          <p:cNvSpPr txBox="1"/>
          <p:nvPr/>
        </p:nvSpPr>
        <p:spPr>
          <a:xfrm>
            <a:off x="7380681" y="4489704"/>
            <a:ext cx="1051427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Return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with a reason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3" name="struct.outcomes.rule"/>
          <p:cNvCxnSpPr>
            <a:cxnSpLocks/>
          </p:cNvCxnSpPr>
          <p:nvPr/>
        </p:nvCxnSpPr>
        <p:spPr>
          <a:xfrm>
            <a:off x="7325824" y="4489704"/>
            <a:ext cx="0" cy="56692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44" name="struct.exceptions"/>
          <p:cNvSpPr/>
          <p:nvPr/>
        </p:nvSpPr>
        <p:spPr>
          <a:xfrm>
            <a:off x="797835" y="4133087"/>
            <a:ext cx="1599997" cy="65836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wrap="square" tIns="72000" bIns="72000" rtlCol="0" anchor="ctr">
            <a:noAutofit/>
          </a:bodyPr>
          <a:lstStyle/>
          <a:p>
            <a:pPr>
              <a:lnSpc>
                <a:spcPct val="110000"/>
              </a:lnSpc>
            </a:pP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45" name="slot.exceptions.body"/>
          <p:cNvSpPr txBox="1"/>
          <p:nvPr/>
        </p:nvSpPr>
        <p:spPr>
          <a:xfrm>
            <a:off x="852692" y="4187952"/>
            <a:ext cx="1490283" cy="54864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Held lines return with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 reason code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slot.capture.label.1"/>
          <p:cNvSpPr txBox="1"/>
          <p:nvPr/>
        </p:nvSpPr>
        <p:spPr>
          <a:xfrm>
            <a:off x="457201" y="3911600"/>
            <a:ext cx="871684" cy="1692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Invoices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slot.capture.label.2"/>
          <p:cNvSpPr txBox="1"/>
          <p:nvPr/>
        </p:nvSpPr>
        <p:spPr>
          <a:xfrm>
            <a:off x="2153500" y="3911600"/>
            <a:ext cx="871684" cy="1692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Ledger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slot.value.1.body"/>
          <p:cNvSpPr txBox="1"/>
          <p:nvPr/>
        </p:nvSpPr>
        <p:spPr>
          <a:xfrm>
            <a:off x="2379547" y="5788152"/>
            <a:ext cx="1325712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Discounts kept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slot.value.2.body"/>
          <p:cNvSpPr txBox="1"/>
          <p:nvPr/>
        </p:nvSpPr>
        <p:spPr>
          <a:xfrm>
            <a:off x="4500686" y="5788152"/>
            <a:ext cx="1371426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rule set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slot.value.3.body"/>
          <p:cNvSpPr txBox="1"/>
          <p:nvPr/>
        </p:nvSpPr>
        <p:spPr>
          <a:xfrm>
            <a:off x="6649254" y="5788152"/>
            <a:ext cx="1919997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Same-day clearing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1" name="struct.value.rule.2"/>
          <p:cNvCxnSpPr/>
          <p:nvPr/>
        </p:nvCxnSpPr>
        <p:spPr>
          <a:xfrm>
            <a:off x="5905980" y="5745951"/>
            <a:ext cx="0" cy="3276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52" name="struct.value.rule.1"/>
          <p:cNvCxnSpPr/>
          <p:nvPr/>
        </p:nvCxnSpPr>
        <p:spPr>
          <a:xfrm>
            <a:off x="3789834" y="5745951"/>
            <a:ext cx="0" cy="3276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53" name="slot.work.tag"/>
          <p:cNvSpPr txBox="1"/>
          <p:nvPr/>
        </p:nvSpPr>
        <p:spPr>
          <a:xfrm>
            <a:off x="7431290" y="2156717"/>
            <a:ext cx="1063159" cy="169277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Illustrative</a:t>
            </a:r>
            <a:endParaRPr lang="en-US" sz="1100" b="0" i="1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slot.rule.caption"/>
          <p:cNvSpPr txBox="1"/>
          <p:nvPr/>
        </p:nvSpPr>
        <p:spPr>
          <a:xfrm>
            <a:off x="3297728" y="4890266"/>
            <a:ext cx="2574483" cy="169277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The first pass to match wins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slot.pain.1.icon"/>
          <p:cNvSpPr/>
          <p:nvPr/>
        </p:nvSpPr>
        <p:spPr>
          <a:xfrm>
            <a:off x="770373" y="1152144"/>
            <a:ext cx="530352" cy="53035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22000"/>
                </a:moveTo>
                <a:lnTo>
                  <a:pt x="19000" y="22000"/>
                </a:lnTo>
                <a:moveTo>
                  <a:pt x="5000" y="2000"/>
                </a:moveTo>
                <a:lnTo>
                  <a:pt x="19000" y="2000"/>
                </a:lnTo>
                <a:moveTo>
                  <a:pt x="17000" y="22000"/>
                </a:moveTo>
                <a:lnTo>
                  <a:pt x="17000" y="17828"/>
                </a:lnTo>
                <a:cubicBezTo>
                  <a:pt x="17000" y="17298"/>
                  <a:pt x="16789" y="16789"/>
                  <a:pt x="16414" y="16414"/>
                </a:cubicBezTo>
                <a:lnTo>
                  <a:pt x="12000" y="12000"/>
                </a:lnTo>
                <a:lnTo>
                  <a:pt x="7586" y="16414"/>
                </a:lnTo>
                <a:cubicBezTo>
                  <a:pt x="7211" y="16789"/>
                  <a:pt x="7000" y="17298"/>
                  <a:pt x="7000" y="17828"/>
                </a:cubicBezTo>
                <a:lnTo>
                  <a:pt x="7000" y="22000"/>
                </a:lnTo>
                <a:moveTo>
                  <a:pt x="7000" y="2000"/>
                </a:moveTo>
                <a:lnTo>
                  <a:pt x="7000" y="6172"/>
                </a:lnTo>
                <a:cubicBezTo>
                  <a:pt x="7000" y="6702"/>
                  <a:pt x="7211" y="7211"/>
                  <a:pt x="7586" y="7586"/>
                </a:cubicBezTo>
                <a:lnTo>
                  <a:pt x="12000" y="12000"/>
                </a:lnTo>
                <a:lnTo>
                  <a:pt x="16414" y="7586"/>
                </a:lnTo>
                <a:cubicBezTo>
                  <a:pt x="16789" y="7211"/>
                  <a:pt x="17000" y="6702"/>
                  <a:pt x="17000" y="6172"/>
                </a:cubicBezTo>
                <a:lnTo>
                  <a:pt x="17000" y="2000"/>
                </a:lnTo>
              </a:path>
            </a:pathLst>
          </a:custGeom>
          <a:noFill/>
          <a:ln w="44450" cap="rnd">
            <a:solidFill>
              <a:schemeClr val="accent1"/>
            </a:solidFill>
            <a:round/>
          </a:ln>
          <a:effectLst/>
        </p:spPr>
      </p:sp>
      <p:sp>
        <p:nvSpPr>
          <p:cNvPr id="56" name="slot.pain.2.icon"/>
          <p:cNvSpPr/>
          <p:nvPr/>
        </p:nvSpPr>
        <p:spPr>
          <a:xfrm>
            <a:off x="3851511" y="1152144"/>
            <a:ext cx="530352" cy="53035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8000" y="13000"/>
                </a:moveTo>
                <a:lnTo>
                  <a:pt x="10000" y="13000"/>
                </a:lnTo>
                <a:moveTo>
                  <a:pt x="14000" y="13000"/>
                </a:moveTo>
                <a:lnTo>
                  <a:pt x="16000" y="13000"/>
                </a:lnTo>
                <a:moveTo>
                  <a:pt x="8000" y="17000"/>
                </a:moveTo>
                <a:lnTo>
                  <a:pt x="10000" y="17000"/>
                </a:lnTo>
                <a:moveTo>
                  <a:pt x="14000" y="17000"/>
                </a:moveTo>
                <a:lnTo>
                  <a:pt x="16000" y="17000"/>
                </a:lnTo>
              </a:path>
            </a:pathLst>
          </a:custGeom>
          <a:noFill/>
          <a:ln w="44450" cap="rnd">
            <a:solidFill>
              <a:schemeClr val="accent1"/>
            </a:solidFill>
            <a:round/>
          </a:ln>
          <a:effectLst/>
        </p:spPr>
      </p:sp>
      <p:sp>
        <p:nvSpPr>
          <p:cNvPr id="57" name="slot.pain.3.icon"/>
          <p:cNvSpPr/>
          <p:nvPr/>
        </p:nvSpPr>
        <p:spPr>
          <a:xfrm>
            <a:off x="6448078" y="1152144"/>
            <a:ext cx="530352" cy="53035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744" y="17736"/>
                </a:moveTo>
                <a:cubicBezTo>
                  <a:pt x="12915" y="20477"/>
                  <a:pt x="10264" y="22250"/>
                  <a:pt x="7414" y="21970"/>
                </a:cubicBezTo>
                <a:cubicBezTo>
                  <a:pt x="4564" y="21690"/>
                  <a:pt x="2310" y="19436"/>
                  <a:pt x="2030" y="16586"/>
                </a:cubicBezTo>
                <a:cubicBezTo>
                  <a:pt x="1750" y="13736"/>
                  <a:pt x="3523" y="11085"/>
                  <a:pt x="6264" y="10256"/>
                </a:cubicBezTo>
                <a:moveTo>
                  <a:pt x="15000" y="6000"/>
                </a:moveTo>
                <a:lnTo>
                  <a:pt x="16000" y="6000"/>
                </a:lnTo>
                <a:lnTo>
                  <a:pt x="16000" y="10000"/>
                </a:lnTo>
                <a:moveTo>
                  <a:pt x="6134" y="14768"/>
                </a:moveTo>
                <a:lnTo>
                  <a:pt x="7000" y="14268"/>
                </a:lnTo>
                <a:lnTo>
                  <a:pt x="9000" y="17732"/>
                </a:lnTo>
                <a:moveTo>
                  <a:pt x="22000" y="8000"/>
                </a:moveTo>
                <a:cubicBezTo>
                  <a:pt x="22000" y="11314"/>
                  <a:pt x="19314" y="14000"/>
                  <a:pt x="16000" y="14000"/>
                </a:cubicBezTo>
                <a:cubicBezTo>
                  <a:pt x="12686" y="14000"/>
                  <a:pt x="10000" y="11314"/>
                  <a:pt x="10000" y="8000"/>
                </a:cubicBezTo>
                <a:cubicBezTo>
                  <a:pt x="10000" y="4686"/>
                  <a:pt x="12686" y="2000"/>
                  <a:pt x="16000" y="2000"/>
                </a:cubicBezTo>
                <a:cubicBezTo>
                  <a:pt x="19314" y="2000"/>
                  <a:pt x="22000" y="4686"/>
                  <a:pt x="22000" y="8000"/>
                </a:cubicBezTo>
                <a:close/>
              </a:path>
            </a:pathLst>
          </a:custGeom>
          <a:noFill/>
          <a:ln w="44450" cap="rnd">
            <a:solidFill>
              <a:schemeClr val="accent1"/>
            </a:solidFill>
            <a:round/>
          </a:ln>
          <a:effectLst/>
        </p:spPr>
      </p:sp>
      <p:sp>
        <p:nvSpPr>
          <p:cNvPr id="58" name="slot.capture.icon.1"/>
          <p:cNvSpPr/>
          <p:nvPr/>
        </p:nvSpPr>
        <p:spPr>
          <a:xfrm>
            <a:off x="742959" y="356616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2540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59" name="slot.capture.icon.2"/>
          <p:cNvSpPr/>
          <p:nvPr/>
        </p:nvSpPr>
        <p:spPr>
          <a:xfrm>
            <a:off x="1474372" y="3447288"/>
            <a:ext cx="530352" cy="53035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7000"/>
                </a:move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lnTo>
                  <a:pt x="7000" y="3000"/>
                </a:lnTo>
                <a:moveTo>
                  <a:pt x="17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7000"/>
                </a:lnTo>
                <a:moveTo>
                  <a:pt x="21000" y="17000"/>
                </a:move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7000" y="21000"/>
                </a:lnTo>
                <a:moveTo>
                  <a:pt x="7000" y="21000"/>
                </a:move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17000"/>
                </a:lnTo>
                <a:moveTo>
                  <a:pt x="15000" y="12000"/>
                </a:moveTo>
                <a:cubicBezTo>
                  <a:pt x="15000" y="13657"/>
                  <a:pt x="13657" y="15000"/>
                  <a:pt x="12000" y="15000"/>
                </a:cubicBezTo>
                <a:cubicBezTo>
                  <a:pt x="10343" y="15000"/>
                  <a:pt x="9000" y="13657"/>
                  <a:pt x="9000" y="12000"/>
                </a:cubicBezTo>
                <a:cubicBezTo>
                  <a:pt x="9000" y="10343"/>
                  <a:pt x="10343" y="9000"/>
                  <a:pt x="12000" y="9000"/>
                </a:cubicBezTo>
                <a:cubicBezTo>
                  <a:pt x="13657" y="9000"/>
                  <a:pt x="15000" y="10343"/>
                  <a:pt x="15000" y="12000"/>
                </a:cubicBezTo>
                <a:close/>
                <a:moveTo>
                  <a:pt x="16000" y="16000"/>
                </a:moveTo>
                <a:lnTo>
                  <a:pt x="14100" y="14100"/>
                </a:lnTo>
              </a:path>
            </a:pathLst>
          </a:custGeom>
          <a:noFill/>
          <a:ln w="44450" cap="rnd">
            <a:solidFill>
              <a:schemeClr val="accent1"/>
            </a:solidFill>
            <a:round/>
          </a:ln>
          <a:effectLst/>
        </p:spPr>
      </p:sp>
      <p:sp>
        <p:nvSpPr>
          <p:cNvPr id="60" name="slot.capture.icon.3"/>
          <p:cNvSpPr/>
          <p:nvPr/>
        </p:nvSpPr>
        <p:spPr>
          <a:xfrm>
            <a:off x="2434384" y="356616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2540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61" name="struct.capture.fan.1"/>
          <p:cNvSpPr/>
          <p:nvPr/>
        </p:nvSpPr>
        <p:spPr>
          <a:xfrm>
            <a:off x="2736117" y="3519726"/>
            <a:ext cx="637810" cy="197310"/>
          </a:xfrm>
          <a:custGeom>
            <a:avLst/>
            <a:gdLst/>
            <a:ahLst/>
            <a:cxnLst/>
            <a:rect l="l" t="t" r="r" b="b"/>
            <a:pathLst>
              <a:path w="637891" h="197310" fill="none">
                <a:moveTo>
                  <a:pt x="0" y="197310"/>
                </a:moveTo>
                <a:lnTo>
                  <a:pt x="320040" y="197310"/>
                </a:lnTo>
                <a:lnTo>
                  <a:pt x="320040" y="0"/>
                </a:lnTo>
                <a:lnTo>
                  <a:pt x="637891" y="0"/>
                </a:lnTo>
              </a:path>
            </a:pathLst>
          </a:custGeom>
          <a:noFill/>
          <a:ln w="12700">
            <a:solidFill>
              <a:schemeClr val="accent1"/>
            </a:solidFill>
            <a:miter lim="800000"/>
            <a:tailEnd type="triangle" w="med" len="med"/>
          </a:ln>
          <a:effectLst/>
        </p:spPr>
      </p:sp>
      <p:sp>
        <p:nvSpPr>
          <p:cNvPr id="62" name="struct.capture.fan.2"/>
          <p:cNvSpPr/>
          <p:nvPr/>
        </p:nvSpPr>
        <p:spPr>
          <a:xfrm>
            <a:off x="2736117" y="3717036"/>
            <a:ext cx="637810" cy="335974"/>
          </a:xfrm>
          <a:custGeom>
            <a:avLst/>
            <a:gdLst/>
            <a:ahLst/>
            <a:cxnLst/>
            <a:rect l="l" t="t" r="r" b="b"/>
            <a:pathLst>
              <a:path w="637891" h="335974" fill="none">
                <a:moveTo>
                  <a:pt x="0" y="0"/>
                </a:moveTo>
                <a:lnTo>
                  <a:pt x="320040" y="0"/>
                </a:lnTo>
                <a:lnTo>
                  <a:pt x="320040" y="335974"/>
                </a:lnTo>
                <a:lnTo>
                  <a:pt x="637891" y="335974"/>
                </a:lnTo>
              </a:path>
            </a:pathLst>
          </a:custGeom>
          <a:noFill/>
          <a:ln w="12700">
            <a:solidFill>
              <a:schemeClr val="accent1"/>
            </a:solidFill>
            <a:miter lim="800000"/>
            <a:tailEnd type="triangle" w="med" len="med"/>
          </a:ln>
          <a:effectLst/>
        </p:spPr>
      </p:sp>
      <p:sp>
        <p:nvSpPr>
          <p:cNvPr id="63" name="struct.capture.fan.3"/>
          <p:cNvSpPr/>
          <p:nvPr/>
        </p:nvSpPr>
        <p:spPr>
          <a:xfrm>
            <a:off x="2736117" y="3717036"/>
            <a:ext cx="637810" cy="869258"/>
          </a:xfrm>
          <a:custGeom>
            <a:avLst/>
            <a:gdLst/>
            <a:ahLst/>
            <a:cxnLst/>
            <a:rect l="l" t="t" r="r" b="b"/>
            <a:pathLst>
              <a:path w="637891" h="869258" fill="none">
                <a:moveTo>
                  <a:pt x="0" y="0"/>
                </a:moveTo>
                <a:lnTo>
                  <a:pt x="320040" y="0"/>
                </a:lnTo>
                <a:lnTo>
                  <a:pt x="320040" y="869258"/>
                </a:lnTo>
                <a:lnTo>
                  <a:pt x="637891" y="869258"/>
                </a:lnTo>
              </a:path>
            </a:pathLst>
          </a:custGeom>
          <a:noFill/>
          <a:ln w="12700">
            <a:solidFill>
              <a:schemeClr val="accent1"/>
            </a:solidFill>
            <a:miter lim="800000"/>
            <a:tailEnd type="triangle" w="med" len="med"/>
          </a:ln>
          <a:effectLst/>
        </p:spPr>
      </p:sp>
      <p:sp>
        <p:nvSpPr>
          <p:cNvPr id="64" name="slot.review.icon"/>
          <p:cNvSpPr/>
          <p:nvPr/>
        </p:nvSpPr>
        <p:spPr>
          <a:xfrm>
            <a:off x="7133801" y="3191256"/>
            <a:ext cx="374904" cy="3749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4000" y="14500"/>
                </a:moveTo>
                <a:cubicBezTo>
                  <a:pt x="14000" y="15881"/>
                  <a:pt x="12881" y="17000"/>
                  <a:pt x="11500" y="17000"/>
                </a:cubicBezTo>
                <a:cubicBezTo>
                  <a:pt x="10119" y="17000"/>
                  <a:pt x="9000" y="15881"/>
                  <a:pt x="9000" y="14500"/>
                </a:cubicBezTo>
                <a:cubicBezTo>
                  <a:pt x="9000" y="13119"/>
                  <a:pt x="10119" y="12000"/>
                  <a:pt x="11500" y="12000"/>
                </a:cubicBezTo>
                <a:cubicBezTo>
                  <a:pt x="12881" y="12000"/>
                  <a:pt x="14000" y="13119"/>
                  <a:pt x="14000" y="14500"/>
                </a:cubicBezTo>
                <a:close/>
                <a:moveTo>
                  <a:pt x="13300" y="16300"/>
                </a:moveTo>
                <a:lnTo>
                  <a:pt x="15000" y="18000"/>
                </a:lnTo>
              </a:path>
            </a:pathLst>
          </a:custGeom>
          <a:noFill/>
          <a:ln w="3111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65" name="struct.review.arrow"/>
          <p:cNvSpPr/>
          <p:nvPr/>
        </p:nvSpPr>
        <p:spPr>
          <a:xfrm>
            <a:off x="7188665" y="4050792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5000"/>
                </a:moveTo>
                <a:lnTo>
                  <a:pt x="12000" y="19000"/>
                </a:lnTo>
                <a:moveTo>
                  <a:pt x="19000" y="12000"/>
                </a:moveTo>
                <a:lnTo>
                  <a:pt x="12000" y="19000"/>
                </a:lnTo>
                <a:lnTo>
                  <a:pt x="5000" y="12000"/>
                </a:lnTo>
              </a:path>
            </a:pathLst>
          </a:custGeom>
          <a:noFill/>
          <a:ln w="21590" cap="rnd">
            <a:solidFill>
              <a:schemeClr val="accent1"/>
            </a:solidFill>
            <a:round/>
          </a:ln>
          <a:effectLst/>
        </p:spPr>
      </p:sp>
      <p:sp>
        <p:nvSpPr>
          <p:cNvPr id="66" name="struct.loop"/>
          <p:cNvSpPr/>
          <p:nvPr/>
        </p:nvSpPr>
        <p:spPr>
          <a:xfrm>
            <a:off x="1597834" y="4791455"/>
            <a:ext cx="5724295" cy="589789"/>
          </a:xfrm>
          <a:custGeom>
            <a:avLst/>
            <a:gdLst/>
            <a:ahLst/>
            <a:cxnLst/>
            <a:rect l="l" t="t" r="r" b="b"/>
            <a:pathLst>
              <a:path w="5725020" h="589789" fill="none">
                <a:moveTo>
                  <a:pt x="5725020" y="370872"/>
                </a:moveTo>
                <a:lnTo>
                  <a:pt x="5725020" y="589789"/>
                </a:lnTo>
                <a:lnTo>
                  <a:pt x="0" y="589789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accent1"/>
            </a:solidFill>
            <a:prstDash val="dash"/>
            <a:miter lim="800000"/>
            <a:tailEnd type="triangle" w="med" len="med"/>
          </a:ln>
          <a:effectLst/>
        </p:spPr>
      </p:sp>
      <p:sp>
        <p:nvSpPr>
          <p:cNvPr id="67" name="slot.loop.label"/>
          <p:cNvSpPr txBox="1"/>
          <p:nvPr/>
        </p:nvSpPr>
        <p:spPr>
          <a:xfrm>
            <a:off x="3165831" y="5294376"/>
            <a:ext cx="2834281" cy="173736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Reviewer decisions retune tolerances</a:t>
            </a:r>
            <a:endParaRPr lang="en-US" sz="1100" b="0" i="1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slot.value.1.icon"/>
          <p:cNvSpPr/>
          <p:nvPr/>
        </p:nvSpPr>
        <p:spPr>
          <a:xfrm>
            <a:off x="1958955" y="5742432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17000"/>
                </a:moveTo>
                <a:lnTo>
                  <a:pt x="14000" y="17000"/>
                </a:lnTo>
                <a:lnTo>
                  <a:pt x="14000" y="19000"/>
                </a:lnTo>
                <a:cubicBezTo>
                  <a:pt x="14000" y="19552"/>
                  <a:pt x="14448" y="20000"/>
                  <a:pt x="15000" y="20000"/>
                </a:cubicBezTo>
                <a:lnTo>
                  <a:pt x="17000" y="20000"/>
                </a:lnTo>
                <a:cubicBezTo>
                  <a:pt x="17552" y="20000"/>
                  <a:pt x="18000" y="19552"/>
                  <a:pt x="18000" y="19000"/>
                </a:cubicBezTo>
                <a:lnTo>
                  <a:pt x="18000" y="16000"/>
                </a:lnTo>
                <a:cubicBezTo>
                  <a:pt x="18944" y="15686"/>
                  <a:pt x="19686" y="14944"/>
                  <a:pt x="20000" y="14000"/>
                </a:cubicBezTo>
                <a:lnTo>
                  <a:pt x="21000" y="14000"/>
                </a:lnTo>
                <a:cubicBezTo>
                  <a:pt x="21552" y="14000"/>
                  <a:pt x="22000" y="13552"/>
                  <a:pt x="22000" y="13000"/>
                </a:cubicBezTo>
                <a:lnTo>
                  <a:pt x="22000" y="11000"/>
                </a:lnTo>
                <a:cubicBezTo>
                  <a:pt x="22000" y="10448"/>
                  <a:pt x="21552" y="10000"/>
                  <a:pt x="21000" y="10000"/>
                </a:cubicBezTo>
                <a:lnTo>
                  <a:pt x="20000" y="10000"/>
                </a:lnTo>
                <a:cubicBezTo>
                  <a:pt x="20000" y="8426"/>
                  <a:pt x="19259" y="6944"/>
                  <a:pt x="18000" y="6000"/>
                </a:cubicBezTo>
                <a:lnTo>
                  <a:pt x="18000" y="3000"/>
                </a:lnTo>
                <a:cubicBezTo>
                  <a:pt x="16741" y="3000"/>
                  <a:pt x="15555" y="3593"/>
                  <a:pt x="14800" y="4600"/>
                </a:cubicBezTo>
                <a:lnTo>
                  <a:pt x="14500" y="5000"/>
                </a:lnTo>
                <a:lnTo>
                  <a:pt x="11000" y="5000"/>
                </a:lnTo>
                <a:cubicBezTo>
                  <a:pt x="7686" y="5000"/>
                  <a:pt x="5000" y="7686"/>
                  <a:pt x="5000" y="11000"/>
                </a:cubicBezTo>
                <a:lnTo>
                  <a:pt x="5000" y="12000"/>
                </a:lnTo>
                <a:cubicBezTo>
                  <a:pt x="5000" y="13574"/>
                  <a:pt x="5741" y="15056"/>
                  <a:pt x="7000" y="16000"/>
                </a:cubicBezTo>
                <a:lnTo>
                  <a:pt x="7000" y="19000"/>
                </a:lnTo>
                <a:cubicBezTo>
                  <a:pt x="7000" y="19552"/>
                  <a:pt x="7448" y="20000"/>
                  <a:pt x="8000" y="20000"/>
                </a:cubicBezTo>
                <a:lnTo>
                  <a:pt x="10000" y="20000"/>
                </a:lnTo>
                <a:cubicBezTo>
                  <a:pt x="10552" y="20000"/>
                  <a:pt x="11000" y="19552"/>
                  <a:pt x="11000" y="19000"/>
                </a:cubicBezTo>
                <a:close/>
                <a:moveTo>
                  <a:pt x="16000" y="10000"/>
                </a:moveTo>
                <a:lnTo>
                  <a:pt x="16010" y="10000"/>
                </a:lnTo>
                <a:moveTo>
                  <a:pt x="2000" y="8000"/>
                </a:moveTo>
                <a:lnTo>
                  <a:pt x="2000" y="9000"/>
                </a:lnTo>
                <a:cubicBezTo>
                  <a:pt x="2000" y="10105"/>
                  <a:pt x="2895" y="11000"/>
                  <a:pt x="4000" y="11000"/>
                </a:cubicBezTo>
                <a:lnTo>
                  <a:pt x="5000" y="11000"/>
                </a:lnTo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</p:sp>
      <p:sp>
        <p:nvSpPr>
          <p:cNvPr id="69" name="slot.value.2.icon"/>
          <p:cNvSpPr/>
          <p:nvPr/>
        </p:nvSpPr>
        <p:spPr>
          <a:xfrm>
            <a:off x="4116666" y="5742432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830" y="2180"/>
                </a:moveTo>
                <a:cubicBezTo>
                  <a:pt x="12303" y="1940"/>
                  <a:pt x="11697" y="1940"/>
                  <a:pt x="11170" y="2180"/>
                </a:cubicBezTo>
                <a:lnTo>
                  <a:pt x="2600" y="6080"/>
                </a:lnTo>
                <a:cubicBezTo>
                  <a:pt x="2237" y="6240"/>
                  <a:pt x="2003" y="6599"/>
                  <a:pt x="2003" y="6995"/>
                </a:cubicBezTo>
                <a:cubicBezTo>
                  <a:pt x="2003" y="7391"/>
                  <a:pt x="2237" y="7750"/>
                  <a:pt x="2600" y="7910"/>
                </a:cubicBezTo>
                <a:lnTo>
                  <a:pt x="11180" y="11820"/>
                </a:lnTo>
                <a:cubicBezTo>
                  <a:pt x="11707" y="12060"/>
                  <a:pt x="12313" y="12060"/>
                  <a:pt x="12840" y="11820"/>
                </a:cubicBezTo>
                <a:lnTo>
                  <a:pt x="21420" y="7920"/>
                </a:lnTo>
                <a:cubicBezTo>
                  <a:pt x="21783" y="7760"/>
                  <a:pt x="22017" y="7401"/>
                  <a:pt x="22017" y="7005"/>
                </a:cubicBezTo>
                <a:cubicBezTo>
                  <a:pt x="22017" y="6609"/>
                  <a:pt x="21783" y="6250"/>
                  <a:pt x="21420" y="6090"/>
                </a:cubicBezTo>
                <a:close/>
                <a:moveTo>
                  <a:pt x="2000" y="12000"/>
                </a:moveTo>
                <a:cubicBezTo>
                  <a:pt x="1999" y="12391"/>
                  <a:pt x="2226" y="12746"/>
                  <a:pt x="2580" y="12910"/>
                </a:cubicBezTo>
                <a:lnTo>
                  <a:pt x="11180" y="16820"/>
                </a:lnTo>
                <a:cubicBezTo>
                  <a:pt x="11704" y="17057"/>
                  <a:pt x="12306" y="17057"/>
                  <a:pt x="12830" y="16820"/>
                </a:cubicBezTo>
                <a:lnTo>
                  <a:pt x="21410" y="12920"/>
                </a:lnTo>
                <a:cubicBezTo>
                  <a:pt x="21772" y="12757"/>
                  <a:pt x="22003" y="12397"/>
                  <a:pt x="22000" y="12000"/>
                </a:cubicBezTo>
                <a:moveTo>
                  <a:pt x="2000" y="17000"/>
                </a:moveTo>
                <a:cubicBezTo>
                  <a:pt x="1999" y="17391"/>
                  <a:pt x="2226" y="17746"/>
                  <a:pt x="2580" y="17910"/>
                </a:cubicBezTo>
                <a:lnTo>
                  <a:pt x="11180" y="21820"/>
                </a:lnTo>
                <a:cubicBezTo>
                  <a:pt x="11704" y="22057"/>
                  <a:pt x="12306" y="22057"/>
                  <a:pt x="12830" y="21820"/>
                </a:cubicBezTo>
                <a:lnTo>
                  <a:pt x="21410" y="17920"/>
                </a:lnTo>
                <a:cubicBezTo>
                  <a:pt x="21772" y="17757"/>
                  <a:pt x="22003" y="17397"/>
                  <a:pt x="22000" y="17000"/>
                </a:cubicBezTo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</p:sp>
      <p:sp>
        <p:nvSpPr>
          <p:cNvPr id="70" name="slot.value.3.icon"/>
          <p:cNvSpPr/>
          <p:nvPr/>
        </p:nvSpPr>
        <p:spPr>
          <a:xfrm>
            <a:off x="6228662" y="5742432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000" y="2000"/>
                </a:moveTo>
                <a:lnTo>
                  <a:pt x="14000" y="2000"/>
                </a:lnTo>
                <a:moveTo>
                  <a:pt x="12000" y="14000"/>
                </a:moveTo>
                <a:lnTo>
                  <a:pt x="15000" y="11000"/>
                </a:lnTo>
                <a:moveTo>
                  <a:pt x="20000" y="14000"/>
                </a:moveTo>
                <a:cubicBezTo>
                  <a:pt x="20000" y="18418"/>
                  <a:pt x="16418" y="22000"/>
                  <a:pt x="12000" y="22000"/>
                </a:cubicBezTo>
                <a:cubicBezTo>
                  <a:pt x="7582" y="22000"/>
                  <a:pt x="4000" y="18418"/>
                  <a:pt x="4000" y="14000"/>
                </a:cubicBezTo>
                <a:cubicBezTo>
                  <a:pt x="4000" y="9582"/>
                  <a:pt x="7582" y="6000"/>
                  <a:pt x="12000" y="6000"/>
                </a:cubicBezTo>
                <a:cubicBezTo>
                  <a:pt x="16418" y="6000"/>
                  <a:pt x="20000" y="9582"/>
                  <a:pt x="20000" y="14000"/>
                </a:cubicBezTo>
                <a:close/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ase-study:context-flow-results-rail">
    <p:spTree>
      <p:nvGrpSpPr>
        <p:cNvPr id="1" name=""/>
        <p:cNvGrpSpPr/>
        <p:nvPr/>
      </p:nvGrpSpPr>
      <p:grpSpPr/>
      <p:sp>
        <p:nvSpPr>
          <p:cNvPr id="2" name="slot.title"/>
          <p:cNvSpPr txBox="1"/>
          <p:nvPr/>
        </p:nvSpPr>
        <p:spPr>
          <a:xfrm>
            <a:off x="457200" y="256032"/>
            <a:ext cx="11338560" cy="51206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Weekly demand sensing </a:t>
            </a:r>
            <a:r>
              <a:rPr lang="en-US" sz="2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cut stockouts by a third</a:t>
            </a:r>
            <a:r>
              <a:rPr lang="en-US" sz="2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across twelve plants</a:t>
            </a:r>
            <a:endParaRPr lang="en-US" sz="2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ot.context.head"/>
          <p:cNvSpPr/>
          <p:nvPr/>
        </p:nvSpPr>
        <p:spPr>
          <a:xfrm>
            <a:off x="457200" y="954414"/>
            <a:ext cx="2200409" cy="439094"/>
          </a:xfrm>
          <a:prstGeom prst="round2SameRect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  <a:effectLst/>
        </p:spPr>
        <p:txBody>
          <a:bodyPr rtlCol="0" anchor="ctr" wrap="square" lIns="91440" tIns="45720" rIns="91440" bIns="4572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Starting point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truct.context.frame"/>
          <p:cNvSpPr/>
          <p:nvPr/>
        </p:nvSpPr>
        <p:spPr>
          <a:xfrm>
            <a:off x="457200" y="1393506"/>
            <a:ext cx="2200409" cy="3723879"/>
          </a:xfrm>
          <a:prstGeom prst="rect">
            <a:avLst/>
          </a:prstGeom>
          <a:noFill/>
          <a:ln w="6350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slot.build.head"/>
          <p:cNvSpPr/>
          <p:nvPr/>
        </p:nvSpPr>
        <p:spPr>
          <a:xfrm>
            <a:off x="2787982" y="954414"/>
            <a:ext cx="6826622" cy="439094"/>
          </a:xfrm>
          <a:prstGeom prst="round2SameRect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  <a:effectLst/>
        </p:spPr>
        <p:txBody>
          <a:bodyPr rtlCol="0" anchor="ctr" wrap="square" lIns="91440" tIns="45720" rIns="91440" bIns="4572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What was built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truct.build.frame"/>
          <p:cNvSpPr/>
          <p:nvPr/>
        </p:nvSpPr>
        <p:spPr>
          <a:xfrm>
            <a:off x="2787982" y="1393508"/>
            <a:ext cx="6826622" cy="4784554"/>
          </a:xfrm>
          <a:prstGeom prst="rect">
            <a:avLst/>
          </a:prstGeom>
          <a:noFill/>
          <a:ln w="6350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struct.results.rail"/>
          <p:cNvSpPr/>
          <p:nvPr/>
        </p:nvSpPr>
        <p:spPr>
          <a:xfrm>
            <a:off x="9744978" y="954414"/>
            <a:ext cx="2050782" cy="5223648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slot.results.head"/>
          <p:cNvSpPr txBox="1"/>
          <p:nvPr/>
        </p:nvSpPr>
        <p:spPr>
          <a:xfrm>
            <a:off x="9922618" y="1024128"/>
            <a:ext cx="1688227" cy="292608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Reported results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slot.context.line.1"/>
          <p:cNvSpPr txBox="1"/>
          <p:nvPr/>
        </p:nvSpPr>
        <p:spPr>
          <a:xfrm>
            <a:off x="610137" y="3017520"/>
            <a:ext cx="1887910" cy="38404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Monthly forecast built by hand in spreadsheets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lot.context.line.2"/>
          <p:cNvSpPr txBox="1"/>
          <p:nvPr/>
        </p:nvSpPr>
        <p:spPr>
          <a:xfrm>
            <a:off x="610137" y="3511296"/>
            <a:ext cx="1887910" cy="38404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order in eight shipped short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ot.context.line.3"/>
          <p:cNvSpPr txBox="1"/>
          <p:nvPr/>
        </p:nvSpPr>
        <p:spPr>
          <a:xfrm>
            <a:off x="610137" y="4005072"/>
            <a:ext cx="1887910" cy="38404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Planners reconciled four separate data sources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lot.context.line.4"/>
          <p:cNvSpPr txBox="1"/>
          <p:nvPr/>
        </p:nvSpPr>
        <p:spPr>
          <a:xfrm>
            <a:off x="610137" y="4498848"/>
            <a:ext cx="1887910" cy="38404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Excess stock held to cover forecast error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struct.engagement.card"/>
          <p:cNvSpPr/>
          <p:nvPr/>
        </p:nvSpPr>
        <p:spPr>
          <a:xfrm>
            <a:off x="457200" y="5229050"/>
            <a:ext cx="2200409" cy="949012"/>
          </a:xfrm>
          <a:prstGeom prst="rect">
            <a:avLst/>
          </a:prstGeom>
          <a:noFill/>
          <a:ln w="6350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slot.engagement.head"/>
          <p:cNvSpPr txBox="1"/>
          <p:nvPr/>
        </p:nvSpPr>
        <p:spPr>
          <a:xfrm>
            <a:off x="591985" y="5358384"/>
            <a:ext cx="1942369" cy="237744"/>
          </a:xfrm>
          <a:prstGeom prst="rect">
            <a:avLst/>
          </a:prstGeom>
          <a:noFill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Engagement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lot.engagement.body"/>
          <p:cNvSpPr txBox="1"/>
          <p:nvPr/>
        </p:nvSpPr>
        <p:spPr>
          <a:xfrm>
            <a:off x="591985" y="5596128"/>
            <a:ext cx="1942369" cy="438912"/>
          </a:xfrm>
          <a:prstGeom prst="rect">
            <a:avLst/>
          </a:prstGeom>
          <a:noFill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Sixteen weeks with one central planning team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6" name="struct.context.rule.1"/>
          <p:cNvCxnSpPr>
            <a:cxnSpLocks/>
          </p:cNvCxnSpPr>
          <p:nvPr/>
        </p:nvCxnSpPr>
        <p:spPr>
          <a:xfrm>
            <a:off x="610137" y="3456432"/>
            <a:ext cx="1887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7" name="struct.context.rule.2"/>
          <p:cNvCxnSpPr>
            <a:cxnSpLocks/>
          </p:cNvCxnSpPr>
          <p:nvPr/>
        </p:nvCxnSpPr>
        <p:spPr>
          <a:xfrm>
            <a:off x="610137" y="3950208"/>
            <a:ext cx="1887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8" name="struct.context.rule.3"/>
          <p:cNvCxnSpPr>
            <a:cxnSpLocks/>
          </p:cNvCxnSpPr>
          <p:nvPr/>
        </p:nvCxnSpPr>
        <p:spPr>
          <a:xfrm>
            <a:off x="610137" y="4443984"/>
            <a:ext cx="1887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19" name="slot.result.1"/>
          <p:cNvSpPr txBox="1"/>
          <p:nvPr/>
        </p:nvSpPr>
        <p:spPr>
          <a:xfrm>
            <a:off x="9925401" y="1767252"/>
            <a:ext cx="1689935" cy="1433148"/>
          </a:xfrm>
          <a:prstGeom prst="rect">
            <a:avLst/>
          </a:prstGeom>
          <a:solidFill>
            <a:schemeClr val="bg1"/>
          </a:solidFill>
          <a:ln/>
          <a:effectLst/>
        </p:spPr>
        <p:txBody>
          <a:bodyPr wrap="square" lIns="108000" tIns="180000" rIns="108000" bIns="10800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33%</a:t>
            </a:r>
            <a:endParaRPr lang="en-US" sz="2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fewer stockouts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lot.results.close"/>
          <p:cNvSpPr txBox="1"/>
          <p:nvPr/>
        </p:nvSpPr>
        <p:spPr>
          <a:xfrm>
            <a:off x="9886312" y="4937760"/>
            <a:ext cx="1760839" cy="56692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Planning cycle time fell from five days to two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lot.context.fig.1"/>
          <p:cNvSpPr txBox="1"/>
          <p:nvPr/>
        </p:nvSpPr>
        <p:spPr>
          <a:xfrm>
            <a:off x="602694" y="2286000"/>
            <a:ext cx="862267" cy="56692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12</a:t>
            </a:r>
            <a:endParaRPr lang="en-US" sz="15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plants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lot.context.fig.2"/>
          <p:cNvSpPr txBox="1"/>
          <p:nvPr/>
        </p:nvSpPr>
        <p:spPr>
          <a:xfrm>
            <a:off x="1644246" y="2286000"/>
            <a:ext cx="862267" cy="56692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9 wk</a:t>
            </a:r>
            <a:endParaRPr lang="en-US" sz="15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plan lag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3" name="struct.context.divider"/>
          <p:cNvCxnSpPr>
            <a:cxnSpLocks/>
          </p:cNvCxnSpPr>
          <p:nvPr/>
        </p:nvCxnSpPr>
        <p:spPr>
          <a:xfrm flipV="1">
            <a:off x="1554093" y="2340864"/>
            <a:ext cx="0" cy="4572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24" name="slot.result.1.detail"/>
          <p:cNvSpPr txBox="1"/>
          <p:nvPr/>
        </p:nvSpPr>
        <p:spPr>
          <a:xfrm>
            <a:off x="10004306" y="2699940"/>
            <a:ext cx="1524851" cy="38404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Two quarters after go-live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slot.result.2"/>
          <p:cNvSpPr txBox="1"/>
          <p:nvPr/>
        </p:nvSpPr>
        <p:spPr>
          <a:xfrm>
            <a:off x="9925401" y="3331939"/>
            <a:ext cx="1689935" cy="1433148"/>
          </a:xfrm>
          <a:prstGeom prst="rect">
            <a:avLst/>
          </a:prstGeom>
          <a:solidFill>
            <a:schemeClr val="bg1"/>
          </a:solidFill>
          <a:ln/>
          <a:effectLst/>
        </p:spPr>
        <p:txBody>
          <a:bodyPr wrap="square" lIns="108000" tIns="180000" rIns="108000" bIns="10800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4 pts</a:t>
            </a:r>
            <a:endParaRPr lang="en-US" sz="2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accuracy gain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slot.result.2.detail"/>
          <p:cNvSpPr txBox="1"/>
          <p:nvPr/>
        </p:nvSpPr>
        <p:spPr>
          <a:xfrm>
            <a:off x="10004306" y="4264627"/>
            <a:ext cx="1524851" cy="38404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Measured at item and week level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lot.platform"/>
          <p:cNvSpPr/>
          <p:nvPr/>
        </p:nvSpPr>
        <p:spPr>
          <a:xfrm>
            <a:off x="2941804" y="5720853"/>
            <a:ext cx="6518979" cy="3069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5000"/>
              </a:schemeClr>
            </a:solidFill>
          </a:ln>
          <a:effectLst/>
        </p:spPr>
        <p:txBody>
          <a:bodyPr wrap="square" lIns="36000" tIns="72000" rIns="36000" bIns="7200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Governed cloud data platform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truct.inputs.frame"/>
          <p:cNvSpPr/>
          <p:nvPr/>
        </p:nvSpPr>
        <p:spPr>
          <a:xfrm>
            <a:off x="2941804" y="5303828"/>
            <a:ext cx="6518979" cy="335157"/>
          </a:xfrm>
          <a:prstGeom prst="rect">
            <a:avLst/>
          </a:prstGeom>
          <a:noFill/>
          <a:ln w="6350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slot.input.1"/>
          <p:cNvSpPr txBox="1"/>
          <p:nvPr/>
        </p:nvSpPr>
        <p:spPr>
          <a:xfrm>
            <a:off x="2997255" y="5321808"/>
            <a:ext cx="1361473" cy="301752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Order history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slot.input.2"/>
          <p:cNvSpPr txBox="1"/>
          <p:nvPr/>
        </p:nvSpPr>
        <p:spPr>
          <a:xfrm>
            <a:off x="4467645" y="5321808"/>
            <a:ext cx="1406855" cy="301752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Promotion calendar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lot.input.3"/>
          <p:cNvSpPr txBox="1"/>
          <p:nvPr/>
        </p:nvSpPr>
        <p:spPr>
          <a:xfrm>
            <a:off x="5983420" y="5321808"/>
            <a:ext cx="1588386" cy="301752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Inventory positions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lot.input.4"/>
          <p:cNvSpPr txBox="1"/>
          <p:nvPr/>
        </p:nvSpPr>
        <p:spPr>
          <a:xfrm>
            <a:off x="7680724" y="5321808"/>
            <a:ext cx="1724532" cy="301752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Plant capacity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3" name="struct.inputs.rule.1"/>
          <p:cNvCxnSpPr>
            <a:cxnSpLocks/>
          </p:cNvCxnSpPr>
          <p:nvPr/>
        </p:nvCxnSpPr>
        <p:spPr>
          <a:xfrm>
            <a:off x="4412907" y="5363720"/>
            <a:ext cx="0" cy="215373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34" name="struct.inputs.rule.2"/>
          <p:cNvCxnSpPr>
            <a:cxnSpLocks/>
          </p:cNvCxnSpPr>
          <p:nvPr/>
        </p:nvCxnSpPr>
        <p:spPr>
          <a:xfrm>
            <a:off x="5925792" y="5363720"/>
            <a:ext cx="0" cy="215373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35" name="struct.inputs.rule.3"/>
          <p:cNvCxnSpPr>
            <a:cxnSpLocks/>
          </p:cNvCxnSpPr>
          <p:nvPr/>
        </p:nvCxnSpPr>
        <p:spPr>
          <a:xfrm>
            <a:off x="7625099" y="5363720"/>
            <a:ext cx="0" cy="215373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36" name="struct.enablers.frame"/>
          <p:cNvSpPr/>
          <p:nvPr/>
        </p:nvSpPr>
        <p:spPr>
          <a:xfrm>
            <a:off x="2942796" y="4005072"/>
            <a:ext cx="6516921" cy="1179576"/>
          </a:xfrm>
          <a:prstGeom prst="rect">
            <a:avLst/>
          </a:prstGeom>
          <a:noFill/>
          <a:ln w="6350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slot.enablers.head"/>
          <p:cNvSpPr txBox="1"/>
          <p:nvPr/>
        </p:nvSpPr>
        <p:spPr>
          <a:xfrm>
            <a:off x="3106173" y="4041648"/>
            <a:ext cx="6190167" cy="237744"/>
          </a:xfrm>
          <a:prstGeom prst="rect">
            <a:avLst/>
          </a:prstGeom>
          <a:solidFill>
            <a:schemeClr val="bg1"/>
          </a:solidFill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What made it stick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lot.enabler.1.label"/>
          <p:cNvSpPr txBox="1"/>
          <p:nvPr/>
        </p:nvSpPr>
        <p:spPr>
          <a:xfrm>
            <a:off x="3015408" y="4736592"/>
            <a:ext cx="1161791" cy="3657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Shared data model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slot.enabler.2.label"/>
          <p:cNvSpPr txBox="1"/>
          <p:nvPr/>
        </p:nvSpPr>
        <p:spPr>
          <a:xfrm>
            <a:off x="4318792" y="4736592"/>
            <a:ext cx="1161791" cy="3657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Accuracy dashboard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slot.enabler.3.label"/>
          <p:cNvSpPr txBox="1"/>
          <p:nvPr/>
        </p:nvSpPr>
        <p:spPr>
          <a:xfrm>
            <a:off x="5622175" y="4736592"/>
            <a:ext cx="1161791" cy="3657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Planner playbook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lot.enabler.4.label"/>
          <p:cNvSpPr txBox="1"/>
          <p:nvPr/>
        </p:nvSpPr>
        <p:spPr>
          <a:xfrm>
            <a:off x="6925560" y="4736592"/>
            <a:ext cx="1161791" cy="3657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Weekly review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slot.enabler.5.label"/>
          <p:cNvSpPr txBox="1"/>
          <p:nvPr/>
        </p:nvSpPr>
        <p:spPr>
          <a:xfrm>
            <a:off x="8228944" y="4736592"/>
            <a:ext cx="1161791" cy="3657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Model monitoring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3" name="struct.enablers.rule.1"/>
          <p:cNvCxnSpPr>
            <a:cxnSpLocks/>
          </p:cNvCxnSpPr>
          <p:nvPr/>
        </p:nvCxnSpPr>
        <p:spPr>
          <a:xfrm>
            <a:off x="4245601" y="4385156"/>
            <a:ext cx="0" cy="755649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44" name="struct.enablers.rule.2"/>
          <p:cNvCxnSpPr>
            <a:cxnSpLocks/>
          </p:cNvCxnSpPr>
          <p:nvPr/>
        </p:nvCxnSpPr>
        <p:spPr>
          <a:xfrm>
            <a:off x="5549398" y="4385156"/>
            <a:ext cx="0" cy="755649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45" name="struct.enablers.rule.3"/>
          <p:cNvCxnSpPr>
            <a:cxnSpLocks/>
          </p:cNvCxnSpPr>
          <p:nvPr/>
        </p:nvCxnSpPr>
        <p:spPr>
          <a:xfrm>
            <a:off x="6853194" y="4385156"/>
            <a:ext cx="0" cy="755649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46" name="struct.enablers.rule.4"/>
          <p:cNvCxnSpPr>
            <a:cxnSpLocks/>
          </p:cNvCxnSpPr>
          <p:nvPr/>
        </p:nvCxnSpPr>
        <p:spPr>
          <a:xfrm>
            <a:off x="8156991" y="4385156"/>
            <a:ext cx="0" cy="755649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47" name="struct.enablers.rule.5"/>
          <p:cNvCxnSpPr>
            <a:cxnSpLocks/>
          </p:cNvCxnSpPr>
          <p:nvPr/>
        </p:nvCxnSpPr>
        <p:spPr>
          <a:xfrm>
            <a:off x="9460783" y="4385156"/>
            <a:ext cx="0" cy="755649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48" name="struct.enablers.rule.6"/>
          <p:cNvCxnSpPr>
            <a:cxnSpLocks/>
          </p:cNvCxnSpPr>
          <p:nvPr/>
        </p:nvCxnSpPr>
        <p:spPr>
          <a:xfrm>
            <a:off x="2941804" y="4385156"/>
            <a:ext cx="0" cy="755649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49" name="slot.build.scope"/>
          <p:cNvSpPr/>
          <p:nvPr/>
        </p:nvSpPr>
        <p:spPr>
          <a:xfrm>
            <a:off x="2941804" y="1500863"/>
            <a:ext cx="6518979" cy="33113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  <a:effectLst/>
        </p:spPr>
        <p:txBody>
          <a:bodyPr wrap="square" lIns="36000" tIns="72000" rIns="36000" bIns="7200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One weekly planning cycle replaced the monthly spreadsheet forecast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slot.step.1"/>
          <p:cNvSpPr txBox="1"/>
          <p:nvPr/>
        </p:nvSpPr>
        <p:spPr>
          <a:xfrm>
            <a:off x="2997255" y="2743200"/>
            <a:ext cx="1152714" cy="10607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Audit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Map data sources and forecast error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slot.step.2"/>
          <p:cNvSpPr txBox="1"/>
          <p:nvPr/>
        </p:nvSpPr>
        <p:spPr>
          <a:xfrm>
            <a:off x="4258887" y="2743200"/>
            <a:ext cx="1179943" cy="10607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Model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Train demand models on order history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slot.step.3"/>
          <p:cNvSpPr txBox="1"/>
          <p:nvPr/>
        </p:nvSpPr>
        <p:spPr>
          <a:xfrm>
            <a:off x="5547749" y="2743200"/>
            <a:ext cx="1179943" cy="10607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Sense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Add weekly orders and promotion signals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slot.step.4"/>
          <p:cNvSpPr txBox="1"/>
          <p:nvPr/>
        </p:nvSpPr>
        <p:spPr>
          <a:xfrm>
            <a:off x="6836611" y="2743200"/>
            <a:ext cx="1225325" cy="10607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Plan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Review exceptions, not every line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slot.step.5"/>
          <p:cNvSpPr txBox="1"/>
          <p:nvPr/>
        </p:nvSpPr>
        <p:spPr>
          <a:xfrm>
            <a:off x="8170855" y="2743200"/>
            <a:ext cx="1234403" cy="10607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Scale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Roll out plant by plant over six weeks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5" name="struct.step.rule.1"/>
          <p:cNvCxnSpPr>
            <a:cxnSpLocks/>
          </p:cNvCxnSpPr>
          <p:nvPr/>
        </p:nvCxnSpPr>
        <p:spPr>
          <a:xfrm>
            <a:off x="4201581" y="2749119"/>
            <a:ext cx="0" cy="1062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56" name="struct.step.rule.2"/>
          <p:cNvCxnSpPr>
            <a:cxnSpLocks/>
          </p:cNvCxnSpPr>
          <p:nvPr/>
        </p:nvCxnSpPr>
        <p:spPr>
          <a:xfrm>
            <a:off x="5496350" y="2749119"/>
            <a:ext cx="0" cy="1062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57" name="struct.step.rule.3"/>
          <p:cNvCxnSpPr>
            <a:cxnSpLocks/>
          </p:cNvCxnSpPr>
          <p:nvPr/>
        </p:nvCxnSpPr>
        <p:spPr>
          <a:xfrm>
            <a:off x="6781073" y="2749119"/>
            <a:ext cx="0" cy="1062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58" name="struct.step.rule.4"/>
          <p:cNvCxnSpPr>
            <a:cxnSpLocks/>
          </p:cNvCxnSpPr>
          <p:nvPr/>
        </p:nvCxnSpPr>
        <p:spPr>
          <a:xfrm>
            <a:off x="8117755" y="2749119"/>
            <a:ext cx="0" cy="1062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59" name="struct.step.1.disc"/>
          <p:cNvSpPr/>
          <p:nvPr/>
        </p:nvSpPr>
        <p:spPr>
          <a:xfrm>
            <a:off x="3306958" y="2064857"/>
            <a:ext cx="573489" cy="573489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0" name="struct.step.2.disc"/>
          <p:cNvSpPr/>
          <p:nvPr/>
        </p:nvSpPr>
        <p:spPr>
          <a:xfrm>
            <a:off x="4562221" y="2064857"/>
            <a:ext cx="573489" cy="573489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1" name="struct.step.3.disc"/>
          <p:cNvSpPr/>
          <p:nvPr/>
        </p:nvSpPr>
        <p:spPr>
          <a:xfrm>
            <a:off x="5851968" y="2064857"/>
            <a:ext cx="573489" cy="573489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2" name="struct.step.4.disc"/>
          <p:cNvSpPr/>
          <p:nvPr/>
        </p:nvSpPr>
        <p:spPr>
          <a:xfrm>
            <a:off x="7162670" y="2064857"/>
            <a:ext cx="573489" cy="573489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3" name="struct.step.5.disc"/>
          <p:cNvSpPr/>
          <p:nvPr/>
        </p:nvSpPr>
        <p:spPr>
          <a:xfrm>
            <a:off x="8562413" y="2064857"/>
            <a:ext cx="573489" cy="573489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64" name="struct.chevron.1"/>
          <p:cNvGrpSpPr/>
          <p:nvPr/>
        </p:nvGrpSpPr>
        <p:grpSpPr>
          <a:xfrm>
            <a:off x="4111786" y="2271484"/>
            <a:ext cx="219094" cy="178960"/>
            <a:chOff x="4122053" y="2271484"/>
            <a:chExt cx="220724" cy="178960"/>
          </a:xfrm>
          <a:solidFill>
            <a:schemeClr val="tx1">
              <a:lumMod val="90000"/>
              <a:lumOff val="10000"/>
            </a:schemeClr>
          </a:solidFill>
          <a:effectLst/>
        </p:grpSpPr>
        <p:sp>
          <p:nvSpPr>
            <p:cNvPr id="65" name="struct.chevron.1.1"/>
            <p:cNvSpPr/>
            <p:nvPr/>
          </p:nvSpPr>
          <p:spPr>
            <a:xfrm>
              <a:off x="4205939" y="2271484"/>
              <a:ext cx="136838" cy="178960"/>
            </a:xfrm>
            <a:prstGeom prst="chevron">
              <a:avLst/>
            </a:prstGeom>
            <a:grpFill/>
            <a:ln>
              <a:noFill/>
            </a:ln>
          </p:spPr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90000"/>
                    <a:lumOff val="10000"/>
                  </a:schemeClr>
                </a:solidFill>
              </a:endParaRPr>
            </a:p>
          </p:txBody>
        </p:sp>
        <p:sp>
          <p:nvSpPr>
            <p:cNvPr id="66" name="struct.chevron.1.2"/>
            <p:cNvSpPr/>
            <p:nvPr/>
          </p:nvSpPr>
          <p:spPr>
            <a:xfrm>
              <a:off x="4122053" y="2271484"/>
              <a:ext cx="136838" cy="178960"/>
            </a:xfrm>
            <a:prstGeom prst="chevron">
              <a:avLst/>
            </a:prstGeom>
            <a:grpFill/>
            <a:ln>
              <a:noFill/>
            </a:ln>
          </p:spPr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90000"/>
                    <a:lumOff val="10000"/>
                  </a:schemeClr>
                </a:solidFill>
              </a:endParaRPr>
            </a:p>
          </p:txBody>
        </p:sp>
      </p:grpSp>
      <p:grpSp>
        <p:nvGrpSpPr>
          <p:cNvPr id="67" name="struct.chevron.2"/>
          <p:cNvGrpSpPr/>
          <p:nvPr/>
        </p:nvGrpSpPr>
        <p:grpSpPr>
          <a:xfrm>
            <a:off x="5384292" y="2271484"/>
            <a:ext cx="219094" cy="178960"/>
            <a:chOff x="5404023" y="2271484"/>
            <a:chExt cx="220724" cy="178960"/>
          </a:xfrm>
          <a:solidFill>
            <a:schemeClr val="tx1">
              <a:lumMod val="90000"/>
              <a:lumOff val="10000"/>
            </a:schemeClr>
          </a:solidFill>
          <a:effectLst/>
        </p:grpSpPr>
        <p:sp>
          <p:nvSpPr>
            <p:cNvPr id="68" name="struct.chevron.2.1"/>
            <p:cNvSpPr/>
            <p:nvPr/>
          </p:nvSpPr>
          <p:spPr>
            <a:xfrm>
              <a:off x="5487909" y="2271484"/>
              <a:ext cx="136838" cy="178960"/>
            </a:xfrm>
            <a:prstGeom prst="chevron">
              <a:avLst/>
            </a:prstGeom>
            <a:grpFill/>
            <a:ln>
              <a:noFill/>
            </a:ln>
          </p:spPr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90000"/>
                    <a:lumOff val="10000"/>
                  </a:schemeClr>
                </a:solidFill>
              </a:endParaRPr>
            </a:p>
          </p:txBody>
        </p:sp>
        <p:sp>
          <p:nvSpPr>
            <p:cNvPr id="69" name="struct.chevron.2.2"/>
            <p:cNvSpPr/>
            <p:nvPr/>
          </p:nvSpPr>
          <p:spPr>
            <a:xfrm>
              <a:off x="5404023" y="2271484"/>
              <a:ext cx="136838" cy="178960"/>
            </a:xfrm>
            <a:prstGeom prst="chevron">
              <a:avLst/>
            </a:prstGeom>
            <a:grpFill/>
            <a:ln>
              <a:noFill/>
            </a:ln>
          </p:spPr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90000"/>
                    <a:lumOff val="10000"/>
                  </a:schemeClr>
                </a:solidFill>
              </a:endParaRPr>
            </a:p>
          </p:txBody>
        </p:sp>
      </p:grpSp>
      <p:grpSp>
        <p:nvGrpSpPr>
          <p:cNvPr id="70" name="struct.chevron.3"/>
          <p:cNvGrpSpPr/>
          <p:nvPr/>
        </p:nvGrpSpPr>
        <p:grpSpPr>
          <a:xfrm>
            <a:off x="6684516" y="2271484"/>
            <a:ext cx="219094" cy="178960"/>
            <a:chOff x="6713918" y="2271484"/>
            <a:chExt cx="220724" cy="178960"/>
          </a:xfrm>
          <a:solidFill>
            <a:schemeClr val="tx1">
              <a:lumMod val="90000"/>
              <a:lumOff val="10000"/>
            </a:schemeClr>
          </a:solidFill>
          <a:effectLst/>
        </p:grpSpPr>
        <p:sp>
          <p:nvSpPr>
            <p:cNvPr id="71" name="struct.chevron.3.1"/>
            <p:cNvSpPr/>
            <p:nvPr/>
          </p:nvSpPr>
          <p:spPr>
            <a:xfrm>
              <a:off x="6797804" y="2271484"/>
              <a:ext cx="136838" cy="178960"/>
            </a:xfrm>
            <a:prstGeom prst="chevron">
              <a:avLst/>
            </a:prstGeom>
            <a:grpFill/>
            <a:ln>
              <a:noFill/>
            </a:ln>
          </p:spPr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90000"/>
                    <a:lumOff val="10000"/>
                  </a:schemeClr>
                </a:solidFill>
              </a:endParaRPr>
            </a:p>
          </p:txBody>
        </p:sp>
        <p:sp>
          <p:nvSpPr>
            <p:cNvPr id="72" name="struct.chevron.3.2"/>
            <p:cNvSpPr/>
            <p:nvPr/>
          </p:nvSpPr>
          <p:spPr>
            <a:xfrm>
              <a:off x="6713918" y="2271484"/>
              <a:ext cx="136838" cy="178960"/>
            </a:xfrm>
            <a:prstGeom prst="chevron">
              <a:avLst/>
            </a:prstGeom>
            <a:grpFill/>
            <a:ln>
              <a:noFill/>
            </a:ln>
          </p:spPr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90000"/>
                    <a:lumOff val="10000"/>
                  </a:schemeClr>
                </a:solidFill>
              </a:endParaRPr>
            </a:p>
          </p:txBody>
        </p:sp>
      </p:grpSp>
      <p:grpSp>
        <p:nvGrpSpPr>
          <p:cNvPr id="73" name="struct.chevron.4"/>
          <p:cNvGrpSpPr/>
          <p:nvPr/>
        </p:nvGrpSpPr>
        <p:grpSpPr>
          <a:xfrm>
            <a:off x="8039739" y="2271484"/>
            <a:ext cx="219094" cy="178960"/>
            <a:chOff x="8079221" y="2271484"/>
            <a:chExt cx="220724" cy="178960"/>
          </a:xfrm>
          <a:solidFill>
            <a:schemeClr val="tx1">
              <a:lumMod val="90000"/>
              <a:lumOff val="10000"/>
            </a:schemeClr>
          </a:solidFill>
          <a:effectLst/>
        </p:grpSpPr>
        <p:sp>
          <p:nvSpPr>
            <p:cNvPr id="74" name="struct.chevron.4.1"/>
            <p:cNvSpPr/>
            <p:nvPr/>
          </p:nvSpPr>
          <p:spPr>
            <a:xfrm>
              <a:off x="8163107" y="2271484"/>
              <a:ext cx="136838" cy="178960"/>
            </a:xfrm>
            <a:prstGeom prst="chevron">
              <a:avLst/>
            </a:prstGeom>
            <a:grpFill/>
            <a:ln>
              <a:noFill/>
            </a:ln>
          </p:spPr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90000"/>
                    <a:lumOff val="10000"/>
                  </a:schemeClr>
                </a:solidFill>
              </a:endParaRPr>
            </a:p>
          </p:txBody>
        </p:sp>
        <p:sp>
          <p:nvSpPr>
            <p:cNvPr id="75" name="struct.chevron.4.2"/>
            <p:cNvSpPr/>
            <p:nvPr/>
          </p:nvSpPr>
          <p:spPr>
            <a:xfrm>
              <a:off x="8079221" y="2271484"/>
              <a:ext cx="136838" cy="178960"/>
            </a:xfrm>
            <a:prstGeom prst="chevron">
              <a:avLst/>
            </a:prstGeom>
            <a:grpFill/>
            <a:ln>
              <a:noFill/>
            </a:ln>
          </p:spPr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90000"/>
                    <a:lumOff val="10000"/>
                  </a:schemeClr>
                </a:solidFill>
              </a:endParaRPr>
            </a:p>
          </p:txBody>
        </p:sp>
      </p:grpSp>
      <p:sp>
        <p:nvSpPr>
          <p:cNvPr id="76" name="slot.context.fig.1.icon"/>
          <p:cNvSpPr/>
          <p:nvPr/>
        </p:nvSpPr>
        <p:spPr>
          <a:xfrm>
            <a:off x="846457" y="1783080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6000"/>
                </a:moveTo>
                <a:lnTo>
                  <a:pt x="12010" y="16000"/>
                </a:lnTo>
                <a:moveTo>
                  <a:pt x="16000" y="16000"/>
                </a:moveTo>
                <a:lnTo>
                  <a:pt x="16010" y="16000"/>
                </a:lnTo>
                <a:moveTo>
                  <a:pt x="3000" y="19000"/>
                </a:moveTo>
                <a:cubicBezTo>
                  <a:pt x="3000" y="20105"/>
                  <a:pt x="3895" y="21000"/>
                  <a:pt x="5000" y="21000"/>
                </a:cubicBezTo>
                <a:lnTo>
                  <a:pt x="19000" y="21000"/>
                </a:lnTo>
                <a:cubicBezTo>
                  <a:pt x="20105" y="21000"/>
                  <a:pt x="21000" y="20105"/>
                  <a:pt x="21000" y="19000"/>
                </a:cubicBezTo>
                <a:lnTo>
                  <a:pt x="21000" y="8500"/>
                </a:lnTo>
                <a:cubicBezTo>
                  <a:pt x="21000" y="8317"/>
                  <a:pt x="20901" y="8149"/>
                  <a:pt x="20741" y="8061"/>
                </a:cubicBezTo>
                <a:cubicBezTo>
                  <a:pt x="20580" y="7973"/>
                  <a:pt x="20385" y="7980"/>
                  <a:pt x="20231" y="8078"/>
                </a:cubicBezTo>
                <a:lnTo>
                  <a:pt x="15769" y="10922"/>
                </a:lnTo>
                <a:cubicBezTo>
                  <a:pt x="15615" y="11020"/>
                  <a:pt x="15420" y="11027"/>
                  <a:pt x="15259" y="10939"/>
                </a:cubicBezTo>
                <a:cubicBezTo>
                  <a:pt x="15099" y="10851"/>
                  <a:pt x="15000" y="10683"/>
                  <a:pt x="15000" y="10500"/>
                </a:cubicBezTo>
                <a:lnTo>
                  <a:pt x="15000" y="8500"/>
                </a:lnTo>
                <a:cubicBezTo>
                  <a:pt x="15000" y="8317"/>
                  <a:pt x="14901" y="8149"/>
                  <a:pt x="14741" y="8061"/>
                </a:cubicBezTo>
                <a:cubicBezTo>
                  <a:pt x="14580" y="7973"/>
                  <a:pt x="14385" y="7980"/>
                  <a:pt x="14231" y="8078"/>
                </a:cubicBezTo>
                <a:lnTo>
                  <a:pt x="9770" y="10922"/>
                </a:lnTo>
                <a:cubicBezTo>
                  <a:pt x="9616" y="11021"/>
                  <a:pt x="9420" y="11028"/>
                  <a:pt x="9260" y="10940"/>
                </a:cubicBezTo>
                <a:cubicBezTo>
                  <a:pt x="9099" y="10852"/>
                  <a:pt x="9000" y="10683"/>
                  <a:pt x="9000" y="10500"/>
                </a:cubicBezTo>
                <a:lnTo>
                  <a:pt x="9000" y="5000"/>
                </a:lnTo>
                <a:cubicBezTo>
                  <a:pt x="9000" y="3895"/>
                  <a:pt x="8105" y="3000"/>
                  <a:pt x="7000" y="3000"/>
                </a:cubicBezTo>
                <a:lnTo>
                  <a:pt x="5000" y="3000"/>
                </a:lnTo>
                <a:cubicBezTo>
                  <a:pt x="3895" y="3000"/>
                  <a:pt x="3000" y="3895"/>
                  <a:pt x="3000" y="5000"/>
                </a:cubicBezTo>
                <a:close/>
                <a:moveTo>
                  <a:pt x="8000" y="16000"/>
                </a:moveTo>
                <a:lnTo>
                  <a:pt x="8010" y="16000"/>
                </a:lnTo>
              </a:path>
            </a:pathLst>
          </a:custGeom>
          <a:noFill/>
          <a:ln w="33655" cap="rnd">
            <a:solidFill>
              <a:schemeClr val="accent1"/>
            </a:solidFill>
            <a:round/>
          </a:ln>
          <a:effectLst/>
        </p:spPr>
      </p:sp>
      <p:sp>
        <p:nvSpPr>
          <p:cNvPr id="77" name="slot.context.fig.2.icon"/>
          <p:cNvSpPr/>
          <p:nvPr/>
        </p:nvSpPr>
        <p:spPr>
          <a:xfrm>
            <a:off x="1862115" y="1783080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22000"/>
                </a:moveTo>
                <a:lnTo>
                  <a:pt x="19000" y="22000"/>
                </a:lnTo>
                <a:moveTo>
                  <a:pt x="5000" y="2000"/>
                </a:moveTo>
                <a:lnTo>
                  <a:pt x="19000" y="2000"/>
                </a:lnTo>
                <a:moveTo>
                  <a:pt x="17000" y="22000"/>
                </a:moveTo>
                <a:lnTo>
                  <a:pt x="17000" y="17828"/>
                </a:lnTo>
                <a:cubicBezTo>
                  <a:pt x="17000" y="17298"/>
                  <a:pt x="16789" y="16789"/>
                  <a:pt x="16414" y="16414"/>
                </a:cubicBezTo>
                <a:lnTo>
                  <a:pt x="12000" y="12000"/>
                </a:lnTo>
                <a:lnTo>
                  <a:pt x="7586" y="16414"/>
                </a:lnTo>
                <a:cubicBezTo>
                  <a:pt x="7211" y="16789"/>
                  <a:pt x="7000" y="17298"/>
                  <a:pt x="7000" y="17828"/>
                </a:cubicBezTo>
                <a:lnTo>
                  <a:pt x="7000" y="22000"/>
                </a:lnTo>
                <a:moveTo>
                  <a:pt x="7000" y="2000"/>
                </a:moveTo>
                <a:lnTo>
                  <a:pt x="7000" y="6172"/>
                </a:lnTo>
                <a:cubicBezTo>
                  <a:pt x="7000" y="6702"/>
                  <a:pt x="7211" y="7211"/>
                  <a:pt x="7586" y="7586"/>
                </a:cubicBezTo>
                <a:lnTo>
                  <a:pt x="12000" y="12000"/>
                </a:lnTo>
                <a:lnTo>
                  <a:pt x="16414" y="7586"/>
                </a:lnTo>
                <a:cubicBezTo>
                  <a:pt x="16789" y="7211"/>
                  <a:pt x="17000" y="6702"/>
                  <a:pt x="17000" y="6172"/>
                </a:cubicBezTo>
                <a:lnTo>
                  <a:pt x="17000" y="2000"/>
                </a:lnTo>
              </a:path>
            </a:pathLst>
          </a:custGeom>
          <a:noFill/>
          <a:ln w="33655" cap="rnd">
            <a:solidFill>
              <a:schemeClr val="accent1"/>
            </a:solidFill>
            <a:round/>
          </a:ln>
          <a:effectLst/>
        </p:spPr>
      </p:sp>
      <p:sp>
        <p:nvSpPr>
          <p:cNvPr id="78" name="slot.step.1.icon"/>
          <p:cNvSpPr/>
          <p:nvPr/>
        </p:nvSpPr>
        <p:spPr>
          <a:xfrm>
            <a:off x="3429111" y="2187010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4000" y="14500"/>
                </a:moveTo>
                <a:cubicBezTo>
                  <a:pt x="14000" y="15881"/>
                  <a:pt x="12881" y="17000"/>
                  <a:pt x="11500" y="17000"/>
                </a:cubicBezTo>
                <a:cubicBezTo>
                  <a:pt x="10119" y="17000"/>
                  <a:pt x="9000" y="15881"/>
                  <a:pt x="9000" y="14500"/>
                </a:cubicBezTo>
                <a:cubicBezTo>
                  <a:pt x="9000" y="13119"/>
                  <a:pt x="10119" y="12000"/>
                  <a:pt x="11500" y="12000"/>
                </a:cubicBezTo>
                <a:cubicBezTo>
                  <a:pt x="12881" y="12000"/>
                  <a:pt x="14000" y="13119"/>
                  <a:pt x="14000" y="14500"/>
                </a:cubicBezTo>
                <a:close/>
                <a:moveTo>
                  <a:pt x="13300" y="16300"/>
                </a:moveTo>
                <a:lnTo>
                  <a:pt x="15000" y="18000"/>
                </a:lnTo>
              </a:path>
            </a:pathLst>
          </a:custGeom>
          <a:noFill/>
          <a:ln w="27305" cap="rnd">
            <a:solidFill>
              <a:schemeClr val="bg1"/>
            </a:solidFill>
            <a:round/>
          </a:ln>
          <a:effectLst/>
        </p:spPr>
      </p:sp>
      <p:sp>
        <p:nvSpPr>
          <p:cNvPr id="79" name="slot.step.2.icon"/>
          <p:cNvSpPr/>
          <p:nvPr/>
        </p:nvSpPr>
        <p:spPr>
          <a:xfrm>
            <a:off x="4684374" y="2187010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5000"/>
                </a:moveTo>
                <a:cubicBezTo>
                  <a:pt x="12003" y="3911"/>
                  <a:pt x="11416" y="2906"/>
                  <a:pt x="10466" y="2374"/>
                </a:cubicBezTo>
                <a:cubicBezTo>
                  <a:pt x="9516" y="1842"/>
                  <a:pt x="8353" y="1866"/>
                  <a:pt x="7426" y="2437"/>
                </a:cubicBezTo>
                <a:cubicBezTo>
                  <a:pt x="6499" y="3009"/>
                  <a:pt x="5954" y="4037"/>
                  <a:pt x="6003" y="5125"/>
                </a:cubicBezTo>
                <a:cubicBezTo>
                  <a:pt x="4812" y="5431"/>
                  <a:pt x="3828" y="6268"/>
                  <a:pt x="3335" y="7395"/>
                </a:cubicBezTo>
                <a:cubicBezTo>
                  <a:pt x="2842" y="8521"/>
                  <a:pt x="2894" y="9812"/>
                  <a:pt x="3477" y="10895"/>
                </a:cubicBezTo>
                <a:cubicBezTo>
                  <a:pt x="2450" y="11729"/>
                  <a:pt x="1902" y="13018"/>
                  <a:pt x="2013" y="14336"/>
                </a:cubicBezTo>
                <a:cubicBezTo>
                  <a:pt x="2125" y="15654"/>
                  <a:pt x="2881" y="16833"/>
                  <a:pt x="4033" y="17483"/>
                </a:cubicBezTo>
                <a:cubicBezTo>
                  <a:pt x="3842" y="18961"/>
                  <a:pt x="4488" y="20422"/>
                  <a:pt x="5710" y="21275"/>
                </a:cubicBezTo>
                <a:cubicBezTo>
                  <a:pt x="6931" y="22128"/>
                  <a:pt x="8526" y="22232"/>
                  <a:pt x="9847" y="21544"/>
                </a:cubicBezTo>
                <a:cubicBezTo>
                  <a:pt x="11169" y="20856"/>
                  <a:pt x="11998" y="19490"/>
                  <a:pt x="12000" y="18000"/>
                </a:cubicBezTo>
                <a:close/>
                <a:moveTo>
                  <a:pt x="9000" y="13000"/>
                </a:moveTo>
                <a:cubicBezTo>
                  <a:pt x="10717" y="12396"/>
                  <a:pt x="11901" y="10817"/>
                  <a:pt x="12000" y="9000"/>
                </a:cubicBezTo>
                <a:moveTo>
                  <a:pt x="6003" y="5125"/>
                </a:moveTo>
                <a:cubicBezTo>
                  <a:pt x="6023" y="5609"/>
                  <a:pt x="6159" y="6080"/>
                  <a:pt x="6401" y="6500"/>
                </a:cubicBezTo>
                <a:moveTo>
                  <a:pt x="3477" y="10896"/>
                </a:moveTo>
                <a:cubicBezTo>
                  <a:pt x="3660" y="10747"/>
                  <a:pt x="3856" y="10614"/>
                  <a:pt x="4062" y="10500"/>
                </a:cubicBezTo>
                <a:moveTo>
                  <a:pt x="6000" y="18000"/>
                </a:moveTo>
                <a:cubicBezTo>
                  <a:pt x="5311" y="18000"/>
                  <a:pt x="4633" y="17823"/>
                  <a:pt x="4033" y="17484"/>
                </a:cubicBezTo>
                <a:moveTo>
                  <a:pt x="12000" y="13000"/>
                </a:moveTo>
                <a:lnTo>
                  <a:pt x="16000" y="13000"/>
                </a:lnTo>
                <a:moveTo>
                  <a:pt x="12000" y="18000"/>
                </a:moveTo>
                <a:lnTo>
                  <a:pt x="18000" y="18000"/>
                </a:lnTo>
                <a:cubicBezTo>
                  <a:pt x="19105" y="18000"/>
                  <a:pt x="20000" y="18895"/>
                  <a:pt x="20000" y="20000"/>
                </a:cubicBezTo>
                <a:lnTo>
                  <a:pt x="20000" y="21000"/>
                </a:lnTo>
                <a:moveTo>
                  <a:pt x="12000" y="8000"/>
                </a:moveTo>
                <a:lnTo>
                  <a:pt x="20000" y="8000"/>
                </a:lnTo>
                <a:moveTo>
                  <a:pt x="16000" y="8000"/>
                </a:moveTo>
                <a:lnTo>
                  <a:pt x="16000" y="5000"/>
                </a:lnTo>
                <a:cubicBezTo>
                  <a:pt x="16000" y="3895"/>
                  <a:pt x="16895" y="3000"/>
                  <a:pt x="18000" y="3000"/>
                </a:cubicBezTo>
                <a:moveTo>
                  <a:pt x="16500" y="13000"/>
                </a:moveTo>
                <a:cubicBezTo>
                  <a:pt x="16500" y="13276"/>
                  <a:pt x="16276" y="13500"/>
                  <a:pt x="16000" y="13500"/>
                </a:cubicBezTo>
                <a:cubicBezTo>
                  <a:pt x="15724" y="13500"/>
                  <a:pt x="15500" y="13276"/>
                  <a:pt x="15500" y="13000"/>
                </a:cubicBezTo>
                <a:cubicBezTo>
                  <a:pt x="15500" y="12724"/>
                  <a:pt x="15724" y="12500"/>
                  <a:pt x="16000" y="12500"/>
                </a:cubicBezTo>
                <a:cubicBezTo>
                  <a:pt x="16276" y="12500"/>
                  <a:pt x="16500" y="12724"/>
                  <a:pt x="16500" y="13000"/>
                </a:cubicBezTo>
                <a:close/>
                <a:moveTo>
                  <a:pt x="18500" y="3000"/>
                </a:moveTo>
                <a:cubicBezTo>
                  <a:pt x="18500" y="3276"/>
                  <a:pt x="18276" y="3500"/>
                  <a:pt x="18000" y="3500"/>
                </a:cubicBezTo>
                <a:cubicBezTo>
                  <a:pt x="17724" y="3500"/>
                  <a:pt x="17500" y="3276"/>
                  <a:pt x="17500" y="3000"/>
                </a:cubicBezTo>
                <a:cubicBezTo>
                  <a:pt x="17500" y="2724"/>
                  <a:pt x="17724" y="2500"/>
                  <a:pt x="18000" y="2500"/>
                </a:cubicBezTo>
                <a:cubicBezTo>
                  <a:pt x="18276" y="2500"/>
                  <a:pt x="18500" y="2724"/>
                  <a:pt x="18500" y="3000"/>
                </a:cubicBezTo>
                <a:close/>
                <a:moveTo>
                  <a:pt x="20500" y="21000"/>
                </a:moveTo>
                <a:cubicBezTo>
                  <a:pt x="20500" y="21276"/>
                  <a:pt x="20276" y="21500"/>
                  <a:pt x="20000" y="21500"/>
                </a:cubicBezTo>
                <a:cubicBezTo>
                  <a:pt x="19724" y="21500"/>
                  <a:pt x="19500" y="21276"/>
                  <a:pt x="19500" y="21000"/>
                </a:cubicBezTo>
                <a:cubicBezTo>
                  <a:pt x="19500" y="20724"/>
                  <a:pt x="19724" y="20500"/>
                  <a:pt x="20000" y="20500"/>
                </a:cubicBezTo>
                <a:cubicBezTo>
                  <a:pt x="20276" y="20500"/>
                  <a:pt x="20500" y="20724"/>
                  <a:pt x="20500" y="21000"/>
                </a:cubicBezTo>
                <a:close/>
                <a:moveTo>
                  <a:pt x="20500" y="8000"/>
                </a:moveTo>
                <a:cubicBezTo>
                  <a:pt x="20500" y="8276"/>
                  <a:pt x="20276" y="8500"/>
                  <a:pt x="20000" y="8500"/>
                </a:cubicBezTo>
                <a:cubicBezTo>
                  <a:pt x="19724" y="8500"/>
                  <a:pt x="19500" y="8276"/>
                  <a:pt x="19500" y="8000"/>
                </a:cubicBezTo>
                <a:cubicBezTo>
                  <a:pt x="19500" y="7724"/>
                  <a:pt x="19724" y="7500"/>
                  <a:pt x="20000" y="7500"/>
                </a:cubicBezTo>
                <a:cubicBezTo>
                  <a:pt x="20276" y="7500"/>
                  <a:pt x="20500" y="7724"/>
                  <a:pt x="20500" y="8000"/>
                </a:cubicBezTo>
                <a:close/>
              </a:path>
            </a:pathLst>
          </a:custGeom>
          <a:noFill/>
          <a:ln w="27305" cap="rnd">
            <a:solidFill>
              <a:schemeClr val="bg1"/>
            </a:solidFill>
            <a:round/>
          </a:ln>
          <a:effectLst/>
        </p:spPr>
      </p:sp>
      <p:sp>
        <p:nvSpPr>
          <p:cNvPr id="80" name="slot.step.3.icon"/>
          <p:cNvSpPr/>
          <p:nvPr/>
        </p:nvSpPr>
        <p:spPr>
          <a:xfrm>
            <a:off x="5974120" y="2187010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lnTo>
                  <a:pt x="19520" y="12000"/>
                </a:lnTo>
                <a:cubicBezTo>
                  <a:pt x="18622" y="11998"/>
                  <a:pt x="17833" y="12595"/>
                  <a:pt x="17590" y="13460"/>
                </a:cubicBezTo>
                <a:lnTo>
                  <a:pt x="15240" y="21820"/>
                </a:lnTo>
                <a:cubicBezTo>
                  <a:pt x="15209" y="21927"/>
                  <a:pt x="15111" y="22000"/>
                  <a:pt x="15000" y="22000"/>
                </a:cubicBezTo>
                <a:cubicBezTo>
                  <a:pt x="14889" y="22000"/>
                  <a:pt x="14791" y="21927"/>
                  <a:pt x="14760" y="21820"/>
                </a:cubicBezTo>
                <a:lnTo>
                  <a:pt x="9240" y="2180"/>
                </a:lnTo>
                <a:cubicBezTo>
                  <a:pt x="9209" y="2073"/>
                  <a:pt x="9111" y="2000"/>
                  <a:pt x="9000" y="2000"/>
                </a:cubicBezTo>
                <a:cubicBezTo>
                  <a:pt x="8889" y="2000"/>
                  <a:pt x="8791" y="2073"/>
                  <a:pt x="8760" y="2180"/>
                </a:cubicBezTo>
                <a:lnTo>
                  <a:pt x="6410" y="10540"/>
                </a:lnTo>
                <a:cubicBezTo>
                  <a:pt x="6168" y="11401"/>
                  <a:pt x="5384" y="11997"/>
                  <a:pt x="4490" y="12000"/>
                </a:cubicBezTo>
                <a:lnTo>
                  <a:pt x="2000" y="12000"/>
                </a:lnTo>
              </a:path>
            </a:pathLst>
          </a:custGeom>
          <a:noFill/>
          <a:ln w="27305" cap="rnd">
            <a:solidFill>
              <a:schemeClr val="bg1"/>
            </a:solidFill>
            <a:round/>
          </a:ln>
          <a:effectLst/>
        </p:spPr>
      </p:sp>
      <p:sp>
        <p:nvSpPr>
          <p:cNvPr id="81" name="slot.step.4.icon"/>
          <p:cNvSpPr/>
          <p:nvPr/>
        </p:nvSpPr>
        <p:spPr>
          <a:xfrm>
            <a:off x="7284823" y="2187010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000" y="5000"/>
                </a:moveTo>
                <a:lnTo>
                  <a:pt x="21000" y="5000"/>
                </a:lnTo>
                <a:moveTo>
                  <a:pt x="13000" y="12000"/>
                </a:moveTo>
                <a:lnTo>
                  <a:pt x="21000" y="12000"/>
                </a:lnTo>
                <a:moveTo>
                  <a:pt x="13000" y="19000"/>
                </a:moveTo>
                <a:lnTo>
                  <a:pt x="21000" y="19000"/>
                </a:lnTo>
                <a:moveTo>
                  <a:pt x="3000" y="17000"/>
                </a:moveTo>
                <a:lnTo>
                  <a:pt x="5000" y="19000"/>
                </a:lnTo>
                <a:lnTo>
                  <a:pt x="9000" y="15000"/>
                </a:lnTo>
                <a:moveTo>
                  <a:pt x="3000" y="7000"/>
                </a:moveTo>
                <a:lnTo>
                  <a:pt x="5000" y="9000"/>
                </a:lnTo>
                <a:lnTo>
                  <a:pt x="9000" y="5000"/>
                </a:lnTo>
              </a:path>
            </a:pathLst>
          </a:custGeom>
          <a:noFill/>
          <a:ln w="27305" cap="rnd">
            <a:solidFill>
              <a:schemeClr val="bg1"/>
            </a:solidFill>
            <a:round/>
          </a:ln>
          <a:effectLst/>
        </p:spPr>
      </p:sp>
      <p:sp>
        <p:nvSpPr>
          <p:cNvPr id="82" name="slot.step.5.icon"/>
          <p:cNvSpPr/>
          <p:nvPr/>
        </p:nvSpPr>
        <p:spPr>
          <a:xfrm>
            <a:off x="8684565" y="2187010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5000"/>
                </a:moveTo>
                <a:lnTo>
                  <a:pt x="12000" y="20000"/>
                </a:lnTo>
                <a:cubicBezTo>
                  <a:pt x="12000" y="20000"/>
                  <a:pt x="15030" y="19450"/>
                  <a:pt x="16000" y="18000"/>
                </a:cubicBezTo>
                <a:cubicBezTo>
                  <a:pt x="17080" y="16380"/>
                  <a:pt x="16000" y="13000"/>
                  <a:pt x="16000" y="13000"/>
                </a:cubicBezTo>
                <a:moveTo>
                  <a:pt x="4500" y="16500"/>
                </a:moveTo>
                <a:cubicBezTo>
                  <a:pt x="3000" y="17760"/>
                  <a:pt x="2500" y="21500"/>
                  <a:pt x="2500" y="21500"/>
                </a:cubicBezTo>
                <a:cubicBezTo>
                  <a:pt x="2500" y="21500"/>
                  <a:pt x="6240" y="21000"/>
                  <a:pt x="7500" y="19500"/>
                </a:cubicBezTo>
                <a:cubicBezTo>
                  <a:pt x="8210" y="18660"/>
                  <a:pt x="8200" y="17370"/>
                  <a:pt x="7410" y="16590"/>
                </a:cubicBezTo>
                <a:cubicBezTo>
                  <a:pt x="6605" y="15822"/>
                  <a:pt x="5351" y="15783"/>
                  <a:pt x="4500" y="16500"/>
                </a:cubicBezTo>
                <a:moveTo>
                  <a:pt x="9000" y="12000"/>
                </a:moveTo>
                <a:cubicBezTo>
                  <a:pt x="9532" y="10619"/>
                  <a:pt x="10202" y="9296"/>
                  <a:pt x="11000" y="8050"/>
                </a:cubicBezTo>
                <a:cubicBezTo>
                  <a:pt x="13369" y="4262"/>
                  <a:pt x="17532" y="1972"/>
                  <a:pt x="22000" y="2000"/>
                </a:cubicBezTo>
                <a:cubicBezTo>
                  <a:pt x="22000" y="4720"/>
                  <a:pt x="21220" y="9500"/>
                  <a:pt x="16000" y="13000"/>
                </a:cubicBezTo>
                <a:cubicBezTo>
                  <a:pt x="14737" y="13798"/>
                  <a:pt x="13397" y="14468"/>
                  <a:pt x="12000" y="15000"/>
                </a:cubicBezTo>
                <a:close/>
                <a:moveTo>
                  <a:pt x="9000" y="12000"/>
                </a:moveTo>
                <a:lnTo>
                  <a:pt x="4000" y="12000"/>
                </a:lnTo>
                <a:cubicBezTo>
                  <a:pt x="4000" y="12000"/>
                  <a:pt x="4550" y="8970"/>
                  <a:pt x="6000" y="8000"/>
                </a:cubicBezTo>
                <a:cubicBezTo>
                  <a:pt x="7620" y="6920"/>
                  <a:pt x="11000" y="8050"/>
                  <a:pt x="11000" y="8050"/>
                </a:cubicBezTo>
              </a:path>
            </a:pathLst>
          </a:custGeom>
          <a:noFill/>
          <a:ln w="27305" cap="rnd">
            <a:solidFill>
              <a:schemeClr val="bg1"/>
            </a:solidFill>
            <a:round/>
          </a:ln>
          <a:effectLst/>
        </p:spPr>
      </p:sp>
      <p:sp>
        <p:nvSpPr>
          <p:cNvPr id="83" name="slot.enabler.1.icon"/>
          <p:cNvSpPr/>
          <p:nvPr/>
        </p:nvSpPr>
        <p:spPr>
          <a:xfrm>
            <a:off x="3429896" y="4352544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</p:sp>
      <p:sp>
        <p:nvSpPr>
          <p:cNvPr id="84" name="slot.enabler.2.icon"/>
          <p:cNvSpPr/>
          <p:nvPr/>
        </p:nvSpPr>
        <p:spPr>
          <a:xfrm>
            <a:off x="4733281" y="4352544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4000"/>
                </a:moveTo>
                <a:lnTo>
                  <a:pt x="16000" y="10000"/>
                </a:lnTo>
                <a:moveTo>
                  <a:pt x="3340" y="19000"/>
                </a:moveTo>
                <a:cubicBezTo>
                  <a:pt x="913" y="14797"/>
                  <a:pt x="1854" y="9459"/>
                  <a:pt x="5572" y="6339"/>
                </a:cubicBezTo>
                <a:cubicBezTo>
                  <a:pt x="9290" y="3220"/>
                  <a:pt x="14710" y="3220"/>
                  <a:pt x="18428" y="6339"/>
                </a:cubicBezTo>
                <a:cubicBezTo>
                  <a:pt x="22146" y="9459"/>
                  <a:pt x="23087" y="14797"/>
                  <a:pt x="20660" y="19000"/>
                </a:cubicBezTo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</p:sp>
      <p:sp>
        <p:nvSpPr>
          <p:cNvPr id="85" name="slot.enabler.3.icon"/>
          <p:cNvSpPr/>
          <p:nvPr/>
        </p:nvSpPr>
        <p:spPr>
          <a:xfrm>
            <a:off x="6036664" y="4352544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</p:sp>
      <p:sp>
        <p:nvSpPr>
          <p:cNvPr id="86" name="slot.enabler.4.icon"/>
          <p:cNvSpPr/>
          <p:nvPr/>
        </p:nvSpPr>
        <p:spPr>
          <a:xfrm>
            <a:off x="7340048" y="4352544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8000" y="2000"/>
                </a:moveTo>
                <a:lnTo>
                  <a:pt x="8000" y="5000"/>
                </a:lnTo>
                <a:moveTo>
                  <a:pt x="16000" y="2000"/>
                </a:moveTo>
                <a:lnTo>
                  <a:pt x="16000" y="5000"/>
                </a:lnTo>
                <a:moveTo>
                  <a:pt x="5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  <a:moveTo>
                  <a:pt x="3000" y="9000"/>
                </a:moveTo>
                <a:lnTo>
                  <a:pt x="21000" y="9000"/>
                </a:lnTo>
                <a:moveTo>
                  <a:pt x="9000" y="15000"/>
                </a:moveTo>
                <a:lnTo>
                  <a:pt x="11000" y="17000"/>
                </a:lnTo>
                <a:lnTo>
                  <a:pt x="15000" y="13000"/>
                </a:lnTo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</p:sp>
      <p:sp>
        <p:nvSpPr>
          <p:cNvPr id="87" name="slot.enabler.5.icon"/>
          <p:cNvSpPr/>
          <p:nvPr/>
        </p:nvSpPr>
        <p:spPr>
          <a:xfrm>
            <a:off x="8643433" y="4352544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852" y="14772"/>
                </a:moveTo>
                <a:lnTo>
                  <a:pt x="10469" y="15695"/>
                </a:lnTo>
                <a:moveTo>
                  <a:pt x="13148" y="14772"/>
                </a:moveTo>
                <a:cubicBezTo>
                  <a:pt x="14679" y="14138"/>
                  <a:pt x="15406" y="12383"/>
                  <a:pt x="14772" y="10852"/>
                </a:cubicBezTo>
                <a:cubicBezTo>
                  <a:pt x="14138" y="9321"/>
                  <a:pt x="12383" y="8594"/>
                  <a:pt x="10852" y="9228"/>
                </a:cubicBezTo>
                <a:lnTo>
                  <a:pt x="10469" y="8305"/>
                </a:lnTo>
                <a:moveTo>
                  <a:pt x="13148" y="9228"/>
                </a:moveTo>
                <a:lnTo>
                  <a:pt x="13531" y="8305"/>
                </a:lnTo>
                <a:moveTo>
                  <a:pt x="13530" y="15696"/>
                </a:moveTo>
                <a:lnTo>
                  <a:pt x="13148" y="14772"/>
                </a:lnTo>
                <a:cubicBezTo>
                  <a:pt x="11617" y="15406"/>
                  <a:pt x="9862" y="14679"/>
                  <a:pt x="9228" y="13148"/>
                </a:cubicBezTo>
                <a:cubicBezTo>
                  <a:pt x="8594" y="11617"/>
                  <a:pt x="9321" y="9862"/>
                  <a:pt x="10852" y="9228"/>
                </a:cubicBezTo>
                <a:moveTo>
                  <a:pt x="14772" y="10852"/>
                </a:moveTo>
                <a:lnTo>
                  <a:pt x="15695" y="10469"/>
                </a:lnTo>
                <a:moveTo>
                  <a:pt x="14772" y="13148"/>
                </a:moveTo>
                <a:lnTo>
                  <a:pt x="15695" y="13531"/>
                </a:lnTo>
                <a:moveTo>
                  <a:pt x="4500" y="10000"/>
                </a:moveTo>
                <a:lnTo>
                  <a:pt x="4000" y="10000"/>
                </a:lnTo>
                <a:cubicBezTo>
                  <a:pt x="2895" y="10000"/>
                  <a:pt x="2000" y="9105"/>
                  <a:pt x="2000" y="8000"/>
                </a:cubicBezTo>
                <a:lnTo>
                  <a:pt x="2000" y="4000"/>
                </a:lnTo>
                <a:cubicBezTo>
                  <a:pt x="2000" y="2895"/>
                  <a:pt x="2895" y="2000"/>
                  <a:pt x="4000" y="2000"/>
                </a:cubicBezTo>
                <a:lnTo>
                  <a:pt x="20000" y="2000"/>
                </a:lnTo>
                <a:cubicBezTo>
                  <a:pt x="21105" y="2000"/>
                  <a:pt x="22000" y="2895"/>
                  <a:pt x="22000" y="4000"/>
                </a:cubicBezTo>
                <a:lnTo>
                  <a:pt x="22000" y="8000"/>
                </a:lnTo>
                <a:cubicBezTo>
                  <a:pt x="22000" y="9105"/>
                  <a:pt x="21105" y="10000"/>
                  <a:pt x="20000" y="10000"/>
                </a:cubicBezTo>
                <a:lnTo>
                  <a:pt x="19500" y="10000"/>
                </a:lnTo>
                <a:moveTo>
                  <a:pt x="4500" y="14000"/>
                </a:moveTo>
                <a:lnTo>
                  <a:pt x="4000" y="14000"/>
                </a:lnTo>
                <a:cubicBezTo>
                  <a:pt x="2895" y="14000"/>
                  <a:pt x="2000" y="14895"/>
                  <a:pt x="2000" y="16000"/>
                </a:cubicBezTo>
                <a:lnTo>
                  <a:pt x="2000" y="20000"/>
                </a:lnTo>
                <a:cubicBezTo>
                  <a:pt x="2000" y="21105"/>
                  <a:pt x="2895" y="22000"/>
                  <a:pt x="4000" y="22000"/>
                </a:cubicBezTo>
                <a:lnTo>
                  <a:pt x="20000" y="22000"/>
                </a:lnTo>
                <a:cubicBezTo>
                  <a:pt x="21105" y="22000"/>
                  <a:pt x="22000" y="21105"/>
                  <a:pt x="22000" y="20000"/>
                </a:cubicBezTo>
                <a:lnTo>
                  <a:pt x="22000" y="16000"/>
                </a:lnTo>
                <a:cubicBezTo>
                  <a:pt x="22000" y="14895"/>
                  <a:pt x="21105" y="14000"/>
                  <a:pt x="20000" y="14000"/>
                </a:cubicBezTo>
                <a:lnTo>
                  <a:pt x="19500" y="14000"/>
                </a:lnTo>
                <a:moveTo>
                  <a:pt x="6000" y="18000"/>
                </a:moveTo>
                <a:lnTo>
                  <a:pt x="6010" y="18000"/>
                </a:lnTo>
                <a:moveTo>
                  <a:pt x="6000" y="6000"/>
                </a:moveTo>
                <a:lnTo>
                  <a:pt x="6010" y="6000"/>
                </a:lnTo>
                <a:moveTo>
                  <a:pt x="9228" y="10852"/>
                </a:moveTo>
                <a:lnTo>
                  <a:pt x="8305" y="10469"/>
                </a:lnTo>
                <a:moveTo>
                  <a:pt x="9228" y="13148"/>
                </a:moveTo>
                <a:lnTo>
                  <a:pt x="8305" y="13531"/>
                </a:lnTo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governance-model:forum-calendars-escalation">
    <p:spTree>
      <p:nvGrpSpPr>
        <p:cNvPr id="1" name=""/>
        <p:cNvGrpSpPr/>
        <p:nvPr/>
      </p:nvGrpSpPr>
      <p:grpSpPr/>
      <p:sp>
        <p:nvSpPr>
          <p:cNvPr id="2" name="slot.title"/>
          <p:cNvSpPr txBox="1"/>
          <p:nvPr/>
        </p:nvSpPr>
        <p:spPr>
          <a:xfrm>
            <a:off x="457200" y="274320"/>
            <a:ext cx="1133856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Four standing forums</a:t>
            </a:r>
            <a:r>
              <a:rPr lang="en-US" sz="2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take any escalation to a decision within ten days</a:t>
            </a:r>
            <a:endParaRPr lang="en-US" sz="2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ot.escalation.label"/>
          <p:cNvSpPr txBox="1"/>
          <p:nvPr/>
        </p:nvSpPr>
        <p:spPr>
          <a:xfrm>
            <a:off x="9278971" y="896112"/>
            <a:ext cx="2513976" cy="27432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Escalation path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" name="struct.divider"/>
          <p:cNvCxnSpPr>
            <a:cxnSpLocks/>
          </p:cNvCxnSpPr>
          <p:nvPr/>
        </p:nvCxnSpPr>
        <p:spPr>
          <a:xfrm>
            <a:off x="9064795" y="845746"/>
            <a:ext cx="0" cy="542006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5" name="slot.cadence.label"/>
          <p:cNvSpPr txBox="1"/>
          <p:nvPr/>
        </p:nvSpPr>
        <p:spPr>
          <a:xfrm>
            <a:off x="457200" y="896112"/>
            <a:ext cx="8392109" cy="27432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Forum cadence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" name="struct.cadence.rule"/>
          <p:cNvCxnSpPr>
            <a:cxnSpLocks/>
          </p:cNvCxnSpPr>
          <p:nvPr/>
        </p:nvCxnSpPr>
        <p:spPr>
          <a:xfrm>
            <a:off x="458573" y="1240127"/>
            <a:ext cx="8389225" cy="0"/>
          </a:xfrm>
          <a:prstGeom prst="line">
            <a:avLst/>
          </a:prstGeom>
          <a:ln w="12700">
            <a:solidFill>
              <a:schemeClr val="accent1"/>
            </a:solidFill>
            <a:prstDash val="solid"/>
          </a:ln>
          <a:effectLst/>
        </p:spPr>
      </p:cxnSp>
      <p:cxnSp>
        <p:nvCxnSpPr>
          <p:cNvPr id="7" name="struct.escalation.rule"/>
          <p:cNvCxnSpPr>
            <a:cxnSpLocks/>
          </p:cNvCxnSpPr>
          <p:nvPr/>
        </p:nvCxnSpPr>
        <p:spPr>
          <a:xfrm>
            <a:off x="9281784" y="1240127"/>
            <a:ext cx="2513976" cy="0"/>
          </a:xfrm>
          <a:prstGeom prst="line">
            <a:avLst/>
          </a:prstGeom>
          <a:ln w="12700">
            <a:solidFill>
              <a:schemeClr val="accent1"/>
            </a:solidFill>
            <a:prstDash val="solid"/>
          </a:ln>
          <a:effectLst/>
        </p:spPr>
      </p:cxnSp>
      <p:cxnSp>
        <p:nvCxnSpPr>
          <p:cNvPr id="8" name="struct.forum.divider.3"/>
          <p:cNvCxnSpPr/>
          <p:nvPr/>
        </p:nvCxnSpPr>
        <p:spPr>
          <a:xfrm>
            <a:off x="6698455" y="1344168"/>
            <a:ext cx="0" cy="3557016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9" name="struct.forum.divider.2"/>
          <p:cNvCxnSpPr/>
          <p:nvPr/>
        </p:nvCxnSpPr>
        <p:spPr>
          <a:xfrm>
            <a:off x="4507284" y="1344168"/>
            <a:ext cx="0" cy="3557016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0" name="struct.forum.divider.1"/>
          <p:cNvCxnSpPr/>
          <p:nvPr/>
        </p:nvCxnSpPr>
        <p:spPr>
          <a:xfrm>
            <a:off x="2316113" y="1344168"/>
            <a:ext cx="0" cy="3557016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11" name="slot.forum.2.name"/>
          <p:cNvSpPr/>
          <p:nvPr/>
        </p:nvSpPr>
        <p:spPr>
          <a:xfrm>
            <a:off x="2437257" y="1343170"/>
            <a:ext cx="1948885" cy="341551"/>
          </a:xfrm>
          <a:prstGeom prst="round2Same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lIns="384048" tIns="18288" rIns="73152" bIns="18288" wrap="square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Program board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lot.forum.3.name"/>
          <p:cNvSpPr/>
          <p:nvPr/>
        </p:nvSpPr>
        <p:spPr>
          <a:xfrm>
            <a:off x="4628428" y="1343170"/>
            <a:ext cx="1948884" cy="341551"/>
          </a:xfrm>
          <a:prstGeom prst="round2Same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lIns="384048" tIns="18288" rIns="73152" bIns="18288" wrap="square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Design authority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slot.forum.4.name"/>
          <p:cNvSpPr/>
          <p:nvPr/>
        </p:nvSpPr>
        <p:spPr>
          <a:xfrm>
            <a:off x="6819597" y="1343170"/>
            <a:ext cx="2028200" cy="341551"/>
          </a:xfrm>
          <a:prstGeom prst="round2Same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lIns="384048" tIns="18288" rIns="73152" bIns="18288" wrap="square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Delivery stand-up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slot.forum.1.name"/>
          <p:cNvSpPr/>
          <p:nvPr/>
        </p:nvSpPr>
        <p:spPr>
          <a:xfrm>
            <a:off x="458573" y="1343170"/>
            <a:ext cx="1736397" cy="341551"/>
          </a:xfrm>
          <a:prstGeom prst="round2Same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lIns="384048" tIns="18288" rIns="73152" bIns="18288" wrap="square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Steering group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truct.forum.1.day.1"/>
          <p:cNvSpPr txBox="1"/>
          <p:nvPr/>
        </p:nvSpPr>
        <p:spPr>
          <a:xfrm>
            <a:off x="556285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M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truct.forum.1.day.2"/>
          <p:cNvSpPr txBox="1"/>
          <p:nvPr/>
        </p:nvSpPr>
        <p:spPr>
          <a:xfrm>
            <a:off x="781451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truct.forum.1.day.3"/>
          <p:cNvSpPr txBox="1"/>
          <p:nvPr/>
        </p:nvSpPr>
        <p:spPr>
          <a:xfrm>
            <a:off x="1006616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truct.forum.1.day.4"/>
          <p:cNvSpPr txBox="1"/>
          <p:nvPr/>
        </p:nvSpPr>
        <p:spPr>
          <a:xfrm>
            <a:off x="1231780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truct.forum.1.day.5"/>
          <p:cNvSpPr txBox="1"/>
          <p:nvPr/>
        </p:nvSpPr>
        <p:spPr>
          <a:xfrm>
            <a:off x="1456945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F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truct.forum.1.day.6"/>
          <p:cNvSpPr txBox="1"/>
          <p:nvPr/>
        </p:nvSpPr>
        <p:spPr>
          <a:xfrm>
            <a:off x="1682110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truct.forum.1.day.7"/>
          <p:cNvSpPr txBox="1"/>
          <p:nvPr/>
        </p:nvSpPr>
        <p:spPr>
          <a:xfrm>
            <a:off x="1907275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truct.forum.2.day.1"/>
          <p:cNvSpPr txBox="1"/>
          <p:nvPr/>
        </p:nvSpPr>
        <p:spPr>
          <a:xfrm>
            <a:off x="2725260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M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struct.forum.2.day.2"/>
          <p:cNvSpPr txBox="1"/>
          <p:nvPr/>
        </p:nvSpPr>
        <p:spPr>
          <a:xfrm>
            <a:off x="2950425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truct.forum.2.day.3"/>
          <p:cNvSpPr txBox="1"/>
          <p:nvPr/>
        </p:nvSpPr>
        <p:spPr>
          <a:xfrm>
            <a:off x="3175590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struct.forum.2.day.4"/>
          <p:cNvSpPr txBox="1"/>
          <p:nvPr/>
        </p:nvSpPr>
        <p:spPr>
          <a:xfrm>
            <a:off x="3400754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struct.forum.2.day.5"/>
          <p:cNvSpPr txBox="1"/>
          <p:nvPr/>
        </p:nvSpPr>
        <p:spPr>
          <a:xfrm>
            <a:off x="3625920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F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truct.forum.2.day.6"/>
          <p:cNvSpPr txBox="1"/>
          <p:nvPr/>
        </p:nvSpPr>
        <p:spPr>
          <a:xfrm>
            <a:off x="3851085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truct.forum.2.day.7"/>
          <p:cNvSpPr txBox="1"/>
          <p:nvPr/>
        </p:nvSpPr>
        <p:spPr>
          <a:xfrm>
            <a:off x="4076250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truct.forum.3.day.1"/>
          <p:cNvSpPr txBox="1"/>
          <p:nvPr/>
        </p:nvSpPr>
        <p:spPr>
          <a:xfrm>
            <a:off x="4894235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M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struct.forum.3.day.2"/>
          <p:cNvSpPr txBox="1"/>
          <p:nvPr/>
        </p:nvSpPr>
        <p:spPr>
          <a:xfrm>
            <a:off x="5119400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truct.forum.3.day.3"/>
          <p:cNvSpPr txBox="1"/>
          <p:nvPr/>
        </p:nvSpPr>
        <p:spPr>
          <a:xfrm>
            <a:off x="5344565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truct.forum.3.day.4"/>
          <p:cNvSpPr txBox="1"/>
          <p:nvPr/>
        </p:nvSpPr>
        <p:spPr>
          <a:xfrm>
            <a:off x="5569729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struct.forum.3.day.5"/>
          <p:cNvSpPr txBox="1"/>
          <p:nvPr/>
        </p:nvSpPr>
        <p:spPr>
          <a:xfrm>
            <a:off x="5794894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F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struct.forum.3.day.6"/>
          <p:cNvSpPr txBox="1"/>
          <p:nvPr/>
        </p:nvSpPr>
        <p:spPr>
          <a:xfrm>
            <a:off x="6020059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truct.forum.3.day.7"/>
          <p:cNvSpPr txBox="1"/>
          <p:nvPr/>
        </p:nvSpPr>
        <p:spPr>
          <a:xfrm>
            <a:off x="6245225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struct.forum.4.day.1"/>
          <p:cNvSpPr txBox="1"/>
          <p:nvPr/>
        </p:nvSpPr>
        <p:spPr>
          <a:xfrm>
            <a:off x="7063211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M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struct.forum.4.day.2"/>
          <p:cNvSpPr txBox="1"/>
          <p:nvPr/>
        </p:nvSpPr>
        <p:spPr>
          <a:xfrm>
            <a:off x="7288376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truct.forum.4.day.3"/>
          <p:cNvSpPr txBox="1"/>
          <p:nvPr/>
        </p:nvSpPr>
        <p:spPr>
          <a:xfrm>
            <a:off x="7513541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struct.forum.4.day.4"/>
          <p:cNvSpPr txBox="1"/>
          <p:nvPr/>
        </p:nvSpPr>
        <p:spPr>
          <a:xfrm>
            <a:off x="7738705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struct.forum.4.day.5"/>
          <p:cNvSpPr txBox="1"/>
          <p:nvPr/>
        </p:nvSpPr>
        <p:spPr>
          <a:xfrm>
            <a:off x="7963870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F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truct.forum.4.day.6"/>
          <p:cNvSpPr txBox="1"/>
          <p:nvPr/>
        </p:nvSpPr>
        <p:spPr>
          <a:xfrm>
            <a:off x="8189035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struct.forum.4.day.7"/>
          <p:cNvSpPr txBox="1"/>
          <p:nvPr/>
        </p:nvSpPr>
        <p:spPr>
          <a:xfrm>
            <a:off x="8414200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slot.forum.1.day.1.1"/>
          <p:cNvSpPr/>
          <p:nvPr/>
        </p:nvSpPr>
        <p:spPr>
          <a:xfrm>
            <a:off x="560895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44" name="slot.forum.1.day.1.2"/>
          <p:cNvSpPr/>
          <p:nvPr/>
        </p:nvSpPr>
        <p:spPr>
          <a:xfrm>
            <a:off x="786060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45" name="slot.forum.1.day.1.3"/>
          <p:cNvSpPr/>
          <p:nvPr/>
        </p:nvSpPr>
        <p:spPr>
          <a:xfrm>
            <a:off x="1011226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46" name="slot.forum.1.day.1.4"/>
          <p:cNvSpPr/>
          <p:nvPr/>
        </p:nvSpPr>
        <p:spPr>
          <a:xfrm>
            <a:off x="1236390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47" name="slot.forum.1.day.1.5"/>
          <p:cNvSpPr/>
          <p:nvPr/>
        </p:nvSpPr>
        <p:spPr>
          <a:xfrm>
            <a:off x="1461555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48" name="slot.forum.1.day.1.6"/>
          <p:cNvSpPr/>
          <p:nvPr/>
        </p:nvSpPr>
        <p:spPr>
          <a:xfrm>
            <a:off x="1686720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49" name="slot.forum.1.day.1.7"/>
          <p:cNvSpPr/>
          <p:nvPr/>
        </p:nvSpPr>
        <p:spPr>
          <a:xfrm>
            <a:off x="1911885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50" name="slot.forum.1.day.2.1"/>
          <p:cNvSpPr/>
          <p:nvPr/>
        </p:nvSpPr>
        <p:spPr>
          <a:xfrm>
            <a:off x="560895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51" name="slot.forum.1.day.2.2"/>
          <p:cNvSpPr/>
          <p:nvPr/>
        </p:nvSpPr>
        <p:spPr>
          <a:xfrm>
            <a:off x="786060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52" name="slot.forum.1.day.2.3"/>
          <p:cNvSpPr/>
          <p:nvPr/>
        </p:nvSpPr>
        <p:spPr>
          <a:xfrm>
            <a:off x="1011226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53" name="slot.forum.1.day.2.4"/>
          <p:cNvSpPr/>
          <p:nvPr/>
        </p:nvSpPr>
        <p:spPr>
          <a:xfrm>
            <a:off x="1236390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54" name="slot.forum.1.day.2.5"/>
          <p:cNvSpPr/>
          <p:nvPr/>
        </p:nvSpPr>
        <p:spPr>
          <a:xfrm>
            <a:off x="1461555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55" name="slot.forum.1.day.2.6"/>
          <p:cNvSpPr/>
          <p:nvPr/>
        </p:nvSpPr>
        <p:spPr>
          <a:xfrm>
            <a:off x="1686720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56" name="slot.forum.1.day.2.7"/>
          <p:cNvSpPr/>
          <p:nvPr/>
        </p:nvSpPr>
        <p:spPr>
          <a:xfrm>
            <a:off x="1911885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57" name="slot.forum.1.day.3.1"/>
          <p:cNvSpPr/>
          <p:nvPr/>
        </p:nvSpPr>
        <p:spPr>
          <a:xfrm>
            <a:off x="560895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58" name="slot.forum.1.day.3.2"/>
          <p:cNvSpPr/>
          <p:nvPr/>
        </p:nvSpPr>
        <p:spPr>
          <a:xfrm>
            <a:off x="786060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59" name="slot.forum.1.day.3.3"/>
          <p:cNvSpPr/>
          <p:nvPr/>
        </p:nvSpPr>
        <p:spPr>
          <a:xfrm>
            <a:off x="1011226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60" name="slot.forum.1.day.3.4"/>
          <p:cNvSpPr/>
          <p:nvPr/>
        </p:nvSpPr>
        <p:spPr>
          <a:xfrm>
            <a:off x="1236390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61" name="slot.forum.1.day.3.5"/>
          <p:cNvSpPr/>
          <p:nvPr/>
        </p:nvSpPr>
        <p:spPr>
          <a:xfrm>
            <a:off x="1461555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62" name="slot.forum.1.day.3.6"/>
          <p:cNvSpPr/>
          <p:nvPr/>
        </p:nvSpPr>
        <p:spPr>
          <a:xfrm>
            <a:off x="1686720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63" name="slot.forum.1.day.3.7"/>
          <p:cNvSpPr/>
          <p:nvPr/>
        </p:nvSpPr>
        <p:spPr>
          <a:xfrm>
            <a:off x="1911885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64" name="slot.forum.1.day.4.1"/>
          <p:cNvSpPr/>
          <p:nvPr/>
        </p:nvSpPr>
        <p:spPr>
          <a:xfrm>
            <a:off x="560895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65" name="slot.forum.1.day.4.2"/>
          <p:cNvSpPr/>
          <p:nvPr/>
        </p:nvSpPr>
        <p:spPr>
          <a:xfrm>
            <a:off x="786060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66" name="slot.forum.1.day.4.3"/>
          <p:cNvSpPr/>
          <p:nvPr/>
        </p:nvSpPr>
        <p:spPr>
          <a:xfrm>
            <a:off x="1011226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67" name="slot.forum.1.day.4.4"/>
          <p:cNvSpPr/>
          <p:nvPr/>
        </p:nvSpPr>
        <p:spPr>
          <a:xfrm>
            <a:off x="1236390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68" name="slot.forum.1.day.4.5"/>
          <p:cNvSpPr/>
          <p:nvPr/>
        </p:nvSpPr>
        <p:spPr>
          <a:xfrm>
            <a:off x="1461555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69" name="slot.forum.1.day.4.6"/>
          <p:cNvSpPr/>
          <p:nvPr/>
        </p:nvSpPr>
        <p:spPr>
          <a:xfrm>
            <a:off x="1686720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70" name="slot.forum.1.day.4.7"/>
          <p:cNvSpPr/>
          <p:nvPr/>
        </p:nvSpPr>
        <p:spPr>
          <a:xfrm>
            <a:off x="1911885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71" name="slot.forum.2.day.1.1"/>
          <p:cNvSpPr/>
          <p:nvPr/>
        </p:nvSpPr>
        <p:spPr>
          <a:xfrm>
            <a:off x="2729870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72" name="slot.forum.2.day.1.2"/>
          <p:cNvSpPr/>
          <p:nvPr/>
        </p:nvSpPr>
        <p:spPr>
          <a:xfrm>
            <a:off x="2955035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73" name="slot.forum.2.day.1.3"/>
          <p:cNvSpPr/>
          <p:nvPr/>
        </p:nvSpPr>
        <p:spPr>
          <a:xfrm>
            <a:off x="3180200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74" name="slot.forum.2.day.1.4"/>
          <p:cNvSpPr/>
          <p:nvPr/>
        </p:nvSpPr>
        <p:spPr>
          <a:xfrm>
            <a:off x="3405364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75" name="slot.forum.2.day.1.5"/>
          <p:cNvSpPr/>
          <p:nvPr/>
        </p:nvSpPr>
        <p:spPr>
          <a:xfrm>
            <a:off x="3630529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76" name="slot.forum.2.day.1.6"/>
          <p:cNvSpPr/>
          <p:nvPr/>
        </p:nvSpPr>
        <p:spPr>
          <a:xfrm>
            <a:off x="3855695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77" name="slot.forum.2.day.1.7"/>
          <p:cNvSpPr/>
          <p:nvPr/>
        </p:nvSpPr>
        <p:spPr>
          <a:xfrm>
            <a:off x="4080860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78" name="slot.forum.2.day.2.1"/>
          <p:cNvSpPr/>
          <p:nvPr/>
        </p:nvSpPr>
        <p:spPr>
          <a:xfrm>
            <a:off x="2729870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79" name="slot.forum.2.day.2.2"/>
          <p:cNvSpPr/>
          <p:nvPr/>
        </p:nvSpPr>
        <p:spPr>
          <a:xfrm>
            <a:off x="2955035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80" name="slot.forum.2.day.2.3"/>
          <p:cNvSpPr/>
          <p:nvPr/>
        </p:nvSpPr>
        <p:spPr>
          <a:xfrm>
            <a:off x="3180200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81" name="slot.forum.2.day.2.4"/>
          <p:cNvSpPr/>
          <p:nvPr/>
        </p:nvSpPr>
        <p:spPr>
          <a:xfrm>
            <a:off x="3405364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82" name="slot.forum.2.day.2.5"/>
          <p:cNvSpPr/>
          <p:nvPr/>
        </p:nvSpPr>
        <p:spPr>
          <a:xfrm>
            <a:off x="3630529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83" name="slot.forum.2.day.2.6"/>
          <p:cNvSpPr/>
          <p:nvPr/>
        </p:nvSpPr>
        <p:spPr>
          <a:xfrm>
            <a:off x="3855695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84" name="slot.forum.2.day.2.7"/>
          <p:cNvSpPr/>
          <p:nvPr/>
        </p:nvSpPr>
        <p:spPr>
          <a:xfrm>
            <a:off x="4080860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85" name="slot.forum.2.day.3.1"/>
          <p:cNvSpPr/>
          <p:nvPr/>
        </p:nvSpPr>
        <p:spPr>
          <a:xfrm>
            <a:off x="2729870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86" name="slot.forum.2.day.3.2"/>
          <p:cNvSpPr/>
          <p:nvPr/>
        </p:nvSpPr>
        <p:spPr>
          <a:xfrm>
            <a:off x="2955035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87" name="slot.forum.2.day.3.3"/>
          <p:cNvSpPr/>
          <p:nvPr/>
        </p:nvSpPr>
        <p:spPr>
          <a:xfrm>
            <a:off x="3180200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88" name="slot.forum.2.day.3.4"/>
          <p:cNvSpPr/>
          <p:nvPr/>
        </p:nvSpPr>
        <p:spPr>
          <a:xfrm>
            <a:off x="3405364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89" name="slot.forum.2.day.3.5"/>
          <p:cNvSpPr/>
          <p:nvPr/>
        </p:nvSpPr>
        <p:spPr>
          <a:xfrm>
            <a:off x="3630529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90" name="slot.forum.2.day.3.6"/>
          <p:cNvSpPr/>
          <p:nvPr/>
        </p:nvSpPr>
        <p:spPr>
          <a:xfrm>
            <a:off x="3855695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91" name="slot.forum.2.day.3.7"/>
          <p:cNvSpPr/>
          <p:nvPr/>
        </p:nvSpPr>
        <p:spPr>
          <a:xfrm>
            <a:off x="4080860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92" name="slot.forum.2.day.4.1"/>
          <p:cNvSpPr/>
          <p:nvPr/>
        </p:nvSpPr>
        <p:spPr>
          <a:xfrm>
            <a:off x="2729870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93" name="slot.forum.2.day.4.2"/>
          <p:cNvSpPr/>
          <p:nvPr/>
        </p:nvSpPr>
        <p:spPr>
          <a:xfrm>
            <a:off x="2955035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94" name="slot.forum.2.day.4.3"/>
          <p:cNvSpPr/>
          <p:nvPr/>
        </p:nvSpPr>
        <p:spPr>
          <a:xfrm>
            <a:off x="3180200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95" name="slot.forum.2.day.4.4"/>
          <p:cNvSpPr/>
          <p:nvPr/>
        </p:nvSpPr>
        <p:spPr>
          <a:xfrm>
            <a:off x="3405364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96" name="slot.forum.2.day.4.5"/>
          <p:cNvSpPr/>
          <p:nvPr/>
        </p:nvSpPr>
        <p:spPr>
          <a:xfrm>
            <a:off x="3630529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97" name="slot.forum.2.day.4.6"/>
          <p:cNvSpPr/>
          <p:nvPr/>
        </p:nvSpPr>
        <p:spPr>
          <a:xfrm>
            <a:off x="3855695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98" name="slot.forum.2.day.4.7"/>
          <p:cNvSpPr/>
          <p:nvPr/>
        </p:nvSpPr>
        <p:spPr>
          <a:xfrm>
            <a:off x="4080860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99" name="slot.forum.3.day.1.1"/>
          <p:cNvSpPr/>
          <p:nvPr/>
        </p:nvSpPr>
        <p:spPr>
          <a:xfrm>
            <a:off x="4898845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00" name="slot.forum.3.day.1.2"/>
          <p:cNvSpPr/>
          <p:nvPr/>
        </p:nvSpPr>
        <p:spPr>
          <a:xfrm>
            <a:off x="5124010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01" name="slot.forum.3.day.1.3"/>
          <p:cNvSpPr/>
          <p:nvPr/>
        </p:nvSpPr>
        <p:spPr>
          <a:xfrm>
            <a:off x="5349175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02" name="slot.forum.3.day.1.4"/>
          <p:cNvSpPr/>
          <p:nvPr/>
        </p:nvSpPr>
        <p:spPr>
          <a:xfrm>
            <a:off x="5574339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03" name="slot.forum.3.day.1.5"/>
          <p:cNvSpPr/>
          <p:nvPr/>
        </p:nvSpPr>
        <p:spPr>
          <a:xfrm>
            <a:off x="5799504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04" name="slot.forum.3.day.1.6"/>
          <p:cNvSpPr/>
          <p:nvPr/>
        </p:nvSpPr>
        <p:spPr>
          <a:xfrm>
            <a:off x="6024669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05" name="slot.forum.3.day.1.7"/>
          <p:cNvSpPr/>
          <p:nvPr/>
        </p:nvSpPr>
        <p:spPr>
          <a:xfrm>
            <a:off x="6249834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06" name="slot.forum.3.day.2.1"/>
          <p:cNvSpPr/>
          <p:nvPr/>
        </p:nvSpPr>
        <p:spPr>
          <a:xfrm>
            <a:off x="4898845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07" name="slot.forum.3.day.2.2"/>
          <p:cNvSpPr/>
          <p:nvPr/>
        </p:nvSpPr>
        <p:spPr>
          <a:xfrm>
            <a:off x="5124010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08" name="slot.forum.3.day.2.3"/>
          <p:cNvSpPr/>
          <p:nvPr/>
        </p:nvSpPr>
        <p:spPr>
          <a:xfrm>
            <a:off x="5349175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09" name="slot.forum.3.day.2.4"/>
          <p:cNvSpPr/>
          <p:nvPr/>
        </p:nvSpPr>
        <p:spPr>
          <a:xfrm>
            <a:off x="5574339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10" name="slot.forum.3.day.2.5"/>
          <p:cNvSpPr/>
          <p:nvPr/>
        </p:nvSpPr>
        <p:spPr>
          <a:xfrm>
            <a:off x="5799504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11" name="slot.forum.3.day.2.6"/>
          <p:cNvSpPr/>
          <p:nvPr/>
        </p:nvSpPr>
        <p:spPr>
          <a:xfrm>
            <a:off x="6024669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12" name="slot.forum.3.day.2.7"/>
          <p:cNvSpPr/>
          <p:nvPr/>
        </p:nvSpPr>
        <p:spPr>
          <a:xfrm>
            <a:off x="6249834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13" name="slot.forum.3.day.3.1"/>
          <p:cNvSpPr/>
          <p:nvPr/>
        </p:nvSpPr>
        <p:spPr>
          <a:xfrm>
            <a:off x="4898845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14" name="slot.forum.3.day.3.2"/>
          <p:cNvSpPr/>
          <p:nvPr/>
        </p:nvSpPr>
        <p:spPr>
          <a:xfrm>
            <a:off x="5124010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15" name="slot.forum.3.day.3.3"/>
          <p:cNvSpPr/>
          <p:nvPr/>
        </p:nvSpPr>
        <p:spPr>
          <a:xfrm>
            <a:off x="5349175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16" name="slot.forum.3.day.3.4"/>
          <p:cNvSpPr/>
          <p:nvPr/>
        </p:nvSpPr>
        <p:spPr>
          <a:xfrm>
            <a:off x="5574339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17" name="slot.forum.3.day.3.5"/>
          <p:cNvSpPr/>
          <p:nvPr/>
        </p:nvSpPr>
        <p:spPr>
          <a:xfrm>
            <a:off x="5799504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18" name="slot.forum.3.day.3.6"/>
          <p:cNvSpPr/>
          <p:nvPr/>
        </p:nvSpPr>
        <p:spPr>
          <a:xfrm>
            <a:off x="6024669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19" name="slot.forum.3.day.3.7"/>
          <p:cNvSpPr/>
          <p:nvPr/>
        </p:nvSpPr>
        <p:spPr>
          <a:xfrm>
            <a:off x="6249834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20" name="slot.forum.3.day.4.1"/>
          <p:cNvSpPr/>
          <p:nvPr/>
        </p:nvSpPr>
        <p:spPr>
          <a:xfrm>
            <a:off x="4898845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21" name="slot.forum.3.day.4.2"/>
          <p:cNvSpPr/>
          <p:nvPr/>
        </p:nvSpPr>
        <p:spPr>
          <a:xfrm>
            <a:off x="5124010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22" name="slot.forum.3.day.4.3"/>
          <p:cNvSpPr/>
          <p:nvPr/>
        </p:nvSpPr>
        <p:spPr>
          <a:xfrm>
            <a:off x="5349175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23" name="slot.forum.3.day.4.4"/>
          <p:cNvSpPr/>
          <p:nvPr/>
        </p:nvSpPr>
        <p:spPr>
          <a:xfrm>
            <a:off x="5574339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24" name="slot.forum.3.day.4.5"/>
          <p:cNvSpPr/>
          <p:nvPr/>
        </p:nvSpPr>
        <p:spPr>
          <a:xfrm>
            <a:off x="5799504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25" name="slot.forum.3.day.4.6"/>
          <p:cNvSpPr/>
          <p:nvPr/>
        </p:nvSpPr>
        <p:spPr>
          <a:xfrm>
            <a:off x="6024669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26" name="slot.forum.3.day.4.7"/>
          <p:cNvSpPr/>
          <p:nvPr/>
        </p:nvSpPr>
        <p:spPr>
          <a:xfrm>
            <a:off x="6249834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27" name="slot.forum.4.day.1.1"/>
          <p:cNvSpPr/>
          <p:nvPr/>
        </p:nvSpPr>
        <p:spPr>
          <a:xfrm>
            <a:off x="7067820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28" name="slot.forum.4.day.1.2"/>
          <p:cNvSpPr/>
          <p:nvPr/>
        </p:nvSpPr>
        <p:spPr>
          <a:xfrm>
            <a:off x="7292985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29" name="slot.forum.4.day.1.3"/>
          <p:cNvSpPr/>
          <p:nvPr/>
        </p:nvSpPr>
        <p:spPr>
          <a:xfrm>
            <a:off x="7518150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30" name="slot.forum.4.day.1.4"/>
          <p:cNvSpPr/>
          <p:nvPr/>
        </p:nvSpPr>
        <p:spPr>
          <a:xfrm>
            <a:off x="7743315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31" name="slot.forum.4.day.1.5"/>
          <p:cNvSpPr/>
          <p:nvPr/>
        </p:nvSpPr>
        <p:spPr>
          <a:xfrm>
            <a:off x="7968479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32" name="slot.forum.4.day.1.6"/>
          <p:cNvSpPr/>
          <p:nvPr/>
        </p:nvSpPr>
        <p:spPr>
          <a:xfrm>
            <a:off x="8193644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33" name="slot.forum.4.day.1.7"/>
          <p:cNvSpPr/>
          <p:nvPr/>
        </p:nvSpPr>
        <p:spPr>
          <a:xfrm>
            <a:off x="8418810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34" name="slot.forum.4.day.2.1"/>
          <p:cNvSpPr/>
          <p:nvPr/>
        </p:nvSpPr>
        <p:spPr>
          <a:xfrm>
            <a:off x="7067820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35" name="slot.forum.4.day.2.2"/>
          <p:cNvSpPr/>
          <p:nvPr/>
        </p:nvSpPr>
        <p:spPr>
          <a:xfrm>
            <a:off x="7292985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36" name="slot.forum.4.day.2.3"/>
          <p:cNvSpPr/>
          <p:nvPr/>
        </p:nvSpPr>
        <p:spPr>
          <a:xfrm>
            <a:off x="7518150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37" name="slot.forum.4.day.2.4"/>
          <p:cNvSpPr/>
          <p:nvPr/>
        </p:nvSpPr>
        <p:spPr>
          <a:xfrm>
            <a:off x="7743315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38" name="slot.forum.4.day.2.5"/>
          <p:cNvSpPr/>
          <p:nvPr/>
        </p:nvSpPr>
        <p:spPr>
          <a:xfrm>
            <a:off x="7968479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39" name="slot.forum.4.day.2.6"/>
          <p:cNvSpPr/>
          <p:nvPr/>
        </p:nvSpPr>
        <p:spPr>
          <a:xfrm>
            <a:off x="8193644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40" name="slot.forum.4.day.2.7"/>
          <p:cNvSpPr/>
          <p:nvPr/>
        </p:nvSpPr>
        <p:spPr>
          <a:xfrm>
            <a:off x="8418810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41" name="slot.forum.4.day.3.1"/>
          <p:cNvSpPr/>
          <p:nvPr/>
        </p:nvSpPr>
        <p:spPr>
          <a:xfrm>
            <a:off x="7067820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42" name="slot.forum.4.day.3.2"/>
          <p:cNvSpPr/>
          <p:nvPr/>
        </p:nvSpPr>
        <p:spPr>
          <a:xfrm>
            <a:off x="7292985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43" name="slot.forum.4.day.3.3"/>
          <p:cNvSpPr/>
          <p:nvPr/>
        </p:nvSpPr>
        <p:spPr>
          <a:xfrm>
            <a:off x="7518150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44" name="slot.forum.4.day.3.4"/>
          <p:cNvSpPr/>
          <p:nvPr/>
        </p:nvSpPr>
        <p:spPr>
          <a:xfrm>
            <a:off x="7743315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45" name="slot.forum.4.day.3.5"/>
          <p:cNvSpPr/>
          <p:nvPr/>
        </p:nvSpPr>
        <p:spPr>
          <a:xfrm>
            <a:off x="7968479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46" name="slot.forum.4.day.3.6"/>
          <p:cNvSpPr/>
          <p:nvPr/>
        </p:nvSpPr>
        <p:spPr>
          <a:xfrm>
            <a:off x="8193644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47" name="slot.forum.4.day.3.7"/>
          <p:cNvSpPr/>
          <p:nvPr/>
        </p:nvSpPr>
        <p:spPr>
          <a:xfrm>
            <a:off x="8418810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48" name="slot.forum.4.day.4.1"/>
          <p:cNvSpPr/>
          <p:nvPr/>
        </p:nvSpPr>
        <p:spPr>
          <a:xfrm>
            <a:off x="7067820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49" name="slot.forum.4.day.4.2"/>
          <p:cNvSpPr/>
          <p:nvPr/>
        </p:nvSpPr>
        <p:spPr>
          <a:xfrm>
            <a:off x="7292985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50" name="slot.forum.4.day.4.3"/>
          <p:cNvSpPr/>
          <p:nvPr/>
        </p:nvSpPr>
        <p:spPr>
          <a:xfrm>
            <a:off x="7518150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51" name="slot.forum.4.day.4.4"/>
          <p:cNvSpPr/>
          <p:nvPr/>
        </p:nvSpPr>
        <p:spPr>
          <a:xfrm>
            <a:off x="7743315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52" name="slot.forum.4.day.4.5"/>
          <p:cNvSpPr/>
          <p:nvPr/>
        </p:nvSpPr>
        <p:spPr>
          <a:xfrm>
            <a:off x="7968479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53" name="slot.forum.4.day.4.6"/>
          <p:cNvSpPr/>
          <p:nvPr/>
        </p:nvSpPr>
        <p:spPr>
          <a:xfrm>
            <a:off x="8193644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54" name="slot.forum.4.day.4.7"/>
          <p:cNvSpPr/>
          <p:nvPr/>
        </p:nvSpPr>
        <p:spPr>
          <a:xfrm>
            <a:off x="8418810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55" name="slot.forum.1.row.1.label"/>
          <p:cNvSpPr txBox="1"/>
          <p:nvPr/>
        </p:nvSpPr>
        <p:spPr>
          <a:xfrm>
            <a:off x="457200" y="3456432"/>
            <a:ext cx="676488" cy="2194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Chair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slot.forum.1.row.1.value"/>
          <p:cNvSpPr txBox="1"/>
          <p:nvPr/>
        </p:nvSpPr>
        <p:spPr>
          <a:xfrm>
            <a:off x="1188538" y="3456432"/>
            <a:ext cx="1006431" cy="3657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Executive sponsor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slot.forum.2.row.1.value"/>
          <p:cNvSpPr txBox="1"/>
          <p:nvPr/>
        </p:nvSpPr>
        <p:spPr>
          <a:xfrm>
            <a:off x="3172294" y="3456432"/>
            <a:ext cx="1213847" cy="3657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Program director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slot.forum.4.row.1.label"/>
          <p:cNvSpPr txBox="1"/>
          <p:nvPr/>
        </p:nvSpPr>
        <p:spPr>
          <a:xfrm>
            <a:off x="6819845" y="3456432"/>
            <a:ext cx="676488" cy="2194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Chair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slot.forum.4.row.1.value"/>
          <p:cNvSpPr txBox="1"/>
          <p:nvPr/>
        </p:nvSpPr>
        <p:spPr>
          <a:xfrm>
            <a:off x="7551183" y="3456432"/>
            <a:ext cx="1296612" cy="3657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Delivery manager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slot.forum.3.row.1.value"/>
          <p:cNvSpPr txBox="1"/>
          <p:nvPr/>
        </p:nvSpPr>
        <p:spPr>
          <a:xfrm>
            <a:off x="5357168" y="3456432"/>
            <a:ext cx="1220144" cy="3657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Lead architect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slot.forum.2.row.1.label"/>
          <p:cNvSpPr txBox="1"/>
          <p:nvPr/>
        </p:nvSpPr>
        <p:spPr>
          <a:xfrm>
            <a:off x="2440956" y="3456432"/>
            <a:ext cx="676488" cy="2194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Chair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slot.forum.3.row.1.label"/>
          <p:cNvSpPr txBox="1"/>
          <p:nvPr/>
        </p:nvSpPr>
        <p:spPr>
          <a:xfrm>
            <a:off x="4625829" y="3456432"/>
            <a:ext cx="676488" cy="2194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Chair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slot.forum.1.row.2.value"/>
          <p:cNvSpPr txBox="1"/>
          <p:nvPr/>
        </p:nvSpPr>
        <p:spPr>
          <a:xfrm>
            <a:off x="1188538" y="3931920"/>
            <a:ext cx="1006431" cy="49377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Both sponsors, program leads and finance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slot.forum.2.row.2.value"/>
          <p:cNvSpPr txBox="1"/>
          <p:nvPr/>
        </p:nvSpPr>
        <p:spPr>
          <a:xfrm>
            <a:off x="3172294" y="3931920"/>
            <a:ext cx="1213847" cy="49377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Workstream leads from both parties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slot.forum.4.row.2.label"/>
          <p:cNvSpPr txBox="1"/>
          <p:nvPr/>
        </p:nvSpPr>
        <p:spPr>
          <a:xfrm>
            <a:off x="6819845" y="3931920"/>
            <a:ext cx="676488" cy="2194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Members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slot.forum.4.row.2.value"/>
          <p:cNvSpPr txBox="1"/>
          <p:nvPr/>
        </p:nvSpPr>
        <p:spPr>
          <a:xfrm>
            <a:off x="7551183" y="3931920"/>
            <a:ext cx="1296612" cy="49377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Squad leads and product owners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slot.forum.3.row.2.value"/>
          <p:cNvSpPr txBox="1"/>
          <p:nvPr/>
        </p:nvSpPr>
        <p:spPr>
          <a:xfrm>
            <a:off x="5357168" y="3931920"/>
            <a:ext cx="1220144" cy="49377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Architects, security and data owners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slot.forum.1.row.2.label"/>
          <p:cNvSpPr txBox="1"/>
          <p:nvPr/>
        </p:nvSpPr>
        <p:spPr>
          <a:xfrm>
            <a:off x="457200" y="3931920"/>
            <a:ext cx="676488" cy="2194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Members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slot.forum.2.row.2.label"/>
          <p:cNvSpPr txBox="1"/>
          <p:nvPr/>
        </p:nvSpPr>
        <p:spPr>
          <a:xfrm>
            <a:off x="2440956" y="3931920"/>
            <a:ext cx="676488" cy="2194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Members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slot.forum.3.row.2.label"/>
          <p:cNvSpPr txBox="1"/>
          <p:nvPr/>
        </p:nvSpPr>
        <p:spPr>
          <a:xfrm>
            <a:off x="4625829" y="3931920"/>
            <a:ext cx="676488" cy="2194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Members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slot.forum.1.row.3.value"/>
          <p:cNvSpPr txBox="1"/>
          <p:nvPr/>
        </p:nvSpPr>
        <p:spPr>
          <a:xfrm>
            <a:off x="1188538" y="4535424"/>
            <a:ext cx="1006431" cy="3657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Budget and phase gates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slot.forum.2.row.3.value"/>
          <p:cNvSpPr txBox="1"/>
          <p:nvPr/>
        </p:nvSpPr>
        <p:spPr>
          <a:xfrm>
            <a:off x="3172294" y="4535424"/>
            <a:ext cx="1213847" cy="3657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Plan changes and staffing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slot.forum.3.row.3.value"/>
          <p:cNvSpPr txBox="1"/>
          <p:nvPr/>
        </p:nvSpPr>
        <p:spPr>
          <a:xfrm>
            <a:off x="5357168" y="4535424"/>
            <a:ext cx="1220144" cy="3657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Standards and design waivers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slot.forum.1.row.3.label"/>
          <p:cNvSpPr txBox="1"/>
          <p:nvPr/>
        </p:nvSpPr>
        <p:spPr>
          <a:xfrm>
            <a:off x="457200" y="4535424"/>
            <a:ext cx="676488" cy="2194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Decides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slot.forum.2.row.3.label"/>
          <p:cNvSpPr txBox="1"/>
          <p:nvPr/>
        </p:nvSpPr>
        <p:spPr>
          <a:xfrm>
            <a:off x="2440956" y="4535424"/>
            <a:ext cx="676488" cy="2194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Decides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slot.forum.3.row.3.label"/>
          <p:cNvSpPr txBox="1"/>
          <p:nvPr/>
        </p:nvSpPr>
        <p:spPr>
          <a:xfrm>
            <a:off x="4625829" y="4535424"/>
            <a:ext cx="676488" cy="2194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Decides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7" name="slot.forum.4.row.3.label"/>
          <p:cNvSpPr txBox="1"/>
          <p:nvPr/>
        </p:nvSpPr>
        <p:spPr>
          <a:xfrm>
            <a:off x="6819845" y="4535424"/>
            <a:ext cx="676488" cy="2194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Decides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slot.forum.4.row.3.value"/>
          <p:cNvSpPr txBox="1"/>
          <p:nvPr/>
        </p:nvSpPr>
        <p:spPr>
          <a:xfrm>
            <a:off x="7551183" y="4535424"/>
            <a:ext cx="1296612" cy="3657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Blockers and daily priorities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79" name="struct.forum.1.rule.1"/>
          <p:cNvCxnSpPr>
            <a:cxnSpLocks/>
          </p:cNvCxnSpPr>
          <p:nvPr/>
        </p:nvCxnSpPr>
        <p:spPr>
          <a:xfrm>
            <a:off x="458573" y="3877055"/>
            <a:ext cx="1736397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80" name="struct.forum.1.rule.2"/>
          <p:cNvCxnSpPr>
            <a:cxnSpLocks/>
          </p:cNvCxnSpPr>
          <p:nvPr/>
        </p:nvCxnSpPr>
        <p:spPr>
          <a:xfrm>
            <a:off x="458573" y="4480559"/>
            <a:ext cx="1736397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81" name="struct.forum.2.rule.1"/>
          <p:cNvCxnSpPr>
            <a:cxnSpLocks/>
          </p:cNvCxnSpPr>
          <p:nvPr/>
        </p:nvCxnSpPr>
        <p:spPr>
          <a:xfrm>
            <a:off x="2437256" y="3877055"/>
            <a:ext cx="194887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82" name="struct.forum.2.rule.2"/>
          <p:cNvCxnSpPr>
            <a:cxnSpLocks/>
          </p:cNvCxnSpPr>
          <p:nvPr/>
        </p:nvCxnSpPr>
        <p:spPr>
          <a:xfrm>
            <a:off x="2437256" y="4480559"/>
            <a:ext cx="194887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83" name="struct.forum.3.rule.1"/>
          <p:cNvCxnSpPr>
            <a:cxnSpLocks/>
          </p:cNvCxnSpPr>
          <p:nvPr/>
        </p:nvCxnSpPr>
        <p:spPr>
          <a:xfrm>
            <a:off x="4628428" y="3877055"/>
            <a:ext cx="194888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84" name="struct.forum.3.rule.2"/>
          <p:cNvCxnSpPr>
            <a:cxnSpLocks/>
          </p:cNvCxnSpPr>
          <p:nvPr/>
        </p:nvCxnSpPr>
        <p:spPr>
          <a:xfrm>
            <a:off x="4628428" y="4480559"/>
            <a:ext cx="194888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85" name="struct.forum.4.rule.1"/>
          <p:cNvCxnSpPr>
            <a:cxnSpLocks/>
          </p:cNvCxnSpPr>
          <p:nvPr/>
        </p:nvCxnSpPr>
        <p:spPr>
          <a:xfrm>
            <a:off x="6819597" y="3877055"/>
            <a:ext cx="2028197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86" name="struct.forum.4.rule.2"/>
          <p:cNvCxnSpPr>
            <a:cxnSpLocks/>
          </p:cNvCxnSpPr>
          <p:nvPr/>
        </p:nvCxnSpPr>
        <p:spPr>
          <a:xfrm>
            <a:off x="6819597" y="4480559"/>
            <a:ext cx="2028197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187" name="slot.forum.2.cadence"/>
          <p:cNvSpPr/>
          <p:nvPr/>
        </p:nvSpPr>
        <p:spPr>
          <a:xfrm>
            <a:off x="2437257" y="3072384"/>
            <a:ext cx="1948885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accent1"/>
            </a:solidFill>
          </a:ln>
          <a:effectLst/>
        </p:spPr>
        <p:txBody>
          <a:bodyPr rtlCol="0" anchor="ctr" wrap="square" lIns="91440" tIns="45720" rIns="91440" bIns="4572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Every two weeks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8" name="slot.forum.3.cadence"/>
          <p:cNvSpPr/>
          <p:nvPr/>
        </p:nvSpPr>
        <p:spPr>
          <a:xfrm>
            <a:off x="4628428" y="3072384"/>
            <a:ext cx="1948883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accent1"/>
            </a:solidFill>
          </a:ln>
          <a:effectLst/>
        </p:spPr>
        <p:txBody>
          <a:bodyPr rtlCol="0" anchor="ctr" wrap="square" lIns="91440" tIns="45720" rIns="91440" bIns="4572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Weekly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9" name="slot.forum.4.cadence"/>
          <p:cNvSpPr/>
          <p:nvPr/>
        </p:nvSpPr>
        <p:spPr>
          <a:xfrm>
            <a:off x="6819597" y="3072384"/>
            <a:ext cx="2028200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accent1"/>
            </a:solidFill>
          </a:ln>
          <a:effectLst/>
        </p:spPr>
        <p:txBody>
          <a:bodyPr rtlCol="0" anchor="ctr" wrap="square" lIns="91440" tIns="45720" rIns="91440" bIns="4572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Daily on weekdays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0" name="slot.forum.1.cadence"/>
          <p:cNvSpPr/>
          <p:nvPr/>
        </p:nvSpPr>
        <p:spPr>
          <a:xfrm>
            <a:off x="458573" y="3072384"/>
            <a:ext cx="1736397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accent1"/>
            </a:solidFill>
          </a:ln>
          <a:effectLst/>
        </p:spPr>
        <p:txBody>
          <a:bodyPr rtlCol="0" anchor="ctr" wrap="square" lIns="91440" tIns="45720" rIns="91440" bIns="4572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Monthly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1" name="struct.rules.panel"/>
          <p:cNvSpPr/>
          <p:nvPr/>
        </p:nvSpPr>
        <p:spPr>
          <a:xfrm>
            <a:off x="457200" y="5138928"/>
            <a:ext cx="8392109" cy="1097280"/>
          </a:xfrm>
          <a:prstGeom prst="rect">
            <a:avLst/>
          </a:prstGeom>
          <a:noFill/>
          <a:ln w="6350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 sz="900" b="1">
              <a:solidFill>
                <a:schemeClr val="bg1"/>
              </a:solidFill>
            </a:endParaRPr>
          </a:p>
        </p:txBody>
      </p:sp>
      <p:sp>
        <p:nvSpPr>
          <p:cNvPr id="192" name="slot.rules.1.num"/>
          <p:cNvSpPr txBox="1"/>
          <p:nvPr/>
        </p:nvSpPr>
        <p:spPr>
          <a:xfrm>
            <a:off x="649176" y="5650992"/>
            <a:ext cx="329102" cy="27432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01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3" name="slot.rules.1.body"/>
          <p:cNvSpPr txBox="1"/>
          <p:nvPr/>
        </p:nvSpPr>
        <p:spPr>
          <a:xfrm>
            <a:off x="1014845" y="5650992"/>
            <a:ext cx="1490102" cy="47548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Decisions logged within one day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4" name="slot.rules.2.num"/>
          <p:cNvSpPr txBox="1"/>
          <p:nvPr/>
        </p:nvSpPr>
        <p:spPr>
          <a:xfrm>
            <a:off x="2651215" y="5650992"/>
            <a:ext cx="329102" cy="27432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02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5" name="slot.rules.2.body"/>
          <p:cNvSpPr txBox="1"/>
          <p:nvPr/>
        </p:nvSpPr>
        <p:spPr>
          <a:xfrm>
            <a:off x="3016885" y="5650992"/>
            <a:ext cx="1490102" cy="47548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Papers sent two days ahead of each session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6" name="slot.rules.3.num"/>
          <p:cNvSpPr txBox="1"/>
          <p:nvPr/>
        </p:nvSpPr>
        <p:spPr>
          <a:xfrm>
            <a:off x="4653255" y="5650992"/>
            <a:ext cx="329102" cy="27432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03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7" name="slot.rules.3.body"/>
          <p:cNvSpPr txBox="1"/>
          <p:nvPr/>
        </p:nvSpPr>
        <p:spPr>
          <a:xfrm>
            <a:off x="5018924" y="5650992"/>
            <a:ext cx="1490102" cy="47548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Quorum needs both parties present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8" name="slot.rules.4.num"/>
          <p:cNvSpPr txBox="1"/>
          <p:nvPr/>
        </p:nvSpPr>
        <p:spPr>
          <a:xfrm>
            <a:off x="6655294" y="5650992"/>
            <a:ext cx="329102" cy="27432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04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9" name="slot.rules.4.body"/>
          <p:cNvSpPr txBox="1"/>
          <p:nvPr/>
        </p:nvSpPr>
        <p:spPr>
          <a:xfrm>
            <a:off x="7020963" y="5650992"/>
            <a:ext cx="1490102" cy="47548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shared risk and action log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0" name="slot.rules.label"/>
          <p:cNvSpPr txBox="1"/>
          <p:nvPr/>
        </p:nvSpPr>
        <p:spPr>
          <a:xfrm>
            <a:off x="649176" y="5248656"/>
            <a:ext cx="3291023" cy="256032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Standing rules for every forum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01" name="struct.rules.rule"/>
          <p:cNvCxnSpPr>
            <a:cxnSpLocks/>
          </p:cNvCxnSpPr>
          <p:nvPr/>
        </p:nvCxnSpPr>
        <p:spPr>
          <a:xfrm flipV="1">
            <a:off x="4040759" y="5376672"/>
            <a:ext cx="4616574" cy="0"/>
          </a:xfrm>
          <a:prstGeom prst="line">
            <a:avLst/>
          </a:prstGeom>
          <a:ln w="12700">
            <a:solidFill>
              <a:schemeClr val="accent1"/>
            </a:solidFill>
            <a:prstDash val="solid"/>
          </a:ln>
          <a:effectLst/>
        </p:spPr>
      </p:cxnSp>
      <p:cxnSp>
        <p:nvCxnSpPr>
          <p:cNvPr id="202" name="struct.rules.sep.3"/>
          <p:cNvCxnSpPr>
            <a:cxnSpLocks/>
          </p:cNvCxnSpPr>
          <p:nvPr/>
        </p:nvCxnSpPr>
        <p:spPr>
          <a:xfrm>
            <a:off x="6563876" y="5650992"/>
            <a:ext cx="0" cy="43891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203" name="struct.rules.sep.2"/>
          <p:cNvCxnSpPr>
            <a:cxnSpLocks/>
          </p:cNvCxnSpPr>
          <p:nvPr/>
        </p:nvCxnSpPr>
        <p:spPr>
          <a:xfrm>
            <a:off x="4561837" y="5650992"/>
            <a:ext cx="0" cy="43891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204" name="struct.rules.sep.1"/>
          <p:cNvCxnSpPr>
            <a:cxnSpLocks/>
          </p:cNvCxnSpPr>
          <p:nvPr/>
        </p:nvCxnSpPr>
        <p:spPr>
          <a:xfrm>
            <a:off x="2559798" y="5650992"/>
            <a:ext cx="0" cy="43891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205" name="struct.step.1"/>
          <p:cNvSpPr/>
          <p:nvPr/>
        </p:nvSpPr>
        <p:spPr>
          <a:xfrm>
            <a:off x="9278971" y="1344168"/>
            <a:ext cx="2513976" cy="875995"/>
          </a:xfrm>
          <a:prstGeom prst="roundRect">
            <a:avLst>
              <a:gd name="adj" fmla="val 521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206" name="struct.step.2"/>
          <p:cNvSpPr/>
          <p:nvPr/>
        </p:nvSpPr>
        <p:spPr>
          <a:xfrm>
            <a:off x="9278971" y="2348179"/>
            <a:ext cx="2513976" cy="875995"/>
          </a:xfrm>
          <a:prstGeom prst="roundRect">
            <a:avLst>
              <a:gd name="adj" fmla="val 521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207" name="struct.step.3"/>
          <p:cNvSpPr/>
          <p:nvPr/>
        </p:nvSpPr>
        <p:spPr>
          <a:xfrm>
            <a:off x="9278971" y="3352190"/>
            <a:ext cx="2513976" cy="875995"/>
          </a:xfrm>
          <a:prstGeom prst="roundRect">
            <a:avLst>
              <a:gd name="adj" fmla="val 521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208" name="struct.step.4"/>
          <p:cNvSpPr/>
          <p:nvPr/>
        </p:nvSpPr>
        <p:spPr>
          <a:xfrm>
            <a:off x="9278971" y="4356201"/>
            <a:ext cx="2513976" cy="875995"/>
          </a:xfrm>
          <a:prstGeom prst="roundRect">
            <a:avLst>
              <a:gd name="adj" fmla="val 521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209" name="struct.step.5"/>
          <p:cNvSpPr/>
          <p:nvPr/>
        </p:nvSpPr>
        <p:spPr>
          <a:xfrm>
            <a:off x="9278971" y="5360212"/>
            <a:ext cx="2513976" cy="875995"/>
          </a:xfrm>
          <a:prstGeom prst="roundRect">
            <a:avLst>
              <a:gd name="adj" fmla="val 521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210" name="slot.step.1.who"/>
          <p:cNvSpPr txBox="1"/>
          <p:nvPr/>
        </p:nvSpPr>
        <p:spPr>
          <a:xfrm>
            <a:off x="9800049" y="1435608"/>
            <a:ext cx="950740" cy="693115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Workstream lead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1" name="slot.step.2.who"/>
          <p:cNvSpPr txBox="1"/>
          <p:nvPr/>
        </p:nvSpPr>
        <p:spPr>
          <a:xfrm>
            <a:off x="9800049" y="2439619"/>
            <a:ext cx="950740" cy="693115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Delivery manager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2" name="slot.step.3.who"/>
          <p:cNvSpPr txBox="1"/>
          <p:nvPr/>
        </p:nvSpPr>
        <p:spPr>
          <a:xfrm>
            <a:off x="9800049" y="3443630"/>
            <a:ext cx="950740" cy="693115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Design authority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3" name="slot.step.4.who"/>
          <p:cNvSpPr txBox="1"/>
          <p:nvPr/>
        </p:nvSpPr>
        <p:spPr>
          <a:xfrm>
            <a:off x="9800049" y="4447641"/>
            <a:ext cx="950740" cy="693115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Program board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4" name="slot.step.5.who"/>
          <p:cNvSpPr txBox="1"/>
          <p:nvPr/>
        </p:nvSpPr>
        <p:spPr>
          <a:xfrm>
            <a:off x="9800049" y="5451652"/>
            <a:ext cx="950740" cy="693115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Steering group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5" name="slot.step.1.when"/>
          <p:cNvSpPr/>
          <p:nvPr/>
        </p:nvSpPr>
        <p:spPr>
          <a:xfrm>
            <a:off x="10823923" y="1617573"/>
            <a:ext cx="859323" cy="329184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  <a:effectLst/>
        </p:spPr>
        <p:txBody>
          <a:bodyPr lIns="72000" tIns="72000" rIns="72000" bIns="72000" anchor="ctr" wrap="square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Day 1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6" name="slot.step.2.when"/>
          <p:cNvSpPr/>
          <p:nvPr/>
        </p:nvSpPr>
        <p:spPr>
          <a:xfrm>
            <a:off x="10823923" y="2621584"/>
            <a:ext cx="859323" cy="329184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  <a:effectLst/>
        </p:spPr>
        <p:txBody>
          <a:bodyPr lIns="72000" tIns="72000" rIns="72000" bIns="72000" anchor="ctr" wrap="square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Day 2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7" name="slot.step.3.when"/>
          <p:cNvSpPr/>
          <p:nvPr/>
        </p:nvSpPr>
        <p:spPr>
          <a:xfrm>
            <a:off x="10823923" y="3625596"/>
            <a:ext cx="859323" cy="329184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  <a:effectLst/>
        </p:spPr>
        <p:txBody>
          <a:bodyPr lIns="72000" tIns="72000" rIns="72000" bIns="72000" anchor="ctr" wrap="square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Day 5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8" name="slot.step.4.when"/>
          <p:cNvSpPr/>
          <p:nvPr/>
        </p:nvSpPr>
        <p:spPr>
          <a:xfrm>
            <a:off x="10823923" y="4629607"/>
            <a:ext cx="859323" cy="329184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  <a:effectLst/>
        </p:spPr>
        <p:txBody>
          <a:bodyPr lIns="72000" tIns="72000" rIns="72000" bIns="72000" anchor="ctr" wrap="square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Day 7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9" name="slot.step.5.when"/>
          <p:cNvSpPr/>
          <p:nvPr/>
        </p:nvSpPr>
        <p:spPr>
          <a:xfrm>
            <a:off x="10823923" y="5633618"/>
            <a:ext cx="859323" cy="329184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  <a:effectLst/>
        </p:spPr>
        <p:txBody>
          <a:bodyPr lIns="72000" tIns="72000" rIns="72000" bIns="72000" anchor="ctr" wrap="square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Day 10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0" name="slot.step.1.num"/>
          <p:cNvSpPr/>
          <p:nvPr/>
        </p:nvSpPr>
        <p:spPr>
          <a:xfrm>
            <a:off x="9379484" y="1599285"/>
            <a:ext cx="365760" cy="365760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 w="6350">
            <a:noFill/>
          </a:ln>
          <a:effectLst/>
        </p:spPr>
        <p:txBody>
          <a:bodyPr rtlCol="0" anchor="ctr" lIns="0" tIns="0" rIns="0" bIns="0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1" name="slot.step.2.num"/>
          <p:cNvSpPr/>
          <p:nvPr/>
        </p:nvSpPr>
        <p:spPr>
          <a:xfrm>
            <a:off x="9379484" y="2603296"/>
            <a:ext cx="365760" cy="365760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 w="6350">
            <a:noFill/>
          </a:ln>
          <a:effectLst/>
        </p:spPr>
        <p:txBody>
          <a:bodyPr rtlCol="0" anchor="ctr" lIns="0" tIns="0" rIns="0" bIns="0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2" name="slot.step.3.num"/>
          <p:cNvSpPr/>
          <p:nvPr/>
        </p:nvSpPr>
        <p:spPr>
          <a:xfrm>
            <a:off x="9379484" y="3607308"/>
            <a:ext cx="365760" cy="365760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 w="6350">
            <a:noFill/>
          </a:ln>
          <a:effectLst/>
        </p:spPr>
        <p:txBody>
          <a:bodyPr rtlCol="0" anchor="ctr" lIns="0" tIns="0" rIns="0" bIns="0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3" name="slot.step.4.num"/>
          <p:cNvSpPr/>
          <p:nvPr/>
        </p:nvSpPr>
        <p:spPr>
          <a:xfrm>
            <a:off x="9379484" y="4611319"/>
            <a:ext cx="365760" cy="365760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 w="6350">
            <a:noFill/>
          </a:ln>
          <a:effectLst/>
        </p:spPr>
        <p:txBody>
          <a:bodyPr rtlCol="0" anchor="ctr" lIns="0" tIns="0" rIns="0" bIns="0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4" name="slot.step.5.num"/>
          <p:cNvSpPr/>
          <p:nvPr/>
        </p:nvSpPr>
        <p:spPr>
          <a:xfrm>
            <a:off x="9379484" y="5615330"/>
            <a:ext cx="365760" cy="365760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 w="6350">
            <a:noFill/>
          </a:ln>
          <a:effectLst/>
        </p:spPr>
        <p:txBody>
          <a:bodyPr rtlCol="0" anchor="ctr" lIns="0" tIns="0" rIns="0" bIns="0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5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5" name="slot.forum.1.icon"/>
          <p:cNvSpPr/>
          <p:nvPr/>
        </p:nvSpPr>
        <p:spPr>
          <a:xfrm>
            <a:off x="568246" y="1404217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000" y="18000"/>
                </a:moveTo>
                <a:lnTo>
                  <a:pt x="10000" y="11000"/>
                </a:lnTo>
                <a:moveTo>
                  <a:pt x="11119" y="2205"/>
                </a:moveTo>
                <a:cubicBezTo>
                  <a:pt x="11675" y="1932"/>
                  <a:pt x="12325" y="1932"/>
                  <a:pt x="12881" y="2205"/>
                </a:cubicBezTo>
                <a:lnTo>
                  <a:pt x="20721" y="6051"/>
                </a:lnTo>
                <a:cubicBezTo>
                  <a:pt x="20930" y="6153"/>
                  <a:pt x="21041" y="6387"/>
                  <a:pt x="20988" y="6613"/>
                </a:cubicBezTo>
                <a:cubicBezTo>
                  <a:pt x="20935" y="6840"/>
                  <a:pt x="20733" y="7000"/>
                  <a:pt x="20500" y="7000"/>
                </a:cubicBezTo>
                <a:lnTo>
                  <a:pt x="3500" y="7000"/>
                </a:lnTo>
                <a:cubicBezTo>
                  <a:pt x="3267" y="7000"/>
                  <a:pt x="3065" y="6840"/>
                  <a:pt x="3013" y="6613"/>
                </a:cubicBezTo>
                <a:cubicBezTo>
                  <a:pt x="2960" y="6386"/>
                  <a:pt x="3071" y="6153"/>
                  <a:pt x="3280" y="6051"/>
                </a:cubicBezTo>
                <a:close/>
                <a:moveTo>
                  <a:pt x="14000" y="18000"/>
                </a:moveTo>
                <a:lnTo>
                  <a:pt x="14000" y="11000"/>
                </a:lnTo>
                <a:moveTo>
                  <a:pt x="18000" y="18000"/>
                </a:moveTo>
                <a:lnTo>
                  <a:pt x="18000" y="11000"/>
                </a:lnTo>
                <a:moveTo>
                  <a:pt x="3000" y="22000"/>
                </a:moveTo>
                <a:lnTo>
                  <a:pt x="21000" y="22000"/>
                </a:lnTo>
                <a:moveTo>
                  <a:pt x="6000" y="18000"/>
                </a:moveTo>
                <a:lnTo>
                  <a:pt x="6000" y="11000"/>
                </a:lnTo>
              </a:path>
            </a:pathLst>
          </a:custGeom>
          <a:noFill/>
          <a:ln w="18415" cap="rnd">
            <a:solidFill>
              <a:schemeClr val="bg1"/>
            </a:solidFill>
            <a:round/>
          </a:ln>
          <a:effectLst/>
        </p:spPr>
      </p:sp>
      <p:sp>
        <p:nvSpPr>
          <p:cNvPr id="226" name="slot.forum.2.icon"/>
          <p:cNvSpPr/>
          <p:nvPr/>
        </p:nvSpPr>
        <p:spPr>
          <a:xfrm>
            <a:off x="2546930" y="1404217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000" y="5000"/>
                </a:moveTo>
                <a:lnTo>
                  <a:pt x="21000" y="5000"/>
                </a:lnTo>
                <a:moveTo>
                  <a:pt x="13000" y="12000"/>
                </a:moveTo>
                <a:lnTo>
                  <a:pt x="21000" y="12000"/>
                </a:lnTo>
                <a:moveTo>
                  <a:pt x="13000" y="19000"/>
                </a:moveTo>
                <a:lnTo>
                  <a:pt x="21000" y="19000"/>
                </a:lnTo>
                <a:moveTo>
                  <a:pt x="3000" y="17000"/>
                </a:moveTo>
                <a:lnTo>
                  <a:pt x="5000" y="19000"/>
                </a:lnTo>
                <a:lnTo>
                  <a:pt x="9000" y="15000"/>
                </a:lnTo>
                <a:moveTo>
                  <a:pt x="3000" y="7000"/>
                </a:moveTo>
                <a:lnTo>
                  <a:pt x="5000" y="9000"/>
                </a:lnTo>
                <a:lnTo>
                  <a:pt x="9000" y="5000"/>
                </a:lnTo>
              </a:path>
            </a:pathLst>
          </a:custGeom>
          <a:noFill/>
          <a:ln w="18415" cap="rnd">
            <a:solidFill>
              <a:schemeClr val="bg1"/>
            </a:solidFill>
            <a:round/>
          </a:ln>
          <a:effectLst/>
        </p:spPr>
      </p:sp>
      <p:sp>
        <p:nvSpPr>
          <p:cNvPr id="227" name="slot.forum.3.icon"/>
          <p:cNvSpPr/>
          <p:nvPr/>
        </p:nvSpPr>
        <p:spPr>
          <a:xfrm>
            <a:off x="4738101" y="1404217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830" y="2180"/>
                </a:moveTo>
                <a:cubicBezTo>
                  <a:pt x="12303" y="1940"/>
                  <a:pt x="11697" y="1940"/>
                  <a:pt x="11170" y="2180"/>
                </a:cubicBezTo>
                <a:lnTo>
                  <a:pt x="2600" y="6080"/>
                </a:lnTo>
                <a:cubicBezTo>
                  <a:pt x="2237" y="6240"/>
                  <a:pt x="2003" y="6599"/>
                  <a:pt x="2003" y="6995"/>
                </a:cubicBezTo>
                <a:cubicBezTo>
                  <a:pt x="2003" y="7391"/>
                  <a:pt x="2237" y="7750"/>
                  <a:pt x="2600" y="7910"/>
                </a:cubicBezTo>
                <a:lnTo>
                  <a:pt x="11180" y="11820"/>
                </a:lnTo>
                <a:cubicBezTo>
                  <a:pt x="11707" y="12060"/>
                  <a:pt x="12313" y="12060"/>
                  <a:pt x="12840" y="11820"/>
                </a:cubicBezTo>
                <a:lnTo>
                  <a:pt x="21420" y="7920"/>
                </a:lnTo>
                <a:cubicBezTo>
                  <a:pt x="21783" y="7760"/>
                  <a:pt x="22017" y="7401"/>
                  <a:pt x="22017" y="7005"/>
                </a:cubicBezTo>
                <a:cubicBezTo>
                  <a:pt x="22017" y="6609"/>
                  <a:pt x="21783" y="6250"/>
                  <a:pt x="21420" y="6090"/>
                </a:cubicBezTo>
                <a:close/>
                <a:moveTo>
                  <a:pt x="2000" y="12000"/>
                </a:moveTo>
                <a:cubicBezTo>
                  <a:pt x="1999" y="12391"/>
                  <a:pt x="2226" y="12746"/>
                  <a:pt x="2580" y="12910"/>
                </a:cubicBezTo>
                <a:lnTo>
                  <a:pt x="11180" y="16820"/>
                </a:lnTo>
                <a:cubicBezTo>
                  <a:pt x="11704" y="17057"/>
                  <a:pt x="12306" y="17057"/>
                  <a:pt x="12830" y="16820"/>
                </a:cubicBezTo>
                <a:lnTo>
                  <a:pt x="21410" y="12920"/>
                </a:lnTo>
                <a:cubicBezTo>
                  <a:pt x="21772" y="12757"/>
                  <a:pt x="22003" y="12397"/>
                  <a:pt x="22000" y="12000"/>
                </a:cubicBezTo>
                <a:moveTo>
                  <a:pt x="2000" y="17000"/>
                </a:moveTo>
                <a:cubicBezTo>
                  <a:pt x="1999" y="17391"/>
                  <a:pt x="2226" y="17746"/>
                  <a:pt x="2580" y="17910"/>
                </a:cubicBezTo>
                <a:lnTo>
                  <a:pt x="11180" y="21820"/>
                </a:lnTo>
                <a:cubicBezTo>
                  <a:pt x="11704" y="22057"/>
                  <a:pt x="12306" y="22057"/>
                  <a:pt x="12830" y="21820"/>
                </a:cubicBezTo>
                <a:lnTo>
                  <a:pt x="21410" y="17920"/>
                </a:lnTo>
                <a:cubicBezTo>
                  <a:pt x="21772" y="17757"/>
                  <a:pt x="22003" y="17397"/>
                  <a:pt x="22000" y="17000"/>
                </a:cubicBezTo>
              </a:path>
            </a:pathLst>
          </a:custGeom>
          <a:noFill/>
          <a:ln w="18415" cap="rnd">
            <a:solidFill>
              <a:schemeClr val="bg1"/>
            </a:solidFill>
            <a:round/>
          </a:ln>
          <a:effectLst/>
        </p:spPr>
      </p:sp>
      <p:sp>
        <p:nvSpPr>
          <p:cNvPr id="228" name="slot.forum.4.icon"/>
          <p:cNvSpPr/>
          <p:nvPr/>
        </p:nvSpPr>
        <p:spPr>
          <a:xfrm>
            <a:off x="6929271" y="1404217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18415" cap="rnd">
            <a:solidFill>
              <a:schemeClr val="bg1"/>
            </a:solidFill>
            <a:round/>
          </a:ln>
          <a:effectLst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cess-flow:chevron-stages-detail-panel">
    <p:spTree>
      <p:nvGrpSpPr>
        <p:cNvPr id="1" name=""/>
        <p:cNvGrpSpPr/>
        <p:nvPr/>
      </p:nvGrpSpPr>
      <p:grpSpPr/>
      <p:sp>
        <p:nvSpPr>
          <p:cNvPr id="2" name="struct.current"/>
          <p:cNvSpPr/>
          <p:nvPr/>
        </p:nvSpPr>
        <p:spPr>
          <a:xfrm>
            <a:off x="6137106" y="1847088"/>
            <a:ext cx="1699326" cy="1298448"/>
          </a:xfrm>
          <a:prstGeom prst="roundRect">
            <a:avLst>
              <a:gd name="adj" fmla="val 3521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accent1"/>
            </a:solidFill>
            <a:prstDash val="solid"/>
          </a:ln>
          <a:effectLst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3" name="slot.title"/>
          <p:cNvSpPr txBox="1"/>
          <p:nvPr/>
        </p:nvSpPr>
        <p:spPr>
          <a:xfrm>
            <a:off x="457200" y="274320"/>
            <a:ext cx="1133856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Validation</a:t>
            </a:r>
            <a:r>
              <a:rPr lang="en-US" sz="2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is the gate that moves the forecasting pilot into launch</a:t>
            </a:r>
            <a:endParaRPr lang="en-US" sz="2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ot.stage.1.label"/>
          <p:cNvSpPr/>
          <p:nvPr/>
        </p:nvSpPr>
        <p:spPr>
          <a:xfrm>
            <a:off x="457200" y="1393292"/>
            <a:ext cx="1983680" cy="416791"/>
          </a:xfrm>
          <a:prstGeom prst="homePlate">
            <a:avLst>
              <a:gd name="adj" fmla="val 34771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91440" tIns="45720" rIns="91440" bIns="4572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Assess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lot.stage.2.label"/>
          <p:cNvSpPr/>
          <p:nvPr/>
        </p:nvSpPr>
        <p:spPr>
          <a:xfrm>
            <a:off x="2328175" y="1393292"/>
            <a:ext cx="1983680" cy="416791"/>
          </a:xfrm>
          <a:prstGeom prst="chevron">
            <a:avLst>
              <a:gd name="adj" fmla="val 33079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91440" tIns="45720" rIns="91440" bIns="4572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Baseline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ot.stage.3.label"/>
          <p:cNvSpPr/>
          <p:nvPr/>
        </p:nvSpPr>
        <p:spPr>
          <a:xfrm>
            <a:off x="4199152" y="1393292"/>
            <a:ext cx="1983680" cy="416791"/>
          </a:xfrm>
          <a:prstGeom prst="chevron">
            <a:avLst>
              <a:gd name="adj" fmla="val 33079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91440" tIns="45720" rIns="91440" bIns="4572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Build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lot.stage.4.label"/>
          <p:cNvSpPr/>
          <p:nvPr/>
        </p:nvSpPr>
        <p:spPr>
          <a:xfrm>
            <a:off x="6070127" y="1393292"/>
            <a:ext cx="1983680" cy="416791"/>
          </a:xfrm>
          <a:prstGeom prst="chevron">
            <a:avLst>
              <a:gd name="adj" fmla="val 33079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91440" tIns="45720" rIns="91440" bIns="4572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Validate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lot.stage.5.label"/>
          <p:cNvSpPr/>
          <p:nvPr/>
        </p:nvSpPr>
        <p:spPr>
          <a:xfrm>
            <a:off x="7941103" y="1393292"/>
            <a:ext cx="1983680" cy="416791"/>
          </a:xfrm>
          <a:prstGeom prst="chevron">
            <a:avLst>
              <a:gd name="adj" fmla="val 33079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91440" tIns="45720" rIns="91440" bIns="4572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Launch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slot.stage.6.label"/>
          <p:cNvSpPr/>
          <p:nvPr/>
        </p:nvSpPr>
        <p:spPr>
          <a:xfrm>
            <a:off x="9812080" y="1393292"/>
            <a:ext cx="1983680" cy="416791"/>
          </a:xfrm>
          <a:prstGeom prst="chevron">
            <a:avLst>
              <a:gd name="adj" fmla="val 33079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91440" tIns="45720" rIns="91440" bIns="4572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Scale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0" name="struct.stage.sep.1"/>
          <p:cNvCxnSpPr/>
          <p:nvPr/>
        </p:nvCxnSpPr>
        <p:spPr>
          <a:xfrm>
            <a:off x="2317027" y="1865376"/>
            <a:ext cx="0" cy="126187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1" name="struct.stage.sep.2"/>
          <p:cNvCxnSpPr/>
          <p:nvPr/>
        </p:nvCxnSpPr>
        <p:spPr>
          <a:xfrm>
            <a:off x="4199151" y="1865376"/>
            <a:ext cx="0" cy="126187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2" name="struct.stage.sep.3"/>
          <p:cNvCxnSpPr/>
          <p:nvPr/>
        </p:nvCxnSpPr>
        <p:spPr>
          <a:xfrm>
            <a:off x="6053141" y="1865376"/>
            <a:ext cx="0" cy="126187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3" name="struct.stage.sep.4"/>
          <p:cNvCxnSpPr/>
          <p:nvPr/>
        </p:nvCxnSpPr>
        <p:spPr>
          <a:xfrm>
            <a:off x="7920396" y="1865376"/>
            <a:ext cx="0" cy="126187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4" name="struct.stage.sep.5"/>
          <p:cNvCxnSpPr/>
          <p:nvPr/>
        </p:nvCxnSpPr>
        <p:spPr>
          <a:xfrm>
            <a:off x="9799807" y="1865376"/>
            <a:ext cx="0" cy="126187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15" name="slot.stage.1.action"/>
          <p:cNvSpPr txBox="1"/>
          <p:nvPr/>
        </p:nvSpPr>
        <p:spPr>
          <a:xfrm>
            <a:off x="599580" y="1938528"/>
            <a:ext cx="1575065" cy="56692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Size the value and pick the pilot lines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lot.stage.2.action"/>
          <p:cNvSpPr txBox="1"/>
          <p:nvPr/>
        </p:nvSpPr>
        <p:spPr>
          <a:xfrm>
            <a:off x="2459408" y="1938528"/>
            <a:ext cx="1594646" cy="56692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Measure current forecast accuracy by line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lot.stage.3.action"/>
          <p:cNvSpPr txBox="1"/>
          <p:nvPr/>
        </p:nvSpPr>
        <p:spPr>
          <a:xfrm>
            <a:off x="4342892" y="1938528"/>
            <a:ext cx="1566510" cy="56692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Train models on sales and promotion history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lot.stage.4.action"/>
          <p:cNvSpPr txBox="1"/>
          <p:nvPr/>
        </p:nvSpPr>
        <p:spPr>
          <a:xfrm>
            <a:off x="6196883" y="1938528"/>
            <a:ext cx="1579773" cy="56692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Run beside the plan against gate criteria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lot.stage.5.action"/>
          <p:cNvSpPr txBox="1"/>
          <p:nvPr/>
        </p:nvSpPr>
        <p:spPr>
          <a:xfrm>
            <a:off x="8064138" y="1938528"/>
            <a:ext cx="1591930" cy="56692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Move pilot lines onto model forecasts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lot.stage.6.action"/>
          <p:cNvSpPr txBox="1"/>
          <p:nvPr/>
        </p:nvSpPr>
        <p:spPr>
          <a:xfrm>
            <a:off x="9943548" y="1938528"/>
            <a:ext cx="1591929" cy="56692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Extend to every region and category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1" name="struct.stage.1.rule"/>
          <p:cNvCxnSpPr>
            <a:cxnSpLocks/>
          </p:cNvCxnSpPr>
          <p:nvPr/>
        </p:nvCxnSpPr>
        <p:spPr>
          <a:xfrm flipH="1">
            <a:off x="599580" y="2578608"/>
            <a:ext cx="157506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22" name="struct.stage.2.rule"/>
          <p:cNvCxnSpPr>
            <a:cxnSpLocks/>
          </p:cNvCxnSpPr>
          <p:nvPr/>
        </p:nvCxnSpPr>
        <p:spPr>
          <a:xfrm flipH="1">
            <a:off x="2459408" y="2578608"/>
            <a:ext cx="159464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23" name="struct.stage.3.rule"/>
          <p:cNvCxnSpPr>
            <a:cxnSpLocks/>
          </p:cNvCxnSpPr>
          <p:nvPr/>
        </p:nvCxnSpPr>
        <p:spPr>
          <a:xfrm flipH="1">
            <a:off x="4342892" y="2578608"/>
            <a:ext cx="15665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24" name="struct.stage.4.rule"/>
          <p:cNvCxnSpPr>
            <a:cxnSpLocks/>
          </p:cNvCxnSpPr>
          <p:nvPr/>
        </p:nvCxnSpPr>
        <p:spPr>
          <a:xfrm flipH="1">
            <a:off x="6196883" y="2578608"/>
            <a:ext cx="157977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25" name="struct.stage.5.rule"/>
          <p:cNvCxnSpPr>
            <a:cxnSpLocks/>
          </p:cNvCxnSpPr>
          <p:nvPr/>
        </p:nvCxnSpPr>
        <p:spPr>
          <a:xfrm flipH="1">
            <a:off x="8064138" y="2578608"/>
            <a:ext cx="159193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26" name="struct.stage.6.rule"/>
          <p:cNvCxnSpPr>
            <a:cxnSpLocks/>
          </p:cNvCxnSpPr>
          <p:nvPr/>
        </p:nvCxnSpPr>
        <p:spPr>
          <a:xfrm flipH="1">
            <a:off x="9943548" y="2578608"/>
            <a:ext cx="159192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27" name="slot.stage.1.output"/>
          <p:cNvSpPr txBox="1"/>
          <p:nvPr/>
        </p:nvSpPr>
        <p:spPr>
          <a:xfrm>
            <a:off x="599580" y="2670048"/>
            <a:ext cx="1575065" cy="38404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Signed business case and scope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lot.stage.2.output"/>
          <p:cNvSpPr txBox="1"/>
          <p:nvPr/>
        </p:nvSpPr>
        <p:spPr>
          <a:xfrm>
            <a:off x="2459408" y="2670048"/>
            <a:ext cx="1594646" cy="38404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Accuracy baseline by product line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lot.stage.3.output"/>
          <p:cNvSpPr txBox="1"/>
          <p:nvPr/>
        </p:nvSpPr>
        <p:spPr>
          <a:xfrm>
            <a:off x="4342892" y="2670048"/>
            <a:ext cx="1566510" cy="38404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Pilot model ready for testing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slot.stage.4.output"/>
          <p:cNvSpPr txBox="1"/>
          <p:nvPr/>
        </p:nvSpPr>
        <p:spPr>
          <a:xfrm>
            <a:off x="6196883" y="2670048"/>
            <a:ext cx="1579773" cy="38404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Gate decision note for launch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lot.stage.5.output"/>
          <p:cNvSpPr txBox="1"/>
          <p:nvPr/>
        </p:nvSpPr>
        <p:spPr>
          <a:xfrm>
            <a:off x="8064138" y="2670048"/>
            <a:ext cx="1591930" cy="38404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Live forecasts on every pilot line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lot.stage.6.output"/>
          <p:cNvSpPr txBox="1"/>
          <p:nvPr/>
        </p:nvSpPr>
        <p:spPr>
          <a:xfrm>
            <a:off x="9943548" y="2670048"/>
            <a:ext cx="1591929" cy="38404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Rollout plan by region and wave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struct.panel"/>
          <p:cNvSpPr/>
          <p:nvPr/>
        </p:nvSpPr>
        <p:spPr>
          <a:xfrm>
            <a:off x="457200" y="3481756"/>
            <a:ext cx="11338554" cy="2909816"/>
          </a:xfrm>
          <a:prstGeom prst="roundRect">
            <a:avLst>
              <a:gd name="adj" fmla="val 1571"/>
            </a:avLst>
          </a:prstGeom>
          <a:solidFill>
            <a:schemeClr val="bg1">
              <a:lumMod val="95000"/>
            </a:schemeClr>
          </a:solidFill>
          <a:ln/>
          <a:effectLst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34" name="slot.panel.head"/>
          <p:cNvSpPr txBox="1"/>
          <p:nvPr/>
        </p:nvSpPr>
        <p:spPr>
          <a:xfrm>
            <a:off x="675254" y="3639312"/>
            <a:ext cx="10907407" cy="27432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Validate</a:t>
            </a:r>
            <a:r>
              <a:rPr lang="en-US" sz="13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passes when the pilot holds against the current plan for four straight weeks</a:t>
            </a:r>
            <a:endParaRPr lang="en-US" sz="13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lot.col.1.head"/>
          <p:cNvSpPr txBox="1"/>
          <p:nvPr/>
        </p:nvSpPr>
        <p:spPr>
          <a:xfrm>
            <a:off x="672458" y="4067126"/>
            <a:ext cx="3375699" cy="18466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Gate criteria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slot.criterion.1"/>
          <p:cNvSpPr txBox="1"/>
          <p:nvPr/>
        </p:nvSpPr>
        <p:spPr>
          <a:xfrm>
            <a:off x="675254" y="4425696"/>
            <a:ext cx="3364565" cy="23774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Accuracy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beats the current plan on most lines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slot.criterion.2"/>
          <p:cNvSpPr txBox="1"/>
          <p:nvPr/>
        </p:nvSpPr>
        <p:spPr>
          <a:xfrm>
            <a:off x="675254" y="4750308"/>
            <a:ext cx="3364565" cy="23774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Bias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stays inside the agreed tolerance band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lot.criterion.3"/>
          <p:cNvSpPr txBox="1"/>
          <p:nvPr/>
        </p:nvSpPr>
        <p:spPr>
          <a:xfrm>
            <a:off x="675254" y="5074920"/>
            <a:ext cx="3364565" cy="23774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Coverage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every pilot line carries a forecast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slot.criterion.4"/>
          <p:cNvSpPr txBox="1"/>
          <p:nvPr/>
        </p:nvSpPr>
        <p:spPr>
          <a:xfrm>
            <a:off x="675254" y="5399531"/>
            <a:ext cx="3364565" cy="23774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Adoption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planners review outputs weekly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slot.criterion.5"/>
          <p:cNvSpPr txBox="1"/>
          <p:nvPr/>
        </p:nvSpPr>
        <p:spPr>
          <a:xfrm>
            <a:off x="675254" y="5724144"/>
            <a:ext cx="3364565" cy="23774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Sign-off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business owner signs the gate note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lot.col.3.head"/>
          <p:cNvSpPr txBox="1"/>
          <p:nvPr/>
        </p:nvSpPr>
        <p:spPr>
          <a:xfrm>
            <a:off x="8947002" y="4067126"/>
            <a:ext cx="2629564" cy="18466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Open risks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slot.risk.3"/>
          <p:cNvSpPr/>
          <p:nvPr/>
        </p:nvSpPr>
        <p:spPr>
          <a:xfrm>
            <a:off x="8947003" y="5652975"/>
            <a:ext cx="2633496" cy="519870"/>
          </a:xfrm>
          <a:prstGeom prst="roundRect">
            <a:avLst>
              <a:gd name="adj" fmla="val 8795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wrap="square" tIns="72000" bIns="72000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Capacity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planner reviews clash with month end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slot.risk.2"/>
          <p:cNvSpPr/>
          <p:nvPr/>
        </p:nvSpPr>
        <p:spPr>
          <a:xfrm>
            <a:off x="8947003" y="5031722"/>
            <a:ext cx="2633496" cy="519870"/>
          </a:xfrm>
          <a:prstGeom prst="roundRect">
            <a:avLst>
              <a:gd name="adj" fmla="val 8795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wrap="square" tIns="72000" bIns="72000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Promotions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uplift history is thin on new lines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slot.risk.1"/>
          <p:cNvSpPr/>
          <p:nvPr/>
        </p:nvSpPr>
        <p:spPr>
          <a:xfrm>
            <a:off x="8947003" y="4410469"/>
            <a:ext cx="2633496" cy="519870"/>
          </a:xfrm>
          <a:prstGeom prst="roundRect">
            <a:avLst>
              <a:gd name="adj" fmla="val 8795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wrap="square" tIns="72000" bIns="72000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Late data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two regional feeds arrive after cutoff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5" name="struct.col.3.rule"/>
          <p:cNvCxnSpPr>
            <a:cxnSpLocks/>
          </p:cNvCxnSpPr>
          <p:nvPr/>
        </p:nvCxnSpPr>
        <p:spPr>
          <a:xfrm flipH="1">
            <a:off x="8947003" y="4313351"/>
            <a:ext cx="2633496" cy="0"/>
          </a:xfrm>
          <a:prstGeom prst="line">
            <a:avLst/>
          </a:prstGeom>
          <a:ln w="1270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46" name="struct.col.sep.2"/>
          <p:cNvCxnSpPr>
            <a:cxnSpLocks/>
          </p:cNvCxnSpPr>
          <p:nvPr/>
        </p:nvCxnSpPr>
        <p:spPr>
          <a:xfrm flipH="1" flipV="1">
            <a:off x="8716493" y="4067126"/>
            <a:ext cx="1967" cy="2105719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sp>
        <p:nvSpPr>
          <p:cNvPr id="47" name="slot.col.2.head"/>
          <p:cNvSpPr txBox="1"/>
          <p:nvPr/>
        </p:nvSpPr>
        <p:spPr>
          <a:xfrm>
            <a:off x="4505241" y="4067126"/>
            <a:ext cx="3982711" cy="18466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Owners and actions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struct.owner.3"/>
          <p:cNvSpPr/>
          <p:nvPr/>
        </p:nvSpPr>
        <p:spPr>
          <a:xfrm>
            <a:off x="4505241" y="5652975"/>
            <a:ext cx="3982711" cy="519870"/>
          </a:xfrm>
          <a:prstGeom prst="roundRect">
            <a:avLst>
              <a:gd name="adj" fmla="val 8795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wrap="square" tIns="72000" bIns="72000" anchor="ctr">
            <a:noAutofit/>
          </a:bodyPr>
          <a:lstStyle/>
          <a:p>
            <a:pPr>
              <a:lnSpc>
                <a:spcPts val="1350"/>
              </a:lnSpc>
            </a:pPr>
            <a:endParaRPr lang="en-US" sz="1100">
              <a:solidFill>
                <a:schemeClr val="tx1">
                  <a:lumMod val="90000"/>
                  <a:lumOff val="10000"/>
                </a:schemeClr>
              </a:solidFill>
              <a:latin typeface="+mn-lt"/>
              <a:cs typeface="Calibri" pitchFamily="34" charset="-120"/>
            </a:endParaRPr>
          </a:p>
        </p:txBody>
      </p:sp>
      <p:sp>
        <p:nvSpPr>
          <p:cNvPr id="49" name="struct.owner.2"/>
          <p:cNvSpPr/>
          <p:nvPr/>
        </p:nvSpPr>
        <p:spPr>
          <a:xfrm>
            <a:off x="4505241" y="5031722"/>
            <a:ext cx="3982711" cy="519870"/>
          </a:xfrm>
          <a:prstGeom prst="roundRect">
            <a:avLst>
              <a:gd name="adj" fmla="val 8795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wrap="square" tIns="72000" bIns="72000" anchor="ctr">
            <a:noAutofit/>
          </a:bodyPr>
          <a:lstStyle/>
          <a:p>
            <a:pPr>
              <a:lnSpc>
                <a:spcPts val="1350"/>
              </a:lnSpc>
            </a:pPr>
            <a:endParaRPr lang="en-US" sz="1100">
              <a:solidFill>
                <a:schemeClr val="tx1">
                  <a:lumMod val="90000"/>
                  <a:lumOff val="10000"/>
                </a:schemeClr>
              </a:solidFill>
              <a:latin typeface="+mn-lt"/>
              <a:cs typeface="Calibri" pitchFamily="34" charset="-120"/>
            </a:endParaRPr>
          </a:p>
        </p:txBody>
      </p:sp>
      <p:sp>
        <p:nvSpPr>
          <p:cNvPr id="50" name="struct.owner.1"/>
          <p:cNvSpPr/>
          <p:nvPr/>
        </p:nvSpPr>
        <p:spPr>
          <a:xfrm>
            <a:off x="4505241" y="4410469"/>
            <a:ext cx="3982711" cy="519870"/>
          </a:xfrm>
          <a:prstGeom prst="roundRect">
            <a:avLst>
              <a:gd name="adj" fmla="val 8795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wrap="square" tIns="72000" bIns="72000" anchor="ctr">
            <a:noAutofit/>
          </a:bodyPr>
          <a:lstStyle/>
          <a:p>
            <a:pPr>
              <a:lnSpc>
                <a:spcPts val="1350"/>
              </a:lnSpc>
            </a:pPr>
            <a:endParaRPr lang="en-US" sz="11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51" name="struct.col.2.rule"/>
          <p:cNvCxnSpPr>
            <a:cxnSpLocks/>
          </p:cNvCxnSpPr>
          <p:nvPr/>
        </p:nvCxnSpPr>
        <p:spPr>
          <a:xfrm flipH="1">
            <a:off x="4505241" y="4313351"/>
            <a:ext cx="3982711" cy="0"/>
          </a:xfrm>
          <a:prstGeom prst="line">
            <a:avLst/>
          </a:prstGeom>
          <a:ln w="1270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52" name="struct.col.1.rule"/>
          <p:cNvCxnSpPr>
            <a:cxnSpLocks/>
          </p:cNvCxnSpPr>
          <p:nvPr/>
        </p:nvCxnSpPr>
        <p:spPr>
          <a:xfrm flipH="1">
            <a:off x="677206" y="4313351"/>
            <a:ext cx="3368986" cy="0"/>
          </a:xfrm>
          <a:prstGeom prst="line">
            <a:avLst/>
          </a:prstGeom>
          <a:ln w="1270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53" name="struct.col.sep.1"/>
          <p:cNvCxnSpPr>
            <a:cxnSpLocks/>
          </p:cNvCxnSpPr>
          <p:nvPr/>
        </p:nvCxnSpPr>
        <p:spPr>
          <a:xfrm flipH="1" flipV="1">
            <a:off x="4274733" y="4067126"/>
            <a:ext cx="1967" cy="2105719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sp>
        <p:nvSpPr>
          <p:cNvPr id="54" name="slot.owner.1.tag"/>
          <p:cNvSpPr/>
          <p:nvPr/>
        </p:nvSpPr>
        <p:spPr>
          <a:xfrm>
            <a:off x="4579023" y="4485323"/>
            <a:ext cx="951568" cy="370162"/>
          </a:xfrm>
          <a:prstGeom prst="roundRect">
            <a:avLst>
              <a:gd name="adj" fmla="val 13641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square" tIns="72000" bIns="72000" anchor="ctr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Planning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slot.owner.2.tag"/>
          <p:cNvSpPr/>
          <p:nvPr/>
        </p:nvSpPr>
        <p:spPr>
          <a:xfrm>
            <a:off x="4579023" y="5106576"/>
            <a:ext cx="951568" cy="370162"/>
          </a:xfrm>
          <a:prstGeom prst="roundRect">
            <a:avLst>
              <a:gd name="adj" fmla="val 13641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square" tIns="72000" bIns="72000" anchor="ctr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Data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lot.owner.3.tag"/>
          <p:cNvSpPr/>
          <p:nvPr/>
        </p:nvSpPr>
        <p:spPr>
          <a:xfrm>
            <a:off x="4579023" y="5727829"/>
            <a:ext cx="951568" cy="370162"/>
          </a:xfrm>
          <a:prstGeom prst="roundRect">
            <a:avLst>
              <a:gd name="adj" fmla="val 13641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square" tIns="72000" bIns="72000" anchor="ctr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Finance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slot.owner.1.body"/>
          <p:cNvSpPr txBox="1"/>
          <p:nvPr/>
        </p:nvSpPr>
        <p:spPr>
          <a:xfrm>
            <a:off x="5713715" y="4500486"/>
            <a:ext cx="2626672" cy="339837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Compare model and planner forecasts every week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slot.owner.2.body"/>
          <p:cNvSpPr txBox="1"/>
          <p:nvPr/>
        </p:nvSpPr>
        <p:spPr>
          <a:xfrm>
            <a:off x="5713715" y="5121739"/>
            <a:ext cx="2626672" cy="339837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Fix late shipment feeds before each weekly run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slot.owner.3.body"/>
          <p:cNvSpPr txBox="1"/>
          <p:nvPr/>
        </p:nvSpPr>
        <p:spPr>
          <a:xfrm>
            <a:off x="5713715" y="5742992"/>
            <a:ext cx="2626672" cy="339837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Confirm the savings logic behind the business case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slot.stage.1.icon"/>
          <p:cNvSpPr/>
          <p:nvPr/>
        </p:nvSpPr>
        <p:spPr>
          <a:xfrm>
            <a:off x="1253971" y="905256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21000"/>
                </a:moveTo>
                <a:lnTo>
                  <a:pt x="16660" y="16660"/>
                </a:lnTo>
                <a:moveTo>
                  <a:pt x="19000" y="11000"/>
                </a:moveTo>
                <a:cubicBezTo>
                  <a:pt x="19000" y="15418"/>
                  <a:pt x="15418" y="19000"/>
                  <a:pt x="11000" y="19000"/>
                </a:cubicBezTo>
                <a:cubicBezTo>
                  <a:pt x="6582" y="19000"/>
                  <a:pt x="3000" y="15418"/>
                  <a:pt x="3000" y="11000"/>
                </a:cubicBezTo>
                <a:cubicBezTo>
                  <a:pt x="3000" y="6582"/>
                  <a:pt x="6582" y="3000"/>
                  <a:pt x="11000" y="3000"/>
                </a:cubicBezTo>
                <a:cubicBezTo>
                  <a:pt x="15418" y="3000"/>
                  <a:pt x="19000" y="6582"/>
                  <a:pt x="19000" y="11000"/>
                </a:cubicBezTo>
                <a:close/>
              </a:path>
            </a:pathLst>
          </a:custGeom>
          <a:noFill/>
          <a:ln w="31750" cap="rnd">
            <a:solidFill>
              <a:schemeClr val="accent1"/>
            </a:solidFill>
            <a:round/>
          </a:ln>
          <a:effectLst/>
        </p:spPr>
      </p:sp>
      <p:sp>
        <p:nvSpPr>
          <p:cNvPr id="61" name="slot.stage.2.icon"/>
          <p:cNvSpPr/>
          <p:nvPr/>
        </p:nvSpPr>
        <p:spPr>
          <a:xfrm>
            <a:off x="3121853" y="905256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4000"/>
                </a:moveTo>
                <a:lnTo>
                  <a:pt x="16000" y="10000"/>
                </a:lnTo>
                <a:moveTo>
                  <a:pt x="3340" y="19000"/>
                </a:moveTo>
                <a:cubicBezTo>
                  <a:pt x="913" y="14797"/>
                  <a:pt x="1854" y="9459"/>
                  <a:pt x="5572" y="6339"/>
                </a:cubicBezTo>
                <a:cubicBezTo>
                  <a:pt x="9290" y="3220"/>
                  <a:pt x="14710" y="3220"/>
                  <a:pt x="18428" y="6339"/>
                </a:cubicBezTo>
                <a:cubicBezTo>
                  <a:pt x="22146" y="9459"/>
                  <a:pt x="23087" y="14797"/>
                  <a:pt x="20660" y="19000"/>
                </a:cubicBezTo>
              </a:path>
            </a:pathLst>
          </a:custGeom>
          <a:noFill/>
          <a:ln w="31750" cap="rnd">
            <a:solidFill>
              <a:schemeClr val="accent1"/>
            </a:solidFill>
            <a:round/>
          </a:ln>
          <a:effectLst/>
        </p:spPr>
      </p:sp>
      <p:sp>
        <p:nvSpPr>
          <p:cNvPr id="62" name="slot.stage.3.icon"/>
          <p:cNvSpPr/>
          <p:nvPr/>
        </p:nvSpPr>
        <p:spPr>
          <a:xfrm>
            <a:off x="4994307" y="905256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10270"/>
                </a:moveTo>
                <a:lnTo>
                  <a:pt x="7000" y="3340"/>
                </a:lnTo>
                <a:moveTo>
                  <a:pt x="11000" y="13730"/>
                </a:moveTo>
                <a:lnTo>
                  <a:pt x="7000" y="20660"/>
                </a:lnTo>
                <a:moveTo>
                  <a:pt x="12000" y="22000"/>
                </a:moveTo>
                <a:lnTo>
                  <a:pt x="12000" y="20000"/>
                </a:lnTo>
                <a:moveTo>
                  <a:pt x="12000" y="2000"/>
                </a:moveTo>
                <a:lnTo>
                  <a:pt x="12000" y="4000"/>
                </a:lnTo>
                <a:moveTo>
                  <a:pt x="14000" y="12000"/>
                </a:moveTo>
                <a:lnTo>
                  <a:pt x="22000" y="12000"/>
                </a:lnTo>
                <a:moveTo>
                  <a:pt x="17000" y="20660"/>
                </a:moveTo>
                <a:lnTo>
                  <a:pt x="16000" y="18930"/>
                </a:lnTo>
                <a:moveTo>
                  <a:pt x="17000" y="3340"/>
                </a:moveTo>
                <a:lnTo>
                  <a:pt x="16000" y="5070"/>
                </a:lnTo>
                <a:moveTo>
                  <a:pt x="2000" y="12000"/>
                </a:moveTo>
                <a:lnTo>
                  <a:pt x="4000" y="12000"/>
                </a:lnTo>
                <a:moveTo>
                  <a:pt x="20660" y="17000"/>
                </a:moveTo>
                <a:lnTo>
                  <a:pt x="18930" y="16000"/>
                </a:lnTo>
                <a:moveTo>
                  <a:pt x="20660" y="7000"/>
                </a:moveTo>
                <a:lnTo>
                  <a:pt x="18930" y="8000"/>
                </a:lnTo>
                <a:moveTo>
                  <a:pt x="3340" y="17000"/>
                </a:moveTo>
                <a:lnTo>
                  <a:pt x="5070" y="16000"/>
                </a:lnTo>
                <a:moveTo>
                  <a:pt x="3340" y="7000"/>
                </a:moveTo>
                <a:lnTo>
                  <a:pt x="5070" y="8000"/>
                </a:lnTo>
                <a:moveTo>
                  <a:pt x="14000" y="12000"/>
                </a:moveTo>
                <a:cubicBezTo>
                  <a:pt x="14000" y="13105"/>
                  <a:pt x="13105" y="14000"/>
                  <a:pt x="12000" y="14000"/>
                </a:cubicBezTo>
                <a:cubicBezTo>
                  <a:pt x="10895" y="14000"/>
                  <a:pt x="10000" y="13105"/>
                  <a:pt x="10000" y="12000"/>
                </a:cubicBezTo>
                <a:cubicBezTo>
                  <a:pt x="10000" y="10895"/>
                  <a:pt x="10895" y="10000"/>
                  <a:pt x="12000" y="10000"/>
                </a:cubicBezTo>
                <a:cubicBezTo>
                  <a:pt x="13105" y="10000"/>
                  <a:pt x="14000" y="10895"/>
                  <a:pt x="14000" y="12000"/>
                </a:cubicBezTo>
                <a:close/>
                <a:moveTo>
                  <a:pt x="20000" y="12000"/>
                </a:moveTo>
                <a:cubicBezTo>
                  <a:pt x="20000" y="16418"/>
                  <a:pt x="16418" y="20000"/>
                  <a:pt x="12000" y="20000"/>
                </a:cubicBezTo>
                <a:cubicBezTo>
                  <a:pt x="7582" y="20000"/>
                  <a:pt x="4000" y="16418"/>
                  <a:pt x="4000" y="12000"/>
                </a:cubicBezTo>
                <a:cubicBezTo>
                  <a:pt x="4000" y="7582"/>
                  <a:pt x="7582" y="4000"/>
                  <a:pt x="12000" y="4000"/>
                </a:cubicBezTo>
                <a:cubicBezTo>
                  <a:pt x="16418" y="4000"/>
                  <a:pt x="20000" y="7582"/>
                  <a:pt x="20000" y="12000"/>
                </a:cubicBezTo>
                <a:close/>
              </a:path>
            </a:pathLst>
          </a:custGeom>
          <a:noFill/>
          <a:ln w="31750" cap="rnd">
            <a:solidFill>
              <a:schemeClr val="accent1"/>
            </a:solidFill>
            <a:round/>
          </a:ln>
          <a:effectLst/>
        </p:spPr>
      </p:sp>
      <p:sp>
        <p:nvSpPr>
          <p:cNvPr id="63" name="slot.stage.4.icon"/>
          <p:cNvSpPr/>
          <p:nvPr/>
        </p:nvSpPr>
        <p:spPr>
          <a:xfrm>
            <a:off x="6865846" y="905256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2000"/>
                </a:moveTo>
                <a:lnTo>
                  <a:pt x="15000" y="2000"/>
                </a:lnTo>
                <a:cubicBezTo>
                  <a:pt x="15552" y="2000"/>
                  <a:pt x="16000" y="2448"/>
                  <a:pt x="16000" y="3000"/>
                </a:cubicBezTo>
                <a:lnTo>
                  <a:pt x="16000" y="5000"/>
                </a:lnTo>
                <a:cubicBezTo>
                  <a:pt x="16000" y="5552"/>
                  <a:pt x="15552" y="6000"/>
                  <a:pt x="15000" y="6000"/>
                </a:cubicBezTo>
                <a:lnTo>
                  <a:pt x="9000" y="6000"/>
                </a:lnTo>
                <a:cubicBezTo>
                  <a:pt x="8448" y="6000"/>
                  <a:pt x="8000" y="5552"/>
                  <a:pt x="8000" y="5000"/>
                </a:cubicBezTo>
                <a:lnTo>
                  <a:pt x="8000" y="3000"/>
                </a:lnTo>
                <a:cubicBezTo>
                  <a:pt x="8000" y="2448"/>
                  <a:pt x="8448" y="2000"/>
                  <a:pt x="9000" y="2000"/>
                </a:cubicBezTo>
                <a:close/>
                <a:moveTo>
                  <a:pt x="16000" y="4000"/>
                </a:moveTo>
                <a:lnTo>
                  <a:pt x="18000" y="4000"/>
                </a:lnTo>
                <a:cubicBezTo>
                  <a:pt x="19105" y="4000"/>
                  <a:pt x="20000" y="4895"/>
                  <a:pt x="20000" y="6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lnTo>
                  <a:pt x="6000" y="22000"/>
                </a:lnTo>
                <a:cubicBezTo>
                  <a:pt x="4895" y="22000"/>
                  <a:pt x="4000" y="21105"/>
                  <a:pt x="4000" y="20000"/>
                </a:cubicBezTo>
                <a:lnTo>
                  <a:pt x="4000" y="6000"/>
                </a:lnTo>
                <a:cubicBezTo>
                  <a:pt x="4000" y="4895"/>
                  <a:pt x="4895" y="4000"/>
                  <a:pt x="6000" y="4000"/>
                </a:cubicBezTo>
                <a:lnTo>
                  <a:pt x="8000" y="4000"/>
                </a:lnTo>
                <a:moveTo>
                  <a:pt x="9000" y="14000"/>
                </a:moveTo>
                <a:lnTo>
                  <a:pt x="11000" y="16000"/>
                </a:lnTo>
                <a:lnTo>
                  <a:pt x="15000" y="12000"/>
                </a:lnTo>
              </a:path>
            </a:pathLst>
          </a:custGeom>
          <a:noFill/>
          <a:ln w="31750" cap="rnd">
            <a:solidFill>
              <a:schemeClr val="accent1"/>
            </a:solidFill>
            <a:round/>
          </a:ln>
          <a:effectLst/>
        </p:spPr>
      </p:sp>
      <p:sp>
        <p:nvSpPr>
          <p:cNvPr id="64" name="slot.stage.5.icon"/>
          <p:cNvSpPr/>
          <p:nvPr/>
        </p:nvSpPr>
        <p:spPr>
          <a:xfrm>
            <a:off x="8738300" y="905256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5000"/>
                </a:moveTo>
                <a:lnTo>
                  <a:pt x="12000" y="20000"/>
                </a:lnTo>
                <a:cubicBezTo>
                  <a:pt x="12000" y="20000"/>
                  <a:pt x="15030" y="19450"/>
                  <a:pt x="16000" y="18000"/>
                </a:cubicBezTo>
                <a:cubicBezTo>
                  <a:pt x="17080" y="16380"/>
                  <a:pt x="16000" y="13000"/>
                  <a:pt x="16000" y="13000"/>
                </a:cubicBezTo>
                <a:moveTo>
                  <a:pt x="4500" y="16500"/>
                </a:moveTo>
                <a:cubicBezTo>
                  <a:pt x="3000" y="17760"/>
                  <a:pt x="2500" y="21500"/>
                  <a:pt x="2500" y="21500"/>
                </a:cubicBezTo>
                <a:cubicBezTo>
                  <a:pt x="2500" y="21500"/>
                  <a:pt x="6240" y="21000"/>
                  <a:pt x="7500" y="19500"/>
                </a:cubicBezTo>
                <a:cubicBezTo>
                  <a:pt x="8210" y="18660"/>
                  <a:pt x="8200" y="17370"/>
                  <a:pt x="7410" y="16590"/>
                </a:cubicBezTo>
                <a:cubicBezTo>
                  <a:pt x="6605" y="15822"/>
                  <a:pt x="5351" y="15783"/>
                  <a:pt x="4500" y="16500"/>
                </a:cubicBezTo>
                <a:moveTo>
                  <a:pt x="9000" y="12000"/>
                </a:moveTo>
                <a:cubicBezTo>
                  <a:pt x="9532" y="10619"/>
                  <a:pt x="10202" y="9296"/>
                  <a:pt x="11000" y="8050"/>
                </a:cubicBezTo>
                <a:cubicBezTo>
                  <a:pt x="13369" y="4262"/>
                  <a:pt x="17532" y="1972"/>
                  <a:pt x="22000" y="2000"/>
                </a:cubicBezTo>
                <a:cubicBezTo>
                  <a:pt x="22000" y="4720"/>
                  <a:pt x="21220" y="9500"/>
                  <a:pt x="16000" y="13000"/>
                </a:cubicBezTo>
                <a:cubicBezTo>
                  <a:pt x="14737" y="13798"/>
                  <a:pt x="13397" y="14468"/>
                  <a:pt x="12000" y="15000"/>
                </a:cubicBezTo>
                <a:close/>
                <a:moveTo>
                  <a:pt x="9000" y="12000"/>
                </a:moveTo>
                <a:lnTo>
                  <a:pt x="4000" y="12000"/>
                </a:lnTo>
                <a:cubicBezTo>
                  <a:pt x="4000" y="12000"/>
                  <a:pt x="4550" y="8970"/>
                  <a:pt x="6000" y="8000"/>
                </a:cubicBezTo>
                <a:cubicBezTo>
                  <a:pt x="7620" y="6920"/>
                  <a:pt x="11000" y="8050"/>
                  <a:pt x="11000" y="8050"/>
                </a:cubicBezTo>
              </a:path>
            </a:pathLst>
          </a:custGeom>
          <a:noFill/>
          <a:ln w="31750" cap="rnd">
            <a:solidFill>
              <a:schemeClr val="accent1"/>
            </a:solidFill>
            <a:round/>
          </a:ln>
          <a:effectLst/>
        </p:spPr>
      </p:sp>
      <p:sp>
        <p:nvSpPr>
          <p:cNvPr id="65" name="slot.stage.6.icon"/>
          <p:cNvSpPr/>
          <p:nvPr/>
        </p:nvSpPr>
        <p:spPr>
          <a:xfrm>
            <a:off x="10605267" y="905256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7000"/>
                </a:moveTo>
                <a:lnTo>
                  <a:pt x="22000" y="7000"/>
                </a:lnTo>
                <a:lnTo>
                  <a:pt x="22000" y="13000"/>
                </a:lnTo>
                <a:moveTo>
                  <a:pt x="22000" y="7000"/>
                </a:moveTo>
                <a:lnTo>
                  <a:pt x="13500" y="15500"/>
                </a:lnTo>
                <a:lnTo>
                  <a:pt x="8500" y="10500"/>
                </a:lnTo>
                <a:lnTo>
                  <a:pt x="2000" y="17000"/>
                </a:lnTo>
              </a:path>
            </a:pathLst>
          </a:custGeom>
          <a:noFill/>
          <a:ln w="31750" cap="rnd">
            <a:solidFill>
              <a:schemeClr val="accent1"/>
            </a:solidFill>
            <a:round/>
          </a:ln>
          <a:effectLst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hased-roadmap:wave-fanout-sites">
    <p:spTree>
      <p:nvGrpSpPr>
        <p:cNvPr id="1" name=""/>
        <p:cNvGrpSpPr/>
        <p:nvPr/>
      </p:nvGrpSpPr>
      <p:grpSpPr/>
      <p:sp>
        <p:nvSpPr>
          <p:cNvPr id="2" name="slot.title"/>
          <p:cNvSpPr txBox="1"/>
          <p:nvPr/>
        </p:nvSpPr>
        <p:spPr>
          <a:xfrm>
            <a:off x="457200" y="201168"/>
            <a:ext cx="1133856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Four waves take </a:t>
            </a:r>
            <a:r>
              <a:rPr lang="en-US" sz="2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twelve sites</a:t>
            </a:r>
            <a:r>
              <a:rPr lang="en-US" sz="2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live in nine months on one foundation</a:t>
            </a:r>
            <a:endParaRPr lang="en-US" sz="2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truct.panel"/>
          <p:cNvSpPr/>
          <p:nvPr/>
        </p:nvSpPr>
        <p:spPr>
          <a:xfrm>
            <a:off x="457200" y="883536"/>
            <a:ext cx="2410681" cy="3802763"/>
          </a:xfrm>
          <a:prstGeom prst="roundRect">
            <a:avLst>
              <a:gd name="adj" fmla="val 1896"/>
            </a:avLst>
          </a:prstGeom>
          <a:solidFill>
            <a:schemeClr val="accent1">
              <a:lumMod val="10000"/>
              <a:lumOff val="90000"/>
            </a:schemeClr>
          </a:solidFill>
          <a:ln w="6350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" name="slot.panel.head"/>
          <p:cNvSpPr txBox="1"/>
          <p:nvPr/>
        </p:nvSpPr>
        <p:spPr>
          <a:xfrm>
            <a:off x="587538" y="950976"/>
            <a:ext cx="2194105" cy="3657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Go-live checks per site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lot.check.1.body"/>
          <p:cNvSpPr txBox="1"/>
          <p:nvPr/>
        </p:nvSpPr>
        <p:spPr>
          <a:xfrm>
            <a:off x="1008075" y="1344168"/>
            <a:ext cx="1755284" cy="51206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Data quality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Master data passes audit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ot.check.2.body"/>
          <p:cNvSpPr txBox="1"/>
          <p:nvPr/>
        </p:nvSpPr>
        <p:spPr>
          <a:xfrm>
            <a:off x="1008075" y="1892807"/>
            <a:ext cx="1755284" cy="51206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Process fit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Steps mapped to standard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lot.check.3.body"/>
          <p:cNvSpPr txBox="1"/>
          <p:nvPr/>
        </p:nvSpPr>
        <p:spPr>
          <a:xfrm>
            <a:off x="1008075" y="2441448"/>
            <a:ext cx="1755284" cy="51206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Super users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Two trained leads per shift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lot.check.4.body"/>
          <p:cNvSpPr txBox="1"/>
          <p:nvPr/>
        </p:nvSpPr>
        <p:spPr>
          <a:xfrm>
            <a:off x="1008075" y="2990088"/>
            <a:ext cx="1755284" cy="51206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Cutover plan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Rollback proven in rehearsal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slot.check.5.body"/>
          <p:cNvSpPr txBox="1"/>
          <p:nvPr/>
        </p:nvSpPr>
        <p:spPr>
          <a:xfrm>
            <a:off x="1008075" y="3538728"/>
            <a:ext cx="1755284" cy="51206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Interfaces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End-to-end tests signed off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lot.check.6.body"/>
          <p:cNvSpPr txBox="1"/>
          <p:nvPr/>
        </p:nvSpPr>
        <p:spPr>
          <a:xfrm>
            <a:off x="1008075" y="4087368"/>
            <a:ext cx="1755284" cy="51206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Hypercare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Desk staffed for four weeks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1" name="struct.check.rule.1"/>
          <p:cNvCxnSpPr>
            <a:cxnSpLocks/>
          </p:cNvCxnSpPr>
          <p:nvPr/>
        </p:nvCxnSpPr>
        <p:spPr>
          <a:xfrm>
            <a:off x="589050" y="1875801"/>
            <a:ext cx="214698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2" name="struct.check.rule.2"/>
          <p:cNvCxnSpPr>
            <a:cxnSpLocks/>
          </p:cNvCxnSpPr>
          <p:nvPr/>
        </p:nvCxnSpPr>
        <p:spPr>
          <a:xfrm>
            <a:off x="589050" y="2423285"/>
            <a:ext cx="214698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3" name="struct.check.rule.3"/>
          <p:cNvCxnSpPr>
            <a:cxnSpLocks/>
          </p:cNvCxnSpPr>
          <p:nvPr/>
        </p:nvCxnSpPr>
        <p:spPr>
          <a:xfrm>
            <a:off x="589050" y="2970769"/>
            <a:ext cx="214698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4" name="struct.check.rule.4"/>
          <p:cNvCxnSpPr>
            <a:cxnSpLocks/>
          </p:cNvCxnSpPr>
          <p:nvPr/>
        </p:nvCxnSpPr>
        <p:spPr>
          <a:xfrm>
            <a:off x="589050" y="3521588"/>
            <a:ext cx="214698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5" name="struct.check.rule.5"/>
          <p:cNvCxnSpPr>
            <a:cxnSpLocks/>
          </p:cNvCxnSpPr>
          <p:nvPr/>
        </p:nvCxnSpPr>
        <p:spPr>
          <a:xfrm>
            <a:off x="589050" y="4069072"/>
            <a:ext cx="214698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16" name="slot.check.1.num"/>
          <p:cNvSpPr txBox="1"/>
          <p:nvPr/>
        </p:nvSpPr>
        <p:spPr>
          <a:xfrm>
            <a:off x="589050" y="1465325"/>
            <a:ext cx="323665" cy="273470"/>
          </a:xfrm>
          <a:prstGeom prst="roundRect">
            <a:avLst/>
          </a:prstGeom>
          <a:solidFill>
            <a:schemeClr val="accent1"/>
          </a:solidFill>
          <a:ln/>
          <a:effectLst/>
        </p:spPr>
        <p:txBody>
          <a:bodyPr wrap="square" lIns="36000" tIns="36000" rIns="36000" bIns="3600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01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lot.check.2.num"/>
          <p:cNvSpPr txBox="1"/>
          <p:nvPr/>
        </p:nvSpPr>
        <p:spPr>
          <a:xfrm>
            <a:off x="589050" y="2012809"/>
            <a:ext cx="323665" cy="273470"/>
          </a:xfrm>
          <a:prstGeom prst="roundRect">
            <a:avLst/>
          </a:prstGeom>
          <a:solidFill>
            <a:schemeClr val="accent1"/>
          </a:solidFill>
          <a:ln/>
          <a:effectLst/>
        </p:spPr>
        <p:txBody>
          <a:bodyPr wrap="square" lIns="36000" tIns="36000" rIns="36000" bIns="3600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02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lot.check.3.num"/>
          <p:cNvSpPr txBox="1"/>
          <p:nvPr/>
        </p:nvSpPr>
        <p:spPr>
          <a:xfrm>
            <a:off x="589050" y="2560293"/>
            <a:ext cx="323665" cy="273470"/>
          </a:xfrm>
          <a:prstGeom prst="roundRect">
            <a:avLst/>
          </a:prstGeom>
          <a:solidFill>
            <a:schemeClr val="accent1"/>
          </a:solidFill>
          <a:ln/>
          <a:effectLst/>
        </p:spPr>
        <p:txBody>
          <a:bodyPr wrap="square" lIns="36000" tIns="36000" rIns="36000" bIns="3600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03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lot.check.4.num"/>
          <p:cNvSpPr txBox="1"/>
          <p:nvPr/>
        </p:nvSpPr>
        <p:spPr>
          <a:xfrm>
            <a:off x="589050" y="3109444"/>
            <a:ext cx="323665" cy="273470"/>
          </a:xfrm>
          <a:prstGeom prst="roundRect">
            <a:avLst/>
          </a:prstGeom>
          <a:solidFill>
            <a:schemeClr val="accent1"/>
          </a:solidFill>
          <a:ln/>
          <a:effectLst/>
        </p:spPr>
        <p:txBody>
          <a:bodyPr wrap="square" lIns="36000" tIns="36000" rIns="36000" bIns="3600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04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lot.check.5.num"/>
          <p:cNvSpPr txBox="1"/>
          <p:nvPr/>
        </p:nvSpPr>
        <p:spPr>
          <a:xfrm>
            <a:off x="589050" y="3658596"/>
            <a:ext cx="323665" cy="273470"/>
          </a:xfrm>
          <a:prstGeom prst="roundRect">
            <a:avLst/>
          </a:prstGeom>
          <a:solidFill>
            <a:schemeClr val="accent1"/>
          </a:solidFill>
          <a:ln/>
          <a:effectLst/>
        </p:spPr>
        <p:txBody>
          <a:bodyPr wrap="square" lIns="36000" tIns="36000" rIns="36000" bIns="3600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05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lot.check.6.num"/>
          <p:cNvSpPr txBox="1"/>
          <p:nvPr/>
        </p:nvSpPr>
        <p:spPr>
          <a:xfrm>
            <a:off x="589050" y="4206076"/>
            <a:ext cx="323665" cy="273470"/>
          </a:xfrm>
          <a:prstGeom prst="roundRect">
            <a:avLst/>
          </a:prstGeom>
          <a:solidFill>
            <a:schemeClr val="accent1"/>
          </a:solidFill>
          <a:ln/>
          <a:effectLst/>
        </p:spPr>
        <p:txBody>
          <a:bodyPr wrap="square" lIns="36000" tIns="36000" rIns="36000" bIns="3600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06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truct.foundation"/>
          <p:cNvSpPr/>
          <p:nvPr/>
        </p:nvSpPr>
        <p:spPr>
          <a:xfrm>
            <a:off x="3062209" y="883536"/>
            <a:ext cx="8732641" cy="734248"/>
          </a:xfrm>
          <a:prstGeom prst="roundRect">
            <a:avLst>
              <a:gd name="adj" fmla="val 5886"/>
            </a:avLst>
          </a:prstGeom>
          <a:solidFill>
            <a:schemeClr val="tx1">
              <a:lumMod val="90000"/>
              <a:lumOff val="1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3" name="slot.foundation.part.1"/>
          <p:cNvSpPr txBox="1"/>
          <p:nvPr/>
        </p:nvSpPr>
        <p:spPr>
          <a:xfrm>
            <a:off x="5324754" y="1031909"/>
            <a:ext cx="961176" cy="437502"/>
          </a:xfrm>
          <a:prstGeom prst="roundRect">
            <a:avLst/>
          </a:prstGeom>
          <a:solidFill>
            <a:schemeClr val="bg1"/>
          </a:solidFill>
          <a:ln/>
          <a:effectLst/>
        </p:spPr>
        <p:txBody>
          <a:bodyPr wrap="square" lIns="36576" tIns="18288" rIns="36576" bIns="18288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Data model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lot.foundation.part.2"/>
          <p:cNvSpPr txBox="1"/>
          <p:nvPr/>
        </p:nvSpPr>
        <p:spPr>
          <a:xfrm>
            <a:off x="6393617" y="1031909"/>
            <a:ext cx="961176" cy="437502"/>
          </a:xfrm>
          <a:prstGeom prst="roundRect">
            <a:avLst/>
          </a:prstGeom>
          <a:solidFill>
            <a:schemeClr val="bg1"/>
          </a:solidFill>
          <a:ln/>
          <a:effectLst/>
        </p:spPr>
        <p:txBody>
          <a:bodyPr wrap="square" lIns="36576" tIns="18288" rIns="36576" bIns="18288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Interfaces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slot.foundation.part.3"/>
          <p:cNvSpPr txBox="1"/>
          <p:nvPr/>
        </p:nvSpPr>
        <p:spPr>
          <a:xfrm>
            <a:off x="7462481" y="1031909"/>
            <a:ext cx="961176" cy="437502"/>
          </a:xfrm>
          <a:prstGeom prst="roundRect">
            <a:avLst/>
          </a:prstGeom>
          <a:solidFill>
            <a:schemeClr val="bg1"/>
          </a:solidFill>
          <a:ln/>
          <a:effectLst/>
        </p:spPr>
        <p:txBody>
          <a:bodyPr wrap="square" lIns="36576" tIns="18288" rIns="36576" bIns="18288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Security roles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slot.foundation.part.4"/>
          <p:cNvSpPr txBox="1"/>
          <p:nvPr/>
        </p:nvSpPr>
        <p:spPr>
          <a:xfrm>
            <a:off x="8531344" y="1031909"/>
            <a:ext cx="961176" cy="437502"/>
          </a:xfrm>
          <a:prstGeom prst="roundRect">
            <a:avLst/>
          </a:prstGeom>
          <a:solidFill>
            <a:schemeClr val="bg1"/>
          </a:solidFill>
          <a:ln/>
          <a:effectLst/>
        </p:spPr>
        <p:txBody>
          <a:bodyPr wrap="square" lIns="36576" tIns="18288" rIns="36576" bIns="18288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Reports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lot.foundation.part.5"/>
          <p:cNvSpPr txBox="1"/>
          <p:nvPr/>
        </p:nvSpPr>
        <p:spPr>
          <a:xfrm>
            <a:off x="9600208" y="1031909"/>
            <a:ext cx="961176" cy="437502"/>
          </a:xfrm>
          <a:prstGeom prst="roundRect">
            <a:avLst/>
          </a:prstGeom>
          <a:solidFill>
            <a:schemeClr val="bg1"/>
          </a:solidFill>
          <a:ln/>
          <a:effectLst/>
        </p:spPr>
        <p:txBody>
          <a:bodyPr wrap="square" lIns="36576" tIns="18288" rIns="36576" bIns="18288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Training kit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lot.foundation.part.6"/>
          <p:cNvSpPr txBox="1"/>
          <p:nvPr/>
        </p:nvSpPr>
        <p:spPr>
          <a:xfrm>
            <a:off x="10669071" y="1031909"/>
            <a:ext cx="961176" cy="437502"/>
          </a:xfrm>
          <a:prstGeom prst="roundRect">
            <a:avLst/>
          </a:prstGeom>
          <a:solidFill>
            <a:schemeClr val="bg1"/>
          </a:solidFill>
          <a:ln/>
          <a:effectLst/>
        </p:spPr>
        <p:txBody>
          <a:bodyPr wrap="square" lIns="36576" tIns="18288" rIns="36576" bIns="18288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Support desk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lot.foundation.label"/>
          <p:cNvSpPr txBox="1"/>
          <p:nvPr/>
        </p:nvSpPr>
        <p:spPr>
          <a:xfrm>
            <a:off x="3714137" y="941832"/>
            <a:ext cx="1535874" cy="621792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Shared foundation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Built once, reused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0" name="struct.wave.1.fan.1"/>
          <p:cNvCxnSpPr>
            <a:cxnSpLocks/>
          </p:cNvCxnSpPr>
          <p:nvPr/>
        </p:nvCxnSpPr>
        <p:spPr>
          <a:xfrm rot="5400000">
            <a:off x="3259913" y="2582397"/>
            <a:ext cx="969103" cy="73681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cxnSp>
        <p:nvCxnSpPr>
          <p:cNvPr id="31" name="struct.wave.1.fan.2"/>
          <p:cNvCxnSpPr>
            <a:cxnSpLocks/>
          </p:cNvCxnSpPr>
          <p:nvPr/>
        </p:nvCxnSpPr>
        <p:spPr>
          <a:xfrm>
            <a:off x="4112870" y="2466252"/>
            <a:ext cx="1" cy="96910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cxnSp>
        <p:nvCxnSpPr>
          <p:cNvPr id="32" name="struct.wave.1.fan.3"/>
          <p:cNvCxnSpPr>
            <a:cxnSpLocks/>
          </p:cNvCxnSpPr>
          <p:nvPr/>
        </p:nvCxnSpPr>
        <p:spPr>
          <a:xfrm rot="16200000" flipH="1">
            <a:off x="3996725" y="2582395"/>
            <a:ext cx="969103" cy="736814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sp>
        <p:nvSpPr>
          <p:cNvPr id="33" name="slot.wave.2.head"/>
          <p:cNvSpPr/>
          <p:nvPr/>
        </p:nvSpPr>
        <p:spPr>
          <a:xfrm>
            <a:off x="5272649" y="2037055"/>
            <a:ext cx="2101320" cy="429197"/>
          </a:xfrm>
          <a:prstGeom prst="roundRect">
            <a:avLst>
              <a:gd name="adj" fmla="val 11530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  <a:effectLst/>
        </p:spPr>
        <p:txBody>
          <a:bodyPr rtlCol="0" anchor="ctr" wrap="square" lIns="91440" tIns="45720" rIns="91440" bIns="4572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Wave 2 · Months 3-5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4" name="struct.wave.2.fan.1"/>
          <p:cNvCxnSpPr>
            <a:cxnSpLocks/>
          </p:cNvCxnSpPr>
          <p:nvPr/>
        </p:nvCxnSpPr>
        <p:spPr>
          <a:xfrm rot="5400000">
            <a:off x="5470353" y="2582397"/>
            <a:ext cx="969103" cy="73681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cxnSp>
        <p:nvCxnSpPr>
          <p:cNvPr id="35" name="struct.wave.2.fan.2"/>
          <p:cNvCxnSpPr>
            <a:cxnSpLocks/>
          </p:cNvCxnSpPr>
          <p:nvPr/>
        </p:nvCxnSpPr>
        <p:spPr>
          <a:xfrm>
            <a:off x="6323310" y="2466252"/>
            <a:ext cx="1" cy="96910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cxnSp>
        <p:nvCxnSpPr>
          <p:cNvPr id="36" name="struct.wave.2.fan.3"/>
          <p:cNvCxnSpPr>
            <a:cxnSpLocks/>
          </p:cNvCxnSpPr>
          <p:nvPr/>
        </p:nvCxnSpPr>
        <p:spPr>
          <a:xfrm rot="16200000" flipH="1">
            <a:off x="6207165" y="2582395"/>
            <a:ext cx="969103" cy="736814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cxnSp>
        <p:nvCxnSpPr>
          <p:cNvPr id="37" name="struct.wave.3.fan.1"/>
          <p:cNvCxnSpPr>
            <a:cxnSpLocks/>
          </p:cNvCxnSpPr>
          <p:nvPr/>
        </p:nvCxnSpPr>
        <p:spPr>
          <a:xfrm rot="5400000">
            <a:off x="7680793" y="2582397"/>
            <a:ext cx="969103" cy="73681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cxnSp>
        <p:nvCxnSpPr>
          <p:cNvPr id="38" name="struct.wave.3.fan.2"/>
          <p:cNvCxnSpPr>
            <a:cxnSpLocks/>
          </p:cNvCxnSpPr>
          <p:nvPr/>
        </p:nvCxnSpPr>
        <p:spPr>
          <a:xfrm>
            <a:off x="8533750" y="2466252"/>
            <a:ext cx="1" cy="96910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cxnSp>
        <p:nvCxnSpPr>
          <p:cNvPr id="39" name="struct.wave.3.fan.3"/>
          <p:cNvCxnSpPr>
            <a:cxnSpLocks/>
          </p:cNvCxnSpPr>
          <p:nvPr/>
        </p:nvCxnSpPr>
        <p:spPr>
          <a:xfrm rot="16200000" flipH="1">
            <a:off x="8417605" y="2582395"/>
            <a:ext cx="969103" cy="736814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sp>
        <p:nvSpPr>
          <p:cNvPr id="40" name="slot.wave.1.head"/>
          <p:cNvSpPr/>
          <p:nvPr/>
        </p:nvSpPr>
        <p:spPr>
          <a:xfrm>
            <a:off x="3062209" y="2037055"/>
            <a:ext cx="2101320" cy="429197"/>
          </a:xfrm>
          <a:prstGeom prst="roundRect">
            <a:avLst>
              <a:gd name="adj" fmla="val 11530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  <a:effectLst/>
        </p:spPr>
        <p:txBody>
          <a:bodyPr rtlCol="0" anchor="ctr" wrap="square" lIns="91440" tIns="45720" rIns="91440" bIns="4572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Wave 1 · Months 1-3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lot.wave.4.head"/>
          <p:cNvSpPr/>
          <p:nvPr/>
        </p:nvSpPr>
        <p:spPr>
          <a:xfrm>
            <a:off x="9693529" y="2037055"/>
            <a:ext cx="2101320" cy="429197"/>
          </a:xfrm>
          <a:prstGeom prst="roundRect">
            <a:avLst>
              <a:gd name="adj" fmla="val 11530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  <a:effectLst/>
        </p:spPr>
        <p:txBody>
          <a:bodyPr rtlCol="0" anchor="ctr" wrap="square" lIns="91440" tIns="45720" rIns="91440" bIns="4572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Wave 4 · Months 7-9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2" name="struct.wave.4.fan.1"/>
          <p:cNvCxnSpPr>
            <a:cxnSpLocks/>
          </p:cNvCxnSpPr>
          <p:nvPr/>
        </p:nvCxnSpPr>
        <p:spPr>
          <a:xfrm rot="5400000">
            <a:off x="9891232" y="2582397"/>
            <a:ext cx="969103" cy="73681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cxnSp>
        <p:nvCxnSpPr>
          <p:cNvPr id="43" name="struct.wave.4.fan.2"/>
          <p:cNvCxnSpPr>
            <a:cxnSpLocks/>
          </p:cNvCxnSpPr>
          <p:nvPr/>
        </p:nvCxnSpPr>
        <p:spPr>
          <a:xfrm>
            <a:off x="10744189" y="2466252"/>
            <a:ext cx="1" cy="96910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cxnSp>
        <p:nvCxnSpPr>
          <p:cNvPr id="44" name="struct.wave.4.fan.3"/>
          <p:cNvCxnSpPr>
            <a:cxnSpLocks/>
          </p:cNvCxnSpPr>
          <p:nvPr/>
        </p:nvCxnSpPr>
        <p:spPr>
          <a:xfrm rot="16200000" flipH="1">
            <a:off x="10628045" y="2582395"/>
            <a:ext cx="969103" cy="736814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sp>
        <p:nvSpPr>
          <p:cNvPr id="45" name="slot.wave.3.head"/>
          <p:cNvSpPr/>
          <p:nvPr/>
        </p:nvSpPr>
        <p:spPr>
          <a:xfrm>
            <a:off x="7483089" y="2037055"/>
            <a:ext cx="2101320" cy="429197"/>
          </a:xfrm>
          <a:prstGeom prst="roundRect">
            <a:avLst>
              <a:gd name="adj" fmla="val 11530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  <a:effectLst/>
        </p:spPr>
        <p:txBody>
          <a:bodyPr rtlCol="0" anchor="ctr" wrap="square" lIns="91440" tIns="45720" rIns="91440" bIns="4572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Wave 3 · Months 5-7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struct.site.1"/>
          <p:cNvSpPr/>
          <p:nvPr/>
        </p:nvSpPr>
        <p:spPr>
          <a:xfrm>
            <a:off x="3062210" y="3435355"/>
            <a:ext cx="627694" cy="1250944"/>
          </a:xfrm>
          <a:prstGeom prst="roundRect">
            <a:avLst>
              <a:gd name="adj" fmla="val 588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7" name="struct.site.2"/>
          <p:cNvSpPr/>
          <p:nvPr/>
        </p:nvSpPr>
        <p:spPr>
          <a:xfrm>
            <a:off x="3799024" y="3435355"/>
            <a:ext cx="627694" cy="1250944"/>
          </a:xfrm>
          <a:prstGeom prst="roundRect">
            <a:avLst>
              <a:gd name="adj" fmla="val 588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8" name="struct.site.3"/>
          <p:cNvSpPr/>
          <p:nvPr/>
        </p:nvSpPr>
        <p:spPr>
          <a:xfrm>
            <a:off x="4535837" y="3435355"/>
            <a:ext cx="627694" cy="1250944"/>
          </a:xfrm>
          <a:prstGeom prst="roundRect">
            <a:avLst>
              <a:gd name="adj" fmla="val 588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9" name="struct.site.4"/>
          <p:cNvSpPr/>
          <p:nvPr/>
        </p:nvSpPr>
        <p:spPr>
          <a:xfrm>
            <a:off x="5272650" y="3435355"/>
            <a:ext cx="627694" cy="1250944"/>
          </a:xfrm>
          <a:prstGeom prst="roundRect">
            <a:avLst>
              <a:gd name="adj" fmla="val 588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0" name="struct.site.5"/>
          <p:cNvSpPr/>
          <p:nvPr/>
        </p:nvSpPr>
        <p:spPr>
          <a:xfrm>
            <a:off x="6009464" y="3435355"/>
            <a:ext cx="627694" cy="1250944"/>
          </a:xfrm>
          <a:prstGeom prst="roundRect">
            <a:avLst>
              <a:gd name="adj" fmla="val 588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1" name="struct.site.6"/>
          <p:cNvSpPr/>
          <p:nvPr/>
        </p:nvSpPr>
        <p:spPr>
          <a:xfrm>
            <a:off x="6746277" y="3435355"/>
            <a:ext cx="627694" cy="1250944"/>
          </a:xfrm>
          <a:prstGeom prst="roundRect">
            <a:avLst>
              <a:gd name="adj" fmla="val 588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2" name="struct.site.7"/>
          <p:cNvSpPr/>
          <p:nvPr/>
        </p:nvSpPr>
        <p:spPr>
          <a:xfrm>
            <a:off x="7483090" y="3435355"/>
            <a:ext cx="627694" cy="1250944"/>
          </a:xfrm>
          <a:prstGeom prst="roundRect">
            <a:avLst>
              <a:gd name="adj" fmla="val 588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3" name="struct.site.8"/>
          <p:cNvSpPr/>
          <p:nvPr/>
        </p:nvSpPr>
        <p:spPr>
          <a:xfrm>
            <a:off x="8219904" y="3435355"/>
            <a:ext cx="627694" cy="1250944"/>
          </a:xfrm>
          <a:prstGeom prst="roundRect">
            <a:avLst>
              <a:gd name="adj" fmla="val 588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4" name="struct.site.9"/>
          <p:cNvSpPr/>
          <p:nvPr/>
        </p:nvSpPr>
        <p:spPr>
          <a:xfrm>
            <a:off x="8956717" y="3435355"/>
            <a:ext cx="627694" cy="1250944"/>
          </a:xfrm>
          <a:prstGeom prst="roundRect">
            <a:avLst>
              <a:gd name="adj" fmla="val 588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5" name="struct.site.10"/>
          <p:cNvSpPr/>
          <p:nvPr/>
        </p:nvSpPr>
        <p:spPr>
          <a:xfrm>
            <a:off x="9693530" y="3435355"/>
            <a:ext cx="627694" cy="1250944"/>
          </a:xfrm>
          <a:prstGeom prst="roundRect">
            <a:avLst>
              <a:gd name="adj" fmla="val 588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6" name="struct.site.11"/>
          <p:cNvSpPr/>
          <p:nvPr/>
        </p:nvSpPr>
        <p:spPr>
          <a:xfrm>
            <a:off x="10430343" y="3435355"/>
            <a:ext cx="627694" cy="1250944"/>
          </a:xfrm>
          <a:prstGeom prst="roundRect">
            <a:avLst>
              <a:gd name="adj" fmla="val 588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7" name="struct.site.12"/>
          <p:cNvSpPr/>
          <p:nvPr/>
        </p:nvSpPr>
        <p:spPr>
          <a:xfrm>
            <a:off x="11167156" y="3435355"/>
            <a:ext cx="627694" cy="1250944"/>
          </a:xfrm>
          <a:prstGeom prst="roundRect">
            <a:avLst>
              <a:gd name="adj" fmla="val 588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8" name="slot.site.1.chip"/>
          <p:cNvSpPr txBox="1"/>
          <p:nvPr/>
        </p:nvSpPr>
        <p:spPr>
          <a:xfrm>
            <a:off x="3116923" y="4400799"/>
            <a:ext cx="518269" cy="235871"/>
          </a:xfrm>
          <a:prstGeom prst="roundRect">
            <a:avLst>
              <a:gd name="adj" fmla="val 15278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wrap="square" lIns="18288" tIns="0" rIns="18288" bIns="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175" algn="ctr">
              <a:lnSpc>
                <a:spcPct val="114000"/>
              </a:lnSpc>
              <a:defRPr sz="900" b="1">
                <a:solidFill>
                  <a:schemeClr val="bg1"/>
                </a:solidFill>
                <a:latin typeface="+mn-lt"/>
              </a:defRPr>
            </a:lvl1pPr>
          </a:lstStyle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Jan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slot.site.2.chip"/>
          <p:cNvSpPr txBox="1"/>
          <p:nvPr/>
        </p:nvSpPr>
        <p:spPr>
          <a:xfrm>
            <a:off x="3853736" y="4400799"/>
            <a:ext cx="518269" cy="235871"/>
          </a:xfrm>
          <a:prstGeom prst="roundRect">
            <a:avLst>
              <a:gd name="adj" fmla="val 15278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wrap="square" lIns="18288" tIns="0" rIns="18288" bIns="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175" algn="ctr">
              <a:lnSpc>
                <a:spcPct val="114000"/>
              </a:lnSpc>
              <a:defRPr sz="900" b="1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Feb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slot.site.3.chip"/>
          <p:cNvSpPr txBox="1"/>
          <p:nvPr/>
        </p:nvSpPr>
        <p:spPr>
          <a:xfrm>
            <a:off x="4590550" y="4399545"/>
            <a:ext cx="518269" cy="238379"/>
          </a:xfrm>
          <a:prstGeom prst="roundRect">
            <a:avLst>
              <a:gd name="adj" fmla="val 15278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wrap="square" lIns="18288" tIns="0" rIns="18288" bIns="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175" algn="ctr">
              <a:lnSpc>
                <a:spcPct val="114000"/>
              </a:lnSpc>
              <a:defRPr sz="900" b="1">
                <a:solidFill>
                  <a:schemeClr val="bg1"/>
                </a:solidFill>
                <a:latin typeface="+mn-lt"/>
              </a:defRPr>
            </a:lvl1pPr>
          </a:lstStyle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Mar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slot.site.4.chip"/>
          <p:cNvSpPr txBox="1"/>
          <p:nvPr/>
        </p:nvSpPr>
        <p:spPr>
          <a:xfrm>
            <a:off x="5327363" y="4400799"/>
            <a:ext cx="518269" cy="235871"/>
          </a:xfrm>
          <a:prstGeom prst="roundRect">
            <a:avLst>
              <a:gd name="adj" fmla="val 15278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wrap="square" lIns="18288" tIns="0" rIns="18288" bIns="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175" algn="ctr">
              <a:lnSpc>
                <a:spcPct val="114000"/>
              </a:lnSpc>
              <a:defRPr sz="900" b="1">
                <a:solidFill>
                  <a:schemeClr val="bg1"/>
                </a:solidFill>
                <a:latin typeface="+mn-lt"/>
              </a:defRPr>
            </a:lvl1pPr>
          </a:lstStyle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Mar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slot.site.5.chip"/>
          <p:cNvSpPr txBox="1"/>
          <p:nvPr/>
        </p:nvSpPr>
        <p:spPr>
          <a:xfrm>
            <a:off x="6064176" y="4400799"/>
            <a:ext cx="518269" cy="235871"/>
          </a:xfrm>
          <a:prstGeom prst="roundRect">
            <a:avLst>
              <a:gd name="adj" fmla="val 15278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wrap="square" lIns="18288" tIns="0" rIns="18288" bIns="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175" algn="ctr">
              <a:lnSpc>
                <a:spcPct val="114000"/>
              </a:lnSpc>
              <a:defRPr sz="900" b="1">
                <a:solidFill>
                  <a:schemeClr val="bg1"/>
                </a:solidFill>
                <a:latin typeface="+mn-lt"/>
              </a:defRPr>
            </a:lvl1pPr>
          </a:lstStyle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Apr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slot.site.6.chip"/>
          <p:cNvSpPr txBox="1"/>
          <p:nvPr/>
        </p:nvSpPr>
        <p:spPr>
          <a:xfrm>
            <a:off x="6800990" y="4400799"/>
            <a:ext cx="518269" cy="235871"/>
          </a:xfrm>
          <a:prstGeom prst="roundRect">
            <a:avLst>
              <a:gd name="adj" fmla="val 15278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wrap="square" lIns="18288" tIns="0" rIns="18288" bIns="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175" algn="ctr">
              <a:lnSpc>
                <a:spcPct val="114000"/>
              </a:lnSpc>
              <a:defRPr sz="900" b="1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May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slot.site.7.chip"/>
          <p:cNvSpPr txBox="1"/>
          <p:nvPr/>
        </p:nvSpPr>
        <p:spPr>
          <a:xfrm>
            <a:off x="7537803" y="4400799"/>
            <a:ext cx="518269" cy="235871"/>
          </a:xfrm>
          <a:prstGeom prst="roundRect">
            <a:avLst>
              <a:gd name="adj" fmla="val 15278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wrap="square" lIns="18288" tIns="0" rIns="18288" bIns="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175" algn="ctr">
              <a:lnSpc>
                <a:spcPct val="114000"/>
              </a:lnSpc>
              <a:defRPr sz="900" b="1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May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slot.site.8.chip"/>
          <p:cNvSpPr txBox="1"/>
          <p:nvPr/>
        </p:nvSpPr>
        <p:spPr>
          <a:xfrm>
            <a:off x="8274616" y="4400799"/>
            <a:ext cx="518269" cy="235871"/>
          </a:xfrm>
          <a:prstGeom prst="roundRect">
            <a:avLst>
              <a:gd name="adj" fmla="val 15278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wrap="square" lIns="18288" tIns="0" rIns="18288" bIns="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175" algn="ctr">
              <a:lnSpc>
                <a:spcPct val="114000"/>
              </a:lnSpc>
              <a:defRPr sz="900" b="1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Jun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slot.site.9.chip"/>
          <p:cNvSpPr txBox="1"/>
          <p:nvPr/>
        </p:nvSpPr>
        <p:spPr>
          <a:xfrm>
            <a:off x="9011430" y="4399545"/>
            <a:ext cx="518269" cy="238379"/>
          </a:xfrm>
          <a:prstGeom prst="roundRect">
            <a:avLst>
              <a:gd name="adj" fmla="val 15278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wrap="square" lIns="18288" tIns="0" rIns="18288" bIns="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175" algn="ctr">
              <a:lnSpc>
                <a:spcPct val="114000"/>
              </a:lnSpc>
              <a:defRPr sz="900" b="1">
                <a:solidFill>
                  <a:schemeClr val="bg1"/>
                </a:solidFill>
                <a:latin typeface="+mn-lt"/>
              </a:defRPr>
            </a:lvl1pPr>
          </a:lstStyle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Jul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slot.site.10.chip"/>
          <p:cNvSpPr txBox="1"/>
          <p:nvPr/>
        </p:nvSpPr>
        <p:spPr>
          <a:xfrm>
            <a:off x="9748243" y="4399545"/>
            <a:ext cx="518269" cy="238379"/>
          </a:xfrm>
          <a:prstGeom prst="roundRect">
            <a:avLst>
              <a:gd name="adj" fmla="val 15278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wrap="square" lIns="18288" tIns="0" rIns="18288" bIns="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175" algn="ctr">
              <a:lnSpc>
                <a:spcPct val="114000"/>
              </a:lnSpc>
              <a:defRPr sz="900" b="1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Jul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slot.site.11.chip"/>
          <p:cNvSpPr txBox="1"/>
          <p:nvPr/>
        </p:nvSpPr>
        <p:spPr>
          <a:xfrm>
            <a:off x="10485057" y="4399545"/>
            <a:ext cx="518269" cy="238379"/>
          </a:xfrm>
          <a:prstGeom prst="roundRect">
            <a:avLst>
              <a:gd name="adj" fmla="val 15278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wrap="square" lIns="18288" tIns="0" rIns="18288" bIns="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175" algn="ctr">
              <a:lnSpc>
                <a:spcPct val="114000"/>
              </a:lnSpc>
              <a:defRPr sz="900" b="1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Aug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slot.site.12.chip"/>
          <p:cNvSpPr txBox="1"/>
          <p:nvPr/>
        </p:nvSpPr>
        <p:spPr>
          <a:xfrm>
            <a:off x="11221869" y="4400799"/>
            <a:ext cx="518269" cy="235871"/>
          </a:xfrm>
          <a:prstGeom prst="roundRect">
            <a:avLst>
              <a:gd name="adj" fmla="val 15278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wrap="square" lIns="18288" tIns="0" rIns="18288" bIns="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175" algn="ctr">
              <a:lnSpc>
                <a:spcPct val="114000"/>
              </a:lnSpc>
              <a:defRPr sz="900" b="1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Sep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slot.site.1.value"/>
          <p:cNvSpPr txBox="1"/>
          <p:nvPr/>
        </p:nvSpPr>
        <p:spPr>
          <a:xfrm>
            <a:off x="3089637" y="3904487"/>
            <a:ext cx="575953" cy="237744"/>
          </a:xfrm>
          <a:prstGeom prst="rect">
            <a:avLst/>
          </a:prstGeom>
          <a:noFill/>
          <a:ln/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140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slot.site.2.value"/>
          <p:cNvSpPr txBox="1"/>
          <p:nvPr/>
        </p:nvSpPr>
        <p:spPr>
          <a:xfrm>
            <a:off x="3826450" y="3904487"/>
            <a:ext cx="575953" cy="237744"/>
          </a:xfrm>
          <a:prstGeom prst="rect">
            <a:avLst/>
          </a:prstGeom>
          <a:noFill/>
          <a:ln/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320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slot.site.3.value"/>
          <p:cNvSpPr txBox="1"/>
          <p:nvPr/>
        </p:nvSpPr>
        <p:spPr>
          <a:xfrm>
            <a:off x="4563263" y="3904487"/>
            <a:ext cx="575953" cy="237744"/>
          </a:xfrm>
          <a:prstGeom prst="rect">
            <a:avLst/>
          </a:prstGeom>
          <a:noFill/>
          <a:ln/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90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slot.site.5.value"/>
          <p:cNvSpPr txBox="1"/>
          <p:nvPr/>
        </p:nvSpPr>
        <p:spPr>
          <a:xfrm>
            <a:off x="6036890" y="3904487"/>
            <a:ext cx="575953" cy="237744"/>
          </a:xfrm>
          <a:prstGeom prst="rect">
            <a:avLst/>
          </a:prstGeom>
          <a:noFill/>
          <a:ln/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260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slot.site.6.value"/>
          <p:cNvSpPr txBox="1"/>
          <p:nvPr/>
        </p:nvSpPr>
        <p:spPr>
          <a:xfrm>
            <a:off x="6773703" y="3904487"/>
            <a:ext cx="575953" cy="237744"/>
          </a:xfrm>
          <a:prstGeom prst="rect">
            <a:avLst/>
          </a:prstGeom>
          <a:noFill/>
          <a:ln/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75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slot.site.4.value"/>
          <p:cNvSpPr txBox="1"/>
          <p:nvPr/>
        </p:nvSpPr>
        <p:spPr>
          <a:xfrm>
            <a:off x="5300077" y="3904487"/>
            <a:ext cx="575953" cy="237744"/>
          </a:xfrm>
          <a:prstGeom prst="rect">
            <a:avLst/>
          </a:prstGeom>
          <a:noFill/>
          <a:ln/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110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slot.site.7.value"/>
          <p:cNvSpPr txBox="1"/>
          <p:nvPr/>
        </p:nvSpPr>
        <p:spPr>
          <a:xfrm>
            <a:off x="7510516" y="3904487"/>
            <a:ext cx="575953" cy="237744"/>
          </a:xfrm>
          <a:prstGeom prst="rect">
            <a:avLst/>
          </a:prstGeom>
          <a:noFill/>
          <a:ln/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160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slot.site.8.value"/>
          <p:cNvSpPr txBox="1"/>
          <p:nvPr/>
        </p:nvSpPr>
        <p:spPr>
          <a:xfrm>
            <a:off x="8247329" y="3904487"/>
            <a:ext cx="575953" cy="237744"/>
          </a:xfrm>
          <a:prstGeom prst="rect">
            <a:avLst/>
          </a:prstGeom>
          <a:noFill/>
          <a:ln/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410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slot.site.9.value"/>
          <p:cNvSpPr txBox="1"/>
          <p:nvPr/>
        </p:nvSpPr>
        <p:spPr>
          <a:xfrm>
            <a:off x="8984143" y="3904487"/>
            <a:ext cx="575953" cy="237744"/>
          </a:xfrm>
          <a:prstGeom prst="rect">
            <a:avLst/>
          </a:prstGeom>
          <a:noFill/>
          <a:ln/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120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slot.site.10.value"/>
          <p:cNvSpPr txBox="1"/>
          <p:nvPr/>
        </p:nvSpPr>
        <p:spPr>
          <a:xfrm>
            <a:off x="9720956" y="3904487"/>
            <a:ext cx="575953" cy="237744"/>
          </a:xfrm>
          <a:prstGeom prst="rect">
            <a:avLst/>
          </a:prstGeom>
          <a:noFill/>
          <a:ln/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95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slot.site.12.value"/>
          <p:cNvSpPr txBox="1"/>
          <p:nvPr/>
        </p:nvSpPr>
        <p:spPr>
          <a:xfrm>
            <a:off x="11194583" y="3904487"/>
            <a:ext cx="575953" cy="237744"/>
          </a:xfrm>
          <a:prstGeom prst="rect">
            <a:avLst/>
          </a:prstGeom>
          <a:noFill/>
          <a:ln/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60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slot.site.11.value"/>
          <p:cNvSpPr txBox="1"/>
          <p:nvPr/>
        </p:nvSpPr>
        <p:spPr>
          <a:xfrm>
            <a:off x="10457769" y="3904487"/>
            <a:ext cx="575953" cy="237744"/>
          </a:xfrm>
          <a:prstGeom prst="rect">
            <a:avLst/>
          </a:prstGeom>
          <a:noFill/>
          <a:ln/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230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slot.site.1.label"/>
          <p:cNvSpPr txBox="1"/>
          <p:nvPr/>
        </p:nvSpPr>
        <p:spPr>
          <a:xfrm>
            <a:off x="3089637" y="4142232"/>
            <a:ext cx="575953" cy="201168"/>
          </a:xfrm>
          <a:prstGeom prst="rect">
            <a:avLst/>
          </a:prstGeom>
          <a:noFill/>
          <a:ln/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users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slot.site.2.label"/>
          <p:cNvSpPr txBox="1"/>
          <p:nvPr/>
        </p:nvSpPr>
        <p:spPr>
          <a:xfrm>
            <a:off x="3826450" y="4142232"/>
            <a:ext cx="575953" cy="201168"/>
          </a:xfrm>
          <a:prstGeom prst="rect">
            <a:avLst/>
          </a:prstGeom>
          <a:noFill/>
          <a:ln/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users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slot.site.3.label"/>
          <p:cNvSpPr txBox="1"/>
          <p:nvPr/>
        </p:nvSpPr>
        <p:spPr>
          <a:xfrm>
            <a:off x="4563263" y="4142232"/>
            <a:ext cx="575953" cy="201168"/>
          </a:xfrm>
          <a:prstGeom prst="rect">
            <a:avLst/>
          </a:prstGeom>
          <a:noFill/>
          <a:ln/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users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slot.site.5.label"/>
          <p:cNvSpPr txBox="1"/>
          <p:nvPr/>
        </p:nvSpPr>
        <p:spPr>
          <a:xfrm>
            <a:off x="6036890" y="4142232"/>
            <a:ext cx="575953" cy="201168"/>
          </a:xfrm>
          <a:prstGeom prst="rect">
            <a:avLst/>
          </a:prstGeom>
          <a:noFill/>
          <a:ln/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users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slot.site.6.label"/>
          <p:cNvSpPr txBox="1"/>
          <p:nvPr/>
        </p:nvSpPr>
        <p:spPr>
          <a:xfrm>
            <a:off x="6773703" y="4142232"/>
            <a:ext cx="575953" cy="201168"/>
          </a:xfrm>
          <a:prstGeom prst="rect">
            <a:avLst/>
          </a:prstGeom>
          <a:noFill/>
          <a:ln/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users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slot.site.4.label"/>
          <p:cNvSpPr txBox="1"/>
          <p:nvPr/>
        </p:nvSpPr>
        <p:spPr>
          <a:xfrm>
            <a:off x="5300077" y="4142232"/>
            <a:ext cx="575953" cy="201168"/>
          </a:xfrm>
          <a:prstGeom prst="rect">
            <a:avLst/>
          </a:prstGeom>
          <a:noFill/>
          <a:ln/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users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slot.site.7.label"/>
          <p:cNvSpPr txBox="1"/>
          <p:nvPr/>
        </p:nvSpPr>
        <p:spPr>
          <a:xfrm>
            <a:off x="7510516" y="4142232"/>
            <a:ext cx="575953" cy="201168"/>
          </a:xfrm>
          <a:prstGeom prst="rect">
            <a:avLst/>
          </a:prstGeom>
          <a:noFill/>
          <a:ln/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users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slot.site.8.label"/>
          <p:cNvSpPr txBox="1"/>
          <p:nvPr/>
        </p:nvSpPr>
        <p:spPr>
          <a:xfrm>
            <a:off x="8247329" y="4142232"/>
            <a:ext cx="575953" cy="201168"/>
          </a:xfrm>
          <a:prstGeom prst="rect">
            <a:avLst/>
          </a:prstGeom>
          <a:noFill/>
          <a:ln/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users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slot.site.9.label"/>
          <p:cNvSpPr txBox="1"/>
          <p:nvPr/>
        </p:nvSpPr>
        <p:spPr>
          <a:xfrm>
            <a:off x="8984143" y="4142232"/>
            <a:ext cx="575953" cy="201168"/>
          </a:xfrm>
          <a:prstGeom prst="rect">
            <a:avLst/>
          </a:prstGeom>
          <a:noFill/>
          <a:ln/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users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slot.site.10.label"/>
          <p:cNvSpPr txBox="1"/>
          <p:nvPr/>
        </p:nvSpPr>
        <p:spPr>
          <a:xfrm>
            <a:off x="9720956" y="4142232"/>
            <a:ext cx="575953" cy="201168"/>
          </a:xfrm>
          <a:prstGeom prst="rect">
            <a:avLst/>
          </a:prstGeom>
          <a:noFill/>
          <a:ln/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users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slot.site.12.label"/>
          <p:cNvSpPr txBox="1"/>
          <p:nvPr/>
        </p:nvSpPr>
        <p:spPr>
          <a:xfrm>
            <a:off x="11194583" y="4142232"/>
            <a:ext cx="575953" cy="201168"/>
          </a:xfrm>
          <a:prstGeom prst="rect">
            <a:avLst/>
          </a:prstGeom>
          <a:noFill/>
          <a:ln/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users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slot.site.11.label"/>
          <p:cNvSpPr txBox="1"/>
          <p:nvPr/>
        </p:nvSpPr>
        <p:spPr>
          <a:xfrm>
            <a:off x="10457769" y="4142232"/>
            <a:ext cx="575953" cy="201168"/>
          </a:xfrm>
          <a:prstGeom prst="rect">
            <a:avLst/>
          </a:prstGeom>
          <a:noFill/>
          <a:ln/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users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slot.foundation.note"/>
          <p:cNvSpPr txBox="1"/>
          <p:nvPr/>
        </p:nvSpPr>
        <p:spPr>
          <a:xfrm>
            <a:off x="4299233" y="1691640"/>
            <a:ext cx="6399474" cy="274320"/>
          </a:xfrm>
          <a:prstGeom prst="rect">
            <a:avLst/>
          </a:prstGeom>
          <a:solidFill>
            <a:schemeClr val="bg1"/>
          </a:solidFill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Built in wave 1,</a:t>
            </a: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configured by every later wave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slot.wave.note"/>
          <p:cNvSpPr txBox="1"/>
          <p:nvPr/>
        </p:nvSpPr>
        <p:spPr>
          <a:xfrm>
            <a:off x="4527786" y="2560320"/>
            <a:ext cx="5805237" cy="256032"/>
          </a:xfrm>
          <a:prstGeom prst="rect">
            <a:avLst/>
          </a:prstGeom>
          <a:solidFill>
            <a:schemeClr val="bg1"/>
          </a:solidFill>
          <a:ln/>
          <a:effectLst/>
        </p:spPr>
        <p:txBody>
          <a:bodyPr wrap="square" lIns="36000" tIns="36000" rIns="36000" bIns="3600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Three sites per wave:</a:t>
            </a: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office, plant, warehouse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struct.foundation.arrow"/>
          <p:cNvSpPr/>
          <p:nvPr/>
        </p:nvSpPr>
        <p:spPr>
          <a:xfrm>
            <a:off x="4024970" y="1618488"/>
            <a:ext cx="182842" cy="420624"/>
          </a:xfrm>
          <a:prstGeom prst="down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97" name="struct.steps.frame"/>
          <p:cNvSpPr/>
          <p:nvPr/>
        </p:nvSpPr>
        <p:spPr>
          <a:xfrm>
            <a:off x="459549" y="4754880"/>
            <a:ext cx="11336211" cy="1371600"/>
          </a:xfrm>
          <a:prstGeom prst="roundRect">
            <a:avLst>
              <a:gd name="adj" fmla="val 3333"/>
            </a:avLst>
          </a:prstGeom>
          <a:noFill/>
          <a:ln w="6350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98" name="slot.steps.label"/>
          <p:cNvSpPr txBox="1"/>
          <p:nvPr/>
        </p:nvSpPr>
        <p:spPr>
          <a:xfrm>
            <a:off x="642391" y="4818888"/>
            <a:ext cx="3656842" cy="256032"/>
          </a:xfrm>
          <a:prstGeom prst="rect">
            <a:avLst/>
          </a:prstGeom>
          <a:solidFill>
            <a:schemeClr val="bg1"/>
          </a:solidFill>
          <a:ln/>
          <a:effectLst/>
        </p:spPr>
        <p:txBody>
          <a:bodyPr wrap="square" lIns="72000" tIns="36000" rIns="72000" bIns="3600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Every wave runs the same four steps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slot.step.1.head"/>
          <p:cNvSpPr/>
          <p:nvPr/>
        </p:nvSpPr>
        <p:spPr>
          <a:xfrm>
            <a:off x="641720" y="5146990"/>
            <a:ext cx="2330789" cy="380010"/>
          </a:xfrm>
          <a:prstGeom prst="homePlate">
            <a:avLst>
              <a:gd name="adj" fmla="val 3125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91440" tIns="45720" rIns="91440" bIns="4572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Assess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slot.step.2.head"/>
          <p:cNvSpPr/>
          <p:nvPr/>
        </p:nvSpPr>
        <p:spPr>
          <a:xfrm>
            <a:off x="2882059" y="5146990"/>
            <a:ext cx="2330789" cy="380010"/>
          </a:xfrm>
          <a:prstGeom prst="chevron">
            <a:avLst>
              <a:gd name="adj" fmla="val 3184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91440" tIns="45720" rIns="91440" bIns="4572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Configure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slot.step.3.head"/>
          <p:cNvSpPr/>
          <p:nvPr/>
        </p:nvSpPr>
        <p:spPr>
          <a:xfrm>
            <a:off x="5122399" y="5146990"/>
            <a:ext cx="2330789" cy="380010"/>
          </a:xfrm>
          <a:prstGeom prst="chevron">
            <a:avLst>
              <a:gd name="adj" fmla="val 3184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91440" tIns="45720" rIns="91440" bIns="4572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Test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slot.step.4.head"/>
          <p:cNvSpPr/>
          <p:nvPr/>
        </p:nvSpPr>
        <p:spPr>
          <a:xfrm>
            <a:off x="7362739" y="5146990"/>
            <a:ext cx="2330789" cy="380010"/>
          </a:xfrm>
          <a:prstGeom prst="chevron">
            <a:avLst>
              <a:gd name="adj" fmla="val 3184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91440" tIns="45720" rIns="91440" bIns="4572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Go live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slot.step.1.body"/>
          <p:cNvSpPr txBox="1"/>
          <p:nvPr/>
        </p:nvSpPr>
        <p:spPr>
          <a:xfrm>
            <a:off x="751425" y="5605272"/>
            <a:ext cx="2056974" cy="42062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Map steps, audit master data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slot.step.2.body"/>
          <p:cNvSpPr txBox="1"/>
          <p:nvPr/>
        </p:nvSpPr>
        <p:spPr>
          <a:xfrm>
            <a:off x="2991764" y="5605272"/>
            <a:ext cx="2056974" cy="42062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Set up roles, reports, interfaces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slot.step.3.body"/>
          <p:cNvSpPr txBox="1"/>
          <p:nvPr/>
        </p:nvSpPr>
        <p:spPr>
          <a:xfrm>
            <a:off x="5232104" y="5605272"/>
            <a:ext cx="2056974" cy="42062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Run tests and a cutover rehearsal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slot.step.4.body"/>
          <p:cNvSpPr txBox="1"/>
          <p:nvPr/>
        </p:nvSpPr>
        <p:spPr>
          <a:xfrm>
            <a:off x="7472444" y="5605272"/>
            <a:ext cx="2056974" cy="42062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Switch over, then hypercare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struct.gate"/>
          <p:cNvSpPr/>
          <p:nvPr/>
        </p:nvSpPr>
        <p:spPr>
          <a:xfrm>
            <a:off x="9802781" y="5084064"/>
            <a:ext cx="1864990" cy="932688"/>
          </a:xfrm>
          <a:prstGeom prst="roundRect">
            <a:avLst>
              <a:gd name="adj" fmla="val 496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/>
        </p:txBody>
      </p:sp>
      <p:sp>
        <p:nvSpPr>
          <p:cNvPr id="108" name="slot.foundation.icon"/>
          <p:cNvSpPr/>
          <p:nvPr/>
        </p:nvSpPr>
        <p:spPr>
          <a:xfrm>
            <a:off x="3247853" y="106984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830" y="2180"/>
                </a:moveTo>
                <a:cubicBezTo>
                  <a:pt x="12303" y="1940"/>
                  <a:pt x="11697" y="1940"/>
                  <a:pt x="11170" y="2180"/>
                </a:cubicBezTo>
                <a:lnTo>
                  <a:pt x="2600" y="6080"/>
                </a:lnTo>
                <a:cubicBezTo>
                  <a:pt x="2237" y="6240"/>
                  <a:pt x="2003" y="6599"/>
                  <a:pt x="2003" y="6995"/>
                </a:cubicBezTo>
                <a:cubicBezTo>
                  <a:pt x="2003" y="7391"/>
                  <a:pt x="2237" y="7750"/>
                  <a:pt x="2600" y="7910"/>
                </a:cubicBezTo>
                <a:lnTo>
                  <a:pt x="11180" y="11820"/>
                </a:lnTo>
                <a:cubicBezTo>
                  <a:pt x="11707" y="12060"/>
                  <a:pt x="12313" y="12060"/>
                  <a:pt x="12840" y="11820"/>
                </a:cubicBezTo>
                <a:lnTo>
                  <a:pt x="21420" y="7920"/>
                </a:lnTo>
                <a:cubicBezTo>
                  <a:pt x="21783" y="7760"/>
                  <a:pt x="22017" y="7401"/>
                  <a:pt x="22017" y="7005"/>
                </a:cubicBezTo>
                <a:cubicBezTo>
                  <a:pt x="22017" y="6609"/>
                  <a:pt x="21783" y="6250"/>
                  <a:pt x="21420" y="6090"/>
                </a:cubicBezTo>
                <a:close/>
                <a:moveTo>
                  <a:pt x="2000" y="12000"/>
                </a:moveTo>
                <a:cubicBezTo>
                  <a:pt x="1999" y="12391"/>
                  <a:pt x="2226" y="12746"/>
                  <a:pt x="2580" y="12910"/>
                </a:cubicBezTo>
                <a:lnTo>
                  <a:pt x="11180" y="16820"/>
                </a:lnTo>
                <a:cubicBezTo>
                  <a:pt x="11704" y="17057"/>
                  <a:pt x="12306" y="17057"/>
                  <a:pt x="12830" y="16820"/>
                </a:cubicBezTo>
                <a:lnTo>
                  <a:pt x="21410" y="12920"/>
                </a:lnTo>
                <a:cubicBezTo>
                  <a:pt x="21772" y="12757"/>
                  <a:pt x="22003" y="12397"/>
                  <a:pt x="22000" y="12000"/>
                </a:cubicBezTo>
                <a:moveTo>
                  <a:pt x="2000" y="17000"/>
                </a:moveTo>
                <a:cubicBezTo>
                  <a:pt x="1999" y="17391"/>
                  <a:pt x="2226" y="17746"/>
                  <a:pt x="2580" y="17910"/>
                </a:cubicBezTo>
                <a:lnTo>
                  <a:pt x="11180" y="21820"/>
                </a:lnTo>
                <a:cubicBezTo>
                  <a:pt x="11704" y="22057"/>
                  <a:pt x="12306" y="22057"/>
                  <a:pt x="12830" y="21820"/>
                </a:cubicBezTo>
                <a:lnTo>
                  <a:pt x="21410" y="17920"/>
                </a:lnTo>
                <a:cubicBezTo>
                  <a:pt x="21772" y="17757"/>
                  <a:pt x="22003" y="17397"/>
                  <a:pt x="22000" y="17000"/>
                </a:cubicBezTo>
              </a:path>
            </a:pathLst>
          </a:custGeom>
          <a:noFill/>
          <a:ln w="30480" cap="rnd">
            <a:solidFill>
              <a:schemeClr val="bg1"/>
            </a:solidFill>
            <a:round/>
          </a:ln>
          <a:effectLst/>
        </p:spPr>
      </p:sp>
      <p:sp>
        <p:nvSpPr>
          <p:cNvPr id="109" name="slot.site.1.icon"/>
          <p:cNvSpPr/>
          <p:nvPr/>
        </p:nvSpPr>
        <p:spPr>
          <a:xfrm>
            <a:off x="3235881" y="3557016"/>
            <a:ext cx="283464" cy="28346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0000"/>
                </a:moveTo>
                <a:lnTo>
                  <a:pt x="12010" y="10000"/>
                </a:lnTo>
                <a:moveTo>
                  <a:pt x="12000" y="14000"/>
                </a:moveTo>
                <a:lnTo>
                  <a:pt x="12010" y="14000"/>
                </a:lnTo>
                <a:moveTo>
                  <a:pt x="12000" y="6000"/>
                </a:moveTo>
                <a:lnTo>
                  <a:pt x="12010" y="6000"/>
                </a:lnTo>
                <a:moveTo>
                  <a:pt x="16000" y="10000"/>
                </a:moveTo>
                <a:lnTo>
                  <a:pt x="16010" y="10000"/>
                </a:lnTo>
                <a:moveTo>
                  <a:pt x="16000" y="14000"/>
                </a:moveTo>
                <a:lnTo>
                  <a:pt x="16010" y="14000"/>
                </a:lnTo>
                <a:moveTo>
                  <a:pt x="16000" y="6000"/>
                </a:moveTo>
                <a:lnTo>
                  <a:pt x="16010" y="6000"/>
                </a:lnTo>
                <a:moveTo>
                  <a:pt x="8000" y="10000"/>
                </a:moveTo>
                <a:lnTo>
                  <a:pt x="8010" y="10000"/>
                </a:lnTo>
                <a:moveTo>
                  <a:pt x="8000" y="14000"/>
                </a:moveTo>
                <a:lnTo>
                  <a:pt x="8010" y="14000"/>
                </a:lnTo>
                <a:moveTo>
                  <a:pt x="8000" y="6000"/>
                </a:moveTo>
                <a:lnTo>
                  <a:pt x="8010" y="6000"/>
                </a:lnTo>
                <a:moveTo>
                  <a:pt x="9000" y="22000"/>
                </a:moveTo>
                <a:lnTo>
                  <a:pt x="9000" y="19000"/>
                </a:lnTo>
                <a:cubicBezTo>
                  <a:pt x="9000" y="18448"/>
                  <a:pt x="9448" y="18000"/>
                  <a:pt x="10000" y="18000"/>
                </a:cubicBezTo>
                <a:lnTo>
                  <a:pt x="14000" y="18000"/>
                </a:lnTo>
                <a:cubicBezTo>
                  <a:pt x="14552" y="18000"/>
                  <a:pt x="15000" y="18448"/>
                  <a:pt x="15000" y="19000"/>
                </a:cubicBezTo>
                <a:lnTo>
                  <a:pt x="15000" y="22000"/>
                </a:lnTo>
                <a:moveTo>
                  <a:pt x="6000" y="2000"/>
                </a:moveTo>
                <a:lnTo>
                  <a:pt x="18000" y="2000"/>
                </a:lnTo>
                <a:cubicBezTo>
                  <a:pt x="19105" y="2000"/>
                  <a:pt x="20000" y="2895"/>
                  <a:pt x="20000" y="4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lnTo>
                  <a:pt x="6000" y="22000"/>
                </a:ln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close/>
              </a:path>
            </a:pathLst>
          </a:custGeom>
          <a:noFill/>
          <a:ln w="2349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110" name="slot.site.2.icon"/>
          <p:cNvSpPr/>
          <p:nvPr/>
        </p:nvSpPr>
        <p:spPr>
          <a:xfrm>
            <a:off x="3972694" y="3557016"/>
            <a:ext cx="283464" cy="28346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6000"/>
                </a:moveTo>
                <a:lnTo>
                  <a:pt x="12010" y="16000"/>
                </a:lnTo>
                <a:moveTo>
                  <a:pt x="16000" y="16000"/>
                </a:moveTo>
                <a:lnTo>
                  <a:pt x="16010" y="16000"/>
                </a:lnTo>
                <a:moveTo>
                  <a:pt x="3000" y="19000"/>
                </a:moveTo>
                <a:cubicBezTo>
                  <a:pt x="3000" y="20105"/>
                  <a:pt x="3895" y="21000"/>
                  <a:pt x="5000" y="21000"/>
                </a:cubicBezTo>
                <a:lnTo>
                  <a:pt x="19000" y="21000"/>
                </a:lnTo>
                <a:cubicBezTo>
                  <a:pt x="20105" y="21000"/>
                  <a:pt x="21000" y="20105"/>
                  <a:pt x="21000" y="19000"/>
                </a:cubicBezTo>
                <a:lnTo>
                  <a:pt x="21000" y="8500"/>
                </a:lnTo>
                <a:cubicBezTo>
                  <a:pt x="21000" y="8317"/>
                  <a:pt x="20901" y="8149"/>
                  <a:pt x="20741" y="8061"/>
                </a:cubicBezTo>
                <a:cubicBezTo>
                  <a:pt x="20580" y="7973"/>
                  <a:pt x="20385" y="7980"/>
                  <a:pt x="20231" y="8078"/>
                </a:cubicBezTo>
                <a:lnTo>
                  <a:pt x="15769" y="10922"/>
                </a:lnTo>
                <a:cubicBezTo>
                  <a:pt x="15615" y="11020"/>
                  <a:pt x="15420" y="11027"/>
                  <a:pt x="15259" y="10939"/>
                </a:cubicBezTo>
                <a:cubicBezTo>
                  <a:pt x="15099" y="10851"/>
                  <a:pt x="15000" y="10683"/>
                  <a:pt x="15000" y="10500"/>
                </a:cubicBezTo>
                <a:lnTo>
                  <a:pt x="15000" y="8500"/>
                </a:lnTo>
                <a:cubicBezTo>
                  <a:pt x="15000" y="8317"/>
                  <a:pt x="14901" y="8149"/>
                  <a:pt x="14741" y="8061"/>
                </a:cubicBezTo>
                <a:cubicBezTo>
                  <a:pt x="14580" y="7973"/>
                  <a:pt x="14385" y="7980"/>
                  <a:pt x="14231" y="8078"/>
                </a:cubicBezTo>
                <a:lnTo>
                  <a:pt x="9770" y="10922"/>
                </a:lnTo>
                <a:cubicBezTo>
                  <a:pt x="9616" y="11021"/>
                  <a:pt x="9420" y="11028"/>
                  <a:pt x="9260" y="10940"/>
                </a:cubicBezTo>
                <a:cubicBezTo>
                  <a:pt x="9099" y="10852"/>
                  <a:pt x="9000" y="10683"/>
                  <a:pt x="9000" y="10500"/>
                </a:cubicBezTo>
                <a:lnTo>
                  <a:pt x="9000" y="5000"/>
                </a:lnTo>
                <a:cubicBezTo>
                  <a:pt x="9000" y="3895"/>
                  <a:pt x="8105" y="3000"/>
                  <a:pt x="7000" y="3000"/>
                </a:cubicBezTo>
                <a:lnTo>
                  <a:pt x="5000" y="3000"/>
                </a:lnTo>
                <a:cubicBezTo>
                  <a:pt x="3895" y="3000"/>
                  <a:pt x="3000" y="3895"/>
                  <a:pt x="3000" y="5000"/>
                </a:cubicBezTo>
                <a:close/>
                <a:moveTo>
                  <a:pt x="8000" y="16000"/>
                </a:moveTo>
                <a:lnTo>
                  <a:pt x="8010" y="16000"/>
                </a:lnTo>
              </a:path>
            </a:pathLst>
          </a:custGeom>
          <a:noFill/>
          <a:ln w="2349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111" name="slot.site.3.icon"/>
          <p:cNvSpPr/>
          <p:nvPr/>
        </p:nvSpPr>
        <p:spPr>
          <a:xfrm>
            <a:off x="4709508" y="3557016"/>
            <a:ext cx="283464" cy="28346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8000" y="21000"/>
                </a:moveTo>
                <a:lnTo>
                  <a:pt x="18000" y="10000"/>
                </a:lnTo>
                <a:cubicBezTo>
                  <a:pt x="18000" y="9448"/>
                  <a:pt x="17552" y="9000"/>
                  <a:pt x="17000" y="9000"/>
                </a:cubicBezTo>
                <a:lnTo>
                  <a:pt x="7000" y="9000"/>
                </a:lnTo>
                <a:cubicBezTo>
                  <a:pt x="6448" y="9000"/>
                  <a:pt x="6000" y="9448"/>
                  <a:pt x="6000" y="10000"/>
                </a:cubicBezTo>
                <a:lnTo>
                  <a:pt x="6000" y="21000"/>
                </a:lnTo>
                <a:moveTo>
                  <a:pt x="22000" y="19000"/>
                </a:moveTo>
                <a:cubicBezTo>
                  <a:pt x="22000" y="20105"/>
                  <a:pt x="21105" y="21000"/>
                  <a:pt x="20000" y="21000"/>
                </a:cubicBezTo>
                <a:lnTo>
                  <a:pt x="4000" y="21000"/>
                </a:lnTo>
                <a:cubicBezTo>
                  <a:pt x="2895" y="21000"/>
                  <a:pt x="2000" y="20105"/>
                  <a:pt x="2000" y="19000"/>
                </a:cubicBezTo>
                <a:lnTo>
                  <a:pt x="2000" y="8000"/>
                </a:lnTo>
                <a:cubicBezTo>
                  <a:pt x="2000" y="7231"/>
                  <a:pt x="2440" y="6531"/>
                  <a:pt x="3132" y="6197"/>
                </a:cubicBezTo>
                <a:lnTo>
                  <a:pt x="11082" y="2223"/>
                </a:lnTo>
                <a:cubicBezTo>
                  <a:pt x="11658" y="1925"/>
                  <a:pt x="12343" y="1925"/>
                  <a:pt x="12919" y="2223"/>
                </a:cubicBezTo>
                <a:lnTo>
                  <a:pt x="20867" y="6197"/>
                </a:lnTo>
                <a:cubicBezTo>
                  <a:pt x="21560" y="6530"/>
                  <a:pt x="22000" y="7231"/>
                  <a:pt x="22000" y="8000"/>
                </a:cubicBezTo>
                <a:close/>
                <a:moveTo>
                  <a:pt x="6000" y="13000"/>
                </a:moveTo>
                <a:lnTo>
                  <a:pt x="18000" y="13000"/>
                </a:lnTo>
                <a:moveTo>
                  <a:pt x="6000" y="17000"/>
                </a:moveTo>
                <a:lnTo>
                  <a:pt x="18000" y="17000"/>
                </a:lnTo>
              </a:path>
            </a:pathLst>
          </a:custGeom>
          <a:noFill/>
          <a:ln w="2349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112" name="slot.site.4.icon"/>
          <p:cNvSpPr/>
          <p:nvPr/>
        </p:nvSpPr>
        <p:spPr>
          <a:xfrm>
            <a:off x="5446321" y="3557016"/>
            <a:ext cx="283464" cy="28346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0000"/>
                </a:moveTo>
                <a:lnTo>
                  <a:pt x="12010" y="10000"/>
                </a:lnTo>
                <a:moveTo>
                  <a:pt x="12000" y="14000"/>
                </a:moveTo>
                <a:lnTo>
                  <a:pt x="12010" y="14000"/>
                </a:lnTo>
                <a:moveTo>
                  <a:pt x="12000" y="6000"/>
                </a:moveTo>
                <a:lnTo>
                  <a:pt x="12010" y="6000"/>
                </a:lnTo>
                <a:moveTo>
                  <a:pt x="16000" y="10000"/>
                </a:moveTo>
                <a:lnTo>
                  <a:pt x="16010" y="10000"/>
                </a:lnTo>
                <a:moveTo>
                  <a:pt x="16000" y="14000"/>
                </a:moveTo>
                <a:lnTo>
                  <a:pt x="16010" y="14000"/>
                </a:lnTo>
                <a:moveTo>
                  <a:pt x="16000" y="6000"/>
                </a:moveTo>
                <a:lnTo>
                  <a:pt x="16010" y="6000"/>
                </a:lnTo>
                <a:moveTo>
                  <a:pt x="8000" y="10000"/>
                </a:moveTo>
                <a:lnTo>
                  <a:pt x="8010" y="10000"/>
                </a:lnTo>
                <a:moveTo>
                  <a:pt x="8000" y="14000"/>
                </a:moveTo>
                <a:lnTo>
                  <a:pt x="8010" y="14000"/>
                </a:lnTo>
                <a:moveTo>
                  <a:pt x="8000" y="6000"/>
                </a:moveTo>
                <a:lnTo>
                  <a:pt x="8010" y="6000"/>
                </a:lnTo>
                <a:moveTo>
                  <a:pt x="9000" y="22000"/>
                </a:moveTo>
                <a:lnTo>
                  <a:pt x="9000" y="19000"/>
                </a:lnTo>
                <a:cubicBezTo>
                  <a:pt x="9000" y="18448"/>
                  <a:pt x="9448" y="18000"/>
                  <a:pt x="10000" y="18000"/>
                </a:cubicBezTo>
                <a:lnTo>
                  <a:pt x="14000" y="18000"/>
                </a:lnTo>
                <a:cubicBezTo>
                  <a:pt x="14552" y="18000"/>
                  <a:pt x="15000" y="18448"/>
                  <a:pt x="15000" y="19000"/>
                </a:cubicBezTo>
                <a:lnTo>
                  <a:pt x="15000" y="22000"/>
                </a:lnTo>
                <a:moveTo>
                  <a:pt x="6000" y="2000"/>
                </a:moveTo>
                <a:lnTo>
                  <a:pt x="18000" y="2000"/>
                </a:lnTo>
                <a:cubicBezTo>
                  <a:pt x="19105" y="2000"/>
                  <a:pt x="20000" y="2895"/>
                  <a:pt x="20000" y="4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lnTo>
                  <a:pt x="6000" y="22000"/>
                </a:ln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close/>
              </a:path>
            </a:pathLst>
          </a:custGeom>
          <a:noFill/>
          <a:ln w="2349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113" name="slot.site.5.icon"/>
          <p:cNvSpPr/>
          <p:nvPr/>
        </p:nvSpPr>
        <p:spPr>
          <a:xfrm>
            <a:off x="6183134" y="3557016"/>
            <a:ext cx="283464" cy="28346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6000"/>
                </a:moveTo>
                <a:lnTo>
                  <a:pt x="12010" y="16000"/>
                </a:lnTo>
                <a:moveTo>
                  <a:pt x="16000" y="16000"/>
                </a:moveTo>
                <a:lnTo>
                  <a:pt x="16010" y="16000"/>
                </a:lnTo>
                <a:moveTo>
                  <a:pt x="3000" y="19000"/>
                </a:moveTo>
                <a:cubicBezTo>
                  <a:pt x="3000" y="20105"/>
                  <a:pt x="3895" y="21000"/>
                  <a:pt x="5000" y="21000"/>
                </a:cubicBezTo>
                <a:lnTo>
                  <a:pt x="19000" y="21000"/>
                </a:lnTo>
                <a:cubicBezTo>
                  <a:pt x="20105" y="21000"/>
                  <a:pt x="21000" y="20105"/>
                  <a:pt x="21000" y="19000"/>
                </a:cubicBezTo>
                <a:lnTo>
                  <a:pt x="21000" y="8500"/>
                </a:lnTo>
                <a:cubicBezTo>
                  <a:pt x="21000" y="8317"/>
                  <a:pt x="20901" y="8149"/>
                  <a:pt x="20741" y="8061"/>
                </a:cubicBezTo>
                <a:cubicBezTo>
                  <a:pt x="20580" y="7973"/>
                  <a:pt x="20385" y="7980"/>
                  <a:pt x="20231" y="8078"/>
                </a:cubicBezTo>
                <a:lnTo>
                  <a:pt x="15769" y="10922"/>
                </a:lnTo>
                <a:cubicBezTo>
                  <a:pt x="15615" y="11020"/>
                  <a:pt x="15420" y="11027"/>
                  <a:pt x="15259" y="10939"/>
                </a:cubicBezTo>
                <a:cubicBezTo>
                  <a:pt x="15099" y="10851"/>
                  <a:pt x="15000" y="10683"/>
                  <a:pt x="15000" y="10500"/>
                </a:cubicBezTo>
                <a:lnTo>
                  <a:pt x="15000" y="8500"/>
                </a:lnTo>
                <a:cubicBezTo>
                  <a:pt x="15000" y="8317"/>
                  <a:pt x="14901" y="8149"/>
                  <a:pt x="14741" y="8061"/>
                </a:cubicBezTo>
                <a:cubicBezTo>
                  <a:pt x="14580" y="7973"/>
                  <a:pt x="14385" y="7980"/>
                  <a:pt x="14231" y="8078"/>
                </a:cubicBezTo>
                <a:lnTo>
                  <a:pt x="9770" y="10922"/>
                </a:lnTo>
                <a:cubicBezTo>
                  <a:pt x="9616" y="11021"/>
                  <a:pt x="9420" y="11028"/>
                  <a:pt x="9260" y="10940"/>
                </a:cubicBezTo>
                <a:cubicBezTo>
                  <a:pt x="9099" y="10852"/>
                  <a:pt x="9000" y="10683"/>
                  <a:pt x="9000" y="10500"/>
                </a:cubicBezTo>
                <a:lnTo>
                  <a:pt x="9000" y="5000"/>
                </a:lnTo>
                <a:cubicBezTo>
                  <a:pt x="9000" y="3895"/>
                  <a:pt x="8105" y="3000"/>
                  <a:pt x="7000" y="3000"/>
                </a:cubicBezTo>
                <a:lnTo>
                  <a:pt x="5000" y="3000"/>
                </a:lnTo>
                <a:cubicBezTo>
                  <a:pt x="3895" y="3000"/>
                  <a:pt x="3000" y="3895"/>
                  <a:pt x="3000" y="5000"/>
                </a:cubicBezTo>
                <a:close/>
                <a:moveTo>
                  <a:pt x="8000" y="16000"/>
                </a:moveTo>
                <a:lnTo>
                  <a:pt x="8010" y="16000"/>
                </a:lnTo>
              </a:path>
            </a:pathLst>
          </a:custGeom>
          <a:noFill/>
          <a:ln w="2349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114" name="slot.site.6.icon"/>
          <p:cNvSpPr/>
          <p:nvPr/>
        </p:nvSpPr>
        <p:spPr>
          <a:xfrm>
            <a:off x="6919948" y="3557016"/>
            <a:ext cx="283464" cy="28346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8000" y="21000"/>
                </a:moveTo>
                <a:lnTo>
                  <a:pt x="18000" y="10000"/>
                </a:lnTo>
                <a:cubicBezTo>
                  <a:pt x="18000" y="9448"/>
                  <a:pt x="17552" y="9000"/>
                  <a:pt x="17000" y="9000"/>
                </a:cubicBezTo>
                <a:lnTo>
                  <a:pt x="7000" y="9000"/>
                </a:lnTo>
                <a:cubicBezTo>
                  <a:pt x="6448" y="9000"/>
                  <a:pt x="6000" y="9448"/>
                  <a:pt x="6000" y="10000"/>
                </a:cubicBezTo>
                <a:lnTo>
                  <a:pt x="6000" y="21000"/>
                </a:lnTo>
                <a:moveTo>
                  <a:pt x="22000" y="19000"/>
                </a:moveTo>
                <a:cubicBezTo>
                  <a:pt x="22000" y="20105"/>
                  <a:pt x="21105" y="21000"/>
                  <a:pt x="20000" y="21000"/>
                </a:cubicBezTo>
                <a:lnTo>
                  <a:pt x="4000" y="21000"/>
                </a:lnTo>
                <a:cubicBezTo>
                  <a:pt x="2895" y="21000"/>
                  <a:pt x="2000" y="20105"/>
                  <a:pt x="2000" y="19000"/>
                </a:cubicBezTo>
                <a:lnTo>
                  <a:pt x="2000" y="8000"/>
                </a:lnTo>
                <a:cubicBezTo>
                  <a:pt x="2000" y="7231"/>
                  <a:pt x="2440" y="6531"/>
                  <a:pt x="3132" y="6197"/>
                </a:cubicBezTo>
                <a:lnTo>
                  <a:pt x="11082" y="2223"/>
                </a:lnTo>
                <a:cubicBezTo>
                  <a:pt x="11658" y="1925"/>
                  <a:pt x="12343" y="1925"/>
                  <a:pt x="12919" y="2223"/>
                </a:cubicBezTo>
                <a:lnTo>
                  <a:pt x="20867" y="6197"/>
                </a:lnTo>
                <a:cubicBezTo>
                  <a:pt x="21560" y="6530"/>
                  <a:pt x="22000" y="7231"/>
                  <a:pt x="22000" y="8000"/>
                </a:cubicBezTo>
                <a:close/>
                <a:moveTo>
                  <a:pt x="6000" y="13000"/>
                </a:moveTo>
                <a:lnTo>
                  <a:pt x="18000" y="13000"/>
                </a:lnTo>
                <a:moveTo>
                  <a:pt x="6000" y="17000"/>
                </a:moveTo>
                <a:lnTo>
                  <a:pt x="18000" y="17000"/>
                </a:lnTo>
              </a:path>
            </a:pathLst>
          </a:custGeom>
          <a:noFill/>
          <a:ln w="2349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115" name="slot.site.7.icon"/>
          <p:cNvSpPr/>
          <p:nvPr/>
        </p:nvSpPr>
        <p:spPr>
          <a:xfrm>
            <a:off x="7656761" y="3557016"/>
            <a:ext cx="283464" cy="28346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0000"/>
                </a:moveTo>
                <a:lnTo>
                  <a:pt x="12010" y="10000"/>
                </a:lnTo>
                <a:moveTo>
                  <a:pt x="12000" y="14000"/>
                </a:moveTo>
                <a:lnTo>
                  <a:pt x="12010" y="14000"/>
                </a:lnTo>
                <a:moveTo>
                  <a:pt x="12000" y="6000"/>
                </a:moveTo>
                <a:lnTo>
                  <a:pt x="12010" y="6000"/>
                </a:lnTo>
                <a:moveTo>
                  <a:pt x="16000" y="10000"/>
                </a:moveTo>
                <a:lnTo>
                  <a:pt x="16010" y="10000"/>
                </a:lnTo>
                <a:moveTo>
                  <a:pt x="16000" y="14000"/>
                </a:moveTo>
                <a:lnTo>
                  <a:pt x="16010" y="14000"/>
                </a:lnTo>
                <a:moveTo>
                  <a:pt x="16000" y="6000"/>
                </a:moveTo>
                <a:lnTo>
                  <a:pt x="16010" y="6000"/>
                </a:lnTo>
                <a:moveTo>
                  <a:pt x="8000" y="10000"/>
                </a:moveTo>
                <a:lnTo>
                  <a:pt x="8010" y="10000"/>
                </a:lnTo>
                <a:moveTo>
                  <a:pt x="8000" y="14000"/>
                </a:moveTo>
                <a:lnTo>
                  <a:pt x="8010" y="14000"/>
                </a:lnTo>
                <a:moveTo>
                  <a:pt x="8000" y="6000"/>
                </a:moveTo>
                <a:lnTo>
                  <a:pt x="8010" y="6000"/>
                </a:lnTo>
                <a:moveTo>
                  <a:pt x="9000" y="22000"/>
                </a:moveTo>
                <a:lnTo>
                  <a:pt x="9000" y="19000"/>
                </a:lnTo>
                <a:cubicBezTo>
                  <a:pt x="9000" y="18448"/>
                  <a:pt x="9448" y="18000"/>
                  <a:pt x="10000" y="18000"/>
                </a:cubicBezTo>
                <a:lnTo>
                  <a:pt x="14000" y="18000"/>
                </a:lnTo>
                <a:cubicBezTo>
                  <a:pt x="14552" y="18000"/>
                  <a:pt x="15000" y="18448"/>
                  <a:pt x="15000" y="19000"/>
                </a:cubicBezTo>
                <a:lnTo>
                  <a:pt x="15000" y="22000"/>
                </a:lnTo>
                <a:moveTo>
                  <a:pt x="6000" y="2000"/>
                </a:moveTo>
                <a:lnTo>
                  <a:pt x="18000" y="2000"/>
                </a:lnTo>
                <a:cubicBezTo>
                  <a:pt x="19105" y="2000"/>
                  <a:pt x="20000" y="2895"/>
                  <a:pt x="20000" y="4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lnTo>
                  <a:pt x="6000" y="22000"/>
                </a:ln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close/>
              </a:path>
            </a:pathLst>
          </a:custGeom>
          <a:noFill/>
          <a:ln w="2349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116" name="slot.site.8.icon"/>
          <p:cNvSpPr/>
          <p:nvPr/>
        </p:nvSpPr>
        <p:spPr>
          <a:xfrm>
            <a:off x="8393574" y="3557016"/>
            <a:ext cx="283464" cy="28346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6000"/>
                </a:moveTo>
                <a:lnTo>
                  <a:pt x="12010" y="16000"/>
                </a:lnTo>
                <a:moveTo>
                  <a:pt x="16000" y="16000"/>
                </a:moveTo>
                <a:lnTo>
                  <a:pt x="16010" y="16000"/>
                </a:lnTo>
                <a:moveTo>
                  <a:pt x="3000" y="19000"/>
                </a:moveTo>
                <a:cubicBezTo>
                  <a:pt x="3000" y="20105"/>
                  <a:pt x="3895" y="21000"/>
                  <a:pt x="5000" y="21000"/>
                </a:cubicBezTo>
                <a:lnTo>
                  <a:pt x="19000" y="21000"/>
                </a:lnTo>
                <a:cubicBezTo>
                  <a:pt x="20105" y="21000"/>
                  <a:pt x="21000" y="20105"/>
                  <a:pt x="21000" y="19000"/>
                </a:cubicBezTo>
                <a:lnTo>
                  <a:pt x="21000" y="8500"/>
                </a:lnTo>
                <a:cubicBezTo>
                  <a:pt x="21000" y="8317"/>
                  <a:pt x="20901" y="8149"/>
                  <a:pt x="20741" y="8061"/>
                </a:cubicBezTo>
                <a:cubicBezTo>
                  <a:pt x="20580" y="7973"/>
                  <a:pt x="20385" y="7980"/>
                  <a:pt x="20231" y="8078"/>
                </a:cubicBezTo>
                <a:lnTo>
                  <a:pt x="15769" y="10922"/>
                </a:lnTo>
                <a:cubicBezTo>
                  <a:pt x="15615" y="11020"/>
                  <a:pt x="15420" y="11027"/>
                  <a:pt x="15259" y="10939"/>
                </a:cubicBezTo>
                <a:cubicBezTo>
                  <a:pt x="15099" y="10851"/>
                  <a:pt x="15000" y="10683"/>
                  <a:pt x="15000" y="10500"/>
                </a:cubicBezTo>
                <a:lnTo>
                  <a:pt x="15000" y="8500"/>
                </a:lnTo>
                <a:cubicBezTo>
                  <a:pt x="15000" y="8317"/>
                  <a:pt x="14901" y="8149"/>
                  <a:pt x="14741" y="8061"/>
                </a:cubicBezTo>
                <a:cubicBezTo>
                  <a:pt x="14580" y="7973"/>
                  <a:pt x="14385" y="7980"/>
                  <a:pt x="14231" y="8078"/>
                </a:cubicBezTo>
                <a:lnTo>
                  <a:pt x="9770" y="10922"/>
                </a:lnTo>
                <a:cubicBezTo>
                  <a:pt x="9616" y="11021"/>
                  <a:pt x="9420" y="11028"/>
                  <a:pt x="9260" y="10940"/>
                </a:cubicBezTo>
                <a:cubicBezTo>
                  <a:pt x="9099" y="10852"/>
                  <a:pt x="9000" y="10683"/>
                  <a:pt x="9000" y="10500"/>
                </a:cubicBezTo>
                <a:lnTo>
                  <a:pt x="9000" y="5000"/>
                </a:lnTo>
                <a:cubicBezTo>
                  <a:pt x="9000" y="3895"/>
                  <a:pt x="8105" y="3000"/>
                  <a:pt x="7000" y="3000"/>
                </a:cubicBezTo>
                <a:lnTo>
                  <a:pt x="5000" y="3000"/>
                </a:lnTo>
                <a:cubicBezTo>
                  <a:pt x="3895" y="3000"/>
                  <a:pt x="3000" y="3895"/>
                  <a:pt x="3000" y="5000"/>
                </a:cubicBezTo>
                <a:close/>
                <a:moveTo>
                  <a:pt x="8000" y="16000"/>
                </a:moveTo>
                <a:lnTo>
                  <a:pt x="8010" y="16000"/>
                </a:lnTo>
              </a:path>
            </a:pathLst>
          </a:custGeom>
          <a:noFill/>
          <a:ln w="2349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117" name="slot.site.9.icon"/>
          <p:cNvSpPr/>
          <p:nvPr/>
        </p:nvSpPr>
        <p:spPr>
          <a:xfrm>
            <a:off x="9130388" y="3557016"/>
            <a:ext cx="283464" cy="28346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8000" y="21000"/>
                </a:moveTo>
                <a:lnTo>
                  <a:pt x="18000" y="10000"/>
                </a:lnTo>
                <a:cubicBezTo>
                  <a:pt x="18000" y="9448"/>
                  <a:pt x="17552" y="9000"/>
                  <a:pt x="17000" y="9000"/>
                </a:cubicBezTo>
                <a:lnTo>
                  <a:pt x="7000" y="9000"/>
                </a:lnTo>
                <a:cubicBezTo>
                  <a:pt x="6448" y="9000"/>
                  <a:pt x="6000" y="9448"/>
                  <a:pt x="6000" y="10000"/>
                </a:cubicBezTo>
                <a:lnTo>
                  <a:pt x="6000" y="21000"/>
                </a:lnTo>
                <a:moveTo>
                  <a:pt x="22000" y="19000"/>
                </a:moveTo>
                <a:cubicBezTo>
                  <a:pt x="22000" y="20105"/>
                  <a:pt x="21105" y="21000"/>
                  <a:pt x="20000" y="21000"/>
                </a:cubicBezTo>
                <a:lnTo>
                  <a:pt x="4000" y="21000"/>
                </a:lnTo>
                <a:cubicBezTo>
                  <a:pt x="2895" y="21000"/>
                  <a:pt x="2000" y="20105"/>
                  <a:pt x="2000" y="19000"/>
                </a:cubicBezTo>
                <a:lnTo>
                  <a:pt x="2000" y="8000"/>
                </a:lnTo>
                <a:cubicBezTo>
                  <a:pt x="2000" y="7231"/>
                  <a:pt x="2440" y="6531"/>
                  <a:pt x="3132" y="6197"/>
                </a:cubicBezTo>
                <a:lnTo>
                  <a:pt x="11082" y="2223"/>
                </a:lnTo>
                <a:cubicBezTo>
                  <a:pt x="11658" y="1925"/>
                  <a:pt x="12343" y="1925"/>
                  <a:pt x="12919" y="2223"/>
                </a:cubicBezTo>
                <a:lnTo>
                  <a:pt x="20867" y="6197"/>
                </a:lnTo>
                <a:cubicBezTo>
                  <a:pt x="21560" y="6530"/>
                  <a:pt x="22000" y="7231"/>
                  <a:pt x="22000" y="8000"/>
                </a:cubicBezTo>
                <a:close/>
                <a:moveTo>
                  <a:pt x="6000" y="13000"/>
                </a:moveTo>
                <a:lnTo>
                  <a:pt x="18000" y="13000"/>
                </a:lnTo>
                <a:moveTo>
                  <a:pt x="6000" y="17000"/>
                </a:moveTo>
                <a:lnTo>
                  <a:pt x="18000" y="17000"/>
                </a:lnTo>
              </a:path>
            </a:pathLst>
          </a:custGeom>
          <a:noFill/>
          <a:ln w="2349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118" name="slot.site.10.icon"/>
          <p:cNvSpPr/>
          <p:nvPr/>
        </p:nvSpPr>
        <p:spPr>
          <a:xfrm>
            <a:off x="9867200" y="3557016"/>
            <a:ext cx="283464" cy="28346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0000"/>
                </a:moveTo>
                <a:lnTo>
                  <a:pt x="12010" y="10000"/>
                </a:lnTo>
                <a:moveTo>
                  <a:pt x="12000" y="14000"/>
                </a:moveTo>
                <a:lnTo>
                  <a:pt x="12010" y="14000"/>
                </a:lnTo>
                <a:moveTo>
                  <a:pt x="12000" y="6000"/>
                </a:moveTo>
                <a:lnTo>
                  <a:pt x="12010" y="6000"/>
                </a:lnTo>
                <a:moveTo>
                  <a:pt x="16000" y="10000"/>
                </a:moveTo>
                <a:lnTo>
                  <a:pt x="16010" y="10000"/>
                </a:lnTo>
                <a:moveTo>
                  <a:pt x="16000" y="14000"/>
                </a:moveTo>
                <a:lnTo>
                  <a:pt x="16010" y="14000"/>
                </a:lnTo>
                <a:moveTo>
                  <a:pt x="16000" y="6000"/>
                </a:moveTo>
                <a:lnTo>
                  <a:pt x="16010" y="6000"/>
                </a:lnTo>
                <a:moveTo>
                  <a:pt x="8000" y="10000"/>
                </a:moveTo>
                <a:lnTo>
                  <a:pt x="8010" y="10000"/>
                </a:lnTo>
                <a:moveTo>
                  <a:pt x="8000" y="14000"/>
                </a:moveTo>
                <a:lnTo>
                  <a:pt x="8010" y="14000"/>
                </a:lnTo>
                <a:moveTo>
                  <a:pt x="8000" y="6000"/>
                </a:moveTo>
                <a:lnTo>
                  <a:pt x="8010" y="6000"/>
                </a:lnTo>
                <a:moveTo>
                  <a:pt x="9000" y="22000"/>
                </a:moveTo>
                <a:lnTo>
                  <a:pt x="9000" y="19000"/>
                </a:lnTo>
                <a:cubicBezTo>
                  <a:pt x="9000" y="18448"/>
                  <a:pt x="9448" y="18000"/>
                  <a:pt x="10000" y="18000"/>
                </a:cubicBezTo>
                <a:lnTo>
                  <a:pt x="14000" y="18000"/>
                </a:lnTo>
                <a:cubicBezTo>
                  <a:pt x="14552" y="18000"/>
                  <a:pt x="15000" y="18448"/>
                  <a:pt x="15000" y="19000"/>
                </a:cubicBezTo>
                <a:lnTo>
                  <a:pt x="15000" y="22000"/>
                </a:lnTo>
                <a:moveTo>
                  <a:pt x="6000" y="2000"/>
                </a:moveTo>
                <a:lnTo>
                  <a:pt x="18000" y="2000"/>
                </a:lnTo>
                <a:cubicBezTo>
                  <a:pt x="19105" y="2000"/>
                  <a:pt x="20000" y="2895"/>
                  <a:pt x="20000" y="4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lnTo>
                  <a:pt x="6000" y="22000"/>
                </a:ln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close/>
              </a:path>
            </a:pathLst>
          </a:custGeom>
          <a:noFill/>
          <a:ln w="2349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119" name="slot.site.11.icon"/>
          <p:cNvSpPr/>
          <p:nvPr/>
        </p:nvSpPr>
        <p:spPr>
          <a:xfrm>
            <a:off x="10604014" y="3557016"/>
            <a:ext cx="283464" cy="28346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6000"/>
                </a:moveTo>
                <a:lnTo>
                  <a:pt x="12010" y="16000"/>
                </a:lnTo>
                <a:moveTo>
                  <a:pt x="16000" y="16000"/>
                </a:moveTo>
                <a:lnTo>
                  <a:pt x="16010" y="16000"/>
                </a:lnTo>
                <a:moveTo>
                  <a:pt x="3000" y="19000"/>
                </a:moveTo>
                <a:cubicBezTo>
                  <a:pt x="3000" y="20105"/>
                  <a:pt x="3895" y="21000"/>
                  <a:pt x="5000" y="21000"/>
                </a:cubicBezTo>
                <a:lnTo>
                  <a:pt x="19000" y="21000"/>
                </a:lnTo>
                <a:cubicBezTo>
                  <a:pt x="20105" y="21000"/>
                  <a:pt x="21000" y="20105"/>
                  <a:pt x="21000" y="19000"/>
                </a:cubicBezTo>
                <a:lnTo>
                  <a:pt x="21000" y="8500"/>
                </a:lnTo>
                <a:cubicBezTo>
                  <a:pt x="21000" y="8317"/>
                  <a:pt x="20901" y="8149"/>
                  <a:pt x="20741" y="8061"/>
                </a:cubicBezTo>
                <a:cubicBezTo>
                  <a:pt x="20580" y="7973"/>
                  <a:pt x="20385" y="7980"/>
                  <a:pt x="20231" y="8078"/>
                </a:cubicBezTo>
                <a:lnTo>
                  <a:pt x="15769" y="10922"/>
                </a:lnTo>
                <a:cubicBezTo>
                  <a:pt x="15615" y="11020"/>
                  <a:pt x="15420" y="11027"/>
                  <a:pt x="15259" y="10939"/>
                </a:cubicBezTo>
                <a:cubicBezTo>
                  <a:pt x="15099" y="10851"/>
                  <a:pt x="15000" y="10683"/>
                  <a:pt x="15000" y="10500"/>
                </a:cubicBezTo>
                <a:lnTo>
                  <a:pt x="15000" y="8500"/>
                </a:lnTo>
                <a:cubicBezTo>
                  <a:pt x="15000" y="8317"/>
                  <a:pt x="14901" y="8149"/>
                  <a:pt x="14741" y="8061"/>
                </a:cubicBezTo>
                <a:cubicBezTo>
                  <a:pt x="14580" y="7973"/>
                  <a:pt x="14385" y="7980"/>
                  <a:pt x="14231" y="8078"/>
                </a:cubicBezTo>
                <a:lnTo>
                  <a:pt x="9770" y="10922"/>
                </a:lnTo>
                <a:cubicBezTo>
                  <a:pt x="9616" y="11021"/>
                  <a:pt x="9420" y="11028"/>
                  <a:pt x="9260" y="10940"/>
                </a:cubicBezTo>
                <a:cubicBezTo>
                  <a:pt x="9099" y="10852"/>
                  <a:pt x="9000" y="10683"/>
                  <a:pt x="9000" y="10500"/>
                </a:cubicBezTo>
                <a:lnTo>
                  <a:pt x="9000" y="5000"/>
                </a:lnTo>
                <a:cubicBezTo>
                  <a:pt x="9000" y="3895"/>
                  <a:pt x="8105" y="3000"/>
                  <a:pt x="7000" y="3000"/>
                </a:cubicBezTo>
                <a:lnTo>
                  <a:pt x="5000" y="3000"/>
                </a:lnTo>
                <a:cubicBezTo>
                  <a:pt x="3895" y="3000"/>
                  <a:pt x="3000" y="3895"/>
                  <a:pt x="3000" y="5000"/>
                </a:cubicBezTo>
                <a:close/>
                <a:moveTo>
                  <a:pt x="8000" y="16000"/>
                </a:moveTo>
                <a:lnTo>
                  <a:pt x="8010" y="16000"/>
                </a:lnTo>
              </a:path>
            </a:pathLst>
          </a:custGeom>
          <a:noFill/>
          <a:ln w="2349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120" name="slot.site.12.icon"/>
          <p:cNvSpPr/>
          <p:nvPr/>
        </p:nvSpPr>
        <p:spPr>
          <a:xfrm>
            <a:off x="11340827" y="3557016"/>
            <a:ext cx="283464" cy="28346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8000" y="21000"/>
                </a:moveTo>
                <a:lnTo>
                  <a:pt x="18000" y="10000"/>
                </a:lnTo>
                <a:cubicBezTo>
                  <a:pt x="18000" y="9448"/>
                  <a:pt x="17552" y="9000"/>
                  <a:pt x="17000" y="9000"/>
                </a:cubicBezTo>
                <a:lnTo>
                  <a:pt x="7000" y="9000"/>
                </a:lnTo>
                <a:cubicBezTo>
                  <a:pt x="6448" y="9000"/>
                  <a:pt x="6000" y="9448"/>
                  <a:pt x="6000" y="10000"/>
                </a:cubicBezTo>
                <a:lnTo>
                  <a:pt x="6000" y="21000"/>
                </a:lnTo>
                <a:moveTo>
                  <a:pt x="22000" y="19000"/>
                </a:moveTo>
                <a:cubicBezTo>
                  <a:pt x="22000" y="20105"/>
                  <a:pt x="21105" y="21000"/>
                  <a:pt x="20000" y="21000"/>
                </a:cubicBezTo>
                <a:lnTo>
                  <a:pt x="4000" y="21000"/>
                </a:lnTo>
                <a:cubicBezTo>
                  <a:pt x="2895" y="21000"/>
                  <a:pt x="2000" y="20105"/>
                  <a:pt x="2000" y="19000"/>
                </a:cubicBezTo>
                <a:lnTo>
                  <a:pt x="2000" y="8000"/>
                </a:lnTo>
                <a:cubicBezTo>
                  <a:pt x="2000" y="7231"/>
                  <a:pt x="2440" y="6531"/>
                  <a:pt x="3132" y="6197"/>
                </a:cubicBezTo>
                <a:lnTo>
                  <a:pt x="11082" y="2223"/>
                </a:lnTo>
                <a:cubicBezTo>
                  <a:pt x="11658" y="1925"/>
                  <a:pt x="12343" y="1925"/>
                  <a:pt x="12919" y="2223"/>
                </a:cubicBezTo>
                <a:lnTo>
                  <a:pt x="20867" y="6197"/>
                </a:lnTo>
                <a:cubicBezTo>
                  <a:pt x="21560" y="6530"/>
                  <a:pt x="22000" y="7231"/>
                  <a:pt x="22000" y="8000"/>
                </a:cubicBezTo>
                <a:close/>
                <a:moveTo>
                  <a:pt x="6000" y="13000"/>
                </a:moveTo>
                <a:lnTo>
                  <a:pt x="18000" y="13000"/>
                </a:lnTo>
                <a:moveTo>
                  <a:pt x="6000" y="17000"/>
                </a:moveTo>
                <a:lnTo>
                  <a:pt x="18000" y="17000"/>
                </a:lnTo>
              </a:path>
            </a:pathLst>
          </a:custGeom>
          <a:noFill/>
          <a:ln w="2349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121" name="slot.gate.head"/>
          <p:cNvSpPr txBox="1"/>
          <p:nvPr/>
        </p:nvSpPr>
        <p:spPr>
          <a:xfrm>
            <a:off x="9912486" y="5157216"/>
            <a:ext cx="1279895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Exit gate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slot.gate.body"/>
          <p:cNvSpPr txBox="1"/>
          <p:nvPr/>
        </p:nvSpPr>
        <p:spPr>
          <a:xfrm>
            <a:off x="9912486" y="5486400"/>
            <a:ext cx="1682148" cy="45720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Next wave starts after four stable weeks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slot.gate.icon"/>
          <p:cNvSpPr/>
          <p:nvPr/>
        </p:nvSpPr>
        <p:spPr>
          <a:xfrm>
            <a:off x="11265487" y="51572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4000"/>
                </a:moveTo>
                <a:lnTo>
                  <a:pt x="16000" y="10000"/>
                </a:lnTo>
                <a:moveTo>
                  <a:pt x="3340" y="19000"/>
                </a:moveTo>
                <a:cubicBezTo>
                  <a:pt x="913" y="14797"/>
                  <a:pt x="1854" y="9459"/>
                  <a:pt x="5572" y="6339"/>
                </a:cubicBezTo>
                <a:cubicBezTo>
                  <a:pt x="9290" y="3220"/>
                  <a:pt x="14710" y="3220"/>
                  <a:pt x="18428" y="6339"/>
                </a:cubicBezTo>
                <a:cubicBezTo>
                  <a:pt x="22146" y="9459"/>
                  <a:pt x="23087" y="14797"/>
                  <a:pt x="20660" y="19000"/>
                </a:cubicBezTo>
              </a:path>
            </a:pathLst>
          </a:custGeom>
          <a:noFill/>
          <a:ln w="25400" cap="rnd">
            <a:solidFill>
              <a:schemeClr val="accent1"/>
            </a:solidFill>
            <a:round/>
          </a:ln>
          <a:effectLst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cess-flow:gated-pipeline-stage-cards">
    <p:spTree>
      <p:nvGrpSpPr>
        <p:cNvPr id="1" name=""/>
        <p:cNvGrpSpPr/>
        <p:nvPr/>
      </p:nvGrpSpPr>
      <p:grpSpPr/>
      <p:sp>
        <p:nvSpPr>
          <p:cNvPr id="2" name="slot.title"/>
          <p:cNvSpPr txBox="1"/>
          <p:nvPr/>
        </p:nvSpPr>
        <p:spPr>
          <a:xfrm>
            <a:off x="457200" y="256032"/>
            <a:ext cx="1133856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Routine supplier invoices </a:t>
            </a:r>
            <a:r>
              <a:rPr lang="en-US" sz="2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post the same day</a:t>
            </a:r>
            <a:r>
              <a:rPr lang="en-US" sz="2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through one gated pipeline</a:t>
            </a:r>
            <a:endParaRPr lang="en-US" sz="2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truct.rail"/>
          <p:cNvSpPr/>
          <p:nvPr/>
        </p:nvSpPr>
        <p:spPr>
          <a:xfrm>
            <a:off x="459554" y="5486400"/>
            <a:ext cx="11336206" cy="749808"/>
          </a:xfrm>
          <a:prstGeom prst="roundRect">
            <a:avLst>
              <a:gd name="adj" fmla="val 6098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lot.rail.label"/>
          <p:cNvSpPr/>
          <p:nvPr/>
        </p:nvSpPr>
        <p:spPr>
          <a:xfrm>
            <a:off x="578401" y="5577840"/>
            <a:ext cx="1874130" cy="566928"/>
          </a:xfrm>
          <a:prstGeom prst="roundRect">
            <a:avLst>
              <a:gd name="adj" fmla="val 10722"/>
            </a:avLst>
          </a:prstGeom>
          <a:solidFill>
            <a:schemeClr val="tx1">
              <a:lumMod val="90000"/>
              <a:lumOff val="10000"/>
            </a:schemeClr>
          </a:solidFill>
          <a:ln w="9525">
            <a:noFill/>
          </a:ln>
          <a:effectLst/>
        </p:spPr>
        <p:txBody>
          <a:bodyPr rtlCol="0" anchor="ctr" wrap="square" lIns="91440" tIns="45720" rIns="91440" bIns="4572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Shared controls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under every step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lot.rail.item.1"/>
          <p:cNvSpPr txBox="1"/>
          <p:nvPr/>
        </p:nvSpPr>
        <p:spPr>
          <a:xfrm>
            <a:off x="3147332" y="5605272"/>
            <a:ext cx="1398741" cy="51206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Audit trail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Every action logged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ot.rail.item.2"/>
          <p:cNvSpPr txBox="1"/>
          <p:nvPr/>
        </p:nvSpPr>
        <p:spPr>
          <a:xfrm>
            <a:off x="5478568" y="5605272"/>
            <a:ext cx="1325604" cy="51206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Exception desk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Held items cleared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lot.rail.item.3"/>
          <p:cNvSpPr txBox="1"/>
          <p:nvPr/>
        </p:nvSpPr>
        <p:spPr>
          <a:xfrm>
            <a:off x="7736666" y="5605272"/>
            <a:ext cx="1289036" cy="51206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Model watch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Accuracy read weekly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lot.rail.item.4"/>
          <p:cNvSpPr txBox="1"/>
          <p:nvPr/>
        </p:nvSpPr>
        <p:spPr>
          <a:xfrm>
            <a:off x="9958197" y="5605272"/>
            <a:ext cx="1727856" cy="51206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Access rules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Approval by role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9" name="struct.rail.rule.3"/>
          <p:cNvCxnSpPr>
            <a:cxnSpLocks/>
          </p:cNvCxnSpPr>
          <p:nvPr/>
        </p:nvCxnSpPr>
        <p:spPr>
          <a:xfrm>
            <a:off x="9098840" y="5632704"/>
            <a:ext cx="0" cy="457200"/>
          </a:xfrm>
          <a:prstGeom prst="line">
            <a:avLst/>
          </a:prstGeom>
          <a:ln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cxnSp>
        <p:nvCxnSpPr>
          <p:cNvPr id="10" name="struct.rail.rule.2"/>
          <p:cNvCxnSpPr>
            <a:cxnSpLocks/>
          </p:cNvCxnSpPr>
          <p:nvPr/>
        </p:nvCxnSpPr>
        <p:spPr>
          <a:xfrm>
            <a:off x="6877309" y="5632704"/>
            <a:ext cx="0" cy="457200"/>
          </a:xfrm>
          <a:prstGeom prst="line">
            <a:avLst/>
          </a:prstGeom>
          <a:ln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cxnSp>
        <p:nvCxnSpPr>
          <p:cNvPr id="11" name="struct.rail.rule.1"/>
          <p:cNvCxnSpPr>
            <a:cxnSpLocks/>
          </p:cNvCxnSpPr>
          <p:nvPr/>
        </p:nvCxnSpPr>
        <p:spPr>
          <a:xfrm>
            <a:off x="4619210" y="5632704"/>
            <a:ext cx="0" cy="457200"/>
          </a:xfrm>
          <a:prstGeom prst="line">
            <a:avLst/>
          </a:prstGeom>
          <a:ln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sp>
        <p:nvSpPr>
          <p:cNvPr id="12" name="struct.flow.input"/>
          <p:cNvSpPr/>
          <p:nvPr/>
        </p:nvSpPr>
        <p:spPr>
          <a:xfrm>
            <a:off x="457202" y="1267702"/>
            <a:ext cx="1484609" cy="578734"/>
          </a:xfrm>
          <a:prstGeom prst="roundRect">
            <a:avLst>
              <a:gd name="adj" fmla="val 79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struct.flow.group"/>
          <p:cNvSpPr/>
          <p:nvPr/>
        </p:nvSpPr>
        <p:spPr>
          <a:xfrm>
            <a:off x="3167466" y="1267702"/>
            <a:ext cx="5619349" cy="578734"/>
          </a:xfrm>
          <a:prstGeom prst="roundRect">
            <a:avLst>
              <a:gd name="adj" fmla="val 79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struct.flow.output"/>
          <p:cNvSpPr/>
          <p:nvPr/>
        </p:nvSpPr>
        <p:spPr>
          <a:xfrm>
            <a:off x="10012471" y="1267702"/>
            <a:ext cx="1782378" cy="578734"/>
          </a:xfrm>
          <a:prstGeom prst="roundRect">
            <a:avLst>
              <a:gd name="adj" fmla="val 79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struct.flow.gate.2"/>
          <p:cNvSpPr/>
          <p:nvPr/>
        </p:nvSpPr>
        <p:spPr>
          <a:xfrm>
            <a:off x="9156646" y="1312919"/>
            <a:ext cx="485994" cy="4883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struct.flow.gate.1"/>
          <p:cNvSpPr/>
          <p:nvPr/>
        </p:nvSpPr>
        <p:spPr>
          <a:xfrm>
            <a:off x="2311642" y="1312919"/>
            <a:ext cx="485994" cy="4883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7" name="struct.flow.link.1"/>
          <p:cNvCxnSpPr/>
          <p:nvPr/>
        </p:nvCxnSpPr>
        <p:spPr>
          <a:xfrm>
            <a:off x="1941811" y="1557069"/>
            <a:ext cx="36988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/>
        </p:spPr>
      </p:cxnSp>
      <p:cxnSp>
        <p:nvCxnSpPr>
          <p:cNvPr id="18" name="struct.flow.link.2"/>
          <p:cNvCxnSpPr>
            <a:cxnSpLocks/>
          </p:cNvCxnSpPr>
          <p:nvPr/>
        </p:nvCxnSpPr>
        <p:spPr>
          <a:xfrm>
            <a:off x="2797585" y="1557069"/>
            <a:ext cx="36988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/>
        </p:spPr>
      </p:cxnSp>
      <p:cxnSp>
        <p:nvCxnSpPr>
          <p:cNvPr id="19" name="struct.flow.link.5"/>
          <p:cNvCxnSpPr>
            <a:cxnSpLocks/>
          </p:cNvCxnSpPr>
          <p:nvPr/>
        </p:nvCxnSpPr>
        <p:spPr>
          <a:xfrm>
            <a:off x="8786816" y="1557069"/>
            <a:ext cx="36988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/>
        </p:spPr>
      </p:cxnSp>
      <p:cxnSp>
        <p:nvCxnSpPr>
          <p:cNvPr id="20" name="struct.flow.link.6"/>
          <p:cNvCxnSpPr>
            <a:cxnSpLocks/>
          </p:cNvCxnSpPr>
          <p:nvPr/>
        </p:nvCxnSpPr>
        <p:spPr>
          <a:xfrm>
            <a:off x="9642590" y="1557069"/>
            <a:ext cx="36988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/>
        </p:spPr>
      </p:cxnSp>
      <p:sp>
        <p:nvSpPr>
          <p:cNvPr id="21" name="slot.flow.input.label"/>
          <p:cNvSpPr txBox="1"/>
          <p:nvPr/>
        </p:nvSpPr>
        <p:spPr>
          <a:xfrm>
            <a:off x="1026364" y="1344168"/>
            <a:ext cx="859358" cy="42062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Supplier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invoices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lot.flow.gate.1.label"/>
          <p:cNvSpPr txBox="1"/>
          <p:nvPr/>
        </p:nvSpPr>
        <p:spPr>
          <a:xfrm>
            <a:off x="2006111" y="1883664"/>
            <a:ext cx="1097052" cy="20116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Intake gate</a:t>
            </a:r>
            <a:endParaRPr lang="en-US" sz="1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slot.flow.check.1.label"/>
          <p:cNvSpPr txBox="1"/>
          <p:nvPr/>
        </p:nvSpPr>
        <p:spPr>
          <a:xfrm>
            <a:off x="4508290" y="1883664"/>
            <a:ext cx="822789" cy="201168"/>
          </a:xfrm>
          <a:prstGeom prst="rect">
            <a:avLst/>
          </a:prstGeom>
          <a:solidFill>
            <a:schemeClr val="bg1"/>
          </a:solidFill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Validated</a:t>
            </a:r>
            <a:endParaRPr lang="en-US" sz="1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lot.flow.check.2.label"/>
          <p:cNvSpPr txBox="1"/>
          <p:nvPr/>
        </p:nvSpPr>
        <p:spPr>
          <a:xfrm>
            <a:off x="6623203" y="1883664"/>
            <a:ext cx="822789" cy="201168"/>
          </a:xfrm>
          <a:prstGeom prst="rect">
            <a:avLst/>
          </a:prstGeom>
          <a:solidFill>
            <a:schemeClr val="bg1"/>
          </a:solidFill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Matched</a:t>
            </a:r>
            <a:endParaRPr lang="en-US" sz="1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slot.flow.stage.1"/>
          <p:cNvSpPr txBox="1"/>
          <p:nvPr/>
        </p:nvSpPr>
        <p:spPr>
          <a:xfrm>
            <a:off x="3222280" y="1400015"/>
            <a:ext cx="1279894" cy="314108"/>
          </a:xfrm>
          <a:prstGeom prst="roundRect">
            <a:avLst>
              <a:gd name="adj" fmla="val 14556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wrap="square" lIns="72000" tIns="72000" rIns="72000" bIns="7200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Extract fields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slot.flow.stage.2"/>
          <p:cNvSpPr txBox="1"/>
          <p:nvPr/>
        </p:nvSpPr>
        <p:spPr>
          <a:xfrm>
            <a:off x="5337194" y="1400015"/>
            <a:ext cx="1279894" cy="314108"/>
          </a:xfrm>
          <a:prstGeom prst="roundRect">
            <a:avLst>
              <a:gd name="adj" fmla="val 14556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wrap="square" lIns="72000" tIns="72000" rIns="72000" bIns="7200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Match to order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lot.flow.stage.3"/>
          <p:cNvSpPr txBox="1"/>
          <p:nvPr/>
        </p:nvSpPr>
        <p:spPr>
          <a:xfrm>
            <a:off x="7452107" y="1400015"/>
            <a:ext cx="1279894" cy="314108"/>
          </a:xfrm>
          <a:prstGeom prst="roundRect">
            <a:avLst>
              <a:gd name="adj" fmla="val 14556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wrap="square" lIns="72000" tIns="72000" rIns="72000" bIns="7200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Code to ledger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lot.flow.output.label"/>
          <p:cNvSpPr txBox="1"/>
          <p:nvPr/>
        </p:nvSpPr>
        <p:spPr>
          <a:xfrm>
            <a:off x="10735276" y="1344168"/>
            <a:ext cx="1005631" cy="42062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Posted to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the ledger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lot.flow.gate.2.label"/>
          <p:cNvSpPr txBox="1"/>
          <p:nvPr/>
        </p:nvSpPr>
        <p:spPr>
          <a:xfrm>
            <a:off x="8851117" y="1883664"/>
            <a:ext cx="1097052" cy="20116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Approval gate</a:t>
            </a:r>
            <a:endParaRPr lang="en-US" sz="1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0" name="struct.flow.link.4"/>
          <p:cNvCxnSpPr>
            <a:cxnSpLocks/>
          </p:cNvCxnSpPr>
          <p:nvPr/>
        </p:nvCxnSpPr>
        <p:spPr>
          <a:xfrm>
            <a:off x="6617088" y="1557069"/>
            <a:ext cx="835019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/>
        </p:spPr>
      </p:cxnSp>
      <p:cxnSp>
        <p:nvCxnSpPr>
          <p:cNvPr id="31" name="struct.flow.link.3"/>
          <p:cNvCxnSpPr>
            <a:cxnSpLocks/>
          </p:cNvCxnSpPr>
          <p:nvPr/>
        </p:nvCxnSpPr>
        <p:spPr>
          <a:xfrm>
            <a:off x="4502174" y="1557069"/>
            <a:ext cx="835020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/>
        </p:spPr>
      </p:cxnSp>
      <p:sp>
        <p:nvSpPr>
          <p:cNvPr id="32" name="struct.flow.check.1"/>
          <p:cNvSpPr/>
          <p:nvPr/>
        </p:nvSpPr>
        <p:spPr>
          <a:xfrm>
            <a:off x="4813507" y="1448402"/>
            <a:ext cx="212356" cy="21336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struct.flow.check.2"/>
          <p:cNvSpPr/>
          <p:nvPr/>
        </p:nvSpPr>
        <p:spPr>
          <a:xfrm>
            <a:off x="6928419" y="1448402"/>
            <a:ext cx="212356" cy="21336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slot.flow.group.label"/>
          <p:cNvSpPr txBox="1"/>
          <p:nvPr/>
        </p:nvSpPr>
        <p:spPr>
          <a:xfrm>
            <a:off x="4902615" y="932688"/>
            <a:ext cx="2376947" cy="237744"/>
          </a:xfrm>
          <a:prstGeom prst="rect">
            <a:avLst/>
          </a:prstGeom>
          <a:solidFill>
            <a:schemeClr val="bg1"/>
          </a:solidFill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Straight-through processing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5" name="struct.flow.output.rule"/>
          <p:cNvCxnSpPr/>
          <p:nvPr/>
        </p:nvCxnSpPr>
        <p:spPr>
          <a:xfrm>
            <a:off x="10646194" y="1312919"/>
            <a:ext cx="0" cy="459678"/>
          </a:xfrm>
          <a:prstGeom prst="line">
            <a:avLst/>
          </a:prstGeom>
          <a:effectLst/>
        </p:spPr>
      </p:cxnSp>
      <p:sp>
        <p:nvSpPr>
          <p:cNvPr id="36" name="struct.card.1"/>
          <p:cNvSpPr/>
          <p:nvPr/>
        </p:nvSpPr>
        <p:spPr>
          <a:xfrm>
            <a:off x="457200" y="2194560"/>
            <a:ext cx="2164726" cy="3127248"/>
          </a:xfrm>
          <a:prstGeom prst="roundRect">
            <a:avLst>
              <a:gd name="adj" fmla="val 211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rtlCol="0" anchor="ctr">
            <a:noAutofit/>
          </a:bodyPr>
          <a:lstStyle/>
          <a:p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7" name="struct.card.2"/>
          <p:cNvSpPr/>
          <p:nvPr/>
        </p:nvSpPr>
        <p:spPr>
          <a:xfrm>
            <a:off x="2798999" y="2194560"/>
            <a:ext cx="2164726" cy="3127248"/>
          </a:xfrm>
          <a:prstGeom prst="roundRect">
            <a:avLst>
              <a:gd name="adj" fmla="val 211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rtlCol="0" anchor="ctr">
            <a:noAutofit/>
          </a:bodyPr>
          <a:lstStyle/>
          <a:p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8" name="struct.card.3"/>
          <p:cNvSpPr/>
          <p:nvPr/>
        </p:nvSpPr>
        <p:spPr>
          <a:xfrm>
            <a:off x="5140799" y="2194560"/>
            <a:ext cx="4312248" cy="3127248"/>
          </a:xfrm>
          <a:prstGeom prst="roundRect">
            <a:avLst>
              <a:gd name="adj" fmla="val 14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rtlCol="0" anchor="ctr">
            <a:noAutofit/>
          </a:bodyPr>
          <a:lstStyle/>
          <a:p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9" name="struct.card.4"/>
          <p:cNvSpPr/>
          <p:nvPr/>
        </p:nvSpPr>
        <p:spPr>
          <a:xfrm>
            <a:off x="9630120" y="2194560"/>
            <a:ext cx="2164726" cy="3127248"/>
          </a:xfrm>
          <a:prstGeom prst="roundRect">
            <a:avLst>
              <a:gd name="adj" fmla="val 211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rtlCol="0" anchor="ctr">
            <a:noAutofit/>
          </a:bodyPr>
          <a:lstStyle/>
          <a:p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40" name="slot.card.1.row.1"/>
          <p:cNvSpPr txBox="1"/>
          <p:nvPr/>
        </p:nvSpPr>
        <p:spPr>
          <a:xfrm>
            <a:off x="640042" y="3200400"/>
            <a:ext cx="1800994" cy="42062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Invoices arrive by email, portal and scan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lot.card.1.row.2"/>
          <p:cNvSpPr txBox="1"/>
          <p:nvPr/>
        </p:nvSpPr>
        <p:spPr>
          <a:xfrm>
            <a:off x="640042" y="3968496"/>
            <a:ext cx="1800994" cy="42062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inbox replaces six regional mailboxes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slot.card.1.row.3"/>
          <p:cNvSpPr txBox="1"/>
          <p:nvPr/>
        </p:nvSpPr>
        <p:spPr>
          <a:xfrm>
            <a:off x="640042" y="4736592"/>
            <a:ext cx="1800994" cy="42062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Duplicates removed before any processing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slot.card.2.row.1"/>
          <p:cNvSpPr txBox="1"/>
          <p:nvPr/>
        </p:nvSpPr>
        <p:spPr>
          <a:xfrm>
            <a:off x="2981841" y="3200400"/>
            <a:ext cx="1800994" cy="42062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Supplier verified against the master list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slot.card.2.row.2"/>
          <p:cNvSpPr txBox="1"/>
          <p:nvPr/>
        </p:nvSpPr>
        <p:spPr>
          <a:xfrm>
            <a:off x="2981841" y="3968496"/>
            <a:ext cx="1800994" cy="42062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 missing purchase order sends it back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lot.card.2.row.3"/>
          <p:cNvSpPr txBox="1"/>
          <p:nvPr/>
        </p:nvSpPr>
        <p:spPr>
          <a:xfrm>
            <a:off x="2981841" y="4736592"/>
            <a:ext cx="1800994" cy="42062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Fraud signals hold the invoice for review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slot.card.4.row.1"/>
          <p:cNvSpPr txBox="1"/>
          <p:nvPr/>
        </p:nvSpPr>
        <p:spPr>
          <a:xfrm>
            <a:off x="9812961" y="3200400"/>
            <a:ext cx="1800994" cy="42062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Approved invoices post to the ledger daily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slot.card.4.row.2"/>
          <p:cNvSpPr txBox="1"/>
          <p:nvPr/>
        </p:nvSpPr>
        <p:spPr>
          <a:xfrm>
            <a:off x="9812961" y="3968496"/>
            <a:ext cx="1800994" cy="42062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Payment runs on agreed supplier terms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slot.card.4.row.3"/>
          <p:cNvSpPr txBox="1"/>
          <p:nvPr/>
        </p:nvSpPr>
        <p:spPr>
          <a:xfrm>
            <a:off x="9812961" y="4736592"/>
            <a:ext cx="1800994" cy="42062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Routine invoices close the same day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slot.card.1.head"/>
          <p:cNvSpPr txBox="1"/>
          <p:nvPr/>
        </p:nvSpPr>
        <p:spPr>
          <a:xfrm>
            <a:off x="640042" y="2779776"/>
            <a:ext cx="1800994" cy="23774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Capture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slot.card.2.head"/>
          <p:cNvSpPr txBox="1"/>
          <p:nvPr/>
        </p:nvSpPr>
        <p:spPr>
          <a:xfrm>
            <a:off x="2981841" y="2779776"/>
            <a:ext cx="1800994" cy="23774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Check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slot.card.4.head"/>
          <p:cNvSpPr txBox="1"/>
          <p:nvPr/>
        </p:nvSpPr>
        <p:spPr>
          <a:xfrm>
            <a:off x="9812961" y="2779776"/>
            <a:ext cx="1800994" cy="23774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Post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slot.card.3.head"/>
          <p:cNvSpPr txBox="1"/>
          <p:nvPr/>
        </p:nvSpPr>
        <p:spPr>
          <a:xfrm>
            <a:off x="5323152" y="2779776"/>
            <a:ext cx="3949388" cy="23774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Process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slot.card.3.body"/>
          <p:cNvSpPr txBox="1"/>
          <p:nvPr/>
        </p:nvSpPr>
        <p:spPr>
          <a:xfrm>
            <a:off x="5323152" y="3145536"/>
            <a:ext cx="3949388" cy="42062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Five automated steps clear a routine invoice untouched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4" name="struct.card.1.rule.1"/>
          <p:cNvCxnSpPr>
            <a:cxnSpLocks/>
          </p:cNvCxnSpPr>
          <p:nvPr/>
        </p:nvCxnSpPr>
        <p:spPr>
          <a:xfrm>
            <a:off x="640042" y="3813048"/>
            <a:ext cx="1800994" cy="0"/>
          </a:xfrm>
          <a:prstGeom prst="line">
            <a:avLst/>
          </a:prstGeom>
          <a:ln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cxnSp>
        <p:nvCxnSpPr>
          <p:cNvPr id="55" name="struct.card.1.rule.2"/>
          <p:cNvCxnSpPr>
            <a:cxnSpLocks/>
          </p:cNvCxnSpPr>
          <p:nvPr/>
        </p:nvCxnSpPr>
        <p:spPr>
          <a:xfrm>
            <a:off x="640042" y="4581144"/>
            <a:ext cx="1800994" cy="0"/>
          </a:xfrm>
          <a:prstGeom prst="line">
            <a:avLst/>
          </a:prstGeom>
          <a:ln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cxnSp>
        <p:nvCxnSpPr>
          <p:cNvPr id="56" name="struct.card.2.rule.1"/>
          <p:cNvCxnSpPr>
            <a:cxnSpLocks/>
          </p:cNvCxnSpPr>
          <p:nvPr/>
        </p:nvCxnSpPr>
        <p:spPr>
          <a:xfrm>
            <a:off x="2981841" y="3813048"/>
            <a:ext cx="1800994" cy="0"/>
          </a:xfrm>
          <a:prstGeom prst="line">
            <a:avLst/>
          </a:prstGeom>
          <a:ln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cxnSp>
        <p:nvCxnSpPr>
          <p:cNvPr id="57" name="struct.card.2.rule.2"/>
          <p:cNvCxnSpPr>
            <a:cxnSpLocks/>
          </p:cNvCxnSpPr>
          <p:nvPr/>
        </p:nvCxnSpPr>
        <p:spPr>
          <a:xfrm>
            <a:off x="2981841" y="4581144"/>
            <a:ext cx="1800994" cy="0"/>
          </a:xfrm>
          <a:prstGeom prst="line">
            <a:avLst/>
          </a:prstGeom>
          <a:ln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cxnSp>
        <p:nvCxnSpPr>
          <p:cNvPr id="58" name="struct.card.4.rule.1"/>
          <p:cNvCxnSpPr>
            <a:cxnSpLocks/>
          </p:cNvCxnSpPr>
          <p:nvPr/>
        </p:nvCxnSpPr>
        <p:spPr>
          <a:xfrm>
            <a:off x="9812961" y="3813048"/>
            <a:ext cx="1800994" cy="0"/>
          </a:xfrm>
          <a:prstGeom prst="line">
            <a:avLst/>
          </a:prstGeom>
          <a:ln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cxnSp>
        <p:nvCxnSpPr>
          <p:cNvPr id="59" name="struct.card.4.rule.2"/>
          <p:cNvCxnSpPr>
            <a:cxnSpLocks/>
          </p:cNvCxnSpPr>
          <p:nvPr/>
        </p:nvCxnSpPr>
        <p:spPr>
          <a:xfrm>
            <a:off x="9812961" y="4581144"/>
            <a:ext cx="1800994" cy="0"/>
          </a:xfrm>
          <a:prstGeom prst="line">
            <a:avLst/>
          </a:prstGeom>
          <a:ln>
            <a:solidFill>
              <a:schemeClr val="accent1"/>
            </a:solidFill>
            <a:prstDash val="solid"/>
          </a:ln>
          <a:effectLst/>
        </p:spPr>
      </p:cxnSp>
      <p:sp>
        <p:nvSpPr>
          <p:cNvPr id="60" name="slot.card.3.step.1.label"/>
          <p:cNvSpPr txBox="1"/>
          <p:nvPr/>
        </p:nvSpPr>
        <p:spPr>
          <a:xfrm>
            <a:off x="5314010" y="4297680"/>
            <a:ext cx="731368" cy="20116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Read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slot.card.3.step.2.label"/>
          <p:cNvSpPr txBox="1"/>
          <p:nvPr/>
        </p:nvSpPr>
        <p:spPr>
          <a:xfrm>
            <a:off x="6118515" y="4297680"/>
            <a:ext cx="731368" cy="20116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Extract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slot.card.3.step.3.label"/>
          <p:cNvSpPr txBox="1"/>
          <p:nvPr/>
        </p:nvSpPr>
        <p:spPr>
          <a:xfrm>
            <a:off x="6932162" y="4297680"/>
            <a:ext cx="731368" cy="20116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Match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slot.card.3.step.4.label"/>
          <p:cNvSpPr txBox="1"/>
          <p:nvPr/>
        </p:nvSpPr>
        <p:spPr>
          <a:xfrm>
            <a:off x="7745809" y="4297680"/>
            <a:ext cx="731368" cy="20116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Code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slot.card.3.step.5.label"/>
          <p:cNvSpPr txBox="1"/>
          <p:nvPr/>
        </p:nvSpPr>
        <p:spPr>
          <a:xfrm>
            <a:off x="8559456" y="4297680"/>
            <a:ext cx="731368" cy="20116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Route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slot.card.3.step.1.desc"/>
          <p:cNvSpPr txBox="1"/>
          <p:nvPr/>
        </p:nvSpPr>
        <p:spPr>
          <a:xfrm>
            <a:off x="5368861" y="4535424"/>
            <a:ext cx="621663" cy="47548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Scan to text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slot.card.3.step.2.desc"/>
          <p:cNvSpPr txBox="1"/>
          <p:nvPr/>
        </p:nvSpPr>
        <p:spPr>
          <a:xfrm>
            <a:off x="6173367" y="4535424"/>
            <a:ext cx="621663" cy="47548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Header and lines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slot.card.3.step.3.desc"/>
          <p:cNvSpPr txBox="1"/>
          <p:nvPr/>
        </p:nvSpPr>
        <p:spPr>
          <a:xfrm>
            <a:off x="6987014" y="4535424"/>
            <a:ext cx="621663" cy="47548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Order and receipt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slot.card.3.step.4.desc"/>
          <p:cNvSpPr txBox="1"/>
          <p:nvPr/>
        </p:nvSpPr>
        <p:spPr>
          <a:xfrm>
            <a:off x="7800661" y="4535424"/>
            <a:ext cx="621663" cy="47548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Ledger and tax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slot.card.3.step.5.desc"/>
          <p:cNvSpPr txBox="1"/>
          <p:nvPr/>
        </p:nvSpPr>
        <p:spPr>
          <a:xfrm>
            <a:off x="8614309" y="4535424"/>
            <a:ext cx="621663" cy="47548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Approver by value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0" name="struct.card.3.rule.1"/>
          <p:cNvCxnSpPr>
            <a:cxnSpLocks/>
          </p:cNvCxnSpPr>
          <p:nvPr/>
        </p:nvCxnSpPr>
        <p:spPr>
          <a:xfrm>
            <a:off x="6077375" y="4297680"/>
            <a:ext cx="0" cy="731520"/>
          </a:xfrm>
          <a:prstGeom prst="line">
            <a:avLst/>
          </a:prstGeom>
          <a:ln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cxnSp>
        <p:nvCxnSpPr>
          <p:cNvPr id="71" name="struct.card.3.rule.2"/>
          <p:cNvCxnSpPr>
            <a:cxnSpLocks/>
          </p:cNvCxnSpPr>
          <p:nvPr/>
        </p:nvCxnSpPr>
        <p:spPr>
          <a:xfrm>
            <a:off x="6891022" y="4297680"/>
            <a:ext cx="0" cy="731520"/>
          </a:xfrm>
          <a:prstGeom prst="line">
            <a:avLst/>
          </a:prstGeom>
          <a:ln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cxnSp>
        <p:nvCxnSpPr>
          <p:cNvPr id="72" name="struct.card.3.rule.3"/>
          <p:cNvCxnSpPr>
            <a:cxnSpLocks/>
          </p:cNvCxnSpPr>
          <p:nvPr/>
        </p:nvCxnSpPr>
        <p:spPr>
          <a:xfrm>
            <a:off x="7704669" y="4297680"/>
            <a:ext cx="0" cy="731520"/>
          </a:xfrm>
          <a:prstGeom prst="line">
            <a:avLst/>
          </a:prstGeom>
          <a:ln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cxnSp>
        <p:nvCxnSpPr>
          <p:cNvPr id="73" name="struct.card.3.rule.4"/>
          <p:cNvCxnSpPr>
            <a:cxnSpLocks/>
          </p:cNvCxnSpPr>
          <p:nvPr/>
        </p:nvCxnSpPr>
        <p:spPr>
          <a:xfrm>
            <a:off x="8518316" y="4297680"/>
            <a:ext cx="0" cy="731520"/>
          </a:xfrm>
          <a:prstGeom prst="line">
            <a:avLst/>
          </a:prstGeom>
          <a:ln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sp>
        <p:nvSpPr>
          <p:cNvPr id="74" name="slot.card.3.step.1.num"/>
          <p:cNvSpPr/>
          <p:nvPr/>
        </p:nvSpPr>
        <p:spPr>
          <a:xfrm>
            <a:off x="5542534" y="3877056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lIns="0" tIns="0" rIns="0" bIns="0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slot.card.3.step.2.num"/>
          <p:cNvSpPr/>
          <p:nvPr/>
        </p:nvSpPr>
        <p:spPr>
          <a:xfrm>
            <a:off x="6347039" y="3877056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lIns="0" tIns="0" rIns="0" bIns="0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slot.card.3.step.3.num"/>
          <p:cNvSpPr/>
          <p:nvPr/>
        </p:nvSpPr>
        <p:spPr>
          <a:xfrm>
            <a:off x="7160686" y="3877056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lIns="0" tIns="0" rIns="0" bIns="0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slot.card.3.step.4.num"/>
          <p:cNvSpPr/>
          <p:nvPr/>
        </p:nvSpPr>
        <p:spPr>
          <a:xfrm>
            <a:off x="7974333" y="3877056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lIns="0" tIns="0" rIns="0" bIns="0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slot.card.3.step.5.num"/>
          <p:cNvSpPr/>
          <p:nvPr/>
        </p:nvSpPr>
        <p:spPr>
          <a:xfrm>
            <a:off x="8787980" y="3877056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lIns="0" tIns="0" rIns="0" bIns="0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5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struct.card.3.arrow.1"/>
          <p:cNvSpPr/>
          <p:nvPr/>
        </p:nvSpPr>
        <p:spPr>
          <a:xfrm>
            <a:off x="5825967" y="3959352"/>
            <a:ext cx="511958" cy="109728"/>
          </a:xfrm>
          <a:prstGeom prst="rightArrow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 sz="900"/>
          </a:p>
        </p:txBody>
      </p:sp>
      <p:sp>
        <p:nvSpPr>
          <p:cNvPr id="80" name="struct.card.3.arrow.2"/>
          <p:cNvSpPr/>
          <p:nvPr/>
        </p:nvSpPr>
        <p:spPr>
          <a:xfrm>
            <a:off x="6630472" y="3959352"/>
            <a:ext cx="521099" cy="109728"/>
          </a:xfrm>
          <a:prstGeom prst="rightArrow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 sz="900"/>
          </a:p>
        </p:txBody>
      </p:sp>
      <p:sp>
        <p:nvSpPr>
          <p:cNvPr id="81" name="struct.card.3.arrow.3"/>
          <p:cNvSpPr/>
          <p:nvPr/>
        </p:nvSpPr>
        <p:spPr>
          <a:xfrm>
            <a:off x="7444119" y="3959352"/>
            <a:ext cx="521100" cy="109728"/>
          </a:xfrm>
          <a:prstGeom prst="rightArrow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 sz="900"/>
          </a:p>
        </p:txBody>
      </p:sp>
      <p:sp>
        <p:nvSpPr>
          <p:cNvPr id="82" name="struct.card.3.arrow.4"/>
          <p:cNvSpPr/>
          <p:nvPr/>
        </p:nvSpPr>
        <p:spPr>
          <a:xfrm>
            <a:off x="8257767" y="3959352"/>
            <a:ext cx="521099" cy="109728"/>
          </a:xfrm>
          <a:prstGeom prst="rightArrow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 sz="900"/>
          </a:p>
        </p:txBody>
      </p:sp>
      <p:sp>
        <p:nvSpPr>
          <p:cNvPr id="83" name="slot.card.1.num"/>
          <p:cNvSpPr txBox="1"/>
          <p:nvPr/>
        </p:nvSpPr>
        <p:spPr>
          <a:xfrm>
            <a:off x="640042" y="2359152"/>
            <a:ext cx="548526" cy="32918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01</a:t>
            </a:r>
            <a:endParaRPr lang="en-US" sz="2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slot.card.2.num"/>
          <p:cNvSpPr txBox="1"/>
          <p:nvPr/>
        </p:nvSpPr>
        <p:spPr>
          <a:xfrm>
            <a:off x="2981841" y="2359152"/>
            <a:ext cx="548526" cy="32918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02</a:t>
            </a:r>
            <a:endParaRPr lang="en-US" sz="2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slot.card.4.num"/>
          <p:cNvSpPr txBox="1"/>
          <p:nvPr/>
        </p:nvSpPr>
        <p:spPr>
          <a:xfrm>
            <a:off x="9812961" y="2359152"/>
            <a:ext cx="548526" cy="32918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04</a:t>
            </a:r>
            <a:endParaRPr lang="en-US" sz="2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slot.card.3.num"/>
          <p:cNvSpPr txBox="1"/>
          <p:nvPr/>
        </p:nvSpPr>
        <p:spPr>
          <a:xfrm>
            <a:off x="5323152" y="2359152"/>
            <a:ext cx="548526" cy="32918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03</a:t>
            </a:r>
            <a:endParaRPr lang="en-US" sz="2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slot.flow.input.icon"/>
          <p:cNvSpPr/>
          <p:nvPr/>
        </p:nvSpPr>
        <p:spPr>
          <a:xfrm>
            <a:off x="605791" y="1380744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7000"/>
                </a:moveTo>
                <a:lnTo>
                  <a:pt x="13009" y="12727"/>
                </a:lnTo>
                <a:cubicBezTo>
                  <a:pt x="12388" y="13088"/>
                  <a:pt x="11621" y="13088"/>
                  <a:pt x="11000" y="12727"/>
                </a:cubicBezTo>
                <a:lnTo>
                  <a:pt x="2000" y="7000"/>
                </a:lnTo>
                <a:moveTo>
                  <a:pt x="4000" y="4000"/>
                </a:moveTo>
                <a:lnTo>
                  <a:pt x="20000" y="4000"/>
                </a:lnTo>
                <a:cubicBezTo>
                  <a:pt x="21105" y="4000"/>
                  <a:pt x="22000" y="4895"/>
                  <a:pt x="22000" y="6000"/>
                </a:cubicBezTo>
                <a:lnTo>
                  <a:pt x="22000" y="18000"/>
                </a:lnTo>
                <a:cubicBezTo>
                  <a:pt x="22000" y="19105"/>
                  <a:pt x="21105" y="20000"/>
                  <a:pt x="20000" y="20000"/>
                </a:cubicBezTo>
                <a:lnTo>
                  <a:pt x="4000" y="20000"/>
                </a:lnTo>
                <a:cubicBezTo>
                  <a:pt x="2895" y="20000"/>
                  <a:pt x="2000" y="19105"/>
                  <a:pt x="2000" y="18000"/>
                </a:cubicBezTo>
                <a:lnTo>
                  <a:pt x="2000" y="6000"/>
                </a:lnTo>
                <a:cubicBezTo>
                  <a:pt x="2000" y="4895"/>
                  <a:pt x="2895" y="4000"/>
                  <a:pt x="4000" y="4000"/>
                </a:cubicBezTo>
                <a:close/>
              </a:path>
            </a:pathLst>
          </a:custGeom>
          <a:noFill/>
          <a:ln w="29210" cap="rnd">
            <a:solidFill>
              <a:schemeClr val="accent1"/>
            </a:solidFill>
            <a:round/>
          </a:ln>
          <a:effectLst/>
        </p:spPr>
      </p:sp>
      <p:sp>
        <p:nvSpPr>
          <p:cNvPr id="88" name="slot.flow.gate.1.icon"/>
          <p:cNvSpPr/>
          <p:nvPr/>
        </p:nvSpPr>
        <p:spPr>
          <a:xfrm>
            <a:off x="2408335" y="140817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24130" cap="rnd">
            <a:solidFill>
              <a:schemeClr val="bg1"/>
            </a:solidFill>
            <a:round/>
          </a:ln>
          <a:effectLst/>
        </p:spPr>
      </p:sp>
      <p:sp>
        <p:nvSpPr>
          <p:cNvPr id="89" name="slot.flow.gate.2.icon"/>
          <p:cNvSpPr/>
          <p:nvPr/>
        </p:nvSpPr>
        <p:spPr>
          <a:xfrm>
            <a:off x="9253339" y="140817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24130" cap="rnd">
            <a:solidFill>
              <a:schemeClr val="bg1"/>
            </a:solidFill>
            <a:round/>
          </a:ln>
          <a:effectLst/>
        </p:spPr>
      </p:sp>
      <p:sp>
        <p:nvSpPr>
          <p:cNvPr id="90" name="slot.flow.group.icon"/>
          <p:cNvSpPr/>
          <p:nvPr/>
        </p:nvSpPr>
        <p:spPr>
          <a:xfrm>
            <a:off x="4555187" y="91440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3000"/>
                </a:moveTo>
                <a:lnTo>
                  <a:pt x="9000" y="3000"/>
                </a:lnTo>
                <a:cubicBezTo>
                  <a:pt x="10105" y="3000"/>
                  <a:pt x="11000" y="3895"/>
                  <a:pt x="11000" y="5000"/>
                </a:cubicBezTo>
                <a:lnTo>
                  <a:pt x="11000" y="9000"/>
                </a:lnTo>
                <a:cubicBezTo>
                  <a:pt x="11000" y="10105"/>
                  <a:pt x="10105" y="11000"/>
                  <a:pt x="9000" y="11000"/>
                </a:cubicBezTo>
                <a:lnTo>
                  <a:pt x="5000" y="11000"/>
                </a:lnTo>
                <a:cubicBezTo>
                  <a:pt x="3895" y="11000"/>
                  <a:pt x="3000" y="10105"/>
                  <a:pt x="3000" y="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  <a:moveTo>
                  <a:pt x="7000" y="11000"/>
                </a:moveTo>
                <a:lnTo>
                  <a:pt x="7000" y="15000"/>
                </a:lnTo>
                <a:cubicBezTo>
                  <a:pt x="7000" y="16105"/>
                  <a:pt x="7895" y="17000"/>
                  <a:pt x="9000" y="17000"/>
                </a:cubicBezTo>
                <a:lnTo>
                  <a:pt x="13000" y="17000"/>
                </a:lnTo>
                <a:moveTo>
                  <a:pt x="15000" y="13000"/>
                </a:moveTo>
                <a:lnTo>
                  <a:pt x="19000" y="13000"/>
                </a:lnTo>
                <a:cubicBezTo>
                  <a:pt x="20105" y="13000"/>
                  <a:pt x="21000" y="13895"/>
                  <a:pt x="21000" y="1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5000" y="21000"/>
                </a:lnTo>
                <a:cubicBezTo>
                  <a:pt x="13895" y="21000"/>
                  <a:pt x="13000" y="20105"/>
                  <a:pt x="13000" y="19000"/>
                </a:cubicBezTo>
                <a:lnTo>
                  <a:pt x="13000" y="15000"/>
                </a:lnTo>
                <a:cubicBezTo>
                  <a:pt x="13000" y="13895"/>
                  <a:pt x="13895" y="13000"/>
                  <a:pt x="15000" y="13000"/>
                </a:cubicBezTo>
                <a:close/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91" name="slot.flow.check.1.icon"/>
          <p:cNvSpPr/>
          <p:nvPr/>
        </p:nvSpPr>
        <p:spPr>
          <a:xfrm>
            <a:off x="4813507" y="1448402"/>
            <a:ext cx="212356" cy="2123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17780" cap="rnd">
            <a:solidFill>
              <a:schemeClr val="accent1"/>
            </a:solidFill>
            <a:round/>
          </a:ln>
          <a:effectLst/>
        </p:spPr>
      </p:sp>
      <p:sp>
        <p:nvSpPr>
          <p:cNvPr id="92" name="slot.flow.check.2.icon"/>
          <p:cNvSpPr/>
          <p:nvPr/>
        </p:nvSpPr>
        <p:spPr>
          <a:xfrm>
            <a:off x="6928419" y="1448402"/>
            <a:ext cx="212356" cy="2123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17780" cap="rnd">
            <a:solidFill>
              <a:schemeClr val="accent1"/>
            </a:solidFill>
            <a:round/>
          </a:ln>
          <a:effectLst/>
        </p:spPr>
      </p:sp>
      <p:sp>
        <p:nvSpPr>
          <p:cNvPr id="93" name="slot.flow.output.icon"/>
          <p:cNvSpPr/>
          <p:nvPr/>
        </p:nvSpPr>
        <p:spPr>
          <a:xfrm>
            <a:off x="10159288" y="1380744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29210" cap="rnd">
            <a:solidFill>
              <a:schemeClr val="accent1"/>
            </a:solidFill>
            <a:round/>
          </a:ln>
          <a:effectLst/>
        </p:spPr>
      </p:sp>
      <p:sp>
        <p:nvSpPr>
          <p:cNvPr id="94" name="slot.card.1.icon"/>
          <p:cNvSpPr/>
          <p:nvPr/>
        </p:nvSpPr>
        <p:spPr>
          <a:xfrm>
            <a:off x="1359099" y="2340864"/>
            <a:ext cx="360274" cy="36027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5000" y="2000"/>
                </a:moveTo>
                <a:lnTo>
                  <a:pt x="11000" y="2000"/>
                </a:lnTo>
                <a:cubicBezTo>
                  <a:pt x="9895" y="2000"/>
                  <a:pt x="9000" y="2895"/>
                  <a:pt x="9000" y="4000"/>
                </a:cubicBezTo>
                <a:lnTo>
                  <a:pt x="9000" y="15000"/>
                </a:lnTo>
                <a:cubicBezTo>
                  <a:pt x="9000" y="16105"/>
                  <a:pt x="9895" y="17000"/>
                  <a:pt x="11000" y="17000"/>
                </a:cubicBezTo>
                <a:lnTo>
                  <a:pt x="19000" y="17000"/>
                </a:lnTo>
                <a:cubicBezTo>
                  <a:pt x="20105" y="17000"/>
                  <a:pt x="21000" y="16105"/>
                  <a:pt x="21000" y="15000"/>
                </a:cubicBezTo>
                <a:lnTo>
                  <a:pt x="21000" y="8000"/>
                </a:lnTo>
                <a:moveTo>
                  <a:pt x="16706" y="2706"/>
                </a:moveTo>
                <a:cubicBezTo>
                  <a:pt x="16254" y="2253"/>
                  <a:pt x="15640" y="1998"/>
                  <a:pt x="15000" y="2000"/>
                </a:cubicBezTo>
                <a:lnTo>
                  <a:pt x="15000" y="7000"/>
                </a:lnTo>
                <a:cubicBezTo>
                  <a:pt x="15000" y="7552"/>
                  <a:pt x="15448" y="8000"/>
                  <a:pt x="16000" y="8000"/>
                </a:cubicBezTo>
                <a:lnTo>
                  <a:pt x="21000" y="8000"/>
                </a:lnTo>
                <a:cubicBezTo>
                  <a:pt x="21002" y="7360"/>
                  <a:pt x="20747" y="6746"/>
                  <a:pt x="20294" y="6294"/>
                </a:cubicBezTo>
                <a:close/>
                <a:moveTo>
                  <a:pt x="5000" y="7000"/>
                </a:moveTo>
                <a:cubicBezTo>
                  <a:pt x="3895" y="7000"/>
                  <a:pt x="3000" y="7895"/>
                  <a:pt x="3000" y="9000"/>
                </a:cubicBezTo>
                <a:lnTo>
                  <a:pt x="3000" y="20000"/>
                </a:lnTo>
                <a:cubicBezTo>
                  <a:pt x="3000" y="21105"/>
                  <a:pt x="3895" y="22000"/>
                  <a:pt x="5000" y="22000"/>
                </a:cubicBezTo>
                <a:lnTo>
                  <a:pt x="13000" y="22000"/>
                </a:lnTo>
                <a:cubicBezTo>
                  <a:pt x="13715" y="22000"/>
                  <a:pt x="14375" y="21619"/>
                  <a:pt x="14732" y="21000"/>
                </a:cubicBezTo>
              </a:path>
            </a:pathLst>
          </a:custGeom>
          <a:noFill/>
          <a:ln w="2984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95" name="slot.card.2.icon"/>
          <p:cNvSpPr/>
          <p:nvPr/>
        </p:nvSpPr>
        <p:spPr>
          <a:xfrm>
            <a:off x="3701305" y="2340864"/>
            <a:ext cx="360274" cy="36027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2984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96" name="slot.card.4.icon"/>
          <p:cNvSpPr/>
          <p:nvPr/>
        </p:nvSpPr>
        <p:spPr>
          <a:xfrm>
            <a:off x="10532284" y="2340864"/>
            <a:ext cx="360274" cy="36027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2000"/>
                </a:moveTo>
                <a:lnTo>
                  <a:pt x="15000" y="2000"/>
                </a:lnTo>
                <a:cubicBezTo>
                  <a:pt x="15552" y="2000"/>
                  <a:pt x="16000" y="2448"/>
                  <a:pt x="16000" y="3000"/>
                </a:cubicBezTo>
                <a:lnTo>
                  <a:pt x="16000" y="5000"/>
                </a:lnTo>
                <a:cubicBezTo>
                  <a:pt x="16000" y="5552"/>
                  <a:pt x="15552" y="6000"/>
                  <a:pt x="15000" y="6000"/>
                </a:cubicBezTo>
                <a:lnTo>
                  <a:pt x="9000" y="6000"/>
                </a:lnTo>
                <a:cubicBezTo>
                  <a:pt x="8448" y="6000"/>
                  <a:pt x="8000" y="5552"/>
                  <a:pt x="8000" y="5000"/>
                </a:cubicBezTo>
                <a:lnTo>
                  <a:pt x="8000" y="3000"/>
                </a:lnTo>
                <a:cubicBezTo>
                  <a:pt x="8000" y="2448"/>
                  <a:pt x="8448" y="2000"/>
                  <a:pt x="9000" y="2000"/>
                </a:cubicBezTo>
                <a:close/>
                <a:moveTo>
                  <a:pt x="16000" y="4000"/>
                </a:moveTo>
                <a:lnTo>
                  <a:pt x="18000" y="4000"/>
                </a:lnTo>
                <a:cubicBezTo>
                  <a:pt x="19105" y="4000"/>
                  <a:pt x="20000" y="4895"/>
                  <a:pt x="20000" y="6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lnTo>
                  <a:pt x="6000" y="22000"/>
                </a:lnTo>
                <a:cubicBezTo>
                  <a:pt x="4895" y="22000"/>
                  <a:pt x="4000" y="21105"/>
                  <a:pt x="4000" y="20000"/>
                </a:cubicBezTo>
                <a:lnTo>
                  <a:pt x="4000" y="6000"/>
                </a:lnTo>
                <a:cubicBezTo>
                  <a:pt x="4000" y="4895"/>
                  <a:pt x="4895" y="4000"/>
                  <a:pt x="6000" y="4000"/>
                </a:cubicBezTo>
                <a:lnTo>
                  <a:pt x="8000" y="4000"/>
                </a:lnTo>
                <a:moveTo>
                  <a:pt x="9000" y="14000"/>
                </a:moveTo>
                <a:lnTo>
                  <a:pt x="11000" y="16000"/>
                </a:lnTo>
                <a:lnTo>
                  <a:pt x="15000" y="12000"/>
                </a:lnTo>
              </a:path>
            </a:pathLst>
          </a:custGeom>
          <a:noFill/>
          <a:ln w="2984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97" name="slot.card.3.icon"/>
          <p:cNvSpPr/>
          <p:nvPr/>
        </p:nvSpPr>
        <p:spPr>
          <a:xfrm>
            <a:off x="7116795" y="2340864"/>
            <a:ext cx="360274" cy="36027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20000"/>
                </a:moveTo>
                <a:lnTo>
                  <a:pt x="12000" y="22000"/>
                </a:lnTo>
                <a:moveTo>
                  <a:pt x="12000" y="2000"/>
                </a:moveTo>
                <a:lnTo>
                  <a:pt x="12000" y="4000"/>
                </a:lnTo>
                <a:moveTo>
                  <a:pt x="17000" y="20000"/>
                </a:moveTo>
                <a:lnTo>
                  <a:pt x="17000" y="22000"/>
                </a:lnTo>
                <a:moveTo>
                  <a:pt x="17000" y="2000"/>
                </a:moveTo>
                <a:lnTo>
                  <a:pt x="17000" y="4000"/>
                </a:lnTo>
                <a:moveTo>
                  <a:pt x="2000" y="12000"/>
                </a:moveTo>
                <a:lnTo>
                  <a:pt x="4000" y="12000"/>
                </a:lnTo>
                <a:moveTo>
                  <a:pt x="2000" y="17000"/>
                </a:moveTo>
                <a:lnTo>
                  <a:pt x="4000" y="17000"/>
                </a:lnTo>
                <a:moveTo>
                  <a:pt x="2000" y="7000"/>
                </a:moveTo>
                <a:lnTo>
                  <a:pt x="4000" y="7000"/>
                </a:lnTo>
                <a:moveTo>
                  <a:pt x="20000" y="12000"/>
                </a:moveTo>
                <a:lnTo>
                  <a:pt x="22000" y="12000"/>
                </a:lnTo>
                <a:moveTo>
                  <a:pt x="20000" y="17000"/>
                </a:moveTo>
                <a:lnTo>
                  <a:pt x="22000" y="17000"/>
                </a:lnTo>
                <a:moveTo>
                  <a:pt x="20000" y="7000"/>
                </a:moveTo>
                <a:lnTo>
                  <a:pt x="22000" y="7000"/>
                </a:lnTo>
                <a:moveTo>
                  <a:pt x="7000" y="20000"/>
                </a:moveTo>
                <a:lnTo>
                  <a:pt x="7000" y="22000"/>
                </a:lnTo>
                <a:moveTo>
                  <a:pt x="7000" y="2000"/>
                </a:moveTo>
                <a:lnTo>
                  <a:pt x="7000" y="4000"/>
                </a:lnTo>
                <a:moveTo>
                  <a:pt x="6000" y="4000"/>
                </a:moveTo>
                <a:lnTo>
                  <a:pt x="18000" y="4000"/>
                </a:lnTo>
                <a:cubicBezTo>
                  <a:pt x="19105" y="4000"/>
                  <a:pt x="20000" y="4895"/>
                  <a:pt x="20000" y="6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6000"/>
                </a:lnTo>
                <a:cubicBezTo>
                  <a:pt x="4000" y="4895"/>
                  <a:pt x="4895" y="4000"/>
                  <a:pt x="6000" y="4000"/>
                </a:cubicBezTo>
                <a:close/>
                <a:moveTo>
                  <a:pt x="9000" y="8000"/>
                </a:moveTo>
                <a:lnTo>
                  <a:pt x="15000" y="8000"/>
                </a:lnTo>
                <a:cubicBezTo>
                  <a:pt x="15552" y="8000"/>
                  <a:pt x="16000" y="8448"/>
                  <a:pt x="16000" y="9000"/>
                </a:cubicBezTo>
                <a:lnTo>
                  <a:pt x="16000" y="15000"/>
                </a:lnTo>
                <a:cubicBezTo>
                  <a:pt x="16000" y="15552"/>
                  <a:pt x="15552" y="16000"/>
                  <a:pt x="15000" y="16000"/>
                </a:cubicBezTo>
                <a:lnTo>
                  <a:pt x="9000" y="16000"/>
                </a:lnTo>
                <a:cubicBezTo>
                  <a:pt x="8448" y="16000"/>
                  <a:pt x="8000" y="15552"/>
                  <a:pt x="8000" y="15000"/>
                </a:cubicBezTo>
                <a:lnTo>
                  <a:pt x="8000" y="9000"/>
                </a:lnTo>
                <a:cubicBezTo>
                  <a:pt x="8000" y="8448"/>
                  <a:pt x="8448" y="8000"/>
                  <a:pt x="9000" y="8000"/>
                </a:cubicBezTo>
                <a:close/>
              </a:path>
            </a:pathLst>
          </a:custGeom>
          <a:noFill/>
          <a:ln w="2984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98" name="slot.rail.item.1.icon"/>
          <p:cNvSpPr/>
          <p:nvPr/>
        </p:nvSpPr>
        <p:spPr>
          <a:xfrm>
            <a:off x="2617052" y="567842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9000" y="15000"/>
                </a:moveTo>
                <a:lnTo>
                  <a:pt x="11000" y="17000"/>
                </a:lnTo>
                <a:lnTo>
                  <a:pt x="15000" y="13000"/>
                </a:lnTo>
              </a:path>
            </a:pathLst>
          </a:custGeom>
          <a:noFill/>
          <a:ln w="3048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99" name="slot.rail.item.2.icon"/>
          <p:cNvSpPr/>
          <p:nvPr/>
        </p:nvSpPr>
        <p:spPr>
          <a:xfrm>
            <a:off x="4948288" y="567842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3048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100" name="slot.rail.item.3.icon"/>
          <p:cNvSpPr/>
          <p:nvPr/>
        </p:nvSpPr>
        <p:spPr>
          <a:xfrm>
            <a:off x="7206387" y="567842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4000"/>
                </a:moveTo>
                <a:lnTo>
                  <a:pt x="16000" y="10000"/>
                </a:lnTo>
                <a:moveTo>
                  <a:pt x="3340" y="19000"/>
                </a:moveTo>
                <a:cubicBezTo>
                  <a:pt x="913" y="14797"/>
                  <a:pt x="1854" y="9459"/>
                  <a:pt x="5572" y="6339"/>
                </a:cubicBezTo>
                <a:cubicBezTo>
                  <a:pt x="9290" y="3220"/>
                  <a:pt x="14710" y="3220"/>
                  <a:pt x="18428" y="6339"/>
                </a:cubicBezTo>
                <a:cubicBezTo>
                  <a:pt x="22146" y="9459"/>
                  <a:pt x="23087" y="14797"/>
                  <a:pt x="20660" y="19000"/>
                </a:cubicBezTo>
              </a:path>
            </a:pathLst>
          </a:custGeom>
          <a:noFill/>
          <a:ln w="3048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101" name="slot.rail.item.4.icon"/>
          <p:cNvSpPr/>
          <p:nvPr/>
        </p:nvSpPr>
        <p:spPr>
          <a:xfrm>
            <a:off x="9427918" y="567842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11000"/>
                </a:moveTo>
                <a:lnTo>
                  <a:pt x="19000" y="11000"/>
                </a:lnTo>
                <a:cubicBezTo>
                  <a:pt x="20105" y="11000"/>
                  <a:pt x="21000" y="11895"/>
                  <a:pt x="21000" y="13000"/>
                </a:cubicBezTo>
                <a:lnTo>
                  <a:pt x="21000" y="20000"/>
                </a:lnTo>
                <a:cubicBezTo>
                  <a:pt x="21000" y="21105"/>
                  <a:pt x="20105" y="22000"/>
                  <a:pt x="19000" y="22000"/>
                </a:cubicBezTo>
                <a:lnTo>
                  <a:pt x="5000" y="22000"/>
                </a:lnTo>
                <a:cubicBezTo>
                  <a:pt x="3895" y="22000"/>
                  <a:pt x="3000" y="21105"/>
                  <a:pt x="3000" y="20000"/>
                </a:cubicBezTo>
                <a:lnTo>
                  <a:pt x="3000" y="13000"/>
                </a:lnTo>
                <a:cubicBezTo>
                  <a:pt x="3000" y="11895"/>
                  <a:pt x="3895" y="11000"/>
                  <a:pt x="5000" y="11000"/>
                </a:cubicBezTo>
                <a:close/>
                <a:moveTo>
                  <a:pt x="7000" y="11000"/>
                </a:moveTo>
                <a:lnTo>
                  <a:pt x="7000" y="7000"/>
                </a:lnTo>
                <a:cubicBezTo>
                  <a:pt x="7000" y="4239"/>
                  <a:pt x="9239" y="2000"/>
                  <a:pt x="12000" y="2000"/>
                </a:cubicBezTo>
                <a:cubicBezTo>
                  <a:pt x="14761" y="2000"/>
                  <a:pt x="17000" y="4239"/>
                  <a:pt x="17000" y="7000"/>
                </a:cubicBezTo>
                <a:lnTo>
                  <a:pt x="17000" y="11000"/>
                </a:lnTo>
              </a:path>
            </a:pathLst>
          </a:custGeom>
          <a:noFill/>
          <a:ln w="3048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use-case-map:domain-tabs-agent-mesh">
    <p:spTree>
      <p:nvGrpSpPr>
        <p:cNvPr id="1" name=""/>
        <p:cNvGrpSpPr/>
        <p:nvPr/>
      </p:nvGrpSpPr>
      <p:grpSpPr/>
      <p:sp>
        <p:nvSpPr>
          <p:cNvPr id="2" name="struct.domain.1.panel"/>
          <p:cNvSpPr/>
          <p:nvPr/>
        </p:nvSpPr>
        <p:spPr>
          <a:xfrm>
            <a:off x="926152" y="2478024"/>
            <a:ext cx="1816800" cy="18470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</p:sp>
      <p:sp>
        <p:nvSpPr>
          <p:cNvPr id="3" name="struct.domain.2.panel"/>
          <p:cNvSpPr/>
          <p:nvPr/>
        </p:nvSpPr>
        <p:spPr>
          <a:xfrm>
            <a:off x="2999100" y="2478024"/>
            <a:ext cx="1961200" cy="18470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</p:sp>
      <p:sp>
        <p:nvSpPr>
          <p:cNvPr id="4" name="state.spotlight"/>
          <p:cNvSpPr/>
          <p:nvPr/>
        </p:nvSpPr>
        <p:spPr>
          <a:xfrm>
            <a:off x="5170547" y="2478024"/>
            <a:ext cx="1816800" cy="1847088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  <a:effectLst/>
        </p:spPr>
      </p:sp>
      <p:sp>
        <p:nvSpPr>
          <p:cNvPr id="5" name="struct.domain.4.panel"/>
          <p:cNvSpPr/>
          <p:nvPr/>
        </p:nvSpPr>
        <p:spPr>
          <a:xfrm>
            <a:off x="7281020" y="2478024"/>
            <a:ext cx="1816800" cy="18470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</p:sp>
      <p:sp>
        <p:nvSpPr>
          <p:cNvPr id="6" name="struct.domain.5.panel"/>
          <p:cNvSpPr/>
          <p:nvPr/>
        </p:nvSpPr>
        <p:spPr>
          <a:xfrm>
            <a:off x="9391493" y="2478024"/>
            <a:ext cx="1816800" cy="18470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</p:sp>
      <p:sp>
        <p:nvSpPr>
          <p:cNvPr id="7" name="struct.platform"/>
          <p:cNvSpPr txBox="1"/>
          <p:nvPr/>
        </p:nvSpPr>
        <p:spPr>
          <a:xfrm flipH="1">
            <a:off x="548640" y="4809744"/>
            <a:ext cx="11073384" cy="1325880"/>
          </a:xfrm>
          <a:prstGeom prst="rect">
            <a:avLst/>
          </a:prstGeom>
          <a:noFill/>
          <a:ln w="927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40200" tIns="93467" rIns="140200" bIns="93467" anchor="ctr" anchorCtr="0">
            <a:noAutofit/>
          </a:bodyPr>
          <a:lstStyle/>
          <a:p>
            <a:pPr algn="ctr">
              <a:buSzPts val="1400"/>
            </a:pPr>
            <a:endParaRPr sz="1867"/>
          </a:p>
        </p:txBody>
      </p:sp>
      <p:grpSp>
        <p:nvGrpSpPr>
          <p:cNvPr id="8" name="struct.platform.chips"/>
          <p:cNvGrpSpPr/>
          <p:nvPr/>
        </p:nvGrpSpPr>
        <p:grpSpPr>
          <a:xfrm>
            <a:off x="714264" y="5197063"/>
            <a:ext cx="10729960" cy="871820"/>
            <a:chOff x="714264" y="5425663"/>
            <a:chExt cx="10729960" cy="871820"/>
          </a:xfrm>
          <a:effectLst/>
        </p:grpSpPr>
        <p:sp>
          <p:nvSpPr>
            <p:cNvPr id="9" name="slot.platform.chip.1"/>
            <p:cNvSpPr/>
            <p:nvPr/>
          </p:nvSpPr>
          <p:spPr>
            <a:xfrm>
              <a:off x="714265" y="5425663"/>
              <a:ext cx="1057719" cy="378924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927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0" tIns="18288" rIns="45720" bIns="18288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rPr>
                <a:t>Product master</a:t>
              </a:r>
              <a:endPara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0" name="slot.platform.chip.4"/>
            <p:cNvSpPr/>
            <p:nvPr/>
          </p:nvSpPr>
          <p:spPr>
            <a:xfrm>
              <a:off x="4284573" y="5425663"/>
              <a:ext cx="1057719" cy="378924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927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0" tIns="18288" rIns="45720" bIns="18288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rPr>
                <a:t>Store visits</a:t>
              </a:r>
              <a:endPara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1" name="slot.platform.chip.7"/>
            <p:cNvSpPr/>
            <p:nvPr/>
          </p:nvSpPr>
          <p:spPr>
            <a:xfrm>
              <a:off x="7854881" y="5425663"/>
              <a:ext cx="1057719" cy="378924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927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0" tIns="18288" rIns="45720" bIns="18288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rPr>
                <a:t>Agent registry</a:t>
              </a:r>
              <a:endPara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2" name="slot.platform.chip.2"/>
            <p:cNvSpPr/>
            <p:nvPr/>
          </p:nvSpPr>
          <p:spPr>
            <a:xfrm>
              <a:off x="1904368" y="5425663"/>
              <a:ext cx="1057719" cy="378924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927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0" tIns="18288" rIns="45720" bIns="18288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rPr>
                <a:t>Customer master</a:t>
              </a:r>
              <a:endPara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3" name="slot.platform.chip.5"/>
            <p:cNvSpPr/>
            <p:nvPr/>
          </p:nvSpPr>
          <p:spPr>
            <a:xfrm>
              <a:off x="5474676" y="5425663"/>
              <a:ext cx="1057719" cy="378924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927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0" tIns="18288" rIns="45720" bIns="18288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rPr>
                <a:t>Order history</a:t>
              </a:r>
              <a:endPara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4" name="slot.platform.chip.8"/>
            <p:cNvSpPr/>
            <p:nvPr/>
          </p:nvSpPr>
          <p:spPr>
            <a:xfrm>
              <a:off x="9044984" y="5425663"/>
              <a:ext cx="1209211" cy="378924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927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0" tIns="18288" rIns="45720" bIns="18288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rPr>
                <a:t>Evaluation runs</a:t>
              </a:r>
              <a:endPara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5" name="slot.platform.chip.3"/>
            <p:cNvSpPr/>
            <p:nvPr/>
          </p:nvSpPr>
          <p:spPr>
            <a:xfrm>
              <a:off x="3094471" y="5425663"/>
              <a:ext cx="1057719" cy="378924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927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0" tIns="18288" rIns="45720" bIns="18288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rPr>
                <a:t>Price book</a:t>
              </a:r>
              <a:endPara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6" name="slot.platform.chip.6"/>
            <p:cNvSpPr/>
            <p:nvPr/>
          </p:nvSpPr>
          <p:spPr>
            <a:xfrm>
              <a:off x="6664779" y="5425663"/>
              <a:ext cx="1057719" cy="378924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927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0" tIns="18288" rIns="45720" bIns="18288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rPr>
                <a:t>Promo calendar</a:t>
              </a:r>
              <a:endPara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7" name="slot.platform.chip.9"/>
            <p:cNvSpPr/>
            <p:nvPr/>
          </p:nvSpPr>
          <p:spPr>
            <a:xfrm>
              <a:off x="10386505" y="5425663"/>
              <a:ext cx="1057719" cy="378924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927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0" tIns="18288" rIns="45720" bIns="18288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rPr>
                <a:t>Usage logs</a:t>
              </a:r>
              <a:endPara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8" name="slot.platform.service.1"/>
            <p:cNvSpPr/>
            <p:nvPr/>
          </p:nvSpPr>
          <p:spPr>
            <a:xfrm>
              <a:off x="714264" y="5920894"/>
              <a:ext cx="3437976" cy="376589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927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3152" tIns="18288" rIns="73152" bIns="18288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Governed data products for every domain</a:t>
              </a:r>
              <a:endParaRPr lang="en-US" sz="9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9" name="slot.platform.service.2"/>
            <p:cNvSpPr/>
            <p:nvPr/>
          </p:nvSpPr>
          <p:spPr>
            <a:xfrm>
              <a:off x="4284573" y="5920894"/>
              <a:ext cx="3437976" cy="376589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927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3152" tIns="18288" rIns="73152" bIns="18288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One agent runtime with shared evaluation</a:t>
              </a:r>
              <a:endParaRPr lang="en-US" sz="9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20" name="slot.platform.service.3"/>
            <p:cNvSpPr/>
            <p:nvPr/>
          </p:nvSpPr>
          <p:spPr>
            <a:xfrm>
              <a:off x="7854883" y="5920894"/>
              <a:ext cx="3589079" cy="376589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927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3152" tIns="18288" rIns="73152" bIns="18288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Identity, access and audit trail on every call</a:t>
              </a:r>
              <a:endParaRPr lang="en-US" sz="9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1" name="slot.header"/>
          <p:cNvSpPr txBox="1"/>
          <p:nvPr/>
        </p:nvSpPr>
        <p:spPr>
          <a:xfrm flipH="1">
            <a:off x="544600" y="989904"/>
            <a:ext cx="11069200" cy="28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54864" tIns="18288" rIns="54864" bIns="18288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Commercial agent network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truct.key"/>
          <p:cNvSpPr txBox="1"/>
          <p:nvPr/>
        </p:nvSpPr>
        <p:spPr>
          <a:xfrm flipH="1">
            <a:off x="544600" y="1328663"/>
            <a:ext cx="11069200" cy="533200"/>
          </a:xfrm>
          <a:prstGeom prst="rect">
            <a:avLst/>
          </a:prstGeom>
          <a:solidFill>
            <a:schemeClr val="bg1"/>
          </a:solidFill>
          <a:ln w="927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40200" tIns="93467" rIns="140200" bIns="93467" anchor="ctr" anchorCtr="0">
            <a:noAutofit/>
          </a:bodyPr>
          <a:lstStyle/>
          <a:p>
            <a:pPr algn="ctr">
              <a:buSzPts val="1400"/>
            </a:pPr>
            <a:endParaRPr sz="1867"/>
          </a:p>
        </p:txBody>
      </p:sp>
      <p:sp>
        <p:nvSpPr>
          <p:cNvPr id="23" name="struct.legend.disc.3"/>
          <p:cNvSpPr/>
          <p:nvPr/>
        </p:nvSpPr>
        <p:spPr>
          <a:xfrm>
            <a:off x="7269480" y="1499616"/>
            <a:ext cx="182880" cy="182880"/>
          </a:xfrm>
          <a:prstGeom prst="ellipse">
            <a:avLst/>
          </a:prstGeom>
          <a:solidFill>
            <a:schemeClr val="bg1">
              <a:lumMod val="55000"/>
            </a:schemeClr>
          </a:solidFill>
          <a:ln w="927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24" name="struct.legend.disc.2"/>
          <p:cNvSpPr/>
          <p:nvPr/>
        </p:nvSpPr>
        <p:spPr>
          <a:xfrm>
            <a:off x="6126480" y="1499616"/>
            <a:ext cx="182880" cy="182880"/>
          </a:xfrm>
          <a:prstGeom prst="ellipse">
            <a:avLst/>
          </a:prstGeom>
          <a:solidFill>
            <a:schemeClr val="bg1"/>
          </a:solidFill>
          <a:ln w="92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25" name="struct.legend.disc.1"/>
          <p:cNvSpPr/>
          <p:nvPr/>
        </p:nvSpPr>
        <p:spPr>
          <a:xfrm>
            <a:off x="4983480" y="1499616"/>
            <a:ext cx="182880" cy="182880"/>
          </a:xfrm>
          <a:prstGeom prst="ellipse">
            <a:avLst/>
          </a:prstGeom>
          <a:solidFill>
            <a:schemeClr val="accent1"/>
          </a:solidFill>
          <a:ln w="927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26" name="slot.domain.1"/>
          <p:cNvSpPr txBox="1"/>
          <p:nvPr/>
        </p:nvSpPr>
        <p:spPr>
          <a:xfrm flipH="1">
            <a:off x="926152" y="1947903"/>
            <a:ext cx="1816800" cy="46360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spcFirstLastPara="1" wrap="square" lIns="54864" tIns="18288" rIns="54864" bIns="18288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Demand planning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lot.domain.3"/>
          <p:cNvSpPr txBox="1"/>
          <p:nvPr/>
        </p:nvSpPr>
        <p:spPr>
          <a:xfrm flipH="1">
            <a:off x="5170547" y="1947903"/>
            <a:ext cx="1816800" cy="463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54864" tIns="18288" rIns="54864" bIns="18288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Sales execution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lot.domain.4"/>
          <p:cNvSpPr txBox="1"/>
          <p:nvPr/>
        </p:nvSpPr>
        <p:spPr>
          <a:xfrm flipH="1">
            <a:off x="7281020" y="1947903"/>
            <a:ext cx="1816800" cy="46360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spcFirstLastPara="1" wrap="square" lIns="54864" tIns="18288" rIns="54864" bIns="18288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Trade promotion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lot.domain.5"/>
          <p:cNvSpPr txBox="1"/>
          <p:nvPr/>
        </p:nvSpPr>
        <p:spPr>
          <a:xfrm flipH="1">
            <a:off x="9391493" y="1947903"/>
            <a:ext cx="1816800" cy="46360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spcFirstLastPara="1" wrap="square" lIns="54864" tIns="18288" rIns="54864" bIns="18288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Customer service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slot.domain.2"/>
          <p:cNvSpPr txBox="1"/>
          <p:nvPr/>
        </p:nvSpPr>
        <p:spPr>
          <a:xfrm flipH="1">
            <a:off x="2999100" y="1947900"/>
            <a:ext cx="1961200" cy="46360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spcFirstLastPara="1" wrap="square" lIns="54864" tIns="18288" rIns="54864" bIns="18288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Pricing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lot.key.1.label"/>
          <p:cNvSpPr txBox="1"/>
          <p:nvPr/>
        </p:nvSpPr>
        <p:spPr>
          <a:xfrm>
            <a:off x="2029968" y="1344168"/>
            <a:ext cx="932688" cy="49377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Serves reps and planners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lot.key.2.label"/>
          <p:cNvSpPr txBox="1"/>
          <p:nvPr/>
        </p:nvSpPr>
        <p:spPr>
          <a:xfrm>
            <a:off x="3712463" y="1344168"/>
            <a:ext cx="1005840" cy="49377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Agent status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slot.legend.1"/>
          <p:cNvSpPr txBox="1"/>
          <p:nvPr/>
        </p:nvSpPr>
        <p:spPr>
          <a:xfrm>
            <a:off x="5212080" y="1426464"/>
            <a:ext cx="86868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Live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slot.legend.3"/>
          <p:cNvSpPr txBox="1"/>
          <p:nvPr/>
        </p:nvSpPr>
        <p:spPr>
          <a:xfrm>
            <a:off x="7498079" y="1426464"/>
            <a:ext cx="86868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Shared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lot.legend.2"/>
          <p:cNvSpPr txBox="1"/>
          <p:nvPr/>
        </p:nvSpPr>
        <p:spPr>
          <a:xfrm>
            <a:off x="6355080" y="1426464"/>
            <a:ext cx="86868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Planned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6" name="struct.key.divider.1"/>
          <p:cNvCxnSpPr/>
          <p:nvPr/>
        </p:nvCxnSpPr>
        <p:spPr>
          <a:xfrm>
            <a:off x="2999243" y="1409257"/>
            <a:ext cx="0" cy="372000"/>
          </a:xfrm>
          <a:prstGeom prst="straightConnector1">
            <a:avLst/>
          </a:prstGeom>
          <a:noFill/>
          <a:ln w="9275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37" name="struct.key.divider.2"/>
          <p:cNvCxnSpPr/>
          <p:nvPr/>
        </p:nvCxnSpPr>
        <p:spPr>
          <a:xfrm>
            <a:off x="8806669" y="1409257"/>
            <a:ext cx="0" cy="372000"/>
          </a:xfrm>
          <a:prstGeom prst="straightConnector1">
            <a:avLst/>
          </a:prstGeom>
          <a:noFill/>
          <a:ln w="9275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sp>
        <p:nvSpPr>
          <p:cNvPr id="38" name="slot.key.3.label"/>
          <p:cNvSpPr txBox="1"/>
          <p:nvPr/>
        </p:nvSpPr>
        <p:spPr>
          <a:xfrm>
            <a:off x="9509760" y="1344168"/>
            <a:ext cx="2011680" cy="49377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Start where data and owners are ready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slot.platform.label"/>
          <p:cNvSpPr/>
          <p:nvPr/>
        </p:nvSpPr>
        <p:spPr>
          <a:xfrm>
            <a:off x="2770632" y="4873752"/>
            <a:ext cx="6629400" cy="31089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93467" tIns="46733" rIns="93467" bIns="46733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Shared platform services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slot.title"/>
          <p:cNvSpPr txBox="1">
            <a:spLocks noGrp="1"/>
          </p:cNvSpPr>
          <p:nvPr/>
        </p:nvSpPr>
        <p:spPr>
          <a:xfrm>
            <a:off x="457200" y="178328"/>
            <a:ext cx="11338560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Sales execution</a:t>
            </a:r>
            <a:r>
              <a:rPr lang="en-US" sz="2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goes first, since its agents feed the other four domains</a:t>
            </a:r>
            <a:endParaRPr lang="en-US" sz="2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lot.key.1.icon.2"/>
          <p:cNvSpPr/>
          <p:nvPr/>
        </p:nvSpPr>
        <p:spPr>
          <a:xfrm>
            <a:off x="1580998" y="1430579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5000" y="21000"/>
                </a:moveTo>
                <a:lnTo>
                  <a:pt x="15000" y="16000"/>
                </a:lnTo>
                <a:cubicBezTo>
                  <a:pt x="15000" y="15448"/>
                  <a:pt x="14552" y="15000"/>
                  <a:pt x="14000" y="15000"/>
                </a:cubicBezTo>
                <a:lnTo>
                  <a:pt x="10000" y="15000"/>
                </a:lnTo>
                <a:cubicBezTo>
                  <a:pt x="9448" y="15000"/>
                  <a:pt x="9000" y="15448"/>
                  <a:pt x="9000" y="16000"/>
                </a:cubicBezTo>
                <a:lnTo>
                  <a:pt x="9000" y="21000"/>
                </a:lnTo>
                <a:moveTo>
                  <a:pt x="17774" y="10310"/>
                </a:moveTo>
                <a:cubicBezTo>
                  <a:pt x="17341" y="9895"/>
                  <a:pt x="16658" y="9895"/>
                  <a:pt x="16225" y="10310"/>
                </a:cubicBezTo>
                <a:cubicBezTo>
                  <a:pt x="15259" y="11231"/>
                  <a:pt x="13740" y="11231"/>
                  <a:pt x="12774" y="10310"/>
                </a:cubicBezTo>
                <a:cubicBezTo>
                  <a:pt x="12341" y="9896"/>
                  <a:pt x="11659" y="9896"/>
                  <a:pt x="11226" y="10310"/>
                </a:cubicBezTo>
                <a:cubicBezTo>
                  <a:pt x="10260" y="11232"/>
                  <a:pt x="8740" y="11232"/>
                  <a:pt x="7774" y="10310"/>
                </a:cubicBezTo>
                <a:cubicBezTo>
                  <a:pt x="7341" y="9895"/>
                  <a:pt x="6658" y="9895"/>
                  <a:pt x="6225" y="10310"/>
                </a:cubicBezTo>
                <a:cubicBezTo>
                  <a:pt x="5294" y="11198"/>
                  <a:pt x="3842" y="11235"/>
                  <a:pt x="2867" y="10395"/>
                </a:cubicBezTo>
                <a:cubicBezTo>
                  <a:pt x="1893" y="9556"/>
                  <a:pt x="1714" y="8114"/>
                  <a:pt x="2455" y="7062"/>
                </a:cubicBezTo>
                <a:lnTo>
                  <a:pt x="5344" y="2878"/>
                </a:lnTo>
                <a:cubicBezTo>
                  <a:pt x="5716" y="2329"/>
                  <a:pt x="6337" y="2000"/>
                  <a:pt x="7000" y="2000"/>
                </a:cubicBezTo>
                <a:lnTo>
                  <a:pt x="17000" y="2000"/>
                </a:lnTo>
                <a:cubicBezTo>
                  <a:pt x="17661" y="2000"/>
                  <a:pt x="18280" y="2327"/>
                  <a:pt x="18653" y="2873"/>
                </a:cubicBezTo>
                <a:lnTo>
                  <a:pt x="21548" y="7065"/>
                </a:lnTo>
                <a:cubicBezTo>
                  <a:pt x="22289" y="8118"/>
                  <a:pt x="22109" y="9561"/>
                  <a:pt x="21133" y="10400"/>
                </a:cubicBezTo>
                <a:cubicBezTo>
                  <a:pt x="20157" y="11239"/>
                  <a:pt x="18703" y="11199"/>
                  <a:pt x="17774" y="10309"/>
                </a:cubicBezTo>
                <a:moveTo>
                  <a:pt x="4000" y="10950"/>
                </a:moveTo>
                <a:lnTo>
                  <a:pt x="4000" y="19000"/>
                </a:lnTo>
                <a:cubicBezTo>
                  <a:pt x="4000" y="20105"/>
                  <a:pt x="4895" y="21000"/>
                  <a:pt x="6000" y="21000"/>
                </a:cubicBezTo>
                <a:lnTo>
                  <a:pt x="18000" y="21000"/>
                </a:lnTo>
                <a:cubicBezTo>
                  <a:pt x="19105" y="21000"/>
                  <a:pt x="20000" y="20105"/>
                  <a:pt x="20000" y="19000"/>
                </a:cubicBezTo>
                <a:lnTo>
                  <a:pt x="20000" y="10950"/>
                </a:lnTo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</p:sp>
      <p:sp>
        <p:nvSpPr>
          <p:cNvPr id="42" name="slot.key.2.icon"/>
          <p:cNvSpPr/>
          <p:nvPr/>
        </p:nvSpPr>
        <p:spPr>
          <a:xfrm>
            <a:off x="3296412" y="1430122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3000"/>
                </a:moveTo>
                <a:lnTo>
                  <a:pt x="12000" y="21000"/>
                </a:lnTo>
                <a:moveTo>
                  <a:pt x="19000" y="8000"/>
                </a:moveTo>
                <a:lnTo>
                  <a:pt x="22000" y="16000"/>
                </a:lnTo>
                <a:cubicBezTo>
                  <a:pt x="20222" y="17333"/>
                  <a:pt x="17778" y="17333"/>
                  <a:pt x="16000" y="16000"/>
                </a:cubicBezTo>
                <a:close/>
                <a:moveTo>
                  <a:pt x="19000" y="8000"/>
                </a:moveTo>
                <a:lnTo>
                  <a:pt x="19000" y="7000"/>
                </a:lnTo>
                <a:moveTo>
                  <a:pt x="3000" y="7000"/>
                </a:moveTo>
                <a:lnTo>
                  <a:pt x="4000" y="7000"/>
                </a:lnTo>
                <a:cubicBezTo>
                  <a:pt x="6790" y="7000"/>
                  <a:pt x="9538" y="6313"/>
                  <a:pt x="12000" y="5000"/>
                </a:cubicBezTo>
                <a:cubicBezTo>
                  <a:pt x="14462" y="6313"/>
                  <a:pt x="17210" y="7000"/>
                  <a:pt x="20000" y="7000"/>
                </a:cubicBezTo>
                <a:lnTo>
                  <a:pt x="21000" y="7000"/>
                </a:lnTo>
                <a:moveTo>
                  <a:pt x="5000" y="8000"/>
                </a:moveTo>
                <a:lnTo>
                  <a:pt x="8000" y="16000"/>
                </a:lnTo>
                <a:cubicBezTo>
                  <a:pt x="6222" y="17333"/>
                  <a:pt x="3778" y="17333"/>
                  <a:pt x="2000" y="16000"/>
                </a:cubicBezTo>
                <a:close/>
                <a:moveTo>
                  <a:pt x="5000" y="8000"/>
                </a:moveTo>
                <a:lnTo>
                  <a:pt x="5000" y="7000"/>
                </a:lnTo>
                <a:moveTo>
                  <a:pt x="7000" y="21000"/>
                </a:moveTo>
                <a:lnTo>
                  <a:pt x="17000" y="21000"/>
                </a:lnTo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</p:sp>
      <p:sp>
        <p:nvSpPr>
          <p:cNvPr id="43" name="slot.key.3.icon"/>
          <p:cNvSpPr/>
          <p:nvPr/>
        </p:nvSpPr>
        <p:spPr>
          <a:xfrm>
            <a:off x="9005011" y="1411834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8000" y="12000"/>
                </a:moveTo>
                <a:cubicBezTo>
                  <a:pt x="18000" y="15314"/>
                  <a:pt x="15314" y="18000"/>
                  <a:pt x="12000" y="18000"/>
                </a:cubicBezTo>
                <a:cubicBezTo>
                  <a:pt x="8686" y="18000"/>
                  <a:pt x="6000" y="15314"/>
                  <a:pt x="6000" y="12000"/>
                </a:cubicBezTo>
                <a:cubicBezTo>
                  <a:pt x="6000" y="8686"/>
                  <a:pt x="8686" y="6000"/>
                  <a:pt x="12000" y="6000"/>
                </a:cubicBezTo>
                <a:cubicBezTo>
                  <a:pt x="15314" y="6000"/>
                  <a:pt x="18000" y="8686"/>
                  <a:pt x="18000" y="12000"/>
                </a:cubicBezTo>
                <a:close/>
                <a:moveTo>
                  <a:pt x="14000" y="12000"/>
                </a:moveTo>
                <a:cubicBezTo>
                  <a:pt x="14000" y="13105"/>
                  <a:pt x="13105" y="14000"/>
                  <a:pt x="12000" y="14000"/>
                </a:cubicBezTo>
                <a:cubicBezTo>
                  <a:pt x="10895" y="14000"/>
                  <a:pt x="10000" y="13105"/>
                  <a:pt x="10000" y="12000"/>
                </a:cubicBezTo>
                <a:cubicBezTo>
                  <a:pt x="10000" y="10895"/>
                  <a:pt x="10895" y="10000"/>
                  <a:pt x="12000" y="10000"/>
                </a:cubicBezTo>
                <a:cubicBezTo>
                  <a:pt x="13105" y="10000"/>
                  <a:pt x="14000" y="10895"/>
                  <a:pt x="14000" y="12000"/>
                </a:cubicBezTo>
                <a:close/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</p:sp>
      <p:sp>
        <p:nvSpPr>
          <p:cNvPr id="44" name="slot.key.1.icon.1"/>
          <p:cNvSpPr/>
          <p:nvPr/>
        </p:nvSpPr>
        <p:spPr>
          <a:xfrm>
            <a:off x="1098194" y="1420520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</p:sp>
      <p:sp>
        <p:nvSpPr>
          <p:cNvPr id="45" name="struct.agent.1.disc"/>
          <p:cNvSpPr/>
          <p:nvPr/>
        </p:nvSpPr>
        <p:spPr>
          <a:xfrm>
            <a:off x="1017592" y="2587751"/>
            <a:ext cx="329184" cy="329184"/>
          </a:xfrm>
          <a:prstGeom prst="ellipse">
            <a:avLst/>
          </a:prstGeom>
          <a:solidFill>
            <a:schemeClr val="accent1"/>
          </a:solidFill>
          <a:ln w="927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46" name="slot.agent.1.icon"/>
          <p:cNvSpPr/>
          <p:nvPr/>
        </p:nvSpPr>
        <p:spPr>
          <a:xfrm>
            <a:off x="1081600" y="2651760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bg1"/>
            </a:solidFill>
            <a:round/>
          </a:ln>
          <a:effectLst/>
        </p:spPr>
      </p:sp>
      <p:sp>
        <p:nvSpPr>
          <p:cNvPr id="47" name="slot.agent.1.name"/>
          <p:cNvSpPr txBox="1"/>
          <p:nvPr/>
        </p:nvSpPr>
        <p:spPr>
          <a:xfrm>
            <a:off x="1419928" y="2560320"/>
            <a:ext cx="126816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Forecast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slot.agent.1.task"/>
          <p:cNvSpPr txBox="1"/>
          <p:nvPr/>
        </p:nvSpPr>
        <p:spPr>
          <a:xfrm>
            <a:off x="1419928" y="2761488"/>
            <a:ext cx="126816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Demand signal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struct.agent.2.disc"/>
          <p:cNvSpPr/>
          <p:nvPr/>
        </p:nvSpPr>
        <p:spPr>
          <a:xfrm>
            <a:off x="1017592" y="3026663"/>
            <a:ext cx="329184" cy="329184"/>
          </a:xfrm>
          <a:prstGeom prst="ellipse">
            <a:avLst/>
          </a:prstGeom>
          <a:solidFill>
            <a:schemeClr val="bg1"/>
          </a:solidFill>
          <a:ln w="92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50" name="slot.agent.2.icon"/>
          <p:cNvSpPr/>
          <p:nvPr/>
        </p:nvSpPr>
        <p:spPr>
          <a:xfrm>
            <a:off x="1081600" y="3090672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</p:sp>
      <p:sp>
        <p:nvSpPr>
          <p:cNvPr id="51" name="slot.agent.2.name"/>
          <p:cNvSpPr txBox="1"/>
          <p:nvPr/>
        </p:nvSpPr>
        <p:spPr>
          <a:xfrm>
            <a:off x="1419928" y="2999232"/>
            <a:ext cx="126816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Stock risk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slot.agent.2.task"/>
          <p:cNvSpPr txBox="1"/>
          <p:nvPr/>
        </p:nvSpPr>
        <p:spPr>
          <a:xfrm>
            <a:off x="1419928" y="3200400"/>
            <a:ext cx="126816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Stock-out watch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struct.agent.3.disc"/>
          <p:cNvSpPr/>
          <p:nvPr/>
        </p:nvSpPr>
        <p:spPr>
          <a:xfrm>
            <a:off x="1017592" y="3465575"/>
            <a:ext cx="329184" cy="329184"/>
          </a:xfrm>
          <a:prstGeom prst="ellipse">
            <a:avLst/>
          </a:prstGeom>
          <a:solidFill>
            <a:schemeClr val="bg1"/>
          </a:solidFill>
          <a:ln w="92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54" name="slot.agent.3.icon"/>
          <p:cNvSpPr/>
          <p:nvPr/>
        </p:nvSpPr>
        <p:spPr>
          <a:xfrm>
            <a:off x="1081600" y="3529584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</p:sp>
      <p:sp>
        <p:nvSpPr>
          <p:cNvPr id="55" name="slot.agent.3.name"/>
          <p:cNvSpPr txBox="1"/>
          <p:nvPr/>
        </p:nvSpPr>
        <p:spPr>
          <a:xfrm>
            <a:off x="1419928" y="3438144"/>
            <a:ext cx="126816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Bias check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lot.agent.3.task"/>
          <p:cNvSpPr txBox="1"/>
          <p:nvPr/>
        </p:nvSpPr>
        <p:spPr>
          <a:xfrm>
            <a:off x="1419928" y="3639312"/>
            <a:ext cx="126816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Regional alerts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struct.agent.4.disc"/>
          <p:cNvSpPr/>
          <p:nvPr/>
        </p:nvSpPr>
        <p:spPr>
          <a:xfrm>
            <a:off x="1017592" y="3904488"/>
            <a:ext cx="329184" cy="329184"/>
          </a:xfrm>
          <a:prstGeom prst="ellipse">
            <a:avLst/>
          </a:prstGeom>
          <a:solidFill>
            <a:schemeClr val="bg1">
              <a:lumMod val="55000"/>
            </a:schemeClr>
          </a:solidFill>
          <a:ln w="927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58" name="slot.agent.4.icon"/>
          <p:cNvSpPr/>
          <p:nvPr/>
        </p:nvSpPr>
        <p:spPr>
          <a:xfrm>
            <a:off x="1081600" y="3968496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bg1"/>
            </a:solidFill>
            <a:round/>
          </a:ln>
          <a:effectLst/>
        </p:spPr>
      </p:sp>
      <p:sp>
        <p:nvSpPr>
          <p:cNvPr id="59" name="slot.agent.4.name"/>
          <p:cNvSpPr txBox="1"/>
          <p:nvPr/>
        </p:nvSpPr>
        <p:spPr>
          <a:xfrm>
            <a:off x="1419928" y="3877056"/>
            <a:ext cx="126816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Supply plan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slot.agent.4.task"/>
          <p:cNvSpPr txBox="1"/>
          <p:nvPr/>
        </p:nvSpPr>
        <p:spPr>
          <a:xfrm>
            <a:off x="1419928" y="4078224"/>
            <a:ext cx="126816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Weekly build plan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struct.agent.5.disc"/>
          <p:cNvSpPr/>
          <p:nvPr/>
        </p:nvSpPr>
        <p:spPr>
          <a:xfrm>
            <a:off x="3090540" y="2587751"/>
            <a:ext cx="329184" cy="329184"/>
          </a:xfrm>
          <a:prstGeom prst="ellipse">
            <a:avLst/>
          </a:prstGeom>
          <a:solidFill>
            <a:schemeClr val="bg1">
              <a:lumMod val="55000"/>
            </a:schemeClr>
          </a:solidFill>
          <a:ln w="927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62" name="slot.agent.5.icon"/>
          <p:cNvSpPr/>
          <p:nvPr/>
        </p:nvSpPr>
        <p:spPr>
          <a:xfrm>
            <a:off x="3154548" y="2651760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bg1"/>
            </a:solidFill>
            <a:round/>
          </a:ln>
          <a:effectLst/>
        </p:spPr>
      </p:sp>
      <p:sp>
        <p:nvSpPr>
          <p:cNvPr id="63" name="slot.agent.5.name"/>
          <p:cNvSpPr txBox="1"/>
          <p:nvPr/>
        </p:nvSpPr>
        <p:spPr>
          <a:xfrm>
            <a:off x="3492876" y="2560320"/>
            <a:ext cx="141256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Price guardrail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slot.agent.5.task"/>
          <p:cNvSpPr txBox="1"/>
          <p:nvPr/>
        </p:nvSpPr>
        <p:spPr>
          <a:xfrm>
            <a:off x="3492876" y="2761488"/>
            <a:ext cx="141256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Discount floors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struct.agent.6.disc"/>
          <p:cNvSpPr/>
          <p:nvPr/>
        </p:nvSpPr>
        <p:spPr>
          <a:xfrm>
            <a:off x="3090540" y="3026663"/>
            <a:ext cx="329184" cy="329184"/>
          </a:xfrm>
          <a:prstGeom prst="ellipse">
            <a:avLst/>
          </a:prstGeom>
          <a:solidFill>
            <a:schemeClr val="bg1"/>
          </a:solidFill>
          <a:ln w="92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66" name="slot.agent.6.icon"/>
          <p:cNvSpPr/>
          <p:nvPr/>
        </p:nvSpPr>
        <p:spPr>
          <a:xfrm>
            <a:off x="3154548" y="3090672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</p:sp>
      <p:sp>
        <p:nvSpPr>
          <p:cNvPr id="67" name="slot.agent.6.name"/>
          <p:cNvSpPr txBox="1"/>
          <p:nvPr/>
        </p:nvSpPr>
        <p:spPr>
          <a:xfrm>
            <a:off x="3492876" y="2999232"/>
            <a:ext cx="141256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Deal desk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slot.agent.6.task"/>
          <p:cNvSpPr txBox="1"/>
          <p:nvPr/>
        </p:nvSpPr>
        <p:spPr>
          <a:xfrm>
            <a:off x="3492876" y="3200400"/>
            <a:ext cx="141256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Triage requests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struct.agent.7.disc"/>
          <p:cNvSpPr/>
          <p:nvPr/>
        </p:nvSpPr>
        <p:spPr>
          <a:xfrm>
            <a:off x="3090540" y="3465575"/>
            <a:ext cx="329184" cy="329184"/>
          </a:xfrm>
          <a:prstGeom prst="ellipse">
            <a:avLst/>
          </a:prstGeom>
          <a:solidFill>
            <a:schemeClr val="bg1"/>
          </a:solidFill>
          <a:ln w="92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70" name="slot.agent.7.icon"/>
          <p:cNvSpPr/>
          <p:nvPr/>
        </p:nvSpPr>
        <p:spPr>
          <a:xfrm>
            <a:off x="3154548" y="3529584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</p:sp>
      <p:sp>
        <p:nvSpPr>
          <p:cNvPr id="71" name="slot.agent.7.name"/>
          <p:cNvSpPr txBox="1"/>
          <p:nvPr/>
        </p:nvSpPr>
        <p:spPr>
          <a:xfrm>
            <a:off x="3492876" y="3438144"/>
            <a:ext cx="141256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Price watch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slot.agent.7.task"/>
          <p:cNvSpPr txBox="1"/>
          <p:nvPr/>
        </p:nvSpPr>
        <p:spPr>
          <a:xfrm>
            <a:off x="3492876" y="3639312"/>
            <a:ext cx="141256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Competitor moves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struct.agent.8.disc"/>
          <p:cNvSpPr/>
          <p:nvPr/>
        </p:nvSpPr>
        <p:spPr>
          <a:xfrm>
            <a:off x="3090540" y="3904488"/>
            <a:ext cx="329184" cy="329184"/>
          </a:xfrm>
          <a:prstGeom prst="ellipse">
            <a:avLst/>
          </a:prstGeom>
          <a:solidFill>
            <a:schemeClr val="bg1"/>
          </a:solidFill>
          <a:ln w="92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74" name="slot.agent.8.icon"/>
          <p:cNvSpPr/>
          <p:nvPr/>
        </p:nvSpPr>
        <p:spPr>
          <a:xfrm>
            <a:off x="3154548" y="3968496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</p:sp>
      <p:sp>
        <p:nvSpPr>
          <p:cNvPr id="75" name="slot.agent.8.name"/>
          <p:cNvSpPr txBox="1"/>
          <p:nvPr/>
        </p:nvSpPr>
        <p:spPr>
          <a:xfrm>
            <a:off x="3492876" y="3877056"/>
            <a:ext cx="141256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Rebate check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slot.agent.8.task"/>
          <p:cNvSpPr txBox="1"/>
          <p:nvPr/>
        </p:nvSpPr>
        <p:spPr>
          <a:xfrm>
            <a:off x="3492876" y="4078224"/>
            <a:ext cx="141256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Accrual review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struct.agent.9.disc"/>
          <p:cNvSpPr/>
          <p:nvPr/>
        </p:nvSpPr>
        <p:spPr>
          <a:xfrm>
            <a:off x="5261986" y="2587751"/>
            <a:ext cx="329184" cy="329184"/>
          </a:xfrm>
          <a:prstGeom prst="ellipse">
            <a:avLst/>
          </a:prstGeom>
          <a:solidFill>
            <a:schemeClr val="accent1"/>
          </a:solidFill>
          <a:ln w="927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78" name="slot.agent.9.icon"/>
          <p:cNvSpPr/>
          <p:nvPr/>
        </p:nvSpPr>
        <p:spPr>
          <a:xfrm>
            <a:off x="5325995" y="2651760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bg1"/>
            </a:solidFill>
            <a:round/>
          </a:ln>
          <a:effectLst/>
        </p:spPr>
      </p:sp>
      <p:sp>
        <p:nvSpPr>
          <p:cNvPr id="79" name="slot.agent.9.name"/>
          <p:cNvSpPr txBox="1"/>
          <p:nvPr/>
        </p:nvSpPr>
        <p:spPr>
          <a:xfrm>
            <a:off x="5664323" y="2560320"/>
            <a:ext cx="126816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Visit planner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slot.agent.9.task"/>
          <p:cNvSpPr txBox="1"/>
          <p:nvPr/>
        </p:nvSpPr>
        <p:spPr>
          <a:xfrm>
            <a:off x="5664323" y="2761488"/>
            <a:ext cx="126816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Daily store route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struct.agent.10.disc"/>
          <p:cNvSpPr/>
          <p:nvPr/>
        </p:nvSpPr>
        <p:spPr>
          <a:xfrm>
            <a:off x="5261986" y="3026663"/>
            <a:ext cx="329184" cy="329184"/>
          </a:xfrm>
          <a:prstGeom prst="ellipse">
            <a:avLst/>
          </a:prstGeom>
          <a:solidFill>
            <a:schemeClr val="accent1"/>
          </a:solidFill>
          <a:ln w="927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82" name="slot.agent.10.icon"/>
          <p:cNvSpPr/>
          <p:nvPr/>
        </p:nvSpPr>
        <p:spPr>
          <a:xfrm>
            <a:off x="5325995" y="3090672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bg1"/>
            </a:solidFill>
            <a:round/>
          </a:ln>
          <a:effectLst/>
        </p:spPr>
      </p:sp>
      <p:sp>
        <p:nvSpPr>
          <p:cNvPr id="83" name="slot.agent.10.name"/>
          <p:cNvSpPr txBox="1"/>
          <p:nvPr/>
        </p:nvSpPr>
        <p:spPr>
          <a:xfrm>
            <a:off x="5664323" y="2999232"/>
            <a:ext cx="126816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Shelf scan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slot.agent.10.task"/>
          <p:cNvSpPr txBox="1"/>
          <p:nvPr/>
        </p:nvSpPr>
        <p:spPr>
          <a:xfrm>
            <a:off x="5664323" y="3200400"/>
            <a:ext cx="126816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Gap alerts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struct.agent.11.disc"/>
          <p:cNvSpPr/>
          <p:nvPr/>
        </p:nvSpPr>
        <p:spPr>
          <a:xfrm>
            <a:off x="5261986" y="3465575"/>
            <a:ext cx="329184" cy="329184"/>
          </a:xfrm>
          <a:prstGeom prst="ellipse">
            <a:avLst/>
          </a:prstGeom>
          <a:solidFill>
            <a:schemeClr val="accent1"/>
          </a:solidFill>
          <a:ln w="927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86" name="slot.agent.11.icon"/>
          <p:cNvSpPr/>
          <p:nvPr/>
        </p:nvSpPr>
        <p:spPr>
          <a:xfrm>
            <a:off x="5325995" y="3529584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bg1"/>
            </a:solidFill>
            <a:round/>
          </a:ln>
          <a:effectLst/>
        </p:spPr>
      </p:sp>
      <p:sp>
        <p:nvSpPr>
          <p:cNvPr id="87" name="slot.agent.11.name"/>
          <p:cNvSpPr txBox="1"/>
          <p:nvPr/>
        </p:nvSpPr>
        <p:spPr>
          <a:xfrm>
            <a:off x="5664323" y="3438144"/>
            <a:ext cx="126816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Order capture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slot.agent.11.task"/>
          <p:cNvSpPr txBox="1"/>
          <p:nvPr/>
        </p:nvSpPr>
        <p:spPr>
          <a:xfrm>
            <a:off x="5664323" y="3639312"/>
            <a:ext cx="126816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Voice and email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struct.agent.12.disc"/>
          <p:cNvSpPr/>
          <p:nvPr/>
        </p:nvSpPr>
        <p:spPr>
          <a:xfrm>
            <a:off x="5261986" y="3904488"/>
            <a:ext cx="329184" cy="329184"/>
          </a:xfrm>
          <a:prstGeom prst="ellipse">
            <a:avLst/>
          </a:prstGeom>
          <a:solidFill>
            <a:schemeClr val="bg1"/>
          </a:solidFill>
          <a:ln w="92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90" name="slot.agent.12.icon"/>
          <p:cNvSpPr/>
          <p:nvPr/>
        </p:nvSpPr>
        <p:spPr>
          <a:xfrm>
            <a:off x="5325995" y="3968496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</p:sp>
      <p:sp>
        <p:nvSpPr>
          <p:cNvPr id="91" name="slot.agent.12.name"/>
          <p:cNvSpPr txBox="1"/>
          <p:nvPr/>
        </p:nvSpPr>
        <p:spPr>
          <a:xfrm>
            <a:off x="5664323" y="3877056"/>
            <a:ext cx="126816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Call notes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slot.agent.12.task"/>
          <p:cNvSpPr txBox="1"/>
          <p:nvPr/>
        </p:nvSpPr>
        <p:spPr>
          <a:xfrm>
            <a:off x="5664323" y="4078224"/>
            <a:ext cx="126816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Visit summaries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struct.agent.13.disc"/>
          <p:cNvSpPr/>
          <p:nvPr/>
        </p:nvSpPr>
        <p:spPr>
          <a:xfrm>
            <a:off x="7372460" y="2587751"/>
            <a:ext cx="329184" cy="329184"/>
          </a:xfrm>
          <a:prstGeom prst="ellipse">
            <a:avLst/>
          </a:prstGeom>
          <a:solidFill>
            <a:schemeClr val="bg1"/>
          </a:solidFill>
          <a:ln w="92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94" name="slot.agent.13.icon"/>
          <p:cNvSpPr/>
          <p:nvPr/>
        </p:nvSpPr>
        <p:spPr>
          <a:xfrm>
            <a:off x="7436468" y="2651760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</p:sp>
      <p:sp>
        <p:nvSpPr>
          <p:cNvPr id="95" name="slot.agent.13.name"/>
          <p:cNvSpPr txBox="1"/>
          <p:nvPr/>
        </p:nvSpPr>
        <p:spPr>
          <a:xfrm>
            <a:off x="7774796" y="2560320"/>
            <a:ext cx="126816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Promo check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slot.agent.13.task"/>
          <p:cNvSpPr txBox="1"/>
          <p:nvPr/>
        </p:nvSpPr>
        <p:spPr>
          <a:xfrm>
            <a:off x="7774796" y="2761488"/>
            <a:ext cx="126816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Uplift readout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struct.agent.14.disc"/>
          <p:cNvSpPr/>
          <p:nvPr/>
        </p:nvSpPr>
        <p:spPr>
          <a:xfrm>
            <a:off x="7372460" y="3026663"/>
            <a:ext cx="329184" cy="329184"/>
          </a:xfrm>
          <a:prstGeom prst="ellipse">
            <a:avLst/>
          </a:prstGeom>
          <a:solidFill>
            <a:schemeClr val="bg1"/>
          </a:solidFill>
          <a:ln w="92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98" name="slot.agent.14.icon"/>
          <p:cNvSpPr/>
          <p:nvPr/>
        </p:nvSpPr>
        <p:spPr>
          <a:xfrm>
            <a:off x="7436468" y="3090672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</p:sp>
      <p:sp>
        <p:nvSpPr>
          <p:cNvPr id="99" name="slot.agent.14.name"/>
          <p:cNvSpPr txBox="1"/>
          <p:nvPr/>
        </p:nvSpPr>
        <p:spPr>
          <a:xfrm>
            <a:off x="7774796" y="2999232"/>
            <a:ext cx="126816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Claim audit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slot.agent.14.task"/>
          <p:cNvSpPr txBox="1"/>
          <p:nvPr/>
        </p:nvSpPr>
        <p:spPr>
          <a:xfrm>
            <a:off x="7774796" y="3200400"/>
            <a:ext cx="126816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Deduction review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struct.agent.15.disc"/>
          <p:cNvSpPr/>
          <p:nvPr/>
        </p:nvSpPr>
        <p:spPr>
          <a:xfrm>
            <a:off x="7372460" y="3465575"/>
            <a:ext cx="329184" cy="329184"/>
          </a:xfrm>
          <a:prstGeom prst="ellipse">
            <a:avLst/>
          </a:prstGeom>
          <a:solidFill>
            <a:schemeClr val="bg1"/>
          </a:solidFill>
          <a:ln w="92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102" name="slot.agent.15.icon"/>
          <p:cNvSpPr/>
          <p:nvPr/>
        </p:nvSpPr>
        <p:spPr>
          <a:xfrm>
            <a:off x="7436468" y="3529584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</p:sp>
      <p:sp>
        <p:nvSpPr>
          <p:cNvPr id="103" name="slot.agent.15.name"/>
          <p:cNvSpPr txBox="1"/>
          <p:nvPr/>
        </p:nvSpPr>
        <p:spPr>
          <a:xfrm>
            <a:off x="7774796" y="3438144"/>
            <a:ext cx="126816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Event plan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slot.agent.15.task"/>
          <p:cNvSpPr txBox="1"/>
          <p:nvPr/>
        </p:nvSpPr>
        <p:spPr>
          <a:xfrm>
            <a:off x="7774796" y="3639312"/>
            <a:ext cx="126816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Calendar fit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struct.agent.16.disc"/>
          <p:cNvSpPr/>
          <p:nvPr/>
        </p:nvSpPr>
        <p:spPr>
          <a:xfrm>
            <a:off x="7372460" y="3904488"/>
            <a:ext cx="329184" cy="329184"/>
          </a:xfrm>
          <a:prstGeom prst="ellipse">
            <a:avLst/>
          </a:prstGeom>
          <a:solidFill>
            <a:schemeClr val="bg1">
              <a:lumMod val="55000"/>
            </a:schemeClr>
          </a:solidFill>
          <a:ln w="927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106" name="slot.agent.16.icon"/>
          <p:cNvSpPr/>
          <p:nvPr/>
        </p:nvSpPr>
        <p:spPr>
          <a:xfrm>
            <a:off x="7436468" y="3968496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bg1"/>
            </a:solidFill>
            <a:round/>
          </a:ln>
          <a:effectLst/>
        </p:spPr>
      </p:sp>
      <p:sp>
        <p:nvSpPr>
          <p:cNvPr id="107" name="slot.agent.16.name"/>
          <p:cNvSpPr txBox="1"/>
          <p:nvPr/>
        </p:nvSpPr>
        <p:spPr>
          <a:xfrm>
            <a:off x="7774796" y="3877056"/>
            <a:ext cx="126816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Display check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slot.agent.16.task"/>
          <p:cNvSpPr txBox="1"/>
          <p:nvPr/>
        </p:nvSpPr>
        <p:spPr>
          <a:xfrm>
            <a:off x="7774796" y="4078224"/>
            <a:ext cx="126816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In-store proof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struct.agent.17.disc"/>
          <p:cNvSpPr/>
          <p:nvPr/>
        </p:nvSpPr>
        <p:spPr>
          <a:xfrm>
            <a:off x="9482933" y="2587751"/>
            <a:ext cx="329184" cy="329184"/>
          </a:xfrm>
          <a:prstGeom prst="ellipse">
            <a:avLst/>
          </a:prstGeom>
          <a:solidFill>
            <a:schemeClr val="accent1"/>
          </a:solidFill>
          <a:ln w="927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110" name="slot.agent.17.icon"/>
          <p:cNvSpPr/>
          <p:nvPr/>
        </p:nvSpPr>
        <p:spPr>
          <a:xfrm>
            <a:off x="9546941" y="2651760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bg1"/>
            </a:solidFill>
            <a:round/>
          </a:ln>
          <a:effectLst/>
        </p:spPr>
      </p:sp>
      <p:sp>
        <p:nvSpPr>
          <p:cNvPr id="111" name="slot.agent.17.name"/>
          <p:cNvSpPr txBox="1"/>
          <p:nvPr/>
        </p:nvSpPr>
        <p:spPr>
          <a:xfrm>
            <a:off x="9885269" y="2560320"/>
            <a:ext cx="126816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Order status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slot.agent.17.task"/>
          <p:cNvSpPr txBox="1"/>
          <p:nvPr/>
        </p:nvSpPr>
        <p:spPr>
          <a:xfrm>
            <a:off x="9885269" y="2761488"/>
            <a:ext cx="126816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Delay notices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struct.agent.18.disc"/>
          <p:cNvSpPr/>
          <p:nvPr/>
        </p:nvSpPr>
        <p:spPr>
          <a:xfrm>
            <a:off x="9482933" y="3026663"/>
            <a:ext cx="329184" cy="329184"/>
          </a:xfrm>
          <a:prstGeom prst="ellipse">
            <a:avLst/>
          </a:prstGeom>
          <a:solidFill>
            <a:schemeClr val="bg1"/>
          </a:solidFill>
          <a:ln w="92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114" name="slot.agent.18.icon"/>
          <p:cNvSpPr/>
          <p:nvPr/>
        </p:nvSpPr>
        <p:spPr>
          <a:xfrm>
            <a:off x="9546941" y="3090672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</p:sp>
      <p:sp>
        <p:nvSpPr>
          <p:cNvPr id="115" name="slot.agent.18.name"/>
          <p:cNvSpPr txBox="1"/>
          <p:nvPr/>
        </p:nvSpPr>
        <p:spPr>
          <a:xfrm>
            <a:off x="9885269" y="2999232"/>
            <a:ext cx="126816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Returns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slot.agent.18.task"/>
          <p:cNvSpPr txBox="1"/>
          <p:nvPr/>
        </p:nvSpPr>
        <p:spPr>
          <a:xfrm>
            <a:off x="9885269" y="3200400"/>
            <a:ext cx="126816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Credit notes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struct.agent.19.disc"/>
          <p:cNvSpPr/>
          <p:nvPr/>
        </p:nvSpPr>
        <p:spPr>
          <a:xfrm>
            <a:off x="9482933" y="3465575"/>
            <a:ext cx="329184" cy="329184"/>
          </a:xfrm>
          <a:prstGeom prst="ellipse">
            <a:avLst/>
          </a:prstGeom>
          <a:solidFill>
            <a:schemeClr val="bg1">
              <a:lumMod val="55000"/>
            </a:schemeClr>
          </a:solidFill>
          <a:ln w="927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118" name="slot.agent.19.icon"/>
          <p:cNvSpPr/>
          <p:nvPr/>
        </p:nvSpPr>
        <p:spPr>
          <a:xfrm>
            <a:off x="9546941" y="3529584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bg1"/>
            </a:solidFill>
            <a:round/>
          </a:ln>
          <a:effectLst/>
        </p:spPr>
      </p:sp>
      <p:sp>
        <p:nvSpPr>
          <p:cNvPr id="119" name="slot.agent.19.name"/>
          <p:cNvSpPr txBox="1"/>
          <p:nvPr/>
        </p:nvSpPr>
        <p:spPr>
          <a:xfrm>
            <a:off x="9885269" y="3438144"/>
            <a:ext cx="126816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Claims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slot.agent.19.task"/>
          <p:cNvSpPr txBox="1"/>
          <p:nvPr/>
        </p:nvSpPr>
        <p:spPr>
          <a:xfrm>
            <a:off x="9885269" y="3639312"/>
            <a:ext cx="126816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Intake and routing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struct.agent.20.disc"/>
          <p:cNvSpPr/>
          <p:nvPr/>
        </p:nvSpPr>
        <p:spPr>
          <a:xfrm>
            <a:off x="9482933" y="3904488"/>
            <a:ext cx="329184" cy="329184"/>
          </a:xfrm>
          <a:prstGeom prst="ellipse">
            <a:avLst/>
          </a:prstGeom>
          <a:solidFill>
            <a:schemeClr val="bg1"/>
          </a:solidFill>
          <a:ln w="92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122" name="slot.agent.20.icon"/>
          <p:cNvSpPr/>
          <p:nvPr/>
        </p:nvSpPr>
        <p:spPr>
          <a:xfrm>
            <a:off x="9546941" y="3968496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</p:sp>
      <p:sp>
        <p:nvSpPr>
          <p:cNvPr id="123" name="slot.agent.20.name"/>
          <p:cNvSpPr txBox="1"/>
          <p:nvPr/>
        </p:nvSpPr>
        <p:spPr>
          <a:xfrm>
            <a:off x="9885269" y="3877056"/>
            <a:ext cx="126816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Case summary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slot.agent.20.task"/>
          <p:cNvSpPr txBox="1"/>
          <p:nvPr/>
        </p:nvSpPr>
        <p:spPr>
          <a:xfrm>
            <a:off x="9885269" y="4078224"/>
            <a:ext cx="126816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Handover notes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struct.feed.1"/>
          <p:cNvSpPr/>
          <p:nvPr/>
        </p:nvSpPr>
        <p:spPr>
          <a:xfrm>
            <a:off x="1834552" y="4325112"/>
            <a:ext cx="4244395" cy="237744"/>
          </a:xfrm>
          <a:custGeom>
            <a:avLst/>
            <a:gdLst/>
            <a:ahLst/>
            <a:cxnLst/>
            <a:rect l="l" t="t" r="r" b="b"/>
            <a:pathLst>
              <a:path w="4244395" h="237744" fill="none">
                <a:moveTo>
                  <a:pt x="4244395" y="0"/>
                </a:moveTo>
                <a:lnTo>
                  <a:pt x="4244395" y="237744"/>
                </a:lnTo>
                <a:lnTo>
                  <a:pt x="0" y="237744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chemeClr val="accent1"/>
            </a:solidFill>
            <a:miter lim="800000"/>
            <a:tailEnd type="triangle" w="med" len="med"/>
          </a:ln>
          <a:effectLst/>
        </p:spPr>
      </p:sp>
      <p:sp>
        <p:nvSpPr>
          <p:cNvPr id="126" name="struct.feed.2"/>
          <p:cNvSpPr/>
          <p:nvPr/>
        </p:nvSpPr>
        <p:spPr>
          <a:xfrm>
            <a:off x="3979700" y="4325112"/>
            <a:ext cx="2099247" cy="237744"/>
          </a:xfrm>
          <a:custGeom>
            <a:avLst/>
            <a:gdLst/>
            <a:ahLst/>
            <a:cxnLst/>
            <a:rect l="l" t="t" r="r" b="b"/>
            <a:pathLst>
              <a:path w="2099247" h="237744" fill="none">
                <a:moveTo>
                  <a:pt x="2099247" y="0"/>
                </a:moveTo>
                <a:lnTo>
                  <a:pt x="2099247" y="237744"/>
                </a:lnTo>
                <a:lnTo>
                  <a:pt x="0" y="237744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chemeClr val="accent1"/>
            </a:solidFill>
            <a:miter lim="800000"/>
            <a:tailEnd type="triangle" w="med" len="med"/>
          </a:ln>
          <a:effectLst/>
        </p:spPr>
      </p:sp>
      <p:sp>
        <p:nvSpPr>
          <p:cNvPr id="127" name="struct.feed.4"/>
          <p:cNvSpPr/>
          <p:nvPr/>
        </p:nvSpPr>
        <p:spPr>
          <a:xfrm>
            <a:off x="6078947" y="4325112"/>
            <a:ext cx="2110473" cy="237744"/>
          </a:xfrm>
          <a:custGeom>
            <a:avLst/>
            <a:gdLst/>
            <a:ahLst/>
            <a:cxnLst/>
            <a:rect l="l" t="t" r="r" b="b"/>
            <a:pathLst>
              <a:path w="2110473" h="237744" fill="none">
                <a:moveTo>
                  <a:pt x="0" y="0"/>
                </a:moveTo>
                <a:lnTo>
                  <a:pt x="0" y="237744"/>
                </a:lnTo>
                <a:lnTo>
                  <a:pt x="2110473" y="237744"/>
                </a:lnTo>
                <a:lnTo>
                  <a:pt x="2110473" y="0"/>
                </a:lnTo>
              </a:path>
            </a:pathLst>
          </a:custGeom>
          <a:noFill/>
          <a:ln w="19050">
            <a:solidFill>
              <a:schemeClr val="accent1"/>
            </a:solidFill>
            <a:miter lim="800000"/>
            <a:tailEnd type="triangle" w="med" len="med"/>
          </a:ln>
          <a:effectLst/>
        </p:spPr>
      </p:sp>
      <p:sp>
        <p:nvSpPr>
          <p:cNvPr id="128" name="struct.feed.5"/>
          <p:cNvSpPr/>
          <p:nvPr/>
        </p:nvSpPr>
        <p:spPr>
          <a:xfrm>
            <a:off x="6078947" y="4325112"/>
            <a:ext cx="4220946" cy="237744"/>
          </a:xfrm>
          <a:custGeom>
            <a:avLst/>
            <a:gdLst/>
            <a:ahLst/>
            <a:cxnLst/>
            <a:rect l="l" t="t" r="r" b="b"/>
            <a:pathLst>
              <a:path w="4220946" h="237744" fill="none">
                <a:moveTo>
                  <a:pt x="0" y="0"/>
                </a:moveTo>
                <a:lnTo>
                  <a:pt x="0" y="237744"/>
                </a:lnTo>
                <a:lnTo>
                  <a:pt x="4220946" y="237744"/>
                </a:lnTo>
                <a:lnTo>
                  <a:pt x="4220946" y="0"/>
                </a:lnTo>
              </a:path>
            </a:pathLst>
          </a:custGeom>
          <a:noFill/>
          <a:ln w="19050">
            <a:solidFill>
              <a:schemeClr val="accent1"/>
            </a:solidFill>
            <a:miter lim="800000"/>
            <a:tailEnd type="triangle" w="med" len="med"/>
          </a:ln>
          <a:effectLst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value-horizons:s-curve-vignettes">
    <p:spTree>
      <p:nvGrpSpPr>
        <p:cNvPr id="1" name=""/>
        <p:cNvGrpSpPr/>
        <p:nvPr/>
      </p:nvGrpSpPr>
      <p:grpSpPr/>
      <p:sp>
        <p:nvSpPr>
          <p:cNvPr id="2" name="struct.climb.area.1"/>
          <p:cNvSpPr/>
          <p:nvPr/>
        </p:nvSpPr>
        <p:spPr>
          <a:xfrm>
            <a:off x="721982" y="4042186"/>
            <a:ext cx="2426986" cy="1334485"/>
          </a:xfrm>
          <a:custGeom>
            <a:avLst/>
            <a:gdLst/>
            <a:ahLst/>
            <a:cxnLst/>
            <a:rect l="0" t="0" r="r" b="b"/>
            <a:pathLst>
              <a:path w="2460435" h="1334485">
                <a:moveTo>
                  <a:pt x="0" y="933698"/>
                </a:moveTo>
                <a:lnTo>
                  <a:pt x="31714" y="928310"/>
                </a:lnTo>
                <a:lnTo>
                  <a:pt x="63407" y="922694"/>
                </a:lnTo>
                <a:lnTo>
                  <a:pt x="95080" y="916852"/>
                </a:lnTo>
                <a:lnTo>
                  <a:pt x="126734" y="910786"/>
                </a:lnTo>
                <a:lnTo>
                  <a:pt x="158371" y="904501"/>
                </a:lnTo>
                <a:lnTo>
                  <a:pt x="189990" y="897998"/>
                </a:lnTo>
                <a:lnTo>
                  <a:pt x="221594" y="891280"/>
                </a:lnTo>
                <a:lnTo>
                  <a:pt x="253183" y="884351"/>
                </a:lnTo>
                <a:lnTo>
                  <a:pt x="284759" y="877212"/>
                </a:lnTo>
                <a:lnTo>
                  <a:pt x="316323" y="869867"/>
                </a:lnTo>
                <a:lnTo>
                  <a:pt x="347875" y="862318"/>
                </a:lnTo>
                <a:lnTo>
                  <a:pt x="379418" y="854569"/>
                </a:lnTo>
                <a:lnTo>
                  <a:pt x="410951" y="846622"/>
                </a:lnTo>
                <a:lnTo>
                  <a:pt x="442477" y="838479"/>
                </a:lnTo>
                <a:lnTo>
                  <a:pt x="473996" y="830144"/>
                </a:lnTo>
                <a:lnTo>
                  <a:pt x="505509" y="821619"/>
                </a:lnTo>
                <a:lnTo>
                  <a:pt x="537018" y="812908"/>
                </a:lnTo>
                <a:lnTo>
                  <a:pt x="568524" y="804012"/>
                </a:lnTo>
                <a:lnTo>
                  <a:pt x="600027" y="794935"/>
                </a:lnTo>
                <a:lnTo>
                  <a:pt x="631529" y="785679"/>
                </a:lnTo>
                <a:lnTo>
                  <a:pt x="663032" y="776248"/>
                </a:lnTo>
                <a:lnTo>
                  <a:pt x="694535" y="766644"/>
                </a:lnTo>
                <a:lnTo>
                  <a:pt x="726040" y="756869"/>
                </a:lnTo>
                <a:lnTo>
                  <a:pt x="757549" y="746928"/>
                </a:lnTo>
                <a:lnTo>
                  <a:pt x="789063" y="736821"/>
                </a:lnTo>
                <a:lnTo>
                  <a:pt x="820582" y="726553"/>
                </a:lnTo>
                <a:lnTo>
                  <a:pt x="852107" y="716125"/>
                </a:lnTo>
                <a:lnTo>
                  <a:pt x="883641" y="705542"/>
                </a:lnTo>
                <a:lnTo>
                  <a:pt x="915183" y="694804"/>
                </a:lnTo>
                <a:lnTo>
                  <a:pt x="946736" y="683916"/>
                </a:lnTo>
                <a:lnTo>
                  <a:pt x="978300" y="672880"/>
                </a:lnTo>
                <a:lnTo>
                  <a:pt x="1009875" y="661699"/>
                </a:lnTo>
                <a:lnTo>
                  <a:pt x="1041465" y="650376"/>
                </a:lnTo>
                <a:lnTo>
                  <a:pt x="1073069" y="638913"/>
                </a:lnTo>
                <a:lnTo>
                  <a:pt x="1104688" y="627313"/>
                </a:lnTo>
                <a:lnTo>
                  <a:pt x="1136324" y="615579"/>
                </a:lnTo>
                <a:lnTo>
                  <a:pt x="1167978" y="603714"/>
                </a:lnTo>
                <a:lnTo>
                  <a:pt x="1199651" y="591720"/>
                </a:lnTo>
                <a:lnTo>
                  <a:pt x="1231344" y="579601"/>
                </a:lnTo>
                <a:lnTo>
                  <a:pt x="1263059" y="567358"/>
                </a:lnTo>
                <a:lnTo>
                  <a:pt x="1294795" y="554996"/>
                </a:lnTo>
                <a:lnTo>
                  <a:pt x="1326555" y="542516"/>
                </a:lnTo>
                <a:lnTo>
                  <a:pt x="1358340" y="529921"/>
                </a:lnTo>
                <a:lnTo>
                  <a:pt x="1390150" y="517215"/>
                </a:lnTo>
                <a:lnTo>
                  <a:pt x="1421987" y="504400"/>
                </a:lnTo>
                <a:lnTo>
                  <a:pt x="1453852" y="491478"/>
                </a:lnTo>
                <a:lnTo>
                  <a:pt x="1485746" y="478453"/>
                </a:lnTo>
                <a:lnTo>
                  <a:pt x="1517670" y="465328"/>
                </a:lnTo>
                <a:lnTo>
                  <a:pt x="1549626" y="452104"/>
                </a:lnTo>
                <a:lnTo>
                  <a:pt x="1581614" y="438785"/>
                </a:lnTo>
                <a:lnTo>
                  <a:pt x="1613635" y="425374"/>
                </a:lnTo>
                <a:lnTo>
                  <a:pt x="1645691" y="411874"/>
                </a:lnTo>
                <a:lnTo>
                  <a:pt x="1677782" y="398286"/>
                </a:lnTo>
                <a:lnTo>
                  <a:pt x="1709911" y="384615"/>
                </a:lnTo>
                <a:lnTo>
                  <a:pt x="1742077" y="370862"/>
                </a:lnTo>
                <a:lnTo>
                  <a:pt x="1774282" y="357031"/>
                </a:lnTo>
                <a:lnTo>
                  <a:pt x="1806528" y="343124"/>
                </a:lnTo>
                <a:lnTo>
                  <a:pt x="1838815" y="329145"/>
                </a:lnTo>
                <a:lnTo>
                  <a:pt x="1871144" y="315095"/>
                </a:lnTo>
                <a:lnTo>
                  <a:pt x="1903517" y="300978"/>
                </a:lnTo>
                <a:lnTo>
                  <a:pt x="1935864" y="286629"/>
                </a:lnTo>
                <a:lnTo>
                  <a:pt x="1968118" y="271893"/>
                </a:lnTo>
                <a:lnTo>
                  <a:pt x="2000286" y="256783"/>
                </a:lnTo>
                <a:lnTo>
                  <a:pt x="2032374" y="241314"/>
                </a:lnTo>
                <a:lnTo>
                  <a:pt x="2064387" y="225499"/>
                </a:lnTo>
                <a:lnTo>
                  <a:pt x="2096332" y="209353"/>
                </a:lnTo>
                <a:lnTo>
                  <a:pt x="2128215" y="192889"/>
                </a:lnTo>
                <a:lnTo>
                  <a:pt x="2160041" y="176122"/>
                </a:lnTo>
                <a:lnTo>
                  <a:pt x="2191818" y="159066"/>
                </a:lnTo>
                <a:lnTo>
                  <a:pt x="2223550" y="141735"/>
                </a:lnTo>
                <a:lnTo>
                  <a:pt x="2255244" y="124142"/>
                </a:lnTo>
                <a:lnTo>
                  <a:pt x="2286907" y="106303"/>
                </a:lnTo>
                <a:lnTo>
                  <a:pt x="2318543" y="88231"/>
                </a:lnTo>
                <a:lnTo>
                  <a:pt x="2350159" y="69940"/>
                </a:lnTo>
                <a:lnTo>
                  <a:pt x="2381762" y="51445"/>
                </a:lnTo>
                <a:lnTo>
                  <a:pt x="2413356" y="32759"/>
                </a:lnTo>
                <a:lnTo>
                  <a:pt x="2444949" y="13896"/>
                </a:lnTo>
                <a:lnTo>
                  <a:pt x="2460435" y="4572"/>
                </a:lnTo>
                <a:lnTo>
                  <a:pt x="2460435" y="1334485"/>
                </a:lnTo>
                <a:lnTo>
                  <a:pt x="0" y="133448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467"/>
          </a:p>
        </p:txBody>
      </p:sp>
      <p:sp>
        <p:nvSpPr>
          <p:cNvPr id="3" name="struct.climb.area.2"/>
          <p:cNvSpPr/>
          <p:nvPr/>
        </p:nvSpPr>
        <p:spPr>
          <a:xfrm>
            <a:off x="3148968" y="2982222"/>
            <a:ext cx="2521678" cy="2394449"/>
          </a:xfrm>
          <a:custGeom>
            <a:avLst/>
            <a:gdLst/>
            <a:ahLst/>
            <a:cxnLst/>
            <a:rect l="0" t="0" r="r" b="b"/>
            <a:pathLst>
              <a:path w="2556432" h="2394449">
                <a:moveTo>
                  <a:pt x="0" y="1064536"/>
                </a:moveTo>
                <a:lnTo>
                  <a:pt x="16111" y="1054836"/>
                </a:lnTo>
                <a:lnTo>
                  <a:pt x="47718" y="1035662"/>
                </a:lnTo>
                <a:lnTo>
                  <a:pt x="79341" y="1016355"/>
                </a:lnTo>
                <a:lnTo>
                  <a:pt x="110987" y="996927"/>
                </a:lnTo>
                <a:lnTo>
                  <a:pt x="142661" y="977394"/>
                </a:lnTo>
                <a:lnTo>
                  <a:pt x="174370" y="957768"/>
                </a:lnTo>
                <a:lnTo>
                  <a:pt x="206119" y="938064"/>
                </a:lnTo>
                <a:lnTo>
                  <a:pt x="237914" y="918297"/>
                </a:lnTo>
                <a:lnTo>
                  <a:pt x="269762" y="898480"/>
                </a:lnTo>
                <a:lnTo>
                  <a:pt x="301668" y="878627"/>
                </a:lnTo>
                <a:lnTo>
                  <a:pt x="333640" y="858753"/>
                </a:lnTo>
                <a:lnTo>
                  <a:pt x="365681" y="838871"/>
                </a:lnTo>
                <a:lnTo>
                  <a:pt x="397800" y="818996"/>
                </a:lnTo>
                <a:lnTo>
                  <a:pt x="430001" y="799142"/>
                </a:lnTo>
                <a:lnTo>
                  <a:pt x="462291" y="779322"/>
                </a:lnTo>
                <a:lnTo>
                  <a:pt x="494675" y="759552"/>
                </a:lnTo>
                <a:lnTo>
                  <a:pt x="527161" y="739844"/>
                </a:lnTo>
                <a:lnTo>
                  <a:pt x="559753" y="720213"/>
                </a:lnTo>
                <a:lnTo>
                  <a:pt x="592459" y="700674"/>
                </a:lnTo>
                <a:lnTo>
                  <a:pt x="625283" y="681239"/>
                </a:lnTo>
                <a:lnTo>
                  <a:pt x="658232" y="661924"/>
                </a:lnTo>
                <a:lnTo>
                  <a:pt x="691312" y="642743"/>
                </a:lnTo>
                <a:lnTo>
                  <a:pt x="724530" y="623709"/>
                </a:lnTo>
                <a:lnTo>
                  <a:pt x="757890" y="604836"/>
                </a:lnTo>
                <a:lnTo>
                  <a:pt x="791400" y="586139"/>
                </a:lnTo>
                <a:lnTo>
                  <a:pt x="825064" y="567632"/>
                </a:lnTo>
                <a:lnTo>
                  <a:pt x="858890" y="549329"/>
                </a:lnTo>
                <a:lnTo>
                  <a:pt x="892884" y="531243"/>
                </a:lnTo>
                <a:lnTo>
                  <a:pt x="927050" y="513390"/>
                </a:lnTo>
                <a:lnTo>
                  <a:pt x="961396" y="495782"/>
                </a:lnTo>
                <a:lnTo>
                  <a:pt x="995928" y="478435"/>
                </a:lnTo>
                <a:lnTo>
                  <a:pt x="1030650" y="461362"/>
                </a:lnTo>
                <a:lnTo>
                  <a:pt x="1065570" y="444578"/>
                </a:lnTo>
                <a:lnTo>
                  <a:pt x="1100694" y="428095"/>
                </a:lnTo>
                <a:lnTo>
                  <a:pt x="1136027" y="411930"/>
                </a:lnTo>
                <a:lnTo>
                  <a:pt x="1171576" y="396095"/>
                </a:lnTo>
                <a:lnTo>
                  <a:pt x="1207346" y="380604"/>
                </a:lnTo>
                <a:lnTo>
                  <a:pt x="1243344" y="365473"/>
                </a:lnTo>
                <a:lnTo>
                  <a:pt x="1279576" y="350714"/>
                </a:lnTo>
                <a:lnTo>
                  <a:pt x="1316048" y="336342"/>
                </a:lnTo>
                <a:lnTo>
                  <a:pt x="1352765" y="322371"/>
                </a:lnTo>
                <a:lnTo>
                  <a:pt x="1389734" y="308815"/>
                </a:lnTo>
                <a:lnTo>
                  <a:pt x="1426961" y="295689"/>
                </a:lnTo>
                <a:lnTo>
                  <a:pt x="1464426" y="282884"/>
                </a:lnTo>
                <a:lnTo>
                  <a:pt x="1502103" y="270283"/>
                </a:lnTo>
                <a:lnTo>
                  <a:pt x="1539989" y="257883"/>
                </a:lnTo>
                <a:lnTo>
                  <a:pt x="1578079" y="245683"/>
                </a:lnTo>
                <a:lnTo>
                  <a:pt x="1616371" y="233679"/>
                </a:lnTo>
                <a:lnTo>
                  <a:pt x="1654860" y="221871"/>
                </a:lnTo>
                <a:lnTo>
                  <a:pt x="1693542" y="210254"/>
                </a:lnTo>
                <a:lnTo>
                  <a:pt x="1732416" y="198829"/>
                </a:lnTo>
                <a:lnTo>
                  <a:pt x="1771475" y="187591"/>
                </a:lnTo>
                <a:lnTo>
                  <a:pt x="1810718" y="176539"/>
                </a:lnTo>
                <a:lnTo>
                  <a:pt x="1850140" y="165671"/>
                </a:lnTo>
                <a:lnTo>
                  <a:pt x="1889738" y="154984"/>
                </a:lnTo>
                <a:lnTo>
                  <a:pt x="1929508" y="144477"/>
                </a:lnTo>
                <a:lnTo>
                  <a:pt x="1969447" y="134146"/>
                </a:lnTo>
                <a:lnTo>
                  <a:pt x="2009550" y="123991"/>
                </a:lnTo>
                <a:lnTo>
                  <a:pt x="2049815" y="114008"/>
                </a:lnTo>
                <a:lnTo>
                  <a:pt x="2090237" y="104196"/>
                </a:lnTo>
                <a:lnTo>
                  <a:pt x="2130814" y="94551"/>
                </a:lnTo>
                <a:lnTo>
                  <a:pt x="2171540" y="85073"/>
                </a:lnTo>
                <a:lnTo>
                  <a:pt x="2212414" y="75759"/>
                </a:lnTo>
                <a:lnTo>
                  <a:pt x="2253430" y="66606"/>
                </a:lnTo>
                <a:lnTo>
                  <a:pt x="2294586" y="57612"/>
                </a:lnTo>
                <a:lnTo>
                  <a:pt x="2335878" y="48776"/>
                </a:lnTo>
                <a:lnTo>
                  <a:pt x="2377302" y="40095"/>
                </a:lnTo>
                <a:lnTo>
                  <a:pt x="2418855" y="31566"/>
                </a:lnTo>
                <a:lnTo>
                  <a:pt x="2460532" y="23188"/>
                </a:lnTo>
                <a:lnTo>
                  <a:pt x="2502331" y="14958"/>
                </a:lnTo>
                <a:lnTo>
                  <a:pt x="2544248" y="6874"/>
                </a:lnTo>
                <a:lnTo>
                  <a:pt x="2556432" y="4572"/>
                </a:lnTo>
                <a:lnTo>
                  <a:pt x="2556432" y="2394449"/>
                </a:lnTo>
                <a:lnTo>
                  <a:pt x="0" y="2394449"/>
                </a:lnTo>
                <a:close/>
              </a:path>
            </a:pathLst>
          </a:custGeom>
          <a:solidFill>
            <a:schemeClr val="accent1">
              <a:lumMod val="10000"/>
              <a:lumOff val="90000"/>
            </a:schemeClr>
          </a:solidFill>
          <a:ln>
            <a:noFill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467"/>
          </a:p>
        </p:txBody>
      </p:sp>
      <p:sp>
        <p:nvSpPr>
          <p:cNvPr id="4" name="struct.climb.area.3"/>
          <p:cNvSpPr/>
          <p:nvPr/>
        </p:nvSpPr>
        <p:spPr>
          <a:xfrm>
            <a:off x="5670647" y="2707426"/>
            <a:ext cx="2555714" cy="2669245"/>
          </a:xfrm>
          <a:custGeom>
            <a:avLst/>
            <a:gdLst/>
            <a:ahLst/>
            <a:cxnLst/>
            <a:rect l="0" t="0" r="r" b="b"/>
            <a:pathLst>
              <a:path w="2590937" h="2669245">
                <a:moveTo>
                  <a:pt x="0" y="279368"/>
                </a:moveTo>
                <a:lnTo>
                  <a:pt x="29847" y="273730"/>
                </a:lnTo>
                <a:lnTo>
                  <a:pt x="71988" y="265931"/>
                </a:lnTo>
                <a:lnTo>
                  <a:pt x="114236" y="258273"/>
                </a:lnTo>
                <a:lnTo>
                  <a:pt x="156587" y="250751"/>
                </a:lnTo>
                <a:lnTo>
                  <a:pt x="199038" y="243364"/>
                </a:lnTo>
                <a:lnTo>
                  <a:pt x="241585" y="236110"/>
                </a:lnTo>
                <a:lnTo>
                  <a:pt x="284224" y="228987"/>
                </a:lnTo>
                <a:lnTo>
                  <a:pt x="326952" y="221992"/>
                </a:lnTo>
                <a:lnTo>
                  <a:pt x="369765" y="215123"/>
                </a:lnTo>
                <a:lnTo>
                  <a:pt x="412659" y="208378"/>
                </a:lnTo>
                <a:lnTo>
                  <a:pt x="455631" y="201755"/>
                </a:lnTo>
                <a:lnTo>
                  <a:pt x="498677" y="195251"/>
                </a:lnTo>
                <a:lnTo>
                  <a:pt x="541794" y="188865"/>
                </a:lnTo>
                <a:lnTo>
                  <a:pt x="584978" y="182594"/>
                </a:lnTo>
                <a:lnTo>
                  <a:pt x="628225" y="176435"/>
                </a:lnTo>
                <a:lnTo>
                  <a:pt x="671532" y="170388"/>
                </a:lnTo>
                <a:lnTo>
                  <a:pt x="714894" y="164448"/>
                </a:lnTo>
                <a:lnTo>
                  <a:pt x="758310" y="158615"/>
                </a:lnTo>
                <a:lnTo>
                  <a:pt x="801774" y="152886"/>
                </a:lnTo>
                <a:lnTo>
                  <a:pt x="845283" y="147259"/>
                </a:lnTo>
                <a:lnTo>
                  <a:pt x="888833" y="141731"/>
                </a:lnTo>
                <a:lnTo>
                  <a:pt x="932422" y="136301"/>
                </a:lnTo>
                <a:lnTo>
                  <a:pt x="976045" y="130966"/>
                </a:lnTo>
                <a:lnTo>
                  <a:pt x="1019698" y="125724"/>
                </a:lnTo>
                <a:lnTo>
                  <a:pt x="1063379" y="120573"/>
                </a:lnTo>
                <a:lnTo>
                  <a:pt x="1107083" y="115510"/>
                </a:lnTo>
                <a:lnTo>
                  <a:pt x="1150806" y="110533"/>
                </a:lnTo>
                <a:lnTo>
                  <a:pt x="1194546" y="105641"/>
                </a:lnTo>
                <a:lnTo>
                  <a:pt x="1238298" y="100830"/>
                </a:lnTo>
                <a:lnTo>
                  <a:pt x="1282060" y="96100"/>
                </a:lnTo>
                <a:lnTo>
                  <a:pt x="1325826" y="91446"/>
                </a:lnTo>
                <a:lnTo>
                  <a:pt x="1369594" y="86868"/>
                </a:lnTo>
                <a:lnTo>
                  <a:pt x="1413551" y="82433"/>
                </a:lnTo>
                <a:lnTo>
                  <a:pt x="1457876" y="78208"/>
                </a:lnTo>
                <a:lnTo>
                  <a:pt x="1502554" y="74187"/>
                </a:lnTo>
                <a:lnTo>
                  <a:pt x="1547569" y="70366"/>
                </a:lnTo>
                <a:lnTo>
                  <a:pt x="1592905" y="66740"/>
                </a:lnTo>
                <a:lnTo>
                  <a:pt x="1638546" y="63304"/>
                </a:lnTo>
                <a:lnTo>
                  <a:pt x="1684477" y="60054"/>
                </a:lnTo>
                <a:lnTo>
                  <a:pt x="1730683" y="56983"/>
                </a:lnTo>
                <a:lnTo>
                  <a:pt x="1777147" y="54089"/>
                </a:lnTo>
                <a:lnTo>
                  <a:pt x="1823854" y="51365"/>
                </a:lnTo>
                <a:lnTo>
                  <a:pt x="1870789" y="48806"/>
                </a:lnTo>
                <a:lnTo>
                  <a:pt x="1917934" y="46409"/>
                </a:lnTo>
                <a:lnTo>
                  <a:pt x="1965276" y="44168"/>
                </a:lnTo>
                <a:lnTo>
                  <a:pt x="2012798" y="42078"/>
                </a:lnTo>
                <a:lnTo>
                  <a:pt x="2060485" y="40135"/>
                </a:lnTo>
                <a:lnTo>
                  <a:pt x="2108320" y="38333"/>
                </a:lnTo>
                <a:lnTo>
                  <a:pt x="2156289" y="36668"/>
                </a:lnTo>
                <a:lnTo>
                  <a:pt x="2204375" y="35134"/>
                </a:lnTo>
                <a:lnTo>
                  <a:pt x="2252563" y="33728"/>
                </a:lnTo>
                <a:lnTo>
                  <a:pt x="2300837" y="32444"/>
                </a:lnTo>
                <a:lnTo>
                  <a:pt x="2349182" y="31277"/>
                </a:lnTo>
                <a:lnTo>
                  <a:pt x="2397582" y="30223"/>
                </a:lnTo>
                <a:lnTo>
                  <a:pt x="2446021" y="29276"/>
                </a:lnTo>
                <a:lnTo>
                  <a:pt x="2494483" y="28432"/>
                </a:lnTo>
                <a:lnTo>
                  <a:pt x="2542953" y="27686"/>
                </a:lnTo>
                <a:lnTo>
                  <a:pt x="2590937" y="27039"/>
                </a:lnTo>
                <a:lnTo>
                  <a:pt x="2590937" y="2669245"/>
                </a:lnTo>
                <a:lnTo>
                  <a:pt x="0" y="2669245"/>
                </a:lnTo>
                <a:close/>
              </a:path>
            </a:pathLst>
          </a:custGeom>
          <a:solidFill>
            <a:schemeClr val="accent1">
              <a:lumMod val="10000"/>
              <a:lumOff val="90000"/>
            </a:schemeClr>
          </a:solidFill>
          <a:ln>
            <a:noFill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467"/>
          </a:p>
        </p:txBody>
      </p:sp>
      <p:sp>
        <p:nvSpPr>
          <p:cNvPr id="5" name="struct.climb.area.4"/>
          <p:cNvSpPr/>
          <p:nvPr/>
        </p:nvSpPr>
        <p:spPr>
          <a:xfrm>
            <a:off x="8226361" y="2646094"/>
            <a:ext cx="3364341" cy="2730577"/>
          </a:xfrm>
          <a:custGeom>
            <a:avLst/>
            <a:gdLst/>
            <a:ahLst/>
            <a:cxnLst/>
            <a:rect l="0" t="0" r="r" b="b"/>
            <a:pathLst>
              <a:path w="3410708" h="2730577">
                <a:moveTo>
                  <a:pt x="0" y="88371"/>
                </a:moveTo>
                <a:lnTo>
                  <a:pt x="479" y="88365"/>
                </a:lnTo>
                <a:lnTo>
                  <a:pt x="48918" y="87800"/>
                </a:lnTo>
                <a:lnTo>
                  <a:pt x="97318" y="87318"/>
                </a:lnTo>
                <a:lnTo>
                  <a:pt x="145663" y="86915"/>
                </a:lnTo>
                <a:lnTo>
                  <a:pt x="193938" y="86586"/>
                </a:lnTo>
                <a:lnTo>
                  <a:pt x="242127" y="86325"/>
                </a:lnTo>
                <a:lnTo>
                  <a:pt x="290214" y="86128"/>
                </a:lnTo>
                <a:lnTo>
                  <a:pt x="338183" y="85990"/>
                </a:lnTo>
                <a:lnTo>
                  <a:pt x="386019" y="85907"/>
                </a:lnTo>
                <a:lnTo>
                  <a:pt x="433707" y="85873"/>
                </a:lnTo>
                <a:lnTo>
                  <a:pt x="481230" y="85883"/>
                </a:lnTo>
                <a:lnTo>
                  <a:pt x="528573" y="85933"/>
                </a:lnTo>
                <a:lnTo>
                  <a:pt x="575720" y="86018"/>
                </a:lnTo>
                <a:lnTo>
                  <a:pt x="622656" y="86133"/>
                </a:lnTo>
                <a:lnTo>
                  <a:pt x="669364" y="86273"/>
                </a:lnTo>
                <a:lnTo>
                  <a:pt x="715830" y="86433"/>
                </a:lnTo>
                <a:lnTo>
                  <a:pt x="762037" y="86608"/>
                </a:lnTo>
                <a:lnTo>
                  <a:pt x="807970" y="86794"/>
                </a:lnTo>
                <a:lnTo>
                  <a:pt x="853614" y="86986"/>
                </a:lnTo>
                <a:lnTo>
                  <a:pt x="898952" y="87179"/>
                </a:lnTo>
                <a:lnTo>
                  <a:pt x="943969" y="87367"/>
                </a:lnTo>
                <a:lnTo>
                  <a:pt x="988649" y="87547"/>
                </a:lnTo>
                <a:lnTo>
                  <a:pt x="1032976" y="87713"/>
                </a:lnTo>
                <a:lnTo>
                  <a:pt x="1076935" y="87860"/>
                </a:lnTo>
                <a:lnTo>
                  <a:pt x="1120511" y="87984"/>
                </a:lnTo>
                <a:lnTo>
                  <a:pt x="1163687" y="88080"/>
                </a:lnTo>
                <a:lnTo>
                  <a:pt x="1206448" y="88143"/>
                </a:lnTo>
                <a:lnTo>
                  <a:pt x="1248778" y="88167"/>
                </a:lnTo>
                <a:lnTo>
                  <a:pt x="1290662" y="88149"/>
                </a:lnTo>
                <a:lnTo>
                  <a:pt x="1332084" y="88083"/>
                </a:lnTo>
                <a:lnTo>
                  <a:pt x="1373027" y="87964"/>
                </a:lnTo>
                <a:lnTo>
                  <a:pt x="1413478" y="87789"/>
                </a:lnTo>
                <a:lnTo>
                  <a:pt x="1453419" y="87550"/>
                </a:lnTo>
                <a:lnTo>
                  <a:pt x="1492835" y="87245"/>
                </a:lnTo>
                <a:lnTo>
                  <a:pt x="1531711" y="86868"/>
                </a:lnTo>
                <a:lnTo>
                  <a:pt x="1570071" y="86475"/>
                </a:lnTo>
                <a:lnTo>
                  <a:pt x="1607957" y="86124"/>
                </a:lnTo>
                <a:lnTo>
                  <a:pt x="1645382" y="85815"/>
                </a:lnTo>
                <a:lnTo>
                  <a:pt x="1682357" y="85546"/>
                </a:lnTo>
                <a:lnTo>
                  <a:pt x="1718896" y="85316"/>
                </a:lnTo>
                <a:lnTo>
                  <a:pt x="1755010" y="85124"/>
                </a:lnTo>
                <a:lnTo>
                  <a:pt x="1790711" y="84968"/>
                </a:lnTo>
                <a:lnTo>
                  <a:pt x="1826012" y="84848"/>
                </a:lnTo>
                <a:lnTo>
                  <a:pt x="1860924" y="84763"/>
                </a:lnTo>
                <a:lnTo>
                  <a:pt x="1895459" y="84710"/>
                </a:lnTo>
                <a:lnTo>
                  <a:pt x="1929631" y="84689"/>
                </a:lnTo>
                <a:lnTo>
                  <a:pt x="1963450" y="84700"/>
                </a:lnTo>
                <a:lnTo>
                  <a:pt x="1996930" y="84740"/>
                </a:lnTo>
                <a:lnTo>
                  <a:pt x="2030081" y="84808"/>
                </a:lnTo>
                <a:lnTo>
                  <a:pt x="2062917" y="84903"/>
                </a:lnTo>
                <a:lnTo>
                  <a:pt x="2095450" y="85025"/>
                </a:lnTo>
                <a:lnTo>
                  <a:pt x="2127691" y="85172"/>
                </a:lnTo>
                <a:lnTo>
                  <a:pt x="2159653" y="85342"/>
                </a:lnTo>
                <a:lnTo>
                  <a:pt x="2191348" y="85535"/>
                </a:lnTo>
                <a:lnTo>
                  <a:pt x="2222788" y="85750"/>
                </a:lnTo>
                <a:lnTo>
                  <a:pt x="2253986" y="85984"/>
                </a:lnTo>
                <a:lnTo>
                  <a:pt x="2284952" y="86238"/>
                </a:lnTo>
                <a:lnTo>
                  <a:pt x="2315700" y="86510"/>
                </a:lnTo>
                <a:lnTo>
                  <a:pt x="2346242" y="86798"/>
                </a:lnTo>
                <a:lnTo>
                  <a:pt x="2376589" y="87102"/>
                </a:lnTo>
                <a:lnTo>
                  <a:pt x="2406755" y="87420"/>
                </a:lnTo>
                <a:lnTo>
                  <a:pt x="2436750" y="87752"/>
                </a:lnTo>
                <a:lnTo>
                  <a:pt x="2466588" y="88095"/>
                </a:lnTo>
                <a:lnTo>
                  <a:pt x="2496280" y="88450"/>
                </a:lnTo>
                <a:lnTo>
                  <a:pt x="2525838" y="88814"/>
                </a:lnTo>
                <a:lnTo>
                  <a:pt x="2555275" y="89187"/>
                </a:lnTo>
                <a:lnTo>
                  <a:pt x="2584603" y="89567"/>
                </a:lnTo>
                <a:lnTo>
                  <a:pt x="2613833" y="89953"/>
                </a:lnTo>
                <a:lnTo>
                  <a:pt x="2642979" y="90344"/>
                </a:lnTo>
                <a:lnTo>
                  <a:pt x="2672052" y="90739"/>
                </a:lnTo>
                <a:lnTo>
                  <a:pt x="2701064" y="91137"/>
                </a:lnTo>
                <a:lnTo>
                  <a:pt x="2730027" y="91536"/>
                </a:lnTo>
                <a:lnTo>
                  <a:pt x="2758955" y="91935"/>
                </a:lnTo>
                <a:lnTo>
                  <a:pt x="2787857" y="92334"/>
                </a:lnTo>
                <a:lnTo>
                  <a:pt x="2816748" y="92730"/>
                </a:lnTo>
                <a:lnTo>
                  <a:pt x="2845639" y="93124"/>
                </a:lnTo>
                <a:lnTo>
                  <a:pt x="2874542" y="93513"/>
                </a:lnTo>
                <a:lnTo>
                  <a:pt x="2903469" y="93896"/>
                </a:lnTo>
                <a:lnTo>
                  <a:pt x="2932432" y="94273"/>
                </a:lnTo>
                <a:lnTo>
                  <a:pt x="2961444" y="94641"/>
                </a:lnTo>
                <a:lnTo>
                  <a:pt x="2990517" y="95001"/>
                </a:lnTo>
                <a:lnTo>
                  <a:pt x="3019663" y="95350"/>
                </a:lnTo>
                <a:lnTo>
                  <a:pt x="3048894" y="95688"/>
                </a:lnTo>
                <a:lnTo>
                  <a:pt x="3078221" y="96014"/>
                </a:lnTo>
                <a:lnTo>
                  <a:pt x="3107658" y="96325"/>
                </a:lnTo>
                <a:lnTo>
                  <a:pt x="3137217" y="96622"/>
                </a:lnTo>
                <a:lnTo>
                  <a:pt x="3166909" y="96903"/>
                </a:lnTo>
                <a:lnTo>
                  <a:pt x="3196746" y="97166"/>
                </a:lnTo>
                <a:lnTo>
                  <a:pt x="3226742" y="97411"/>
                </a:lnTo>
                <a:lnTo>
                  <a:pt x="3256907" y="97636"/>
                </a:lnTo>
                <a:lnTo>
                  <a:pt x="3287254" y="97841"/>
                </a:lnTo>
                <a:lnTo>
                  <a:pt x="3317796" y="98023"/>
                </a:lnTo>
                <a:lnTo>
                  <a:pt x="3348544" y="98182"/>
                </a:lnTo>
                <a:lnTo>
                  <a:pt x="3379511" y="98317"/>
                </a:lnTo>
                <a:lnTo>
                  <a:pt x="3410708" y="98427"/>
                </a:lnTo>
                <a:lnTo>
                  <a:pt x="3410708" y="2730578"/>
                </a:lnTo>
                <a:lnTo>
                  <a:pt x="0" y="2730578"/>
                </a:lnTo>
                <a:close/>
              </a:path>
            </a:pathLst>
          </a:custGeom>
          <a:solidFill>
            <a:schemeClr val="accent1">
              <a:lumMod val="10000"/>
              <a:lumOff val="90000"/>
            </a:schemeClr>
          </a:solidFill>
          <a:ln>
            <a:noFill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467"/>
          </a:p>
        </p:txBody>
      </p:sp>
      <p:sp>
        <p:nvSpPr>
          <p:cNvPr id="6" name="struct.climb.curve"/>
          <p:cNvSpPr/>
          <p:nvPr/>
        </p:nvSpPr>
        <p:spPr>
          <a:xfrm>
            <a:off x="721982" y="2732962"/>
            <a:ext cx="10868720" cy="2242922"/>
          </a:xfrm>
          <a:custGeom>
            <a:avLst/>
            <a:gdLst/>
            <a:ahLst/>
            <a:cxnLst/>
            <a:rect l="0" t="0" r="r" b="b"/>
            <a:pathLst>
              <a:path w="11018512" h="2242922" fill="none">
                <a:moveTo>
                  <a:pt x="0" y="2242923"/>
                </a:moveTo>
                <a:cubicBezTo>
                  <a:pt x="634506" y="2137469"/>
                  <a:pt x="1255618" y="1893198"/>
                  <a:pt x="1903517" y="1610202"/>
                </a:cubicBezTo>
                <a:cubicBezTo>
                  <a:pt x="2551416" y="1327207"/>
                  <a:pt x="3140239" y="803094"/>
                  <a:pt x="3887396" y="544949"/>
                </a:cubicBezTo>
                <a:cubicBezTo>
                  <a:pt x="4634553" y="286804"/>
                  <a:pt x="5511108" y="152157"/>
                  <a:pt x="6386461" y="61332"/>
                </a:cubicBezTo>
                <a:cubicBezTo>
                  <a:pt x="7261814" y="-29493"/>
                  <a:pt x="8367506" y="8296"/>
                  <a:pt x="9139515" y="0"/>
                </a:cubicBezTo>
                <a:cubicBezTo>
                  <a:pt x="9911524" y="-8296"/>
                  <a:pt x="10392180" y="9632"/>
                  <a:pt x="11018512" y="11559"/>
                </a:cubicBez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467">
              <a:solidFill>
                <a:schemeClr val="bg1"/>
              </a:solidFill>
            </a:endParaRPr>
          </a:p>
        </p:txBody>
      </p:sp>
      <p:cxnSp>
        <p:nvCxnSpPr>
          <p:cNvPr id="7" name="struct.guide.1"/>
          <p:cNvCxnSpPr/>
          <p:nvPr/>
        </p:nvCxnSpPr>
        <p:spPr>
          <a:xfrm>
            <a:off x="3148968" y="1481328"/>
            <a:ext cx="0" cy="3895344"/>
          </a:xfrm>
          <a:prstGeom prst="straightConnector1">
            <a:avLst/>
          </a:prstGeom>
          <a:noFill/>
          <a:ln w="71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8" name="struct.guide.2"/>
          <p:cNvCxnSpPr/>
          <p:nvPr/>
        </p:nvCxnSpPr>
        <p:spPr>
          <a:xfrm>
            <a:off x="5670647" y="1481328"/>
            <a:ext cx="0" cy="3895344"/>
          </a:xfrm>
          <a:prstGeom prst="straightConnector1">
            <a:avLst/>
          </a:prstGeom>
          <a:noFill/>
          <a:ln w="71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9" name="struct.guide.3"/>
          <p:cNvCxnSpPr/>
          <p:nvPr/>
        </p:nvCxnSpPr>
        <p:spPr>
          <a:xfrm>
            <a:off x="8226361" y="1481328"/>
            <a:ext cx="0" cy="3895344"/>
          </a:xfrm>
          <a:prstGeom prst="straightConnector1">
            <a:avLst/>
          </a:prstGeom>
          <a:noFill/>
          <a:ln w="71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sp>
        <p:nvSpPr>
          <p:cNvPr id="10" name="slot.title"/>
          <p:cNvSpPr txBox="1"/>
          <p:nvPr/>
        </p:nvSpPr>
        <p:spPr>
          <a:xfrm>
            <a:off x="457200" y="222325"/>
            <a:ext cx="11338560" cy="74841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Planning value climbs fastest once </a:t>
            </a:r>
            <a:r>
              <a:rPr lang="en-US" sz="2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agents take over</a:t>
            </a:r>
            <a:r>
              <a:rPr lang="en-US" sz="2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the routine steps</a:t>
            </a:r>
            <a:endParaRPr lang="en-US" sz="2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ot.horizon.1"/>
          <p:cNvSpPr/>
          <p:nvPr/>
        </p:nvSpPr>
        <p:spPr>
          <a:xfrm>
            <a:off x="618045" y="1044487"/>
            <a:ext cx="2643172" cy="381200"/>
          </a:xfrm>
          <a:prstGeom prst="homePlate">
            <a:avLst>
              <a:gd name="adj" fmla="val 3372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Today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lot.horizon.2"/>
          <p:cNvSpPr/>
          <p:nvPr/>
        </p:nvSpPr>
        <p:spPr>
          <a:xfrm>
            <a:off x="3173540" y="1042087"/>
            <a:ext cx="2601743" cy="385600"/>
          </a:xfrm>
          <a:prstGeom prst="chevron">
            <a:avLst>
              <a:gd name="adj" fmla="val 3407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Year 1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slot.horizon.3"/>
          <p:cNvSpPr/>
          <p:nvPr/>
        </p:nvSpPr>
        <p:spPr>
          <a:xfrm>
            <a:off x="5687621" y="1042087"/>
            <a:ext cx="2601743" cy="385600"/>
          </a:xfrm>
          <a:prstGeom prst="chevron">
            <a:avLst>
              <a:gd name="adj" fmla="val 3407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Year 2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slot.horizon.4"/>
          <p:cNvSpPr/>
          <p:nvPr/>
        </p:nvSpPr>
        <p:spPr>
          <a:xfrm>
            <a:off x="8201701" y="1042093"/>
            <a:ext cx="3455181" cy="385600"/>
          </a:xfrm>
          <a:prstGeom prst="chevron">
            <a:avLst>
              <a:gd name="adj" fmla="val 34079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Year 3 onward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truct.value-row"/>
          <p:cNvSpPr/>
          <p:nvPr/>
        </p:nvSpPr>
        <p:spPr>
          <a:xfrm>
            <a:off x="638402" y="5468112"/>
            <a:ext cx="11157358" cy="73152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algn="ctr">
              <a:buSzPts val="1100"/>
            </a:pPr>
            <a:endParaRPr sz="146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slot.value-row.label"/>
          <p:cNvSpPr/>
          <p:nvPr/>
        </p:nvSpPr>
        <p:spPr>
          <a:xfrm>
            <a:off x="746638" y="5559552"/>
            <a:ext cx="1785899" cy="54864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40" tIns="18288" rIns="91440" bIns="18288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Value at full scale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lot.value-row.1"/>
          <p:cNvSpPr txBox="1"/>
          <p:nvPr/>
        </p:nvSpPr>
        <p:spPr>
          <a:xfrm>
            <a:off x="2803128" y="5522976"/>
            <a:ext cx="1645191" cy="6217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36576" tIns="18288" rIns="36576" bIns="18288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Lower inventory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Less cover held across the network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lot.value-row.2"/>
          <p:cNvSpPr txBox="1"/>
          <p:nvPr/>
        </p:nvSpPr>
        <p:spPr>
          <a:xfrm>
            <a:off x="4610673" y="5522976"/>
            <a:ext cx="1645191" cy="6217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36576" tIns="18288" rIns="36576" bIns="18288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Higher service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Fill rate steady through peaks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lot.value-row.3"/>
          <p:cNvSpPr txBox="1"/>
          <p:nvPr/>
        </p:nvSpPr>
        <p:spPr>
          <a:xfrm>
            <a:off x="6418220" y="5522976"/>
            <a:ext cx="1645191" cy="6217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36576" tIns="18288" rIns="36576" bIns="18288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Less freight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Fewer rush loads every quarter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lot.value-row.4"/>
          <p:cNvSpPr txBox="1"/>
          <p:nvPr/>
        </p:nvSpPr>
        <p:spPr>
          <a:xfrm>
            <a:off x="8225765" y="5522976"/>
            <a:ext cx="1645191" cy="6217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36576" tIns="18288" rIns="36576" bIns="18288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Faster cycle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Weekly plan becomes a daily one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lot.value-row.5"/>
          <p:cNvSpPr txBox="1"/>
          <p:nvPr/>
        </p:nvSpPr>
        <p:spPr>
          <a:xfrm>
            <a:off x="10033312" y="5522976"/>
            <a:ext cx="1645191" cy="6217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36576" tIns="18288" rIns="36576" bIns="18288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Planner time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Shifted to supplier and customer issues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2" name="struct.value-row.divider.1"/>
          <p:cNvCxnSpPr/>
          <p:nvPr/>
        </p:nvCxnSpPr>
        <p:spPr>
          <a:xfrm>
            <a:off x="4520476" y="5577840"/>
            <a:ext cx="0" cy="512064"/>
          </a:xfrm>
          <a:prstGeom prst="straightConnector1">
            <a:avLst/>
          </a:prstGeom>
          <a:noFill/>
          <a:ln w="71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23" name="struct.value-row.divider.2"/>
          <p:cNvCxnSpPr/>
          <p:nvPr/>
        </p:nvCxnSpPr>
        <p:spPr>
          <a:xfrm>
            <a:off x="6328023" y="5577840"/>
            <a:ext cx="0" cy="512064"/>
          </a:xfrm>
          <a:prstGeom prst="straightConnector1">
            <a:avLst/>
          </a:prstGeom>
          <a:noFill/>
          <a:ln w="71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24" name="struct.value-row.divider.3"/>
          <p:cNvCxnSpPr/>
          <p:nvPr/>
        </p:nvCxnSpPr>
        <p:spPr>
          <a:xfrm>
            <a:off x="8135568" y="5577840"/>
            <a:ext cx="0" cy="512064"/>
          </a:xfrm>
          <a:prstGeom prst="straightConnector1">
            <a:avLst/>
          </a:prstGeom>
          <a:noFill/>
          <a:ln w="71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25" name="struct.value-row.divider.4"/>
          <p:cNvCxnSpPr/>
          <p:nvPr/>
        </p:nvCxnSpPr>
        <p:spPr>
          <a:xfrm>
            <a:off x="9943115" y="5577840"/>
            <a:ext cx="0" cy="512064"/>
          </a:xfrm>
          <a:prstGeom prst="straightConnector1">
            <a:avLst/>
          </a:prstGeom>
          <a:noFill/>
          <a:ln w="71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sp>
        <p:nvSpPr>
          <p:cNvPr id="26" name="slot.start"/>
          <p:cNvSpPr txBox="1"/>
          <p:nvPr/>
        </p:nvSpPr>
        <p:spPr>
          <a:xfrm>
            <a:off x="1432135" y="4974336"/>
            <a:ext cx="1677663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36576" tIns="18288" rIns="36576" bIns="18288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Manual weekly cycle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truct.start.disc"/>
          <p:cNvSpPr/>
          <p:nvPr/>
        </p:nvSpPr>
        <p:spPr>
          <a:xfrm>
            <a:off x="1051070" y="499262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83967" tIns="41967" rIns="83967" bIns="41967" anchor="ctr" anchorCtr="0">
            <a:noAutofit/>
          </a:bodyPr>
          <a:lstStyle/>
          <a:p>
            <a:pPr algn="ctr">
              <a:buSzPts val="600"/>
            </a:pPr>
            <a:endParaRPr sz="800">
              <a:solidFill>
                <a:schemeClr val="bg1"/>
              </a:solidFill>
            </a:endParaRPr>
          </a:p>
        </p:txBody>
      </p:sp>
      <p:sp>
        <p:nvSpPr>
          <p:cNvPr id="28" name="slot.value.2.text"/>
          <p:cNvSpPr txBox="1"/>
          <p:nvPr/>
        </p:nvSpPr>
        <p:spPr>
          <a:xfrm>
            <a:off x="3705097" y="4700016"/>
            <a:ext cx="1858056" cy="40233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36576" tIns="18288" rIns="36576" bIns="18288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Stock counts</a:t>
            </a: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reconciled every night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truct.value.2.disc"/>
          <p:cNvSpPr/>
          <p:nvPr/>
        </p:nvSpPr>
        <p:spPr>
          <a:xfrm>
            <a:off x="3305993" y="4736592"/>
            <a:ext cx="329184" cy="329184"/>
          </a:xfrm>
          <a:prstGeom prst="ellipse">
            <a:avLst/>
          </a:prstGeom>
          <a:solidFill>
            <a:schemeClr val="bg1"/>
          </a:solidFill>
          <a:ln w="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700"/>
            </a:pPr>
            <a:endParaRPr sz="933">
              <a:solidFill>
                <a:schemeClr val="bg1"/>
              </a:solidFill>
            </a:endParaRPr>
          </a:p>
        </p:txBody>
      </p:sp>
      <p:sp>
        <p:nvSpPr>
          <p:cNvPr id="30" name="slot.value.4.text"/>
          <p:cNvSpPr txBox="1"/>
          <p:nvPr/>
        </p:nvSpPr>
        <p:spPr>
          <a:xfrm>
            <a:off x="6212571" y="3968496"/>
            <a:ext cx="1858056" cy="40233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36576" tIns="18288" rIns="36576" bIns="18288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Forecast error</a:t>
            </a: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tracked by product family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lot.value.1.text"/>
          <p:cNvSpPr txBox="1"/>
          <p:nvPr/>
        </p:nvSpPr>
        <p:spPr>
          <a:xfrm>
            <a:off x="3705097" y="4096511"/>
            <a:ext cx="1858056" cy="40233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36576" tIns="18288" rIns="36576" bIns="18288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Working capital</a:t>
            </a: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released from safety stock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truct.value.1.disc"/>
          <p:cNvSpPr/>
          <p:nvPr/>
        </p:nvSpPr>
        <p:spPr>
          <a:xfrm>
            <a:off x="3305993" y="4133087"/>
            <a:ext cx="329184" cy="329184"/>
          </a:xfrm>
          <a:prstGeom prst="ellipse">
            <a:avLst/>
          </a:prstGeom>
          <a:solidFill>
            <a:schemeClr val="bg1"/>
          </a:solidFill>
          <a:ln w="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700"/>
            </a:pPr>
            <a:endParaRPr sz="933">
              <a:solidFill>
                <a:schemeClr val="bg1"/>
              </a:solidFill>
            </a:endParaRPr>
          </a:p>
        </p:txBody>
      </p:sp>
      <p:sp>
        <p:nvSpPr>
          <p:cNvPr id="33" name="struct.value.4.disc"/>
          <p:cNvSpPr/>
          <p:nvPr/>
        </p:nvSpPr>
        <p:spPr>
          <a:xfrm>
            <a:off x="5813467" y="4005072"/>
            <a:ext cx="329184" cy="329184"/>
          </a:xfrm>
          <a:prstGeom prst="ellipse">
            <a:avLst/>
          </a:prstGeom>
          <a:solidFill>
            <a:schemeClr val="bg1"/>
          </a:solidFill>
          <a:ln w="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700"/>
            </a:pPr>
            <a:endParaRPr sz="933">
              <a:solidFill>
                <a:schemeClr val="bg1"/>
              </a:solidFill>
            </a:endParaRPr>
          </a:p>
        </p:txBody>
      </p:sp>
      <p:sp>
        <p:nvSpPr>
          <p:cNvPr id="34" name="slot.value.3.text"/>
          <p:cNvSpPr txBox="1"/>
          <p:nvPr/>
        </p:nvSpPr>
        <p:spPr>
          <a:xfrm>
            <a:off x="6212571" y="3346704"/>
            <a:ext cx="1858056" cy="40233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36576" tIns="18288" rIns="36576" bIns="18288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Service level</a:t>
            </a: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held through demand swings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truct.value.3.disc"/>
          <p:cNvSpPr/>
          <p:nvPr/>
        </p:nvSpPr>
        <p:spPr>
          <a:xfrm>
            <a:off x="5813467" y="3383280"/>
            <a:ext cx="329184" cy="329184"/>
          </a:xfrm>
          <a:prstGeom prst="ellipse">
            <a:avLst/>
          </a:prstGeom>
          <a:solidFill>
            <a:schemeClr val="bg1"/>
          </a:solidFill>
          <a:ln w="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700"/>
            </a:pPr>
            <a:endParaRPr sz="933">
              <a:solidFill>
                <a:schemeClr val="bg1"/>
              </a:solidFill>
            </a:endParaRPr>
          </a:p>
        </p:txBody>
      </p:sp>
      <p:sp>
        <p:nvSpPr>
          <p:cNvPr id="36" name="slot.value.6.text"/>
          <p:cNvSpPr txBox="1"/>
          <p:nvPr/>
        </p:nvSpPr>
        <p:spPr>
          <a:xfrm>
            <a:off x="8756124" y="3785615"/>
            <a:ext cx="2796104" cy="40233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36576" tIns="18288" rIns="36576" bIns="18288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Expedited freight</a:t>
            </a: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largely avoided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struct.value.6.disc"/>
          <p:cNvSpPr/>
          <p:nvPr/>
        </p:nvSpPr>
        <p:spPr>
          <a:xfrm>
            <a:off x="8357020" y="3822191"/>
            <a:ext cx="329184" cy="329184"/>
          </a:xfrm>
          <a:prstGeom prst="ellipse">
            <a:avLst/>
          </a:prstGeom>
          <a:solidFill>
            <a:schemeClr val="bg1"/>
          </a:solidFill>
          <a:ln w="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700"/>
            </a:pPr>
            <a:endParaRPr sz="933"/>
          </a:p>
        </p:txBody>
      </p:sp>
      <p:sp>
        <p:nvSpPr>
          <p:cNvPr id="38" name="slot.value.5.text"/>
          <p:cNvSpPr txBox="1"/>
          <p:nvPr/>
        </p:nvSpPr>
        <p:spPr>
          <a:xfrm>
            <a:off x="8756124" y="3182112"/>
            <a:ext cx="2796104" cy="40233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36576" tIns="18288" rIns="36576" bIns="18288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Plan cycle</a:t>
            </a: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cut from days to hours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struct.value.5.disc"/>
          <p:cNvSpPr/>
          <p:nvPr/>
        </p:nvSpPr>
        <p:spPr>
          <a:xfrm>
            <a:off x="8357020" y="3218688"/>
            <a:ext cx="329184" cy="329184"/>
          </a:xfrm>
          <a:prstGeom prst="ellipse">
            <a:avLst/>
          </a:prstGeom>
          <a:solidFill>
            <a:schemeClr val="bg1"/>
          </a:solidFill>
          <a:ln w="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700"/>
            </a:pPr>
            <a:endParaRPr sz="933">
              <a:solidFill>
                <a:schemeClr val="bg1"/>
              </a:solidFill>
            </a:endParaRPr>
          </a:p>
        </p:txBody>
      </p:sp>
      <p:sp>
        <p:nvSpPr>
          <p:cNvPr id="40" name="slot.value.7.text"/>
          <p:cNvSpPr txBox="1"/>
          <p:nvPr/>
        </p:nvSpPr>
        <p:spPr>
          <a:xfrm>
            <a:off x="8756124" y="4389120"/>
            <a:ext cx="2796104" cy="40233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36576" tIns="18288" rIns="36576" bIns="18288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Plants</a:t>
            </a: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scheduled to live demand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truct.value.7.disc"/>
          <p:cNvSpPr/>
          <p:nvPr/>
        </p:nvSpPr>
        <p:spPr>
          <a:xfrm>
            <a:off x="8357020" y="4425696"/>
            <a:ext cx="329184" cy="329184"/>
          </a:xfrm>
          <a:prstGeom prst="ellipse">
            <a:avLst/>
          </a:prstGeom>
          <a:solidFill>
            <a:schemeClr val="bg1"/>
          </a:solidFill>
          <a:ln w="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700"/>
            </a:pPr>
            <a:endParaRPr sz="933">
              <a:solidFill>
                <a:schemeClr val="bg1"/>
              </a:solidFill>
            </a:endParaRPr>
          </a:p>
        </p:txBody>
      </p:sp>
      <p:sp>
        <p:nvSpPr>
          <p:cNvPr id="42" name="slot.vignette.a.head"/>
          <p:cNvSpPr/>
          <p:nvPr/>
        </p:nvSpPr>
        <p:spPr>
          <a:xfrm>
            <a:off x="457200" y="3088690"/>
            <a:ext cx="1963143" cy="3657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36576" tIns="18288" rIns="36576" bIns="18288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Planners run every step by hand</a:t>
            </a:r>
            <a:endParaRPr lang="en-US" sz="9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struct.vignette.a.card"/>
          <p:cNvSpPr/>
          <p:nvPr/>
        </p:nvSpPr>
        <p:spPr>
          <a:xfrm>
            <a:off x="457200" y="3491026"/>
            <a:ext cx="1963144" cy="621601"/>
          </a:xfrm>
          <a:prstGeom prst="roundRect">
            <a:avLst>
              <a:gd name="adj" fmla="val 7355"/>
            </a:avLst>
          </a:prstGeom>
          <a:solidFill>
            <a:schemeClr val="bg1">
              <a:lumMod val="95000"/>
            </a:schemeClr>
          </a:solidFill>
          <a:ln w="7150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67067" tIns="83500" rIns="167067" bIns="83500" anchor="ctr" anchorCtr="0">
            <a:noAutofit/>
          </a:bodyPr>
          <a:lstStyle/>
          <a:p>
            <a:pPr algn="ctr">
              <a:buSzPts val="1900"/>
            </a:pPr>
            <a:endParaRPr sz="933">
              <a:solidFill>
                <a:schemeClr val="bg1"/>
              </a:solidFill>
            </a:endParaRPr>
          </a:p>
        </p:txBody>
      </p:sp>
      <p:sp>
        <p:nvSpPr>
          <p:cNvPr id="44" name="struct.vignette.a.step.1"/>
          <p:cNvSpPr/>
          <p:nvPr/>
        </p:nvSpPr>
        <p:spPr>
          <a:xfrm>
            <a:off x="544820" y="3562484"/>
            <a:ext cx="536802" cy="248400"/>
          </a:xfrm>
          <a:prstGeom prst="homePlate">
            <a:avLst>
              <a:gd name="adj" fmla="val 3077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167067" tIns="83500" rIns="167067" bIns="83500" anchor="ctr" anchorCtr="0">
            <a:noAutofit/>
          </a:bodyPr>
          <a:lstStyle/>
          <a:p>
            <a:pPr algn="ctr">
              <a:buSzPts val="1900"/>
            </a:pPr>
            <a:endParaRPr sz="933">
              <a:solidFill>
                <a:schemeClr val="bg1"/>
              </a:solidFill>
            </a:endParaRPr>
          </a:p>
        </p:txBody>
      </p:sp>
      <p:sp>
        <p:nvSpPr>
          <p:cNvPr id="45" name="struct.vignette.a.step.2"/>
          <p:cNvSpPr/>
          <p:nvPr/>
        </p:nvSpPr>
        <p:spPr>
          <a:xfrm>
            <a:off x="1024929" y="3562484"/>
            <a:ext cx="536802" cy="248400"/>
          </a:xfrm>
          <a:prstGeom prst="chevron">
            <a:avLst>
              <a:gd name="adj" fmla="val 31004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167067" tIns="83500" rIns="167067" bIns="83500" anchor="ctr" anchorCtr="0">
            <a:noAutofit/>
          </a:bodyPr>
          <a:lstStyle/>
          <a:p>
            <a:pPr algn="ctr">
              <a:buSzPts val="1900"/>
            </a:pPr>
            <a:endParaRPr sz="933">
              <a:solidFill>
                <a:schemeClr val="bg1"/>
              </a:solidFill>
            </a:endParaRPr>
          </a:p>
        </p:txBody>
      </p:sp>
      <p:sp>
        <p:nvSpPr>
          <p:cNvPr id="46" name="struct.vignette.a.step.3"/>
          <p:cNvSpPr/>
          <p:nvPr/>
        </p:nvSpPr>
        <p:spPr>
          <a:xfrm>
            <a:off x="1505037" y="3562484"/>
            <a:ext cx="536802" cy="248400"/>
          </a:xfrm>
          <a:prstGeom prst="chevron">
            <a:avLst>
              <a:gd name="adj" fmla="val 31004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167067" tIns="83500" rIns="167067" bIns="83500" anchor="ctr" anchorCtr="0">
            <a:noAutofit/>
          </a:bodyPr>
          <a:lstStyle/>
          <a:p>
            <a:pPr algn="ctr">
              <a:buSzPts val="1900"/>
            </a:pPr>
            <a:endParaRPr sz="933">
              <a:solidFill>
                <a:schemeClr val="bg1"/>
              </a:solidFill>
            </a:endParaRPr>
          </a:p>
        </p:txBody>
      </p:sp>
      <p:cxnSp>
        <p:nvCxnSpPr>
          <p:cNvPr id="47" name="struct.vignette.a.link.1"/>
          <p:cNvCxnSpPr/>
          <p:nvPr/>
        </p:nvCxnSpPr>
        <p:spPr>
          <a:xfrm rot="16200000" flipH="1">
            <a:off x="1396681" y="3189728"/>
            <a:ext cx="128100" cy="1370413"/>
          </a:xfrm>
          <a:prstGeom prst="bentConnector2">
            <a:avLst/>
          </a:prstGeom>
          <a:noFill/>
          <a:ln w="13050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cxnSp>
        <p:nvCxnSpPr>
          <p:cNvPr id="48" name="struct.vignette.a.link.2"/>
          <p:cNvCxnSpPr/>
          <p:nvPr/>
        </p:nvCxnSpPr>
        <p:spPr>
          <a:xfrm rot="16200000" flipH="1">
            <a:off x="1636510" y="3429721"/>
            <a:ext cx="128100" cy="890428"/>
          </a:xfrm>
          <a:prstGeom prst="bentConnector2">
            <a:avLst/>
          </a:prstGeom>
          <a:noFill/>
          <a:ln w="13050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cxnSp>
        <p:nvCxnSpPr>
          <p:cNvPr id="49" name="struct.vignette.a.link.3"/>
          <p:cNvCxnSpPr/>
          <p:nvPr/>
        </p:nvCxnSpPr>
        <p:spPr>
          <a:xfrm rot="16200000" flipH="1">
            <a:off x="1876626" y="3669713"/>
            <a:ext cx="128100" cy="410443"/>
          </a:xfrm>
          <a:prstGeom prst="bentConnector2">
            <a:avLst/>
          </a:prstGeom>
          <a:noFill/>
          <a:ln w="13050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50" name="slot.vignette.d.head"/>
          <p:cNvSpPr/>
          <p:nvPr/>
        </p:nvSpPr>
        <p:spPr>
          <a:xfrm>
            <a:off x="9416498" y="1740875"/>
            <a:ext cx="2024893" cy="3548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Agents run the cycle,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planner oversees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struct.vignette.d.card"/>
          <p:cNvSpPr/>
          <p:nvPr/>
        </p:nvSpPr>
        <p:spPr>
          <a:xfrm>
            <a:off x="7367710" y="1591355"/>
            <a:ext cx="1904157" cy="661600"/>
          </a:xfrm>
          <a:prstGeom prst="roundRect">
            <a:avLst>
              <a:gd name="adj" fmla="val 6911"/>
            </a:avLst>
          </a:prstGeom>
          <a:solidFill>
            <a:schemeClr val="bg1">
              <a:lumMod val="85000"/>
            </a:schemeClr>
          </a:solidFill>
          <a:ln w="9050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5633" tIns="57767" rIns="115633" bIns="57767" anchor="ctr" anchorCtr="0">
            <a:noAutofit/>
          </a:bodyPr>
          <a:lstStyle/>
          <a:p>
            <a:pPr algn="ctr">
              <a:buSzPts val="1300"/>
            </a:pPr>
            <a:endParaRPr sz="933">
              <a:solidFill>
                <a:schemeClr val="bg1"/>
              </a:solidFill>
            </a:endParaRPr>
          </a:p>
        </p:txBody>
      </p:sp>
      <p:sp>
        <p:nvSpPr>
          <p:cNvPr id="52" name="struct.vignette.d.step.1"/>
          <p:cNvSpPr/>
          <p:nvPr/>
        </p:nvSpPr>
        <p:spPr>
          <a:xfrm>
            <a:off x="7514211" y="1650107"/>
            <a:ext cx="445855" cy="204400"/>
          </a:xfrm>
          <a:prstGeom prst="homePlate">
            <a:avLst>
              <a:gd name="adj" fmla="val 30770"/>
            </a:avLst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spcFirstLastPara="1" wrap="square" lIns="115633" tIns="57767" rIns="115633" bIns="57767" anchor="ctr" anchorCtr="0">
            <a:noAutofit/>
          </a:bodyPr>
          <a:lstStyle/>
          <a:p>
            <a:pPr algn="ctr">
              <a:buSzPts val="1300"/>
            </a:pPr>
            <a:endParaRPr sz="933">
              <a:solidFill>
                <a:schemeClr val="bg1"/>
              </a:solidFill>
            </a:endParaRPr>
          </a:p>
        </p:txBody>
      </p:sp>
      <p:sp>
        <p:nvSpPr>
          <p:cNvPr id="53" name="struct.vignette.d.step.2"/>
          <p:cNvSpPr/>
          <p:nvPr/>
        </p:nvSpPr>
        <p:spPr>
          <a:xfrm>
            <a:off x="7912959" y="1650107"/>
            <a:ext cx="445855" cy="204400"/>
          </a:xfrm>
          <a:prstGeom prst="chevron">
            <a:avLst>
              <a:gd name="adj" fmla="val 31004"/>
            </a:avLst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spcFirstLastPara="1" wrap="square" lIns="115633" tIns="57767" rIns="115633" bIns="57767" anchor="ctr" anchorCtr="0">
            <a:noAutofit/>
          </a:bodyPr>
          <a:lstStyle/>
          <a:p>
            <a:pPr algn="ctr">
              <a:buSzPts val="1300"/>
            </a:pPr>
            <a:endParaRPr sz="933">
              <a:solidFill>
                <a:schemeClr val="bg1"/>
              </a:solidFill>
            </a:endParaRPr>
          </a:p>
        </p:txBody>
      </p:sp>
      <p:sp>
        <p:nvSpPr>
          <p:cNvPr id="54" name="struct.vignette.d.step.3"/>
          <p:cNvSpPr/>
          <p:nvPr/>
        </p:nvSpPr>
        <p:spPr>
          <a:xfrm>
            <a:off x="8311708" y="1650107"/>
            <a:ext cx="445855" cy="204400"/>
          </a:xfrm>
          <a:prstGeom prst="chevron">
            <a:avLst>
              <a:gd name="adj" fmla="val 31004"/>
            </a:avLst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spcFirstLastPara="1" wrap="square" lIns="115633" tIns="57767" rIns="115633" bIns="57767" anchor="ctr" anchorCtr="0">
            <a:noAutofit/>
          </a:bodyPr>
          <a:lstStyle/>
          <a:p>
            <a:pPr algn="ctr">
              <a:buSzPts val="1300"/>
            </a:pPr>
            <a:endParaRPr sz="933">
              <a:solidFill>
                <a:schemeClr val="bg1"/>
              </a:solidFill>
            </a:endParaRPr>
          </a:p>
        </p:txBody>
      </p:sp>
      <p:cxnSp>
        <p:nvCxnSpPr>
          <p:cNvPr id="55" name="struct.vignette.d.link.1"/>
          <p:cNvCxnSpPr/>
          <p:nvPr/>
        </p:nvCxnSpPr>
        <p:spPr>
          <a:xfrm rot="-5400000" flipH="1">
            <a:off x="8246093" y="1314533"/>
            <a:ext cx="142800" cy="1222748"/>
          </a:xfrm>
          <a:prstGeom prst="bentConnector2">
            <a:avLst/>
          </a:prstGeom>
          <a:noFill/>
          <a:ln w="9050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cxnSp>
        <p:nvCxnSpPr>
          <p:cNvPr id="56" name="struct.vignette.d.link.2"/>
          <p:cNvCxnSpPr/>
          <p:nvPr/>
        </p:nvCxnSpPr>
        <p:spPr>
          <a:xfrm rot="-5400000" flipH="1">
            <a:off x="8445352" y="1513787"/>
            <a:ext cx="142800" cy="824240"/>
          </a:xfrm>
          <a:prstGeom prst="bentConnector2">
            <a:avLst/>
          </a:prstGeom>
          <a:noFill/>
          <a:ln w="9050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cxnSp>
        <p:nvCxnSpPr>
          <p:cNvPr id="57" name="struct.vignette.d.link.3"/>
          <p:cNvCxnSpPr/>
          <p:nvPr/>
        </p:nvCxnSpPr>
        <p:spPr>
          <a:xfrm rot="-5400000" flipH="1">
            <a:off x="8638641" y="1706805"/>
            <a:ext cx="163600" cy="417447"/>
          </a:xfrm>
          <a:prstGeom prst="bentConnector2">
            <a:avLst/>
          </a:prstGeom>
          <a:noFill/>
          <a:ln w="9050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58" name="struct.vignette.d.overseer"/>
          <p:cNvSpPr/>
          <p:nvPr/>
        </p:nvSpPr>
        <p:spPr>
          <a:xfrm>
            <a:off x="7484763" y="1977223"/>
            <a:ext cx="203200" cy="217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115633" tIns="115633" rIns="115633" bIns="115633" anchor="ctr" anchorCtr="0">
            <a:noAutofit/>
          </a:bodyPr>
          <a:lstStyle/>
          <a:p>
            <a:pPr algn="ctr">
              <a:buSzPts val="1300"/>
            </a:pPr>
            <a:endParaRPr sz="9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slot.vignette.b.head"/>
          <p:cNvSpPr/>
          <p:nvPr/>
        </p:nvSpPr>
        <p:spPr>
          <a:xfrm>
            <a:off x="2361833" y="1683748"/>
            <a:ext cx="1846551" cy="3657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36576" tIns="18288" rIns="36576" bIns="18288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Agents prepare the inputs, planners decide</a:t>
            </a:r>
            <a:endParaRPr lang="en-US" sz="9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struct.vignette.b.card"/>
          <p:cNvSpPr/>
          <p:nvPr/>
        </p:nvSpPr>
        <p:spPr>
          <a:xfrm>
            <a:off x="2361833" y="2086084"/>
            <a:ext cx="1846551" cy="867300"/>
          </a:xfrm>
          <a:prstGeom prst="roundRect">
            <a:avLst>
              <a:gd name="adj" fmla="val 5272"/>
            </a:avLst>
          </a:prstGeom>
          <a:solidFill>
            <a:schemeClr val="bg1">
              <a:lumMod val="95000"/>
            </a:schemeClr>
          </a:solidFill>
          <a:ln w="79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01600" tIns="50767" rIns="101600" bIns="50767" anchor="ctr" anchorCtr="0">
            <a:noAutofit/>
          </a:bodyPr>
          <a:lstStyle/>
          <a:p>
            <a:pPr algn="ctr">
              <a:buSzPts val="1200"/>
            </a:pPr>
            <a:endParaRPr sz="933">
              <a:solidFill>
                <a:schemeClr val="bg1"/>
              </a:solidFill>
            </a:endParaRPr>
          </a:p>
        </p:txBody>
      </p:sp>
      <p:sp>
        <p:nvSpPr>
          <p:cNvPr id="61" name="struct.vignette.b.step.3"/>
          <p:cNvSpPr/>
          <p:nvPr/>
        </p:nvSpPr>
        <p:spPr>
          <a:xfrm>
            <a:off x="2461752" y="2424167"/>
            <a:ext cx="518159" cy="217200"/>
          </a:xfrm>
          <a:prstGeom prst="homePlate">
            <a:avLst>
              <a:gd name="adj" fmla="val 3077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101600" tIns="50767" rIns="101600" bIns="50767" anchor="ctr" anchorCtr="0">
            <a:noAutofit/>
          </a:bodyPr>
          <a:lstStyle/>
          <a:p>
            <a:pPr algn="ctr">
              <a:buSzPts val="1200"/>
            </a:pPr>
            <a:endParaRPr sz="933">
              <a:solidFill>
                <a:schemeClr val="bg1"/>
              </a:solidFill>
            </a:endParaRPr>
          </a:p>
        </p:txBody>
      </p:sp>
      <p:sp>
        <p:nvSpPr>
          <p:cNvPr id="62" name="struct.vignette.b.step.4"/>
          <p:cNvSpPr/>
          <p:nvPr/>
        </p:nvSpPr>
        <p:spPr>
          <a:xfrm>
            <a:off x="2925123" y="2424167"/>
            <a:ext cx="518159" cy="217200"/>
          </a:xfrm>
          <a:prstGeom prst="chevron">
            <a:avLst>
              <a:gd name="adj" fmla="val 31004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101600" tIns="50767" rIns="101600" bIns="50767" anchor="ctr" anchorCtr="0">
            <a:noAutofit/>
          </a:bodyPr>
          <a:lstStyle/>
          <a:p>
            <a:pPr algn="ctr">
              <a:buSzPts val="1200"/>
            </a:pPr>
            <a:endParaRPr sz="933">
              <a:solidFill>
                <a:schemeClr val="bg1"/>
              </a:solidFill>
            </a:endParaRPr>
          </a:p>
        </p:txBody>
      </p:sp>
      <p:sp>
        <p:nvSpPr>
          <p:cNvPr id="63" name="struct.vignette.b.step.5"/>
          <p:cNvSpPr/>
          <p:nvPr/>
        </p:nvSpPr>
        <p:spPr>
          <a:xfrm>
            <a:off x="3388495" y="2424167"/>
            <a:ext cx="518159" cy="217200"/>
          </a:xfrm>
          <a:prstGeom prst="chevron">
            <a:avLst>
              <a:gd name="adj" fmla="val 31004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101600" tIns="50767" rIns="101600" bIns="50767" anchor="ctr" anchorCtr="0">
            <a:noAutofit/>
          </a:bodyPr>
          <a:lstStyle/>
          <a:p>
            <a:pPr algn="ctr">
              <a:buSzPts val="1200"/>
            </a:pPr>
            <a:endParaRPr sz="933">
              <a:solidFill>
                <a:schemeClr val="bg1"/>
              </a:solidFill>
            </a:endParaRPr>
          </a:p>
        </p:txBody>
      </p:sp>
      <p:cxnSp>
        <p:nvCxnSpPr>
          <p:cNvPr id="64" name="struct.vignette.b.link.1"/>
          <p:cNvCxnSpPr/>
          <p:nvPr/>
        </p:nvCxnSpPr>
        <p:spPr>
          <a:xfrm rot="16200000" flipH="1">
            <a:off x="3220651" y="2108586"/>
            <a:ext cx="134400" cy="1199962"/>
          </a:xfrm>
          <a:prstGeom prst="bentConnector2">
            <a:avLst/>
          </a:prstGeom>
          <a:noFill/>
          <a:ln w="792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cxnSp>
        <p:nvCxnSpPr>
          <p:cNvPr id="65" name="struct.vignette.b.link.2"/>
          <p:cNvCxnSpPr/>
          <p:nvPr/>
        </p:nvCxnSpPr>
        <p:spPr>
          <a:xfrm rot="16200000" flipH="1">
            <a:off x="3452213" y="2340145"/>
            <a:ext cx="134400" cy="736845"/>
          </a:xfrm>
          <a:prstGeom prst="bentConnector2">
            <a:avLst/>
          </a:prstGeom>
          <a:noFill/>
          <a:ln w="792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cxnSp>
        <p:nvCxnSpPr>
          <p:cNvPr id="66" name="struct.vignette.b.link.3"/>
          <p:cNvCxnSpPr/>
          <p:nvPr/>
        </p:nvCxnSpPr>
        <p:spPr>
          <a:xfrm rot="16200000" flipH="1">
            <a:off x="3683878" y="2571851"/>
            <a:ext cx="134400" cy="273432"/>
          </a:xfrm>
          <a:prstGeom prst="bentConnector2">
            <a:avLst/>
          </a:prstGeom>
          <a:noFill/>
          <a:ln w="792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67" name="struct.vignette.b.step.1"/>
          <p:cNvSpPr/>
          <p:nvPr/>
        </p:nvSpPr>
        <p:spPr>
          <a:xfrm>
            <a:off x="2949128" y="2170765"/>
            <a:ext cx="369606" cy="217200"/>
          </a:xfrm>
          <a:prstGeom prst="chevron">
            <a:avLst>
              <a:gd name="adj" fmla="val 31004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101600" tIns="50767" rIns="101600" bIns="50767" anchor="ctr" anchorCtr="0">
            <a:noAutofit/>
          </a:bodyPr>
          <a:lstStyle/>
          <a:p>
            <a:pPr algn="ctr">
              <a:buSzPts val="1200"/>
            </a:pPr>
            <a:endParaRPr sz="933">
              <a:solidFill>
                <a:schemeClr val="bg1"/>
              </a:solidFill>
            </a:endParaRPr>
          </a:p>
        </p:txBody>
      </p:sp>
      <p:sp>
        <p:nvSpPr>
          <p:cNvPr id="68" name="struct.vignette.b.step.2"/>
          <p:cNvSpPr/>
          <p:nvPr/>
        </p:nvSpPr>
        <p:spPr>
          <a:xfrm>
            <a:off x="3323062" y="2170765"/>
            <a:ext cx="369606" cy="217200"/>
          </a:xfrm>
          <a:prstGeom prst="chevron">
            <a:avLst>
              <a:gd name="adj" fmla="val 31004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101600" tIns="50767" rIns="101600" bIns="50767" anchor="ctr" anchorCtr="0">
            <a:noAutofit/>
          </a:bodyPr>
          <a:lstStyle/>
          <a:p>
            <a:pPr algn="ctr">
              <a:buSzPts val="1200"/>
            </a:pPr>
            <a:endParaRPr sz="933">
              <a:solidFill>
                <a:schemeClr val="bg1"/>
              </a:solidFill>
            </a:endParaRPr>
          </a:p>
        </p:txBody>
      </p:sp>
      <p:sp>
        <p:nvSpPr>
          <p:cNvPr id="69" name="slot.vignette.c.head"/>
          <p:cNvSpPr/>
          <p:nvPr/>
        </p:nvSpPr>
        <p:spPr>
          <a:xfrm>
            <a:off x="4734102" y="1543192"/>
            <a:ext cx="1969063" cy="3657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36576" tIns="18288" rIns="36576" bIns="18288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Agents draft the plan, planners approve</a:t>
            </a:r>
            <a:endParaRPr lang="en-US" sz="9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struct.vignette.c.card"/>
          <p:cNvSpPr/>
          <p:nvPr/>
        </p:nvSpPr>
        <p:spPr>
          <a:xfrm>
            <a:off x="4734102" y="1945528"/>
            <a:ext cx="1969063" cy="727800"/>
          </a:xfrm>
          <a:prstGeom prst="roundRect">
            <a:avLst>
              <a:gd name="adj" fmla="val 6282"/>
            </a:avLst>
          </a:prstGeom>
          <a:solidFill>
            <a:schemeClr val="bg1">
              <a:lumMod val="85000"/>
            </a:schemeClr>
          </a:solidFill>
          <a:ln w="877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2433" tIns="56200" rIns="112433" bIns="56200" anchor="ctr" anchorCtr="0">
            <a:noAutofit/>
          </a:bodyPr>
          <a:lstStyle/>
          <a:p>
            <a:pPr algn="ctr">
              <a:buSzPts val="1300"/>
            </a:pPr>
            <a:endParaRPr sz="933">
              <a:solidFill>
                <a:schemeClr val="bg1"/>
              </a:solidFill>
            </a:endParaRPr>
          </a:p>
        </p:txBody>
      </p:sp>
      <p:sp>
        <p:nvSpPr>
          <p:cNvPr id="71" name="struct.vignette.c.step.1"/>
          <p:cNvSpPr/>
          <p:nvPr/>
        </p:nvSpPr>
        <p:spPr>
          <a:xfrm>
            <a:off x="4821451" y="2062997"/>
            <a:ext cx="453056" cy="199500"/>
          </a:xfrm>
          <a:prstGeom prst="homePlate">
            <a:avLst>
              <a:gd name="adj" fmla="val 3077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72" name="struct.vignette.c.step.2"/>
          <p:cNvSpPr/>
          <p:nvPr/>
        </p:nvSpPr>
        <p:spPr>
          <a:xfrm>
            <a:off x="5226601" y="2062997"/>
            <a:ext cx="453056" cy="199500"/>
          </a:xfrm>
          <a:prstGeom prst="chevron">
            <a:avLst>
              <a:gd name="adj" fmla="val 31004"/>
            </a:avLst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spcFirstLastPara="1" wrap="square" lIns="112433" tIns="56200" rIns="112433" bIns="56200" anchor="ctr" anchorCtr="0">
            <a:noAutofit/>
          </a:bodyPr>
          <a:lstStyle/>
          <a:p>
            <a:pPr algn="ctr">
              <a:buSzPts val="1300"/>
            </a:pPr>
            <a:endParaRPr sz="933">
              <a:solidFill>
                <a:schemeClr val="bg1"/>
              </a:solidFill>
            </a:endParaRPr>
          </a:p>
        </p:txBody>
      </p:sp>
      <p:sp>
        <p:nvSpPr>
          <p:cNvPr id="73" name="struct.vignette.c.step.3"/>
          <p:cNvSpPr/>
          <p:nvPr/>
        </p:nvSpPr>
        <p:spPr>
          <a:xfrm>
            <a:off x="5631748" y="2062997"/>
            <a:ext cx="453056" cy="199500"/>
          </a:xfrm>
          <a:prstGeom prst="chevron">
            <a:avLst>
              <a:gd name="adj" fmla="val 31004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cxnSp>
        <p:nvCxnSpPr>
          <p:cNvPr id="74" name="struct.vignette.c.link.1"/>
          <p:cNvCxnSpPr/>
          <p:nvPr/>
        </p:nvCxnSpPr>
        <p:spPr>
          <a:xfrm rot="16200000" flipH="1">
            <a:off x="5589157" y="1691044"/>
            <a:ext cx="191700" cy="1334607"/>
          </a:xfrm>
          <a:prstGeom prst="bentConnector2">
            <a:avLst/>
          </a:prstGeom>
          <a:noFill/>
          <a:ln w="877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cxnSp>
        <p:nvCxnSpPr>
          <p:cNvPr id="75" name="struct.vignette.c.link.2"/>
          <p:cNvCxnSpPr/>
          <p:nvPr/>
        </p:nvCxnSpPr>
        <p:spPr>
          <a:xfrm rot="16200000" flipH="1">
            <a:off x="5791666" y="1893454"/>
            <a:ext cx="191700" cy="929786"/>
          </a:xfrm>
          <a:prstGeom prst="bentConnector2">
            <a:avLst/>
          </a:prstGeom>
          <a:noFill/>
          <a:ln w="877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cxnSp>
        <p:nvCxnSpPr>
          <p:cNvPr id="76" name="struct.vignette.c.link.3"/>
          <p:cNvCxnSpPr/>
          <p:nvPr/>
        </p:nvCxnSpPr>
        <p:spPr>
          <a:xfrm rot="16200000" flipH="1">
            <a:off x="5994255" y="2096012"/>
            <a:ext cx="191700" cy="524669"/>
          </a:xfrm>
          <a:prstGeom prst="bentConnector2">
            <a:avLst/>
          </a:prstGeom>
          <a:noFill/>
          <a:ln w="877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77" name="struct.vignette.c.step.4"/>
          <p:cNvSpPr/>
          <p:nvPr/>
        </p:nvSpPr>
        <p:spPr>
          <a:xfrm>
            <a:off x="5628227" y="2322478"/>
            <a:ext cx="421392" cy="199500"/>
          </a:xfrm>
          <a:prstGeom prst="chevron">
            <a:avLst>
              <a:gd name="adj" fmla="val 31004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112433" tIns="56200" rIns="112433" bIns="56200" anchor="ctr" anchorCtr="0">
            <a:noAutofit/>
          </a:bodyPr>
          <a:lstStyle/>
          <a:p>
            <a:pPr algn="ctr">
              <a:buSzPts val="1300"/>
            </a:pPr>
            <a:endParaRPr sz="933">
              <a:solidFill>
                <a:schemeClr val="bg1"/>
              </a:solidFill>
            </a:endParaRPr>
          </a:p>
        </p:txBody>
      </p:sp>
      <p:sp>
        <p:nvSpPr>
          <p:cNvPr id="78" name="struct.marker.5"/>
          <p:cNvSpPr/>
          <p:nvPr/>
        </p:nvSpPr>
        <p:spPr>
          <a:xfrm>
            <a:off x="9653999" y="2649712"/>
            <a:ext cx="166500" cy="1665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79" name="struct.marker.5.core"/>
          <p:cNvSpPr/>
          <p:nvPr/>
        </p:nvSpPr>
        <p:spPr>
          <a:xfrm>
            <a:off x="9685349" y="2681062"/>
            <a:ext cx="103800" cy="1038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80" name="struct.marker.1"/>
          <p:cNvSpPr/>
          <p:nvPr/>
        </p:nvSpPr>
        <p:spPr>
          <a:xfrm>
            <a:off x="638732" y="4892635"/>
            <a:ext cx="166500" cy="1665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81" name="struct.marker.1.core"/>
          <p:cNvSpPr/>
          <p:nvPr/>
        </p:nvSpPr>
        <p:spPr>
          <a:xfrm>
            <a:off x="670082" y="4923985"/>
            <a:ext cx="103800" cy="1038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82" name="struct.marker.2"/>
          <p:cNvSpPr/>
          <p:nvPr/>
        </p:nvSpPr>
        <p:spPr>
          <a:xfrm>
            <a:off x="2516371" y="4259914"/>
            <a:ext cx="166500" cy="1665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83" name="struct.marker.2.core"/>
          <p:cNvSpPr/>
          <p:nvPr/>
        </p:nvSpPr>
        <p:spPr>
          <a:xfrm>
            <a:off x="2547721" y="4291264"/>
            <a:ext cx="103800" cy="1038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84" name="struct.marker.4"/>
          <p:cNvSpPr/>
          <p:nvPr/>
        </p:nvSpPr>
        <p:spPr>
          <a:xfrm>
            <a:off x="6938372" y="2711044"/>
            <a:ext cx="166500" cy="1665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85" name="struct.marker.4.core"/>
          <p:cNvSpPr/>
          <p:nvPr/>
        </p:nvSpPr>
        <p:spPr>
          <a:xfrm>
            <a:off x="6969722" y="2742394"/>
            <a:ext cx="103800" cy="1038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86" name="struct.marker.6"/>
          <p:cNvSpPr/>
          <p:nvPr/>
        </p:nvSpPr>
        <p:spPr>
          <a:xfrm>
            <a:off x="11507452" y="2661271"/>
            <a:ext cx="166500" cy="1665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87" name="struct.marker.6.core"/>
          <p:cNvSpPr/>
          <p:nvPr/>
        </p:nvSpPr>
        <p:spPr>
          <a:xfrm>
            <a:off x="11538802" y="2692621"/>
            <a:ext cx="103800" cy="1038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88" name="struct.marker.3"/>
          <p:cNvSpPr/>
          <p:nvPr/>
        </p:nvSpPr>
        <p:spPr>
          <a:xfrm>
            <a:off x="4473280" y="3194661"/>
            <a:ext cx="166500" cy="1665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89" name="struct.marker.3.core"/>
          <p:cNvSpPr/>
          <p:nvPr/>
        </p:nvSpPr>
        <p:spPr>
          <a:xfrm>
            <a:off x="4504630" y="3226011"/>
            <a:ext cx="103800" cy="1038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90" name="struct.vignette.a.step.1.icon"/>
          <p:cNvSpPr/>
          <p:nvPr/>
        </p:nvSpPr>
        <p:spPr>
          <a:xfrm>
            <a:off x="708314" y="3599816"/>
            <a:ext cx="173736" cy="17373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4605" cap="rnd">
            <a:solidFill>
              <a:schemeClr val="bg1"/>
            </a:solidFill>
            <a:round/>
          </a:ln>
          <a:effectLst/>
        </p:spPr>
      </p:sp>
      <p:sp>
        <p:nvSpPr>
          <p:cNvPr id="91" name="struct.vignette.a.step.2.icon"/>
          <p:cNvSpPr/>
          <p:nvPr/>
        </p:nvSpPr>
        <p:spPr>
          <a:xfrm>
            <a:off x="1188422" y="3599816"/>
            <a:ext cx="173736" cy="17373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4605" cap="rnd">
            <a:solidFill>
              <a:schemeClr val="bg1"/>
            </a:solidFill>
            <a:round/>
          </a:ln>
          <a:effectLst/>
        </p:spPr>
      </p:sp>
      <p:sp>
        <p:nvSpPr>
          <p:cNvPr id="92" name="struct.vignette.a.step.3.icon"/>
          <p:cNvSpPr/>
          <p:nvPr/>
        </p:nvSpPr>
        <p:spPr>
          <a:xfrm>
            <a:off x="1668530" y="3599816"/>
            <a:ext cx="173736" cy="17373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4605" cap="rnd">
            <a:solidFill>
              <a:schemeClr val="bg1"/>
            </a:solidFill>
            <a:round/>
          </a:ln>
          <a:effectLst/>
        </p:spPr>
      </p:sp>
      <p:sp>
        <p:nvSpPr>
          <p:cNvPr id="93" name="struct.vignette.b.step.1.icon"/>
          <p:cNvSpPr/>
          <p:nvPr/>
        </p:nvSpPr>
        <p:spPr>
          <a:xfrm>
            <a:off x="3034724" y="2198197"/>
            <a:ext cx="162336" cy="16233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3335" cap="rnd">
            <a:solidFill>
              <a:schemeClr val="bg1"/>
            </a:solidFill>
            <a:round/>
          </a:ln>
          <a:effectLst/>
        </p:spPr>
      </p:sp>
      <p:sp>
        <p:nvSpPr>
          <p:cNvPr id="94" name="struct.vignette.b.step.2.icon"/>
          <p:cNvSpPr/>
          <p:nvPr/>
        </p:nvSpPr>
        <p:spPr>
          <a:xfrm>
            <a:off x="3408658" y="2198197"/>
            <a:ext cx="162336" cy="16233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3335" cap="rnd">
            <a:solidFill>
              <a:schemeClr val="bg1"/>
            </a:solidFill>
            <a:round/>
          </a:ln>
          <a:effectLst/>
        </p:spPr>
      </p:sp>
      <p:sp>
        <p:nvSpPr>
          <p:cNvPr id="95" name="struct.vignette.b.step.3.icon"/>
          <p:cNvSpPr/>
          <p:nvPr/>
        </p:nvSpPr>
        <p:spPr>
          <a:xfrm>
            <a:off x="2621624" y="2451599"/>
            <a:ext cx="162336" cy="16233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3335" cap="rnd">
            <a:solidFill>
              <a:schemeClr val="bg1"/>
            </a:solidFill>
            <a:round/>
          </a:ln>
          <a:effectLst/>
        </p:spPr>
      </p:sp>
      <p:sp>
        <p:nvSpPr>
          <p:cNvPr id="96" name="struct.vignette.b.step.4.icon"/>
          <p:cNvSpPr/>
          <p:nvPr/>
        </p:nvSpPr>
        <p:spPr>
          <a:xfrm>
            <a:off x="3084995" y="2451599"/>
            <a:ext cx="162336" cy="16233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3335" cap="rnd">
            <a:solidFill>
              <a:schemeClr val="bg1"/>
            </a:solidFill>
            <a:round/>
          </a:ln>
          <a:effectLst/>
        </p:spPr>
      </p:sp>
      <p:sp>
        <p:nvSpPr>
          <p:cNvPr id="97" name="struct.vignette.b.step.5.icon"/>
          <p:cNvSpPr/>
          <p:nvPr/>
        </p:nvSpPr>
        <p:spPr>
          <a:xfrm>
            <a:off x="3548367" y="2451599"/>
            <a:ext cx="162336" cy="16233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3335" cap="rnd">
            <a:solidFill>
              <a:schemeClr val="bg1"/>
            </a:solidFill>
            <a:round/>
          </a:ln>
          <a:effectLst/>
        </p:spPr>
      </p:sp>
      <p:sp>
        <p:nvSpPr>
          <p:cNvPr id="98" name="struct.vignette.c.step.1.icon"/>
          <p:cNvSpPr/>
          <p:nvPr/>
        </p:nvSpPr>
        <p:spPr>
          <a:xfrm>
            <a:off x="4957622" y="2090429"/>
            <a:ext cx="144636" cy="14463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99" name="struct.vignette.c.step.2.icon"/>
          <p:cNvSpPr/>
          <p:nvPr/>
        </p:nvSpPr>
        <p:spPr>
          <a:xfrm>
            <a:off x="5362771" y="2090429"/>
            <a:ext cx="144636" cy="14463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100" name="struct.vignette.c.step.3.icon"/>
          <p:cNvSpPr/>
          <p:nvPr/>
        </p:nvSpPr>
        <p:spPr>
          <a:xfrm>
            <a:off x="5767918" y="2090429"/>
            <a:ext cx="144636" cy="14463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101" name="struct.vignette.c.step.4.icon"/>
          <p:cNvSpPr/>
          <p:nvPr/>
        </p:nvSpPr>
        <p:spPr>
          <a:xfrm>
            <a:off x="5748566" y="2349910"/>
            <a:ext cx="144636" cy="14463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102" name="struct.vignette.d.step.1.icon"/>
          <p:cNvSpPr/>
          <p:nvPr/>
        </p:nvSpPr>
        <p:spPr>
          <a:xfrm>
            <a:off x="7644331" y="1677539"/>
            <a:ext cx="149536" cy="14953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70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103" name="struct.vignette.d.step.2.icon"/>
          <p:cNvSpPr/>
          <p:nvPr/>
        </p:nvSpPr>
        <p:spPr>
          <a:xfrm>
            <a:off x="8043080" y="1677539"/>
            <a:ext cx="149536" cy="14953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70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104" name="struct.vignette.d.step.3.icon"/>
          <p:cNvSpPr/>
          <p:nvPr/>
        </p:nvSpPr>
        <p:spPr>
          <a:xfrm>
            <a:off x="8441828" y="1677539"/>
            <a:ext cx="149536" cy="14953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70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105" name="struct.vignette.d.overseer.icon"/>
          <p:cNvSpPr/>
          <p:nvPr/>
        </p:nvSpPr>
        <p:spPr>
          <a:xfrm>
            <a:off x="7517783" y="2017243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1430" cap="rnd">
            <a:solidFill>
              <a:schemeClr val="bg1"/>
            </a:solidFill>
            <a:round/>
          </a:ln>
          <a:effectLst/>
        </p:spPr>
      </p:sp>
      <p:sp>
        <p:nvSpPr>
          <p:cNvPr id="106" name="struct.vignette.a.output"/>
          <p:cNvSpPr/>
          <p:nvPr/>
        </p:nvSpPr>
        <p:spPr>
          <a:xfrm>
            <a:off x="2129218" y="3829279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1841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107" name="struct.vignette.b.output"/>
          <p:cNvSpPr/>
          <p:nvPr/>
        </p:nvSpPr>
        <p:spPr>
          <a:xfrm>
            <a:off x="3868665" y="2666717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1841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108" name="struct.vignette.c.output"/>
          <p:cNvSpPr/>
          <p:nvPr/>
        </p:nvSpPr>
        <p:spPr>
          <a:xfrm>
            <a:off x="6356748" y="2344028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1841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109" name="struct.vignette.d.output"/>
          <p:cNvSpPr/>
          <p:nvPr/>
        </p:nvSpPr>
        <p:spPr>
          <a:xfrm>
            <a:off x="8931870" y="1887879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1841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110" name="struct.start.icon"/>
          <p:cNvSpPr/>
          <p:nvPr/>
        </p:nvSpPr>
        <p:spPr>
          <a:xfrm>
            <a:off x="1133366" y="507492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7000"/>
                </a:moveTo>
                <a:lnTo>
                  <a:pt x="22000" y="7000"/>
                </a:lnTo>
                <a:lnTo>
                  <a:pt x="22000" y="13000"/>
                </a:lnTo>
                <a:moveTo>
                  <a:pt x="22000" y="7000"/>
                </a:moveTo>
                <a:lnTo>
                  <a:pt x="13500" y="15500"/>
                </a:lnTo>
                <a:lnTo>
                  <a:pt x="8500" y="10500"/>
                </a:lnTo>
                <a:lnTo>
                  <a:pt x="2000" y="17000"/>
                </a:lnTo>
              </a:path>
            </a:pathLst>
          </a:custGeom>
          <a:noFill/>
          <a:ln w="13970" cap="rnd">
            <a:solidFill>
              <a:schemeClr val="bg1"/>
            </a:solidFill>
            <a:round/>
          </a:ln>
          <a:effectLst/>
        </p:spPr>
      </p:sp>
      <p:sp>
        <p:nvSpPr>
          <p:cNvPr id="111" name="slot.value.1.icon"/>
          <p:cNvSpPr/>
          <p:nvPr/>
        </p:nvSpPr>
        <p:spPr>
          <a:xfrm>
            <a:off x="3379145" y="420624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744" y="17736"/>
                </a:moveTo>
                <a:cubicBezTo>
                  <a:pt x="12915" y="20477"/>
                  <a:pt x="10264" y="22250"/>
                  <a:pt x="7414" y="21970"/>
                </a:cubicBezTo>
                <a:cubicBezTo>
                  <a:pt x="4564" y="21690"/>
                  <a:pt x="2310" y="19436"/>
                  <a:pt x="2030" y="16586"/>
                </a:cubicBezTo>
                <a:cubicBezTo>
                  <a:pt x="1750" y="13736"/>
                  <a:pt x="3523" y="11085"/>
                  <a:pt x="6264" y="10256"/>
                </a:cubicBezTo>
                <a:moveTo>
                  <a:pt x="15000" y="6000"/>
                </a:moveTo>
                <a:lnTo>
                  <a:pt x="16000" y="6000"/>
                </a:lnTo>
                <a:lnTo>
                  <a:pt x="16000" y="10000"/>
                </a:lnTo>
                <a:moveTo>
                  <a:pt x="6134" y="14768"/>
                </a:moveTo>
                <a:lnTo>
                  <a:pt x="7000" y="14268"/>
                </a:lnTo>
                <a:lnTo>
                  <a:pt x="9000" y="17732"/>
                </a:lnTo>
                <a:moveTo>
                  <a:pt x="22000" y="8000"/>
                </a:moveTo>
                <a:cubicBezTo>
                  <a:pt x="22000" y="11314"/>
                  <a:pt x="19314" y="14000"/>
                  <a:pt x="16000" y="14000"/>
                </a:cubicBezTo>
                <a:cubicBezTo>
                  <a:pt x="12686" y="14000"/>
                  <a:pt x="10000" y="11314"/>
                  <a:pt x="10000" y="8000"/>
                </a:cubicBezTo>
                <a:cubicBezTo>
                  <a:pt x="10000" y="4686"/>
                  <a:pt x="12686" y="2000"/>
                  <a:pt x="16000" y="2000"/>
                </a:cubicBezTo>
                <a:cubicBezTo>
                  <a:pt x="19314" y="2000"/>
                  <a:pt x="22000" y="4686"/>
                  <a:pt x="22000" y="8000"/>
                </a:cubicBezTo>
                <a:close/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</p:sp>
      <p:sp>
        <p:nvSpPr>
          <p:cNvPr id="112" name="slot.value.2.icon"/>
          <p:cNvSpPr/>
          <p:nvPr/>
        </p:nvSpPr>
        <p:spPr>
          <a:xfrm>
            <a:off x="3379145" y="480974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970" y="12920"/>
                </a:moveTo>
                <a:cubicBezTo>
                  <a:pt x="2369" y="13281"/>
                  <a:pt x="2002" y="13929"/>
                  <a:pt x="2000" y="14630"/>
                </a:cubicBezTo>
                <a:lnTo>
                  <a:pt x="2000" y="17870"/>
                </a:lnTo>
                <a:cubicBezTo>
                  <a:pt x="2002" y="18571"/>
                  <a:pt x="2369" y="19219"/>
                  <a:pt x="2970" y="19580"/>
                </a:cubicBezTo>
                <a:lnTo>
                  <a:pt x="5970" y="21380"/>
                </a:lnTo>
                <a:cubicBezTo>
                  <a:pt x="6604" y="21761"/>
                  <a:pt x="7396" y="21761"/>
                  <a:pt x="8030" y="21380"/>
                </a:cubicBezTo>
                <a:lnTo>
                  <a:pt x="12000" y="19000"/>
                </a:lnTo>
                <a:lnTo>
                  <a:pt x="12000" y="13500"/>
                </a:lnTo>
                <a:lnTo>
                  <a:pt x="7000" y="10500"/>
                </a:lnTo>
                <a:lnTo>
                  <a:pt x="2970" y="12920"/>
                </a:lnTo>
                <a:close/>
                <a:moveTo>
                  <a:pt x="7000" y="16500"/>
                </a:moveTo>
                <a:lnTo>
                  <a:pt x="2260" y="13650"/>
                </a:lnTo>
                <a:moveTo>
                  <a:pt x="7000" y="16500"/>
                </a:moveTo>
                <a:lnTo>
                  <a:pt x="12000" y="13500"/>
                </a:lnTo>
                <a:moveTo>
                  <a:pt x="7000" y="16500"/>
                </a:moveTo>
                <a:lnTo>
                  <a:pt x="7000" y="21670"/>
                </a:lnTo>
                <a:moveTo>
                  <a:pt x="12000" y="13500"/>
                </a:moveTo>
                <a:lnTo>
                  <a:pt x="12000" y="19000"/>
                </a:lnTo>
                <a:lnTo>
                  <a:pt x="15970" y="21380"/>
                </a:lnTo>
                <a:cubicBezTo>
                  <a:pt x="16604" y="21761"/>
                  <a:pt x="17396" y="21761"/>
                  <a:pt x="18030" y="21380"/>
                </a:cubicBezTo>
                <a:lnTo>
                  <a:pt x="21030" y="19580"/>
                </a:lnTo>
                <a:cubicBezTo>
                  <a:pt x="21631" y="19219"/>
                  <a:pt x="21998" y="18571"/>
                  <a:pt x="22000" y="17870"/>
                </a:cubicBezTo>
                <a:lnTo>
                  <a:pt x="22000" y="14630"/>
                </a:lnTo>
                <a:cubicBezTo>
                  <a:pt x="21998" y="13929"/>
                  <a:pt x="21631" y="13281"/>
                  <a:pt x="21030" y="12920"/>
                </a:cubicBezTo>
                <a:lnTo>
                  <a:pt x="17000" y="10500"/>
                </a:lnTo>
                <a:lnTo>
                  <a:pt x="12000" y="13500"/>
                </a:lnTo>
                <a:close/>
                <a:moveTo>
                  <a:pt x="17000" y="16500"/>
                </a:moveTo>
                <a:lnTo>
                  <a:pt x="12000" y="13500"/>
                </a:lnTo>
                <a:moveTo>
                  <a:pt x="17000" y="16500"/>
                </a:moveTo>
                <a:lnTo>
                  <a:pt x="21740" y="13650"/>
                </a:lnTo>
                <a:moveTo>
                  <a:pt x="17000" y="16500"/>
                </a:moveTo>
                <a:lnTo>
                  <a:pt x="17000" y="21670"/>
                </a:lnTo>
                <a:moveTo>
                  <a:pt x="7970" y="4420"/>
                </a:moveTo>
                <a:cubicBezTo>
                  <a:pt x="7369" y="4781"/>
                  <a:pt x="7002" y="5429"/>
                  <a:pt x="7000" y="6130"/>
                </a:cubicBezTo>
                <a:lnTo>
                  <a:pt x="7000" y="10500"/>
                </a:lnTo>
                <a:lnTo>
                  <a:pt x="12000" y="13500"/>
                </a:lnTo>
                <a:lnTo>
                  <a:pt x="17000" y="10500"/>
                </a:lnTo>
                <a:lnTo>
                  <a:pt x="17000" y="6130"/>
                </a:lnTo>
                <a:cubicBezTo>
                  <a:pt x="16998" y="5429"/>
                  <a:pt x="16631" y="4781"/>
                  <a:pt x="16030" y="4420"/>
                </a:cubicBezTo>
                <a:lnTo>
                  <a:pt x="13030" y="2620"/>
                </a:lnTo>
                <a:cubicBezTo>
                  <a:pt x="12396" y="2239"/>
                  <a:pt x="11604" y="2239"/>
                  <a:pt x="10970" y="2620"/>
                </a:cubicBezTo>
                <a:lnTo>
                  <a:pt x="7970" y="4420"/>
                </a:lnTo>
                <a:close/>
                <a:moveTo>
                  <a:pt x="12000" y="8000"/>
                </a:moveTo>
                <a:lnTo>
                  <a:pt x="7260" y="5150"/>
                </a:lnTo>
                <a:moveTo>
                  <a:pt x="12000" y="8000"/>
                </a:moveTo>
                <a:lnTo>
                  <a:pt x="16740" y="5150"/>
                </a:lnTo>
                <a:moveTo>
                  <a:pt x="12000" y="13500"/>
                </a:moveTo>
                <a:lnTo>
                  <a:pt x="12000" y="8000"/>
                </a:lnTo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</p:sp>
      <p:sp>
        <p:nvSpPr>
          <p:cNvPr id="113" name="slot.value.3.icon"/>
          <p:cNvSpPr/>
          <p:nvPr/>
        </p:nvSpPr>
        <p:spPr>
          <a:xfrm>
            <a:off x="5886619" y="3456432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8000" y="12000"/>
                </a:moveTo>
                <a:cubicBezTo>
                  <a:pt x="18000" y="15314"/>
                  <a:pt x="15314" y="18000"/>
                  <a:pt x="12000" y="18000"/>
                </a:cubicBezTo>
                <a:cubicBezTo>
                  <a:pt x="8686" y="18000"/>
                  <a:pt x="6000" y="15314"/>
                  <a:pt x="6000" y="12000"/>
                </a:cubicBezTo>
                <a:cubicBezTo>
                  <a:pt x="6000" y="8686"/>
                  <a:pt x="8686" y="6000"/>
                  <a:pt x="12000" y="6000"/>
                </a:cubicBezTo>
                <a:cubicBezTo>
                  <a:pt x="15314" y="6000"/>
                  <a:pt x="18000" y="8686"/>
                  <a:pt x="18000" y="12000"/>
                </a:cubicBezTo>
                <a:close/>
                <a:moveTo>
                  <a:pt x="14000" y="12000"/>
                </a:moveTo>
                <a:cubicBezTo>
                  <a:pt x="14000" y="13105"/>
                  <a:pt x="13105" y="14000"/>
                  <a:pt x="12000" y="14000"/>
                </a:cubicBezTo>
                <a:cubicBezTo>
                  <a:pt x="10895" y="14000"/>
                  <a:pt x="10000" y="13105"/>
                  <a:pt x="10000" y="12000"/>
                </a:cubicBezTo>
                <a:cubicBezTo>
                  <a:pt x="10000" y="10895"/>
                  <a:pt x="10895" y="10000"/>
                  <a:pt x="12000" y="10000"/>
                </a:cubicBezTo>
                <a:cubicBezTo>
                  <a:pt x="13105" y="10000"/>
                  <a:pt x="14000" y="10895"/>
                  <a:pt x="14000" y="12000"/>
                </a:cubicBezTo>
                <a:close/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</p:sp>
      <p:sp>
        <p:nvSpPr>
          <p:cNvPr id="114" name="slot.value.4.icon"/>
          <p:cNvSpPr/>
          <p:nvPr/>
        </p:nvSpPr>
        <p:spPr>
          <a:xfrm>
            <a:off x="5886619" y="407822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3000"/>
                </a:moveTo>
                <a:lnTo>
                  <a:pt x="3000" y="19000"/>
                </a:lnTo>
                <a:cubicBezTo>
                  <a:pt x="3000" y="20105"/>
                  <a:pt x="3895" y="21000"/>
                  <a:pt x="5000" y="21000"/>
                </a:cubicBezTo>
                <a:lnTo>
                  <a:pt x="21000" y="21000"/>
                </a:lnTo>
                <a:moveTo>
                  <a:pt x="18000" y="17000"/>
                </a:moveTo>
                <a:lnTo>
                  <a:pt x="18000" y="9000"/>
                </a:lnTo>
                <a:moveTo>
                  <a:pt x="13000" y="17000"/>
                </a:moveTo>
                <a:lnTo>
                  <a:pt x="13000" y="5000"/>
                </a:lnTo>
                <a:moveTo>
                  <a:pt x="8000" y="17000"/>
                </a:moveTo>
                <a:lnTo>
                  <a:pt x="8000" y="14000"/>
                </a:lnTo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</p:sp>
      <p:sp>
        <p:nvSpPr>
          <p:cNvPr id="115" name="slot.value.5.icon"/>
          <p:cNvSpPr/>
          <p:nvPr/>
        </p:nvSpPr>
        <p:spPr>
          <a:xfrm>
            <a:off x="8430172" y="329184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000" y="2000"/>
                </a:moveTo>
                <a:lnTo>
                  <a:pt x="14000" y="2000"/>
                </a:lnTo>
                <a:moveTo>
                  <a:pt x="12000" y="14000"/>
                </a:moveTo>
                <a:lnTo>
                  <a:pt x="15000" y="11000"/>
                </a:lnTo>
                <a:moveTo>
                  <a:pt x="20000" y="14000"/>
                </a:moveTo>
                <a:cubicBezTo>
                  <a:pt x="20000" y="18418"/>
                  <a:pt x="16418" y="22000"/>
                  <a:pt x="12000" y="22000"/>
                </a:cubicBezTo>
                <a:cubicBezTo>
                  <a:pt x="7582" y="22000"/>
                  <a:pt x="4000" y="18418"/>
                  <a:pt x="4000" y="14000"/>
                </a:cubicBezTo>
                <a:cubicBezTo>
                  <a:pt x="4000" y="9582"/>
                  <a:pt x="7582" y="6000"/>
                  <a:pt x="12000" y="6000"/>
                </a:cubicBezTo>
                <a:cubicBezTo>
                  <a:pt x="16418" y="6000"/>
                  <a:pt x="20000" y="9582"/>
                  <a:pt x="20000" y="14000"/>
                </a:cubicBezTo>
                <a:close/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</p:sp>
      <p:sp>
        <p:nvSpPr>
          <p:cNvPr id="116" name="slot.value.6.icon"/>
          <p:cNvSpPr/>
          <p:nvPr/>
        </p:nvSpPr>
        <p:spPr>
          <a:xfrm>
            <a:off x="8430172" y="389534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000" y="18000"/>
                </a:moveTo>
                <a:lnTo>
                  <a:pt x="14000" y="6000"/>
                </a:lnTo>
                <a:cubicBezTo>
                  <a:pt x="14000" y="4895"/>
                  <a:pt x="13105" y="4000"/>
                  <a:pt x="12000" y="4000"/>
                </a:cubicBezTo>
                <a:lnTo>
                  <a:pt x="4000" y="4000"/>
                </a:lnTo>
                <a:cubicBezTo>
                  <a:pt x="2895" y="4000"/>
                  <a:pt x="2000" y="4895"/>
                  <a:pt x="2000" y="6000"/>
                </a:cubicBezTo>
                <a:lnTo>
                  <a:pt x="2000" y="17000"/>
                </a:lnTo>
                <a:cubicBezTo>
                  <a:pt x="2000" y="17552"/>
                  <a:pt x="2448" y="18000"/>
                  <a:pt x="3000" y="18000"/>
                </a:cubicBezTo>
                <a:lnTo>
                  <a:pt x="5000" y="18000"/>
                </a:lnTo>
                <a:moveTo>
                  <a:pt x="15000" y="18000"/>
                </a:moveTo>
                <a:lnTo>
                  <a:pt x="9000" y="18000"/>
                </a:lnTo>
                <a:moveTo>
                  <a:pt x="19000" y="18000"/>
                </a:moveTo>
                <a:lnTo>
                  <a:pt x="21000" y="18000"/>
                </a:lnTo>
                <a:cubicBezTo>
                  <a:pt x="21552" y="18000"/>
                  <a:pt x="22000" y="17552"/>
                  <a:pt x="22000" y="17000"/>
                </a:cubicBezTo>
                <a:lnTo>
                  <a:pt x="22000" y="13350"/>
                </a:lnTo>
                <a:cubicBezTo>
                  <a:pt x="22000" y="13123"/>
                  <a:pt x="21922" y="12903"/>
                  <a:pt x="21780" y="12726"/>
                </a:cubicBezTo>
                <a:lnTo>
                  <a:pt x="18300" y="8376"/>
                </a:lnTo>
                <a:cubicBezTo>
                  <a:pt x="18111" y="8139"/>
                  <a:pt x="17824" y="8000"/>
                  <a:pt x="17520" y="8000"/>
                </a:cubicBezTo>
                <a:lnTo>
                  <a:pt x="14000" y="8000"/>
                </a:lnTo>
                <a:moveTo>
                  <a:pt x="19000" y="18000"/>
                </a:moveTo>
                <a:cubicBezTo>
                  <a:pt x="19000" y="19105"/>
                  <a:pt x="18105" y="20000"/>
                  <a:pt x="17000" y="20000"/>
                </a:cubicBezTo>
                <a:cubicBezTo>
                  <a:pt x="15895" y="20000"/>
                  <a:pt x="15000" y="19105"/>
                  <a:pt x="15000" y="18000"/>
                </a:cubicBezTo>
                <a:cubicBezTo>
                  <a:pt x="15000" y="16895"/>
                  <a:pt x="15895" y="16000"/>
                  <a:pt x="17000" y="16000"/>
                </a:cubicBezTo>
                <a:cubicBezTo>
                  <a:pt x="18105" y="16000"/>
                  <a:pt x="19000" y="16895"/>
                  <a:pt x="19000" y="18000"/>
                </a:cubicBezTo>
                <a:close/>
                <a:moveTo>
                  <a:pt x="9000" y="18000"/>
                </a:moveTo>
                <a:cubicBezTo>
                  <a:pt x="9000" y="19105"/>
                  <a:pt x="8105" y="20000"/>
                  <a:pt x="7000" y="20000"/>
                </a:cubicBezTo>
                <a:cubicBezTo>
                  <a:pt x="5895" y="20000"/>
                  <a:pt x="5000" y="19105"/>
                  <a:pt x="5000" y="18000"/>
                </a:cubicBezTo>
                <a:cubicBezTo>
                  <a:pt x="5000" y="16895"/>
                  <a:pt x="5895" y="16000"/>
                  <a:pt x="7000" y="16000"/>
                </a:cubicBezTo>
                <a:cubicBezTo>
                  <a:pt x="8105" y="16000"/>
                  <a:pt x="9000" y="16895"/>
                  <a:pt x="9000" y="18000"/>
                </a:cubicBezTo>
                <a:close/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</p:sp>
      <p:sp>
        <p:nvSpPr>
          <p:cNvPr id="117" name="slot.value.7.icon"/>
          <p:cNvSpPr/>
          <p:nvPr/>
        </p:nvSpPr>
        <p:spPr>
          <a:xfrm>
            <a:off x="8430172" y="4498848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6000"/>
                </a:moveTo>
                <a:lnTo>
                  <a:pt x="12010" y="16000"/>
                </a:lnTo>
                <a:moveTo>
                  <a:pt x="16000" y="16000"/>
                </a:moveTo>
                <a:lnTo>
                  <a:pt x="16010" y="16000"/>
                </a:lnTo>
                <a:moveTo>
                  <a:pt x="3000" y="19000"/>
                </a:moveTo>
                <a:cubicBezTo>
                  <a:pt x="3000" y="20105"/>
                  <a:pt x="3895" y="21000"/>
                  <a:pt x="5000" y="21000"/>
                </a:cubicBezTo>
                <a:lnTo>
                  <a:pt x="19000" y="21000"/>
                </a:lnTo>
                <a:cubicBezTo>
                  <a:pt x="20105" y="21000"/>
                  <a:pt x="21000" y="20105"/>
                  <a:pt x="21000" y="19000"/>
                </a:cubicBezTo>
                <a:lnTo>
                  <a:pt x="21000" y="8500"/>
                </a:lnTo>
                <a:cubicBezTo>
                  <a:pt x="21000" y="8317"/>
                  <a:pt x="20901" y="8149"/>
                  <a:pt x="20741" y="8061"/>
                </a:cubicBezTo>
                <a:cubicBezTo>
                  <a:pt x="20580" y="7973"/>
                  <a:pt x="20385" y="7980"/>
                  <a:pt x="20231" y="8078"/>
                </a:cubicBezTo>
                <a:lnTo>
                  <a:pt x="15769" y="10922"/>
                </a:lnTo>
                <a:cubicBezTo>
                  <a:pt x="15615" y="11020"/>
                  <a:pt x="15420" y="11027"/>
                  <a:pt x="15259" y="10939"/>
                </a:cubicBezTo>
                <a:cubicBezTo>
                  <a:pt x="15099" y="10851"/>
                  <a:pt x="15000" y="10683"/>
                  <a:pt x="15000" y="10500"/>
                </a:cubicBezTo>
                <a:lnTo>
                  <a:pt x="15000" y="8500"/>
                </a:lnTo>
                <a:cubicBezTo>
                  <a:pt x="15000" y="8317"/>
                  <a:pt x="14901" y="8149"/>
                  <a:pt x="14741" y="8061"/>
                </a:cubicBezTo>
                <a:cubicBezTo>
                  <a:pt x="14580" y="7973"/>
                  <a:pt x="14385" y="7980"/>
                  <a:pt x="14231" y="8078"/>
                </a:cubicBezTo>
                <a:lnTo>
                  <a:pt x="9770" y="10922"/>
                </a:lnTo>
                <a:cubicBezTo>
                  <a:pt x="9616" y="11021"/>
                  <a:pt x="9420" y="11028"/>
                  <a:pt x="9260" y="10940"/>
                </a:cubicBezTo>
                <a:cubicBezTo>
                  <a:pt x="9099" y="10852"/>
                  <a:pt x="9000" y="10683"/>
                  <a:pt x="9000" y="10500"/>
                </a:cubicBezTo>
                <a:lnTo>
                  <a:pt x="9000" y="5000"/>
                </a:lnTo>
                <a:cubicBezTo>
                  <a:pt x="9000" y="3895"/>
                  <a:pt x="8105" y="3000"/>
                  <a:pt x="7000" y="3000"/>
                </a:cubicBezTo>
                <a:lnTo>
                  <a:pt x="5000" y="3000"/>
                </a:lnTo>
                <a:cubicBezTo>
                  <a:pt x="3895" y="3000"/>
                  <a:pt x="3000" y="3895"/>
                  <a:pt x="3000" y="5000"/>
                </a:cubicBezTo>
                <a:close/>
                <a:moveTo>
                  <a:pt x="8000" y="16000"/>
                </a:moveTo>
                <a:lnTo>
                  <a:pt x="8010" y="16000"/>
                </a:lnTo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</p:sp>
      <p:sp>
        <p:nvSpPr>
          <p:cNvPr id="118" name="slot.value-row.icon"/>
          <p:cNvSpPr/>
          <p:nvPr/>
        </p:nvSpPr>
        <p:spPr>
          <a:xfrm>
            <a:off x="2188048" y="5705856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17000"/>
                </a:moveTo>
                <a:lnTo>
                  <a:pt x="14000" y="17000"/>
                </a:lnTo>
                <a:lnTo>
                  <a:pt x="14000" y="19000"/>
                </a:lnTo>
                <a:cubicBezTo>
                  <a:pt x="14000" y="19552"/>
                  <a:pt x="14448" y="20000"/>
                  <a:pt x="15000" y="20000"/>
                </a:cubicBezTo>
                <a:lnTo>
                  <a:pt x="17000" y="20000"/>
                </a:lnTo>
                <a:cubicBezTo>
                  <a:pt x="17552" y="20000"/>
                  <a:pt x="18000" y="19552"/>
                  <a:pt x="18000" y="19000"/>
                </a:cubicBezTo>
                <a:lnTo>
                  <a:pt x="18000" y="16000"/>
                </a:lnTo>
                <a:cubicBezTo>
                  <a:pt x="18944" y="15686"/>
                  <a:pt x="19686" y="14944"/>
                  <a:pt x="20000" y="14000"/>
                </a:cubicBezTo>
                <a:lnTo>
                  <a:pt x="21000" y="14000"/>
                </a:lnTo>
                <a:cubicBezTo>
                  <a:pt x="21552" y="14000"/>
                  <a:pt x="22000" y="13552"/>
                  <a:pt x="22000" y="13000"/>
                </a:cubicBezTo>
                <a:lnTo>
                  <a:pt x="22000" y="11000"/>
                </a:lnTo>
                <a:cubicBezTo>
                  <a:pt x="22000" y="10448"/>
                  <a:pt x="21552" y="10000"/>
                  <a:pt x="21000" y="10000"/>
                </a:cubicBezTo>
                <a:lnTo>
                  <a:pt x="20000" y="10000"/>
                </a:lnTo>
                <a:cubicBezTo>
                  <a:pt x="20000" y="8426"/>
                  <a:pt x="19259" y="6944"/>
                  <a:pt x="18000" y="6000"/>
                </a:cubicBezTo>
                <a:lnTo>
                  <a:pt x="18000" y="3000"/>
                </a:lnTo>
                <a:cubicBezTo>
                  <a:pt x="16741" y="3000"/>
                  <a:pt x="15555" y="3593"/>
                  <a:pt x="14800" y="4600"/>
                </a:cubicBezTo>
                <a:lnTo>
                  <a:pt x="14500" y="5000"/>
                </a:lnTo>
                <a:lnTo>
                  <a:pt x="11000" y="5000"/>
                </a:lnTo>
                <a:cubicBezTo>
                  <a:pt x="7686" y="5000"/>
                  <a:pt x="5000" y="7686"/>
                  <a:pt x="5000" y="11000"/>
                </a:cubicBezTo>
                <a:lnTo>
                  <a:pt x="5000" y="12000"/>
                </a:lnTo>
                <a:cubicBezTo>
                  <a:pt x="5000" y="13574"/>
                  <a:pt x="5741" y="15056"/>
                  <a:pt x="7000" y="16000"/>
                </a:cubicBezTo>
                <a:lnTo>
                  <a:pt x="7000" y="19000"/>
                </a:lnTo>
                <a:cubicBezTo>
                  <a:pt x="7000" y="19552"/>
                  <a:pt x="7448" y="20000"/>
                  <a:pt x="8000" y="20000"/>
                </a:cubicBezTo>
                <a:lnTo>
                  <a:pt x="10000" y="20000"/>
                </a:lnTo>
                <a:cubicBezTo>
                  <a:pt x="10552" y="20000"/>
                  <a:pt x="11000" y="19552"/>
                  <a:pt x="11000" y="19000"/>
                </a:cubicBezTo>
                <a:close/>
                <a:moveTo>
                  <a:pt x="16000" y="10000"/>
                </a:moveTo>
                <a:lnTo>
                  <a:pt x="16010" y="10000"/>
                </a:lnTo>
                <a:moveTo>
                  <a:pt x="2000" y="8000"/>
                </a:moveTo>
                <a:lnTo>
                  <a:pt x="2000" y="9000"/>
                </a:lnTo>
                <a:cubicBezTo>
                  <a:pt x="2000" y="10105"/>
                  <a:pt x="2895" y="11000"/>
                  <a:pt x="4000" y="11000"/>
                </a:cubicBezTo>
                <a:lnTo>
                  <a:pt x="5000" y="11000"/>
                </a:lnTo>
              </a:path>
            </a:pathLst>
          </a:custGeom>
          <a:noFill/>
          <a:ln w="21590" cap="rnd">
            <a:solidFill>
              <a:schemeClr val="bg1"/>
            </a:solidFill>
            <a:round/>
          </a:ln>
          <a:effectLst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worked-example:stage-columns-hub-trace">
    <p:spTree>
      <p:nvGrpSpPr>
        <p:cNvPr id="1" name=""/>
        <p:cNvGrpSpPr/>
        <p:nvPr/>
      </p:nvGrpSpPr>
      <p:grpSpPr/>
      <p:sp>
        <p:nvSpPr>
          <p:cNvPr id="2" name="struct.paths.frame"/>
          <p:cNvSpPr/>
          <p:nvPr/>
        </p:nvSpPr>
        <p:spPr>
          <a:xfrm>
            <a:off x="468520" y="5081911"/>
            <a:ext cx="11327240" cy="1188000"/>
          </a:xfrm>
          <a:prstGeom prst="roundRect">
            <a:avLst>
              <a:gd name="adj" fmla="val 3848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cxnSp>
        <p:nvCxnSpPr>
          <p:cNvPr id="3" name="struct.paths.divider"/>
          <p:cNvCxnSpPr/>
          <p:nvPr/>
        </p:nvCxnSpPr>
        <p:spPr>
          <a:xfrm>
            <a:off x="6200720" y="5081911"/>
            <a:ext cx="0" cy="1188000"/>
          </a:xfrm>
          <a:prstGeom prst="straightConnector1">
            <a:avLst/>
          </a:prstGeom>
          <a:noFill/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sp>
        <p:nvSpPr>
          <p:cNvPr id="4" name="struct.stage.3.frame"/>
          <p:cNvSpPr/>
          <p:nvPr/>
        </p:nvSpPr>
        <p:spPr>
          <a:xfrm>
            <a:off x="6218627" y="1181141"/>
            <a:ext cx="3344000" cy="3811483"/>
          </a:xfrm>
          <a:prstGeom prst="roundRect">
            <a:avLst>
              <a:gd name="adj" fmla="val 1367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5" name="struct.stage.2.frame"/>
          <p:cNvSpPr/>
          <p:nvPr/>
        </p:nvSpPr>
        <p:spPr>
          <a:xfrm>
            <a:off x="2137597" y="1181141"/>
            <a:ext cx="3965600" cy="3811483"/>
          </a:xfrm>
          <a:prstGeom prst="roundRect">
            <a:avLst>
              <a:gd name="adj" fmla="val 120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6" name="struct.stage.4.frame"/>
          <p:cNvSpPr/>
          <p:nvPr/>
        </p:nvSpPr>
        <p:spPr>
          <a:xfrm>
            <a:off x="9678393" y="1181141"/>
            <a:ext cx="2117240" cy="3811483"/>
          </a:xfrm>
          <a:prstGeom prst="roundRect">
            <a:avLst>
              <a:gd name="adj" fmla="val 2028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7" name="slot.title"/>
          <p:cNvSpPr txBox="1"/>
          <p:nvPr/>
        </p:nvSpPr>
        <p:spPr>
          <a:xfrm>
            <a:off x="457200" y="164592"/>
            <a:ext cx="11338560" cy="475488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One invoice cleared in </a:t>
            </a:r>
            <a:r>
              <a:rPr lang="en-US" sz="2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four minutes</a:t>
            </a:r>
            <a:r>
              <a:rPr lang="en-US" sz="2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, with one price gap </a:t>
            </a:r>
            <a:r>
              <a:rPr lang="en-US" sz="2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held for a buyer</a:t>
            </a:r>
            <a:endParaRPr lang="en-US" sz="2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truct.stage.1.frame"/>
          <p:cNvSpPr/>
          <p:nvPr/>
        </p:nvSpPr>
        <p:spPr>
          <a:xfrm>
            <a:off x="468519" y="1181141"/>
            <a:ext cx="1553600" cy="3811483"/>
          </a:xfrm>
          <a:prstGeom prst="roundRect">
            <a:avLst>
              <a:gd name="adj" fmla="val 2943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9" name="slot.stage.1.head"/>
          <p:cNvSpPr/>
          <p:nvPr/>
        </p:nvSpPr>
        <p:spPr>
          <a:xfrm>
            <a:off x="468520" y="1181141"/>
            <a:ext cx="1553600" cy="4452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1"/>
          </a:solidFill>
          <a:ln w="9525">
            <a:solidFill>
              <a:schemeClr val="accent1"/>
            </a:solidFill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Invoice in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INV-20418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lot.field.1"/>
          <p:cNvSpPr txBox="1"/>
          <p:nvPr/>
        </p:nvSpPr>
        <p:spPr>
          <a:xfrm>
            <a:off x="556404" y="1719072"/>
            <a:ext cx="1380744" cy="5669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72000" tIns="72000" rIns="72000" bIns="720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Received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Mon, 09:12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ot.field.2"/>
          <p:cNvSpPr txBox="1"/>
          <p:nvPr/>
        </p:nvSpPr>
        <p:spPr>
          <a:xfrm>
            <a:off x="556404" y="2359152"/>
            <a:ext cx="1380744" cy="5669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72000" tIns="72000" rIns="72000" bIns="720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Supplier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Packaging vendor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lot.field.3"/>
          <p:cNvSpPr txBox="1"/>
          <p:nvPr/>
        </p:nvSpPr>
        <p:spPr>
          <a:xfrm>
            <a:off x="556404" y="2999232"/>
            <a:ext cx="1380744" cy="5669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72000" tIns="72000" rIns="72000" bIns="720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Order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PO-7731, net 30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slot.field.4"/>
          <p:cNvSpPr txBox="1"/>
          <p:nvPr/>
        </p:nvSpPr>
        <p:spPr>
          <a:xfrm>
            <a:off x="556404" y="3639311"/>
            <a:ext cx="1380744" cy="5669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72000" tIns="72000" rIns="72000" bIns="720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Total billed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$48,260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slot.field.5"/>
          <p:cNvSpPr txBox="1"/>
          <p:nvPr/>
        </p:nvSpPr>
        <p:spPr>
          <a:xfrm>
            <a:off x="556404" y="4279392"/>
            <a:ext cx="1380744" cy="5669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accent1"/>
            </a:solidFill>
          </a:ln>
          <a:effectLst/>
        </p:spPr>
        <p:txBody>
          <a:bodyPr spcFirstLastPara="1" wrap="square" lIns="72000" tIns="72000" rIns="72000" bIns="720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Line 4 price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$6.40 a unit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lot.stage.2.head"/>
          <p:cNvSpPr/>
          <p:nvPr/>
        </p:nvSpPr>
        <p:spPr>
          <a:xfrm>
            <a:off x="2137597" y="1181141"/>
            <a:ext cx="3965600" cy="4452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1"/>
          </a:solidFill>
          <a:ln w="9525">
            <a:solidFill>
              <a:schemeClr val="accent1"/>
            </a:solidFill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Lines matched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Order, receipt and price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6" name="slot.lines.table"/>
          <p:cNvGraphicFramePr/>
          <p:nvPr/>
        </p:nvGraphicFramePr>
        <p:xfrm>
          <a:off x="2239325" y="2421888"/>
          <a:ext cx="3758184" cy="191517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2267"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kern="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Line</a:t>
                      </a:r>
                      <a:endParaRPr lang="en-US" sz="1000" b="1" i="0" kern="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kern="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Qty</a:t>
                      </a:r>
                      <a:endParaRPr lang="en-US" sz="1000" b="1" i="0" kern="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kern="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Item</a:t>
                      </a:r>
                      <a:endParaRPr lang="en-US" sz="1000" b="1" i="0" kern="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kern="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Gap</a:t>
                      </a:r>
                      <a:endParaRPr lang="en-US" sz="1000" b="1" i="0" kern="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kern="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  <a:endParaRPr lang="en-US" sz="1000" b="1" i="0" kern="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67"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Line 1</a:t>
                      </a:r>
                      <a:endParaRPr lang="en-US" sz="10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1,200</a:t>
                      </a:r>
                      <a:endParaRPr lang="en-US" sz="10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Shipping cartons</a:t>
                      </a:r>
                      <a:endParaRPr lang="en-US" sz="10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0%</a:t>
                      </a:r>
                      <a:endParaRPr lang="en-US" sz="10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Matched</a:t>
                      </a:r>
                      <a:endParaRPr lang="en-US" sz="10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067"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Line 2</a:t>
                      </a:r>
                      <a:endParaRPr lang="en-US" sz="10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800</a:t>
                      </a:r>
                      <a:endParaRPr lang="en-US" sz="10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Divider inserts</a:t>
                      </a:r>
                      <a:endParaRPr lang="en-US" sz="10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0%</a:t>
                      </a:r>
                      <a:endParaRPr lang="en-US" sz="10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Matched</a:t>
                      </a:r>
                      <a:endParaRPr lang="en-US" sz="10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067"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Line 3</a:t>
                      </a:r>
                      <a:endParaRPr lang="en-US" sz="10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2,000</a:t>
                      </a:r>
                      <a:endParaRPr lang="en-US" sz="10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Pallet wrap</a:t>
                      </a:r>
                      <a:endParaRPr lang="en-US" sz="10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0%</a:t>
                      </a:r>
                      <a:endParaRPr lang="en-US" sz="10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Matched</a:t>
                      </a:r>
                      <a:endParaRPr lang="en-US" sz="10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736"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kern="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Line 4</a:t>
                      </a:r>
                      <a:endParaRPr lang="en-US" sz="1000" b="1" i="0" kern="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3,100</a:t>
                      </a:r>
                      <a:endParaRPr lang="en-US" sz="1000" b="0" i="0" kern="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Printed sleeves</a:t>
                      </a:r>
                      <a:endParaRPr lang="en-US" sz="1000" b="0" i="0" kern="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kern="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+8.5%</a:t>
                      </a:r>
                      <a:endParaRPr lang="en-US" sz="1000" b="1" i="0" kern="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kern="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Held</a:t>
                      </a:r>
                      <a:endParaRPr lang="en-US" sz="1000" b="1" i="0" kern="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slot.stage.3.head"/>
          <p:cNvSpPr/>
          <p:nvPr/>
        </p:nvSpPr>
        <p:spPr>
          <a:xfrm>
            <a:off x="6218627" y="1181141"/>
            <a:ext cx="3344000" cy="4452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1"/>
          </a:solidFill>
          <a:ln w="9525">
            <a:solidFill>
              <a:schemeClr val="accent1"/>
            </a:solidFill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Gap checked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Five sources around one case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lot.stage.4.head"/>
          <p:cNvSpPr/>
          <p:nvPr/>
        </p:nvSpPr>
        <p:spPr>
          <a:xfrm>
            <a:off x="9678393" y="1181141"/>
            <a:ext cx="2117240" cy="4452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1"/>
          </a:solidFill>
          <a:ln w="9525">
            <a:solidFill>
              <a:schemeClr val="accent1"/>
            </a:solidFill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Outcome logged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Every step traceable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lot.outcome.1"/>
          <p:cNvSpPr txBox="1"/>
          <p:nvPr/>
        </p:nvSpPr>
        <p:spPr>
          <a:xfrm>
            <a:off x="10029588" y="1737360"/>
            <a:ext cx="16916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Lines 1 to 3 posted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$28,420 paid on day 30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lot.outcome.2"/>
          <p:cNvSpPr txBox="1"/>
          <p:nvPr/>
        </p:nvSpPr>
        <p:spPr>
          <a:xfrm>
            <a:off x="10029588" y="2386584"/>
            <a:ext cx="16916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Line 4 held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$1,550 gap with the buyer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lot.outcome.3"/>
          <p:cNvSpPr txBox="1"/>
          <p:nvPr/>
        </p:nvSpPr>
        <p:spPr>
          <a:xfrm>
            <a:off x="10029588" y="3035808"/>
            <a:ext cx="16916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Buyer decision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Surcharge approved to June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lot.outcome.4"/>
          <p:cNvSpPr txBox="1"/>
          <p:nvPr/>
        </p:nvSpPr>
        <p:spPr>
          <a:xfrm>
            <a:off x="10029588" y="3685031"/>
            <a:ext cx="16916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Rule tuned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Surcharges flagged on arrival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slot.outcome.5"/>
          <p:cNvSpPr txBox="1"/>
          <p:nvPr/>
        </p:nvSpPr>
        <p:spPr>
          <a:xfrm>
            <a:off x="10029588" y="4334256"/>
            <a:ext cx="16916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Audit trail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Eleven checks, each sourced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4" name="struct.outcome.rule.1"/>
          <p:cNvCxnSpPr/>
          <p:nvPr/>
        </p:nvCxnSpPr>
        <p:spPr>
          <a:xfrm>
            <a:off x="9810132" y="2336291"/>
            <a:ext cx="1847088" cy="0"/>
          </a:xfrm>
          <a:prstGeom prst="straightConnector1">
            <a:avLst/>
          </a:prstGeom>
          <a:noFill/>
          <a:ln w="71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25" name="struct.outcome.rule.2"/>
          <p:cNvCxnSpPr/>
          <p:nvPr/>
        </p:nvCxnSpPr>
        <p:spPr>
          <a:xfrm>
            <a:off x="9810132" y="2985515"/>
            <a:ext cx="1847088" cy="0"/>
          </a:xfrm>
          <a:prstGeom prst="straightConnector1">
            <a:avLst/>
          </a:prstGeom>
          <a:noFill/>
          <a:ln w="71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26" name="struct.outcome.rule.3"/>
          <p:cNvCxnSpPr/>
          <p:nvPr/>
        </p:nvCxnSpPr>
        <p:spPr>
          <a:xfrm>
            <a:off x="9810132" y="3634739"/>
            <a:ext cx="1847088" cy="0"/>
          </a:xfrm>
          <a:prstGeom prst="straightConnector1">
            <a:avLst/>
          </a:prstGeom>
          <a:noFill/>
          <a:ln w="71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27" name="struct.outcome.rule.4"/>
          <p:cNvCxnSpPr/>
          <p:nvPr/>
        </p:nvCxnSpPr>
        <p:spPr>
          <a:xfrm>
            <a:off x="9810132" y="4283964"/>
            <a:ext cx="1847088" cy="0"/>
          </a:xfrm>
          <a:prstGeom prst="straightConnector1">
            <a:avLst/>
          </a:prstGeom>
          <a:noFill/>
          <a:ln w="71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sp>
        <p:nvSpPr>
          <p:cNvPr id="28" name="slot.check.1.label"/>
          <p:cNvSpPr txBox="1"/>
          <p:nvPr/>
        </p:nvSpPr>
        <p:spPr>
          <a:xfrm>
            <a:off x="2239325" y="2021011"/>
            <a:ext cx="620000" cy="270843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Supplier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lot.check.2.label"/>
          <p:cNvSpPr txBox="1"/>
          <p:nvPr/>
        </p:nvSpPr>
        <p:spPr>
          <a:xfrm>
            <a:off x="3011888" y="2021011"/>
            <a:ext cx="620000" cy="270843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Order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slot.check.3.label"/>
          <p:cNvSpPr txBox="1"/>
          <p:nvPr/>
        </p:nvSpPr>
        <p:spPr>
          <a:xfrm>
            <a:off x="3784451" y="2021011"/>
            <a:ext cx="620000" cy="270843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Receipt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lot.check.4.label"/>
          <p:cNvSpPr txBox="1"/>
          <p:nvPr/>
        </p:nvSpPr>
        <p:spPr>
          <a:xfrm>
            <a:off x="4557012" y="2021011"/>
            <a:ext cx="620000" cy="270843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Price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lot.check.5.label"/>
          <p:cNvSpPr txBox="1"/>
          <p:nvPr/>
        </p:nvSpPr>
        <p:spPr>
          <a:xfrm>
            <a:off x="5329571" y="2021011"/>
            <a:ext cx="671600" cy="270843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Tax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3" name="struct.check.rule.1"/>
          <p:cNvCxnSpPr/>
          <p:nvPr/>
        </p:nvCxnSpPr>
        <p:spPr>
          <a:xfrm rot="10800000">
            <a:off x="2935692" y="2020795"/>
            <a:ext cx="0" cy="269200"/>
          </a:xfrm>
          <a:prstGeom prst="straightConnector1">
            <a:avLst/>
          </a:prstGeom>
          <a:noFill/>
          <a:ln w="71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34" name="struct.check.rule.2"/>
          <p:cNvCxnSpPr/>
          <p:nvPr/>
        </p:nvCxnSpPr>
        <p:spPr>
          <a:xfrm rot="10800000">
            <a:off x="3708255" y="2020795"/>
            <a:ext cx="0" cy="269200"/>
          </a:xfrm>
          <a:prstGeom prst="straightConnector1">
            <a:avLst/>
          </a:prstGeom>
          <a:noFill/>
          <a:ln w="71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35" name="struct.check.rule.3"/>
          <p:cNvCxnSpPr/>
          <p:nvPr/>
        </p:nvCxnSpPr>
        <p:spPr>
          <a:xfrm rot="10800000">
            <a:off x="4480816" y="2020795"/>
            <a:ext cx="0" cy="269200"/>
          </a:xfrm>
          <a:prstGeom prst="straightConnector1">
            <a:avLst/>
          </a:prstGeom>
          <a:noFill/>
          <a:ln w="71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36" name="struct.check.rule.4"/>
          <p:cNvCxnSpPr/>
          <p:nvPr/>
        </p:nvCxnSpPr>
        <p:spPr>
          <a:xfrm rot="10800000">
            <a:off x="5253379" y="2020795"/>
            <a:ext cx="0" cy="269200"/>
          </a:xfrm>
          <a:prstGeom prst="straightConnector1">
            <a:avLst/>
          </a:prstGeom>
          <a:noFill/>
          <a:ln w="71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sp>
        <p:nvSpPr>
          <p:cNvPr id="37" name="struct.note.frame"/>
          <p:cNvSpPr/>
          <p:nvPr/>
        </p:nvSpPr>
        <p:spPr>
          <a:xfrm>
            <a:off x="2239325" y="4471360"/>
            <a:ext cx="3761600" cy="406400"/>
          </a:xfrm>
          <a:prstGeom prst="roundRect">
            <a:avLst>
              <a:gd name="adj" fmla="val 979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91433" tIns="45700" rIns="91433" bIns="45700" anchor="t" anchorCtr="0">
            <a:noAutofit/>
          </a:bodyPr>
          <a:lstStyle/>
          <a:p>
            <a:pPr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38" name="slot.note"/>
          <p:cNvSpPr txBox="1"/>
          <p:nvPr/>
        </p:nvSpPr>
        <p:spPr>
          <a:xfrm>
            <a:off x="2314052" y="4540069"/>
            <a:ext cx="3612400" cy="280718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Line 4 breaks the 5% price tolerance, so it is held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39" name="struct.flag.1.disc"/>
          <p:cNvGrpSpPr/>
          <p:nvPr/>
        </p:nvGrpSpPr>
        <p:grpSpPr>
          <a:xfrm>
            <a:off x="2178279" y="4407575"/>
            <a:ext cx="135936" cy="135936"/>
            <a:chOff x="2179659" y="4407575"/>
            <a:chExt cx="135936" cy="135936"/>
          </a:xfrm>
          <a:effectLst/>
        </p:grpSpPr>
        <p:sp>
          <p:nvSpPr>
            <p:cNvPr id="40" name="struct.flag.1.star"/>
            <p:cNvSpPr/>
            <p:nvPr/>
          </p:nvSpPr>
          <p:spPr>
            <a:xfrm>
              <a:off x="2204553" y="4432469"/>
              <a:ext cx="86124" cy="86124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pPr>
                <a:buSzPts val="1100"/>
              </a:pPr>
              <a:endParaRPr sz="1467">
                <a:solidFill>
                  <a:schemeClr val="bg1"/>
                </a:solidFill>
              </a:endParaRPr>
            </a:p>
          </p:txBody>
        </p:sp>
      </p:grpSp>
      <p:sp>
        <p:nvSpPr>
          <p:cNvPr id="41" name="struct.flag.2.disc"/>
          <p:cNvSpPr/>
          <p:nvPr/>
        </p:nvSpPr>
        <p:spPr>
          <a:xfrm>
            <a:off x="5923540" y="4039627"/>
            <a:ext cx="136000" cy="1360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42" name="struct.flag.2.star"/>
          <p:cNvSpPr/>
          <p:nvPr/>
        </p:nvSpPr>
        <p:spPr>
          <a:xfrm>
            <a:off x="5948431" y="4064519"/>
            <a:ext cx="86000" cy="860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91433" tIns="45700" rIns="91433" bIns="45700" anchor="t" anchorCtr="0">
            <a:noAutofit/>
          </a:bodyPr>
          <a:lstStyle/>
          <a:p>
            <a:pPr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43" name="slot.source.3"/>
          <p:cNvSpPr txBox="1"/>
          <p:nvPr/>
        </p:nvSpPr>
        <p:spPr>
          <a:xfrm>
            <a:off x="8648844" y="2286000"/>
            <a:ext cx="841248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Supplier note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Resin surcharge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4" name="struct.hub.spoke.1"/>
          <p:cNvCxnSpPr/>
          <p:nvPr/>
        </p:nvCxnSpPr>
        <p:spPr>
          <a:xfrm rot="10800000">
            <a:off x="7837533" y="2674283"/>
            <a:ext cx="0" cy="349600"/>
          </a:xfrm>
          <a:prstGeom prst="straightConnector1">
            <a:avLst/>
          </a:prstGeom>
          <a:noFill/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cxnSp>
        <p:nvCxnSpPr>
          <p:cNvPr id="45" name="struct.hub.spoke.2"/>
          <p:cNvCxnSpPr/>
          <p:nvPr/>
        </p:nvCxnSpPr>
        <p:spPr>
          <a:xfrm rot="10800000" flipH="1">
            <a:off x="8036772" y="3175663"/>
            <a:ext cx="398000" cy="137200"/>
          </a:xfrm>
          <a:prstGeom prst="straightConnector1">
            <a:avLst/>
          </a:prstGeom>
          <a:noFill/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cxnSp>
        <p:nvCxnSpPr>
          <p:cNvPr id="46" name="struct.hub.spoke.3"/>
          <p:cNvCxnSpPr/>
          <p:nvPr/>
        </p:nvCxnSpPr>
        <p:spPr>
          <a:xfrm>
            <a:off x="7275987" y="3211668"/>
            <a:ext cx="360800" cy="100800"/>
          </a:xfrm>
          <a:prstGeom prst="straightConnector1">
            <a:avLst/>
          </a:prstGeom>
          <a:noFill/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cxnSp>
        <p:nvCxnSpPr>
          <p:cNvPr id="47" name="struct.hub.spoke.4"/>
          <p:cNvCxnSpPr/>
          <p:nvPr/>
        </p:nvCxnSpPr>
        <p:spPr>
          <a:xfrm>
            <a:off x="7959428" y="3585175"/>
            <a:ext cx="274800" cy="298000"/>
          </a:xfrm>
          <a:prstGeom prst="straightConnector1">
            <a:avLst/>
          </a:prstGeom>
          <a:noFill/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cxnSp>
        <p:nvCxnSpPr>
          <p:cNvPr id="48" name="struct.hub.spoke.5"/>
          <p:cNvCxnSpPr/>
          <p:nvPr/>
        </p:nvCxnSpPr>
        <p:spPr>
          <a:xfrm flipH="1">
            <a:off x="7441024" y="3545456"/>
            <a:ext cx="328400" cy="344400"/>
          </a:xfrm>
          <a:prstGeom prst="straightConnector1">
            <a:avLst/>
          </a:prstGeom>
          <a:noFill/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sp>
        <p:nvSpPr>
          <p:cNvPr id="49" name="struct.hub.ring"/>
          <p:cNvSpPr/>
          <p:nvPr/>
        </p:nvSpPr>
        <p:spPr>
          <a:xfrm>
            <a:off x="7013707" y="2552781"/>
            <a:ext cx="1648000" cy="1648000"/>
          </a:xfrm>
          <a:custGeom>
            <a:avLst/>
            <a:gdLst/>
            <a:ahLst/>
            <a:cxnLst/>
            <a:rect l="0" t="0" r="r" b="b"/>
            <a:pathLst>
              <a:path w="1648000" h="1648000" fill="none">
                <a:moveTo>
                  <a:pt x="824000" y="0"/>
                </a:moveTo>
                <a:cubicBezTo>
                  <a:pt x="1279095" y="0"/>
                  <a:pt x="1648000" y="368905"/>
                  <a:pt x="1648000" y="824000"/>
                </a:cubicBezTo>
                <a:cubicBezTo>
                  <a:pt x="1648000" y="1279095"/>
                  <a:pt x="1279095" y="1648000"/>
                  <a:pt x="824000" y="1648000"/>
                </a:cubicBezTo>
                <a:cubicBezTo>
                  <a:pt x="368905" y="1648000"/>
                  <a:pt x="0" y="1279095"/>
                  <a:pt x="0" y="824000"/>
                </a:cubicBezTo>
                <a:cubicBezTo>
                  <a:pt x="0" y="368905"/>
                  <a:pt x="368905" y="0"/>
                  <a:pt x="824001" y="0"/>
                </a:cubicBezTo>
              </a:path>
            </a:pathLst>
          </a:custGeom>
          <a:noFill/>
          <a:ln w="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50" name="struct.hub.core"/>
          <p:cNvSpPr/>
          <p:nvPr/>
        </p:nvSpPr>
        <p:spPr>
          <a:xfrm>
            <a:off x="7500933" y="3023883"/>
            <a:ext cx="673200" cy="673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51" name="struct.source.1.disc"/>
          <p:cNvSpPr/>
          <p:nvPr/>
        </p:nvSpPr>
        <p:spPr>
          <a:xfrm>
            <a:off x="7646031" y="2280705"/>
            <a:ext cx="409600" cy="409600"/>
          </a:xfrm>
          <a:prstGeom prst="ellipse">
            <a:avLst/>
          </a:prstGeom>
          <a:solidFill>
            <a:schemeClr val="bg1"/>
          </a:solidFill>
          <a:ln w="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52" name="struct.source.3.disc"/>
          <p:cNvSpPr/>
          <p:nvPr/>
        </p:nvSpPr>
        <p:spPr>
          <a:xfrm>
            <a:off x="8434772" y="2970863"/>
            <a:ext cx="409600" cy="409600"/>
          </a:xfrm>
          <a:prstGeom prst="ellipse">
            <a:avLst/>
          </a:prstGeom>
          <a:solidFill>
            <a:schemeClr val="bg1"/>
          </a:solidFill>
          <a:ln w="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53" name="struct.source.5.disc"/>
          <p:cNvSpPr/>
          <p:nvPr/>
        </p:nvSpPr>
        <p:spPr>
          <a:xfrm>
            <a:off x="8174243" y="3823191"/>
            <a:ext cx="409600" cy="409600"/>
          </a:xfrm>
          <a:prstGeom prst="ellipse">
            <a:avLst/>
          </a:prstGeom>
          <a:solidFill>
            <a:schemeClr val="bg1"/>
          </a:solidFill>
          <a:ln w="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54" name="struct.source.4.disc"/>
          <p:cNvSpPr/>
          <p:nvPr/>
        </p:nvSpPr>
        <p:spPr>
          <a:xfrm>
            <a:off x="7091409" y="3829872"/>
            <a:ext cx="409600" cy="409600"/>
          </a:xfrm>
          <a:prstGeom prst="ellipse">
            <a:avLst/>
          </a:prstGeom>
          <a:solidFill>
            <a:schemeClr val="bg1"/>
          </a:solidFill>
          <a:ln w="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55" name="struct.source.2.disc"/>
          <p:cNvSpPr/>
          <p:nvPr/>
        </p:nvSpPr>
        <p:spPr>
          <a:xfrm>
            <a:off x="6866387" y="3006868"/>
            <a:ext cx="409600" cy="409600"/>
          </a:xfrm>
          <a:prstGeom prst="ellipse">
            <a:avLst/>
          </a:prstGeom>
          <a:solidFill>
            <a:schemeClr val="bg1"/>
          </a:solidFill>
          <a:ln w="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56" name="slot.source.2"/>
          <p:cNvSpPr txBox="1"/>
          <p:nvPr/>
        </p:nvSpPr>
        <p:spPr>
          <a:xfrm>
            <a:off x="6289692" y="2212848"/>
            <a:ext cx="896112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Order history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Six at $5.90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slot.source.4"/>
          <p:cNvSpPr txBox="1"/>
          <p:nvPr/>
        </p:nvSpPr>
        <p:spPr>
          <a:xfrm>
            <a:off x="6435996" y="4315968"/>
            <a:ext cx="1298448" cy="53035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Price index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Resin up 9%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slot.source.5"/>
          <p:cNvSpPr txBox="1"/>
          <p:nvPr/>
        </p:nvSpPr>
        <p:spPr>
          <a:xfrm>
            <a:off x="7990476" y="4315968"/>
            <a:ext cx="1298448" cy="53035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Buyer queue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Routed with evidence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slot.source.1"/>
          <p:cNvSpPr txBox="1"/>
          <p:nvPr/>
        </p:nvSpPr>
        <p:spPr>
          <a:xfrm>
            <a:off x="7130940" y="1719072"/>
            <a:ext cx="1444752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Contract terms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$5.90 a unit to June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slot.paths.head"/>
          <p:cNvSpPr/>
          <p:nvPr/>
        </p:nvSpPr>
        <p:spPr>
          <a:xfrm>
            <a:off x="5061127" y="5149416"/>
            <a:ext cx="2299200" cy="257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Same invoice, two paths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slot.paths.versus"/>
          <p:cNvSpPr/>
          <p:nvPr/>
        </p:nvSpPr>
        <p:spPr>
          <a:xfrm>
            <a:off x="5973631" y="5512183"/>
            <a:ext cx="448000" cy="4480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0" tIns="45700" rIns="0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vs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struct.paths.before.disc"/>
          <p:cNvSpPr/>
          <p:nvPr/>
        </p:nvSpPr>
        <p:spPr>
          <a:xfrm>
            <a:off x="5284609" y="5567083"/>
            <a:ext cx="488000" cy="488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0" tIns="45700" rIns="0" bIns="45700" anchor="ctr" anchorCtr="0">
            <a:noAutofit/>
          </a:bodyPr>
          <a:lstStyle/>
          <a:p/>
        </p:txBody>
      </p:sp>
      <p:sp>
        <p:nvSpPr>
          <p:cNvPr id="63" name="slot.before.body"/>
          <p:cNvSpPr txBox="1"/>
          <p:nvPr/>
        </p:nvSpPr>
        <p:spPr>
          <a:xfrm>
            <a:off x="1968985" y="5588899"/>
            <a:ext cx="3183200" cy="45147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Keyed and matched by hand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Price gaps surface after the payment run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slot.before.stat.1"/>
          <p:cNvSpPr/>
          <p:nvPr/>
        </p:nvSpPr>
        <p:spPr>
          <a:xfrm>
            <a:off x="608820" y="5489377"/>
            <a:ext cx="1216800" cy="268400"/>
          </a:xfrm>
          <a:prstGeom prst="roundRect">
            <a:avLst>
              <a:gd name="adj" fmla="val 6866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3 days to clear</a:t>
            </a:r>
            <a:endParaRPr lang="en-US" sz="1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struct.paths.after.disc"/>
          <p:cNvSpPr/>
          <p:nvPr/>
        </p:nvSpPr>
        <p:spPr>
          <a:xfrm>
            <a:off x="6703663" y="5567083"/>
            <a:ext cx="488000" cy="488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0" tIns="45700" rIns="0" bIns="45700" anchor="ctr" anchorCtr="0">
            <a:noAutofit/>
          </a:bodyPr>
          <a:lstStyle/>
          <a:p/>
        </p:txBody>
      </p:sp>
      <p:sp>
        <p:nvSpPr>
          <p:cNvPr id="66" name="slot.after.body"/>
          <p:cNvSpPr txBox="1"/>
          <p:nvPr/>
        </p:nvSpPr>
        <p:spPr>
          <a:xfrm>
            <a:off x="7324028" y="5518719"/>
            <a:ext cx="2474400" cy="5868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Matched on arrival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Only the price gap reaches a person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slot.after.stat.1"/>
          <p:cNvSpPr/>
          <p:nvPr/>
        </p:nvSpPr>
        <p:spPr>
          <a:xfrm>
            <a:off x="9793711" y="5489377"/>
            <a:ext cx="1869600" cy="268400"/>
          </a:xfrm>
          <a:prstGeom prst="roundRect">
            <a:avLst>
              <a:gd name="adj" fmla="val 6866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4 minutes to clear</a:t>
            </a:r>
            <a:endParaRPr lang="en-US" sz="1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slot.stage.1.num"/>
          <p:cNvSpPr txBox="1"/>
          <p:nvPr/>
        </p:nvSpPr>
        <p:spPr>
          <a:xfrm>
            <a:off x="940727" y="830700"/>
            <a:ext cx="527200" cy="32752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01</a:t>
            </a:r>
            <a:endParaRPr lang="en-US" sz="18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slot.stage.2.num"/>
          <p:cNvSpPr txBox="1"/>
          <p:nvPr/>
        </p:nvSpPr>
        <p:spPr>
          <a:xfrm>
            <a:off x="3783800" y="830700"/>
            <a:ext cx="558800" cy="32752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02</a:t>
            </a:r>
            <a:endParaRPr lang="en-US" sz="18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slot.stage.3.num"/>
          <p:cNvSpPr txBox="1"/>
          <p:nvPr/>
        </p:nvSpPr>
        <p:spPr>
          <a:xfrm>
            <a:off x="7608225" y="830700"/>
            <a:ext cx="504800" cy="32752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03</a:t>
            </a:r>
            <a:endParaRPr lang="en-US" sz="18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slot.stage.4.num"/>
          <p:cNvSpPr txBox="1"/>
          <p:nvPr/>
        </p:nvSpPr>
        <p:spPr>
          <a:xfrm>
            <a:off x="10465719" y="830700"/>
            <a:ext cx="562400" cy="32752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04</a:t>
            </a:r>
            <a:endParaRPr lang="en-US" sz="18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72" name="struct.chevron.1.1"/>
          <p:cNvGrpSpPr/>
          <p:nvPr/>
        </p:nvGrpSpPr>
        <p:grpSpPr>
          <a:xfrm>
            <a:off x="2025576" y="877447"/>
            <a:ext cx="152585" cy="187200"/>
            <a:chOff x="2026956" y="877447"/>
            <a:chExt cx="152585" cy="187200"/>
          </a:xfrm>
          <a:effectLst/>
        </p:grpSpPr>
        <p:sp>
          <p:nvSpPr>
            <p:cNvPr id="73" name="struct.chevron.1.2"/>
            <p:cNvSpPr/>
            <p:nvPr/>
          </p:nvSpPr>
          <p:spPr>
            <a:xfrm rot="5400000">
              <a:off x="2034041" y="919147"/>
              <a:ext cx="187200" cy="1038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71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>
                <a:buSzPts val="1100"/>
              </a:pPr>
              <a:endParaRPr sz="1467">
                <a:solidFill>
                  <a:schemeClr val="bg1"/>
                </a:solidFill>
              </a:endParaRPr>
            </a:p>
          </p:txBody>
        </p:sp>
        <p:sp>
          <p:nvSpPr>
            <p:cNvPr id="74" name="struct.chevron.1.3"/>
            <p:cNvSpPr/>
            <p:nvPr/>
          </p:nvSpPr>
          <p:spPr>
            <a:xfrm rot="5400000">
              <a:off x="1987206" y="921369"/>
              <a:ext cx="178800" cy="993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71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>
                <a:buSzPts val="1100"/>
              </a:pPr>
              <a:endParaRPr sz="1467">
                <a:solidFill>
                  <a:schemeClr val="bg1"/>
                </a:solidFill>
              </a:endParaRPr>
            </a:p>
          </p:txBody>
        </p:sp>
      </p:grpSp>
      <p:grpSp>
        <p:nvGrpSpPr>
          <p:cNvPr id="75" name="struct.chevron.2.1"/>
          <p:cNvGrpSpPr/>
          <p:nvPr/>
        </p:nvGrpSpPr>
        <p:grpSpPr>
          <a:xfrm>
            <a:off x="6084404" y="877447"/>
            <a:ext cx="152585" cy="187200"/>
            <a:chOff x="6085784" y="877447"/>
            <a:chExt cx="152585" cy="187200"/>
          </a:xfrm>
          <a:effectLst/>
        </p:grpSpPr>
        <p:sp>
          <p:nvSpPr>
            <p:cNvPr id="76" name="struct.chevron.2.2"/>
            <p:cNvSpPr/>
            <p:nvPr/>
          </p:nvSpPr>
          <p:spPr>
            <a:xfrm rot="5400000">
              <a:off x="6092869" y="919147"/>
              <a:ext cx="187200" cy="1038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71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>
                <a:buSzPts val="1100"/>
              </a:pPr>
              <a:endParaRPr sz="1467">
                <a:solidFill>
                  <a:schemeClr val="bg1"/>
                </a:solidFill>
              </a:endParaRPr>
            </a:p>
          </p:txBody>
        </p:sp>
        <p:sp>
          <p:nvSpPr>
            <p:cNvPr id="77" name="struct.chevron.2.3"/>
            <p:cNvSpPr/>
            <p:nvPr/>
          </p:nvSpPr>
          <p:spPr>
            <a:xfrm rot="5400000">
              <a:off x="6046034" y="921369"/>
              <a:ext cx="178800" cy="993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71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>
                <a:buSzPts val="1100"/>
              </a:pPr>
              <a:endParaRPr sz="1467">
                <a:solidFill>
                  <a:schemeClr val="bg1"/>
                </a:solidFill>
              </a:endParaRPr>
            </a:p>
          </p:txBody>
        </p:sp>
      </p:grpSp>
      <p:grpSp>
        <p:nvGrpSpPr>
          <p:cNvPr id="78" name="struct.chevron.3.1"/>
          <p:cNvGrpSpPr/>
          <p:nvPr/>
        </p:nvGrpSpPr>
        <p:grpSpPr>
          <a:xfrm>
            <a:off x="9544172" y="877447"/>
            <a:ext cx="152585" cy="187200"/>
            <a:chOff x="9545552" y="877447"/>
            <a:chExt cx="152585" cy="187200"/>
          </a:xfrm>
          <a:effectLst/>
        </p:grpSpPr>
        <p:sp>
          <p:nvSpPr>
            <p:cNvPr id="79" name="struct.chevron.3.2"/>
            <p:cNvSpPr/>
            <p:nvPr/>
          </p:nvSpPr>
          <p:spPr>
            <a:xfrm rot="5400000">
              <a:off x="9552637" y="919147"/>
              <a:ext cx="187200" cy="1038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71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>
                <a:buSzPts val="1100"/>
              </a:pPr>
              <a:endParaRPr sz="1467">
                <a:solidFill>
                  <a:schemeClr val="bg1"/>
                </a:solidFill>
              </a:endParaRPr>
            </a:p>
          </p:txBody>
        </p:sp>
        <p:sp>
          <p:nvSpPr>
            <p:cNvPr id="80" name="struct.chevron.3.3"/>
            <p:cNvSpPr/>
            <p:nvPr/>
          </p:nvSpPr>
          <p:spPr>
            <a:xfrm rot="5400000">
              <a:off x="9505802" y="921369"/>
              <a:ext cx="178800" cy="993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71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>
                <a:buSzPts val="1100"/>
              </a:pPr>
              <a:endParaRPr sz="1467">
                <a:solidFill>
                  <a:schemeClr val="bg1"/>
                </a:solidFill>
              </a:endParaRPr>
            </a:p>
          </p:txBody>
        </p:sp>
      </p:grpSp>
      <p:sp>
        <p:nvSpPr>
          <p:cNvPr id="81" name="slot.before.head"/>
          <p:cNvSpPr txBox="1"/>
          <p:nvPr/>
        </p:nvSpPr>
        <p:spPr>
          <a:xfrm>
            <a:off x="673592" y="5157216"/>
            <a:ext cx="23412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Manual review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slot.after.head"/>
          <p:cNvSpPr txBox="1"/>
          <p:nvPr/>
        </p:nvSpPr>
        <p:spPr>
          <a:xfrm>
            <a:off x="9745833" y="5157216"/>
            <a:ext cx="19584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With the agent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slot.before.stat.2"/>
          <p:cNvSpPr/>
          <p:nvPr/>
        </p:nvSpPr>
        <p:spPr>
          <a:xfrm>
            <a:off x="608820" y="5856161"/>
            <a:ext cx="1216800" cy="268400"/>
          </a:xfrm>
          <a:prstGeom prst="roundRect">
            <a:avLst>
              <a:gd name="adj" fmla="val 6866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6 touches</a:t>
            </a:r>
            <a:endParaRPr lang="en-US" sz="1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slot.after.stat.2"/>
          <p:cNvSpPr/>
          <p:nvPr/>
        </p:nvSpPr>
        <p:spPr>
          <a:xfrm>
            <a:off x="9793711" y="5856161"/>
            <a:ext cx="1869600" cy="268400"/>
          </a:xfrm>
          <a:prstGeom prst="roundRect">
            <a:avLst>
              <a:gd name="adj" fmla="val 6866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1 touch</a:t>
            </a:r>
            <a:endParaRPr lang="en-US" sz="1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slot.field.5.icon"/>
          <p:cNvSpPr/>
          <p:nvPr/>
        </p:nvSpPr>
        <p:spPr>
          <a:xfrm>
            <a:off x="1735980" y="4325112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730" y="18000"/>
                </a:moveTo>
                <a:lnTo>
                  <a:pt x="13730" y="4000"/>
                </a:lnTo>
                <a:cubicBezTo>
                  <a:pt x="13375" y="3373"/>
                  <a:pt x="12710" y="2986"/>
                  <a:pt x="11990" y="2986"/>
                </a:cubicBezTo>
                <a:cubicBezTo>
                  <a:pt x="11270" y="2986"/>
                  <a:pt x="10605" y="3373"/>
                  <a:pt x="10250" y="4000"/>
                </a:cubicBezTo>
                <a:lnTo>
                  <a:pt x="2250" y="18000"/>
                </a:lnTo>
                <a:cubicBezTo>
                  <a:pt x="1891" y="18622"/>
                  <a:pt x="1893" y="19388"/>
                  <a:pt x="2254" y="20008"/>
                </a:cubicBezTo>
                <a:cubicBezTo>
                  <a:pt x="2616" y="20628"/>
                  <a:pt x="3282" y="21006"/>
                  <a:pt x="4000" y="21000"/>
                </a:cubicBezTo>
                <a:lnTo>
                  <a:pt x="20000" y="21000"/>
                </a:lnTo>
                <a:cubicBezTo>
                  <a:pt x="20714" y="20999"/>
                  <a:pt x="21374" y="20618"/>
                  <a:pt x="21731" y="19999"/>
                </a:cubicBezTo>
                <a:cubicBezTo>
                  <a:pt x="22087" y="19380"/>
                  <a:pt x="22087" y="18618"/>
                  <a:pt x="21730" y="18000"/>
                </a:cubicBezTo>
                <a:moveTo>
                  <a:pt x="12000" y="9000"/>
                </a:moveTo>
                <a:lnTo>
                  <a:pt x="12000" y="13000"/>
                </a:lnTo>
                <a:moveTo>
                  <a:pt x="12000" y="17000"/>
                </a:moveTo>
                <a:lnTo>
                  <a:pt x="12010" y="17000"/>
                </a:lnTo>
              </a:path>
            </a:pathLst>
          </a:custGeom>
          <a:noFill/>
          <a:ln w="13970" cap="rnd">
            <a:solidFill>
              <a:schemeClr val="accent1"/>
            </a:solidFill>
            <a:round/>
          </a:ln>
          <a:effectLst/>
        </p:spPr>
      </p:sp>
      <p:sp>
        <p:nvSpPr>
          <p:cNvPr id="86" name="slot.check.1.icon"/>
          <p:cNvSpPr/>
          <p:nvPr/>
        </p:nvSpPr>
        <p:spPr>
          <a:xfrm>
            <a:off x="2440068" y="1726387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0000"/>
                </a:moveTo>
                <a:lnTo>
                  <a:pt x="12010" y="10000"/>
                </a:lnTo>
                <a:moveTo>
                  <a:pt x="12000" y="14000"/>
                </a:moveTo>
                <a:lnTo>
                  <a:pt x="12010" y="14000"/>
                </a:lnTo>
                <a:moveTo>
                  <a:pt x="12000" y="6000"/>
                </a:moveTo>
                <a:lnTo>
                  <a:pt x="12010" y="6000"/>
                </a:lnTo>
                <a:moveTo>
                  <a:pt x="16000" y="10000"/>
                </a:moveTo>
                <a:lnTo>
                  <a:pt x="16010" y="10000"/>
                </a:lnTo>
                <a:moveTo>
                  <a:pt x="16000" y="14000"/>
                </a:moveTo>
                <a:lnTo>
                  <a:pt x="16010" y="14000"/>
                </a:lnTo>
                <a:moveTo>
                  <a:pt x="16000" y="6000"/>
                </a:moveTo>
                <a:lnTo>
                  <a:pt x="16010" y="6000"/>
                </a:lnTo>
                <a:moveTo>
                  <a:pt x="8000" y="10000"/>
                </a:moveTo>
                <a:lnTo>
                  <a:pt x="8010" y="10000"/>
                </a:lnTo>
                <a:moveTo>
                  <a:pt x="8000" y="14000"/>
                </a:moveTo>
                <a:lnTo>
                  <a:pt x="8010" y="14000"/>
                </a:lnTo>
                <a:moveTo>
                  <a:pt x="8000" y="6000"/>
                </a:moveTo>
                <a:lnTo>
                  <a:pt x="8010" y="6000"/>
                </a:lnTo>
                <a:moveTo>
                  <a:pt x="9000" y="22000"/>
                </a:moveTo>
                <a:lnTo>
                  <a:pt x="9000" y="19000"/>
                </a:lnTo>
                <a:cubicBezTo>
                  <a:pt x="9000" y="18448"/>
                  <a:pt x="9448" y="18000"/>
                  <a:pt x="10000" y="18000"/>
                </a:cubicBezTo>
                <a:lnTo>
                  <a:pt x="14000" y="18000"/>
                </a:lnTo>
                <a:cubicBezTo>
                  <a:pt x="14552" y="18000"/>
                  <a:pt x="15000" y="18448"/>
                  <a:pt x="15000" y="19000"/>
                </a:cubicBezTo>
                <a:lnTo>
                  <a:pt x="15000" y="22000"/>
                </a:lnTo>
                <a:moveTo>
                  <a:pt x="6000" y="2000"/>
                </a:moveTo>
                <a:lnTo>
                  <a:pt x="18000" y="2000"/>
                </a:lnTo>
                <a:cubicBezTo>
                  <a:pt x="19105" y="2000"/>
                  <a:pt x="20000" y="2895"/>
                  <a:pt x="20000" y="4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lnTo>
                  <a:pt x="6000" y="22000"/>
                </a:ln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close/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</p:sp>
      <p:sp>
        <p:nvSpPr>
          <p:cNvPr id="87" name="slot.check.2.icon"/>
          <p:cNvSpPr/>
          <p:nvPr/>
        </p:nvSpPr>
        <p:spPr>
          <a:xfrm>
            <a:off x="3211822" y="1726387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</p:sp>
      <p:sp>
        <p:nvSpPr>
          <p:cNvPr id="88" name="slot.check.3.icon"/>
          <p:cNvSpPr/>
          <p:nvPr/>
        </p:nvSpPr>
        <p:spPr>
          <a:xfrm>
            <a:off x="3984490" y="1726387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22000"/>
                </a:moveTo>
                <a:lnTo>
                  <a:pt x="12000" y="12000"/>
                </a:lnTo>
                <a:moveTo>
                  <a:pt x="16000" y="17000"/>
                </a:moveTo>
                <a:lnTo>
                  <a:pt x="18000" y="19000"/>
                </a:lnTo>
                <a:lnTo>
                  <a:pt x="22000" y="15000"/>
                </a:lnTo>
                <a:moveTo>
                  <a:pt x="21000" y="11127"/>
                </a:moveTo>
                <a:lnTo>
                  <a:pt x="21000" y="8000"/>
                </a:lnTo>
                <a:cubicBezTo>
                  <a:pt x="20999" y="7286"/>
                  <a:pt x="20618" y="6627"/>
                  <a:pt x="20000" y="6270"/>
                </a:cubicBezTo>
                <a:lnTo>
                  <a:pt x="13000" y="2270"/>
                </a:lnTo>
                <a:cubicBezTo>
                  <a:pt x="12381" y="1913"/>
                  <a:pt x="11619" y="1913"/>
                  <a:pt x="11000" y="2270"/>
                </a:cubicBezTo>
                <a:lnTo>
                  <a:pt x="4000" y="6270"/>
                </a:lnTo>
                <a:cubicBezTo>
                  <a:pt x="3382" y="6627"/>
                  <a:pt x="3001" y="7286"/>
                  <a:pt x="3000" y="8000"/>
                </a:cubicBezTo>
                <a:lnTo>
                  <a:pt x="3000" y="16000"/>
                </a:lnTo>
                <a:cubicBezTo>
                  <a:pt x="3001" y="16713"/>
                  <a:pt x="3382" y="17372"/>
                  <a:pt x="4000" y="17729"/>
                </a:cubicBezTo>
                <a:lnTo>
                  <a:pt x="11000" y="21729"/>
                </a:lnTo>
                <a:cubicBezTo>
                  <a:pt x="11619" y="22087"/>
                  <a:pt x="12381" y="22087"/>
                  <a:pt x="13000" y="21730"/>
                </a:cubicBezTo>
                <a:lnTo>
                  <a:pt x="14320" y="20977"/>
                </a:lnTo>
                <a:moveTo>
                  <a:pt x="3290" y="7000"/>
                </a:moveTo>
                <a:lnTo>
                  <a:pt x="12000" y="12000"/>
                </a:lnTo>
                <a:lnTo>
                  <a:pt x="20710" y="7000"/>
                </a:lnTo>
                <a:moveTo>
                  <a:pt x="7500" y="4270"/>
                </a:moveTo>
                <a:lnTo>
                  <a:pt x="16497" y="9418"/>
                </a:lnTo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</p:sp>
      <p:sp>
        <p:nvSpPr>
          <p:cNvPr id="89" name="slot.check.4.icon"/>
          <p:cNvSpPr/>
          <p:nvPr/>
        </p:nvSpPr>
        <p:spPr>
          <a:xfrm>
            <a:off x="4757158" y="1726387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586" y="2586"/>
                </a:moveTo>
                <a:cubicBezTo>
                  <a:pt x="12211" y="2211"/>
                  <a:pt x="11702" y="2000"/>
                  <a:pt x="11172" y="2000"/>
                </a:cubicBezTo>
                <a:lnTo>
                  <a:pt x="4000" y="2000"/>
                </a:lnTo>
                <a:cubicBezTo>
                  <a:pt x="2895" y="2000"/>
                  <a:pt x="2000" y="2895"/>
                  <a:pt x="2000" y="4000"/>
                </a:cubicBezTo>
                <a:lnTo>
                  <a:pt x="2000" y="11172"/>
                </a:lnTo>
                <a:cubicBezTo>
                  <a:pt x="2000" y="11702"/>
                  <a:pt x="2211" y="12211"/>
                  <a:pt x="2586" y="12586"/>
                </a:cubicBezTo>
                <a:lnTo>
                  <a:pt x="11290" y="21290"/>
                </a:lnTo>
                <a:cubicBezTo>
                  <a:pt x="12236" y="22230"/>
                  <a:pt x="13764" y="22230"/>
                  <a:pt x="14710" y="21290"/>
                </a:cubicBezTo>
                <a:lnTo>
                  <a:pt x="21290" y="14710"/>
                </a:lnTo>
                <a:cubicBezTo>
                  <a:pt x="22230" y="13764"/>
                  <a:pt x="22230" y="12236"/>
                  <a:pt x="21290" y="11290"/>
                </a:cubicBezTo>
                <a:close/>
              </a:path>
              <a:path w="24000" h="24000">
                <a:moveTo>
                  <a:pt x="8000" y="7500"/>
                </a:moveTo>
                <a:cubicBezTo>
                  <a:pt x="8000" y="7776"/>
                  <a:pt x="7776" y="8000"/>
                  <a:pt x="7500" y="8000"/>
                </a:cubicBezTo>
                <a:cubicBezTo>
                  <a:pt x="7224" y="8000"/>
                  <a:pt x="7000" y="7776"/>
                  <a:pt x="7000" y="7500"/>
                </a:cubicBezTo>
                <a:cubicBezTo>
                  <a:pt x="7000" y="7224"/>
                  <a:pt x="7224" y="7000"/>
                  <a:pt x="7500" y="7000"/>
                </a:cubicBezTo>
                <a:cubicBezTo>
                  <a:pt x="7776" y="7000"/>
                  <a:pt x="8000" y="7224"/>
                  <a:pt x="8000" y="7500"/>
                </a:cubicBezTo>
                <a:close/>
              </a:path>
            </a:pathLst>
          </a:custGeom>
          <a:solidFill>
            <a:schemeClr val="accent1"/>
          </a:solidFill>
          <a:ln w="18415" cap="rnd">
            <a:solidFill>
              <a:schemeClr val="accent1"/>
            </a:solidFill>
            <a:round/>
          </a:ln>
          <a:effectLst/>
        </p:spPr>
      </p:sp>
      <p:sp>
        <p:nvSpPr>
          <p:cNvPr id="90" name="slot.check.5.icon"/>
          <p:cNvSpPr/>
          <p:nvPr/>
        </p:nvSpPr>
        <p:spPr>
          <a:xfrm>
            <a:off x="5555429" y="1726387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7000"/>
                </a:moveTo>
                <a:lnTo>
                  <a:pt x="12000" y="7000"/>
                </a:lnTo>
                <a:moveTo>
                  <a:pt x="16000" y="8000"/>
                </a:moveTo>
                <a:lnTo>
                  <a:pt x="10000" y="8000"/>
                </a:lnTo>
                <a:cubicBezTo>
                  <a:pt x="8895" y="8000"/>
                  <a:pt x="8000" y="8895"/>
                  <a:pt x="8000" y="10000"/>
                </a:cubicBezTo>
                <a:cubicBezTo>
                  <a:pt x="8000" y="11105"/>
                  <a:pt x="8895" y="12000"/>
                  <a:pt x="10000" y="12000"/>
                </a:cubicBezTo>
                <a:lnTo>
                  <a:pt x="14000" y="12000"/>
                </a:lnTo>
                <a:cubicBezTo>
                  <a:pt x="15105" y="12000"/>
                  <a:pt x="16000" y="12895"/>
                  <a:pt x="16000" y="14000"/>
                </a:cubicBezTo>
                <a:cubicBezTo>
                  <a:pt x="16000" y="15105"/>
                  <a:pt x="15105" y="16000"/>
                  <a:pt x="14000" y="16000"/>
                </a:cubicBezTo>
                <a:lnTo>
                  <a:pt x="8000" y="16000"/>
                </a:lnTo>
                <a:moveTo>
                  <a:pt x="4000" y="3000"/>
                </a:moveTo>
                <a:cubicBezTo>
                  <a:pt x="4000" y="2448"/>
                  <a:pt x="4448" y="2000"/>
                  <a:pt x="5000" y="2000"/>
                </a:cubicBezTo>
                <a:cubicBezTo>
                  <a:pt x="5248" y="1999"/>
                  <a:pt x="5490" y="2068"/>
                  <a:pt x="5700" y="2200"/>
                </a:cubicBezTo>
                <a:lnTo>
                  <a:pt x="6633" y="2800"/>
                </a:lnTo>
                <a:cubicBezTo>
                  <a:pt x="7060" y="3073"/>
                  <a:pt x="7606" y="3073"/>
                  <a:pt x="8033" y="2800"/>
                </a:cubicBezTo>
                <a:lnTo>
                  <a:pt x="8967" y="2200"/>
                </a:lnTo>
                <a:cubicBezTo>
                  <a:pt x="9394" y="1927"/>
                  <a:pt x="9940" y="1927"/>
                  <a:pt x="10367" y="2200"/>
                </a:cubicBezTo>
                <a:lnTo>
                  <a:pt x="11300" y="2800"/>
                </a:lnTo>
                <a:cubicBezTo>
                  <a:pt x="11727" y="3073"/>
                  <a:pt x="12273" y="3073"/>
                  <a:pt x="12700" y="2800"/>
                </a:cubicBezTo>
                <a:lnTo>
                  <a:pt x="13633" y="2200"/>
                </a:lnTo>
                <a:cubicBezTo>
                  <a:pt x="14060" y="1927"/>
                  <a:pt x="14606" y="1927"/>
                  <a:pt x="15033" y="2200"/>
                </a:cubicBezTo>
                <a:lnTo>
                  <a:pt x="15967" y="2800"/>
                </a:lnTo>
                <a:cubicBezTo>
                  <a:pt x="16394" y="3073"/>
                  <a:pt x="16940" y="3073"/>
                  <a:pt x="17367" y="2800"/>
                </a:cubicBezTo>
                <a:lnTo>
                  <a:pt x="18300" y="2200"/>
                </a:lnTo>
                <a:cubicBezTo>
                  <a:pt x="18510" y="2068"/>
                  <a:pt x="18752" y="1999"/>
                  <a:pt x="19000" y="2000"/>
                </a:cubicBezTo>
                <a:cubicBezTo>
                  <a:pt x="19552" y="2000"/>
                  <a:pt x="20000" y="2448"/>
                  <a:pt x="20000" y="3000"/>
                </a:cubicBezTo>
                <a:lnTo>
                  <a:pt x="20000" y="21000"/>
                </a:lnTo>
                <a:cubicBezTo>
                  <a:pt x="20000" y="21552"/>
                  <a:pt x="19552" y="22000"/>
                  <a:pt x="19000" y="22000"/>
                </a:cubicBezTo>
                <a:cubicBezTo>
                  <a:pt x="18752" y="22001"/>
                  <a:pt x="18510" y="21932"/>
                  <a:pt x="18300" y="21800"/>
                </a:cubicBezTo>
                <a:lnTo>
                  <a:pt x="17367" y="21200"/>
                </a:lnTo>
                <a:cubicBezTo>
                  <a:pt x="16940" y="20927"/>
                  <a:pt x="16394" y="20927"/>
                  <a:pt x="15967" y="21200"/>
                </a:cubicBezTo>
                <a:lnTo>
                  <a:pt x="15033" y="21800"/>
                </a:lnTo>
                <a:cubicBezTo>
                  <a:pt x="14606" y="22073"/>
                  <a:pt x="14060" y="22073"/>
                  <a:pt x="13633" y="21800"/>
                </a:cubicBezTo>
                <a:lnTo>
                  <a:pt x="12700" y="21200"/>
                </a:lnTo>
                <a:cubicBezTo>
                  <a:pt x="12273" y="20927"/>
                  <a:pt x="11727" y="20927"/>
                  <a:pt x="11300" y="21200"/>
                </a:cubicBezTo>
                <a:lnTo>
                  <a:pt x="10367" y="21800"/>
                </a:lnTo>
                <a:cubicBezTo>
                  <a:pt x="9940" y="22073"/>
                  <a:pt x="9394" y="22073"/>
                  <a:pt x="8967" y="21800"/>
                </a:cubicBezTo>
                <a:lnTo>
                  <a:pt x="8033" y="21200"/>
                </a:lnTo>
                <a:cubicBezTo>
                  <a:pt x="7606" y="20927"/>
                  <a:pt x="7060" y="20927"/>
                  <a:pt x="6633" y="21200"/>
                </a:cubicBezTo>
                <a:lnTo>
                  <a:pt x="5700" y="21800"/>
                </a:lnTo>
                <a:cubicBezTo>
                  <a:pt x="5490" y="21932"/>
                  <a:pt x="5248" y="22001"/>
                  <a:pt x="5000" y="22000"/>
                </a:cubicBezTo>
                <a:cubicBezTo>
                  <a:pt x="4448" y="22000"/>
                  <a:pt x="4000" y="21552"/>
                  <a:pt x="4000" y="21000"/>
                </a:cubicBezTo>
                <a:close/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</p:sp>
      <p:sp>
        <p:nvSpPr>
          <p:cNvPr id="91" name="slot.hub.icon"/>
          <p:cNvSpPr/>
          <p:nvPr/>
        </p:nvSpPr>
        <p:spPr>
          <a:xfrm>
            <a:off x="7632031" y="3154680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34290" cap="rnd">
            <a:solidFill>
              <a:schemeClr val="bg1"/>
            </a:solidFill>
            <a:round/>
          </a:ln>
          <a:effectLst/>
        </p:spPr>
      </p:sp>
      <p:sp>
        <p:nvSpPr>
          <p:cNvPr id="92" name="slot.source.1.icon"/>
          <p:cNvSpPr/>
          <p:nvPr/>
        </p:nvSpPr>
        <p:spPr>
          <a:xfrm>
            <a:off x="7749074" y="2383841"/>
            <a:ext cx="202997" cy="202997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17145" cap="rnd">
            <a:solidFill>
              <a:schemeClr val="accent1"/>
            </a:solidFill>
            <a:round/>
          </a:ln>
          <a:effectLst/>
        </p:spPr>
      </p:sp>
      <p:sp>
        <p:nvSpPr>
          <p:cNvPr id="93" name="slot.source.2.icon"/>
          <p:cNvSpPr/>
          <p:nvPr/>
        </p:nvSpPr>
        <p:spPr>
          <a:xfrm>
            <a:off x="6969091" y="3109874"/>
            <a:ext cx="202997" cy="202997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12000"/>
                </a:moveTo>
                <a:cubicBezTo>
                  <a:pt x="3000" y="16971"/>
                  <a:pt x="7029" y="21000"/>
                  <a:pt x="12000" y="21000"/>
                </a:cubicBezTo>
                <a:cubicBezTo>
                  <a:pt x="16971" y="21000"/>
                  <a:pt x="21000" y="16971"/>
                  <a:pt x="21000" y="12000"/>
                </a:cubicBezTo>
                <a:cubicBezTo>
                  <a:pt x="21000" y="7029"/>
                  <a:pt x="16971" y="3000"/>
                  <a:pt x="12000" y="3000"/>
                </a:cubicBezTo>
                <a:cubicBezTo>
                  <a:pt x="9484" y="3009"/>
                  <a:pt x="7069" y="3991"/>
                  <a:pt x="5260" y="5740"/>
                </a:cubicBezTo>
                <a:lnTo>
                  <a:pt x="3000" y="8000"/>
                </a:lnTo>
                <a:moveTo>
                  <a:pt x="3000" y="3000"/>
                </a:moveTo>
                <a:lnTo>
                  <a:pt x="3000" y="8000"/>
                </a:lnTo>
                <a:lnTo>
                  <a:pt x="8000" y="8000"/>
                </a:lnTo>
                <a:moveTo>
                  <a:pt x="12000" y="7000"/>
                </a:moveTo>
                <a:lnTo>
                  <a:pt x="12000" y="12000"/>
                </a:lnTo>
                <a:lnTo>
                  <a:pt x="16000" y="14000"/>
                </a:lnTo>
              </a:path>
            </a:pathLst>
          </a:custGeom>
          <a:noFill/>
          <a:ln w="17145" cap="rnd">
            <a:solidFill>
              <a:schemeClr val="accent1"/>
            </a:solidFill>
            <a:round/>
          </a:ln>
          <a:effectLst/>
        </p:spPr>
      </p:sp>
      <p:sp>
        <p:nvSpPr>
          <p:cNvPr id="94" name="slot.source.3.icon"/>
          <p:cNvSpPr/>
          <p:nvPr/>
        </p:nvSpPr>
        <p:spPr>
          <a:xfrm>
            <a:off x="8538202" y="3074213"/>
            <a:ext cx="202997" cy="202997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7000"/>
                </a:moveTo>
                <a:cubicBezTo>
                  <a:pt x="22000" y="18105"/>
                  <a:pt x="21105" y="19000"/>
                  <a:pt x="20000" y="19000"/>
                </a:cubicBezTo>
                <a:lnTo>
                  <a:pt x="6828" y="19000"/>
                </a:lnTo>
                <a:cubicBezTo>
                  <a:pt x="6298" y="19000"/>
                  <a:pt x="5789" y="19211"/>
                  <a:pt x="5414" y="19586"/>
                </a:cubicBezTo>
                <a:lnTo>
                  <a:pt x="3212" y="21788"/>
                </a:lnTo>
                <a:cubicBezTo>
                  <a:pt x="3009" y="21991"/>
                  <a:pt x="2704" y="22052"/>
                  <a:pt x="2438" y="21942"/>
                </a:cubicBezTo>
                <a:cubicBezTo>
                  <a:pt x="2173" y="21832"/>
                  <a:pt x="2000" y="21573"/>
                  <a:pt x="2000" y="21286"/>
                </a:cubicBezTo>
                <a:lnTo>
                  <a:pt x="2000" y="5000"/>
                </a:lnTo>
                <a:cubicBezTo>
                  <a:pt x="2000" y="3895"/>
                  <a:pt x="2895" y="3000"/>
                  <a:pt x="4000" y="3000"/>
                </a:cubicBezTo>
                <a:lnTo>
                  <a:pt x="20000" y="3000"/>
                </a:lnTo>
                <a:cubicBezTo>
                  <a:pt x="21105" y="3000"/>
                  <a:pt x="22000" y="3895"/>
                  <a:pt x="22000" y="5000"/>
                </a:cubicBezTo>
                <a:close/>
              </a:path>
            </a:pathLst>
          </a:custGeom>
          <a:noFill/>
          <a:ln w="17145" cap="rnd">
            <a:solidFill>
              <a:schemeClr val="accent1"/>
            </a:solidFill>
            <a:round/>
          </a:ln>
          <a:effectLst/>
        </p:spPr>
      </p:sp>
      <p:sp>
        <p:nvSpPr>
          <p:cNvPr id="95" name="slot.source.4.icon"/>
          <p:cNvSpPr/>
          <p:nvPr/>
        </p:nvSpPr>
        <p:spPr>
          <a:xfrm>
            <a:off x="7194948" y="3932834"/>
            <a:ext cx="202997" cy="202997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3000"/>
                </a:moveTo>
                <a:lnTo>
                  <a:pt x="3000" y="19000"/>
                </a:lnTo>
                <a:cubicBezTo>
                  <a:pt x="3000" y="20105"/>
                  <a:pt x="3895" y="21000"/>
                  <a:pt x="5000" y="21000"/>
                </a:cubicBezTo>
                <a:lnTo>
                  <a:pt x="21000" y="21000"/>
                </a:lnTo>
                <a:moveTo>
                  <a:pt x="19000" y="9000"/>
                </a:moveTo>
                <a:lnTo>
                  <a:pt x="14000" y="14000"/>
                </a:lnTo>
                <a:lnTo>
                  <a:pt x="10000" y="10000"/>
                </a:lnTo>
                <a:lnTo>
                  <a:pt x="7000" y="13000"/>
                </a:lnTo>
              </a:path>
            </a:pathLst>
          </a:custGeom>
          <a:noFill/>
          <a:ln w="17145" cap="rnd">
            <a:solidFill>
              <a:schemeClr val="accent1"/>
            </a:solidFill>
            <a:round/>
          </a:ln>
          <a:effectLst/>
        </p:spPr>
      </p:sp>
      <p:sp>
        <p:nvSpPr>
          <p:cNvPr id="96" name="slot.source.5.icon"/>
          <p:cNvSpPr/>
          <p:nvPr/>
        </p:nvSpPr>
        <p:spPr>
          <a:xfrm>
            <a:off x="8277598" y="3926434"/>
            <a:ext cx="202997" cy="202997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17145" cap="rnd">
            <a:solidFill>
              <a:schemeClr val="accent1"/>
            </a:solidFill>
            <a:round/>
          </a:ln>
          <a:effectLst/>
        </p:spPr>
      </p:sp>
      <p:sp>
        <p:nvSpPr>
          <p:cNvPr id="97" name="slot.outcome.1.icon"/>
          <p:cNvSpPr/>
          <p:nvPr/>
        </p:nvSpPr>
        <p:spPr>
          <a:xfrm>
            <a:off x="9718692" y="1892808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</p:sp>
      <p:sp>
        <p:nvSpPr>
          <p:cNvPr id="98" name="slot.outcome.2.icon"/>
          <p:cNvSpPr/>
          <p:nvPr/>
        </p:nvSpPr>
        <p:spPr>
          <a:xfrm>
            <a:off x="9718692" y="2542032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12000" y="8000"/>
                </a:moveTo>
                <a:lnTo>
                  <a:pt x="12000" y="12000"/>
                </a:lnTo>
                <a:moveTo>
                  <a:pt x="12000" y="16000"/>
                </a:moveTo>
                <a:lnTo>
                  <a:pt x="12010" y="16000"/>
                </a:lnTo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</p:sp>
      <p:sp>
        <p:nvSpPr>
          <p:cNvPr id="99" name="slot.outcome.3.icon"/>
          <p:cNvSpPr/>
          <p:nvPr/>
        </p:nvSpPr>
        <p:spPr>
          <a:xfrm>
            <a:off x="9718692" y="3191256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</p:sp>
      <p:sp>
        <p:nvSpPr>
          <p:cNvPr id="100" name="slot.outcome.4.icon"/>
          <p:cNvSpPr/>
          <p:nvPr/>
        </p:nvSpPr>
        <p:spPr>
          <a:xfrm>
            <a:off x="9718692" y="384048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000" y="5000"/>
                </a:moveTo>
                <a:lnTo>
                  <a:pt x="3000" y="5000"/>
                </a:lnTo>
                <a:moveTo>
                  <a:pt x="12000" y="19000"/>
                </a:moveTo>
                <a:lnTo>
                  <a:pt x="3000" y="19000"/>
                </a:lnTo>
                <a:moveTo>
                  <a:pt x="14000" y="3000"/>
                </a:moveTo>
                <a:lnTo>
                  <a:pt x="14000" y="7000"/>
                </a:lnTo>
                <a:moveTo>
                  <a:pt x="16000" y="17000"/>
                </a:moveTo>
                <a:lnTo>
                  <a:pt x="16000" y="21000"/>
                </a:lnTo>
                <a:moveTo>
                  <a:pt x="21000" y="12000"/>
                </a:moveTo>
                <a:lnTo>
                  <a:pt x="12000" y="12000"/>
                </a:lnTo>
                <a:moveTo>
                  <a:pt x="21000" y="19000"/>
                </a:moveTo>
                <a:lnTo>
                  <a:pt x="16000" y="19000"/>
                </a:lnTo>
                <a:moveTo>
                  <a:pt x="21000" y="5000"/>
                </a:moveTo>
                <a:lnTo>
                  <a:pt x="14000" y="5000"/>
                </a:lnTo>
                <a:moveTo>
                  <a:pt x="8000" y="10000"/>
                </a:moveTo>
                <a:lnTo>
                  <a:pt x="8000" y="14000"/>
                </a:lnTo>
                <a:moveTo>
                  <a:pt x="8000" y="12000"/>
                </a:moveTo>
                <a:lnTo>
                  <a:pt x="3000" y="12000"/>
                </a:lnTo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</p:sp>
      <p:sp>
        <p:nvSpPr>
          <p:cNvPr id="101" name="slot.outcome.5.icon"/>
          <p:cNvSpPr/>
          <p:nvPr/>
        </p:nvSpPr>
        <p:spPr>
          <a:xfrm>
            <a:off x="9718692" y="4489704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2000"/>
                </a:moveTo>
                <a:lnTo>
                  <a:pt x="15000" y="2000"/>
                </a:lnTo>
                <a:cubicBezTo>
                  <a:pt x="15552" y="2000"/>
                  <a:pt x="16000" y="2448"/>
                  <a:pt x="16000" y="3000"/>
                </a:cubicBezTo>
                <a:lnTo>
                  <a:pt x="16000" y="5000"/>
                </a:lnTo>
                <a:cubicBezTo>
                  <a:pt x="16000" y="5552"/>
                  <a:pt x="15552" y="6000"/>
                  <a:pt x="15000" y="6000"/>
                </a:cubicBezTo>
                <a:lnTo>
                  <a:pt x="9000" y="6000"/>
                </a:lnTo>
                <a:cubicBezTo>
                  <a:pt x="8448" y="6000"/>
                  <a:pt x="8000" y="5552"/>
                  <a:pt x="8000" y="5000"/>
                </a:cubicBezTo>
                <a:lnTo>
                  <a:pt x="8000" y="3000"/>
                </a:lnTo>
                <a:cubicBezTo>
                  <a:pt x="8000" y="2448"/>
                  <a:pt x="8448" y="2000"/>
                  <a:pt x="9000" y="2000"/>
                </a:cubicBezTo>
                <a:close/>
                <a:moveTo>
                  <a:pt x="16000" y="4000"/>
                </a:moveTo>
                <a:lnTo>
                  <a:pt x="18000" y="4000"/>
                </a:lnTo>
                <a:cubicBezTo>
                  <a:pt x="19105" y="4000"/>
                  <a:pt x="20000" y="4895"/>
                  <a:pt x="20000" y="6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lnTo>
                  <a:pt x="6000" y="22000"/>
                </a:lnTo>
                <a:cubicBezTo>
                  <a:pt x="4895" y="22000"/>
                  <a:pt x="4000" y="21105"/>
                  <a:pt x="4000" y="20000"/>
                </a:cubicBezTo>
                <a:lnTo>
                  <a:pt x="4000" y="6000"/>
                </a:lnTo>
                <a:cubicBezTo>
                  <a:pt x="4000" y="4895"/>
                  <a:pt x="4895" y="4000"/>
                  <a:pt x="6000" y="4000"/>
                </a:cubicBezTo>
                <a:lnTo>
                  <a:pt x="8000" y="4000"/>
                </a:lnTo>
                <a:moveTo>
                  <a:pt x="9000" y="14000"/>
                </a:moveTo>
                <a:lnTo>
                  <a:pt x="11000" y="16000"/>
                </a:lnTo>
                <a:lnTo>
                  <a:pt x="15000" y="12000"/>
                </a:lnTo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</p:sp>
      <p:sp>
        <p:nvSpPr>
          <p:cNvPr id="102" name="slot.paths.before.icon"/>
          <p:cNvSpPr/>
          <p:nvPr/>
        </p:nvSpPr>
        <p:spPr>
          <a:xfrm>
            <a:off x="5391969" y="5674443"/>
            <a:ext cx="273280" cy="2732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103" name="slot.paths.after.icon"/>
          <p:cNvSpPr/>
          <p:nvPr/>
        </p:nvSpPr>
        <p:spPr>
          <a:xfrm>
            <a:off x="6811023" y="5674443"/>
            <a:ext cx="273280" cy="2732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gantt:phase-lane-milestone-axis-stat-row">
    <p:spTree>
      <p:nvGrpSpPr>
        <p:cNvPr id="1" name=""/>
        <p:cNvGrpSpPr/>
        <p:nvPr/>
      </p:nvGrpSpPr>
      <p:grpSpPr/>
      <p:sp>
        <p:nvSpPr>
          <p:cNvPr id="2" name="struct.quarter.1"/>
          <p:cNvSpPr/>
          <p:nvPr/>
        </p:nvSpPr>
        <p:spPr>
          <a:xfrm>
            <a:off x="2743273" y="1188720"/>
            <a:ext cx="1773936" cy="3108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3" name="slot.quarter.1"/>
          <p:cNvSpPr/>
          <p:nvPr/>
        </p:nvSpPr>
        <p:spPr>
          <a:xfrm>
            <a:off x="2743273" y="1188720"/>
            <a:ext cx="1773936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Q1 2027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truct.quarter.2"/>
          <p:cNvSpPr/>
          <p:nvPr/>
        </p:nvSpPr>
        <p:spPr>
          <a:xfrm>
            <a:off x="4541031" y="1188720"/>
            <a:ext cx="1773936" cy="3108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5" name="slot.quarter.2"/>
          <p:cNvSpPr/>
          <p:nvPr/>
        </p:nvSpPr>
        <p:spPr>
          <a:xfrm>
            <a:off x="4541031" y="1188720"/>
            <a:ext cx="1773936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Q2 2027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truct.quarter.3"/>
          <p:cNvSpPr/>
          <p:nvPr/>
        </p:nvSpPr>
        <p:spPr>
          <a:xfrm>
            <a:off x="6338789" y="1188720"/>
            <a:ext cx="1773936" cy="3108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7" name="slot.quarter.3"/>
          <p:cNvSpPr/>
          <p:nvPr/>
        </p:nvSpPr>
        <p:spPr>
          <a:xfrm>
            <a:off x="6338789" y="1188720"/>
            <a:ext cx="1773936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Q3 2027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truct.quarter.4"/>
          <p:cNvSpPr/>
          <p:nvPr/>
        </p:nvSpPr>
        <p:spPr>
          <a:xfrm>
            <a:off x="8136548" y="1188720"/>
            <a:ext cx="1773936" cy="3108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9" name="slot.quarter.4"/>
          <p:cNvSpPr/>
          <p:nvPr/>
        </p:nvSpPr>
        <p:spPr>
          <a:xfrm>
            <a:off x="8136548" y="1188720"/>
            <a:ext cx="1773936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Q4 2027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truct.quarter.5"/>
          <p:cNvSpPr/>
          <p:nvPr/>
        </p:nvSpPr>
        <p:spPr>
          <a:xfrm>
            <a:off x="9934307" y="1188720"/>
            <a:ext cx="1773936" cy="3108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11" name="slot.quarter.5"/>
          <p:cNvSpPr/>
          <p:nvPr/>
        </p:nvSpPr>
        <p:spPr>
          <a:xfrm>
            <a:off x="9934307" y="1188720"/>
            <a:ext cx="1773936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Q1 2028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truct.month.1"/>
          <p:cNvSpPr/>
          <p:nvPr/>
        </p:nvSpPr>
        <p:spPr>
          <a:xfrm>
            <a:off x="2743273" y="1517904"/>
            <a:ext cx="585216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13" name="slot.month.1"/>
          <p:cNvSpPr/>
          <p:nvPr/>
        </p:nvSpPr>
        <p:spPr>
          <a:xfrm>
            <a:off x="2743273" y="1517904"/>
            <a:ext cx="58521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Jan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struct.month.2"/>
          <p:cNvSpPr/>
          <p:nvPr/>
        </p:nvSpPr>
        <p:spPr>
          <a:xfrm>
            <a:off x="3342527" y="1517904"/>
            <a:ext cx="585216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15" name="slot.month.2"/>
          <p:cNvSpPr/>
          <p:nvPr/>
        </p:nvSpPr>
        <p:spPr>
          <a:xfrm>
            <a:off x="3342527" y="1517904"/>
            <a:ext cx="58521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Feb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truct.month.3"/>
          <p:cNvSpPr/>
          <p:nvPr/>
        </p:nvSpPr>
        <p:spPr>
          <a:xfrm>
            <a:off x="3941778" y="1517904"/>
            <a:ext cx="585216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17" name="slot.month.3"/>
          <p:cNvSpPr/>
          <p:nvPr/>
        </p:nvSpPr>
        <p:spPr>
          <a:xfrm>
            <a:off x="3941778" y="1517904"/>
            <a:ext cx="58521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Mar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truct.month.4"/>
          <p:cNvSpPr/>
          <p:nvPr/>
        </p:nvSpPr>
        <p:spPr>
          <a:xfrm>
            <a:off x="4541031" y="1517904"/>
            <a:ext cx="585216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19" name="slot.month.4"/>
          <p:cNvSpPr/>
          <p:nvPr/>
        </p:nvSpPr>
        <p:spPr>
          <a:xfrm>
            <a:off x="4541031" y="1517904"/>
            <a:ext cx="58521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Apr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truct.month.5"/>
          <p:cNvSpPr/>
          <p:nvPr/>
        </p:nvSpPr>
        <p:spPr>
          <a:xfrm>
            <a:off x="5140284" y="1517904"/>
            <a:ext cx="585216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21" name="slot.month.5"/>
          <p:cNvSpPr/>
          <p:nvPr/>
        </p:nvSpPr>
        <p:spPr>
          <a:xfrm>
            <a:off x="5140284" y="1517904"/>
            <a:ext cx="58521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May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truct.month.6"/>
          <p:cNvSpPr/>
          <p:nvPr/>
        </p:nvSpPr>
        <p:spPr>
          <a:xfrm>
            <a:off x="5739537" y="1517904"/>
            <a:ext cx="585216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23" name="slot.month.6"/>
          <p:cNvSpPr/>
          <p:nvPr/>
        </p:nvSpPr>
        <p:spPr>
          <a:xfrm>
            <a:off x="5739537" y="1517904"/>
            <a:ext cx="58521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Jun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truct.month.7"/>
          <p:cNvSpPr/>
          <p:nvPr/>
        </p:nvSpPr>
        <p:spPr>
          <a:xfrm>
            <a:off x="6338789" y="1517904"/>
            <a:ext cx="585216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25" name="slot.month.7"/>
          <p:cNvSpPr/>
          <p:nvPr/>
        </p:nvSpPr>
        <p:spPr>
          <a:xfrm>
            <a:off x="6338789" y="1517904"/>
            <a:ext cx="58521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Jul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struct.month.8"/>
          <p:cNvSpPr/>
          <p:nvPr/>
        </p:nvSpPr>
        <p:spPr>
          <a:xfrm>
            <a:off x="6938043" y="1517904"/>
            <a:ext cx="585216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27" name="slot.month.8"/>
          <p:cNvSpPr/>
          <p:nvPr/>
        </p:nvSpPr>
        <p:spPr>
          <a:xfrm>
            <a:off x="6938043" y="1517904"/>
            <a:ext cx="58521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Aug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truct.month.9"/>
          <p:cNvSpPr/>
          <p:nvPr/>
        </p:nvSpPr>
        <p:spPr>
          <a:xfrm>
            <a:off x="7537294" y="1517904"/>
            <a:ext cx="585216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29" name="slot.month.9"/>
          <p:cNvSpPr/>
          <p:nvPr/>
        </p:nvSpPr>
        <p:spPr>
          <a:xfrm>
            <a:off x="7537294" y="1517904"/>
            <a:ext cx="58521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Sep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struct.month.10"/>
          <p:cNvSpPr/>
          <p:nvPr/>
        </p:nvSpPr>
        <p:spPr>
          <a:xfrm>
            <a:off x="8136548" y="1517904"/>
            <a:ext cx="585216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31" name="slot.month.10"/>
          <p:cNvSpPr/>
          <p:nvPr/>
        </p:nvSpPr>
        <p:spPr>
          <a:xfrm>
            <a:off x="8136548" y="1517904"/>
            <a:ext cx="58521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Oct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truct.month.11"/>
          <p:cNvSpPr/>
          <p:nvPr/>
        </p:nvSpPr>
        <p:spPr>
          <a:xfrm>
            <a:off x="8735801" y="1517904"/>
            <a:ext cx="585216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33" name="slot.month.11"/>
          <p:cNvSpPr/>
          <p:nvPr/>
        </p:nvSpPr>
        <p:spPr>
          <a:xfrm>
            <a:off x="8735801" y="1517904"/>
            <a:ext cx="58521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Nov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struct.month.12"/>
          <p:cNvSpPr/>
          <p:nvPr/>
        </p:nvSpPr>
        <p:spPr>
          <a:xfrm>
            <a:off x="9335053" y="1517904"/>
            <a:ext cx="585216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35" name="slot.month.12"/>
          <p:cNvSpPr/>
          <p:nvPr/>
        </p:nvSpPr>
        <p:spPr>
          <a:xfrm>
            <a:off x="9335053" y="1517904"/>
            <a:ext cx="58521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Dec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struct.month.13"/>
          <p:cNvSpPr/>
          <p:nvPr/>
        </p:nvSpPr>
        <p:spPr>
          <a:xfrm>
            <a:off x="9934307" y="1517904"/>
            <a:ext cx="585216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37" name="slot.month.13"/>
          <p:cNvSpPr/>
          <p:nvPr/>
        </p:nvSpPr>
        <p:spPr>
          <a:xfrm>
            <a:off x="9934307" y="1517904"/>
            <a:ext cx="58521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Jan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truct.month.14"/>
          <p:cNvSpPr/>
          <p:nvPr/>
        </p:nvSpPr>
        <p:spPr>
          <a:xfrm>
            <a:off x="10533559" y="1517904"/>
            <a:ext cx="585216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39" name="slot.month.14"/>
          <p:cNvSpPr/>
          <p:nvPr/>
        </p:nvSpPr>
        <p:spPr>
          <a:xfrm>
            <a:off x="10533559" y="1517904"/>
            <a:ext cx="58521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Feb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struct.month.15"/>
          <p:cNvSpPr/>
          <p:nvPr/>
        </p:nvSpPr>
        <p:spPr>
          <a:xfrm>
            <a:off x="11132812" y="1517904"/>
            <a:ext cx="585216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41" name="slot.month.15"/>
          <p:cNvSpPr/>
          <p:nvPr/>
        </p:nvSpPr>
        <p:spPr>
          <a:xfrm>
            <a:off x="11132812" y="1517904"/>
            <a:ext cx="58521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Mar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struct.lane.1.tab"/>
          <p:cNvSpPr/>
          <p:nvPr/>
        </p:nvSpPr>
        <p:spPr>
          <a:xfrm>
            <a:off x="457200" y="1938528"/>
            <a:ext cx="2148840" cy="6400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43" name="struct.lane.1.disc"/>
          <p:cNvSpPr/>
          <p:nvPr/>
        </p:nvSpPr>
        <p:spPr>
          <a:xfrm>
            <a:off x="603504" y="2057400"/>
            <a:ext cx="402336" cy="40233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44" name="slot.lane.1.label"/>
          <p:cNvSpPr/>
          <p:nvPr/>
        </p:nvSpPr>
        <p:spPr>
          <a:xfrm>
            <a:off x="1097280" y="1938528"/>
            <a:ext cx="1444752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Program phases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truct.phase.1.bar"/>
          <p:cNvSpPr/>
          <p:nvPr/>
        </p:nvSpPr>
        <p:spPr>
          <a:xfrm>
            <a:off x="2743200" y="1938528"/>
            <a:ext cx="5349240" cy="640080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46" name="slot.phase.1.label"/>
          <p:cNvSpPr/>
          <p:nvPr/>
        </p:nvSpPr>
        <p:spPr>
          <a:xfrm>
            <a:off x="2834640" y="1938528"/>
            <a:ext cx="5166359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Build and pilot in two regions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struct.phase.2.bar"/>
          <p:cNvSpPr/>
          <p:nvPr/>
        </p:nvSpPr>
        <p:spPr>
          <a:xfrm>
            <a:off x="8183879" y="1938528"/>
            <a:ext cx="3520440" cy="6400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48" name="slot.phase.2.label"/>
          <p:cNvSpPr/>
          <p:nvPr/>
        </p:nvSpPr>
        <p:spPr>
          <a:xfrm>
            <a:off x="8275319" y="1938528"/>
            <a:ext cx="333756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Scale to every region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slot.lane.2.label"/>
          <p:cNvSpPr/>
          <p:nvPr/>
        </p:nvSpPr>
        <p:spPr>
          <a:xfrm>
            <a:off x="457200" y="2788920"/>
            <a:ext cx="214884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Milestones and gates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struct.axis"/>
          <p:cNvSpPr/>
          <p:nvPr/>
        </p:nvSpPr>
        <p:spPr>
          <a:xfrm>
            <a:off x="2743200" y="3776472"/>
            <a:ext cx="8961120" cy="182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cxnSp>
        <p:nvCxnSpPr>
          <p:cNvPr id="51" name="struct.milestone.1.drop"/>
          <p:cNvCxnSpPr/>
          <p:nvPr/>
        </p:nvCxnSpPr>
        <p:spPr>
          <a:xfrm>
            <a:off x="4241451" y="3858768"/>
            <a:ext cx="0" cy="393192"/>
          </a:xfrm>
          <a:prstGeom prst="straightConnector1">
            <a:avLst/>
          </a:prstGeom>
          <a:noFill/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sp>
        <p:nvSpPr>
          <p:cNvPr id="52" name="slot.milestone.1.label"/>
          <p:cNvSpPr/>
          <p:nvPr/>
        </p:nvSpPr>
        <p:spPr>
          <a:xfrm>
            <a:off x="3235611" y="4261104"/>
            <a:ext cx="2011680" cy="51206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Baseline checkpoint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Cycle times measured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struct.milestone.1.mark"/>
          <p:cNvSpPr/>
          <p:nvPr/>
        </p:nvSpPr>
        <p:spPr>
          <a:xfrm>
            <a:off x="4168299" y="3712463"/>
            <a:ext cx="146304" cy="146304"/>
          </a:xfrm>
          <a:prstGeom prst="diamond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cxnSp>
        <p:nvCxnSpPr>
          <p:cNvPr id="54" name="struct.milestone.2.drop"/>
          <p:cNvCxnSpPr/>
          <p:nvPr/>
        </p:nvCxnSpPr>
        <p:spPr>
          <a:xfrm>
            <a:off x="6039209" y="3282696"/>
            <a:ext cx="0" cy="429767"/>
          </a:xfrm>
          <a:prstGeom prst="straightConnector1">
            <a:avLst/>
          </a:prstGeom>
          <a:noFill/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sp>
        <p:nvSpPr>
          <p:cNvPr id="55" name="slot.milestone.2.label"/>
          <p:cNvSpPr/>
          <p:nvPr/>
        </p:nvSpPr>
        <p:spPr>
          <a:xfrm>
            <a:off x="5033369" y="2761488"/>
            <a:ext cx="2011680" cy="51206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b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Pilot go gate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Two regions go live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truct.milestone.2.mark"/>
          <p:cNvSpPr/>
          <p:nvPr/>
        </p:nvSpPr>
        <p:spPr>
          <a:xfrm>
            <a:off x="5966057" y="3712463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cxnSp>
        <p:nvCxnSpPr>
          <p:cNvPr id="57" name="struct.milestone.3.drop"/>
          <p:cNvCxnSpPr/>
          <p:nvPr/>
        </p:nvCxnSpPr>
        <p:spPr>
          <a:xfrm>
            <a:off x="7836967" y="3858768"/>
            <a:ext cx="0" cy="393192"/>
          </a:xfrm>
          <a:prstGeom prst="straightConnector1">
            <a:avLst/>
          </a:prstGeom>
          <a:noFill/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sp>
        <p:nvSpPr>
          <p:cNvPr id="58" name="slot.milestone.3.label"/>
          <p:cNvSpPr/>
          <p:nvPr/>
        </p:nvSpPr>
        <p:spPr>
          <a:xfrm>
            <a:off x="6831127" y="4261104"/>
            <a:ext cx="2011680" cy="51206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Scale gate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Pilot savings signed off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struct.milestone.3.mark"/>
          <p:cNvSpPr/>
          <p:nvPr/>
        </p:nvSpPr>
        <p:spPr>
          <a:xfrm>
            <a:off x="7763815" y="3712463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cxnSp>
        <p:nvCxnSpPr>
          <p:cNvPr id="60" name="struct.milestone.4.drop"/>
          <p:cNvCxnSpPr/>
          <p:nvPr/>
        </p:nvCxnSpPr>
        <p:spPr>
          <a:xfrm>
            <a:off x="9634724" y="3282696"/>
            <a:ext cx="0" cy="429767"/>
          </a:xfrm>
          <a:prstGeom prst="straightConnector1">
            <a:avLst/>
          </a:prstGeom>
          <a:noFill/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sp>
        <p:nvSpPr>
          <p:cNvPr id="61" name="slot.milestone.4.label"/>
          <p:cNvSpPr/>
          <p:nvPr/>
        </p:nvSpPr>
        <p:spPr>
          <a:xfrm>
            <a:off x="8628885" y="2761488"/>
            <a:ext cx="2011680" cy="51206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b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Year-end checkpoint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Eight regions live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struct.milestone.4.mark"/>
          <p:cNvSpPr/>
          <p:nvPr/>
        </p:nvSpPr>
        <p:spPr>
          <a:xfrm>
            <a:off x="9561572" y="3712463"/>
            <a:ext cx="146304" cy="146304"/>
          </a:xfrm>
          <a:prstGeom prst="diamond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cxnSp>
        <p:nvCxnSpPr>
          <p:cNvPr id="63" name="struct.milestone.5.drop"/>
          <p:cNvCxnSpPr/>
          <p:nvPr/>
        </p:nvCxnSpPr>
        <p:spPr>
          <a:xfrm>
            <a:off x="11432452" y="3886200"/>
            <a:ext cx="0" cy="365760"/>
          </a:xfrm>
          <a:prstGeom prst="straightConnector1">
            <a:avLst/>
          </a:prstGeom>
          <a:noFill/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sp>
        <p:nvSpPr>
          <p:cNvPr id="64" name="slot.milestone.5.label"/>
          <p:cNvSpPr/>
          <p:nvPr/>
        </p:nvSpPr>
        <p:spPr>
          <a:xfrm>
            <a:off x="9902952" y="4261104"/>
            <a:ext cx="1828800" cy="51206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t" anchorCtr="0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Rollout gate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All twelve regions live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struct.milestone.5.mark"/>
          <p:cNvSpPr/>
          <p:nvPr/>
        </p:nvSpPr>
        <p:spPr>
          <a:xfrm>
            <a:off x="11331868" y="3685031"/>
            <a:ext cx="201168" cy="201168"/>
          </a:xfrm>
          <a:prstGeom prst="diamond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66" name="struct.stat.1"/>
          <p:cNvSpPr/>
          <p:nvPr/>
        </p:nvSpPr>
        <p:spPr>
          <a:xfrm>
            <a:off x="2743200" y="5120640"/>
            <a:ext cx="1719072" cy="9601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67" name="slot.stat.1.value"/>
          <p:cNvSpPr/>
          <p:nvPr/>
        </p:nvSpPr>
        <p:spPr>
          <a:xfrm>
            <a:off x="2743200" y="5230368"/>
            <a:ext cx="1719072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1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slot.stat.1.label"/>
          <p:cNvSpPr/>
          <p:nvPr/>
        </p:nvSpPr>
        <p:spPr>
          <a:xfrm>
            <a:off x="2788920" y="5669280"/>
            <a:ext cx="1627631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Design region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struct.stat.2"/>
          <p:cNvSpPr/>
          <p:nvPr/>
        </p:nvSpPr>
        <p:spPr>
          <a:xfrm>
            <a:off x="4553712" y="5120640"/>
            <a:ext cx="1719072" cy="9601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70" name="slot.stat.2.value"/>
          <p:cNvSpPr/>
          <p:nvPr/>
        </p:nvSpPr>
        <p:spPr>
          <a:xfrm>
            <a:off x="4553712" y="5230368"/>
            <a:ext cx="1719072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2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slot.stat.2.label"/>
          <p:cNvSpPr/>
          <p:nvPr/>
        </p:nvSpPr>
        <p:spPr>
          <a:xfrm>
            <a:off x="4599432" y="5669280"/>
            <a:ext cx="1627631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Pilot pair live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struct.stat.3"/>
          <p:cNvSpPr/>
          <p:nvPr/>
        </p:nvSpPr>
        <p:spPr>
          <a:xfrm>
            <a:off x="6364224" y="5120640"/>
            <a:ext cx="1719072" cy="9601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73" name="slot.stat.3.value"/>
          <p:cNvSpPr/>
          <p:nvPr/>
        </p:nvSpPr>
        <p:spPr>
          <a:xfrm>
            <a:off x="6364224" y="5230368"/>
            <a:ext cx="1719072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4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slot.stat.3.label"/>
          <p:cNvSpPr/>
          <p:nvPr/>
        </p:nvSpPr>
        <p:spPr>
          <a:xfrm>
            <a:off x="6409944" y="5669280"/>
            <a:ext cx="1627631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Pilot extended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struct.stat.4"/>
          <p:cNvSpPr/>
          <p:nvPr/>
        </p:nvSpPr>
        <p:spPr>
          <a:xfrm>
            <a:off x="8174736" y="5120640"/>
            <a:ext cx="1719072" cy="9601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76" name="slot.stat.4.value"/>
          <p:cNvSpPr/>
          <p:nvPr/>
        </p:nvSpPr>
        <p:spPr>
          <a:xfrm>
            <a:off x="8174736" y="5230368"/>
            <a:ext cx="1719072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8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slot.stat.4.label"/>
          <p:cNvSpPr/>
          <p:nvPr/>
        </p:nvSpPr>
        <p:spPr>
          <a:xfrm>
            <a:off x="8220456" y="5669280"/>
            <a:ext cx="1627631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Scale wave one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struct.stat.5"/>
          <p:cNvSpPr/>
          <p:nvPr/>
        </p:nvSpPr>
        <p:spPr>
          <a:xfrm>
            <a:off x="9985248" y="5120640"/>
            <a:ext cx="1719072" cy="9601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79" name="slot.stat.5.value"/>
          <p:cNvSpPr/>
          <p:nvPr/>
        </p:nvSpPr>
        <p:spPr>
          <a:xfrm>
            <a:off x="9985248" y="5230368"/>
            <a:ext cx="1719072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12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slot.stat.5.label"/>
          <p:cNvSpPr/>
          <p:nvPr/>
        </p:nvSpPr>
        <p:spPr>
          <a:xfrm>
            <a:off x="10030968" y="5669280"/>
            <a:ext cx="1627631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Full rollout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slot.lane.3.label"/>
          <p:cNvSpPr/>
          <p:nvPr/>
        </p:nvSpPr>
        <p:spPr>
          <a:xfrm>
            <a:off x="457200" y="5138928"/>
            <a:ext cx="214884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Target regions live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slot.title"/>
          <p:cNvSpPr txBox="1"/>
          <p:nvPr/>
        </p:nvSpPr>
        <p:spPr>
          <a:xfrm>
            <a:off x="457200" y="329184"/>
            <a:ext cx="11338560" cy="566928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Every region runs the new planning process within </a:t>
            </a:r>
            <a:r>
              <a:rPr lang="en-US" sz="2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five quarters</a:t>
            </a:r>
            <a:endParaRPr lang="en-US" sz="2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slot.lane.1.icon"/>
          <p:cNvSpPr/>
          <p:nvPr/>
        </p:nvSpPr>
        <p:spPr>
          <a:xfrm>
            <a:off x="685800" y="2139696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8000" y="2000"/>
                </a:moveTo>
                <a:lnTo>
                  <a:pt x="8000" y="5000"/>
                </a:lnTo>
                <a:moveTo>
                  <a:pt x="16000" y="2000"/>
                </a:moveTo>
                <a:lnTo>
                  <a:pt x="16000" y="5000"/>
                </a:lnTo>
                <a:moveTo>
                  <a:pt x="5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  <a:moveTo>
                  <a:pt x="3000" y="9000"/>
                </a:moveTo>
                <a:lnTo>
                  <a:pt x="21000" y="9000"/>
                </a:lnTo>
                <a:moveTo>
                  <a:pt x="9000" y="15000"/>
                </a:moveTo>
                <a:lnTo>
                  <a:pt x="11000" y="17000"/>
                </a:lnTo>
                <a:lnTo>
                  <a:pt x="15000" y="13000"/>
                </a:lnTo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governance-model:role-hub-workflow-escalation">
    <p:spTree>
      <p:nvGrpSpPr>
        <p:cNvPr id="1" name=""/>
        <p:cNvGrpSpPr/>
        <p:nvPr/>
      </p:nvGrpSpPr>
      <p:grpSpPr/>
      <p:sp>
        <p:nvSpPr>
          <p:cNvPr id="2" name="slot.column.1.head"/>
          <p:cNvSpPr txBox="1"/>
          <p:nvPr/>
        </p:nvSpPr>
        <p:spPr>
          <a:xfrm>
            <a:off x="457200" y="841248"/>
            <a:ext cx="4023360" cy="420624"/>
          </a:xfrm>
          <a:prstGeom prst="round2SameRect">
            <a:avLst/>
          </a:prstGeom>
          <a:solidFill>
            <a:schemeClr val="accent1"/>
          </a:solidFill>
          <a:ln/>
          <a:effectLst/>
        </p:spPr>
        <p:txBody>
          <a:bodyPr wrap="square" lIns="91440" tIns="36576" rIns="91440" bIns="36576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Operating model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ot.column.2.head"/>
          <p:cNvSpPr txBox="1"/>
          <p:nvPr/>
        </p:nvSpPr>
        <p:spPr>
          <a:xfrm>
            <a:off x="4718304" y="841248"/>
            <a:ext cx="4233672" cy="420624"/>
          </a:xfrm>
          <a:prstGeom prst="round2SameRect">
            <a:avLst/>
          </a:prstGeom>
          <a:solidFill>
            <a:schemeClr val="accent1"/>
          </a:solidFill>
          <a:ln/>
          <a:effectLst/>
        </p:spPr>
        <p:txBody>
          <a:bodyPr wrap="square" lIns="91440" tIns="36576" rIns="91440" bIns="36576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Decision workflow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ot.column.3.head"/>
          <p:cNvSpPr txBox="1"/>
          <p:nvPr/>
        </p:nvSpPr>
        <p:spPr>
          <a:xfrm>
            <a:off x="9180576" y="841248"/>
            <a:ext cx="2615184" cy="420624"/>
          </a:xfrm>
          <a:prstGeom prst="round2SameRect">
            <a:avLst/>
          </a:prstGeom>
          <a:solidFill>
            <a:schemeClr val="accent1"/>
          </a:solidFill>
          <a:ln/>
          <a:effectLst/>
        </p:spPr>
        <p:txBody>
          <a:bodyPr wrap="square" lIns="91440" tIns="36576" rIns="91440" bIns="36576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Escalation guardrails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" name="struct.divider.1"/>
          <p:cNvCxnSpPr>
            <a:cxnSpLocks/>
          </p:cNvCxnSpPr>
          <p:nvPr/>
        </p:nvCxnSpPr>
        <p:spPr>
          <a:xfrm>
            <a:off x="4599432" y="841248"/>
            <a:ext cx="0" cy="5010912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6" name="struct.divider.2"/>
          <p:cNvCxnSpPr>
            <a:cxnSpLocks/>
          </p:cNvCxnSpPr>
          <p:nvPr/>
        </p:nvCxnSpPr>
        <p:spPr>
          <a:xfrm>
            <a:off x="9070848" y="841248"/>
            <a:ext cx="0" cy="5010912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7" name="struct.hub.node.2"/>
          <p:cNvSpPr/>
          <p:nvPr/>
        </p:nvSpPr>
        <p:spPr>
          <a:xfrm>
            <a:off x="3218688" y="3374135"/>
            <a:ext cx="603504" cy="60350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8" name="struct.hub.node.4"/>
          <p:cNvSpPr/>
          <p:nvPr/>
        </p:nvSpPr>
        <p:spPr>
          <a:xfrm>
            <a:off x="1115568" y="3374135"/>
            <a:ext cx="603504" cy="60350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9" name="struct.hub.node.1"/>
          <p:cNvSpPr/>
          <p:nvPr/>
        </p:nvSpPr>
        <p:spPr>
          <a:xfrm>
            <a:off x="2167128" y="2322575"/>
            <a:ext cx="603504" cy="60350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0" name="struct.hub.node.3"/>
          <p:cNvSpPr/>
          <p:nvPr/>
        </p:nvSpPr>
        <p:spPr>
          <a:xfrm>
            <a:off x="2167128" y="4425696"/>
            <a:ext cx="603504" cy="60350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1" name="struct.hub.core"/>
          <p:cNvSpPr/>
          <p:nvPr/>
        </p:nvSpPr>
        <p:spPr>
          <a:xfrm>
            <a:off x="1801368" y="3008375"/>
            <a:ext cx="1335024" cy="133502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2" name="slot.hub.core.text"/>
          <p:cNvSpPr txBox="1"/>
          <p:nvPr/>
        </p:nvSpPr>
        <p:spPr>
          <a:xfrm>
            <a:off x="1920240" y="3493007"/>
            <a:ext cx="1097280" cy="694944"/>
          </a:xfrm>
          <a:prstGeom prst="rect">
            <a:avLst/>
          </a:prstGeom>
          <a:noFill/>
          <a:ln/>
          <a:effectLst/>
        </p:spPr>
        <p:txBody>
          <a:bodyPr wrap="square" lIns="18288" tIns="18288" rIns="18288" bIns="18288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Program office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Runs the weekly steering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slot.hub.node.1.text"/>
          <p:cNvSpPr txBox="1"/>
          <p:nvPr/>
        </p:nvSpPr>
        <p:spPr>
          <a:xfrm>
            <a:off x="2852928" y="2103120"/>
            <a:ext cx="1609344" cy="530352"/>
          </a:xfrm>
          <a:prstGeom prst="rect">
            <a:avLst/>
          </a:prstGeom>
          <a:noFill/>
          <a:ln/>
          <a:effectLst/>
        </p:spPr>
        <p:txBody>
          <a:bodyPr wrap="square" lIns="18288" tIns="18288" rIns="18288" bIns="18288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Product owner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Sets scope and priorities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slot.hub.node.4.text"/>
          <p:cNvSpPr txBox="1"/>
          <p:nvPr/>
        </p:nvSpPr>
        <p:spPr>
          <a:xfrm>
            <a:off x="475488" y="2743199"/>
            <a:ext cx="1042415" cy="548640"/>
          </a:xfrm>
          <a:prstGeom prst="rect">
            <a:avLst/>
          </a:prstGeom>
          <a:noFill/>
          <a:ln/>
          <a:effectLst/>
        </p:spPr>
        <p:txBody>
          <a:bodyPr wrap="square" lIns="18288" tIns="18288" rIns="18288" bIns="18288" rtlCol="0" anchor="t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Squad leads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Ship each sprint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lot.hub.node.2.text"/>
          <p:cNvSpPr txBox="1"/>
          <p:nvPr/>
        </p:nvSpPr>
        <p:spPr>
          <a:xfrm>
            <a:off x="3438144" y="4297679"/>
            <a:ext cx="1042415" cy="548640"/>
          </a:xfrm>
          <a:prstGeom prst="rect">
            <a:avLst/>
          </a:prstGeom>
          <a:noFill/>
          <a:ln/>
          <a:effectLst/>
        </p:spPr>
        <p:txBody>
          <a:bodyPr wrap="square" lIns="18288" tIns="18288" rIns="18288" bIns="18288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Analytics lead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Owns the baselines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lot.hub.node.3.text"/>
          <p:cNvSpPr txBox="1"/>
          <p:nvPr/>
        </p:nvSpPr>
        <p:spPr>
          <a:xfrm>
            <a:off x="475488" y="4754879"/>
            <a:ext cx="1609344" cy="530352"/>
          </a:xfrm>
          <a:prstGeom prst="rect">
            <a:avLst/>
          </a:prstGeom>
          <a:noFill/>
          <a:ln/>
          <a:effectLst/>
        </p:spPr>
        <p:txBody>
          <a:bodyPr wrap="square" lIns="18288" tIns="18288" rIns="18288" bIns="18288" rtlCol="0" anchor="t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Risk partner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Reviews controls each month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lot.card.1.text"/>
          <p:cNvSpPr txBox="1"/>
          <p:nvPr/>
        </p:nvSpPr>
        <p:spPr>
          <a:xfrm>
            <a:off x="9244584" y="1444752"/>
            <a:ext cx="2487168" cy="10972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accent1"/>
            </a:solidFill>
          </a:ln>
          <a:effectLst/>
        </p:spPr>
        <p:txBody>
          <a:bodyPr wrap="square" lIns="128016" tIns="91440" rIns="530352" bIns="9144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Within tolerance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Squads decide and record it in the sprint log</a:t>
            </a:r>
            <a:endParaRPr lang="en-US" sz="11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lot.card.2.text"/>
          <p:cNvSpPr txBox="1"/>
          <p:nvPr/>
        </p:nvSpPr>
        <p:spPr>
          <a:xfrm>
            <a:off x="9244584" y="3072384"/>
            <a:ext cx="2487168" cy="10972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accent1"/>
            </a:solidFill>
          </a:ln>
          <a:effectLst/>
        </p:spPr>
        <p:txBody>
          <a:bodyPr wrap="square" lIns="128016" tIns="91440" rIns="530352" bIns="9144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Date or budget at risk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Steering decides in five days</a:t>
            </a:r>
            <a:endParaRPr lang="en-US" sz="11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lot.card.3.text"/>
          <p:cNvSpPr txBox="1"/>
          <p:nvPr/>
        </p:nvSpPr>
        <p:spPr>
          <a:xfrm>
            <a:off x="9244584" y="4700016"/>
            <a:ext cx="2487168" cy="10972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accent1"/>
            </a:solidFill>
          </a:ln>
          <a:effectLst/>
        </p:spPr>
        <p:txBody>
          <a:bodyPr wrap="square" lIns="128016" tIns="91440" rIns="530352" bIns="9144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Scope or control breach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Board decides in ten days</a:t>
            </a:r>
            <a:endParaRPr lang="en-US" sz="11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truct.stage.1"/>
          <p:cNvSpPr/>
          <p:nvPr/>
        </p:nvSpPr>
        <p:spPr>
          <a:xfrm>
            <a:off x="4718304" y="1444752"/>
            <a:ext cx="996696" cy="1298448"/>
          </a:xfrm>
          <a:prstGeom prst="roundRect">
            <a:avLst>
              <a:gd name="adj" fmla="val 588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accent1"/>
            </a:solidFill>
          </a:ln>
          <a:effectLst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21" name="struct.stage.2"/>
          <p:cNvSpPr/>
          <p:nvPr/>
        </p:nvSpPr>
        <p:spPr>
          <a:xfrm>
            <a:off x="5797296" y="1444752"/>
            <a:ext cx="996696" cy="1298448"/>
          </a:xfrm>
          <a:prstGeom prst="roundRect">
            <a:avLst>
              <a:gd name="adj" fmla="val 588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accent1"/>
            </a:solidFill>
          </a:ln>
          <a:effectLst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22" name="struct.stage.3"/>
          <p:cNvSpPr/>
          <p:nvPr/>
        </p:nvSpPr>
        <p:spPr>
          <a:xfrm>
            <a:off x="6876288" y="1444752"/>
            <a:ext cx="996696" cy="1298448"/>
          </a:xfrm>
          <a:prstGeom prst="roundRect">
            <a:avLst>
              <a:gd name="adj" fmla="val 588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accent1"/>
            </a:solidFill>
          </a:ln>
          <a:effectLst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23" name="struct.stage.4"/>
          <p:cNvSpPr/>
          <p:nvPr/>
        </p:nvSpPr>
        <p:spPr>
          <a:xfrm>
            <a:off x="7955280" y="1444752"/>
            <a:ext cx="996696" cy="1298448"/>
          </a:xfrm>
          <a:prstGeom prst="roundRect">
            <a:avLst>
              <a:gd name="adj" fmla="val 588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accent1"/>
            </a:solidFill>
          </a:ln>
          <a:effectLst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24" name="slot.stage.1.text"/>
          <p:cNvSpPr txBox="1"/>
          <p:nvPr/>
        </p:nvSpPr>
        <p:spPr>
          <a:xfrm>
            <a:off x="4764024" y="2066544"/>
            <a:ext cx="905256" cy="530352"/>
          </a:xfrm>
          <a:prstGeom prst="rect">
            <a:avLst/>
          </a:prstGeom>
          <a:noFill/>
          <a:ln/>
          <a:effectLst/>
        </p:spPr>
        <p:txBody>
          <a:bodyPr wrap="square" lIns="18288" tIns="18288" rIns="18288" bIns="18288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Intake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Product owner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slot.stage.2.text"/>
          <p:cNvSpPr txBox="1"/>
          <p:nvPr/>
        </p:nvSpPr>
        <p:spPr>
          <a:xfrm>
            <a:off x="5843016" y="2066544"/>
            <a:ext cx="905256" cy="530352"/>
          </a:xfrm>
          <a:prstGeom prst="rect">
            <a:avLst/>
          </a:prstGeom>
          <a:noFill/>
          <a:ln/>
          <a:effectLst/>
        </p:spPr>
        <p:txBody>
          <a:bodyPr wrap="square" lIns="18288" tIns="18288" rIns="18288" bIns="18288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Scoping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Analytics lead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slot.stage.3.text"/>
          <p:cNvSpPr txBox="1"/>
          <p:nvPr/>
        </p:nvSpPr>
        <p:spPr>
          <a:xfrm>
            <a:off x="6922008" y="2066544"/>
            <a:ext cx="905256" cy="530352"/>
          </a:xfrm>
          <a:prstGeom prst="rect">
            <a:avLst/>
          </a:prstGeom>
          <a:noFill/>
          <a:ln/>
          <a:effectLst/>
        </p:spPr>
        <p:txBody>
          <a:bodyPr wrap="square" lIns="18288" tIns="18288" rIns="18288" bIns="18288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Build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Squad leads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lot.stage.4.text"/>
          <p:cNvSpPr txBox="1"/>
          <p:nvPr/>
        </p:nvSpPr>
        <p:spPr>
          <a:xfrm>
            <a:off x="8001000" y="2066544"/>
            <a:ext cx="905256" cy="530352"/>
          </a:xfrm>
          <a:prstGeom prst="rect">
            <a:avLst/>
          </a:prstGeom>
          <a:noFill/>
          <a:ln/>
          <a:effectLst/>
        </p:spPr>
        <p:txBody>
          <a:bodyPr wrap="square" lIns="18288" tIns="18288" rIns="18288" bIns="18288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Release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Risk partner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lot.forum.1.body"/>
          <p:cNvSpPr txBox="1"/>
          <p:nvPr/>
        </p:nvSpPr>
        <p:spPr>
          <a:xfrm>
            <a:off x="4732020" y="4279392"/>
            <a:ext cx="1298448" cy="11887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wrap="square" lIns="91440" tIns="91440" rIns="91440" bIns="9144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Weekly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Clears blockers within five days</a:t>
            </a:r>
            <a:endParaRPr lang="en-US" sz="12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lot.forum.2.body"/>
          <p:cNvSpPr txBox="1"/>
          <p:nvPr/>
        </p:nvSpPr>
        <p:spPr>
          <a:xfrm>
            <a:off x="6185916" y="4279392"/>
            <a:ext cx="1298448" cy="11887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wrap="square" lIns="91440" tIns="91440" rIns="91440" bIns="9144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Monthly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Approves budget shifts</a:t>
            </a:r>
            <a:endParaRPr lang="en-US" sz="12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slot.forum.3.body"/>
          <p:cNvSpPr txBox="1"/>
          <p:nvPr/>
        </p:nvSpPr>
        <p:spPr>
          <a:xfrm>
            <a:off x="7566660" y="4279392"/>
            <a:ext cx="1298448" cy="11887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wrap="square" lIns="91440" tIns="91440" rIns="91440" bIns="9144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Quarterly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Sets direction and funding</a:t>
            </a:r>
            <a:endParaRPr lang="en-US" sz="12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truct.flow.down.1"/>
          <p:cNvSpPr/>
          <p:nvPr/>
        </p:nvSpPr>
        <p:spPr>
          <a:xfrm rot="5400000">
            <a:off x="6752844" y="3054096"/>
            <a:ext cx="164592" cy="274320"/>
          </a:xfrm>
          <a:prstGeom prst="chevron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2" name="struct.flow.down.2"/>
          <p:cNvSpPr/>
          <p:nvPr/>
        </p:nvSpPr>
        <p:spPr>
          <a:xfrm rot="5400000">
            <a:off x="6752844" y="2926080"/>
            <a:ext cx="164592" cy="274320"/>
          </a:xfrm>
          <a:prstGeom prst="chevron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3" name="slot.forum.1.head"/>
          <p:cNvSpPr/>
          <p:nvPr/>
        </p:nvSpPr>
        <p:spPr>
          <a:xfrm>
            <a:off x="4718304" y="3529584"/>
            <a:ext cx="1472184" cy="566928"/>
          </a:xfrm>
          <a:prstGeom prst="homePlate">
            <a:avLst>
              <a:gd name="adj" fmla="val 34771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lIns="54864" tIns="27432" rIns="73152" bIns="27432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Squad review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slot.forum.2.head"/>
          <p:cNvSpPr/>
          <p:nvPr/>
        </p:nvSpPr>
        <p:spPr>
          <a:xfrm>
            <a:off x="6099048" y="3529584"/>
            <a:ext cx="1472184" cy="566928"/>
          </a:xfrm>
          <a:prstGeom prst="chevron">
            <a:avLst>
              <a:gd name="adj" fmla="val 33079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lIns="109728" tIns="27432" rIns="73152" bIns="27432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Steering forum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lot.forum.3.head"/>
          <p:cNvSpPr/>
          <p:nvPr/>
        </p:nvSpPr>
        <p:spPr>
          <a:xfrm>
            <a:off x="7479792" y="3529584"/>
            <a:ext cx="1472184" cy="566928"/>
          </a:xfrm>
          <a:prstGeom prst="chevron">
            <a:avLst>
              <a:gd name="adj" fmla="val 33079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lIns="109728" tIns="27432" rIns="73152" bIns="27432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Executive board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slot.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Three governance layers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settle every delivery decision within ten days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struct.hub.ring.1"/>
          <p:cNvSpPr/>
          <p:nvPr/>
        </p:nvSpPr>
        <p:spPr>
          <a:xfrm>
            <a:off x="2767509" y="2667622"/>
            <a:ext cx="709635" cy="709635"/>
          </a:xfrm>
          <a:custGeom>
            <a:avLst/>
            <a:gdLst/>
            <a:ahLst/>
            <a:cxnLst/>
            <a:rect l="0" t="0" r="r" b="b"/>
            <a:pathLst>
              <a:path w="709635" h="709635" fill="none">
                <a:moveTo>
                  <a:pt x="0" y="0"/>
                </a:moveTo>
                <a:cubicBezTo>
                  <a:pt x="341443" y="101129"/>
                  <a:pt x="608506" y="368192"/>
                  <a:pt x="709635" y="709635"/>
                </a:cubicBezTo>
              </a:path>
            </a:pathLst>
          </a:custGeom>
          <a:noFill/>
          <a:ln w="9525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/>
        </p:spPr>
      </p:sp>
      <p:sp>
        <p:nvSpPr>
          <p:cNvPr id="38" name="struct.hub.ring.2"/>
          <p:cNvSpPr/>
          <p:nvPr/>
        </p:nvSpPr>
        <p:spPr>
          <a:xfrm>
            <a:off x="2767509" y="3974517"/>
            <a:ext cx="709635" cy="709635"/>
          </a:xfrm>
          <a:custGeom>
            <a:avLst/>
            <a:gdLst/>
            <a:ahLst/>
            <a:cxnLst/>
            <a:rect l="0" t="0" r="r" b="b"/>
            <a:pathLst>
              <a:path w="709635" h="709635" fill="none">
                <a:moveTo>
                  <a:pt x="709635" y="0"/>
                </a:moveTo>
                <a:cubicBezTo>
                  <a:pt x="608506" y="341443"/>
                  <a:pt x="341443" y="608506"/>
                  <a:pt x="0" y="709635"/>
                </a:cubicBezTo>
              </a:path>
            </a:pathLst>
          </a:custGeom>
          <a:noFill/>
          <a:ln w="9525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/>
        </p:spPr>
      </p:sp>
      <p:sp>
        <p:nvSpPr>
          <p:cNvPr id="39" name="struct.hub.ring.3"/>
          <p:cNvSpPr/>
          <p:nvPr/>
        </p:nvSpPr>
        <p:spPr>
          <a:xfrm>
            <a:off x="1460614" y="3974517"/>
            <a:ext cx="709635" cy="709635"/>
          </a:xfrm>
          <a:custGeom>
            <a:avLst/>
            <a:gdLst/>
            <a:ahLst/>
            <a:cxnLst/>
            <a:rect l="0" t="0" r="r" b="b"/>
            <a:pathLst>
              <a:path w="709635" h="709635" fill="none">
                <a:moveTo>
                  <a:pt x="709635" y="709635"/>
                </a:moveTo>
                <a:cubicBezTo>
                  <a:pt x="368192" y="608506"/>
                  <a:pt x="101129" y="341443"/>
                  <a:pt x="0" y="0"/>
                </a:cubicBezTo>
              </a:path>
            </a:pathLst>
          </a:custGeom>
          <a:noFill/>
          <a:ln w="9525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/>
        </p:spPr>
      </p:sp>
      <p:sp>
        <p:nvSpPr>
          <p:cNvPr id="40" name="struct.hub.ring.4"/>
          <p:cNvSpPr/>
          <p:nvPr/>
        </p:nvSpPr>
        <p:spPr>
          <a:xfrm>
            <a:off x="1460614" y="2667622"/>
            <a:ext cx="709635" cy="709635"/>
          </a:xfrm>
          <a:custGeom>
            <a:avLst/>
            <a:gdLst/>
            <a:ahLst/>
            <a:cxnLst/>
            <a:rect l="0" t="0" r="r" b="b"/>
            <a:pathLst>
              <a:path w="709635" h="709635" fill="none">
                <a:moveTo>
                  <a:pt x="0" y="709635"/>
                </a:moveTo>
                <a:cubicBezTo>
                  <a:pt x="101129" y="368192"/>
                  <a:pt x="368192" y="101129"/>
                  <a:pt x="709635" y="0"/>
                </a:cubicBezTo>
              </a:path>
            </a:pathLst>
          </a:custGeom>
          <a:noFill/>
          <a:ln w="9525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/>
        </p:spPr>
      </p:sp>
      <p:sp>
        <p:nvSpPr>
          <p:cNvPr id="41" name="slot.hub.core.icon"/>
          <p:cNvSpPr/>
          <p:nvPr/>
        </p:nvSpPr>
        <p:spPr>
          <a:xfrm>
            <a:off x="2322576" y="3163824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24130" cap="rnd">
            <a:solidFill>
              <a:schemeClr val="bg1"/>
            </a:solidFill>
            <a:round/>
          </a:ln>
          <a:effectLst/>
        </p:spPr>
      </p:sp>
      <p:sp>
        <p:nvSpPr>
          <p:cNvPr id="42" name="slot.hub.node.1.icon"/>
          <p:cNvSpPr/>
          <p:nvPr/>
        </p:nvSpPr>
        <p:spPr>
          <a:xfrm>
            <a:off x="2322576" y="2478024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106" y="5553"/>
                </a:moveTo>
                <a:cubicBezTo>
                  <a:pt x="14669" y="5834"/>
                  <a:pt x="15331" y="5834"/>
                  <a:pt x="15894" y="5553"/>
                </a:cubicBezTo>
                <a:lnTo>
                  <a:pt x="19553" y="3723"/>
                </a:lnTo>
                <a:cubicBezTo>
                  <a:pt x="19863" y="3568"/>
                  <a:pt x="20232" y="3585"/>
                  <a:pt x="20526" y="3767"/>
                </a:cubicBezTo>
                <a:cubicBezTo>
                  <a:pt x="20821" y="3950"/>
                  <a:pt x="21001" y="4272"/>
                  <a:pt x="21000" y="4619"/>
                </a:cubicBezTo>
                <a:lnTo>
                  <a:pt x="21000" y="17383"/>
                </a:lnTo>
                <a:cubicBezTo>
                  <a:pt x="21000" y="17762"/>
                  <a:pt x="20786" y="18108"/>
                  <a:pt x="20447" y="18277"/>
                </a:cubicBezTo>
                <a:lnTo>
                  <a:pt x="15894" y="20554"/>
                </a:lnTo>
                <a:cubicBezTo>
                  <a:pt x="15331" y="20835"/>
                  <a:pt x="14669" y="20835"/>
                  <a:pt x="14106" y="20554"/>
                </a:cubicBezTo>
                <a:lnTo>
                  <a:pt x="9894" y="18448"/>
                </a:lnTo>
                <a:cubicBezTo>
                  <a:pt x="9331" y="18167"/>
                  <a:pt x="8669" y="18167"/>
                  <a:pt x="8106" y="18448"/>
                </a:cubicBezTo>
                <a:lnTo>
                  <a:pt x="4447" y="20278"/>
                </a:lnTo>
                <a:cubicBezTo>
                  <a:pt x="4137" y="20433"/>
                  <a:pt x="3768" y="20416"/>
                  <a:pt x="3473" y="20233"/>
                </a:cubicBezTo>
                <a:cubicBezTo>
                  <a:pt x="3178" y="20051"/>
                  <a:pt x="2999" y="19728"/>
                  <a:pt x="3000" y="19381"/>
                </a:cubicBezTo>
                <a:lnTo>
                  <a:pt x="3000" y="6618"/>
                </a:lnTo>
                <a:cubicBezTo>
                  <a:pt x="3000" y="6239"/>
                  <a:pt x="3214" y="5893"/>
                  <a:pt x="3553" y="5724"/>
                </a:cubicBezTo>
                <a:lnTo>
                  <a:pt x="8106" y="3447"/>
                </a:lnTo>
                <a:cubicBezTo>
                  <a:pt x="8669" y="3166"/>
                  <a:pt x="9331" y="3166"/>
                  <a:pt x="9894" y="3447"/>
                </a:cubicBezTo>
                <a:close/>
                <a:moveTo>
                  <a:pt x="15000" y="5764"/>
                </a:moveTo>
                <a:lnTo>
                  <a:pt x="15000" y="20764"/>
                </a:lnTo>
                <a:moveTo>
                  <a:pt x="9000" y="3236"/>
                </a:moveTo>
                <a:lnTo>
                  <a:pt x="9000" y="18236"/>
                </a:lnTo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</p:sp>
      <p:sp>
        <p:nvSpPr>
          <p:cNvPr id="43" name="slot.hub.node.2.icon"/>
          <p:cNvSpPr/>
          <p:nvPr/>
        </p:nvSpPr>
        <p:spPr>
          <a:xfrm>
            <a:off x="3374136" y="3529584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3000"/>
                </a:moveTo>
                <a:lnTo>
                  <a:pt x="3000" y="19000"/>
                </a:lnTo>
                <a:cubicBezTo>
                  <a:pt x="3000" y="20105"/>
                  <a:pt x="3895" y="21000"/>
                  <a:pt x="5000" y="21000"/>
                </a:cubicBezTo>
                <a:lnTo>
                  <a:pt x="21000" y="21000"/>
                </a:lnTo>
                <a:moveTo>
                  <a:pt x="18000" y="17000"/>
                </a:moveTo>
                <a:lnTo>
                  <a:pt x="18000" y="9000"/>
                </a:lnTo>
                <a:moveTo>
                  <a:pt x="13000" y="17000"/>
                </a:moveTo>
                <a:lnTo>
                  <a:pt x="13000" y="5000"/>
                </a:lnTo>
                <a:moveTo>
                  <a:pt x="8000" y="17000"/>
                </a:moveTo>
                <a:lnTo>
                  <a:pt x="8000" y="14000"/>
                </a:lnTo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</p:sp>
      <p:sp>
        <p:nvSpPr>
          <p:cNvPr id="44" name="slot.hub.node.3.icon"/>
          <p:cNvSpPr/>
          <p:nvPr/>
        </p:nvSpPr>
        <p:spPr>
          <a:xfrm>
            <a:off x="2322576" y="4581144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12000" y="8000"/>
                </a:moveTo>
                <a:lnTo>
                  <a:pt x="12000" y="12000"/>
                </a:lnTo>
                <a:moveTo>
                  <a:pt x="12000" y="16000"/>
                </a:moveTo>
                <a:lnTo>
                  <a:pt x="12010" y="16000"/>
                </a:lnTo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</p:sp>
      <p:sp>
        <p:nvSpPr>
          <p:cNvPr id="45" name="slot.hub.node.4.icon"/>
          <p:cNvSpPr/>
          <p:nvPr/>
        </p:nvSpPr>
        <p:spPr>
          <a:xfrm>
            <a:off x="1271016" y="3529584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</p:sp>
      <p:sp>
        <p:nvSpPr>
          <p:cNvPr id="46" name="slot.stage.1.icon"/>
          <p:cNvSpPr/>
          <p:nvPr/>
        </p:nvSpPr>
        <p:spPr>
          <a:xfrm>
            <a:off x="5042916" y="1627632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22000" y="12000"/>
                </a:moveTo>
                <a:lnTo>
                  <a:pt x="18000" y="12000"/>
                </a:lnTo>
                <a:moveTo>
                  <a:pt x="6000" y="12000"/>
                </a:moveTo>
                <a:lnTo>
                  <a:pt x="2000" y="12000"/>
                </a:lnTo>
                <a:moveTo>
                  <a:pt x="12000" y="6000"/>
                </a:moveTo>
                <a:lnTo>
                  <a:pt x="12000" y="2000"/>
                </a:lnTo>
                <a:moveTo>
                  <a:pt x="12000" y="22000"/>
                </a:moveTo>
                <a:lnTo>
                  <a:pt x="12000" y="18000"/>
                </a:lnTo>
              </a:path>
            </a:pathLst>
          </a:custGeom>
          <a:noFill/>
          <a:ln w="29210" cap="rnd">
            <a:solidFill>
              <a:schemeClr val="accent1"/>
            </a:solidFill>
            <a:round/>
          </a:ln>
          <a:effectLst/>
        </p:spPr>
      </p:sp>
      <p:sp>
        <p:nvSpPr>
          <p:cNvPr id="47" name="slot.stage.2.icon"/>
          <p:cNvSpPr/>
          <p:nvPr/>
        </p:nvSpPr>
        <p:spPr>
          <a:xfrm>
            <a:off x="6121908" y="1627632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4000" y="14500"/>
                </a:moveTo>
                <a:cubicBezTo>
                  <a:pt x="14000" y="15881"/>
                  <a:pt x="12881" y="17000"/>
                  <a:pt x="11500" y="17000"/>
                </a:cubicBezTo>
                <a:cubicBezTo>
                  <a:pt x="10119" y="17000"/>
                  <a:pt x="9000" y="15881"/>
                  <a:pt x="9000" y="14500"/>
                </a:cubicBezTo>
                <a:cubicBezTo>
                  <a:pt x="9000" y="13119"/>
                  <a:pt x="10119" y="12000"/>
                  <a:pt x="11500" y="12000"/>
                </a:cubicBezTo>
                <a:cubicBezTo>
                  <a:pt x="12881" y="12000"/>
                  <a:pt x="14000" y="13119"/>
                  <a:pt x="14000" y="14500"/>
                </a:cubicBezTo>
                <a:close/>
                <a:moveTo>
                  <a:pt x="13300" y="16300"/>
                </a:moveTo>
                <a:lnTo>
                  <a:pt x="15000" y="18000"/>
                </a:lnTo>
              </a:path>
            </a:pathLst>
          </a:custGeom>
          <a:noFill/>
          <a:ln w="29210" cap="rnd">
            <a:solidFill>
              <a:schemeClr val="accent1"/>
            </a:solidFill>
            <a:round/>
          </a:ln>
          <a:effectLst/>
        </p:spPr>
      </p:sp>
      <p:sp>
        <p:nvSpPr>
          <p:cNvPr id="48" name="slot.stage.3.icon"/>
          <p:cNvSpPr/>
          <p:nvPr/>
        </p:nvSpPr>
        <p:spPr>
          <a:xfrm>
            <a:off x="7200900" y="1627632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10270"/>
                </a:moveTo>
                <a:lnTo>
                  <a:pt x="7000" y="3340"/>
                </a:lnTo>
                <a:moveTo>
                  <a:pt x="11000" y="13730"/>
                </a:moveTo>
                <a:lnTo>
                  <a:pt x="7000" y="20660"/>
                </a:lnTo>
                <a:moveTo>
                  <a:pt x="12000" y="22000"/>
                </a:moveTo>
                <a:lnTo>
                  <a:pt x="12000" y="20000"/>
                </a:lnTo>
                <a:moveTo>
                  <a:pt x="12000" y="2000"/>
                </a:moveTo>
                <a:lnTo>
                  <a:pt x="12000" y="4000"/>
                </a:lnTo>
                <a:moveTo>
                  <a:pt x="14000" y="12000"/>
                </a:moveTo>
                <a:lnTo>
                  <a:pt x="22000" y="12000"/>
                </a:lnTo>
                <a:moveTo>
                  <a:pt x="17000" y="20660"/>
                </a:moveTo>
                <a:lnTo>
                  <a:pt x="16000" y="18930"/>
                </a:lnTo>
                <a:moveTo>
                  <a:pt x="17000" y="3340"/>
                </a:moveTo>
                <a:lnTo>
                  <a:pt x="16000" y="5070"/>
                </a:lnTo>
                <a:moveTo>
                  <a:pt x="2000" y="12000"/>
                </a:moveTo>
                <a:lnTo>
                  <a:pt x="4000" y="12000"/>
                </a:lnTo>
                <a:moveTo>
                  <a:pt x="20660" y="17000"/>
                </a:moveTo>
                <a:lnTo>
                  <a:pt x="18930" y="16000"/>
                </a:lnTo>
                <a:moveTo>
                  <a:pt x="20660" y="7000"/>
                </a:moveTo>
                <a:lnTo>
                  <a:pt x="18930" y="8000"/>
                </a:lnTo>
                <a:moveTo>
                  <a:pt x="3340" y="17000"/>
                </a:moveTo>
                <a:lnTo>
                  <a:pt x="5070" y="16000"/>
                </a:lnTo>
                <a:moveTo>
                  <a:pt x="3340" y="7000"/>
                </a:moveTo>
                <a:lnTo>
                  <a:pt x="5070" y="8000"/>
                </a:lnTo>
                <a:moveTo>
                  <a:pt x="14000" y="12000"/>
                </a:moveTo>
                <a:cubicBezTo>
                  <a:pt x="14000" y="13105"/>
                  <a:pt x="13105" y="14000"/>
                  <a:pt x="12000" y="14000"/>
                </a:cubicBezTo>
                <a:cubicBezTo>
                  <a:pt x="10895" y="14000"/>
                  <a:pt x="10000" y="13105"/>
                  <a:pt x="10000" y="12000"/>
                </a:cubicBezTo>
                <a:cubicBezTo>
                  <a:pt x="10000" y="10895"/>
                  <a:pt x="10895" y="10000"/>
                  <a:pt x="12000" y="10000"/>
                </a:cubicBezTo>
                <a:cubicBezTo>
                  <a:pt x="13105" y="10000"/>
                  <a:pt x="14000" y="10895"/>
                  <a:pt x="14000" y="12000"/>
                </a:cubicBezTo>
                <a:close/>
                <a:moveTo>
                  <a:pt x="20000" y="12000"/>
                </a:moveTo>
                <a:cubicBezTo>
                  <a:pt x="20000" y="16418"/>
                  <a:pt x="16418" y="20000"/>
                  <a:pt x="12000" y="20000"/>
                </a:cubicBezTo>
                <a:cubicBezTo>
                  <a:pt x="7582" y="20000"/>
                  <a:pt x="4000" y="16418"/>
                  <a:pt x="4000" y="12000"/>
                </a:cubicBezTo>
                <a:cubicBezTo>
                  <a:pt x="4000" y="7582"/>
                  <a:pt x="7582" y="4000"/>
                  <a:pt x="12000" y="4000"/>
                </a:cubicBezTo>
                <a:cubicBezTo>
                  <a:pt x="16418" y="4000"/>
                  <a:pt x="20000" y="7582"/>
                  <a:pt x="20000" y="12000"/>
                </a:cubicBezTo>
                <a:close/>
              </a:path>
            </a:pathLst>
          </a:custGeom>
          <a:noFill/>
          <a:ln w="29210" cap="rnd">
            <a:solidFill>
              <a:schemeClr val="accent1"/>
            </a:solidFill>
            <a:round/>
          </a:ln>
          <a:effectLst/>
        </p:spPr>
      </p:sp>
      <p:sp>
        <p:nvSpPr>
          <p:cNvPr id="49" name="slot.stage.4.icon"/>
          <p:cNvSpPr/>
          <p:nvPr/>
        </p:nvSpPr>
        <p:spPr>
          <a:xfrm>
            <a:off x="8279892" y="1627632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9000" y="15000"/>
                </a:moveTo>
                <a:lnTo>
                  <a:pt x="11000" y="17000"/>
                </a:lnTo>
                <a:lnTo>
                  <a:pt x="15000" y="13000"/>
                </a:lnTo>
              </a:path>
            </a:pathLst>
          </a:custGeom>
          <a:noFill/>
          <a:ln w="29210" cap="rnd">
            <a:solidFill>
              <a:schemeClr val="accent1"/>
            </a:solidFill>
            <a:round/>
          </a:ln>
          <a:effectLst/>
        </p:spPr>
      </p:sp>
      <p:sp>
        <p:nvSpPr>
          <p:cNvPr id="50" name="struct.card.1.dot"/>
          <p:cNvSpPr/>
          <p:nvPr/>
        </p:nvSpPr>
        <p:spPr>
          <a:xfrm>
            <a:off x="11292840" y="1837944"/>
            <a:ext cx="310896" cy="310896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</p:sp>
      <p:sp>
        <p:nvSpPr>
          <p:cNvPr id="51" name="slot.card.1.icon"/>
          <p:cNvSpPr/>
          <p:nvPr/>
        </p:nvSpPr>
        <p:spPr>
          <a:xfrm>
            <a:off x="11365992" y="1911096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3970" cap="rnd">
            <a:solidFill>
              <a:schemeClr val="bg1"/>
            </a:solidFill>
            <a:round/>
          </a:ln>
          <a:effectLst/>
        </p:spPr>
      </p:sp>
      <p:sp>
        <p:nvSpPr>
          <p:cNvPr id="52" name="struct.card.2.dot"/>
          <p:cNvSpPr/>
          <p:nvPr/>
        </p:nvSpPr>
        <p:spPr>
          <a:xfrm>
            <a:off x="11292840" y="3465576"/>
            <a:ext cx="310896" cy="31089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53" name="slot.card.2.icon"/>
          <p:cNvSpPr/>
          <p:nvPr/>
        </p:nvSpPr>
        <p:spPr>
          <a:xfrm>
            <a:off x="11365992" y="3538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730" y="18000"/>
                </a:moveTo>
                <a:lnTo>
                  <a:pt x="13730" y="4000"/>
                </a:lnTo>
                <a:cubicBezTo>
                  <a:pt x="13375" y="3373"/>
                  <a:pt x="12710" y="2986"/>
                  <a:pt x="11990" y="2986"/>
                </a:cubicBezTo>
                <a:cubicBezTo>
                  <a:pt x="11270" y="2986"/>
                  <a:pt x="10605" y="3373"/>
                  <a:pt x="10250" y="4000"/>
                </a:cubicBezTo>
                <a:lnTo>
                  <a:pt x="2250" y="18000"/>
                </a:lnTo>
                <a:cubicBezTo>
                  <a:pt x="1891" y="18622"/>
                  <a:pt x="1893" y="19388"/>
                  <a:pt x="2254" y="20008"/>
                </a:cubicBezTo>
                <a:cubicBezTo>
                  <a:pt x="2616" y="20628"/>
                  <a:pt x="3282" y="21006"/>
                  <a:pt x="4000" y="21000"/>
                </a:cubicBezTo>
                <a:lnTo>
                  <a:pt x="20000" y="21000"/>
                </a:lnTo>
                <a:cubicBezTo>
                  <a:pt x="20714" y="20999"/>
                  <a:pt x="21374" y="20618"/>
                  <a:pt x="21731" y="19999"/>
                </a:cubicBezTo>
                <a:cubicBezTo>
                  <a:pt x="22087" y="19380"/>
                  <a:pt x="22087" y="18618"/>
                  <a:pt x="21730" y="18000"/>
                </a:cubicBezTo>
                <a:moveTo>
                  <a:pt x="12000" y="9000"/>
                </a:moveTo>
                <a:lnTo>
                  <a:pt x="12000" y="13000"/>
                </a:lnTo>
                <a:moveTo>
                  <a:pt x="12000" y="17000"/>
                </a:moveTo>
                <a:lnTo>
                  <a:pt x="12010" y="17000"/>
                </a:lnTo>
              </a:path>
            </a:pathLst>
          </a:custGeom>
          <a:noFill/>
          <a:ln w="13970" cap="rnd">
            <a:solidFill>
              <a:schemeClr val="bg1"/>
            </a:solidFill>
            <a:round/>
          </a:ln>
          <a:effectLst/>
        </p:spPr>
      </p:sp>
      <p:cxnSp>
        <p:nvCxnSpPr>
          <p:cNvPr id="54" name="struct.escalate.1"/>
          <p:cNvCxnSpPr/>
          <p:nvPr/>
        </p:nvCxnSpPr>
        <p:spPr>
          <a:xfrm>
            <a:off x="10488168" y="2542032"/>
            <a:ext cx="0" cy="530352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55" name="struct.card.3.dot"/>
          <p:cNvSpPr/>
          <p:nvPr/>
        </p:nvSpPr>
        <p:spPr>
          <a:xfrm>
            <a:off x="11292840" y="5093208"/>
            <a:ext cx="310896" cy="310896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</p:sp>
      <p:sp>
        <p:nvSpPr>
          <p:cNvPr id="56" name="slot.card.3.icon"/>
          <p:cNvSpPr/>
          <p:nvPr/>
        </p:nvSpPr>
        <p:spPr>
          <a:xfrm>
            <a:off x="11365992" y="516636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8000" y="6000"/>
                </a:moveTo>
                <a:lnTo>
                  <a:pt x="6000" y="18000"/>
                </a:lnTo>
                <a:moveTo>
                  <a:pt x="6000" y="6000"/>
                </a:moveTo>
                <a:lnTo>
                  <a:pt x="18000" y="18000"/>
                </a:lnTo>
              </a:path>
            </a:pathLst>
          </a:custGeom>
          <a:noFill/>
          <a:ln w="13970" cap="rnd">
            <a:solidFill>
              <a:schemeClr val="bg1"/>
            </a:solidFill>
            <a:round/>
          </a:ln>
          <a:effectLst/>
        </p:spPr>
      </p:sp>
      <p:cxnSp>
        <p:nvCxnSpPr>
          <p:cNvPr id="57" name="struct.escalate.2"/>
          <p:cNvCxnSpPr/>
          <p:nvPr/>
        </p:nvCxnSpPr>
        <p:spPr>
          <a:xfrm>
            <a:off x="10488168" y="4169664"/>
            <a:ext cx="0" cy="530352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gantt:milestone-axis-phase-cards">
    <p:spTree>
      <p:nvGrpSpPr>
        <p:cNvPr id="1" name=""/>
        <p:cNvGrpSpPr/>
        <p:nvPr/>
      </p:nvGrpSpPr>
      <p:grpSpPr/>
      <p:cxnSp>
        <p:nvCxnSpPr>
          <p:cNvPr id="2" name="struct.gridline.1"/>
          <p:cNvCxnSpPr>
            <a:cxnSpLocks/>
          </p:cNvCxnSpPr>
          <p:nvPr/>
        </p:nvCxnSpPr>
        <p:spPr>
          <a:xfrm>
            <a:off x="909135" y="1572768"/>
            <a:ext cx="0" cy="2066543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3" name="struct.gridline.2"/>
          <p:cNvCxnSpPr>
            <a:cxnSpLocks/>
          </p:cNvCxnSpPr>
          <p:nvPr/>
        </p:nvCxnSpPr>
        <p:spPr>
          <a:xfrm>
            <a:off x="2736707" y="1572768"/>
            <a:ext cx="0" cy="2066543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4" name="struct.gridline.3"/>
          <p:cNvCxnSpPr>
            <a:cxnSpLocks/>
          </p:cNvCxnSpPr>
          <p:nvPr/>
        </p:nvCxnSpPr>
        <p:spPr>
          <a:xfrm>
            <a:off x="5566927" y="1572768"/>
            <a:ext cx="0" cy="2066543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5" name="struct.gridline.4"/>
          <p:cNvCxnSpPr>
            <a:cxnSpLocks/>
          </p:cNvCxnSpPr>
          <p:nvPr/>
        </p:nvCxnSpPr>
        <p:spPr>
          <a:xfrm>
            <a:off x="6982037" y="1572768"/>
            <a:ext cx="0" cy="2066543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6" name="struct.gateline.1"/>
          <p:cNvCxnSpPr>
            <a:cxnSpLocks/>
          </p:cNvCxnSpPr>
          <p:nvPr/>
        </p:nvCxnSpPr>
        <p:spPr>
          <a:xfrm>
            <a:off x="4151817" y="1572768"/>
            <a:ext cx="0" cy="3502151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/>
        </p:spPr>
      </p:cxnSp>
      <p:cxnSp>
        <p:nvCxnSpPr>
          <p:cNvPr id="7" name="struct.gateline.2"/>
          <p:cNvCxnSpPr>
            <a:cxnSpLocks/>
          </p:cNvCxnSpPr>
          <p:nvPr/>
        </p:nvCxnSpPr>
        <p:spPr>
          <a:xfrm>
            <a:off x="8397146" y="1572768"/>
            <a:ext cx="0" cy="3502151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/>
        </p:spPr>
      </p:cxnSp>
      <p:cxnSp>
        <p:nvCxnSpPr>
          <p:cNvPr id="8" name="struct.gridline.7"/>
          <p:cNvCxnSpPr>
            <a:cxnSpLocks/>
          </p:cNvCxnSpPr>
          <p:nvPr/>
        </p:nvCxnSpPr>
        <p:spPr>
          <a:xfrm>
            <a:off x="9812256" y="1572768"/>
            <a:ext cx="0" cy="2066543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9" name="struct.gateline.3"/>
          <p:cNvCxnSpPr>
            <a:cxnSpLocks/>
          </p:cNvCxnSpPr>
          <p:nvPr/>
        </p:nvCxnSpPr>
        <p:spPr>
          <a:xfrm>
            <a:off x="11227364" y="1572768"/>
            <a:ext cx="0" cy="3502151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/>
        </p:spPr>
      </p:cxnSp>
      <p:sp>
        <p:nvSpPr>
          <p:cNvPr id="10" name="slot.title"/>
          <p:cNvSpPr txBox="1"/>
          <p:nvPr/>
        </p:nvSpPr>
        <p:spPr>
          <a:xfrm>
            <a:off x="457200" y="274320"/>
            <a:ext cx="1133856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54864" tIns="27432" rIns="54864" bIns="27432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Go-live lands in </a:t>
            </a:r>
            <a:r>
              <a:rPr lang="en-US" sz="2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week 30</a:t>
            </a:r>
            <a:r>
              <a:rPr lang="en-US" sz="2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if the design gate clears by </a:t>
            </a:r>
            <a:r>
              <a:rPr lang="en-US" sz="2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week 10</a:t>
            </a:r>
            <a:endParaRPr lang="en-US" sz="2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truct.axis.1"/>
          <p:cNvSpPr/>
          <p:nvPr/>
        </p:nvSpPr>
        <p:spPr>
          <a:xfrm>
            <a:off x="916491" y="1316736"/>
            <a:ext cx="10178848" cy="237744"/>
          </a:xfrm>
          <a:prstGeom prst="rightArrow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" name="struct.dot.1"/>
          <p:cNvSpPr/>
          <p:nvPr/>
        </p:nvSpPr>
        <p:spPr>
          <a:xfrm>
            <a:off x="776000" y="1298448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" name="slot.period.1"/>
          <p:cNvSpPr txBox="1"/>
          <p:nvPr/>
        </p:nvSpPr>
        <p:spPr>
          <a:xfrm>
            <a:off x="457200" y="1024128"/>
            <a:ext cx="909638" cy="237744"/>
          </a:xfrm>
          <a:prstGeom prst="rect">
            <a:avLst/>
          </a:prstGeom>
          <a:noFill/>
          <a:ln/>
          <a:effectLst/>
        </p:spPr>
        <p:txBody>
          <a:bodyPr wrap="square" lIns="54864" tIns="27432" rIns="54864" bIns="27432" rtlCol="0" anchor="b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Kickoff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struct.dot.2"/>
          <p:cNvSpPr/>
          <p:nvPr/>
        </p:nvSpPr>
        <p:spPr>
          <a:xfrm>
            <a:off x="2603572" y="1298448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" name="slot.period.2"/>
          <p:cNvSpPr txBox="1"/>
          <p:nvPr/>
        </p:nvSpPr>
        <p:spPr>
          <a:xfrm>
            <a:off x="2284772" y="1024128"/>
            <a:ext cx="909638" cy="237744"/>
          </a:xfrm>
          <a:prstGeom prst="rect">
            <a:avLst/>
          </a:prstGeom>
          <a:noFill/>
          <a:ln/>
          <a:effectLst/>
        </p:spPr>
        <p:txBody>
          <a:bodyPr wrap="square" lIns="54864" tIns="27432" rIns="54864" bIns="27432" rtlCol="0" anchor="b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Week 6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truct.dot.3"/>
          <p:cNvSpPr/>
          <p:nvPr/>
        </p:nvSpPr>
        <p:spPr>
          <a:xfrm>
            <a:off x="4018682" y="1298448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7" name="slot.period.3"/>
          <p:cNvSpPr txBox="1"/>
          <p:nvPr/>
        </p:nvSpPr>
        <p:spPr>
          <a:xfrm>
            <a:off x="3699882" y="1024128"/>
            <a:ext cx="909638" cy="237744"/>
          </a:xfrm>
          <a:prstGeom prst="rect">
            <a:avLst/>
          </a:prstGeom>
          <a:noFill/>
          <a:ln/>
          <a:effectLst/>
        </p:spPr>
        <p:txBody>
          <a:bodyPr wrap="square" lIns="54864" tIns="27432" rIns="54864" bIns="27432" rtlCol="0" anchor="b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Week 10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truct.dot.4"/>
          <p:cNvSpPr/>
          <p:nvPr/>
        </p:nvSpPr>
        <p:spPr>
          <a:xfrm>
            <a:off x="5433792" y="1298448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9" name="slot.period.4"/>
          <p:cNvSpPr txBox="1"/>
          <p:nvPr/>
        </p:nvSpPr>
        <p:spPr>
          <a:xfrm>
            <a:off x="5114992" y="1024128"/>
            <a:ext cx="909638" cy="237744"/>
          </a:xfrm>
          <a:prstGeom prst="rect">
            <a:avLst/>
          </a:prstGeom>
          <a:noFill/>
          <a:ln/>
          <a:effectLst/>
        </p:spPr>
        <p:txBody>
          <a:bodyPr wrap="square" lIns="54864" tIns="27432" rIns="54864" bIns="27432" rtlCol="0" anchor="b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Week 14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truct.dot.5"/>
          <p:cNvSpPr/>
          <p:nvPr/>
        </p:nvSpPr>
        <p:spPr>
          <a:xfrm>
            <a:off x="6848901" y="1298448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1" name="slot.period.5"/>
          <p:cNvSpPr txBox="1"/>
          <p:nvPr/>
        </p:nvSpPr>
        <p:spPr>
          <a:xfrm>
            <a:off x="6530100" y="1024128"/>
            <a:ext cx="909638" cy="237744"/>
          </a:xfrm>
          <a:prstGeom prst="rect">
            <a:avLst/>
          </a:prstGeom>
          <a:noFill/>
          <a:ln/>
          <a:effectLst/>
        </p:spPr>
        <p:txBody>
          <a:bodyPr wrap="square" lIns="54864" tIns="27432" rIns="54864" bIns="27432" rtlCol="0" anchor="b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Week 18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truct.dot.6"/>
          <p:cNvSpPr/>
          <p:nvPr/>
        </p:nvSpPr>
        <p:spPr>
          <a:xfrm>
            <a:off x="8264011" y="1298448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3" name="slot.period.6"/>
          <p:cNvSpPr txBox="1"/>
          <p:nvPr/>
        </p:nvSpPr>
        <p:spPr>
          <a:xfrm>
            <a:off x="7945211" y="1024128"/>
            <a:ext cx="909638" cy="237744"/>
          </a:xfrm>
          <a:prstGeom prst="rect">
            <a:avLst/>
          </a:prstGeom>
          <a:noFill/>
          <a:ln/>
          <a:effectLst/>
        </p:spPr>
        <p:txBody>
          <a:bodyPr wrap="square" lIns="54864" tIns="27432" rIns="54864" bIns="27432" rtlCol="0" anchor="b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Week 22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truct.dot.7"/>
          <p:cNvSpPr/>
          <p:nvPr/>
        </p:nvSpPr>
        <p:spPr>
          <a:xfrm>
            <a:off x="9679121" y="1298448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5" name="slot.period.7"/>
          <p:cNvSpPr txBox="1"/>
          <p:nvPr/>
        </p:nvSpPr>
        <p:spPr>
          <a:xfrm>
            <a:off x="9360321" y="1024128"/>
            <a:ext cx="909638" cy="237744"/>
          </a:xfrm>
          <a:prstGeom prst="rect">
            <a:avLst/>
          </a:prstGeom>
          <a:noFill/>
          <a:ln/>
          <a:effectLst/>
        </p:spPr>
        <p:txBody>
          <a:bodyPr wrap="square" lIns="54864" tIns="27432" rIns="54864" bIns="27432" rtlCol="0" anchor="b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Week 26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struct.dot.8"/>
          <p:cNvSpPr/>
          <p:nvPr/>
        </p:nvSpPr>
        <p:spPr>
          <a:xfrm>
            <a:off x="11094229" y="1298448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7" name="slot.period.8"/>
          <p:cNvSpPr txBox="1"/>
          <p:nvPr/>
        </p:nvSpPr>
        <p:spPr>
          <a:xfrm>
            <a:off x="10775429" y="1024128"/>
            <a:ext cx="909638" cy="237744"/>
          </a:xfrm>
          <a:prstGeom prst="rect">
            <a:avLst/>
          </a:prstGeom>
          <a:noFill/>
          <a:ln/>
          <a:effectLst/>
        </p:spPr>
        <p:txBody>
          <a:bodyPr wrap="square" lIns="54864" tIns="27432" rIns="54864" bIns="27432" rtlCol="0" anchor="b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Week 30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lot.bar.1"/>
          <p:cNvSpPr/>
          <p:nvPr/>
        </p:nvSpPr>
        <p:spPr>
          <a:xfrm>
            <a:off x="816430" y="1975104"/>
            <a:ext cx="1637348" cy="310896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rtlCol="0" anchor="ctr" lIns="54864" rIns="54864" tIns="27432" bIns="27432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Discover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truct.ring.1"/>
          <p:cNvSpPr/>
          <p:nvPr/>
        </p:nvSpPr>
        <p:spPr>
          <a:xfrm>
            <a:off x="2489759" y="2052828"/>
            <a:ext cx="155448" cy="15544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0" name="slot.bar.2"/>
          <p:cNvSpPr/>
          <p:nvPr/>
        </p:nvSpPr>
        <p:spPr>
          <a:xfrm>
            <a:off x="2672092" y="1975104"/>
            <a:ext cx="1328071" cy="310896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rtlCol="0" anchor="ctr" lIns="54864" rIns="54864" tIns="27432" bIns="27432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Design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truct.ring.2"/>
          <p:cNvSpPr/>
          <p:nvPr/>
        </p:nvSpPr>
        <p:spPr>
          <a:xfrm>
            <a:off x="4077078" y="2052828"/>
            <a:ext cx="155448" cy="15544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2" name="slot.bar.3"/>
          <p:cNvSpPr/>
          <p:nvPr/>
        </p:nvSpPr>
        <p:spPr>
          <a:xfrm>
            <a:off x="4309440" y="1975104"/>
            <a:ext cx="1218915" cy="31089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lIns="54864" rIns="54864" tIns="27432" bIns="27432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Set up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struct.ring.3"/>
          <p:cNvSpPr/>
          <p:nvPr/>
        </p:nvSpPr>
        <p:spPr>
          <a:xfrm>
            <a:off x="8320538" y="2052828"/>
            <a:ext cx="155448" cy="15544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4" name="slot.bar.4"/>
          <p:cNvSpPr/>
          <p:nvPr/>
        </p:nvSpPr>
        <p:spPr>
          <a:xfrm>
            <a:off x="5564740" y="1975104"/>
            <a:ext cx="2674335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lIns="54864" rIns="54864" tIns="27432" bIns="27432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Build and migrate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lot.bar.5"/>
          <p:cNvSpPr/>
          <p:nvPr/>
        </p:nvSpPr>
        <p:spPr>
          <a:xfrm>
            <a:off x="8539256" y="1975104"/>
            <a:ext cx="2910841" cy="31089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lIns="54864" rIns="54864" tIns="27432" bIns="27432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Training and adoption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slot.bar.6"/>
          <p:cNvSpPr/>
          <p:nvPr/>
        </p:nvSpPr>
        <p:spPr>
          <a:xfrm>
            <a:off x="6601728" y="2779776"/>
            <a:ext cx="3056383" cy="31089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  <a:effectLst/>
        </p:spPr>
        <p:txBody>
          <a:bodyPr rtlCol="0" anchor="ctr" lIns="54864" rIns="54864" tIns="27432" bIns="27432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Parallel run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struct.ring.4"/>
          <p:cNvSpPr/>
          <p:nvPr/>
        </p:nvSpPr>
        <p:spPr>
          <a:xfrm>
            <a:off x="9735025" y="2857500"/>
            <a:ext cx="155448" cy="15544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8" name="slot.bar.7"/>
          <p:cNvSpPr/>
          <p:nvPr/>
        </p:nvSpPr>
        <p:spPr>
          <a:xfrm>
            <a:off x="9967388" y="2779776"/>
            <a:ext cx="1109758" cy="310896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rtlCol="0" anchor="ctr" lIns="54864" rIns="54864" tIns="27432" bIns="27432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Cutover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slot.mark.1"/>
          <p:cNvSpPr txBox="1"/>
          <p:nvPr/>
        </p:nvSpPr>
        <p:spPr>
          <a:xfrm>
            <a:off x="2130857" y="2313432"/>
            <a:ext cx="873252" cy="2743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54864" tIns="27432" rIns="54864" bIns="27432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Week 5 exit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slot.mark.2"/>
          <p:cNvSpPr txBox="1"/>
          <p:nvPr/>
        </p:nvSpPr>
        <p:spPr>
          <a:xfrm>
            <a:off x="3718174" y="2313432"/>
            <a:ext cx="873252" cy="2743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54864" tIns="27432" rIns="54864" bIns="27432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Week 10 exit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lot.mark.5"/>
          <p:cNvSpPr txBox="1"/>
          <p:nvPr/>
        </p:nvSpPr>
        <p:spPr>
          <a:xfrm>
            <a:off x="10795157" y="3118103"/>
            <a:ext cx="873252" cy="2743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54864" tIns="27432" rIns="54864" bIns="27432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Week 30 exit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slot.mark.3"/>
          <p:cNvSpPr txBox="1"/>
          <p:nvPr/>
        </p:nvSpPr>
        <p:spPr>
          <a:xfrm>
            <a:off x="7961635" y="2313432"/>
            <a:ext cx="873252" cy="2743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54864" tIns="27432" rIns="54864" bIns="27432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Week 22 exit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slot.mark.4"/>
          <p:cNvSpPr txBox="1"/>
          <p:nvPr/>
        </p:nvSpPr>
        <p:spPr>
          <a:xfrm>
            <a:off x="9376123" y="3118103"/>
            <a:ext cx="873252" cy="2743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54864" tIns="27432" rIns="54864" bIns="27432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Week 26 exit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struct.ring.5"/>
          <p:cNvSpPr/>
          <p:nvPr/>
        </p:nvSpPr>
        <p:spPr>
          <a:xfrm>
            <a:off x="11154060" y="2857500"/>
            <a:ext cx="155448" cy="15544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5" name="struct.card.1"/>
          <p:cNvSpPr txBox="1"/>
          <p:nvPr/>
        </p:nvSpPr>
        <p:spPr>
          <a:xfrm>
            <a:off x="552457" y="3639312"/>
            <a:ext cx="2017577" cy="1133856"/>
          </a:xfrm>
          <a:prstGeom prst="roundRect">
            <a:avLst>
              <a:gd name="adj" fmla="val 403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 lIns="108000" tIns="108000" rIns="108000" bIns="108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6" name="struct.card.2"/>
          <p:cNvSpPr txBox="1"/>
          <p:nvPr/>
        </p:nvSpPr>
        <p:spPr>
          <a:xfrm>
            <a:off x="2842925" y="3639312"/>
            <a:ext cx="2017577" cy="1133856"/>
          </a:xfrm>
          <a:prstGeom prst="roundRect">
            <a:avLst>
              <a:gd name="adj" fmla="val 403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 lIns="108000" tIns="108000" rIns="108000" bIns="108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7" name="struct.card.3"/>
          <p:cNvSpPr txBox="1"/>
          <p:nvPr/>
        </p:nvSpPr>
        <p:spPr>
          <a:xfrm>
            <a:off x="5133393" y="3639312"/>
            <a:ext cx="2017577" cy="1133856"/>
          </a:xfrm>
          <a:prstGeom prst="roundRect">
            <a:avLst>
              <a:gd name="adj" fmla="val 403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 lIns="108000" tIns="108000" rIns="108000" bIns="108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8" name="struct.card.4"/>
          <p:cNvSpPr txBox="1"/>
          <p:nvPr/>
        </p:nvSpPr>
        <p:spPr>
          <a:xfrm>
            <a:off x="7423862" y="3639312"/>
            <a:ext cx="2017577" cy="1133856"/>
          </a:xfrm>
          <a:prstGeom prst="roundRect">
            <a:avLst>
              <a:gd name="adj" fmla="val 403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 lIns="108000" tIns="108000" rIns="108000" bIns="108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9" name="struct.card.5"/>
          <p:cNvSpPr txBox="1"/>
          <p:nvPr/>
        </p:nvSpPr>
        <p:spPr>
          <a:xfrm>
            <a:off x="9714331" y="3639312"/>
            <a:ext cx="2017577" cy="1133856"/>
          </a:xfrm>
          <a:prstGeom prst="roundRect">
            <a:avLst>
              <a:gd name="adj" fmla="val 403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 lIns="108000" tIns="108000" rIns="108000" bIns="108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0" name="slot.card.1.head"/>
          <p:cNvSpPr txBox="1"/>
          <p:nvPr/>
        </p:nvSpPr>
        <p:spPr>
          <a:xfrm>
            <a:off x="652517" y="3749039"/>
            <a:ext cx="1817456" cy="34747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square" lIns="54864" tIns="27432" rIns="54864" bIns="27432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Discover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slot.card.2.head"/>
          <p:cNvSpPr txBox="1"/>
          <p:nvPr/>
        </p:nvSpPr>
        <p:spPr>
          <a:xfrm>
            <a:off x="2942986" y="3749039"/>
            <a:ext cx="1817456" cy="34747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square" lIns="54864" tIns="27432" rIns="54864" bIns="27432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Design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slot.card.3.head"/>
          <p:cNvSpPr txBox="1"/>
          <p:nvPr/>
        </p:nvSpPr>
        <p:spPr>
          <a:xfrm>
            <a:off x="5233454" y="3749039"/>
            <a:ext cx="1817456" cy="347472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lIns="54864" tIns="27432" rIns="54864" bIns="27432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Build and migrate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slot.card.4.head"/>
          <p:cNvSpPr txBox="1"/>
          <p:nvPr/>
        </p:nvSpPr>
        <p:spPr>
          <a:xfrm>
            <a:off x="7523922" y="3749039"/>
            <a:ext cx="1817456" cy="347472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wrap="square" lIns="54864" tIns="27432" rIns="54864" bIns="27432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Parallel run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slot.card.5.head"/>
          <p:cNvSpPr txBox="1"/>
          <p:nvPr/>
        </p:nvSpPr>
        <p:spPr>
          <a:xfrm>
            <a:off x="9814391" y="3749039"/>
            <a:ext cx="1817456" cy="34747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wrap="square" lIns="54864" tIns="27432" rIns="54864" bIns="27432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Cutover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slot.card.1.body"/>
          <p:cNvSpPr txBox="1"/>
          <p:nvPr/>
        </p:nvSpPr>
        <p:spPr>
          <a:xfrm>
            <a:off x="652517" y="4169663"/>
            <a:ext cx="1817456" cy="512064"/>
          </a:xfrm>
          <a:prstGeom prst="rect">
            <a:avLst/>
          </a:prstGeom>
          <a:noFill/>
          <a:ln/>
          <a:effectLst/>
        </p:spPr>
        <p:txBody>
          <a:bodyPr wrap="square" lIns="54864" tIns="27432" rIns="54864" bIns="27432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Map every source feed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Exit: scope agreed</a:t>
            </a:r>
            <a:endParaRPr lang="en-US" sz="11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lot.card.2.body"/>
          <p:cNvSpPr txBox="1"/>
          <p:nvPr/>
        </p:nvSpPr>
        <p:spPr>
          <a:xfrm>
            <a:off x="2942986" y="4169663"/>
            <a:ext cx="1817456" cy="512064"/>
          </a:xfrm>
          <a:prstGeom prst="rect">
            <a:avLst/>
          </a:prstGeom>
          <a:noFill/>
          <a:ln/>
          <a:effectLst/>
        </p:spPr>
        <p:txBody>
          <a:bodyPr wrap="square" lIns="54864" tIns="27432" rIns="54864" bIns="27432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Target data model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Exit: design signed</a:t>
            </a:r>
            <a:endParaRPr lang="en-US" sz="11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slot.card.3.body"/>
          <p:cNvSpPr txBox="1"/>
          <p:nvPr/>
        </p:nvSpPr>
        <p:spPr>
          <a:xfrm>
            <a:off x="5233454" y="4169663"/>
            <a:ext cx="1817456" cy="512064"/>
          </a:xfrm>
          <a:prstGeom prst="rect">
            <a:avLst/>
          </a:prstGeom>
          <a:noFill/>
          <a:ln/>
          <a:effectLst/>
        </p:spPr>
        <p:txBody>
          <a:bodyPr wrap="square" lIns="54864" tIns="27432" rIns="54864" bIns="27432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Migrate in three waves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Exit: tests pass</a:t>
            </a:r>
            <a:endParaRPr lang="en-US" sz="11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slot.card.4.body"/>
          <p:cNvSpPr txBox="1"/>
          <p:nvPr/>
        </p:nvSpPr>
        <p:spPr>
          <a:xfrm>
            <a:off x="7523922" y="4169663"/>
            <a:ext cx="1817456" cy="512064"/>
          </a:xfrm>
          <a:prstGeom prst="rect">
            <a:avLst/>
          </a:prstGeom>
          <a:noFill/>
          <a:ln/>
          <a:effectLst/>
        </p:spPr>
        <p:txBody>
          <a:bodyPr wrap="square" lIns="54864" tIns="27432" rIns="54864" bIns="27432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Both systems live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Exit: two clean closes</a:t>
            </a:r>
            <a:endParaRPr lang="en-US" sz="11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slot.card.5.body"/>
          <p:cNvSpPr txBox="1"/>
          <p:nvPr/>
        </p:nvSpPr>
        <p:spPr>
          <a:xfrm>
            <a:off x="9814391" y="4169663"/>
            <a:ext cx="1817456" cy="512064"/>
          </a:xfrm>
          <a:prstGeom prst="rect">
            <a:avLst/>
          </a:prstGeom>
          <a:noFill/>
          <a:ln/>
          <a:effectLst/>
        </p:spPr>
        <p:txBody>
          <a:bodyPr wrap="square" lIns="54864" tIns="27432" rIns="54864" bIns="27432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Switch in one weekend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Exit: legacy retired</a:t>
            </a:r>
            <a:endParaRPr lang="en-US" sz="11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slot.gates.label"/>
          <p:cNvSpPr txBox="1"/>
          <p:nvPr/>
        </p:nvSpPr>
        <p:spPr>
          <a:xfrm>
            <a:off x="552635" y="5321808"/>
            <a:ext cx="2637950" cy="310896"/>
          </a:xfrm>
          <a:prstGeom prst="rect">
            <a:avLst/>
          </a:prstGeom>
          <a:noFill/>
          <a:ln/>
          <a:effectLst/>
        </p:spPr>
        <p:txBody>
          <a:bodyPr wrap="square" lIns="54864" tIns="27432" rIns="54864" bIns="27432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Three go or no-go gates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slot.gate.1"/>
          <p:cNvSpPr txBox="1"/>
          <p:nvPr/>
        </p:nvSpPr>
        <p:spPr>
          <a:xfrm>
            <a:off x="3481669" y="5138928"/>
            <a:ext cx="2474215" cy="67665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txBody>
          <a:bodyPr wrap="square" lIns="54864" tIns="27432" rIns="54864" bIns="27432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Gate 1 · Week 10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Design signed, build budget released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slot.gate.2"/>
          <p:cNvSpPr txBox="1"/>
          <p:nvPr/>
        </p:nvSpPr>
        <p:spPr>
          <a:xfrm>
            <a:off x="6110523" y="5138928"/>
            <a:ext cx="2665239" cy="67665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txBody>
          <a:bodyPr wrap="square" lIns="54864" tIns="27432" rIns="54864" bIns="27432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Gate 2 · Week 22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Defect backlog under the agreed limit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slot.gate.3"/>
          <p:cNvSpPr txBox="1"/>
          <p:nvPr/>
        </p:nvSpPr>
        <p:spPr>
          <a:xfrm>
            <a:off x="8939497" y="5138928"/>
            <a:ext cx="2856263" cy="67665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txBody>
          <a:bodyPr wrap="square" lIns="54864" tIns="27432" rIns="54864" bIns="27432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Gate 3 · Week 30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Go-live call, legacy set to read-only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struct.gatering.1"/>
          <p:cNvSpPr/>
          <p:nvPr/>
        </p:nvSpPr>
        <p:spPr>
          <a:xfrm>
            <a:off x="4090793" y="5074920"/>
            <a:ext cx="128016" cy="12801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5" name="struct.gatering.2"/>
          <p:cNvSpPr/>
          <p:nvPr/>
        </p:nvSpPr>
        <p:spPr>
          <a:xfrm>
            <a:off x="8329706" y="5074920"/>
            <a:ext cx="128016" cy="12801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6" name="struct.gatering.3"/>
          <p:cNvSpPr/>
          <p:nvPr/>
        </p:nvSpPr>
        <p:spPr>
          <a:xfrm>
            <a:off x="11167776" y="5074920"/>
            <a:ext cx="128016" cy="12801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from-to-shift:channel-mesh-to-agent-hub">
    <p:spTree>
      <p:nvGrpSpPr>
        <p:cNvPr id="1" name=""/>
        <p:cNvGrpSpPr/>
        <p:nvPr/>
      </p:nvGrpSpPr>
      <p:grpSpPr/>
      <p:sp>
        <p:nvSpPr>
          <p:cNvPr id="2" name="slot.title"/>
          <p:cNvSpPr txBox="1"/>
          <p:nvPr/>
        </p:nvSpPr>
        <p:spPr>
          <a:xfrm>
            <a:off x="457200" y="118872"/>
            <a:ext cx="11338560" cy="64922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Customer requests move from crossed handoffs to </a:t>
            </a:r>
            <a:r>
              <a:rPr lang="en-US" sz="2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one shared agent hub</a:t>
            </a:r>
            <a:endParaRPr lang="en-US" sz="2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truct.shift.wedge"/>
          <p:cNvSpPr/>
          <p:nvPr/>
        </p:nvSpPr>
        <p:spPr>
          <a:xfrm rot="5400000">
            <a:off x="4095002" y="3419976"/>
            <a:ext cx="3730500" cy="48769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lot.from.channel.2"/>
          <p:cNvSpPr/>
          <p:nvPr/>
        </p:nvSpPr>
        <p:spPr>
          <a:xfrm>
            <a:off x="2427956" y="3170797"/>
            <a:ext cx="1372383" cy="502800"/>
          </a:xfrm>
          <a:prstGeom prst="roundRect">
            <a:avLst>
              <a:gd name="adj" fmla="val 9093"/>
            </a:avLst>
          </a:prstGeom>
          <a:solidFill>
            <a:schemeClr val="bg1">
              <a:lumMod val="95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09728" tIns="18288" rIns="109728" bIns="18288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Phone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lot.from.channel.3"/>
          <p:cNvSpPr/>
          <p:nvPr/>
        </p:nvSpPr>
        <p:spPr>
          <a:xfrm>
            <a:off x="2427956" y="4177045"/>
            <a:ext cx="1372383" cy="502800"/>
          </a:xfrm>
          <a:prstGeom prst="roundRect">
            <a:avLst>
              <a:gd name="adj" fmla="val 9093"/>
            </a:avLst>
          </a:prstGeom>
          <a:solidFill>
            <a:schemeClr val="bg1">
              <a:lumMod val="95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09728" tIns="18288" rIns="109728" bIns="18288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Ticket form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ot.from.channel.4"/>
          <p:cNvSpPr/>
          <p:nvPr/>
        </p:nvSpPr>
        <p:spPr>
          <a:xfrm>
            <a:off x="2427956" y="5183292"/>
            <a:ext cx="1372383" cy="502800"/>
          </a:xfrm>
          <a:prstGeom prst="roundRect">
            <a:avLst>
              <a:gd name="adj" fmla="val 9093"/>
            </a:avLst>
          </a:prstGeom>
          <a:solidFill>
            <a:schemeClr val="bg1">
              <a:lumMod val="95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09728" tIns="18288" rIns="109728" bIns="18288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Reports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truct.from.panel"/>
          <p:cNvSpPr/>
          <p:nvPr/>
        </p:nvSpPr>
        <p:spPr>
          <a:xfrm>
            <a:off x="459545" y="1737360"/>
            <a:ext cx="3850863" cy="4315968"/>
          </a:xfrm>
          <a:prstGeom prst="roundRect">
            <a:avLst>
              <a:gd name="adj" fmla="val 1184"/>
            </a:avLst>
          </a:prstGeom>
          <a:noFill/>
          <a:ln w="9525" cap="rnd" cmpd="sng">
            <a:solidFill>
              <a:schemeClr val="bg1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slot.from.header"/>
          <p:cNvSpPr/>
          <p:nvPr/>
        </p:nvSpPr>
        <p:spPr>
          <a:xfrm>
            <a:off x="457200" y="1015950"/>
            <a:ext cx="5127873" cy="525000"/>
          </a:xfrm>
          <a:prstGeom prst="roundRect">
            <a:avLst>
              <a:gd name="adj" fmla="val 16538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40" tIns="27432" rIns="91440" bIns="27432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Today, manual handoffs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slot.from.label"/>
          <p:cNvSpPr txBox="1"/>
          <p:nvPr/>
        </p:nvSpPr>
        <p:spPr>
          <a:xfrm>
            <a:off x="970560" y="1801368"/>
            <a:ext cx="2828833" cy="2194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Every role works every channel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lot.from.channel.1"/>
          <p:cNvSpPr/>
          <p:nvPr/>
        </p:nvSpPr>
        <p:spPr>
          <a:xfrm>
            <a:off x="2427956" y="2164550"/>
            <a:ext cx="1372383" cy="502800"/>
          </a:xfrm>
          <a:prstGeom prst="roundRect">
            <a:avLst>
              <a:gd name="adj" fmla="val 9093"/>
            </a:avLst>
          </a:prstGeom>
          <a:solidFill>
            <a:schemeClr val="bg1">
              <a:lumMod val="95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09728" tIns="18288" rIns="109728" bIns="18288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Email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1" name="struct.from.link.1"/>
          <p:cNvCxnSpPr/>
          <p:nvPr/>
        </p:nvCxnSpPr>
        <p:spPr>
          <a:xfrm>
            <a:off x="1109947" y="2415893"/>
            <a:ext cx="1317895" cy="0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2" name="struct.from.link.2"/>
          <p:cNvCxnSpPr/>
          <p:nvPr/>
        </p:nvCxnSpPr>
        <p:spPr>
          <a:xfrm>
            <a:off x="1109947" y="2415893"/>
            <a:ext cx="1317895" cy="1006374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3" name="struct.from.link.3"/>
          <p:cNvCxnSpPr/>
          <p:nvPr/>
        </p:nvCxnSpPr>
        <p:spPr>
          <a:xfrm>
            <a:off x="1109947" y="2415893"/>
            <a:ext cx="1317895" cy="2012399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4" name="struct.from.link.4"/>
          <p:cNvCxnSpPr/>
          <p:nvPr/>
        </p:nvCxnSpPr>
        <p:spPr>
          <a:xfrm rot="10800000" flipH="1">
            <a:off x="1109947" y="2416115"/>
            <a:ext cx="1317895" cy="1006024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5" name="struct.from.link.5"/>
          <p:cNvCxnSpPr/>
          <p:nvPr/>
        </p:nvCxnSpPr>
        <p:spPr>
          <a:xfrm>
            <a:off x="1109947" y="3422140"/>
            <a:ext cx="1317895" cy="1006374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6" name="struct.from.link.6"/>
          <p:cNvCxnSpPr/>
          <p:nvPr/>
        </p:nvCxnSpPr>
        <p:spPr>
          <a:xfrm rot="10800000" flipH="1">
            <a:off x="1109947" y="3422363"/>
            <a:ext cx="1317895" cy="1006024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7" name="struct.from.link.7"/>
          <p:cNvCxnSpPr/>
          <p:nvPr/>
        </p:nvCxnSpPr>
        <p:spPr>
          <a:xfrm>
            <a:off x="1109947" y="4428388"/>
            <a:ext cx="1317895" cy="1006374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8" name="struct.from.link.8"/>
          <p:cNvCxnSpPr/>
          <p:nvPr/>
        </p:nvCxnSpPr>
        <p:spPr>
          <a:xfrm rot="10800000" flipH="1">
            <a:off x="1109947" y="2415861"/>
            <a:ext cx="1317895" cy="3018774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9" name="struct.from.link.9"/>
          <p:cNvCxnSpPr/>
          <p:nvPr/>
        </p:nvCxnSpPr>
        <p:spPr>
          <a:xfrm rot="10800000" flipH="1">
            <a:off x="1109947" y="4428610"/>
            <a:ext cx="1317895" cy="1006024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20" name="struct.from.link.10"/>
          <p:cNvCxnSpPr/>
          <p:nvPr/>
        </p:nvCxnSpPr>
        <p:spPr>
          <a:xfrm>
            <a:off x="1109947" y="5434635"/>
            <a:ext cx="1317895" cy="0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sp>
        <p:nvSpPr>
          <p:cNvPr id="21" name="struct.from.handoff.1"/>
          <p:cNvSpPr/>
          <p:nvPr/>
        </p:nvSpPr>
        <p:spPr>
          <a:xfrm flipH="1">
            <a:off x="1393823" y="2367148"/>
            <a:ext cx="97500" cy="97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struct.from.handoff.2"/>
          <p:cNvSpPr/>
          <p:nvPr/>
        </p:nvSpPr>
        <p:spPr>
          <a:xfrm flipH="1">
            <a:off x="2105691" y="2367148"/>
            <a:ext cx="97500" cy="97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struct.from.handoff.3"/>
          <p:cNvSpPr/>
          <p:nvPr/>
        </p:nvSpPr>
        <p:spPr>
          <a:xfrm flipH="1">
            <a:off x="1571865" y="2743195"/>
            <a:ext cx="97500" cy="97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struct.from.handoff.4"/>
          <p:cNvSpPr/>
          <p:nvPr/>
        </p:nvSpPr>
        <p:spPr>
          <a:xfrm flipH="1">
            <a:off x="2156038" y="3209052"/>
            <a:ext cx="97500" cy="97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struct.from.handoff.5"/>
          <p:cNvSpPr/>
          <p:nvPr/>
        </p:nvSpPr>
        <p:spPr>
          <a:xfrm flipH="1">
            <a:off x="1917175" y="3387804"/>
            <a:ext cx="97500" cy="97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struct.from.handoff.6"/>
          <p:cNvSpPr/>
          <p:nvPr/>
        </p:nvSpPr>
        <p:spPr>
          <a:xfrm flipH="1">
            <a:off x="1367570" y="3137157"/>
            <a:ext cx="97500" cy="97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struct.from.handoff.7"/>
          <p:cNvSpPr/>
          <p:nvPr/>
        </p:nvSpPr>
        <p:spPr>
          <a:xfrm flipH="1">
            <a:off x="1367570" y="3605241"/>
            <a:ext cx="97500" cy="97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struct.from.handoff.8"/>
          <p:cNvSpPr/>
          <p:nvPr/>
        </p:nvSpPr>
        <p:spPr>
          <a:xfrm flipH="1">
            <a:off x="1335613" y="4140042"/>
            <a:ext cx="97500" cy="97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struct.from.handoff.9"/>
          <p:cNvSpPr/>
          <p:nvPr/>
        </p:nvSpPr>
        <p:spPr>
          <a:xfrm flipH="1">
            <a:off x="2182427" y="5228214"/>
            <a:ext cx="97500" cy="97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struct.from.handoff.10"/>
          <p:cNvSpPr/>
          <p:nvPr/>
        </p:nvSpPr>
        <p:spPr>
          <a:xfrm flipH="1">
            <a:off x="1393823" y="4611489"/>
            <a:ext cx="97500" cy="97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struct.from.handoff.11"/>
          <p:cNvSpPr/>
          <p:nvPr/>
        </p:nvSpPr>
        <p:spPr>
          <a:xfrm flipH="1">
            <a:off x="1416215" y="5131881"/>
            <a:ext cx="97500" cy="97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struct.from.handoff.12"/>
          <p:cNvSpPr/>
          <p:nvPr/>
        </p:nvSpPr>
        <p:spPr>
          <a:xfrm flipH="1">
            <a:off x="2057046" y="4644229"/>
            <a:ext cx="97500" cy="97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struct.from.role.1.disc"/>
          <p:cNvSpPr/>
          <p:nvPr/>
        </p:nvSpPr>
        <p:spPr>
          <a:xfrm>
            <a:off x="678390" y="2199893"/>
            <a:ext cx="432000" cy="432000"/>
          </a:xfrm>
          <a:prstGeom prst="roundRect">
            <a:avLst>
              <a:gd name="adj" fmla="val 50000"/>
            </a:avLst>
          </a:prstGeom>
          <a:solidFill>
            <a:schemeClr val="tx1">
              <a:lumMod val="90000"/>
              <a:lumOff val="10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struct.from.role.2.disc"/>
          <p:cNvSpPr/>
          <p:nvPr/>
        </p:nvSpPr>
        <p:spPr>
          <a:xfrm>
            <a:off x="678390" y="3206140"/>
            <a:ext cx="432000" cy="432000"/>
          </a:xfrm>
          <a:prstGeom prst="roundRect">
            <a:avLst>
              <a:gd name="adj" fmla="val 50000"/>
            </a:avLst>
          </a:prstGeom>
          <a:solidFill>
            <a:schemeClr val="tx1">
              <a:lumMod val="90000"/>
              <a:lumOff val="10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struct.from.role.3.disc"/>
          <p:cNvSpPr/>
          <p:nvPr/>
        </p:nvSpPr>
        <p:spPr>
          <a:xfrm>
            <a:off x="678390" y="4212388"/>
            <a:ext cx="432000" cy="432000"/>
          </a:xfrm>
          <a:prstGeom prst="roundRect">
            <a:avLst>
              <a:gd name="adj" fmla="val 50000"/>
            </a:avLst>
          </a:prstGeom>
          <a:solidFill>
            <a:schemeClr val="tx1">
              <a:lumMod val="90000"/>
              <a:lumOff val="10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struct.from.role.4.disc"/>
          <p:cNvSpPr/>
          <p:nvPr/>
        </p:nvSpPr>
        <p:spPr>
          <a:xfrm>
            <a:off x="678390" y="5218635"/>
            <a:ext cx="432000" cy="432000"/>
          </a:xfrm>
          <a:prstGeom prst="roundRect">
            <a:avLst>
              <a:gd name="adj" fmla="val 50000"/>
            </a:avLst>
          </a:prstGeom>
          <a:solidFill>
            <a:schemeClr val="tx1">
              <a:lumMod val="90000"/>
              <a:lumOff val="10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slot.from.role.1"/>
          <p:cNvSpPr txBox="1"/>
          <p:nvPr/>
        </p:nvSpPr>
        <p:spPr>
          <a:xfrm>
            <a:off x="505172" y="2725576"/>
            <a:ext cx="949028" cy="2194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Sales rep</a:t>
            </a:r>
            <a:endParaRPr lang="en-US" sz="9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lot.from.role.2"/>
          <p:cNvSpPr txBox="1"/>
          <p:nvPr/>
        </p:nvSpPr>
        <p:spPr>
          <a:xfrm>
            <a:off x="505172" y="3748373"/>
            <a:ext cx="949028" cy="2194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Service desk</a:t>
            </a:r>
            <a:endParaRPr lang="en-US" sz="9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slot.from.role.3"/>
          <p:cNvSpPr txBox="1"/>
          <p:nvPr/>
        </p:nvSpPr>
        <p:spPr>
          <a:xfrm>
            <a:off x="505172" y="4746701"/>
            <a:ext cx="949028" cy="2194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Field tech</a:t>
            </a:r>
            <a:endParaRPr lang="en-US" sz="9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slot.from.role.4"/>
          <p:cNvSpPr txBox="1"/>
          <p:nvPr/>
        </p:nvSpPr>
        <p:spPr>
          <a:xfrm>
            <a:off x="505172" y="5760868"/>
            <a:ext cx="949028" cy="2194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Account lead</a:t>
            </a:r>
            <a:endParaRPr lang="en-US" sz="9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lot.from.customer.1"/>
          <p:cNvSpPr txBox="1"/>
          <p:nvPr/>
        </p:nvSpPr>
        <p:spPr>
          <a:xfrm>
            <a:off x="4565916" y="3616934"/>
            <a:ext cx="949028" cy="2194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Distributors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slot.from.customer.2"/>
          <p:cNvSpPr txBox="1"/>
          <p:nvPr/>
        </p:nvSpPr>
        <p:spPr>
          <a:xfrm>
            <a:off x="4565916" y="4712084"/>
            <a:ext cx="949028" cy="2194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Retailers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3" name="struct.from.link.11"/>
          <p:cNvCxnSpPr/>
          <p:nvPr/>
        </p:nvCxnSpPr>
        <p:spPr>
          <a:xfrm>
            <a:off x="3800339" y="2415950"/>
            <a:ext cx="1021503" cy="849314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44" name="struct.from.link.12"/>
          <p:cNvCxnSpPr/>
          <p:nvPr/>
        </p:nvCxnSpPr>
        <p:spPr>
          <a:xfrm>
            <a:off x="3800339" y="3422197"/>
            <a:ext cx="1021503" cy="936764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sp>
        <p:nvSpPr>
          <p:cNvPr id="45" name="struct.from.customer.2.disc"/>
          <p:cNvSpPr/>
          <p:nvPr/>
        </p:nvSpPr>
        <p:spPr>
          <a:xfrm>
            <a:off x="4821432" y="4142896"/>
            <a:ext cx="432000" cy="43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struct.from.customer.1.disc"/>
          <p:cNvSpPr/>
          <p:nvPr/>
        </p:nvSpPr>
        <p:spPr>
          <a:xfrm>
            <a:off x="4821432" y="3049137"/>
            <a:ext cx="432000" cy="43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" name="struct.from.link.13"/>
          <p:cNvCxnSpPr/>
          <p:nvPr/>
        </p:nvCxnSpPr>
        <p:spPr>
          <a:xfrm rot="10800000" flipH="1">
            <a:off x="3805461" y="4358896"/>
            <a:ext cx="1016413" cy="1111314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48" name="struct.from.link.14"/>
          <p:cNvCxnSpPr/>
          <p:nvPr/>
        </p:nvCxnSpPr>
        <p:spPr>
          <a:xfrm rot="10800000" flipH="1">
            <a:off x="3814143" y="3265137"/>
            <a:ext cx="1007731" cy="1170080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sp>
        <p:nvSpPr>
          <p:cNvPr id="49" name="struct.to.panel"/>
          <p:cNvSpPr/>
          <p:nvPr/>
        </p:nvSpPr>
        <p:spPr>
          <a:xfrm>
            <a:off x="6317967" y="1755648"/>
            <a:ext cx="4015118" cy="4297680"/>
          </a:xfrm>
          <a:prstGeom prst="roundRect">
            <a:avLst>
              <a:gd name="adj" fmla="val 1136"/>
            </a:avLst>
          </a:prstGeom>
          <a:noFill/>
          <a:ln w="9525" cap="rnd" cmpd="sng">
            <a:solidFill>
              <a:schemeClr val="bg1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struct.key"/>
          <p:cNvSpPr/>
          <p:nvPr/>
        </p:nvSpPr>
        <p:spPr>
          <a:xfrm>
            <a:off x="10435896" y="5174228"/>
            <a:ext cx="1261311" cy="730200"/>
          </a:xfrm>
          <a:prstGeom prst="roundRect">
            <a:avLst>
              <a:gd name="adj" fmla="val 6280"/>
            </a:avLst>
          </a:prstGeom>
          <a:noFill/>
          <a:ln w="9525" cap="rnd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slot.key.3"/>
          <p:cNvSpPr txBox="1"/>
          <p:nvPr/>
        </p:nvSpPr>
        <p:spPr>
          <a:xfrm>
            <a:off x="10679845" y="5623418"/>
            <a:ext cx="976404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Staff escalation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2" name="struct.key.line.3"/>
          <p:cNvCxnSpPr/>
          <p:nvPr/>
        </p:nvCxnSpPr>
        <p:spPr>
          <a:xfrm>
            <a:off x="10500912" y="5714858"/>
            <a:ext cx="18532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sp>
        <p:nvSpPr>
          <p:cNvPr id="53" name="slot.to.header"/>
          <p:cNvSpPr/>
          <p:nvPr/>
        </p:nvSpPr>
        <p:spPr>
          <a:xfrm>
            <a:off x="6314740" y="1014877"/>
            <a:ext cx="5460137" cy="525000"/>
          </a:xfrm>
          <a:prstGeom prst="roundRect">
            <a:avLst>
              <a:gd name="adj" fmla="val 16538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40" tIns="27432" rIns="91440" bIns="27432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Target, agent routing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slot.to.label"/>
          <p:cNvSpPr txBox="1"/>
          <p:nvPr/>
        </p:nvSpPr>
        <p:spPr>
          <a:xfrm>
            <a:off x="6682978" y="1801368"/>
            <a:ext cx="3285096" cy="2194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Agents route each request through one hub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slot.to.role.1"/>
          <p:cNvSpPr txBox="1"/>
          <p:nvPr/>
        </p:nvSpPr>
        <p:spPr>
          <a:xfrm>
            <a:off x="6354468" y="2500512"/>
            <a:ext cx="949028" cy="2194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Sales rep</a:t>
            </a:r>
            <a:endParaRPr lang="en-US" sz="9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truct.to.role.1.disc"/>
          <p:cNvSpPr/>
          <p:nvPr/>
        </p:nvSpPr>
        <p:spPr>
          <a:xfrm>
            <a:off x="6567880" y="2061600"/>
            <a:ext cx="432000" cy="432000"/>
          </a:xfrm>
          <a:prstGeom prst="roundRect">
            <a:avLst>
              <a:gd name="adj" fmla="val 50000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slot.to.role.2"/>
          <p:cNvSpPr txBox="1"/>
          <p:nvPr/>
        </p:nvSpPr>
        <p:spPr>
          <a:xfrm>
            <a:off x="6354468" y="3669329"/>
            <a:ext cx="949028" cy="2194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Service desk</a:t>
            </a:r>
            <a:endParaRPr lang="en-US" sz="9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struct.to.role.2.disc"/>
          <p:cNvSpPr/>
          <p:nvPr/>
        </p:nvSpPr>
        <p:spPr>
          <a:xfrm>
            <a:off x="6567880" y="3230417"/>
            <a:ext cx="432000" cy="432000"/>
          </a:xfrm>
          <a:prstGeom prst="roundRect">
            <a:avLst>
              <a:gd name="adj" fmla="val 50000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slot.to.role.3"/>
          <p:cNvSpPr txBox="1"/>
          <p:nvPr/>
        </p:nvSpPr>
        <p:spPr>
          <a:xfrm>
            <a:off x="6354468" y="4870845"/>
            <a:ext cx="949028" cy="2194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Field tech</a:t>
            </a:r>
            <a:endParaRPr lang="en-US" sz="9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struct.to.role.3.disc"/>
          <p:cNvSpPr/>
          <p:nvPr/>
        </p:nvSpPr>
        <p:spPr>
          <a:xfrm>
            <a:off x="6567880" y="4431934"/>
            <a:ext cx="432000" cy="432000"/>
          </a:xfrm>
          <a:prstGeom prst="roundRect">
            <a:avLst>
              <a:gd name="adj" fmla="val 50000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slot.to.role.4"/>
          <p:cNvSpPr txBox="1"/>
          <p:nvPr/>
        </p:nvSpPr>
        <p:spPr>
          <a:xfrm>
            <a:off x="6354468" y="5791631"/>
            <a:ext cx="949028" cy="2194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Account lead</a:t>
            </a:r>
            <a:endParaRPr lang="en-US" sz="9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struct.to.role.4.disc"/>
          <p:cNvSpPr/>
          <p:nvPr/>
        </p:nvSpPr>
        <p:spPr>
          <a:xfrm>
            <a:off x="6567880" y="5352719"/>
            <a:ext cx="432000" cy="432000"/>
          </a:xfrm>
          <a:prstGeom prst="roundRect">
            <a:avLst>
              <a:gd name="adj" fmla="val 50000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struct.to.agent.1.disc"/>
          <p:cNvSpPr/>
          <p:nvPr/>
        </p:nvSpPr>
        <p:spPr>
          <a:xfrm>
            <a:off x="8572513" y="2061600"/>
            <a:ext cx="432000" cy="43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struct.to.agent.4.disc"/>
          <p:cNvSpPr/>
          <p:nvPr/>
        </p:nvSpPr>
        <p:spPr>
          <a:xfrm>
            <a:off x="8572513" y="5352719"/>
            <a:ext cx="432000" cy="43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struct.to.agent.2.disc"/>
          <p:cNvSpPr/>
          <p:nvPr/>
        </p:nvSpPr>
        <p:spPr>
          <a:xfrm>
            <a:off x="7409629" y="3230417"/>
            <a:ext cx="432000" cy="43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struct.to.agent.3.disc"/>
          <p:cNvSpPr/>
          <p:nvPr/>
        </p:nvSpPr>
        <p:spPr>
          <a:xfrm>
            <a:off x="9735398" y="3230417"/>
            <a:ext cx="432000" cy="43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struct.to.hub"/>
          <p:cNvSpPr/>
          <p:nvPr/>
        </p:nvSpPr>
        <p:spPr>
          <a:xfrm>
            <a:off x="8251819" y="3010172"/>
            <a:ext cx="1073297" cy="872400"/>
          </a:xfrm>
          <a:prstGeom prst="hexagon">
            <a:avLst>
              <a:gd name="adj" fmla="val 28852"/>
              <a:gd name="vf" fmla="val 115470"/>
            </a:avLst>
          </a:prstGeom>
          <a:solidFill>
            <a:schemeClr val="accent1">
              <a:lumMod val="75000"/>
            </a:schemeClr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struct.to.partner.1.disc"/>
          <p:cNvSpPr/>
          <p:nvPr/>
        </p:nvSpPr>
        <p:spPr>
          <a:xfrm>
            <a:off x="10527137" y="3036874"/>
            <a:ext cx="730200" cy="7302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 cap="rnd" cmpd="sng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144"/>
              <a:buFont typeface="Arial"/>
              <a:buNone/>
            </a:pPr>
            <a:endParaRPr sz="1144" b="0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struct.to.partner.2.disc"/>
          <p:cNvSpPr/>
          <p:nvPr/>
        </p:nvSpPr>
        <p:spPr>
          <a:xfrm>
            <a:off x="10527137" y="4311237"/>
            <a:ext cx="730200" cy="7302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 cap="rnd" cmpd="sng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144"/>
              <a:buFont typeface="Arial"/>
              <a:buNone/>
            </a:pPr>
            <a:endParaRPr sz="1144" b="0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struct.to.customer.2.disc"/>
          <p:cNvSpPr/>
          <p:nvPr/>
        </p:nvSpPr>
        <p:spPr>
          <a:xfrm>
            <a:off x="11403120" y="4095151"/>
            <a:ext cx="247018" cy="24701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52275" tIns="26150" rIns="52275" bIns="26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515"/>
              <a:buFont typeface="Arial"/>
              <a:buNone/>
            </a:pPr>
            <a:endParaRPr sz="515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struct.to.customer.1.disc"/>
          <p:cNvSpPr/>
          <p:nvPr/>
        </p:nvSpPr>
        <p:spPr>
          <a:xfrm>
            <a:off x="11356023" y="2444748"/>
            <a:ext cx="247018" cy="24701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52275" tIns="26150" rIns="52275" bIns="26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515"/>
              <a:buFont typeface="Arial"/>
              <a:buNone/>
            </a:pPr>
            <a:endParaRPr sz="515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" name="struct.to.link.1"/>
          <p:cNvCxnSpPr>
            <a:cxnSpLocks/>
          </p:cNvCxnSpPr>
          <p:nvPr/>
        </p:nvCxnSpPr>
        <p:spPr>
          <a:xfrm>
            <a:off x="6999438" y="2277600"/>
            <a:ext cx="1573570" cy="0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73" name="struct.to.link.2.part1"/>
          <p:cNvCxnSpPr/>
          <p:nvPr/>
        </p:nvCxnSpPr>
        <p:spPr>
          <a:xfrm>
            <a:off x="9004081" y="2277588"/>
            <a:ext cx="1888200" cy="0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74" name="struct.to.link.2.part2"/>
          <p:cNvCxnSpPr/>
          <p:nvPr/>
        </p:nvCxnSpPr>
        <p:spPr>
          <a:xfrm>
            <a:off x="10892281" y="2277588"/>
            <a:ext cx="0" cy="759318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75" name="struct.to.link.3"/>
          <p:cNvCxnSpPr>
            <a:cxnSpLocks/>
          </p:cNvCxnSpPr>
          <p:nvPr/>
        </p:nvCxnSpPr>
        <p:spPr>
          <a:xfrm>
            <a:off x="6999438" y="3446417"/>
            <a:ext cx="410757" cy="0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76" name="struct.to.link.4"/>
          <p:cNvCxnSpPr>
            <a:cxnSpLocks/>
          </p:cNvCxnSpPr>
          <p:nvPr/>
        </p:nvCxnSpPr>
        <p:spPr>
          <a:xfrm>
            <a:off x="7841186" y="3446417"/>
            <a:ext cx="410757" cy="0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77" name="slot.to.agent.1"/>
          <p:cNvSpPr txBox="1"/>
          <p:nvPr/>
        </p:nvSpPr>
        <p:spPr>
          <a:xfrm>
            <a:off x="8389403" y="2505456"/>
            <a:ext cx="730021" cy="1920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Intake</a:t>
            </a:r>
            <a:endParaRPr lang="en-US" sz="9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8" name="struct.to.link.5"/>
          <p:cNvCxnSpPr/>
          <p:nvPr/>
        </p:nvCxnSpPr>
        <p:spPr>
          <a:xfrm>
            <a:off x="8788514" y="2691770"/>
            <a:ext cx="0" cy="299400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79" name="slot.to.agent.2"/>
          <p:cNvSpPr txBox="1"/>
          <p:nvPr/>
        </p:nvSpPr>
        <p:spPr>
          <a:xfrm>
            <a:off x="7266995" y="3685032"/>
            <a:ext cx="730021" cy="1920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Triage</a:t>
            </a:r>
            <a:endParaRPr lang="en-US" sz="9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slot.to.agent.3"/>
          <p:cNvSpPr txBox="1"/>
          <p:nvPr/>
        </p:nvSpPr>
        <p:spPr>
          <a:xfrm>
            <a:off x="9630439" y="3685032"/>
            <a:ext cx="638769" cy="1920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Quote</a:t>
            </a:r>
            <a:endParaRPr lang="en-US" sz="9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1" name="struct.to.link.6"/>
          <p:cNvCxnSpPr>
            <a:cxnSpLocks/>
          </p:cNvCxnSpPr>
          <p:nvPr/>
        </p:nvCxnSpPr>
        <p:spPr>
          <a:xfrm>
            <a:off x="8788513" y="3889619"/>
            <a:ext cx="0" cy="1463100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82" name="struct.to.link.7"/>
          <p:cNvCxnSpPr/>
          <p:nvPr/>
        </p:nvCxnSpPr>
        <p:spPr>
          <a:xfrm>
            <a:off x="9325208" y="3446417"/>
            <a:ext cx="410757" cy="0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83" name="struct.to.link.8"/>
          <p:cNvCxnSpPr>
            <a:cxnSpLocks/>
          </p:cNvCxnSpPr>
          <p:nvPr/>
        </p:nvCxnSpPr>
        <p:spPr>
          <a:xfrm>
            <a:off x="6999438" y="5568719"/>
            <a:ext cx="1573570" cy="0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84" name="struct.to.link.11.part1"/>
          <p:cNvCxnSpPr/>
          <p:nvPr/>
        </p:nvCxnSpPr>
        <p:spPr>
          <a:xfrm>
            <a:off x="9931573" y="3858768"/>
            <a:ext cx="0" cy="1719072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55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85" name="struct.to.link.11.part2"/>
          <p:cNvCxnSpPr/>
          <p:nvPr/>
        </p:nvCxnSpPr>
        <p:spPr>
          <a:xfrm flipH="1">
            <a:off x="9000796" y="5577840"/>
            <a:ext cx="930777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86" name="struct.to.link.12.part1"/>
          <p:cNvCxnSpPr/>
          <p:nvPr/>
        </p:nvCxnSpPr>
        <p:spPr>
          <a:xfrm flipV="1">
            <a:off x="9951374" y="2277588"/>
            <a:ext cx="0" cy="952805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55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87" name="struct.to.link.12.part2"/>
          <p:cNvCxnSpPr/>
          <p:nvPr/>
        </p:nvCxnSpPr>
        <p:spPr>
          <a:xfrm flipH="1">
            <a:off x="9004172" y="2277588"/>
            <a:ext cx="947203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88" name="struct.to.link.15.part1"/>
          <p:cNvCxnSpPr/>
          <p:nvPr/>
        </p:nvCxnSpPr>
        <p:spPr>
          <a:xfrm flipH="1">
            <a:off x="7539931" y="2384755"/>
            <a:ext cx="1014365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89" name="struct.to.link.15.part2"/>
          <p:cNvCxnSpPr/>
          <p:nvPr/>
        </p:nvCxnSpPr>
        <p:spPr>
          <a:xfrm>
            <a:off x="7539931" y="2384755"/>
            <a:ext cx="0" cy="84572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90" name="struct.to.link.16"/>
          <p:cNvCxnSpPr>
            <a:cxnSpLocks/>
          </p:cNvCxnSpPr>
          <p:nvPr/>
        </p:nvCxnSpPr>
        <p:spPr>
          <a:xfrm flipH="1">
            <a:off x="6965861" y="3566160"/>
            <a:ext cx="428888" cy="0"/>
          </a:xfrm>
          <a:prstGeom prst="straightConnector1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91" name="struct.to.link.17.part1"/>
          <p:cNvCxnSpPr/>
          <p:nvPr/>
        </p:nvCxnSpPr>
        <p:spPr>
          <a:xfrm flipH="1">
            <a:off x="7805020" y="5418552"/>
            <a:ext cx="80548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92" name="struct.to.link.17.part2"/>
          <p:cNvCxnSpPr/>
          <p:nvPr/>
        </p:nvCxnSpPr>
        <p:spPr>
          <a:xfrm flipV="1">
            <a:off x="7805020" y="4757623"/>
            <a:ext cx="0" cy="66092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93" name="struct.to.link.17.part3"/>
          <p:cNvCxnSpPr/>
          <p:nvPr/>
        </p:nvCxnSpPr>
        <p:spPr>
          <a:xfrm flipH="1">
            <a:off x="6999442" y="4757623"/>
            <a:ext cx="805578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94" name="struct.to.link.18.part1"/>
          <p:cNvCxnSpPr/>
          <p:nvPr/>
        </p:nvCxnSpPr>
        <p:spPr>
          <a:xfrm flipH="1">
            <a:off x="9477773" y="3851819"/>
            <a:ext cx="264998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95" name="struct.to.link.18.part2"/>
          <p:cNvCxnSpPr/>
          <p:nvPr/>
        </p:nvCxnSpPr>
        <p:spPr>
          <a:xfrm>
            <a:off x="9477773" y="3851819"/>
            <a:ext cx="0" cy="66028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96" name="struct.to.link.18.part3"/>
          <p:cNvCxnSpPr/>
          <p:nvPr/>
        </p:nvCxnSpPr>
        <p:spPr>
          <a:xfrm flipH="1">
            <a:off x="6999533" y="4512107"/>
            <a:ext cx="2478241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97" name="struct.to.link.19.part1"/>
          <p:cNvCxnSpPr/>
          <p:nvPr/>
        </p:nvCxnSpPr>
        <p:spPr>
          <a:xfrm>
            <a:off x="7615671" y="4097884"/>
            <a:ext cx="0" cy="54992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98" name="struct.to.link.19.part2"/>
          <p:cNvCxnSpPr/>
          <p:nvPr/>
        </p:nvCxnSpPr>
        <p:spPr>
          <a:xfrm flipH="1">
            <a:off x="6999533" y="4647804"/>
            <a:ext cx="616138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sp>
        <p:nvSpPr>
          <p:cNvPr id="99" name="slot.to.exception"/>
          <p:cNvSpPr/>
          <p:nvPr/>
        </p:nvSpPr>
        <p:spPr>
          <a:xfrm>
            <a:off x="6442693" y="4095155"/>
            <a:ext cx="800856" cy="265500"/>
          </a:xfrm>
          <a:prstGeom prst="snip1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Exceptions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00" name="struct.to.link.20.part1"/>
          <p:cNvCxnSpPr/>
          <p:nvPr/>
        </p:nvCxnSpPr>
        <p:spPr>
          <a:xfrm>
            <a:off x="7615671" y="4097884"/>
            <a:ext cx="0" cy="12993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01" name="struct.to.link.20.part2"/>
          <p:cNvCxnSpPr/>
          <p:nvPr/>
        </p:nvCxnSpPr>
        <p:spPr>
          <a:xfrm flipH="1">
            <a:off x="7243543" y="4227820"/>
            <a:ext cx="372128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sp>
        <p:nvSpPr>
          <p:cNvPr id="102" name="slot.to.hub.head"/>
          <p:cNvSpPr txBox="1"/>
          <p:nvPr/>
        </p:nvSpPr>
        <p:spPr>
          <a:xfrm>
            <a:off x="8362027" y="3163824"/>
            <a:ext cx="857775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Agent hub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slot.to.hub.body"/>
          <p:cNvSpPr txBox="1"/>
          <p:nvPr/>
        </p:nvSpPr>
        <p:spPr>
          <a:xfrm>
            <a:off x="8307275" y="3374136"/>
            <a:ext cx="967278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Shared case</a:t>
            </a:r>
            <a:endParaRPr lang="en-US" sz="9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record</a:t>
            </a:r>
            <a:endParaRPr lang="en-US" sz="9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04" name="struct.to.link.21"/>
          <p:cNvCxnSpPr>
            <a:cxnSpLocks/>
          </p:cNvCxnSpPr>
          <p:nvPr/>
        </p:nvCxnSpPr>
        <p:spPr>
          <a:xfrm>
            <a:off x="10168830" y="3447288"/>
            <a:ext cx="365011" cy="0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105" name="struct.to.link.22"/>
          <p:cNvCxnSpPr/>
          <p:nvPr/>
        </p:nvCxnSpPr>
        <p:spPr>
          <a:xfrm rot="10800000">
            <a:off x="10168830" y="3557016"/>
            <a:ext cx="392387" cy="0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106" name="struct.to.link.25"/>
          <p:cNvCxnSpPr/>
          <p:nvPr/>
        </p:nvCxnSpPr>
        <p:spPr>
          <a:xfrm>
            <a:off x="10892237" y="3817777"/>
            <a:ext cx="0" cy="328200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107" name="slot.to.partner.1"/>
          <p:cNvSpPr txBox="1"/>
          <p:nvPr/>
        </p:nvSpPr>
        <p:spPr>
          <a:xfrm>
            <a:off x="10591762" y="3338626"/>
            <a:ext cx="602268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Partner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agent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slot.to.partner.2"/>
          <p:cNvSpPr txBox="1"/>
          <p:nvPr/>
        </p:nvSpPr>
        <p:spPr>
          <a:xfrm>
            <a:off x="10591762" y="4612989"/>
            <a:ext cx="602268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Store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agent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slot.to.customer.1"/>
          <p:cNvSpPr txBox="1"/>
          <p:nvPr/>
        </p:nvSpPr>
        <p:spPr>
          <a:xfrm>
            <a:off x="11201147" y="2243580"/>
            <a:ext cx="547516" cy="1737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Dealers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slot.to.customer.2"/>
          <p:cNvSpPr txBox="1"/>
          <p:nvPr/>
        </p:nvSpPr>
        <p:spPr>
          <a:xfrm>
            <a:off x="11248244" y="3893983"/>
            <a:ext cx="547516" cy="1737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Stores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11" name="struct.to.link.26"/>
          <p:cNvCxnSpPr>
            <a:cxnSpLocks/>
          </p:cNvCxnSpPr>
          <p:nvPr/>
        </p:nvCxnSpPr>
        <p:spPr>
          <a:xfrm rot="10800000" flipH="1">
            <a:off x="11149873" y="2647009"/>
            <a:ext cx="226036" cy="496800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2" name="struct.to.link.27"/>
          <p:cNvCxnSpPr>
            <a:cxnSpLocks/>
          </p:cNvCxnSpPr>
          <p:nvPr/>
        </p:nvCxnSpPr>
        <p:spPr>
          <a:xfrm rot="10800000" flipH="1">
            <a:off x="11149873" y="4218672"/>
            <a:ext cx="253579" cy="199500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3" name="struct.to.link.28"/>
          <p:cNvCxnSpPr>
            <a:cxnSpLocks/>
          </p:cNvCxnSpPr>
          <p:nvPr/>
        </p:nvCxnSpPr>
        <p:spPr>
          <a:xfrm>
            <a:off x="10132329" y="3849624"/>
            <a:ext cx="492764" cy="576072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114" name="slot.key.1"/>
          <p:cNvSpPr txBox="1"/>
          <p:nvPr/>
        </p:nvSpPr>
        <p:spPr>
          <a:xfrm>
            <a:off x="10679845" y="5226192"/>
            <a:ext cx="976404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Request flow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15" name="struct.key.line.1"/>
          <p:cNvCxnSpPr/>
          <p:nvPr/>
        </p:nvCxnSpPr>
        <p:spPr>
          <a:xfrm>
            <a:off x="10500912" y="5317632"/>
            <a:ext cx="185320" cy="0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6" name="struct.key.line.2"/>
          <p:cNvCxnSpPr/>
          <p:nvPr/>
        </p:nvCxnSpPr>
        <p:spPr>
          <a:xfrm>
            <a:off x="10500912" y="5493162"/>
            <a:ext cx="18532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17" name="slot.key.2"/>
          <p:cNvSpPr txBox="1"/>
          <p:nvPr/>
        </p:nvSpPr>
        <p:spPr>
          <a:xfrm>
            <a:off x="10679845" y="5401722"/>
            <a:ext cx="976404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Data sync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slot.to.agent.4"/>
          <p:cNvSpPr txBox="1"/>
          <p:nvPr/>
        </p:nvSpPr>
        <p:spPr>
          <a:xfrm>
            <a:off x="8334651" y="5806440"/>
            <a:ext cx="912527" cy="1920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Scheduling</a:t>
            </a:r>
            <a:endParaRPr lang="en-US" sz="9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slot.from.role.1.icon"/>
          <p:cNvSpPr/>
          <p:nvPr/>
        </p:nvSpPr>
        <p:spPr>
          <a:xfrm>
            <a:off x="775518" y="2297021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</p:sp>
      <p:sp>
        <p:nvSpPr>
          <p:cNvPr id="120" name="slot.from.role.2.icon"/>
          <p:cNvSpPr/>
          <p:nvPr/>
        </p:nvSpPr>
        <p:spPr>
          <a:xfrm>
            <a:off x="775518" y="3303268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</p:sp>
      <p:sp>
        <p:nvSpPr>
          <p:cNvPr id="121" name="slot.from.role.3.icon"/>
          <p:cNvSpPr/>
          <p:nvPr/>
        </p:nvSpPr>
        <p:spPr>
          <a:xfrm>
            <a:off x="775518" y="4309516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</p:sp>
      <p:sp>
        <p:nvSpPr>
          <p:cNvPr id="122" name="slot.from.role.4.icon"/>
          <p:cNvSpPr/>
          <p:nvPr/>
        </p:nvSpPr>
        <p:spPr>
          <a:xfrm>
            <a:off x="775518" y="5315763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</p:sp>
      <p:sp>
        <p:nvSpPr>
          <p:cNvPr id="123" name="slot.from.channel.1.icon"/>
          <p:cNvSpPr/>
          <p:nvPr/>
        </p:nvSpPr>
        <p:spPr>
          <a:xfrm>
            <a:off x="3398546" y="227879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7000"/>
                </a:moveTo>
                <a:lnTo>
                  <a:pt x="13009" y="12727"/>
                </a:lnTo>
                <a:cubicBezTo>
                  <a:pt x="12388" y="13088"/>
                  <a:pt x="11621" y="13088"/>
                  <a:pt x="11000" y="12727"/>
                </a:cubicBezTo>
                <a:lnTo>
                  <a:pt x="2000" y="7000"/>
                </a:lnTo>
                <a:moveTo>
                  <a:pt x="4000" y="4000"/>
                </a:moveTo>
                <a:lnTo>
                  <a:pt x="20000" y="4000"/>
                </a:lnTo>
                <a:cubicBezTo>
                  <a:pt x="21105" y="4000"/>
                  <a:pt x="22000" y="4895"/>
                  <a:pt x="22000" y="6000"/>
                </a:cubicBezTo>
                <a:lnTo>
                  <a:pt x="22000" y="18000"/>
                </a:lnTo>
                <a:cubicBezTo>
                  <a:pt x="22000" y="19105"/>
                  <a:pt x="21105" y="20000"/>
                  <a:pt x="20000" y="20000"/>
                </a:cubicBezTo>
                <a:lnTo>
                  <a:pt x="4000" y="20000"/>
                </a:lnTo>
                <a:cubicBezTo>
                  <a:pt x="2895" y="20000"/>
                  <a:pt x="2000" y="19105"/>
                  <a:pt x="2000" y="18000"/>
                </a:cubicBezTo>
                <a:lnTo>
                  <a:pt x="2000" y="6000"/>
                </a:lnTo>
                <a:cubicBezTo>
                  <a:pt x="2000" y="4895"/>
                  <a:pt x="2895" y="4000"/>
                  <a:pt x="4000" y="4000"/>
                </a:cubicBezTo>
                <a:close/>
              </a:path>
            </a:pathLst>
          </a:custGeom>
          <a:noFill/>
          <a:ln w="2286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124" name="slot.from.channel.2.icon"/>
          <p:cNvSpPr/>
          <p:nvPr/>
        </p:nvSpPr>
        <p:spPr>
          <a:xfrm>
            <a:off x="3398546" y="3285037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832" y="16568"/>
                </a:moveTo>
                <a:cubicBezTo>
                  <a:pt x="14257" y="16763"/>
                  <a:pt x="14761" y="16637"/>
                  <a:pt x="15045" y="16265"/>
                </a:cubicBezTo>
                <a:lnTo>
                  <a:pt x="15400" y="15800"/>
                </a:lnTo>
                <a:cubicBezTo>
                  <a:pt x="15778" y="15296"/>
                  <a:pt x="16370" y="15000"/>
                  <a:pt x="17000" y="15000"/>
                </a:cubicBezTo>
                <a:lnTo>
                  <a:pt x="20000" y="15000"/>
                </a:lnTo>
                <a:cubicBezTo>
                  <a:pt x="21105" y="15000"/>
                  <a:pt x="22000" y="15895"/>
                  <a:pt x="22000" y="17000"/>
                </a:cubicBezTo>
                <a:lnTo>
                  <a:pt x="22000" y="20000"/>
                </a:lnTo>
                <a:cubicBezTo>
                  <a:pt x="22000" y="21105"/>
                  <a:pt x="21105" y="22000"/>
                  <a:pt x="20000" y="22000"/>
                </a:cubicBezTo>
                <a:cubicBezTo>
                  <a:pt x="10059" y="22000"/>
                  <a:pt x="2000" y="13941"/>
                  <a:pt x="2000" y="4000"/>
                </a:cubicBezTo>
                <a:cubicBezTo>
                  <a:pt x="2000" y="2895"/>
                  <a:pt x="2895" y="2000"/>
                  <a:pt x="4000" y="2000"/>
                </a:cubicBezTo>
                <a:lnTo>
                  <a:pt x="7000" y="2000"/>
                </a:lnTo>
                <a:cubicBezTo>
                  <a:pt x="8105" y="2000"/>
                  <a:pt x="9000" y="2895"/>
                  <a:pt x="9000" y="4000"/>
                </a:cubicBezTo>
                <a:lnTo>
                  <a:pt x="9000" y="7000"/>
                </a:lnTo>
                <a:cubicBezTo>
                  <a:pt x="9000" y="7630"/>
                  <a:pt x="8704" y="8222"/>
                  <a:pt x="8200" y="8600"/>
                </a:cubicBezTo>
                <a:lnTo>
                  <a:pt x="7732" y="8951"/>
                </a:lnTo>
                <a:cubicBezTo>
                  <a:pt x="7353" y="9240"/>
                  <a:pt x="7231" y="9756"/>
                  <a:pt x="7440" y="10184"/>
                </a:cubicBezTo>
                <a:cubicBezTo>
                  <a:pt x="8807" y="12960"/>
                  <a:pt x="11054" y="15205"/>
                  <a:pt x="13832" y="16568"/>
                </a:cubicBezTo>
              </a:path>
            </a:pathLst>
          </a:custGeom>
          <a:noFill/>
          <a:ln w="2286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125" name="slot.from.channel.3.icon"/>
          <p:cNvSpPr/>
          <p:nvPr/>
        </p:nvSpPr>
        <p:spPr>
          <a:xfrm>
            <a:off x="3398546" y="4291285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2286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126" name="slot.from.channel.4.icon"/>
          <p:cNvSpPr/>
          <p:nvPr/>
        </p:nvSpPr>
        <p:spPr>
          <a:xfrm>
            <a:off x="3398546" y="529753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3000"/>
                </a:moveTo>
                <a:lnTo>
                  <a:pt x="3000" y="19000"/>
                </a:lnTo>
                <a:cubicBezTo>
                  <a:pt x="3000" y="20105"/>
                  <a:pt x="3895" y="21000"/>
                  <a:pt x="5000" y="21000"/>
                </a:cubicBezTo>
                <a:lnTo>
                  <a:pt x="21000" y="21000"/>
                </a:lnTo>
                <a:moveTo>
                  <a:pt x="18000" y="17000"/>
                </a:moveTo>
                <a:lnTo>
                  <a:pt x="18000" y="9000"/>
                </a:lnTo>
                <a:moveTo>
                  <a:pt x="13000" y="17000"/>
                </a:moveTo>
                <a:lnTo>
                  <a:pt x="13000" y="5000"/>
                </a:lnTo>
                <a:moveTo>
                  <a:pt x="8000" y="17000"/>
                </a:moveTo>
                <a:lnTo>
                  <a:pt x="8000" y="14000"/>
                </a:lnTo>
              </a:path>
            </a:pathLst>
          </a:custGeom>
          <a:noFill/>
          <a:ln w="2286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127" name="slot.from.customer.1.icon"/>
          <p:cNvSpPr/>
          <p:nvPr/>
        </p:nvSpPr>
        <p:spPr>
          <a:xfrm>
            <a:off x="4918560" y="3146265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0000"/>
                </a:moveTo>
                <a:lnTo>
                  <a:pt x="12010" y="10000"/>
                </a:lnTo>
                <a:moveTo>
                  <a:pt x="12000" y="14000"/>
                </a:moveTo>
                <a:lnTo>
                  <a:pt x="12010" y="14000"/>
                </a:lnTo>
                <a:moveTo>
                  <a:pt x="12000" y="6000"/>
                </a:moveTo>
                <a:lnTo>
                  <a:pt x="12010" y="6000"/>
                </a:lnTo>
                <a:moveTo>
                  <a:pt x="16000" y="10000"/>
                </a:moveTo>
                <a:lnTo>
                  <a:pt x="16010" y="10000"/>
                </a:lnTo>
                <a:moveTo>
                  <a:pt x="16000" y="14000"/>
                </a:moveTo>
                <a:lnTo>
                  <a:pt x="16010" y="14000"/>
                </a:lnTo>
                <a:moveTo>
                  <a:pt x="16000" y="6000"/>
                </a:moveTo>
                <a:lnTo>
                  <a:pt x="16010" y="6000"/>
                </a:lnTo>
                <a:moveTo>
                  <a:pt x="8000" y="10000"/>
                </a:moveTo>
                <a:lnTo>
                  <a:pt x="8010" y="10000"/>
                </a:lnTo>
                <a:moveTo>
                  <a:pt x="8000" y="14000"/>
                </a:moveTo>
                <a:lnTo>
                  <a:pt x="8010" y="14000"/>
                </a:lnTo>
                <a:moveTo>
                  <a:pt x="8000" y="6000"/>
                </a:moveTo>
                <a:lnTo>
                  <a:pt x="8010" y="6000"/>
                </a:lnTo>
                <a:moveTo>
                  <a:pt x="9000" y="22000"/>
                </a:moveTo>
                <a:lnTo>
                  <a:pt x="9000" y="19000"/>
                </a:lnTo>
                <a:cubicBezTo>
                  <a:pt x="9000" y="18448"/>
                  <a:pt x="9448" y="18000"/>
                  <a:pt x="10000" y="18000"/>
                </a:cubicBezTo>
                <a:lnTo>
                  <a:pt x="14000" y="18000"/>
                </a:lnTo>
                <a:cubicBezTo>
                  <a:pt x="14552" y="18000"/>
                  <a:pt x="15000" y="18448"/>
                  <a:pt x="15000" y="19000"/>
                </a:cubicBezTo>
                <a:lnTo>
                  <a:pt x="15000" y="22000"/>
                </a:lnTo>
                <a:moveTo>
                  <a:pt x="6000" y="2000"/>
                </a:moveTo>
                <a:lnTo>
                  <a:pt x="18000" y="2000"/>
                </a:lnTo>
                <a:cubicBezTo>
                  <a:pt x="19105" y="2000"/>
                  <a:pt x="20000" y="2895"/>
                  <a:pt x="20000" y="4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lnTo>
                  <a:pt x="6000" y="22000"/>
                </a:ln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close/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</p:sp>
      <p:sp>
        <p:nvSpPr>
          <p:cNvPr id="128" name="slot.from.customer.2.icon"/>
          <p:cNvSpPr/>
          <p:nvPr/>
        </p:nvSpPr>
        <p:spPr>
          <a:xfrm>
            <a:off x="4918560" y="4240024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5000" y="21000"/>
                </a:moveTo>
                <a:lnTo>
                  <a:pt x="15000" y="16000"/>
                </a:lnTo>
                <a:cubicBezTo>
                  <a:pt x="15000" y="15448"/>
                  <a:pt x="14552" y="15000"/>
                  <a:pt x="14000" y="15000"/>
                </a:cubicBezTo>
                <a:lnTo>
                  <a:pt x="10000" y="15000"/>
                </a:lnTo>
                <a:cubicBezTo>
                  <a:pt x="9448" y="15000"/>
                  <a:pt x="9000" y="15448"/>
                  <a:pt x="9000" y="16000"/>
                </a:cubicBezTo>
                <a:lnTo>
                  <a:pt x="9000" y="21000"/>
                </a:lnTo>
                <a:moveTo>
                  <a:pt x="17774" y="10310"/>
                </a:moveTo>
                <a:cubicBezTo>
                  <a:pt x="17341" y="9895"/>
                  <a:pt x="16658" y="9895"/>
                  <a:pt x="16225" y="10310"/>
                </a:cubicBezTo>
                <a:cubicBezTo>
                  <a:pt x="15259" y="11231"/>
                  <a:pt x="13740" y="11231"/>
                  <a:pt x="12774" y="10310"/>
                </a:cubicBezTo>
                <a:cubicBezTo>
                  <a:pt x="12341" y="9896"/>
                  <a:pt x="11659" y="9896"/>
                  <a:pt x="11226" y="10310"/>
                </a:cubicBezTo>
                <a:cubicBezTo>
                  <a:pt x="10260" y="11232"/>
                  <a:pt x="8740" y="11232"/>
                  <a:pt x="7774" y="10310"/>
                </a:cubicBezTo>
                <a:cubicBezTo>
                  <a:pt x="7341" y="9895"/>
                  <a:pt x="6658" y="9895"/>
                  <a:pt x="6225" y="10310"/>
                </a:cubicBezTo>
                <a:cubicBezTo>
                  <a:pt x="5294" y="11198"/>
                  <a:pt x="3842" y="11235"/>
                  <a:pt x="2867" y="10395"/>
                </a:cubicBezTo>
                <a:cubicBezTo>
                  <a:pt x="1893" y="9556"/>
                  <a:pt x="1714" y="8114"/>
                  <a:pt x="2455" y="7062"/>
                </a:cubicBezTo>
                <a:lnTo>
                  <a:pt x="5344" y="2878"/>
                </a:lnTo>
                <a:cubicBezTo>
                  <a:pt x="5716" y="2329"/>
                  <a:pt x="6337" y="2000"/>
                  <a:pt x="7000" y="2000"/>
                </a:cubicBezTo>
                <a:lnTo>
                  <a:pt x="17000" y="2000"/>
                </a:lnTo>
                <a:cubicBezTo>
                  <a:pt x="17661" y="2000"/>
                  <a:pt x="18280" y="2327"/>
                  <a:pt x="18653" y="2873"/>
                </a:cubicBezTo>
                <a:lnTo>
                  <a:pt x="21548" y="7065"/>
                </a:lnTo>
                <a:cubicBezTo>
                  <a:pt x="22289" y="8118"/>
                  <a:pt x="22109" y="9561"/>
                  <a:pt x="21133" y="10400"/>
                </a:cubicBezTo>
                <a:cubicBezTo>
                  <a:pt x="20157" y="11239"/>
                  <a:pt x="18703" y="11199"/>
                  <a:pt x="17774" y="10309"/>
                </a:cubicBezTo>
                <a:moveTo>
                  <a:pt x="4000" y="10950"/>
                </a:moveTo>
                <a:lnTo>
                  <a:pt x="4000" y="19000"/>
                </a:lnTo>
                <a:cubicBezTo>
                  <a:pt x="4000" y="20105"/>
                  <a:pt x="4895" y="21000"/>
                  <a:pt x="6000" y="21000"/>
                </a:cubicBezTo>
                <a:lnTo>
                  <a:pt x="18000" y="21000"/>
                </a:lnTo>
                <a:cubicBezTo>
                  <a:pt x="19105" y="21000"/>
                  <a:pt x="20000" y="20105"/>
                  <a:pt x="20000" y="19000"/>
                </a:cubicBezTo>
                <a:lnTo>
                  <a:pt x="20000" y="10950"/>
                </a:lnTo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</p:sp>
      <p:sp>
        <p:nvSpPr>
          <p:cNvPr id="129" name="slot.to.role.1.icon"/>
          <p:cNvSpPr/>
          <p:nvPr/>
        </p:nvSpPr>
        <p:spPr>
          <a:xfrm>
            <a:off x="6665008" y="2158728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</p:sp>
      <p:sp>
        <p:nvSpPr>
          <p:cNvPr id="130" name="slot.to.role.2.icon"/>
          <p:cNvSpPr/>
          <p:nvPr/>
        </p:nvSpPr>
        <p:spPr>
          <a:xfrm>
            <a:off x="6665008" y="3327545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</p:sp>
      <p:sp>
        <p:nvSpPr>
          <p:cNvPr id="131" name="slot.to.role.3.icon"/>
          <p:cNvSpPr/>
          <p:nvPr/>
        </p:nvSpPr>
        <p:spPr>
          <a:xfrm>
            <a:off x="6665008" y="4529062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</p:sp>
      <p:sp>
        <p:nvSpPr>
          <p:cNvPr id="132" name="slot.to.role.4.icon"/>
          <p:cNvSpPr/>
          <p:nvPr/>
        </p:nvSpPr>
        <p:spPr>
          <a:xfrm>
            <a:off x="6665008" y="5449847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</p:sp>
      <p:sp>
        <p:nvSpPr>
          <p:cNvPr id="133" name="slot.to.agent.1.icon"/>
          <p:cNvSpPr/>
          <p:nvPr/>
        </p:nvSpPr>
        <p:spPr>
          <a:xfrm>
            <a:off x="8665069" y="2154156"/>
            <a:ext cx="246888" cy="24688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20320" cap="rnd">
            <a:solidFill>
              <a:schemeClr val="bg1"/>
            </a:solidFill>
            <a:round/>
          </a:ln>
          <a:effectLst/>
        </p:spPr>
      </p:sp>
      <p:sp>
        <p:nvSpPr>
          <p:cNvPr id="134" name="slot.to.agent.2.icon"/>
          <p:cNvSpPr/>
          <p:nvPr/>
        </p:nvSpPr>
        <p:spPr>
          <a:xfrm>
            <a:off x="7502185" y="3322973"/>
            <a:ext cx="246888" cy="24688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20320" cap="rnd">
            <a:solidFill>
              <a:schemeClr val="bg1"/>
            </a:solidFill>
            <a:round/>
          </a:ln>
          <a:effectLst/>
        </p:spPr>
      </p:sp>
      <p:sp>
        <p:nvSpPr>
          <p:cNvPr id="135" name="slot.to.agent.3.icon"/>
          <p:cNvSpPr/>
          <p:nvPr/>
        </p:nvSpPr>
        <p:spPr>
          <a:xfrm>
            <a:off x="9827954" y="3322973"/>
            <a:ext cx="246888" cy="24688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20320" cap="rnd">
            <a:solidFill>
              <a:schemeClr val="bg1"/>
            </a:solidFill>
            <a:round/>
          </a:ln>
          <a:effectLst/>
        </p:spPr>
      </p:sp>
      <p:sp>
        <p:nvSpPr>
          <p:cNvPr id="136" name="slot.to.agent.4.icon"/>
          <p:cNvSpPr/>
          <p:nvPr/>
        </p:nvSpPr>
        <p:spPr>
          <a:xfrm>
            <a:off x="8665069" y="5445275"/>
            <a:ext cx="246888" cy="24688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20320" cap="rnd">
            <a:solidFill>
              <a:schemeClr val="bg1"/>
            </a:solidFill>
            <a:round/>
          </a:ln>
          <a:effectLst/>
        </p:spPr>
      </p:sp>
      <p:sp>
        <p:nvSpPr>
          <p:cNvPr id="137" name="slot.to.partner.1.icon"/>
          <p:cNvSpPr/>
          <p:nvPr/>
        </p:nvSpPr>
        <p:spPr>
          <a:xfrm>
            <a:off x="10792311" y="3128314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</p:sp>
      <p:sp>
        <p:nvSpPr>
          <p:cNvPr id="138" name="slot.to.partner.2.icon"/>
          <p:cNvSpPr/>
          <p:nvPr/>
        </p:nvSpPr>
        <p:spPr>
          <a:xfrm>
            <a:off x="10792311" y="4402677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</p:sp>
      <p:sp>
        <p:nvSpPr>
          <p:cNvPr id="139" name="slot.to.customer.1.icon"/>
          <p:cNvSpPr/>
          <p:nvPr/>
        </p:nvSpPr>
        <p:spPr>
          <a:xfrm>
            <a:off x="11401808" y="2490533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0000"/>
                </a:moveTo>
                <a:lnTo>
                  <a:pt x="12010" y="10000"/>
                </a:lnTo>
                <a:moveTo>
                  <a:pt x="12000" y="14000"/>
                </a:moveTo>
                <a:lnTo>
                  <a:pt x="12010" y="14000"/>
                </a:lnTo>
                <a:moveTo>
                  <a:pt x="12000" y="6000"/>
                </a:moveTo>
                <a:lnTo>
                  <a:pt x="12010" y="6000"/>
                </a:lnTo>
                <a:moveTo>
                  <a:pt x="16000" y="10000"/>
                </a:moveTo>
                <a:lnTo>
                  <a:pt x="16010" y="10000"/>
                </a:lnTo>
                <a:moveTo>
                  <a:pt x="16000" y="14000"/>
                </a:moveTo>
                <a:lnTo>
                  <a:pt x="16010" y="14000"/>
                </a:lnTo>
                <a:moveTo>
                  <a:pt x="16000" y="6000"/>
                </a:moveTo>
                <a:lnTo>
                  <a:pt x="16010" y="6000"/>
                </a:lnTo>
                <a:moveTo>
                  <a:pt x="8000" y="10000"/>
                </a:moveTo>
                <a:lnTo>
                  <a:pt x="8010" y="10000"/>
                </a:lnTo>
                <a:moveTo>
                  <a:pt x="8000" y="14000"/>
                </a:moveTo>
                <a:lnTo>
                  <a:pt x="8010" y="14000"/>
                </a:lnTo>
                <a:moveTo>
                  <a:pt x="8000" y="6000"/>
                </a:moveTo>
                <a:lnTo>
                  <a:pt x="8010" y="6000"/>
                </a:lnTo>
                <a:moveTo>
                  <a:pt x="9000" y="22000"/>
                </a:moveTo>
                <a:lnTo>
                  <a:pt x="9000" y="19000"/>
                </a:lnTo>
                <a:cubicBezTo>
                  <a:pt x="9000" y="18448"/>
                  <a:pt x="9448" y="18000"/>
                  <a:pt x="10000" y="18000"/>
                </a:cubicBezTo>
                <a:lnTo>
                  <a:pt x="14000" y="18000"/>
                </a:lnTo>
                <a:cubicBezTo>
                  <a:pt x="14552" y="18000"/>
                  <a:pt x="15000" y="18448"/>
                  <a:pt x="15000" y="19000"/>
                </a:cubicBezTo>
                <a:lnTo>
                  <a:pt x="15000" y="22000"/>
                </a:lnTo>
                <a:moveTo>
                  <a:pt x="6000" y="2000"/>
                </a:moveTo>
                <a:lnTo>
                  <a:pt x="18000" y="2000"/>
                </a:lnTo>
                <a:cubicBezTo>
                  <a:pt x="19105" y="2000"/>
                  <a:pt x="20000" y="2895"/>
                  <a:pt x="20000" y="4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lnTo>
                  <a:pt x="6000" y="22000"/>
                </a:ln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close/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</p:sp>
      <p:sp>
        <p:nvSpPr>
          <p:cNvPr id="140" name="slot.to.customer.2.icon"/>
          <p:cNvSpPr/>
          <p:nvPr/>
        </p:nvSpPr>
        <p:spPr>
          <a:xfrm>
            <a:off x="11448905" y="4140936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5000" y="21000"/>
                </a:moveTo>
                <a:lnTo>
                  <a:pt x="15000" y="16000"/>
                </a:lnTo>
                <a:cubicBezTo>
                  <a:pt x="15000" y="15448"/>
                  <a:pt x="14552" y="15000"/>
                  <a:pt x="14000" y="15000"/>
                </a:cubicBezTo>
                <a:lnTo>
                  <a:pt x="10000" y="15000"/>
                </a:lnTo>
                <a:cubicBezTo>
                  <a:pt x="9448" y="15000"/>
                  <a:pt x="9000" y="15448"/>
                  <a:pt x="9000" y="16000"/>
                </a:cubicBezTo>
                <a:lnTo>
                  <a:pt x="9000" y="21000"/>
                </a:lnTo>
                <a:moveTo>
                  <a:pt x="17774" y="10310"/>
                </a:moveTo>
                <a:cubicBezTo>
                  <a:pt x="17341" y="9895"/>
                  <a:pt x="16658" y="9895"/>
                  <a:pt x="16225" y="10310"/>
                </a:cubicBezTo>
                <a:cubicBezTo>
                  <a:pt x="15259" y="11231"/>
                  <a:pt x="13740" y="11231"/>
                  <a:pt x="12774" y="10310"/>
                </a:cubicBezTo>
                <a:cubicBezTo>
                  <a:pt x="12341" y="9896"/>
                  <a:pt x="11659" y="9896"/>
                  <a:pt x="11226" y="10310"/>
                </a:cubicBezTo>
                <a:cubicBezTo>
                  <a:pt x="10260" y="11232"/>
                  <a:pt x="8740" y="11232"/>
                  <a:pt x="7774" y="10310"/>
                </a:cubicBezTo>
                <a:cubicBezTo>
                  <a:pt x="7341" y="9895"/>
                  <a:pt x="6658" y="9895"/>
                  <a:pt x="6225" y="10310"/>
                </a:cubicBezTo>
                <a:cubicBezTo>
                  <a:pt x="5294" y="11198"/>
                  <a:pt x="3842" y="11235"/>
                  <a:pt x="2867" y="10395"/>
                </a:cubicBezTo>
                <a:cubicBezTo>
                  <a:pt x="1893" y="9556"/>
                  <a:pt x="1714" y="8114"/>
                  <a:pt x="2455" y="7062"/>
                </a:cubicBezTo>
                <a:lnTo>
                  <a:pt x="5344" y="2878"/>
                </a:lnTo>
                <a:cubicBezTo>
                  <a:pt x="5716" y="2329"/>
                  <a:pt x="6337" y="2000"/>
                  <a:pt x="7000" y="2000"/>
                </a:cubicBezTo>
                <a:lnTo>
                  <a:pt x="17000" y="2000"/>
                </a:lnTo>
                <a:cubicBezTo>
                  <a:pt x="17661" y="2000"/>
                  <a:pt x="18280" y="2327"/>
                  <a:pt x="18653" y="2873"/>
                </a:cubicBezTo>
                <a:lnTo>
                  <a:pt x="21548" y="7065"/>
                </a:lnTo>
                <a:cubicBezTo>
                  <a:pt x="22289" y="8118"/>
                  <a:pt x="22109" y="9561"/>
                  <a:pt x="21133" y="10400"/>
                </a:cubicBezTo>
                <a:cubicBezTo>
                  <a:pt x="20157" y="11239"/>
                  <a:pt x="18703" y="11199"/>
                  <a:pt x="17774" y="10309"/>
                </a:cubicBezTo>
                <a:moveTo>
                  <a:pt x="4000" y="10950"/>
                </a:moveTo>
                <a:lnTo>
                  <a:pt x="4000" y="19000"/>
                </a:lnTo>
                <a:cubicBezTo>
                  <a:pt x="4000" y="20105"/>
                  <a:pt x="4895" y="21000"/>
                  <a:pt x="6000" y="21000"/>
                </a:cubicBezTo>
                <a:lnTo>
                  <a:pt x="18000" y="21000"/>
                </a:lnTo>
                <a:cubicBezTo>
                  <a:pt x="19105" y="21000"/>
                  <a:pt x="20000" y="20105"/>
                  <a:pt x="20000" y="19000"/>
                </a:cubicBezTo>
                <a:lnTo>
                  <a:pt x="20000" y="10950"/>
                </a:lnTo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</p:sp>
      <p:sp>
        <p:nvSpPr>
          <p:cNvPr id="141" name="slot.to.flow.1"/>
          <p:cNvSpPr txBox="1"/>
          <p:nvPr/>
        </p:nvSpPr>
        <p:spPr>
          <a:xfrm>
            <a:off x="10479089" y="2487168"/>
            <a:ext cx="839525" cy="3108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Order status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sync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slot.to.flow.2"/>
          <p:cNvSpPr txBox="1"/>
          <p:nvPr/>
        </p:nvSpPr>
        <p:spPr>
          <a:xfrm>
            <a:off x="10497339" y="4123944"/>
            <a:ext cx="784773" cy="1645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Stock view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value-horizons:step-network-handover">
    <p:spTree>
      <p:nvGrpSpPr>
        <p:cNvPr id="1" name=""/>
        <p:cNvGrpSpPr/>
        <p:nvPr/>
      </p:nvGrpSpPr>
      <p:grpSpPr/>
      <p:sp>
        <p:nvSpPr>
          <p:cNvPr id="2" name="slot.title"/>
          <p:cNvSpPr txBox="1"/>
          <p:nvPr/>
        </p:nvSpPr>
        <p:spPr>
          <a:xfrm>
            <a:off x="457200" y="201168"/>
            <a:ext cx="1133856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Agents run routine claims work </a:t>
            </a:r>
            <a:r>
              <a:rPr lang="en-US" sz="2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by year three</a:t>
            </a:r>
            <a:r>
              <a:rPr lang="en-US" sz="2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, people own the exceptions</a:t>
            </a:r>
            <a:endParaRPr lang="en-US" sz="2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" name="struct.line.1"/>
          <p:cNvCxnSpPr/>
          <p:nvPr/>
        </p:nvCxnSpPr>
        <p:spPr>
          <a:xfrm>
            <a:off x="3316500" y="1550660"/>
            <a:ext cx="0" cy="476790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4" name="struct.line.2"/>
          <p:cNvCxnSpPr/>
          <p:nvPr/>
        </p:nvCxnSpPr>
        <p:spPr>
          <a:xfrm>
            <a:off x="6126486" y="1550660"/>
            <a:ext cx="0" cy="476790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5" name="struct.line.3"/>
          <p:cNvCxnSpPr/>
          <p:nvPr/>
        </p:nvCxnSpPr>
        <p:spPr>
          <a:xfrm>
            <a:off x="8936472" y="1550661"/>
            <a:ext cx="0" cy="464490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sp>
        <p:nvSpPr>
          <p:cNvPr id="6" name="struct.band"/>
          <p:cNvSpPr/>
          <p:nvPr/>
        </p:nvSpPr>
        <p:spPr>
          <a:xfrm>
            <a:off x="457201" y="1548255"/>
            <a:ext cx="11338559" cy="434100"/>
          </a:xfrm>
          <a:prstGeom prst="roundRect">
            <a:avLst>
              <a:gd name="adj" fmla="val 10532"/>
            </a:avLst>
          </a:prstGeom>
          <a:solidFill>
            <a:schemeClr val="bg1">
              <a:lumMod val="95000"/>
            </a:schemeClr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" name="struct.group.1"/>
          <p:cNvGrpSpPr/>
          <p:nvPr/>
        </p:nvGrpSpPr>
        <p:grpSpPr>
          <a:xfrm>
            <a:off x="457200" y="1053774"/>
            <a:ext cx="2908501" cy="4916210"/>
            <a:chOff x="454849" y="1053774"/>
            <a:chExt cx="2909101" cy="4916210"/>
          </a:xfrm>
          <a:effectLst/>
        </p:grpSpPr>
        <p:sp>
          <p:nvSpPr>
            <p:cNvPr id="8" name="slot.horizon.1.label"/>
            <p:cNvSpPr/>
            <p:nvPr/>
          </p:nvSpPr>
          <p:spPr>
            <a:xfrm>
              <a:off x="454850" y="1053774"/>
              <a:ext cx="2807208" cy="381000"/>
            </a:xfrm>
            <a:prstGeom prst="homePlate">
              <a:avLst>
                <a:gd name="adj" fmla="val 33721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spcFirstLastPara="1" wrap="square" lIns="0" tIns="0" rIns="0" bIns="0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rPr>
                <a:t>Today</a:t>
              </a:r>
              <a:endPara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9" name="struct.today.arrow.1"/>
            <p:cNvCxnSpPr/>
            <p:nvPr/>
          </p:nvCxnSpPr>
          <p:spPr>
            <a:xfrm>
              <a:off x="1911095" y="2020824"/>
              <a:ext cx="0" cy="301752"/>
            </a:xfrm>
            <a:prstGeom prst="straightConnector1">
              <a:avLst/>
            </a:prstGeom>
            <a:noFill/>
            <a:ln w="1425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triangle" w="sm" len="sm"/>
              <a:tailEnd type="triangle" w="sm" len="sm"/>
            </a:ln>
          </p:spPr>
        </p:cxnSp>
        <p:sp>
          <p:nvSpPr>
            <p:cNvPr id="10" name="struct.box.1"/>
            <p:cNvSpPr/>
            <p:nvPr/>
          </p:nvSpPr>
          <p:spPr>
            <a:xfrm>
              <a:off x="454849" y="2347206"/>
              <a:ext cx="2719800" cy="579000"/>
            </a:xfrm>
            <a:prstGeom prst="roundRect">
              <a:avLst>
                <a:gd name="adj" fmla="val 7896"/>
              </a:avLst>
            </a:prstGeom>
            <a:noFill/>
            <a:ln w="952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525"/>
                <a:buFont typeface="Arial"/>
                <a:buNone/>
                <a:tabLst/>
                <a:defRPr/>
              </a:pPr>
              <a:endParaRPr kumimoji="0" sz="625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" name="struct.group.2"/>
            <p:cNvGrpSpPr/>
            <p:nvPr/>
          </p:nvGrpSpPr>
          <p:grpSpPr>
            <a:xfrm>
              <a:off x="595948" y="2520456"/>
              <a:ext cx="2401029" cy="322500"/>
              <a:chOff x="595948" y="2520456"/>
              <a:chExt cx="2401029" cy="322500"/>
            </a:xfrm>
          </p:grpSpPr>
          <p:grpSp>
            <p:nvGrpSpPr>
              <p:cNvPr id="12" name="struct.group.3"/>
              <p:cNvGrpSpPr/>
              <p:nvPr/>
            </p:nvGrpSpPr>
            <p:grpSpPr>
              <a:xfrm>
                <a:off x="1749139" y="2520456"/>
                <a:ext cx="1247838" cy="322500"/>
                <a:chOff x="1749139" y="2520456"/>
                <a:chExt cx="1247838" cy="322500"/>
              </a:xfrm>
            </p:grpSpPr>
            <p:grpSp>
              <p:nvGrpSpPr>
                <p:cNvPr id="13" name="struct.group.4"/>
                <p:cNvGrpSpPr/>
                <p:nvPr/>
              </p:nvGrpSpPr>
              <p:grpSpPr>
                <a:xfrm>
                  <a:off x="1749139" y="2520456"/>
                  <a:ext cx="322500" cy="322500"/>
                  <a:chOff x="1749139" y="2520456"/>
                  <a:chExt cx="322500" cy="322500"/>
                </a:xfrm>
              </p:grpSpPr>
              <p:sp>
                <p:nvSpPr>
                  <p:cNvPr id="14" name="struct.dot.1"/>
                  <p:cNvSpPr/>
                  <p:nvPr/>
                </p:nvSpPr>
                <p:spPr>
                  <a:xfrm>
                    <a:off x="1749139" y="2520456"/>
                    <a:ext cx="322500" cy="322500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tx1">
                          <a:lumMod val="90000"/>
                          <a:lumOff val="10000"/>
                        </a:schemeClr>
                      </a:buClr>
                      <a:buSzPts val="1400"/>
                      <a:buFont typeface="Arial"/>
                      <a:buNone/>
                      <a:tabLst/>
                      <a:defRPr/>
                    </a:pPr>
                    <a:endParaRPr kumimoji="0" sz="1400" b="0" i="0" u="none" strike="noStrike" kern="0" cap="none" spc="0" normalizeH="0" baseline="0" noProof="0">
                      <a:ln>
                        <a:noFill/>
                      </a:ln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uLnTx/>
                      <a:uFillTx/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5" name="struct.group.5"/>
                  <p:cNvGrpSpPr/>
                  <p:nvPr/>
                </p:nvGrpSpPr>
                <p:grpSpPr>
                  <a:xfrm>
                    <a:off x="1838448" y="2701312"/>
                    <a:ext cx="147000" cy="90000"/>
                    <a:chOff x="1838448" y="2701312"/>
                    <a:chExt cx="147000" cy="90000"/>
                  </a:xfrm>
                </p:grpSpPr>
              </p:grpSp>
            </p:grpSp>
            <p:sp>
              <p:nvSpPr>
                <p:cNvPr id="16" name="slot.today.member.2"/>
                <p:cNvSpPr txBox="1"/>
                <p:nvPr/>
              </p:nvSpPr>
              <p:spPr>
                <a:xfrm>
                  <a:off x="2121408" y="2560320"/>
                  <a:ext cx="868680" cy="2560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 rtlCol="0">
                  <a:noAutofit/>
                </a:bodyPr>
                <a:lstStyle/>
                <a:p>
                  <a:pPr marL="0" indent="0" lv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00" b="0" i="0" kern="0" dirty="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Arial"/>
                      <a:ea typeface="Arial"/>
                      <a:cs typeface="Arial"/>
                    </a:rPr>
                    <a:t>Rules</a:t>
                  </a:r>
                  <a:endParaRPr lang="en-US" sz="800" b="0" i="0" kern="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Arial"/>
                    <a:ea typeface="Arial"/>
                    <a:cs typeface="Arial"/>
                  </a:endParaRPr>
                </a:p>
                <a:p>
                  <a:pPr marL="0" indent="0" lv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00" b="0" i="0" kern="0" dirty="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Arial"/>
                      <a:ea typeface="Arial"/>
                      <a:cs typeface="Arial"/>
                    </a:rPr>
                    <a:t>macros</a:t>
                  </a:r>
                  <a:endParaRPr lang="en-US" sz="800" b="0" i="0" kern="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Arial"/>
                    <a:ea typeface="Arial"/>
                    <a:cs typeface="Arial"/>
                  </a:endParaRPr>
                </a:p>
              </p:txBody>
            </p:sp>
          </p:grpSp>
          <p:grpSp>
            <p:nvGrpSpPr>
              <p:cNvPr id="17" name="struct.group.6"/>
              <p:cNvGrpSpPr/>
              <p:nvPr/>
            </p:nvGrpSpPr>
            <p:grpSpPr>
              <a:xfrm>
                <a:off x="595948" y="2520456"/>
                <a:ext cx="990267" cy="322500"/>
                <a:chOff x="595948" y="2520456"/>
                <a:chExt cx="990267" cy="322500"/>
              </a:xfrm>
            </p:grpSpPr>
            <p:sp>
              <p:nvSpPr>
                <p:cNvPr id="18" name="slot.today.member.1"/>
                <p:cNvSpPr txBox="1"/>
                <p:nvPr/>
              </p:nvSpPr>
              <p:spPr>
                <a:xfrm>
                  <a:off x="969264" y="2560320"/>
                  <a:ext cx="731520" cy="2560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 rtlCol="0">
                  <a:noAutofit/>
                </a:bodyPr>
                <a:lstStyle/>
                <a:p>
                  <a:pPr marL="0" indent="0" lv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00" b="0" i="0" kern="0" dirty="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Arial"/>
                      <a:ea typeface="Arial"/>
                      <a:cs typeface="Arial"/>
                    </a:rPr>
                    <a:t>Claims</a:t>
                  </a:r>
                  <a:endParaRPr lang="en-US" sz="800" b="0" i="0" kern="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Arial"/>
                    <a:ea typeface="Arial"/>
                    <a:cs typeface="Arial"/>
                  </a:endParaRPr>
                </a:p>
                <a:p>
                  <a:pPr marL="0" indent="0" lv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00" b="0" i="0" kern="0" dirty="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Arial"/>
                      <a:ea typeface="Arial"/>
                      <a:cs typeface="Arial"/>
                    </a:rPr>
                    <a:t>handler</a:t>
                  </a:r>
                  <a:endParaRPr lang="en-US" sz="800" b="0" i="0" kern="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Arial"/>
                    <a:ea typeface="Arial"/>
                    <a:cs typeface="Arial"/>
                  </a:endParaRPr>
                </a:p>
              </p:txBody>
            </p:sp>
            <p:grpSp>
              <p:nvGrpSpPr>
                <p:cNvPr id="19" name="struct.group.7"/>
                <p:cNvGrpSpPr/>
                <p:nvPr/>
              </p:nvGrpSpPr>
              <p:grpSpPr>
                <a:xfrm>
                  <a:off x="595948" y="2520456"/>
                  <a:ext cx="322500" cy="322500"/>
                  <a:chOff x="595948" y="2520456"/>
                  <a:chExt cx="322500" cy="322500"/>
                </a:xfrm>
              </p:grpSpPr>
              <p:sp>
                <p:nvSpPr>
                  <p:cNvPr id="20" name="struct.dot.2"/>
                  <p:cNvSpPr/>
                  <p:nvPr/>
                </p:nvSpPr>
                <p:spPr>
                  <a:xfrm>
                    <a:off x="595948" y="2520456"/>
                    <a:ext cx="322500" cy="322500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tx1">
                          <a:lumMod val="90000"/>
                          <a:lumOff val="10000"/>
                        </a:schemeClr>
                      </a:buClr>
                      <a:buSzPts val="1400"/>
                      <a:buFont typeface="Arial"/>
                      <a:buNone/>
                      <a:tabLst/>
                      <a:defRPr/>
                    </a:pPr>
                    <a:endParaRPr kumimoji="0" sz="1400" b="0" i="0" u="none" strike="noStrike" kern="0" cap="none" spc="0" normalizeH="0" baseline="0" noProof="0">
                      <a:ln>
                        <a:noFill/>
                      </a:ln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uLnTx/>
                      <a:uFillTx/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21" name="slot.today.head"/>
            <p:cNvSpPr txBox="1"/>
            <p:nvPr/>
          </p:nvSpPr>
          <p:spPr>
            <a:xfrm>
              <a:off x="548640" y="2258568"/>
              <a:ext cx="914400" cy="1737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0" tIns="0" rIns="0" bIns="0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Claims desk</a:t>
              </a:r>
              <a:endParaRPr lang="en-US" sz="9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22" name="struct.today.arrow.2"/>
            <p:cNvCxnSpPr/>
            <p:nvPr/>
          </p:nvCxnSpPr>
          <p:spPr>
            <a:xfrm>
              <a:off x="1810512" y="4873752"/>
              <a:ext cx="0" cy="402336"/>
            </a:xfrm>
            <a:prstGeom prst="straightConnector1">
              <a:avLst/>
            </a:prstGeom>
            <a:noFill/>
            <a:ln w="1425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triangle" w="sm" len="sm"/>
              <a:tailEnd type="triangle" w="sm" len="sm"/>
            </a:ln>
          </p:spPr>
        </p:cxnSp>
        <p:grpSp>
          <p:nvGrpSpPr>
            <p:cNvPr id="23" name="struct.group.8"/>
            <p:cNvGrpSpPr/>
            <p:nvPr/>
          </p:nvGrpSpPr>
          <p:grpSpPr>
            <a:xfrm>
              <a:off x="454849" y="3182328"/>
              <a:ext cx="2719767" cy="1734284"/>
              <a:chOff x="454849" y="3182328"/>
              <a:chExt cx="2719767" cy="1734284"/>
            </a:xfrm>
          </p:grpSpPr>
          <p:sp>
            <p:nvSpPr>
              <p:cNvPr id="24" name="struct.box.2"/>
              <p:cNvSpPr/>
              <p:nvPr/>
            </p:nvSpPr>
            <p:spPr>
              <a:xfrm>
                <a:off x="1544912" y="3795856"/>
                <a:ext cx="464700" cy="1049400"/>
              </a:xfrm>
              <a:prstGeom prst="roundRect">
                <a:avLst>
                  <a:gd name="adj" fmla="val 9839"/>
                </a:avLst>
              </a:prstGeom>
              <a:solidFill>
                <a:schemeClr val="bg1"/>
              </a:solidFill>
              <a:ln w="9525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struct.link.1"/>
              <p:cNvSpPr/>
              <p:nvPr/>
            </p:nvSpPr>
            <p:spPr>
              <a:xfrm>
                <a:off x="1093375" y="3658165"/>
                <a:ext cx="1367788" cy="353569"/>
              </a:xfrm>
              <a:custGeom>
                <a:avLst/>
                <a:gdLst/>
                <a:ahLst/>
                <a:cxnLst/>
                <a:rect l="l" t="t" r="r" b="b"/>
                <a:pathLst>
                  <a:path w="4757523" h="1229805" extrusionOk="0">
                    <a:moveTo>
                      <a:pt x="0" y="1229805"/>
                    </a:moveTo>
                    <a:lnTo>
                      <a:pt x="1148466" y="1229805"/>
                    </a:lnTo>
                    <a:cubicBezTo>
                      <a:pt x="1148466" y="550702"/>
                      <a:pt x="1699388" y="0"/>
                      <a:pt x="2378762" y="0"/>
                    </a:cubicBezTo>
                    <a:cubicBezTo>
                      <a:pt x="3058136" y="0"/>
                      <a:pt x="3609057" y="550702"/>
                      <a:pt x="3609057" y="1229805"/>
                    </a:cubicBezTo>
                    <a:lnTo>
                      <a:pt x="4757524" y="1229805"/>
                    </a:lnTo>
                  </a:path>
                </a:pathLst>
              </a:custGeom>
              <a:noFill/>
              <a:ln w="9525" cap="flat" cmpd="sng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  <a:miter lim="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788"/>
                  <a:buFont typeface="Arial"/>
                  <a:buNone/>
                  <a:tabLst/>
                  <a:defRPr/>
                </a:pPr>
                <a:endParaRPr kumimoji="0" sz="788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struct.dot.3"/>
              <p:cNvSpPr/>
              <p:nvPr/>
            </p:nvSpPr>
            <p:spPr>
              <a:xfrm>
                <a:off x="1402414" y="3990528"/>
                <a:ext cx="40200" cy="40200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accent1"/>
                </a:solidFill>
                <a:prstDash val="solid"/>
                <a:miter lim="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788"/>
                  <a:buFont typeface="Arial"/>
                  <a:buNone/>
                  <a:tabLst/>
                  <a:defRPr/>
                </a:pPr>
                <a:endParaRPr kumimoji="0" sz="788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struct.today.channel.4"/>
              <p:cNvSpPr/>
              <p:nvPr/>
            </p:nvSpPr>
            <p:spPr>
              <a:xfrm>
                <a:off x="2186064" y="3903007"/>
                <a:ext cx="215400" cy="215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788"/>
                  <a:buFont typeface="Arial"/>
                  <a:buNone/>
                  <a:tabLst/>
                  <a:defRPr/>
                </a:pPr>
                <a:endParaRPr kumimoji="0" sz="788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struct.dot.4"/>
              <p:cNvSpPr/>
              <p:nvPr/>
            </p:nvSpPr>
            <p:spPr>
              <a:xfrm>
                <a:off x="2107508" y="3990528"/>
                <a:ext cx="40200" cy="40200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accent1"/>
                </a:solidFill>
                <a:prstDash val="solid"/>
                <a:miter lim="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788"/>
                  <a:buFont typeface="Arial"/>
                  <a:buNone/>
                  <a:tabLst/>
                  <a:defRPr/>
                </a:pPr>
                <a:endParaRPr kumimoji="0" sz="788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struct.link.2"/>
              <p:cNvSpPr/>
              <p:nvPr/>
            </p:nvSpPr>
            <p:spPr>
              <a:xfrm>
                <a:off x="1541968" y="3666057"/>
                <a:ext cx="44316" cy="44299"/>
              </a:xfrm>
              <a:custGeom>
                <a:avLst/>
                <a:gdLst/>
                <a:ahLst/>
                <a:cxnLst/>
                <a:rect l="l" t="t" r="r" b="b"/>
                <a:pathLst>
                  <a:path w="154143" h="154082" extrusionOk="0">
                    <a:moveTo>
                      <a:pt x="0" y="0"/>
                    </a:moveTo>
                    <a:lnTo>
                      <a:pt x="154144" y="154082"/>
                    </a:lnTo>
                  </a:path>
                </a:pathLst>
              </a:custGeom>
              <a:noFill/>
              <a:ln w="9525" cap="flat" cmpd="sng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  <a:miter lim="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788"/>
                  <a:buFont typeface="Arial"/>
                  <a:buNone/>
                  <a:tabLst/>
                  <a:defRPr/>
                </a:pPr>
                <a:endParaRPr kumimoji="0" sz="788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struct.dot.5"/>
              <p:cNvSpPr/>
              <p:nvPr/>
            </p:nvSpPr>
            <p:spPr>
              <a:xfrm>
                <a:off x="1564607" y="3688414"/>
                <a:ext cx="40200" cy="40200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accent1"/>
                </a:solidFill>
                <a:prstDash val="solid"/>
                <a:miter lim="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788"/>
                  <a:buFont typeface="Arial"/>
                  <a:buNone/>
                  <a:tabLst/>
                  <a:defRPr/>
                </a:pPr>
                <a:endParaRPr kumimoji="0" sz="788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struct.today.channel.2"/>
              <p:cNvSpPr/>
              <p:nvPr/>
            </p:nvSpPr>
            <p:spPr>
              <a:xfrm>
                <a:off x="1363853" y="3480380"/>
                <a:ext cx="215400" cy="215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788"/>
                  <a:buFont typeface="Arial"/>
                  <a:buNone/>
                  <a:tabLst/>
                  <a:defRPr/>
                </a:pPr>
                <a:endParaRPr kumimoji="0" sz="788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struct.today.channel.3"/>
              <p:cNvSpPr/>
              <p:nvPr/>
            </p:nvSpPr>
            <p:spPr>
              <a:xfrm>
                <a:off x="1982034" y="3480380"/>
                <a:ext cx="215400" cy="215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788"/>
                  <a:buFont typeface="Arial"/>
                  <a:buNone/>
                  <a:tabLst/>
                  <a:defRPr/>
                </a:pPr>
                <a:endParaRPr kumimoji="0" sz="788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struct.link.3"/>
              <p:cNvSpPr/>
              <p:nvPr/>
            </p:nvSpPr>
            <p:spPr>
              <a:xfrm>
                <a:off x="1975214" y="3666057"/>
                <a:ext cx="44316" cy="44299"/>
              </a:xfrm>
              <a:custGeom>
                <a:avLst/>
                <a:gdLst/>
                <a:ahLst/>
                <a:cxnLst/>
                <a:rect l="l" t="t" r="r" b="b"/>
                <a:pathLst>
                  <a:path w="154143" h="154082" extrusionOk="0">
                    <a:moveTo>
                      <a:pt x="154144" y="0"/>
                    </a:moveTo>
                    <a:lnTo>
                      <a:pt x="0" y="154082"/>
                    </a:lnTo>
                  </a:path>
                </a:pathLst>
              </a:custGeom>
              <a:noFill/>
              <a:ln w="9525" cap="flat" cmpd="sng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  <a:miter lim="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788"/>
                  <a:buFont typeface="Arial"/>
                  <a:buNone/>
                  <a:tabLst/>
                  <a:defRPr/>
                </a:pPr>
                <a:endParaRPr kumimoji="0" sz="788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struct.dot.6"/>
              <p:cNvSpPr/>
              <p:nvPr/>
            </p:nvSpPr>
            <p:spPr>
              <a:xfrm>
                <a:off x="1956667" y="3688414"/>
                <a:ext cx="40200" cy="40200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accent1"/>
                </a:solidFill>
                <a:prstDash val="solid"/>
                <a:miter lim="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788"/>
                  <a:buFont typeface="Arial"/>
                  <a:buNone/>
                  <a:tabLst/>
                  <a:defRPr/>
                </a:pPr>
                <a:endParaRPr kumimoji="0" sz="788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slot.today.hub.label"/>
              <p:cNvSpPr txBox="1"/>
              <p:nvPr/>
            </p:nvSpPr>
            <p:spPr>
              <a:xfrm>
                <a:off x="1554480" y="4059936"/>
                <a:ext cx="457200" cy="146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 rtlCol="0">
                <a:noAutofit/>
              </a:bodyPr>
              <a:lstStyle/>
              <a:p>
                <a:pPr marL="0" indent="0" lv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1" i="0" kern="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Arial"/>
                    <a:ea typeface="Arial"/>
                    <a:cs typeface="Arial"/>
                  </a:rPr>
                  <a:t>Handler</a:t>
                </a:r>
                <a:endParaRPr lang="en-US" sz="800" b="1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36" name="slot.today.task.2"/>
              <p:cNvSpPr/>
              <p:nvPr/>
            </p:nvSpPr>
            <p:spPr>
              <a:xfrm>
                <a:off x="1915610" y="3182328"/>
                <a:ext cx="1067100" cy="229800"/>
              </a:xfrm>
              <a:prstGeom prst="roundRect">
                <a:avLst>
                  <a:gd name="adj" fmla="val 19896"/>
                </a:avLst>
              </a:prstGeom>
              <a:noFill/>
              <a:ln w="9525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7432" tIns="0" rIns="27432" bIns="0" anchor="ctr" anchorCtr="0" rtlCol="0">
                <a:noAutofit/>
              </a:bodyPr>
              <a:lstStyle/>
              <a:p>
                <a:pPr marL="0" indent="0" lv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kern="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Arial"/>
                    <a:ea typeface="Arial"/>
                    <a:cs typeface="Arial"/>
                  </a:rPr>
                  <a:t>Policy lookups</a:t>
                </a:r>
                <a:endParaRPr lang="en-US" sz="800" b="0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37" name="slot.today.task.1"/>
              <p:cNvSpPr/>
              <p:nvPr/>
            </p:nvSpPr>
            <p:spPr>
              <a:xfrm>
                <a:off x="685639" y="3182328"/>
                <a:ext cx="1067700" cy="229800"/>
              </a:xfrm>
              <a:prstGeom prst="roundRect">
                <a:avLst>
                  <a:gd name="adj" fmla="val 19896"/>
                </a:avLst>
              </a:prstGeom>
              <a:noFill/>
              <a:ln w="9525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7432" tIns="0" rIns="27432" bIns="0" anchor="ctr" anchorCtr="0" rtlCol="0">
                <a:noAutofit/>
              </a:bodyPr>
              <a:lstStyle/>
              <a:p>
                <a:pPr marL="0" indent="0" lv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kern="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Arial"/>
                    <a:ea typeface="Arial"/>
                    <a:cs typeface="Arial"/>
                  </a:rPr>
                  <a:t>Calls and email</a:t>
                </a:r>
                <a:endParaRPr lang="en-US" sz="800" b="0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38" name="slot.today.task.7"/>
              <p:cNvSpPr/>
              <p:nvPr/>
            </p:nvSpPr>
            <p:spPr>
              <a:xfrm>
                <a:off x="2536516" y="4050808"/>
                <a:ext cx="638100" cy="370800"/>
              </a:xfrm>
              <a:prstGeom prst="roundRect">
                <a:avLst>
                  <a:gd name="adj" fmla="val 12330"/>
                </a:avLst>
              </a:prstGeom>
              <a:noFill/>
              <a:ln w="9525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7432" tIns="0" rIns="27432" bIns="0" anchor="ctr" anchorCtr="0" rtlCol="0">
                <a:noAutofit/>
              </a:bodyPr>
              <a:lstStyle/>
              <a:p>
                <a:pPr marL="0" indent="0" lv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kern="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Arial"/>
                    <a:ea typeface="Arial"/>
                    <a:cs typeface="Arial"/>
                  </a:rPr>
                  <a:t>Payment</a:t>
                </a:r>
                <a:endParaRPr lang="en-US" sz="800" b="0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endParaRPr>
              </a:p>
              <a:p>
                <a:pPr marL="0" indent="0" lv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kern="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Arial"/>
                    <a:ea typeface="Arial"/>
                    <a:cs typeface="Arial"/>
                  </a:rPr>
                  <a:t>sign-off</a:t>
                </a:r>
                <a:endParaRPr lang="en-US" sz="800" b="0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39" name="slot.today.task.6"/>
              <p:cNvSpPr/>
              <p:nvPr/>
            </p:nvSpPr>
            <p:spPr>
              <a:xfrm>
                <a:off x="2536515" y="3609444"/>
                <a:ext cx="634500" cy="345000"/>
              </a:xfrm>
              <a:prstGeom prst="roundRect">
                <a:avLst>
                  <a:gd name="adj" fmla="val 13252"/>
                </a:avLst>
              </a:prstGeom>
              <a:noFill/>
              <a:ln w="9525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7432" tIns="0" rIns="27432" bIns="0" anchor="ctr" anchorCtr="0" rtlCol="0">
                <a:noAutofit/>
              </a:bodyPr>
              <a:lstStyle/>
              <a:p>
                <a:pPr marL="0" indent="0" lv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kern="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Arial"/>
                    <a:ea typeface="Arial"/>
                    <a:cs typeface="Arial"/>
                  </a:rPr>
                  <a:t>Manual</a:t>
                </a:r>
                <a:endParaRPr lang="en-US" sz="800" b="0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endParaRPr>
              </a:p>
              <a:p>
                <a:pPr marL="0" indent="0" lv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kern="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Arial"/>
                    <a:ea typeface="Arial"/>
                    <a:cs typeface="Arial"/>
                  </a:rPr>
                  <a:t>checks</a:t>
                </a:r>
                <a:endParaRPr lang="en-US" sz="800" b="0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40" name="slot.today.task.4"/>
              <p:cNvSpPr/>
              <p:nvPr/>
            </p:nvSpPr>
            <p:spPr>
              <a:xfrm>
                <a:off x="454849" y="4114682"/>
                <a:ext cx="680100" cy="269700"/>
              </a:xfrm>
              <a:prstGeom prst="roundRect">
                <a:avLst>
                  <a:gd name="adj" fmla="val 16952"/>
                </a:avLst>
              </a:prstGeom>
              <a:noFill/>
              <a:ln w="9525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7432" tIns="0" rIns="27432" bIns="0" anchor="ctr" anchorCtr="0" rtlCol="0">
                <a:noAutofit/>
              </a:bodyPr>
              <a:lstStyle/>
              <a:p>
                <a:pPr marL="0" indent="0" lv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kern="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Arial"/>
                    <a:ea typeface="Arial"/>
                    <a:cs typeface="Arial"/>
                  </a:rPr>
                  <a:t>Shared</a:t>
                </a:r>
                <a:endParaRPr lang="en-US" sz="800" b="0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endParaRPr>
              </a:p>
              <a:p>
                <a:pPr marL="0" indent="0" lv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kern="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Arial"/>
                    <a:ea typeface="Arial"/>
                    <a:cs typeface="Arial"/>
                  </a:rPr>
                  <a:t>sheets</a:t>
                </a:r>
                <a:endParaRPr lang="en-US" sz="800" b="0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41" name="slot.today.task.3"/>
              <p:cNvSpPr/>
              <p:nvPr/>
            </p:nvSpPr>
            <p:spPr>
              <a:xfrm>
                <a:off x="454849" y="3625271"/>
                <a:ext cx="680100" cy="269700"/>
              </a:xfrm>
              <a:prstGeom prst="roundRect">
                <a:avLst>
                  <a:gd name="adj" fmla="val 16952"/>
                </a:avLst>
              </a:prstGeom>
              <a:noFill/>
              <a:ln w="9525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7432" tIns="0" rIns="27432" bIns="0" anchor="ctr" anchorCtr="0" rtlCol="0">
                <a:noAutofit/>
              </a:bodyPr>
              <a:lstStyle/>
              <a:p>
                <a:pPr marL="0" indent="0" lv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kern="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Arial"/>
                    <a:ea typeface="Arial"/>
                    <a:cs typeface="Arial"/>
                  </a:rPr>
                  <a:t>Paper</a:t>
                </a:r>
                <a:endParaRPr lang="en-US" sz="800" b="0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endParaRPr>
              </a:p>
              <a:p>
                <a:pPr marL="0" indent="0" lv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kern="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Arial"/>
                    <a:ea typeface="Arial"/>
                    <a:cs typeface="Arial"/>
                  </a:rPr>
                  <a:t>forms</a:t>
                </a:r>
                <a:endParaRPr lang="en-US" sz="800" b="0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42" name="struct.today.channel.1"/>
              <p:cNvSpPr/>
              <p:nvPr/>
            </p:nvSpPr>
            <p:spPr>
              <a:xfrm>
                <a:off x="1149018" y="3903007"/>
                <a:ext cx="215400" cy="215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788"/>
                  <a:buFont typeface="Arial"/>
                  <a:buNone/>
                  <a:tabLst/>
                  <a:defRPr/>
                </a:pPr>
                <a:endParaRPr kumimoji="0" sz="788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struct.today.channel.5"/>
              <p:cNvSpPr/>
              <p:nvPr/>
            </p:nvSpPr>
            <p:spPr>
              <a:xfrm>
                <a:off x="1187014" y="4399107"/>
                <a:ext cx="215400" cy="215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788"/>
                  <a:buFont typeface="Arial"/>
                  <a:buNone/>
                  <a:tabLst/>
                  <a:defRPr/>
                </a:pPr>
                <a:endParaRPr kumimoji="0" sz="788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slot.today.task.5"/>
              <p:cNvSpPr/>
              <p:nvPr/>
            </p:nvSpPr>
            <p:spPr>
              <a:xfrm>
                <a:off x="454849" y="4646912"/>
                <a:ext cx="680100" cy="269700"/>
              </a:xfrm>
              <a:prstGeom prst="roundRect">
                <a:avLst>
                  <a:gd name="adj" fmla="val 16952"/>
                </a:avLst>
              </a:prstGeom>
              <a:noFill/>
              <a:ln w="9525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7432" tIns="0" rIns="27432" bIns="0" anchor="ctr" anchorCtr="0" rtlCol="0">
                <a:noAutofit/>
              </a:bodyPr>
              <a:lstStyle/>
              <a:p>
                <a:pPr marL="0" indent="0" lv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kern="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Arial"/>
                    <a:ea typeface="Arial"/>
                    <a:cs typeface="Arial"/>
                  </a:rPr>
                  <a:t>Rekeyed</a:t>
                </a:r>
                <a:endParaRPr lang="en-US" sz="800" b="0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endParaRPr>
              </a:p>
              <a:p>
                <a:pPr marL="0" indent="0" lv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kern="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Arial"/>
                    <a:ea typeface="Arial"/>
                    <a:cs typeface="Arial"/>
                  </a:rPr>
                  <a:t>data</a:t>
                </a:r>
                <a:endParaRPr lang="en-US" sz="800" b="0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endParaRPr>
              </a:p>
            </p:txBody>
          </p:sp>
        </p:grpSp>
        <p:sp>
          <p:nvSpPr>
            <p:cNvPr id="45" name="struct.box.3"/>
            <p:cNvSpPr/>
            <p:nvPr/>
          </p:nvSpPr>
          <p:spPr>
            <a:xfrm rot="5400000">
              <a:off x="1477639" y="4276484"/>
              <a:ext cx="670800" cy="2716200"/>
            </a:xfrm>
            <a:prstGeom prst="roundRect">
              <a:avLst>
                <a:gd name="adj" fmla="val 6816"/>
              </a:avLst>
            </a:prstGeom>
            <a:solidFill>
              <a:schemeClr val="bg1">
                <a:lumMod val="95000"/>
              </a:schemeClr>
            </a:solidFill>
            <a:ln w="952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slot.today.tools.head"/>
            <p:cNvSpPr/>
            <p:nvPr/>
          </p:nvSpPr>
          <p:spPr>
            <a:xfrm>
              <a:off x="731520" y="5330952"/>
              <a:ext cx="2157984" cy="164592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0" tIns="0" rIns="0" bIns="0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rPr>
                <a:t>Four tools, rekeyed by hand</a:t>
              </a:r>
              <a:endParaRPr lang="en-US" sz="8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47" name="struct.today.tools.2"/>
            <p:cNvSpPr/>
            <p:nvPr/>
          </p:nvSpPr>
          <p:spPr>
            <a:xfrm>
              <a:off x="1202566" y="5527757"/>
              <a:ext cx="566100" cy="230400"/>
            </a:xfrm>
            <a:prstGeom prst="roundRect">
              <a:avLst>
                <a:gd name="adj" fmla="val 19844"/>
              </a:avLst>
            </a:prstGeom>
            <a:solidFill>
              <a:schemeClr val="bg1"/>
            </a:solidFill>
            <a:ln w="952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700"/>
                <a:buFont typeface="Arial"/>
                <a:buNone/>
                <a:tabLst/>
                <a:defRPr/>
              </a:pPr>
              <a:endParaRPr kumimoji="0" sz="7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struct.today.tools.1"/>
            <p:cNvSpPr/>
            <p:nvPr/>
          </p:nvSpPr>
          <p:spPr>
            <a:xfrm>
              <a:off x="547950" y="5527757"/>
              <a:ext cx="566100" cy="230400"/>
            </a:xfrm>
            <a:prstGeom prst="roundRect">
              <a:avLst>
                <a:gd name="adj" fmla="val 19844"/>
              </a:avLst>
            </a:prstGeom>
            <a:solidFill>
              <a:schemeClr val="bg1"/>
            </a:solidFill>
            <a:ln w="952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700"/>
                <a:buFont typeface="Arial"/>
                <a:buNone/>
                <a:tabLst/>
                <a:defRPr/>
              </a:pPr>
              <a:endParaRPr kumimoji="0" sz="7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struct.today.tools.3"/>
            <p:cNvSpPr/>
            <p:nvPr/>
          </p:nvSpPr>
          <p:spPr>
            <a:xfrm>
              <a:off x="1857182" y="5527757"/>
              <a:ext cx="566100" cy="230400"/>
            </a:xfrm>
            <a:prstGeom prst="roundRect">
              <a:avLst>
                <a:gd name="adj" fmla="val 19844"/>
              </a:avLst>
            </a:prstGeom>
            <a:solidFill>
              <a:schemeClr val="bg1"/>
            </a:solidFill>
            <a:ln w="952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700"/>
                <a:buFont typeface="Arial"/>
                <a:buNone/>
                <a:tabLst/>
                <a:defRPr/>
              </a:pPr>
              <a:endParaRPr kumimoji="0" sz="7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struct.today.tools.4"/>
            <p:cNvSpPr/>
            <p:nvPr/>
          </p:nvSpPr>
          <p:spPr>
            <a:xfrm>
              <a:off x="2511797" y="5527757"/>
              <a:ext cx="566100" cy="230400"/>
            </a:xfrm>
            <a:prstGeom prst="roundRect">
              <a:avLst>
                <a:gd name="adj" fmla="val 19844"/>
              </a:avLst>
            </a:prstGeom>
            <a:solidFill>
              <a:schemeClr val="bg1"/>
            </a:solidFill>
            <a:ln w="952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700"/>
                <a:buFont typeface="Arial"/>
                <a:buNone/>
                <a:tabLst/>
                <a:defRPr/>
              </a:pPr>
              <a:endParaRPr kumimoji="0" sz="7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slot.today.tools.note"/>
            <p:cNvSpPr/>
            <p:nvPr/>
          </p:nvSpPr>
          <p:spPr>
            <a:xfrm>
              <a:off x="731520" y="5779008"/>
              <a:ext cx="2157984" cy="164592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0" tIns="0" rIns="0" bIns="0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rPr>
                <a:t>Case history split four ways</a:t>
              </a:r>
              <a:endPara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52" name="slot.today.hub.sub"/>
            <p:cNvSpPr txBox="1"/>
            <p:nvPr/>
          </p:nvSpPr>
          <p:spPr>
            <a:xfrm>
              <a:off x="1554480" y="4544568"/>
              <a:ext cx="457200" cy="1463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rPr>
                <a:t>Inbox</a:t>
              </a:r>
              <a:endPara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53" name="slot.horizon.3.label"/>
          <p:cNvSpPr/>
          <p:nvPr/>
        </p:nvSpPr>
        <p:spPr>
          <a:xfrm>
            <a:off x="6077174" y="1051374"/>
            <a:ext cx="2908500" cy="385800"/>
          </a:xfrm>
          <a:prstGeom prst="chevron">
            <a:avLst>
              <a:gd name="adj" fmla="val 3407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Year 2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slot.horizon.3.team"/>
          <p:cNvSpPr/>
          <p:nvPr/>
        </p:nvSpPr>
        <p:spPr>
          <a:xfrm>
            <a:off x="6731040" y="1673352"/>
            <a:ext cx="566811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3 pods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5" name="struct.line.4"/>
          <p:cNvCxnSpPr/>
          <p:nvPr/>
        </p:nvCxnSpPr>
        <p:spPr>
          <a:xfrm>
            <a:off x="7531478" y="2057792"/>
            <a:ext cx="0" cy="179273"/>
          </a:xfrm>
          <a:prstGeom prst="straightConnector1">
            <a:avLst/>
          </a:prstGeom>
          <a:noFill/>
          <a:ln w="14250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56" name="struct.horizon.3.tray"/>
          <p:cNvSpPr/>
          <p:nvPr/>
        </p:nvSpPr>
        <p:spPr>
          <a:xfrm rot="5400000">
            <a:off x="7327150" y="4134065"/>
            <a:ext cx="459000" cy="2625958"/>
          </a:xfrm>
          <a:prstGeom prst="roundRect">
            <a:avLst>
              <a:gd name="adj" fmla="val 9961"/>
            </a:avLst>
          </a:prstGeom>
          <a:solidFill>
            <a:schemeClr val="bg1">
              <a:lumMod val="95000"/>
            </a:schemeClr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struct.dot.7"/>
          <p:cNvSpPr/>
          <p:nvPr/>
        </p:nvSpPr>
        <p:spPr>
          <a:xfrm>
            <a:off x="7795905" y="5288670"/>
            <a:ext cx="227100" cy="2271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72150" tIns="72150" rIns="72150" bIns="721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105"/>
              <a:buFont typeface="Arial"/>
              <a:buNone/>
              <a:tabLst/>
              <a:defRPr/>
            </a:pPr>
            <a:endParaRPr kumimoji="0" sz="1105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slot.horizon.3.tool.4"/>
          <p:cNvSpPr txBox="1"/>
          <p:nvPr/>
        </p:nvSpPr>
        <p:spPr>
          <a:xfrm>
            <a:off x="7703760" y="5486400"/>
            <a:ext cx="420537" cy="14630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Queue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slot.horizon.3.tool.3"/>
          <p:cNvSpPr txBox="1"/>
          <p:nvPr/>
        </p:nvSpPr>
        <p:spPr>
          <a:xfrm>
            <a:off x="7161633" y="5486400"/>
            <a:ext cx="420537" cy="14630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Models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slot.horizon.3.tool.2"/>
          <p:cNvSpPr txBox="1"/>
          <p:nvPr/>
        </p:nvSpPr>
        <p:spPr>
          <a:xfrm>
            <a:off x="6664301" y="5486400"/>
            <a:ext cx="420537" cy="14630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Rules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slot.horizon.3.tool.1"/>
          <p:cNvSpPr txBox="1"/>
          <p:nvPr/>
        </p:nvSpPr>
        <p:spPr>
          <a:xfrm>
            <a:off x="6228223" y="5486400"/>
            <a:ext cx="420537" cy="14630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Inbox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slot.horizon.3.tool.note"/>
          <p:cNvSpPr txBox="1"/>
          <p:nvPr/>
        </p:nvSpPr>
        <p:spPr>
          <a:xfrm>
            <a:off x="8279713" y="5276088"/>
            <a:ext cx="530243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Live case</a:t>
            </a:r>
            <a:endParaRPr lang="en-US" sz="8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scoring</a:t>
            </a:r>
            <a:endParaRPr lang="en-US" sz="8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struct.horizon.3.strip"/>
          <p:cNvSpPr/>
          <p:nvPr/>
        </p:nvSpPr>
        <p:spPr>
          <a:xfrm rot="5400000">
            <a:off x="7433799" y="4817221"/>
            <a:ext cx="245700" cy="2625958"/>
          </a:xfrm>
          <a:prstGeom prst="roundRect">
            <a:avLst>
              <a:gd name="adj" fmla="val 18608"/>
            </a:avLst>
          </a:prstGeom>
          <a:solidFill>
            <a:schemeClr val="bg1"/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" name="struct.line.5"/>
          <p:cNvCxnSpPr/>
          <p:nvPr/>
        </p:nvCxnSpPr>
        <p:spPr>
          <a:xfrm>
            <a:off x="7526444" y="5724656"/>
            <a:ext cx="0" cy="235800"/>
          </a:xfrm>
          <a:prstGeom prst="straightConnector1">
            <a:avLst/>
          </a:prstGeom>
          <a:noFill/>
          <a:ln w="14250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65" name="slot.horizon.3.outcome"/>
          <p:cNvSpPr/>
          <p:nvPr/>
        </p:nvSpPr>
        <p:spPr>
          <a:xfrm>
            <a:off x="6798691" y="6025896"/>
            <a:ext cx="1919844" cy="201168"/>
          </a:xfrm>
          <a:prstGeom prst="roundRect">
            <a:avLst>
              <a:gd name="adj" fmla="val 22727"/>
            </a:avLst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Agents clear routine claims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struct.horizon.3.net"/>
          <p:cNvSpPr/>
          <p:nvPr/>
        </p:nvSpPr>
        <p:spPr>
          <a:xfrm>
            <a:off x="6636831" y="2289398"/>
            <a:ext cx="1846119" cy="2637300"/>
          </a:xfrm>
          <a:prstGeom prst="roundRect">
            <a:avLst>
              <a:gd name="adj" fmla="val 2476"/>
            </a:avLst>
          </a:prstGeom>
          <a:noFill/>
          <a:ln w="952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sz="625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" name="struct.group.9"/>
          <p:cNvGrpSpPr/>
          <p:nvPr/>
        </p:nvGrpSpPr>
        <p:grpSpPr>
          <a:xfrm>
            <a:off x="6924276" y="3425579"/>
            <a:ext cx="1099902" cy="649165"/>
            <a:chOff x="6923260" y="3425579"/>
            <a:chExt cx="1100129" cy="649165"/>
          </a:xfrm>
          <a:effectLst/>
        </p:grpSpPr>
        <p:sp>
          <p:nvSpPr>
            <p:cNvPr id="68" name="struct.link.4"/>
            <p:cNvSpPr/>
            <p:nvPr/>
          </p:nvSpPr>
          <p:spPr>
            <a:xfrm>
              <a:off x="6943081" y="3425579"/>
              <a:ext cx="1067307" cy="139462"/>
            </a:xfrm>
            <a:custGeom>
              <a:avLst/>
              <a:gdLst/>
              <a:ahLst/>
              <a:cxnLst/>
              <a:rect l="l" t="t" r="r" b="b"/>
              <a:pathLst>
                <a:path w="4492315" h="527469" extrusionOk="0">
                  <a:moveTo>
                    <a:pt x="0" y="338415"/>
                  </a:moveTo>
                  <a:lnTo>
                    <a:pt x="2259951" y="0"/>
                  </a:lnTo>
                  <a:lnTo>
                    <a:pt x="4492316" y="527469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5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struct.link.5"/>
            <p:cNvSpPr/>
            <p:nvPr/>
          </p:nvSpPr>
          <p:spPr>
            <a:xfrm>
              <a:off x="7659521" y="3615739"/>
              <a:ext cx="357367" cy="447561"/>
            </a:xfrm>
            <a:custGeom>
              <a:avLst/>
              <a:gdLst/>
              <a:ahLst/>
              <a:cxnLst/>
              <a:rect l="l" t="t" r="r" b="b"/>
              <a:pathLst>
                <a:path w="1504166" h="1692746" extrusionOk="0">
                  <a:moveTo>
                    <a:pt x="1504166" y="0"/>
                  </a:moveTo>
                  <a:lnTo>
                    <a:pt x="0" y="1692746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5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struct.link.6"/>
            <p:cNvSpPr/>
            <p:nvPr/>
          </p:nvSpPr>
          <p:spPr>
            <a:xfrm>
              <a:off x="6998655" y="4058853"/>
              <a:ext cx="632413" cy="15417"/>
            </a:xfrm>
            <a:custGeom>
              <a:avLst/>
              <a:gdLst/>
              <a:ahLst/>
              <a:cxnLst/>
              <a:rect l="l" t="t" r="r" b="b"/>
              <a:pathLst>
                <a:path w="2661838" h="58308" extrusionOk="0">
                  <a:moveTo>
                    <a:pt x="2661839" y="58309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5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struct.link.7"/>
            <p:cNvSpPr/>
            <p:nvPr/>
          </p:nvSpPr>
          <p:spPr>
            <a:xfrm>
              <a:off x="6924965" y="3533200"/>
              <a:ext cx="57812" cy="502943"/>
            </a:xfrm>
            <a:custGeom>
              <a:avLst/>
              <a:gdLst/>
              <a:ahLst/>
              <a:cxnLst/>
              <a:rect l="l" t="t" r="r" b="b"/>
              <a:pathLst>
                <a:path w="243330" h="1902209" extrusionOk="0">
                  <a:moveTo>
                    <a:pt x="243331" y="1902209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5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struct.link.8"/>
          <p:cNvSpPr/>
          <p:nvPr/>
        </p:nvSpPr>
        <p:spPr>
          <a:xfrm>
            <a:off x="7060058" y="2996750"/>
            <a:ext cx="471693" cy="410421"/>
          </a:xfrm>
          <a:custGeom>
            <a:avLst/>
            <a:gdLst/>
            <a:ahLst/>
            <a:cxnLst/>
            <a:rect l="l" t="t" r="r" b="b"/>
            <a:pathLst>
              <a:path w="1945526" h="1465790" extrusionOk="0">
                <a:moveTo>
                  <a:pt x="0" y="0"/>
                </a:moveTo>
                <a:lnTo>
                  <a:pt x="1945526" y="1465791"/>
                </a:lnTo>
              </a:path>
            </a:pathLst>
          </a:cu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600"/>
              <a:buFont typeface="Arial"/>
              <a:buNone/>
              <a:tabLst/>
              <a:defRPr/>
            </a:pPr>
            <a:endParaRPr kumimoji="0" sz="5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struct.link.9"/>
          <p:cNvSpPr/>
          <p:nvPr/>
        </p:nvSpPr>
        <p:spPr>
          <a:xfrm>
            <a:off x="7553700" y="3072806"/>
            <a:ext cx="433351" cy="331064"/>
          </a:xfrm>
          <a:custGeom>
            <a:avLst/>
            <a:gdLst/>
            <a:ahLst/>
            <a:cxnLst/>
            <a:rect l="l" t="t" r="r" b="b"/>
            <a:pathLst>
              <a:path w="2039718" h="1471397" extrusionOk="0">
                <a:moveTo>
                  <a:pt x="0" y="1471398"/>
                </a:moveTo>
                <a:lnTo>
                  <a:pt x="2039719" y="0"/>
                </a:lnTo>
              </a:path>
            </a:pathLst>
          </a:cu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600"/>
              <a:buFont typeface="Arial"/>
              <a:buNone/>
              <a:tabLst/>
              <a:defRPr/>
            </a:pPr>
            <a:endParaRPr kumimoji="0" sz="5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struct.link.10"/>
          <p:cNvSpPr/>
          <p:nvPr/>
        </p:nvSpPr>
        <p:spPr>
          <a:xfrm>
            <a:off x="7052642" y="2765962"/>
            <a:ext cx="927574" cy="210401"/>
          </a:xfrm>
          <a:custGeom>
            <a:avLst/>
            <a:gdLst/>
            <a:ahLst/>
            <a:cxnLst/>
            <a:rect l="l" t="t" r="r" b="b"/>
            <a:pathLst>
              <a:path w="4078092" h="744781" extrusionOk="0">
                <a:moveTo>
                  <a:pt x="4078092" y="734914"/>
                </a:moveTo>
                <a:lnTo>
                  <a:pt x="1926688" y="0"/>
                </a:lnTo>
                <a:lnTo>
                  <a:pt x="0" y="744782"/>
                </a:lnTo>
              </a:path>
            </a:pathLst>
          </a:cu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600"/>
              <a:buFont typeface="Arial"/>
              <a:buNone/>
              <a:tabLst/>
              <a:defRPr/>
            </a:pPr>
            <a:endParaRPr kumimoji="0" sz="5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" name="struct.group.10"/>
          <p:cNvGrpSpPr/>
          <p:nvPr/>
        </p:nvGrpSpPr>
        <p:grpSpPr>
          <a:xfrm>
            <a:off x="7518921" y="2820278"/>
            <a:ext cx="8670" cy="499004"/>
            <a:chOff x="7518028" y="2820278"/>
            <a:chExt cx="8672" cy="499004"/>
          </a:xfrm>
          <a:effectLst/>
        </p:grpSpPr>
        <p:sp>
          <p:nvSpPr>
            <p:cNvPr id="76" name="struct.link.11"/>
            <p:cNvSpPr/>
            <p:nvPr/>
          </p:nvSpPr>
          <p:spPr>
            <a:xfrm>
              <a:off x="7518360" y="2832838"/>
              <a:ext cx="8103" cy="467680"/>
            </a:xfrm>
            <a:custGeom>
              <a:avLst/>
              <a:gdLst/>
              <a:ahLst/>
              <a:cxnLst/>
              <a:rect l="l" t="t" r="r" b="b"/>
              <a:pathLst>
                <a:path w="38349" h="2079377" extrusionOk="0">
                  <a:moveTo>
                    <a:pt x="0" y="2079378"/>
                  </a:moveTo>
                  <a:lnTo>
                    <a:pt x="38350" y="0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5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" name="struct.group.11"/>
          <p:cNvGrpSpPr/>
          <p:nvPr/>
        </p:nvGrpSpPr>
        <p:grpSpPr>
          <a:xfrm>
            <a:off x="7018168" y="3518263"/>
            <a:ext cx="486294" cy="299485"/>
            <a:chOff x="7017172" y="3518263"/>
            <a:chExt cx="486394" cy="299485"/>
          </a:xfrm>
          <a:effectLst/>
        </p:grpSpPr>
        <p:sp>
          <p:nvSpPr>
            <p:cNvPr id="78" name="struct.link.12"/>
            <p:cNvSpPr/>
            <p:nvPr/>
          </p:nvSpPr>
          <p:spPr>
            <a:xfrm>
              <a:off x="7031687" y="3598607"/>
              <a:ext cx="302063" cy="212282"/>
            </a:xfrm>
            <a:custGeom>
              <a:avLst/>
              <a:gdLst/>
              <a:ahLst/>
              <a:cxnLst/>
              <a:rect l="l" t="t" r="r" b="b"/>
              <a:pathLst>
                <a:path w="1428139" h="943928" extrusionOk="0">
                  <a:moveTo>
                    <a:pt x="0" y="0"/>
                  </a:moveTo>
                  <a:lnTo>
                    <a:pt x="1428140" y="943928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5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struct.link.13"/>
            <p:cNvSpPr/>
            <p:nvPr/>
          </p:nvSpPr>
          <p:spPr>
            <a:xfrm>
              <a:off x="7352155" y="3529106"/>
              <a:ext cx="145624" cy="272452"/>
            </a:xfrm>
            <a:custGeom>
              <a:avLst/>
              <a:gdLst/>
              <a:ahLst/>
              <a:cxnLst/>
              <a:rect l="l" t="t" r="r" b="b"/>
              <a:pathLst>
                <a:path w="688503" h="1211475" extrusionOk="0">
                  <a:moveTo>
                    <a:pt x="0" y="1211475"/>
                  </a:moveTo>
                  <a:lnTo>
                    <a:pt x="688503" y="0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5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" name="struct.group.12"/>
          <p:cNvGrpSpPr/>
          <p:nvPr/>
        </p:nvGrpSpPr>
        <p:grpSpPr>
          <a:xfrm>
            <a:off x="6982866" y="3782860"/>
            <a:ext cx="765332" cy="300664"/>
            <a:chOff x="6981862" y="3782860"/>
            <a:chExt cx="765490" cy="300664"/>
          </a:xfrm>
          <a:effectLst/>
        </p:grpSpPr>
        <p:sp>
          <p:nvSpPr>
            <p:cNvPr id="81" name="struct.link.14"/>
            <p:cNvSpPr/>
            <p:nvPr/>
          </p:nvSpPr>
          <p:spPr>
            <a:xfrm>
              <a:off x="6999685" y="3792915"/>
              <a:ext cx="327184" cy="275592"/>
            </a:xfrm>
            <a:custGeom>
              <a:avLst/>
              <a:gdLst/>
              <a:ahLst/>
              <a:cxnLst/>
              <a:rect l="l" t="t" r="r" b="b"/>
              <a:pathLst>
                <a:path w="1210375" h="958953" extrusionOk="0">
                  <a:moveTo>
                    <a:pt x="0" y="958954"/>
                  </a:moveTo>
                  <a:lnTo>
                    <a:pt x="1210375" y="0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5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16850" tIns="58425" rIns="116850" bIns="58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767"/>
                <a:buFont typeface="Arial"/>
                <a:buNone/>
                <a:tabLst/>
                <a:defRPr/>
              </a:pPr>
              <a:endParaRPr kumimoji="0" sz="639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struct.link.15"/>
            <p:cNvSpPr/>
            <p:nvPr/>
          </p:nvSpPr>
          <p:spPr>
            <a:xfrm>
              <a:off x="7357787" y="3796395"/>
              <a:ext cx="376895" cy="266956"/>
            </a:xfrm>
            <a:custGeom>
              <a:avLst/>
              <a:gdLst/>
              <a:ahLst/>
              <a:cxnLst/>
              <a:rect l="l" t="t" r="r" b="b"/>
              <a:pathLst>
                <a:path w="1394275" h="928902" extrusionOk="0">
                  <a:moveTo>
                    <a:pt x="0" y="0"/>
                  </a:moveTo>
                  <a:lnTo>
                    <a:pt x="1394275" y="928903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5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16850" tIns="58425" rIns="116850" bIns="58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767"/>
                <a:buFont typeface="Arial"/>
                <a:buNone/>
                <a:tabLst/>
                <a:defRPr/>
              </a:pPr>
              <a:endParaRPr kumimoji="0" sz="639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" name="struct.group.13"/>
          <p:cNvGrpSpPr/>
          <p:nvPr/>
        </p:nvGrpSpPr>
        <p:grpSpPr>
          <a:xfrm>
            <a:off x="7383140" y="3564529"/>
            <a:ext cx="744322" cy="211379"/>
            <a:chOff x="7382219" y="3564529"/>
            <a:chExt cx="744476" cy="211379"/>
          </a:xfrm>
          <a:effectLst/>
        </p:grpSpPr>
        <p:sp>
          <p:nvSpPr>
            <p:cNvPr id="84" name="struct.link.16"/>
            <p:cNvSpPr/>
            <p:nvPr/>
          </p:nvSpPr>
          <p:spPr>
            <a:xfrm rot="21170153">
              <a:off x="7387353" y="3615710"/>
              <a:ext cx="726776" cy="111120"/>
            </a:xfrm>
            <a:custGeom>
              <a:avLst/>
              <a:gdLst/>
              <a:ahLst/>
              <a:cxnLst/>
              <a:rect l="l" t="t" r="r" b="b"/>
              <a:pathLst>
                <a:path w="2665875" h="494278" extrusionOk="0">
                  <a:moveTo>
                    <a:pt x="2665876" y="0"/>
                  </a:moveTo>
                  <a:lnTo>
                    <a:pt x="0" y="494279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5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" name="struct.group.14"/>
          <p:cNvGrpSpPr/>
          <p:nvPr/>
        </p:nvGrpSpPr>
        <p:grpSpPr>
          <a:xfrm>
            <a:off x="7586545" y="3458352"/>
            <a:ext cx="542361" cy="577106"/>
            <a:chOff x="7585666" y="3458352"/>
            <a:chExt cx="542473" cy="577106"/>
          </a:xfrm>
          <a:effectLst/>
        </p:grpSpPr>
        <p:sp>
          <p:nvSpPr>
            <p:cNvPr id="86" name="struct.link.17"/>
            <p:cNvSpPr/>
            <p:nvPr/>
          </p:nvSpPr>
          <p:spPr>
            <a:xfrm>
              <a:off x="7596404" y="3469768"/>
              <a:ext cx="515506" cy="548501"/>
            </a:xfrm>
            <a:custGeom>
              <a:avLst/>
              <a:gdLst/>
              <a:ahLst/>
              <a:cxnLst/>
              <a:rect l="l" t="t" r="r" b="b"/>
              <a:pathLst>
                <a:path w="1916371" h="1917907" extrusionOk="0">
                  <a:moveTo>
                    <a:pt x="1916371" y="1917907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5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16275" tIns="58125" rIns="116275" bIns="581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763"/>
                <a:buFont typeface="Arial"/>
                <a:buNone/>
                <a:tabLst/>
                <a:defRPr/>
              </a:pPr>
              <a:endParaRPr kumimoji="0" sz="636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" name="struct.group.15"/>
          <p:cNvGrpSpPr/>
          <p:nvPr/>
        </p:nvGrpSpPr>
        <p:grpSpPr>
          <a:xfrm>
            <a:off x="7551326" y="3501470"/>
            <a:ext cx="176673" cy="492236"/>
            <a:chOff x="7550440" y="3501470"/>
            <a:chExt cx="176709" cy="492236"/>
          </a:xfrm>
          <a:effectLst/>
        </p:grpSpPr>
        <p:sp>
          <p:nvSpPr>
            <p:cNvPr id="88" name="struct.link.18"/>
            <p:cNvSpPr/>
            <p:nvPr/>
          </p:nvSpPr>
          <p:spPr>
            <a:xfrm rot="21149909">
              <a:off x="7603382" y="3505439"/>
              <a:ext cx="92549" cy="484298"/>
            </a:xfrm>
            <a:custGeom>
              <a:avLst/>
              <a:gdLst/>
              <a:ahLst/>
              <a:cxnLst/>
              <a:rect l="l" t="t" r="r" b="b"/>
              <a:pathLst>
                <a:path w="437771" h="2154057" extrusionOk="0">
                  <a:moveTo>
                    <a:pt x="437771" y="2154058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5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" name="struct.group.16"/>
          <p:cNvGrpSpPr/>
          <p:nvPr/>
        </p:nvGrpSpPr>
        <p:grpSpPr>
          <a:xfrm>
            <a:off x="6924271" y="2996787"/>
            <a:ext cx="98477" cy="460081"/>
            <a:chOff x="6923255" y="2996787"/>
            <a:chExt cx="98497" cy="460081"/>
          </a:xfrm>
          <a:effectLst/>
        </p:grpSpPr>
        <p:sp>
          <p:nvSpPr>
            <p:cNvPr id="90" name="struct.link.19"/>
            <p:cNvSpPr/>
            <p:nvPr/>
          </p:nvSpPr>
          <p:spPr>
            <a:xfrm>
              <a:off x="6928078" y="3012143"/>
              <a:ext cx="90520" cy="421689"/>
            </a:xfrm>
            <a:custGeom>
              <a:avLst/>
              <a:gdLst/>
              <a:ahLst/>
              <a:cxnLst/>
              <a:rect l="l" t="t" r="r" b="b"/>
              <a:pathLst>
                <a:path w="109442" h="1539573" extrusionOk="0">
                  <a:moveTo>
                    <a:pt x="0" y="1539574"/>
                  </a:moveTo>
                  <a:lnTo>
                    <a:pt x="109443" y="0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7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" name="struct.group.17"/>
          <p:cNvGrpSpPr/>
          <p:nvPr/>
        </p:nvGrpSpPr>
        <p:grpSpPr>
          <a:xfrm>
            <a:off x="8108632" y="3072261"/>
            <a:ext cx="16266" cy="447679"/>
            <a:chOff x="8107861" y="3072261"/>
            <a:chExt cx="16269" cy="447679"/>
          </a:xfrm>
          <a:effectLst/>
        </p:grpSpPr>
        <p:sp>
          <p:nvSpPr>
            <p:cNvPr id="92" name="struct.link.20"/>
            <p:cNvSpPr/>
            <p:nvPr/>
          </p:nvSpPr>
          <p:spPr>
            <a:xfrm>
              <a:off x="8108525" y="3091024"/>
              <a:ext cx="15178" cy="416358"/>
            </a:xfrm>
            <a:custGeom>
              <a:avLst/>
              <a:gdLst/>
              <a:ahLst/>
              <a:cxnLst/>
              <a:rect l="l" t="t" r="r" b="b"/>
              <a:pathLst>
                <a:path w="71765" h="1851301" extrusionOk="0">
                  <a:moveTo>
                    <a:pt x="0" y="0"/>
                  </a:moveTo>
                  <a:lnTo>
                    <a:pt x="71766" y="1851301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7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" name="struct.group.18"/>
          <p:cNvGrpSpPr/>
          <p:nvPr/>
        </p:nvGrpSpPr>
        <p:grpSpPr>
          <a:xfrm>
            <a:off x="7739474" y="4080447"/>
            <a:ext cx="370967" cy="5856"/>
            <a:chOff x="7738627" y="4080447"/>
            <a:chExt cx="371044" cy="5856"/>
          </a:xfrm>
          <a:effectLst/>
        </p:grpSpPr>
        <p:sp>
          <p:nvSpPr>
            <p:cNvPr id="94" name="struct.link.21"/>
            <p:cNvSpPr/>
            <p:nvPr/>
          </p:nvSpPr>
          <p:spPr>
            <a:xfrm>
              <a:off x="7750344" y="4080697"/>
              <a:ext cx="341823" cy="5406"/>
            </a:xfrm>
            <a:custGeom>
              <a:avLst/>
              <a:gdLst/>
              <a:ahLst/>
              <a:cxnLst/>
              <a:rect l="l" t="t" r="r" b="b"/>
              <a:pathLst>
                <a:path w="1616076" h="24220" extrusionOk="0">
                  <a:moveTo>
                    <a:pt x="1616077" y="0"/>
                  </a:moveTo>
                  <a:lnTo>
                    <a:pt x="0" y="24221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5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" name="struct.group.19"/>
          <p:cNvGrpSpPr/>
          <p:nvPr/>
        </p:nvGrpSpPr>
        <p:grpSpPr>
          <a:xfrm>
            <a:off x="8128928" y="3666651"/>
            <a:ext cx="15413" cy="375554"/>
            <a:chOff x="8128161" y="3666651"/>
            <a:chExt cx="15416" cy="375554"/>
          </a:xfrm>
          <a:effectLst/>
        </p:grpSpPr>
        <p:sp>
          <p:nvSpPr>
            <p:cNvPr id="96" name="struct.link.22"/>
            <p:cNvSpPr/>
            <p:nvPr/>
          </p:nvSpPr>
          <p:spPr>
            <a:xfrm>
              <a:off x="8128161" y="3666651"/>
              <a:ext cx="14894" cy="363146"/>
            </a:xfrm>
            <a:custGeom>
              <a:avLst/>
              <a:gdLst/>
              <a:ahLst/>
              <a:cxnLst/>
              <a:rect l="l" t="t" r="r" b="b"/>
              <a:pathLst>
                <a:path w="70420" h="1614702" extrusionOk="0">
                  <a:moveTo>
                    <a:pt x="0" y="0"/>
                  </a:moveTo>
                  <a:lnTo>
                    <a:pt x="70420" y="1614702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5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7" name="struct.line.6"/>
          <p:cNvCxnSpPr/>
          <p:nvPr/>
        </p:nvCxnSpPr>
        <p:spPr>
          <a:xfrm>
            <a:off x="6977586" y="4195995"/>
            <a:ext cx="277743" cy="21870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98" name="struct.line.7"/>
          <p:cNvCxnSpPr/>
          <p:nvPr/>
        </p:nvCxnSpPr>
        <p:spPr>
          <a:xfrm rot="10800000" flipH="1">
            <a:off x="7415699" y="4184864"/>
            <a:ext cx="211156" cy="22980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sp>
        <p:nvSpPr>
          <p:cNvPr id="99" name="struct.horizon.3.node.1"/>
          <p:cNvSpPr/>
          <p:nvPr/>
        </p:nvSpPr>
        <p:spPr>
          <a:xfrm>
            <a:off x="7222130" y="4381450"/>
            <a:ext cx="226800" cy="2268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spcFirstLastPara="1" wrap="square" lIns="112900" tIns="56425" rIns="112900" bIns="56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741"/>
              <a:buFont typeface="Arial"/>
              <a:buNone/>
              <a:tabLst/>
              <a:defRPr/>
            </a:pPr>
            <a:endParaRPr kumimoji="0" sz="617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struct.horizon.3.node.2"/>
          <p:cNvSpPr/>
          <p:nvPr/>
        </p:nvSpPr>
        <p:spPr>
          <a:xfrm>
            <a:off x="6919930" y="2812820"/>
            <a:ext cx="226800" cy="2268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112900" tIns="56425" rIns="112900" bIns="56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741"/>
              <a:buFont typeface="Arial"/>
              <a:buNone/>
              <a:tabLst/>
              <a:defRPr/>
            </a:pPr>
            <a:endParaRPr kumimoji="0" sz="617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" name="struct.group.20"/>
          <p:cNvGrpSpPr/>
          <p:nvPr/>
        </p:nvGrpSpPr>
        <p:grpSpPr>
          <a:xfrm>
            <a:off x="6975039" y="2933188"/>
            <a:ext cx="109587" cy="66996"/>
            <a:chOff x="6974034" y="2933188"/>
            <a:chExt cx="109610" cy="66996"/>
          </a:xfrm>
          <a:effectLst/>
        </p:grpSpPr>
      </p:grpSp>
      <p:sp>
        <p:nvSpPr>
          <p:cNvPr id="102" name="struct.horizon.3.node.3"/>
          <p:cNvSpPr/>
          <p:nvPr/>
        </p:nvSpPr>
        <p:spPr>
          <a:xfrm>
            <a:off x="6819516" y="3419603"/>
            <a:ext cx="226800" cy="2268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112900" tIns="56425" rIns="112900" bIns="56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741"/>
              <a:buFont typeface="Arial"/>
              <a:buNone/>
              <a:tabLst/>
              <a:defRPr/>
            </a:pPr>
            <a:endParaRPr kumimoji="0" sz="617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" name="struct.group.21"/>
          <p:cNvGrpSpPr/>
          <p:nvPr/>
        </p:nvGrpSpPr>
        <p:grpSpPr>
          <a:xfrm>
            <a:off x="6874013" y="3545997"/>
            <a:ext cx="109587" cy="66996"/>
            <a:chOff x="6872987" y="3545997"/>
            <a:chExt cx="109610" cy="66996"/>
          </a:xfrm>
          <a:effectLst/>
        </p:grpSpPr>
      </p:grpSp>
      <p:sp>
        <p:nvSpPr>
          <p:cNvPr id="104" name="struct.horizon.3.node.4"/>
          <p:cNvSpPr/>
          <p:nvPr/>
        </p:nvSpPr>
        <p:spPr>
          <a:xfrm>
            <a:off x="6864186" y="3969195"/>
            <a:ext cx="226800" cy="2268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spcFirstLastPara="1" wrap="square" lIns="112900" tIns="56425" rIns="112900" bIns="56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741"/>
              <a:buFont typeface="Arial"/>
              <a:buNone/>
              <a:tabLst/>
              <a:defRPr/>
            </a:pPr>
            <a:endParaRPr kumimoji="0" sz="617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" name="struct.group.22"/>
          <p:cNvGrpSpPr/>
          <p:nvPr/>
        </p:nvGrpSpPr>
        <p:grpSpPr>
          <a:xfrm>
            <a:off x="6922837" y="4088349"/>
            <a:ext cx="109587" cy="66996"/>
            <a:chOff x="6921821" y="4088349"/>
            <a:chExt cx="109610" cy="66996"/>
          </a:xfrm>
          <a:effectLst/>
        </p:grpSpPr>
      </p:grpSp>
      <p:sp>
        <p:nvSpPr>
          <p:cNvPr id="106" name="struct.horizon.3.node.5"/>
          <p:cNvSpPr/>
          <p:nvPr/>
        </p:nvSpPr>
        <p:spPr>
          <a:xfrm>
            <a:off x="7205380" y="3682276"/>
            <a:ext cx="228900" cy="229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112900" tIns="56425" rIns="112900" bIns="56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741"/>
              <a:buFont typeface="Arial"/>
              <a:buNone/>
              <a:tabLst/>
              <a:defRPr/>
            </a:pPr>
            <a:endParaRPr kumimoji="0" sz="617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" name="struct.group.23"/>
          <p:cNvGrpSpPr/>
          <p:nvPr/>
        </p:nvGrpSpPr>
        <p:grpSpPr>
          <a:xfrm>
            <a:off x="7262521" y="3805165"/>
            <a:ext cx="109587" cy="66996"/>
            <a:chOff x="7261575" y="3805165"/>
            <a:chExt cx="109610" cy="66996"/>
          </a:xfrm>
          <a:effectLst/>
        </p:grpSpPr>
      </p:grpSp>
      <p:sp>
        <p:nvSpPr>
          <p:cNvPr id="108" name="struct.horizon.3.node.6"/>
          <p:cNvSpPr/>
          <p:nvPr/>
        </p:nvSpPr>
        <p:spPr>
          <a:xfrm>
            <a:off x="7419683" y="2665726"/>
            <a:ext cx="226800" cy="2268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112900" tIns="56425" rIns="112900" bIns="56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741"/>
              <a:buFont typeface="Arial"/>
              <a:buNone/>
              <a:tabLst/>
              <a:defRPr/>
            </a:pPr>
            <a:endParaRPr kumimoji="0" sz="617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" name="struct.group.24"/>
          <p:cNvGrpSpPr/>
          <p:nvPr/>
        </p:nvGrpSpPr>
        <p:grpSpPr>
          <a:xfrm>
            <a:off x="7476125" y="2782508"/>
            <a:ext cx="109587" cy="66996"/>
            <a:chOff x="7475223" y="2782508"/>
            <a:chExt cx="109610" cy="66996"/>
          </a:xfrm>
          <a:effectLst/>
        </p:grpSpPr>
      </p:grpSp>
      <p:sp>
        <p:nvSpPr>
          <p:cNvPr id="110" name="struct.horizon.3.node.7"/>
          <p:cNvSpPr/>
          <p:nvPr/>
        </p:nvSpPr>
        <p:spPr>
          <a:xfrm>
            <a:off x="7985749" y="2890015"/>
            <a:ext cx="226800" cy="2268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spcFirstLastPara="1" wrap="square" lIns="112900" tIns="56425" rIns="112900" bIns="56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741"/>
              <a:buFont typeface="Arial"/>
              <a:buNone/>
              <a:tabLst/>
              <a:defRPr/>
            </a:pPr>
            <a:endParaRPr kumimoji="0" sz="617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" name="struct.group.25"/>
          <p:cNvGrpSpPr/>
          <p:nvPr/>
        </p:nvGrpSpPr>
        <p:grpSpPr>
          <a:xfrm>
            <a:off x="8044547" y="3008042"/>
            <a:ext cx="109587" cy="66996"/>
            <a:chOff x="8043763" y="3008042"/>
            <a:chExt cx="109610" cy="66996"/>
          </a:xfrm>
          <a:effectLst/>
        </p:grpSpPr>
      </p:grpSp>
      <p:sp>
        <p:nvSpPr>
          <p:cNvPr id="112" name="struct.horizon.3.node.8"/>
          <p:cNvSpPr/>
          <p:nvPr/>
        </p:nvSpPr>
        <p:spPr>
          <a:xfrm>
            <a:off x="8026171" y="3496767"/>
            <a:ext cx="226800" cy="2268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112900" tIns="56425" rIns="112900" bIns="56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741"/>
              <a:buFont typeface="Arial"/>
              <a:buNone/>
              <a:tabLst/>
              <a:defRPr/>
            </a:pPr>
            <a:endParaRPr kumimoji="0" sz="617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" name="struct.group.26"/>
          <p:cNvGrpSpPr/>
          <p:nvPr/>
        </p:nvGrpSpPr>
        <p:grpSpPr>
          <a:xfrm>
            <a:off x="8082957" y="3616420"/>
            <a:ext cx="109587" cy="66996"/>
            <a:chOff x="8082180" y="3616420"/>
            <a:chExt cx="109610" cy="66996"/>
          </a:xfrm>
          <a:effectLst/>
        </p:grpSpPr>
      </p:grpSp>
      <p:sp>
        <p:nvSpPr>
          <p:cNvPr id="114" name="struct.horizon.3.node.9"/>
          <p:cNvSpPr/>
          <p:nvPr/>
        </p:nvSpPr>
        <p:spPr>
          <a:xfrm>
            <a:off x="8073609" y="3978220"/>
            <a:ext cx="226800" cy="2268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112900" tIns="56425" rIns="112900" bIns="56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741"/>
              <a:buFont typeface="Arial"/>
              <a:buNone/>
              <a:tabLst/>
              <a:defRPr/>
            </a:pPr>
            <a:endParaRPr kumimoji="0" sz="617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struct.group.27"/>
          <p:cNvGrpSpPr/>
          <p:nvPr/>
        </p:nvGrpSpPr>
        <p:grpSpPr>
          <a:xfrm>
            <a:off x="8128985" y="4098781"/>
            <a:ext cx="109587" cy="66996"/>
            <a:chOff x="8128218" y="4098781"/>
            <a:chExt cx="109610" cy="66996"/>
          </a:xfrm>
          <a:effectLst/>
        </p:grpSpPr>
      </p:grpSp>
      <p:sp>
        <p:nvSpPr>
          <p:cNvPr id="116" name="struct.horizon.3.node.10"/>
          <p:cNvSpPr/>
          <p:nvPr/>
        </p:nvSpPr>
        <p:spPr>
          <a:xfrm>
            <a:off x="7593653" y="3991326"/>
            <a:ext cx="226800" cy="2268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112900" tIns="56425" rIns="112900" bIns="56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741"/>
              <a:buFont typeface="Arial"/>
              <a:buNone/>
              <a:tabLst/>
              <a:defRPr/>
            </a:pPr>
            <a:endParaRPr kumimoji="0" sz="617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" name="struct.group.28"/>
          <p:cNvGrpSpPr/>
          <p:nvPr/>
        </p:nvGrpSpPr>
        <p:grpSpPr>
          <a:xfrm>
            <a:off x="7651911" y="4109794"/>
            <a:ext cx="109587" cy="66996"/>
            <a:chOff x="7651045" y="4109794"/>
            <a:chExt cx="109610" cy="66996"/>
          </a:xfrm>
          <a:effectLst/>
        </p:grpSpPr>
      </p:grpSp>
      <p:grpSp>
        <p:nvGrpSpPr>
          <p:cNvPr id="118" name="struct.group.29"/>
          <p:cNvGrpSpPr/>
          <p:nvPr/>
        </p:nvGrpSpPr>
        <p:grpSpPr>
          <a:xfrm>
            <a:off x="7276611" y="4499017"/>
            <a:ext cx="109587" cy="66996"/>
            <a:chOff x="7275668" y="4499017"/>
            <a:chExt cx="109610" cy="66996"/>
          </a:xfrm>
          <a:effectLst/>
        </p:grpSpPr>
      </p:grpSp>
      <p:sp>
        <p:nvSpPr>
          <p:cNvPr id="119" name="struct.horizon.3.node.11"/>
          <p:cNvSpPr/>
          <p:nvPr/>
        </p:nvSpPr>
        <p:spPr>
          <a:xfrm>
            <a:off x="7422844" y="3310855"/>
            <a:ext cx="226800" cy="2268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112900" tIns="56425" rIns="112900" bIns="56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741"/>
              <a:buFont typeface="Arial"/>
              <a:buNone/>
              <a:tabLst/>
              <a:defRPr/>
            </a:pPr>
            <a:endParaRPr kumimoji="0" sz="617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slot.horizon.3.step.10"/>
          <p:cNvSpPr txBox="1"/>
          <p:nvPr/>
        </p:nvSpPr>
        <p:spPr>
          <a:xfrm>
            <a:off x="8017312" y="4276154"/>
            <a:ext cx="420537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Pay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slot.horizon.3.step.11"/>
          <p:cNvSpPr txBox="1"/>
          <p:nvPr/>
        </p:nvSpPr>
        <p:spPr>
          <a:xfrm>
            <a:off x="7027461" y="4647162"/>
            <a:ext cx="563584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Close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slot.horizon.3.step.8"/>
          <p:cNvSpPr txBox="1"/>
          <p:nvPr/>
        </p:nvSpPr>
        <p:spPr>
          <a:xfrm>
            <a:off x="6652308" y="4229987"/>
            <a:ext cx="420537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Fraud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slot.horizon.3.step.1"/>
          <p:cNvSpPr txBox="1"/>
          <p:nvPr/>
        </p:nvSpPr>
        <p:spPr>
          <a:xfrm>
            <a:off x="7264785" y="2415543"/>
            <a:ext cx="546187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Intake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slot.horizon.3.step.2"/>
          <p:cNvSpPr txBox="1"/>
          <p:nvPr/>
        </p:nvSpPr>
        <p:spPr>
          <a:xfrm>
            <a:off x="6699515" y="2487244"/>
            <a:ext cx="506295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Notice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slot.horizon.3.step.3"/>
          <p:cNvSpPr txBox="1"/>
          <p:nvPr/>
        </p:nvSpPr>
        <p:spPr>
          <a:xfrm>
            <a:off x="7930286" y="2561825"/>
            <a:ext cx="433411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Policy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slot.horizon.3.step.9"/>
          <p:cNvSpPr txBox="1"/>
          <p:nvPr/>
        </p:nvSpPr>
        <p:spPr>
          <a:xfrm>
            <a:off x="7537519" y="4269634"/>
            <a:ext cx="433710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Settle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slot.horizon.3.step.4"/>
          <p:cNvSpPr txBox="1"/>
          <p:nvPr/>
        </p:nvSpPr>
        <p:spPr>
          <a:xfrm>
            <a:off x="6687418" y="3103703"/>
            <a:ext cx="477501" cy="1645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Triage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slot.horizon.3.step.5"/>
          <p:cNvSpPr txBox="1"/>
          <p:nvPr/>
        </p:nvSpPr>
        <p:spPr>
          <a:xfrm>
            <a:off x="7320988" y="3070238"/>
            <a:ext cx="444808" cy="1645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Verify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slot.horizon.3.step.6"/>
          <p:cNvSpPr txBox="1"/>
          <p:nvPr/>
        </p:nvSpPr>
        <p:spPr>
          <a:xfrm>
            <a:off x="7456923" y="3615977"/>
            <a:ext cx="420537" cy="1645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Assess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slot.horizon.3.step.7"/>
          <p:cNvSpPr txBox="1"/>
          <p:nvPr/>
        </p:nvSpPr>
        <p:spPr>
          <a:xfrm>
            <a:off x="7882209" y="3172880"/>
            <a:ext cx="529391" cy="1645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Reserve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slot.horizon.3.party.1"/>
          <p:cNvSpPr txBox="1"/>
          <p:nvPr/>
        </p:nvSpPr>
        <p:spPr>
          <a:xfrm>
            <a:off x="6159062" y="2852928"/>
            <a:ext cx="420537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Client</a:t>
            </a:r>
            <a:endParaRPr lang="en-US" sz="8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132" name="struct.group.30"/>
          <p:cNvGrpSpPr/>
          <p:nvPr/>
        </p:nvGrpSpPr>
        <p:grpSpPr>
          <a:xfrm>
            <a:off x="6261444" y="3118414"/>
            <a:ext cx="216011" cy="216011"/>
            <a:chOff x="6260314" y="3118414"/>
            <a:chExt cx="216011" cy="216011"/>
          </a:xfrm>
          <a:effectLst/>
        </p:grpSpPr>
        <p:sp>
          <p:nvSpPr>
            <p:cNvPr id="133" name="struct.horizon.3.node.12"/>
            <p:cNvSpPr/>
            <p:nvPr/>
          </p:nvSpPr>
          <p:spPr>
            <a:xfrm>
              <a:off x="6260314" y="3118414"/>
              <a:ext cx="216011" cy="21601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struct.group.31"/>
          <p:cNvGrpSpPr/>
          <p:nvPr/>
        </p:nvGrpSpPr>
        <p:grpSpPr>
          <a:xfrm>
            <a:off x="6261444" y="3814662"/>
            <a:ext cx="216011" cy="216010"/>
            <a:chOff x="6260314" y="3814662"/>
            <a:chExt cx="216011" cy="216010"/>
          </a:xfrm>
          <a:effectLst/>
        </p:grpSpPr>
        <p:sp>
          <p:nvSpPr>
            <p:cNvPr id="135" name="struct.horizon.3.node.13"/>
            <p:cNvSpPr/>
            <p:nvPr/>
          </p:nvSpPr>
          <p:spPr>
            <a:xfrm>
              <a:off x="6260314" y="3814662"/>
              <a:ext cx="216011" cy="21601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slot.horizon.3.party.2"/>
          <p:cNvSpPr txBox="1"/>
          <p:nvPr/>
        </p:nvSpPr>
        <p:spPr>
          <a:xfrm>
            <a:off x="8511764" y="2852928"/>
            <a:ext cx="420537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Vendor</a:t>
            </a:r>
            <a:endParaRPr lang="en-US" sz="8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137" name="struct.group.32"/>
          <p:cNvGrpSpPr/>
          <p:nvPr/>
        </p:nvGrpSpPr>
        <p:grpSpPr>
          <a:xfrm>
            <a:off x="8614192" y="3118414"/>
            <a:ext cx="216010" cy="216011"/>
            <a:chOff x="8613547" y="3118414"/>
            <a:chExt cx="216010" cy="216011"/>
          </a:xfrm>
          <a:effectLst/>
        </p:grpSpPr>
        <p:sp>
          <p:nvSpPr>
            <p:cNvPr id="138" name="struct.horizon.3.node.14"/>
            <p:cNvSpPr/>
            <p:nvPr/>
          </p:nvSpPr>
          <p:spPr>
            <a:xfrm>
              <a:off x="8613547" y="3118414"/>
              <a:ext cx="216010" cy="21601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struct.group.33"/>
          <p:cNvGrpSpPr/>
          <p:nvPr/>
        </p:nvGrpSpPr>
        <p:grpSpPr>
          <a:xfrm>
            <a:off x="8614192" y="3814662"/>
            <a:ext cx="216010" cy="216010"/>
            <a:chOff x="8613547" y="3814662"/>
            <a:chExt cx="216010" cy="216010"/>
          </a:xfrm>
          <a:effectLst/>
        </p:grpSpPr>
        <p:sp>
          <p:nvSpPr>
            <p:cNvPr id="140" name="struct.horizon.3.node.15"/>
            <p:cNvSpPr/>
            <p:nvPr/>
          </p:nvSpPr>
          <p:spPr>
            <a:xfrm>
              <a:off x="8613547" y="3814662"/>
              <a:ext cx="216010" cy="21601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41" name="struct.line.8"/>
          <p:cNvCxnSpPr/>
          <p:nvPr/>
        </p:nvCxnSpPr>
        <p:spPr>
          <a:xfrm>
            <a:off x="7526444" y="4956330"/>
            <a:ext cx="0" cy="224400"/>
          </a:xfrm>
          <a:prstGeom prst="straightConnector1">
            <a:avLst/>
          </a:prstGeom>
          <a:noFill/>
          <a:ln w="14250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cxnSp>
        <p:nvCxnSpPr>
          <p:cNvPr id="142" name="struct.line.9"/>
          <p:cNvCxnSpPr/>
          <p:nvPr/>
        </p:nvCxnSpPr>
        <p:spPr>
          <a:xfrm>
            <a:off x="6477432" y="3226419"/>
            <a:ext cx="375223" cy="226500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43" name="struct.line.10"/>
          <p:cNvCxnSpPr/>
          <p:nvPr/>
        </p:nvCxnSpPr>
        <p:spPr>
          <a:xfrm rot="10800000" flipH="1">
            <a:off x="6477432" y="3613067"/>
            <a:ext cx="375223" cy="309600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44" name="struct.line.11"/>
          <p:cNvCxnSpPr/>
          <p:nvPr/>
        </p:nvCxnSpPr>
        <p:spPr>
          <a:xfrm rot="10800000" flipH="1">
            <a:off x="8219740" y="3226381"/>
            <a:ext cx="394419" cy="303600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45" name="struct.line.12"/>
          <p:cNvCxnSpPr/>
          <p:nvPr/>
        </p:nvCxnSpPr>
        <p:spPr>
          <a:xfrm>
            <a:off x="8219740" y="3690353"/>
            <a:ext cx="394419" cy="232200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sp>
        <p:nvSpPr>
          <p:cNvPr id="146" name="slot.horizon.3.net.head"/>
          <p:cNvSpPr txBox="1"/>
          <p:nvPr/>
        </p:nvSpPr>
        <p:spPr>
          <a:xfrm>
            <a:off x="6734696" y="2203704"/>
            <a:ext cx="786222" cy="1645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Agent led</a:t>
            </a:r>
            <a:endParaRPr lang="en-US" sz="9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struct.horizon.3.node.16"/>
          <p:cNvSpPr/>
          <p:nvPr/>
        </p:nvSpPr>
        <p:spPr>
          <a:xfrm>
            <a:off x="7822415" y="4512096"/>
            <a:ext cx="227100" cy="2271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72150" tIns="72150" rIns="72150" bIns="721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105"/>
              <a:buFont typeface="Arial"/>
              <a:buNone/>
              <a:tabLst/>
              <a:defRPr/>
            </a:pPr>
            <a:endParaRPr kumimoji="0" sz="1105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slot.horizon.4.label"/>
          <p:cNvSpPr/>
          <p:nvPr/>
        </p:nvSpPr>
        <p:spPr>
          <a:xfrm>
            <a:off x="8887160" y="1051380"/>
            <a:ext cx="2908500" cy="385800"/>
          </a:xfrm>
          <a:prstGeom prst="chevron">
            <a:avLst>
              <a:gd name="adj" fmla="val 34079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Year 3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slot.horizon.4.team"/>
          <p:cNvSpPr/>
          <p:nvPr/>
        </p:nvSpPr>
        <p:spPr>
          <a:xfrm>
            <a:off x="9053136" y="1673352"/>
            <a:ext cx="566811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2 pods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50" name="struct.line.13"/>
          <p:cNvCxnSpPr/>
          <p:nvPr/>
        </p:nvCxnSpPr>
        <p:spPr>
          <a:xfrm>
            <a:off x="10341464" y="2057792"/>
            <a:ext cx="0" cy="179273"/>
          </a:xfrm>
          <a:prstGeom prst="straightConnector1">
            <a:avLst/>
          </a:prstGeom>
          <a:noFill/>
          <a:ln w="14250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151" name="struct.horizon.4.tray"/>
          <p:cNvSpPr/>
          <p:nvPr/>
        </p:nvSpPr>
        <p:spPr>
          <a:xfrm rot="5400000">
            <a:off x="10161793" y="4134065"/>
            <a:ext cx="459000" cy="2625958"/>
          </a:xfrm>
          <a:prstGeom prst="roundRect">
            <a:avLst>
              <a:gd name="adj" fmla="val 9961"/>
            </a:avLst>
          </a:prstGeom>
          <a:solidFill>
            <a:schemeClr val="bg1">
              <a:lumMod val="95000"/>
            </a:schemeClr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struct.dot.8"/>
          <p:cNvSpPr/>
          <p:nvPr/>
        </p:nvSpPr>
        <p:spPr>
          <a:xfrm>
            <a:off x="10630548" y="5288670"/>
            <a:ext cx="227100" cy="2271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72150" tIns="72150" rIns="72150" bIns="721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105"/>
              <a:buFont typeface="Arial"/>
              <a:buNone/>
              <a:tabLst/>
              <a:defRPr/>
            </a:pPr>
            <a:endParaRPr kumimoji="0" sz="1105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slot.horizon.4.tool.4"/>
          <p:cNvSpPr txBox="1"/>
          <p:nvPr/>
        </p:nvSpPr>
        <p:spPr>
          <a:xfrm>
            <a:off x="10538729" y="5486400"/>
            <a:ext cx="420537" cy="14630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Audit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slot.horizon.4.tool.3"/>
          <p:cNvSpPr txBox="1"/>
          <p:nvPr/>
        </p:nvSpPr>
        <p:spPr>
          <a:xfrm>
            <a:off x="9996601" y="5486400"/>
            <a:ext cx="420537" cy="14630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Models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slot.horizon.4.tool.2"/>
          <p:cNvSpPr txBox="1"/>
          <p:nvPr/>
        </p:nvSpPr>
        <p:spPr>
          <a:xfrm>
            <a:off x="9499271" y="5486400"/>
            <a:ext cx="420537" cy="14630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Rules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slot.horizon.4.tool.1"/>
          <p:cNvSpPr txBox="1"/>
          <p:nvPr/>
        </p:nvSpPr>
        <p:spPr>
          <a:xfrm>
            <a:off x="9063192" y="5486400"/>
            <a:ext cx="420537" cy="14630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Agents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slot.horizon.4.tool.note"/>
          <p:cNvSpPr txBox="1"/>
          <p:nvPr/>
        </p:nvSpPr>
        <p:spPr>
          <a:xfrm>
            <a:off x="11114683" y="5276088"/>
            <a:ext cx="530243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Full</a:t>
            </a:r>
            <a:endParaRPr lang="en-US" sz="8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audit log</a:t>
            </a:r>
            <a:endParaRPr lang="en-US" sz="8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struct.horizon.4.strip"/>
          <p:cNvSpPr/>
          <p:nvPr/>
        </p:nvSpPr>
        <p:spPr>
          <a:xfrm rot="5400000">
            <a:off x="10268442" y="4817221"/>
            <a:ext cx="245700" cy="2625958"/>
          </a:xfrm>
          <a:prstGeom prst="roundRect">
            <a:avLst>
              <a:gd name="adj" fmla="val 18608"/>
            </a:avLst>
          </a:prstGeom>
          <a:solidFill>
            <a:schemeClr val="bg1"/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struct.line.14"/>
          <p:cNvCxnSpPr/>
          <p:nvPr/>
        </p:nvCxnSpPr>
        <p:spPr>
          <a:xfrm>
            <a:off x="10361087" y="5724656"/>
            <a:ext cx="0" cy="235800"/>
          </a:xfrm>
          <a:prstGeom prst="straightConnector1">
            <a:avLst/>
          </a:prstGeom>
          <a:noFill/>
          <a:ln w="14250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160" name="slot.horizon.4.outcome"/>
          <p:cNvSpPr/>
          <p:nvPr/>
        </p:nvSpPr>
        <p:spPr>
          <a:xfrm>
            <a:off x="9633660" y="6025896"/>
            <a:ext cx="1919844" cy="201168"/>
          </a:xfrm>
          <a:prstGeom prst="roundRect">
            <a:avLst>
              <a:gd name="adj" fmla="val 22727"/>
            </a:avLst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People resolve exceptions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struct.horizon.4.net"/>
          <p:cNvSpPr/>
          <p:nvPr/>
        </p:nvSpPr>
        <p:spPr>
          <a:xfrm>
            <a:off x="9471474" y="2289398"/>
            <a:ext cx="1846119" cy="2637300"/>
          </a:xfrm>
          <a:prstGeom prst="roundRect">
            <a:avLst>
              <a:gd name="adj" fmla="val 2476"/>
            </a:avLst>
          </a:prstGeom>
          <a:noFill/>
          <a:ln w="952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sz="625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2" name="struct.group.34"/>
          <p:cNvGrpSpPr/>
          <p:nvPr/>
        </p:nvGrpSpPr>
        <p:grpSpPr>
          <a:xfrm>
            <a:off x="9758919" y="3425579"/>
            <a:ext cx="1099902" cy="649165"/>
            <a:chOff x="9758488" y="3425579"/>
            <a:chExt cx="1100129" cy="649165"/>
          </a:xfrm>
          <a:effectLst/>
        </p:grpSpPr>
        <p:sp>
          <p:nvSpPr>
            <p:cNvPr id="163" name="struct.link.23"/>
            <p:cNvSpPr/>
            <p:nvPr/>
          </p:nvSpPr>
          <p:spPr>
            <a:xfrm>
              <a:off x="9778309" y="3425579"/>
              <a:ext cx="1067307" cy="139462"/>
            </a:xfrm>
            <a:custGeom>
              <a:avLst/>
              <a:gdLst/>
              <a:ahLst/>
              <a:cxnLst/>
              <a:rect l="l" t="t" r="r" b="b"/>
              <a:pathLst>
                <a:path w="4492315" h="527469" extrusionOk="0">
                  <a:moveTo>
                    <a:pt x="0" y="338415"/>
                  </a:moveTo>
                  <a:lnTo>
                    <a:pt x="2259951" y="0"/>
                  </a:lnTo>
                  <a:lnTo>
                    <a:pt x="4492316" y="527469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5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struct.link.24"/>
            <p:cNvSpPr/>
            <p:nvPr/>
          </p:nvSpPr>
          <p:spPr>
            <a:xfrm>
              <a:off x="10494749" y="3615739"/>
              <a:ext cx="357367" cy="447561"/>
            </a:xfrm>
            <a:custGeom>
              <a:avLst/>
              <a:gdLst/>
              <a:ahLst/>
              <a:cxnLst/>
              <a:rect l="l" t="t" r="r" b="b"/>
              <a:pathLst>
                <a:path w="1504166" h="1692746" extrusionOk="0">
                  <a:moveTo>
                    <a:pt x="1504166" y="0"/>
                  </a:moveTo>
                  <a:lnTo>
                    <a:pt x="0" y="1692746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5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struct.link.25"/>
            <p:cNvSpPr/>
            <p:nvPr/>
          </p:nvSpPr>
          <p:spPr>
            <a:xfrm>
              <a:off x="9833883" y="4058853"/>
              <a:ext cx="632413" cy="15417"/>
            </a:xfrm>
            <a:custGeom>
              <a:avLst/>
              <a:gdLst/>
              <a:ahLst/>
              <a:cxnLst/>
              <a:rect l="l" t="t" r="r" b="b"/>
              <a:pathLst>
                <a:path w="2661838" h="58308" extrusionOk="0">
                  <a:moveTo>
                    <a:pt x="2661839" y="58309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5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struct.link.26"/>
            <p:cNvSpPr/>
            <p:nvPr/>
          </p:nvSpPr>
          <p:spPr>
            <a:xfrm>
              <a:off x="9760193" y="3533200"/>
              <a:ext cx="57812" cy="502943"/>
            </a:xfrm>
            <a:custGeom>
              <a:avLst/>
              <a:gdLst/>
              <a:ahLst/>
              <a:cxnLst/>
              <a:rect l="l" t="t" r="r" b="b"/>
              <a:pathLst>
                <a:path w="243330" h="1902209" extrusionOk="0">
                  <a:moveTo>
                    <a:pt x="243331" y="1902209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5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7" name="struct.link.27"/>
          <p:cNvSpPr/>
          <p:nvPr/>
        </p:nvSpPr>
        <p:spPr>
          <a:xfrm>
            <a:off x="9894700" y="2996750"/>
            <a:ext cx="471693" cy="410421"/>
          </a:xfrm>
          <a:custGeom>
            <a:avLst/>
            <a:gdLst/>
            <a:ahLst/>
            <a:cxnLst/>
            <a:rect l="l" t="t" r="r" b="b"/>
            <a:pathLst>
              <a:path w="1945526" h="1465790" extrusionOk="0">
                <a:moveTo>
                  <a:pt x="0" y="0"/>
                </a:moveTo>
                <a:lnTo>
                  <a:pt x="1945526" y="1465791"/>
                </a:lnTo>
              </a:path>
            </a:pathLst>
          </a:cu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600"/>
              <a:buFont typeface="Arial"/>
              <a:buNone/>
              <a:tabLst/>
              <a:defRPr/>
            </a:pPr>
            <a:endParaRPr kumimoji="0" sz="5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struct.link.28"/>
          <p:cNvSpPr/>
          <p:nvPr/>
        </p:nvSpPr>
        <p:spPr>
          <a:xfrm>
            <a:off x="10388343" y="3072806"/>
            <a:ext cx="433351" cy="331064"/>
          </a:xfrm>
          <a:custGeom>
            <a:avLst/>
            <a:gdLst/>
            <a:ahLst/>
            <a:cxnLst/>
            <a:rect l="l" t="t" r="r" b="b"/>
            <a:pathLst>
              <a:path w="2039718" h="1471397" extrusionOk="0">
                <a:moveTo>
                  <a:pt x="0" y="1471398"/>
                </a:moveTo>
                <a:lnTo>
                  <a:pt x="2039719" y="0"/>
                </a:lnTo>
              </a:path>
            </a:pathLst>
          </a:cu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600"/>
              <a:buFont typeface="Arial"/>
              <a:buNone/>
              <a:tabLst/>
              <a:defRPr/>
            </a:pPr>
            <a:endParaRPr kumimoji="0" sz="5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struct.link.29"/>
          <p:cNvSpPr/>
          <p:nvPr/>
        </p:nvSpPr>
        <p:spPr>
          <a:xfrm>
            <a:off x="9887285" y="2765962"/>
            <a:ext cx="927574" cy="210401"/>
          </a:xfrm>
          <a:custGeom>
            <a:avLst/>
            <a:gdLst/>
            <a:ahLst/>
            <a:cxnLst/>
            <a:rect l="l" t="t" r="r" b="b"/>
            <a:pathLst>
              <a:path w="4078092" h="744781" extrusionOk="0">
                <a:moveTo>
                  <a:pt x="4078092" y="734914"/>
                </a:moveTo>
                <a:lnTo>
                  <a:pt x="1926688" y="0"/>
                </a:lnTo>
                <a:lnTo>
                  <a:pt x="0" y="744782"/>
                </a:lnTo>
              </a:path>
            </a:pathLst>
          </a:cu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600"/>
              <a:buFont typeface="Arial"/>
              <a:buNone/>
              <a:tabLst/>
              <a:defRPr/>
            </a:pPr>
            <a:endParaRPr kumimoji="0" sz="5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0" name="struct.group.35"/>
          <p:cNvGrpSpPr/>
          <p:nvPr/>
        </p:nvGrpSpPr>
        <p:grpSpPr>
          <a:xfrm>
            <a:off x="10353564" y="2820278"/>
            <a:ext cx="8670" cy="499004"/>
            <a:chOff x="10353256" y="2820278"/>
            <a:chExt cx="8672" cy="499004"/>
          </a:xfrm>
          <a:effectLst/>
        </p:grpSpPr>
        <p:sp>
          <p:nvSpPr>
            <p:cNvPr id="171" name="struct.link.30"/>
            <p:cNvSpPr/>
            <p:nvPr/>
          </p:nvSpPr>
          <p:spPr>
            <a:xfrm>
              <a:off x="10353588" y="2832838"/>
              <a:ext cx="8103" cy="467680"/>
            </a:xfrm>
            <a:custGeom>
              <a:avLst/>
              <a:gdLst/>
              <a:ahLst/>
              <a:cxnLst/>
              <a:rect l="l" t="t" r="r" b="b"/>
              <a:pathLst>
                <a:path w="38349" h="2079377" extrusionOk="0">
                  <a:moveTo>
                    <a:pt x="0" y="2079378"/>
                  </a:moveTo>
                  <a:lnTo>
                    <a:pt x="38350" y="0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5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" name="struct.group.36"/>
          <p:cNvGrpSpPr/>
          <p:nvPr/>
        </p:nvGrpSpPr>
        <p:grpSpPr>
          <a:xfrm>
            <a:off x="9852815" y="3518292"/>
            <a:ext cx="486275" cy="299495"/>
            <a:chOff x="9852404" y="3518292"/>
            <a:chExt cx="486375" cy="299495"/>
          </a:xfrm>
          <a:effectLst/>
        </p:grpSpPr>
        <p:sp>
          <p:nvSpPr>
            <p:cNvPr id="173" name="struct.link.31"/>
            <p:cNvSpPr/>
            <p:nvPr/>
          </p:nvSpPr>
          <p:spPr>
            <a:xfrm>
              <a:off x="9866918" y="3598638"/>
              <a:ext cx="302051" cy="212290"/>
            </a:xfrm>
            <a:custGeom>
              <a:avLst/>
              <a:gdLst/>
              <a:ahLst/>
              <a:cxnLst/>
              <a:rect l="l" t="t" r="r" b="b"/>
              <a:pathLst>
                <a:path w="1428139" h="943928" extrusionOk="0">
                  <a:moveTo>
                    <a:pt x="0" y="0"/>
                  </a:moveTo>
                  <a:lnTo>
                    <a:pt x="1428140" y="943928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5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struct.link.32"/>
            <p:cNvSpPr/>
            <p:nvPr/>
          </p:nvSpPr>
          <p:spPr>
            <a:xfrm>
              <a:off x="10187374" y="3529136"/>
              <a:ext cx="145618" cy="272461"/>
            </a:xfrm>
            <a:custGeom>
              <a:avLst/>
              <a:gdLst/>
              <a:ahLst/>
              <a:cxnLst/>
              <a:rect l="l" t="t" r="r" b="b"/>
              <a:pathLst>
                <a:path w="688503" h="1211475" extrusionOk="0">
                  <a:moveTo>
                    <a:pt x="0" y="1211475"/>
                  </a:moveTo>
                  <a:lnTo>
                    <a:pt x="688503" y="0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5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" name="struct.group.37"/>
          <p:cNvGrpSpPr/>
          <p:nvPr/>
        </p:nvGrpSpPr>
        <p:grpSpPr>
          <a:xfrm>
            <a:off x="9817512" y="3782919"/>
            <a:ext cx="765286" cy="300676"/>
            <a:chOff x="9817094" y="3782919"/>
            <a:chExt cx="765444" cy="300676"/>
          </a:xfrm>
          <a:effectLst/>
        </p:grpSpPr>
        <p:sp>
          <p:nvSpPr>
            <p:cNvPr id="176" name="struct.link.33"/>
            <p:cNvSpPr/>
            <p:nvPr/>
          </p:nvSpPr>
          <p:spPr>
            <a:xfrm>
              <a:off x="9834916" y="3792974"/>
              <a:ext cx="327164" cy="275603"/>
            </a:xfrm>
            <a:custGeom>
              <a:avLst/>
              <a:gdLst/>
              <a:ahLst/>
              <a:cxnLst/>
              <a:rect l="l" t="t" r="r" b="b"/>
              <a:pathLst>
                <a:path w="1210375" h="958953" extrusionOk="0">
                  <a:moveTo>
                    <a:pt x="0" y="958954"/>
                  </a:moveTo>
                  <a:lnTo>
                    <a:pt x="1210375" y="0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5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16850" tIns="58425" rIns="116850" bIns="58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767"/>
                <a:buFont typeface="Arial"/>
                <a:buNone/>
                <a:tabLst/>
                <a:defRPr/>
              </a:pPr>
              <a:endParaRPr kumimoji="0" sz="639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struct.link.34"/>
            <p:cNvSpPr/>
            <p:nvPr/>
          </p:nvSpPr>
          <p:spPr>
            <a:xfrm>
              <a:off x="10192996" y="3796454"/>
              <a:ext cx="376872" cy="266967"/>
            </a:xfrm>
            <a:custGeom>
              <a:avLst/>
              <a:gdLst/>
              <a:ahLst/>
              <a:cxnLst/>
              <a:rect l="l" t="t" r="r" b="b"/>
              <a:pathLst>
                <a:path w="1394275" h="928902" extrusionOk="0">
                  <a:moveTo>
                    <a:pt x="0" y="0"/>
                  </a:moveTo>
                  <a:lnTo>
                    <a:pt x="1394275" y="928903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5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16850" tIns="58425" rIns="116850" bIns="58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767"/>
                <a:buFont typeface="Arial"/>
                <a:buNone/>
                <a:tabLst/>
                <a:defRPr/>
              </a:pPr>
              <a:endParaRPr kumimoji="0" sz="639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8" name="struct.group.38"/>
          <p:cNvGrpSpPr/>
          <p:nvPr/>
        </p:nvGrpSpPr>
        <p:grpSpPr>
          <a:xfrm>
            <a:off x="10217822" y="3564754"/>
            <a:ext cx="744336" cy="211407"/>
            <a:chOff x="10217486" y="3564754"/>
            <a:chExt cx="744490" cy="211407"/>
          </a:xfrm>
          <a:effectLst/>
        </p:grpSpPr>
        <p:sp>
          <p:nvSpPr>
            <p:cNvPr id="179" name="struct.link.35"/>
            <p:cNvSpPr/>
            <p:nvPr/>
          </p:nvSpPr>
          <p:spPr>
            <a:xfrm rot="21170153">
              <a:off x="10222618" y="3615937"/>
              <a:ext cx="726793" cy="111145"/>
            </a:xfrm>
            <a:custGeom>
              <a:avLst/>
              <a:gdLst/>
              <a:ahLst/>
              <a:cxnLst/>
              <a:rect l="l" t="t" r="r" b="b"/>
              <a:pathLst>
                <a:path w="2665875" h="494278" extrusionOk="0">
                  <a:moveTo>
                    <a:pt x="2665876" y="0"/>
                  </a:moveTo>
                  <a:lnTo>
                    <a:pt x="0" y="494279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5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0" name="struct.group.39"/>
          <p:cNvGrpSpPr/>
          <p:nvPr/>
        </p:nvGrpSpPr>
        <p:grpSpPr>
          <a:xfrm>
            <a:off x="10421187" y="3458394"/>
            <a:ext cx="542358" cy="577128"/>
            <a:chOff x="10420893" y="3458394"/>
            <a:chExt cx="542470" cy="577128"/>
          </a:xfrm>
          <a:effectLst/>
        </p:grpSpPr>
        <p:sp>
          <p:nvSpPr>
            <p:cNvPr id="181" name="struct.link.36"/>
            <p:cNvSpPr/>
            <p:nvPr/>
          </p:nvSpPr>
          <p:spPr>
            <a:xfrm>
              <a:off x="10431631" y="3469811"/>
              <a:ext cx="515504" cy="548521"/>
            </a:xfrm>
            <a:custGeom>
              <a:avLst/>
              <a:gdLst/>
              <a:ahLst/>
              <a:cxnLst/>
              <a:rect l="l" t="t" r="r" b="b"/>
              <a:pathLst>
                <a:path w="1916371" h="1917907" extrusionOk="0">
                  <a:moveTo>
                    <a:pt x="1916371" y="1917907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5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16275" tIns="58125" rIns="116275" bIns="581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763"/>
                <a:buFont typeface="Arial"/>
                <a:buNone/>
                <a:tabLst/>
                <a:defRPr/>
              </a:pPr>
              <a:endParaRPr kumimoji="0" sz="636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2" name="struct.group.40"/>
          <p:cNvGrpSpPr/>
          <p:nvPr/>
        </p:nvGrpSpPr>
        <p:grpSpPr>
          <a:xfrm>
            <a:off x="10385969" y="3501470"/>
            <a:ext cx="176673" cy="492236"/>
            <a:chOff x="10385668" y="3501470"/>
            <a:chExt cx="176709" cy="492236"/>
          </a:xfrm>
          <a:effectLst/>
        </p:grpSpPr>
        <p:sp>
          <p:nvSpPr>
            <p:cNvPr id="183" name="struct.link.37"/>
            <p:cNvSpPr/>
            <p:nvPr/>
          </p:nvSpPr>
          <p:spPr>
            <a:xfrm rot="21149909">
              <a:off x="10438610" y="3505439"/>
              <a:ext cx="92549" cy="484298"/>
            </a:xfrm>
            <a:custGeom>
              <a:avLst/>
              <a:gdLst/>
              <a:ahLst/>
              <a:cxnLst/>
              <a:rect l="l" t="t" r="r" b="b"/>
              <a:pathLst>
                <a:path w="437771" h="2154057" extrusionOk="0">
                  <a:moveTo>
                    <a:pt x="437771" y="2154058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7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4" name="struct.group.41"/>
          <p:cNvGrpSpPr/>
          <p:nvPr/>
        </p:nvGrpSpPr>
        <p:grpSpPr>
          <a:xfrm>
            <a:off x="9758914" y="2996787"/>
            <a:ext cx="98477" cy="460081"/>
            <a:chOff x="9758483" y="2996787"/>
            <a:chExt cx="98497" cy="460081"/>
          </a:xfrm>
          <a:effectLst/>
        </p:grpSpPr>
        <p:sp>
          <p:nvSpPr>
            <p:cNvPr id="185" name="struct.link.38"/>
            <p:cNvSpPr/>
            <p:nvPr/>
          </p:nvSpPr>
          <p:spPr>
            <a:xfrm>
              <a:off x="9763306" y="3012143"/>
              <a:ext cx="90520" cy="421689"/>
            </a:xfrm>
            <a:custGeom>
              <a:avLst/>
              <a:gdLst/>
              <a:ahLst/>
              <a:cxnLst/>
              <a:rect l="l" t="t" r="r" b="b"/>
              <a:pathLst>
                <a:path w="109442" h="1539573" extrusionOk="0">
                  <a:moveTo>
                    <a:pt x="0" y="1539574"/>
                  </a:moveTo>
                  <a:lnTo>
                    <a:pt x="109443" y="0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7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6" name="struct.group.42"/>
          <p:cNvGrpSpPr/>
          <p:nvPr/>
        </p:nvGrpSpPr>
        <p:grpSpPr>
          <a:xfrm>
            <a:off x="10943275" y="3072261"/>
            <a:ext cx="16266" cy="447679"/>
            <a:chOff x="10943089" y="3072261"/>
            <a:chExt cx="16269" cy="447679"/>
          </a:xfrm>
          <a:effectLst/>
        </p:grpSpPr>
        <p:sp>
          <p:nvSpPr>
            <p:cNvPr id="187" name="struct.link.39"/>
            <p:cNvSpPr/>
            <p:nvPr/>
          </p:nvSpPr>
          <p:spPr>
            <a:xfrm>
              <a:off x="10943753" y="3091024"/>
              <a:ext cx="15178" cy="416358"/>
            </a:xfrm>
            <a:custGeom>
              <a:avLst/>
              <a:gdLst/>
              <a:ahLst/>
              <a:cxnLst/>
              <a:rect l="l" t="t" r="r" b="b"/>
              <a:pathLst>
                <a:path w="71765" h="1851301" extrusionOk="0">
                  <a:moveTo>
                    <a:pt x="0" y="0"/>
                  </a:moveTo>
                  <a:lnTo>
                    <a:pt x="71766" y="1851301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7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8" name="struct.group.43"/>
          <p:cNvGrpSpPr/>
          <p:nvPr/>
        </p:nvGrpSpPr>
        <p:grpSpPr>
          <a:xfrm>
            <a:off x="10574083" y="4091073"/>
            <a:ext cx="370942" cy="5901"/>
            <a:chOff x="10573821" y="4091073"/>
            <a:chExt cx="371019" cy="5901"/>
          </a:xfrm>
          <a:effectLst/>
        </p:grpSpPr>
        <p:sp>
          <p:nvSpPr>
            <p:cNvPr id="189" name="struct.link.40"/>
            <p:cNvSpPr/>
            <p:nvPr/>
          </p:nvSpPr>
          <p:spPr>
            <a:xfrm>
              <a:off x="10585537" y="4091325"/>
              <a:ext cx="341800" cy="5447"/>
            </a:xfrm>
            <a:custGeom>
              <a:avLst/>
              <a:gdLst/>
              <a:ahLst/>
              <a:cxnLst/>
              <a:rect l="l" t="t" r="r" b="b"/>
              <a:pathLst>
                <a:path w="1616076" h="24220" extrusionOk="0">
                  <a:moveTo>
                    <a:pt x="1616077" y="0"/>
                  </a:moveTo>
                  <a:lnTo>
                    <a:pt x="0" y="24221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5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" name="struct.group.44"/>
          <p:cNvGrpSpPr/>
          <p:nvPr/>
        </p:nvGrpSpPr>
        <p:grpSpPr>
          <a:xfrm>
            <a:off x="10963571" y="3666651"/>
            <a:ext cx="15413" cy="375554"/>
            <a:chOff x="10963389" y="3666651"/>
            <a:chExt cx="15416" cy="375554"/>
          </a:xfrm>
          <a:effectLst/>
        </p:grpSpPr>
        <p:sp>
          <p:nvSpPr>
            <p:cNvPr id="191" name="struct.link.41"/>
            <p:cNvSpPr/>
            <p:nvPr/>
          </p:nvSpPr>
          <p:spPr>
            <a:xfrm>
              <a:off x="10963389" y="3666651"/>
              <a:ext cx="14894" cy="363146"/>
            </a:xfrm>
            <a:custGeom>
              <a:avLst/>
              <a:gdLst/>
              <a:ahLst/>
              <a:cxnLst/>
              <a:rect l="l" t="t" r="r" b="b"/>
              <a:pathLst>
                <a:path w="70420" h="1614702" extrusionOk="0">
                  <a:moveTo>
                    <a:pt x="0" y="0"/>
                  </a:moveTo>
                  <a:lnTo>
                    <a:pt x="70420" y="1614702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7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92" name="struct.line.15"/>
          <p:cNvCxnSpPr/>
          <p:nvPr/>
        </p:nvCxnSpPr>
        <p:spPr>
          <a:xfrm>
            <a:off x="9811941" y="4195845"/>
            <a:ext cx="278043" cy="21870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93" name="struct.line.16"/>
          <p:cNvCxnSpPr/>
          <p:nvPr/>
        </p:nvCxnSpPr>
        <p:spPr>
          <a:xfrm rot="10800000" flipH="1">
            <a:off x="10250342" y="4184864"/>
            <a:ext cx="210856" cy="22980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sp>
        <p:nvSpPr>
          <p:cNvPr id="194" name="struct.horizon.4.node.1"/>
          <p:cNvSpPr/>
          <p:nvPr/>
        </p:nvSpPr>
        <p:spPr>
          <a:xfrm>
            <a:off x="10056773" y="4381450"/>
            <a:ext cx="226800" cy="2268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112900" tIns="56425" rIns="112900" bIns="56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741"/>
              <a:buFont typeface="Arial"/>
              <a:buNone/>
              <a:tabLst/>
              <a:defRPr/>
            </a:pPr>
            <a:endParaRPr kumimoji="0" sz="617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5" name="struct.group.45"/>
          <p:cNvGrpSpPr/>
          <p:nvPr/>
        </p:nvGrpSpPr>
        <p:grpSpPr>
          <a:xfrm>
            <a:off x="9754327" y="2812765"/>
            <a:ext cx="265371" cy="226727"/>
            <a:chOff x="9753896" y="2812765"/>
            <a:chExt cx="265426" cy="226727"/>
          </a:xfrm>
          <a:effectLst/>
        </p:grpSpPr>
        <p:sp>
          <p:nvSpPr>
            <p:cNvPr id="196" name="struct.horizon.4.node.2"/>
            <p:cNvSpPr/>
            <p:nvPr/>
          </p:nvSpPr>
          <p:spPr>
            <a:xfrm>
              <a:off x="9753896" y="2812765"/>
              <a:ext cx="226728" cy="2267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12900" tIns="56425" rIns="112900" bIns="56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741"/>
                <a:buFont typeface="Arial"/>
                <a:buNone/>
                <a:tabLst/>
                <a:defRPr/>
              </a:pPr>
              <a:endParaRPr kumimoji="0" sz="617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7" name="struct.group.46"/>
            <p:cNvGrpSpPr/>
            <p:nvPr/>
          </p:nvGrpSpPr>
          <p:grpSpPr>
            <a:xfrm>
              <a:off x="9809098" y="2933152"/>
              <a:ext cx="109609" cy="66995"/>
              <a:chOff x="9809098" y="2933152"/>
              <a:chExt cx="109609" cy="66995"/>
            </a:xfrm>
          </p:grpSpPr>
        </p:grpSp>
      </p:grpSp>
      <p:grpSp>
        <p:nvGrpSpPr>
          <p:cNvPr id="198" name="struct.group.47"/>
          <p:cNvGrpSpPr/>
          <p:nvPr/>
        </p:nvGrpSpPr>
        <p:grpSpPr>
          <a:xfrm>
            <a:off x="9653908" y="3419537"/>
            <a:ext cx="226727" cy="226727"/>
            <a:chOff x="9653479" y="3419537"/>
            <a:chExt cx="226727" cy="226727"/>
          </a:xfrm>
          <a:effectLst/>
        </p:grpSpPr>
        <p:sp>
          <p:nvSpPr>
            <p:cNvPr id="199" name="struct.horizon.4.node.3"/>
            <p:cNvSpPr/>
            <p:nvPr/>
          </p:nvSpPr>
          <p:spPr>
            <a:xfrm>
              <a:off x="9653479" y="3419537"/>
              <a:ext cx="226727" cy="2267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12900" tIns="56425" rIns="112900" bIns="56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741"/>
                <a:buFont typeface="Arial"/>
                <a:buNone/>
                <a:tabLst/>
                <a:defRPr/>
              </a:pPr>
              <a:endParaRPr kumimoji="0" sz="617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0" name="struct.group.48"/>
            <p:cNvGrpSpPr/>
            <p:nvPr/>
          </p:nvGrpSpPr>
          <p:grpSpPr>
            <a:xfrm>
              <a:off x="9708068" y="3545956"/>
              <a:ext cx="109609" cy="66995"/>
              <a:chOff x="9708068" y="3545956"/>
              <a:chExt cx="109609" cy="66995"/>
            </a:xfrm>
          </p:grpSpPr>
        </p:grpSp>
      </p:grpSp>
      <p:grpSp>
        <p:nvGrpSpPr>
          <p:cNvPr id="201" name="struct.group.49"/>
          <p:cNvGrpSpPr/>
          <p:nvPr/>
        </p:nvGrpSpPr>
        <p:grpSpPr>
          <a:xfrm>
            <a:off x="9698577" y="3969118"/>
            <a:ext cx="226727" cy="226727"/>
            <a:chOff x="9698157" y="3969118"/>
            <a:chExt cx="226727" cy="226727"/>
          </a:xfrm>
          <a:effectLst/>
        </p:grpSpPr>
        <p:sp>
          <p:nvSpPr>
            <p:cNvPr id="202" name="struct.horizon.4.node.4"/>
            <p:cNvSpPr/>
            <p:nvPr/>
          </p:nvSpPr>
          <p:spPr>
            <a:xfrm>
              <a:off x="9698157" y="3969118"/>
              <a:ext cx="226727" cy="2267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12900" tIns="56425" rIns="112900" bIns="56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741"/>
                <a:buFont typeface="Arial"/>
                <a:buNone/>
                <a:tabLst/>
                <a:defRPr/>
              </a:pPr>
              <a:endParaRPr kumimoji="0" sz="617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3" name="struct.group.50"/>
            <p:cNvGrpSpPr/>
            <p:nvPr/>
          </p:nvGrpSpPr>
          <p:grpSpPr>
            <a:xfrm>
              <a:off x="9756902" y="4088284"/>
              <a:ext cx="109609" cy="66995"/>
              <a:chOff x="9756902" y="4088284"/>
              <a:chExt cx="109609" cy="66995"/>
            </a:xfrm>
          </p:grpSpPr>
        </p:grpSp>
      </p:grpSp>
      <p:grpSp>
        <p:nvGrpSpPr>
          <p:cNvPr id="204" name="struct.group.51"/>
          <p:cNvGrpSpPr/>
          <p:nvPr/>
        </p:nvGrpSpPr>
        <p:grpSpPr>
          <a:xfrm>
            <a:off x="10039734" y="3682193"/>
            <a:ext cx="228854" cy="229120"/>
            <a:chOff x="10039385" y="3682193"/>
            <a:chExt cx="228854" cy="229120"/>
          </a:xfrm>
          <a:effectLst/>
        </p:grpSpPr>
        <p:sp>
          <p:nvSpPr>
            <p:cNvPr id="205" name="struct.horizon.4.node.5"/>
            <p:cNvSpPr/>
            <p:nvPr/>
          </p:nvSpPr>
          <p:spPr>
            <a:xfrm>
              <a:off x="10039385" y="3682193"/>
              <a:ext cx="228854" cy="2291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12900" tIns="56425" rIns="112900" bIns="56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741"/>
                <a:buFont typeface="Arial"/>
                <a:buNone/>
                <a:tabLst/>
                <a:defRPr/>
              </a:pPr>
              <a:endParaRPr kumimoji="0" sz="617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6" name="struct.group.52"/>
            <p:cNvGrpSpPr/>
            <p:nvPr/>
          </p:nvGrpSpPr>
          <p:grpSpPr>
            <a:xfrm>
              <a:off x="10096621" y="3805110"/>
              <a:ext cx="109609" cy="66995"/>
              <a:chOff x="10096621" y="3805110"/>
              <a:chExt cx="109609" cy="66995"/>
            </a:xfrm>
          </p:grpSpPr>
        </p:grpSp>
      </p:grpSp>
      <p:grpSp>
        <p:nvGrpSpPr>
          <p:cNvPr id="207" name="struct.group.53"/>
          <p:cNvGrpSpPr/>
          <p:nvPr/>
        </p:nvGrpSpPr>
        <p:grpSpPr>
          <a:xfrm>
            <a:off x="10254063" y="2665675"/>
            <a:ext cx="226727" cy="226727"/>
            <a:chOff x="10253758" y="2665675"/>
            <a:chExt cx="226727" cy="226727"/>
          </a:xfrm>
          <a:effectLst/>
        </p:grpSpPr>
        <p:sp>
          <p:nvSpPr>
            <p:cNvPr id="208" name="struct.horizon.4.node.6"/>
            <p:cNvSpPr/>
            <p:nvPr/>
          </p:nvSpPr>
          <p:spPr>
            <a:xfrm>
              <a:off x="10253758" y="2665675"/>
              <a:ext cx="226727" cy="2267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12900" tIns="56425" rIns="112900" bIns="56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741"/>
                <a:buFont typeface="Arial"/>
                <a:buNone/>
                <a:tabLst/>
                <a:defRPr/>
              </a:pPr>
              <a:endParaRPr kumimoji="0" sz="617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9" name="struct.group.54"/>
            <p:cNvGrpSpPr/>
            <p:nvPr/>
          </p:nvGrpSpPr>
          <p:grpSpPr>
            <a:xfrm>
              <a:off x="10310298" y="2782465"/>
              <a:ext cx="109609" cy="66995"/>
              <a:chOff x="10310298" y="2782465"/>
              <a:chExt cx="109609" cy="66995"/>
            </a:xfrm>
          </p:grpSpPr>
        </p:grpSp>
      </p:grpSp>
      <p:grpSp>
        <p:nvGrpSpPr>
          <p:cNvPr id="210" name="struct.group.55"/>
          <p:cNvGrpSpPr/>
          <p:nvPr/>
        </p:nvGrpSpPr>
        <p:grpSpPr>
          <a:xfrm>
            <a:off x="10820118" y="2889960"/>
            <a:ext cx="226727" cy="226727"/>
            <a:chOff x="10819930" y="2889960"/>
            <a:chExt cx="226727" cy="226727"/>
          </a:xfrm>
          <a:effectLst/>
        </p:grpSpPr>
        <p:sp>
          <p:nvSpPr>
            <p:cNvPr id="211" name="struct.horizon.4.node.7"/>
            <p:cNvSpPr/>
            <p:nvPr/>
          </p:nvSpPr>
          <p:spPr>
            <a:xfrm>
              <a:off x="10819930" y="2889960"/>
              <a:ext cx="226727" cy="2267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12900" tIns="56425" rIns="112900" bIns="56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741"/>
                <a:buFont typeface="Arial"/>
                <a:buNone/>
                <a:tabLst/>
                <a:defRPr/>
              </a:pPr>
              <a:endParaRPr kumimoji="0" sz="617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2" name="struct.group.56"/>
            <p:cNvGrpSpPr/>
            <p:nvPr/>
          </p:nvGrpSpPr>
          <p:grpSpPr>
            <a:xfrm>
              <a:off x="10878831" y="3008007"/>
              <a:ext cx="109609" cy="66995"/>
              <a:chOff x="10878831" y="3008007"/>
              <a:chExt cx="109609" cy="66995"/>
            </a:xfrm>
          </p:grpSpPr>
        </p:grpSp>
      </p:grpSp>
      <p:grpSp>
        <p:nvGrpSpPr>
          <p:cNvPr id="213" name="struct.group.57"/>
          <p:cNvGrpSpPr/>
          <p:nvPr/>
        </p:nvGrpSpPr>
        <p:grpSpPr>
          <a:xfrm>
            <a:off x="10860539" y="3496699"/>
            <a:ext cx="226727" cy="226727"/>
            <a:chOff x="10860359" y="3496699"/>
            <a:chExt cx="226727" cy="226727"/>
          </a:xfrm>
          <a:effectLst/>
        </p:grpSpPr>
        <p:sp>
          <p:nvSpPr>
            <p:cNvPr id="214" name="struct.horizon.4.node.8"/>
            <p:cNvSpPr/>
            <p:nvPr/>
          </p:nvSpPr>
          <p:spPr>
            <a:xfrm>
              <a:off x="10860359" y="3496699"/>
              <a:ext cx="226727" cy="2267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12900" tIns="56425" rIns="112900" bIns="56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741"/>
                <a:buFont typeface="Arial"/>
                <a:buNone/>
                <a:tabLst/>
                <a:defRPr/>
              </a:pPr>
              <a:endParaRPr kumimoji="0" sz="617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5" name="struct.group.58"/>
            <p:cNvGrpSpPr/>
            <p:nvPr/>
          </p:nvGrpSpPr>
          <p:grpSpPr>
            <a:xfrm>
              <a:off x="10917247" y="3616362"/>
              <a:ext cx="109609" cy="66995"/>
              <a:chOff x="10917247" y="3616362"/>
              <a:chExt cx="109609" cy="66995"/>
            </a:xfrm>
          </p:grpSpPr>
        </p:grpSp>
      </p:grpSp>
      <p:grpSp>
        <p:nvGrpSpPr>
          <p:cNvPr id="216" name="struct.group.59"/>
          <p:cNvGrpSpPr/>
          <p:nvPr/>
        </p:nvGrpSpPr>
        <p:grpSpPr>
          <a:xfrm>
            <a:off x="10907976" y="3978143"/>
            <a:ext cx="226727" cy="226727"/>
            <a:chOff x="10907806" y="3978143"/>
            <a:chExt cx="226727" cy="226727"/>
          </a:xfrm>
          <a:effectLst/>
        </p:grpSpPr>
        <p:sp>
          <p:nvSpPr>
            <p:cNvPr id="217" name="struct.horizon.4.node.9"/>
            <p:cNvSpPr/>
            <p:nvPr/>
          </p:nvSpPr>
          <p:spPr>
            <a:xfrm>
              <a:off x="10907806" y="3978143"/>
              <a:ext cx="226727" cy="2267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12900" tIns="56425" rIns="112900" bIns="56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741"/>
                <a:buFont typeface="Arial"/>
                <a:buNone/>
                <a:tabLst/>
                <a:defRPr/>
              </a:pPr>
              <a:endParaRPr kumimoji="0" sz="617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8" name="struct.group.60"/>
            <p:cNvGrpSpPr/>
            <p:nvPr/>
          </p:nvGrpSpPr>
          <p:grpSpPr>
            <a:xfrm>
              <a:off x="10963285" y="4098733"/>
              <a:ext cx="109609" cy="66995"/>
              <a:chOff x="10963285" y="4098733"/>
              <a:chExt cx="109609" cy="66995"/>
            </a:xfrm>
          </p:grpSpPr>
        </p:grpSp>
      </p:grpSp>
      <p:grpSp>
        <p:nvGrpSpPr>
          <p:cNvPr id="219" name="struct.group.61"/>
          <p:cNvGrpSpPr/>
          <p:nvPr/>
        </p:nvGrpSpPr>
        <p:grpSpPr>
          <a:xfrm>
            <a:off x="10428030" y="3991248"/>
            <a:ext cx="226727" cy="226727"/>
            <a:chOff x="10427761" y="3991248"/>
            <a:chExt cx="226727" cy="226727"/>
          </a:xfrm>
          <a:effectLst/>
        </p:grpSpPr>
        <p:sp>
          <p:nvSpPr>
            <p:cNvPr id="220" name="struct.horizon.4.node.10"/>
            <p:cNvSpPr/>
            <p:nvPr/>
          </p:nvSpPr>
          <p:spPr>
            <a:xfrm>
              <a:off x="10427761" y="3991248"/>
              <a:ext cx="226727" cy="2267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12900" tIns="56425" rIns="112900" bIns="56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741"/>
                <a:buFont typeface="Arial"/>
                <a:buNone/>
                <a:tabLst/>
                <a:defRPr/>
              </a:pPr>
              <a:endParaRPr kumimoji="0" sz="617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1" name="struct.group.62"/>
            <p:cNvGrpSpPr/>
            <p:nvPr/>
          </p:nvGrpSpPr>
          <p:grpSpPr>
            <a:xfrm>
              <a:off x="10486118" y="4109746"/>
              <a:ext cx="109609" cy="66995"/>
              <a:chOff x="10486118" y="4109746"/>
              <a:chExt cx="109609" cy="66995"/>
            </a:xfrm>
          </p:grpSpPr>
        </p:grpSp>
      </p:grpSp>
      <p:grpSp>
        <p:nvGrpSpPr>
          <p:cNvPr id="222" name="struct.group.63"/>
          <p:cNvGrpSpPr/>
          <p:nvPr/>
        </p:nvGrpSpPr>
        <p:grpSpPr>
          <a:xfrm>
            <a:off x="10111254" y="4499017"/>
            <a:ext cx="109587" cy="66996"/>
            <a:chOff x="10110896" y="4499017"/>
            <a:chExt cx="109610" cy="66996"/>
          </a:xfrm>
          <a:effectLst/>
        </p:grpSpPr>
      </p:grpSp>
      <p:grpSp>
        <p:nvGrpSpPr>
          <p:cNvPr id="223" name="struct.group.64"/>
          <p:cNvGrpSpPr/>
          <p:nvPr/>
        </p:nvGrpSpPr>
        <p:grpSpPr>
          <a:xfrm>
            <a:off x="10257461" y="3310847"/>
            <a:ext cx="226827" cy="226827"/>
            <a:chOff x="10257157" y="3310847"/>
            <a:chExt cx="226827" cy="226827"/>
          </a:xfrm>
          <a:effectLst/>
        </p:grpSpPr>
        <p:sp>
          <p:nvSpPr>
            <p:cNvPr id="224" name="struct.horizon.4.node.11"/>
            <p:cNvSpPr/>
            <p:nvPr/>
          </p:nvSpPr>
          <p:spPr>
            <a:xfrm>
              <a:off x="10257157" y="3310847"/>
              <a:ext cx="226827" cy="2268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12900" tIns="56425" rIns="112900" bIns="56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741"/>
                <a:buFont typeface="Arial"/>
                <a:buNone/>
                <a:tabLst/>
                <a:defRPr/>
              </a:pPr>
              <a:endParaRPr kumimoji="0" sz="617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5" name="slot.horizon.4.step.10"/>
          <p:cNvSpPr txBox="1"/>
          <p:nvPr/>
        </p:nvSpPr>
        <p:spPr>
          <a:xfrm>
            <a:off x="10851955" y="4276154"/>
            <a:ext cx="420537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Pay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6" name="slot.horizon.4.step.11"/>
          <p:cNvSpPr txBox="1"/>
          <p:nvPr/>
        </p:nvSpPr>
        <p:spPr>
          <a:xfrm>
            <a:off x="9862104" y="4647162"/>
            <a:ext cx="563584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Close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7" name="slot.horizon.4.step.8"/>
          <p:cNvSpPr txBox="1"/>
          <p:nvPr/>
        </p:nvSpPr>
        <p:spPr>
          <a:xfrm>
            <a:off x="9486951" y="4229987"/>
            <a:ext cx="420537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Fraud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8" name="slot.horizon.4.step.1"/>
          <p:cNvSpPr txBox="1"/>
          <p:nvPr/>
        </p:nvSpPr>
        <p:spPr>
          <a:xfrm>
            <a:off x="10099428" y="2415543"/>
            <a:ext cx="546187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Intake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9" name="slot.horizon.4.step.2"/>
          <p:cNvSpPr txBox="1"/>
          <p:nvPr/>
        </p:nvSpPr>
        <p:spPr>
          <a:xfrm>
            <a:off x="9534158" y="2487244"/>
            <a:ext cx="506295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Notice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0" name="slot.horizon.4.step.3"/>
          <p:cNvSpPr txBox="1"/>
          <p:nvPr/>
        </p:nvSpPr>
        <p:spPr>
          <a:xfrm>
            <a:off x="10764930" y="2561825"/>
            <a:ext cx="433411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Policy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1" name="slot.horizon.4.step.9"/>
          <p:cNvSpPr txBox="1"/>
          <p:nvPr/>
        </p:nvSpPr>
        <p:spPr>
          <a:xfrm>
            <a:off x="10372162" y="4269634"/>
            <a:ext cx="433710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Settle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2" name="slot.horizon.4.step.4"/>
          <p:cNvSpPr txBox="1"/>
          <p:nvPr/>
        </p:nvSpPr>
        <p:spPr>
          <a:xfrm>
            <a:off x="9522060" y="3103703"/>
            <a:ext cx="477501" cy="1645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Triage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3" name="slot.horizon.4.step.5"/>
          <p:cNvSpPr txBox="1"/>
          <p:nvPr/>
        </p:nvSpPr>
        <p:spPr>
          <a:xfrm>
            <a:off x="10155631" y="3070238"/>
            <a:ext cx="444808" cy="1645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Verify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4" name="slot.horizon.4.step.6"/>
          <p:cNvSpPr txBox="1"/>
          <p:nvPr/>
        </p:nvSpPr>
        <p:spPr>
          <a:xfrm>
            <a:off x="10291892" y="3615977"/>
            <a:ext cx="420537" cy="1645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Assess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5" name="slot.horizon.4.step.7"/>
          <p:cNvSpPr txBox="1"/>
          <p:nvPr/>
        </p:nvSpPr>
        <p:spPr>
          <a:xfrm>
            <a:off x="10716852" y="3172880"/>
            <a:ext cx="529391" cy="1645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Reserve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6" name="slot.horizon.4.party.1"/>
          <p:cNvSpPr txBox="1"/>
          <p:nvPr/>
        </p:nvSpPr>
        <p:spPr>
          <a:xfrm>
            <a:off x="8993704" y="2852928"/>
            <a:ext cx="420537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Client</a:t>
            </a:r>
            <a:endParaRPr lang="en-US" sz="8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237" name="struct.group.65"/>
          <p:cNvGrpSpPr/>
          <p:nvPr/>
        </p:nvGrpSpPr>
        <p:grpSpPr>
          <a:xfrm>
            <a:off x="9096087" y="3118414"/>
            <a:ext cx="216010" cy="216011"/>
            <a:chOff x="9095542" y="3118414"/>
            <a:chExt cx="216010" cy="216011"/>
          </a:xfrm>
          <a:effectLst/>
        </p:grpSpPr>
        <p:sp>
          <p:nvSpPr>
            <p:cNvPr id="238" name="struct.horizon.4.node.12"/>
            <p:cNvSpPr/>
            <p:nvPr/>
          </p:nvSpPr>
          <p:spPr>
            <a:xfrm>
              <a:off x="9095542" y="3118414"/>
              <a:ext cx="216010" cy="2160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9" name="struct.group.66"/>
          <p:cNvGrpSpPr/>
          <p:nvPr/>
        </p:nvGrpSpPr>
        <p:grpSpPr>
          <a:xfrm>
            <a:off x="9096087" y="3814662"/>
            <a:ext cx="216010" cy="216010"/>
            <a:chOff x="9095542" y="3814662"/>
            <a:chExt cx="216010" cy="216010"/>
          </a:xfrm>
          <a:effectLst/>
        </p:grpSpPr>
        <p:sp>
          <p:nvSpPr>
            <p:cNvPr id="240" name="struct.horizon.4.node.13"/>
            <p:cNvSpPr/>
            <p:nvPr/>
          </p:nvSpPr>
          <p:spPr>
            <a:xfrm>
              <a:off x="9095542" y="3814662"/>
              <a:ext cx="216010" cy="21601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slot.horizon.4.party.2"/>
          <p:cNvSpPr txBox="1"/>
          <p:nvPr/>
        </p:nvSpPr>
        <p:spPr>
          <a:xfrm>
            <a:off x="11346406" y="2852928"/>
            <a:ext cx="420537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Vendor</a:t>
            </a:r>
            <a:endParaRPr lang="en-US" sz="8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242" name="struct.group.67"/>
          <p:cNvGrpSpPr/>
          <p:nvPr/>
        </p:nvGrpSpPr>
        <p:grpSpPr>
          <a:xfrm>
            <a:off x="11448834" y="3118414"/>
            <a:ext cx="216010" cy="216011"/>
            <a:chOff x="11448775" y="3118414"/>
            <a:chExt cx="216010" cy="216011"/>
          </a:xfrm>
          <a:effectLst/>
        </p:grpSpPr>
        <p:sp>
          <p:nvSpPr>
            <p:cNvPr id="243" name="struct.horizon.4.node.14"/>
            <p:cNvSpPr/>
            <p:nvPr/>
          </p:nvSpPr>
          <p:spPr>
            <a:xfrm>
              <a:off x="11448775" y="3118414"/>
              <a:ext cx="216010" cy="2160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4" name="struct.group.68"/>
          <p:cNvGrpSpPr/>
          <p:nvPr/>
        </p:nvGrpSpPr>
        <p:grpSpPr>
          <a:xfrm>
            <a:off x="11448834" y="3814662"/>
            <a:ext cx="216010" cy="216010"/>
            <a:chOff x="11448775" y="3814662"/>
            <a:chExt cx="216010" cy="216010"/>
          </a:xfrm>
          <a:effectLst/>
        </p:grpSpPr>
        <p:sp>
          <p:nvSpPr>
            <p:cNvPr id="245" name="struct.horizon.4.node.15"/>
            <p:cNvSpPr/>
            <p:nvPr/>
          </p:nvSpPr>
          <p:spPr>
            <a:xfrm>
              <a:off x="11448775" y="3814662"/>
              <a:ext cx="216010" cy="21601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46" name="struct.line.17"/>
          <p:cNvCxnSpPr/>
          <p:nvPr/>
        </p:nvCxnSpPr>
        <p:spPr>
          <a:xfrm>
            <a:off x="10361087" y="4956330"/>
            <a:ext cx="0" cy="224400"/>
          </a:xfrm>
          <a:prstGeom prst="straightConnector1">
            <a:avLst/>
          </a:prstGeom>
          <a:noFill/>
          <a:ln w="14250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cxnSp>
        <p:nvCxnSpPr>
          <p:cNvPr id="247" name="struct.line.18"/>
          <p:cNvCxnSpPr/>
          <p:nvPr/>
        </p:nvCxnSpPr>
        <p:spPr>
          <a:xfrm>
            <a:off x="9312075" y="3226419"/>
            <a:ext cx="374923" cy="226200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248" name="struct.line.19"/>
          <p:cNvCxnSpPr/>
          <p:nvPr/>
        </p:nvCxnSpPr>
        <p:spPr>
          <a:xfrm rot="10800000" flipH="1">
            <a:off x="9312075" y="3613067"/>
            <a:ext cx="374923" cy="309600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249" name="struct.line.20"/>
          <p:cNvCxnSpPr/>
          <p:nvPr/>
        </p:nvCxnSpPr>
        <p:spPr>
          <a:xfrm rot="10800000" flipH="1">
            <a:off x="11054046" y="3226303"/>
            <a:ext cx="394719" cy="303600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250" name="struct.line.21"/>
          <p:cNvCxnSpPr/>
          <p:nvPr/>
        </p:nvCxnSpPr>
        <p:spPr>
          <a:xfrm>
            <a:off x="11054046" y="3690223"/>
            <a:ext cx="394719" cy="232500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sp>
        <p:nvSpPr>
          <p:cNvPr id="251" name="slot.horizon.4.net.head"/>
          <p:cNvSpPr txBox="1"/>
          <p:nvPr/>
        </p:nvSpPr>
        <p:spPr>
          <a:xfrm>
            <a:off x="9569666" y="2203704"/>
            <a:ext cx="786222" cy="1645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Agent run</a:t>
            </a:r>
            <a:endParaRPr lang="en-US" sz="9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2" name="struct.horizon.4.callout"/>
          <p:cNvSpPr/>
          <p:nvPr/>
        </p:nvSpPr>
        <p:spPr>
          <a:xfrm>
            <a:off x="10460787" y="1604592"/>
            <a:ext cx="1276237" cy="321300"/>
          </a:xfrm>
          <a:prstGeom prst="roundRect">
            <a:avLst>
              <a:gd name="adj" fmla="val 1423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slot.horizon.4.callout"/>
          <p:cNvSpPr txBox="1"/>
          <p:nvPr/>
        </p:nvSpPr>
        <p:spPr>
          <a:xfrm>
            <a:off x="10515874" y="1618488"/>
            <a:ext cx="1170190" cy="28346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People own the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exceptions only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4" name="struct.horizon.4.node.16"/>
          <p:cNvSpPr/>
          <p:nvPr/>
        </p:nvSpPr>
        <p:spPr>
          <a:xfrm>
            <a:off x="10630560" y="4480109"/>
            <a:ext cx="227100" cy="2271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72150" tIns="72150" rIns="72150" bIns="721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105"/>
              <a:buFont typeface="Arial"/>
              <a:buNone/>
              <a:tabLst/>
              <a:defRPr/>
            </a:pPr>
            <a:endParaRPr kumimoji="0" sz="1105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slot.horizon.2.party.2"/>
          <p:cNvSpPr txBox="1"/>
          <p:nvPr/>
        </p:nvSpPr>
        <p:spPr>
          <a:xfrm>
            <a:off x="5701777" y="2852928"/>
            <a:ext cx="420537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Vendor</a:t>
            </a:r>
            <a:endParaRPr lang="en-US" sz="8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256" name="struct.group.69"/>
          <p:cNvGrpSpPr/>
          <p:nvPr/>
        </p:nvGrpSpPr>
        <p:grpSpPr>
          <a:xfrm>
            <a:off x="5804205" y="3118414"/>
            <a:ext cx="216010" cy="216011"/>
            <a:chOff x="5802980" y="3118414"/>
            <a:chExt cx="216010" cy="216011"/>
          </a:xfrm>
          <a:effectLst/>
        </p:grpSpPr>
        <p:sp>
          <p:nvSpPr>
            <p:cNvPr id="257" name="struct.horizon.2.node.1"/>
            <p:cNvSpPr/>
            <p:nvPr/>
          </p:nvSpPr>
          <p:spPr>
            <a:xfrm>
              <a:off x="5802980" y="3118414"/>
              <a:ext cx="216010" cy="21601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8" name="struct.group.70"/>
          <p:cNvGrpSpPr/>
          <p:nvPr/>
        </p:nvGrpSpPr>
        <p:grpSpPr>
          <a:xfrm>
            <a:off x="5804205" y="3814662"/>
            <a:ext cx="216010" cy="216010"/>
            <a:chOff x="5802980" y="3814662"/>
            <a:chExt cx="216010" cy="216010"/>
          </a:xfrm>
          <a:effectLst/>
        </p:grpSpPr>
        <p:sp>
          <p:nvSpPr>
            <p:cNvPr id="259" name="struct.horizon.2.node.2"/>
            <p:cNvSpPr/>
            <p:nvPr/>
          </p:nvSpPr>
          <p:spPr>
            <a:xfrm>
              <a:off x="5802980" y="3814662"/>
              <a:ext cx="216010" cy="21601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slot.horizon.2.label"/>
          <p:cNvSpPr/>
          <p:nvPr/>
        </p:nvSpPr>
        <p:spPr>
          <a:xfrm>
            <a:off x="3267188" y="1051374"/>
            <a:ext cx="2908500" cy="385800"/>
          </a:xfrm>
          <a:prstGeom prst="chevron">
            <a:avLst>
              <a:gd name="adj" fmla="val 3407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Year 1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261" name="struct.horizon.2.team.group"/>
          <p:cNvGrpSpPr/>
          <p:nvPr/>
        </p:nvGrpSpPr>
        <p:grpSpPr>
          <a:xfrm>
            <a:off x="3850576" y="1708159"/>
            <a:ext cx="456506" cy="114300"/>
            <a:chOff x="3848926" y="1708159"/>
            <a:chExt cx="456600" cy="114300"/>
          </a:xfrm>
          <a:effectLst/>
        </p:grpSpPr>
        <p:sp>
          <p:nvSpPr>
            <p:cNvPr id="262" name="slot.horizon.2.team"/>
            <p:cNvSpPr/>
            <p:nvPr/>
          </p:nvSpPr>
          <p:spPr>
            <a:xfrm>
              <a:off x="3703320" y="1673352"/>
              <a:ext cx="5669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 rtlCol="0">
              <a:noAutofit/>
            </a:bodyPr>
            <a:lstStyle/>
            <a:p>
              <a:pPr marL="0" indent="0" lv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rPr>
                <a:t>4 pods</a:t>
              </a:r>
              <a:endPara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cxnSp>
        <p:nvCxnSpPr>
          <p:cNvPr id="263" name="struct.line.22"/>
          <p:cNvCxnSpPr/>
          <p:nvPr/>
        </p:nvCxnSpPr>
        <p:spPr>
          <a:xfrm>
            <a:off x="4721493" y="2057792"/>
            <a:ext cx="0" cy="179273"/>
          </a:xfrm>
          <a:prstGeom prst="straightConnector1">
            <a:avLst/>
          </a:prstGeom>
          <a:noFill/>
          <a:ln w="14250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264" name="struct.horizon.2.tray"/>
          <p:cNvSpPr/>
          <p:nvPr/>
        </p:nvSpPr>
        <p:spPr>
          <a:xfrm rot="5400000">
            <a:off x="4517163" y="4134065"/>
            <a:ext cx="459000" cy="2625958"/>
          </a:xfrm>
          <a:prstGeom prst="roundRect">
            <a:avLst>
              <a:gd name="adj" fmla="val 9961"/>
            </a:avLst>
          </a:prstGeom>
          <a:solidFill>
            <a:schemeClr val="bg1">
              <a:lumMod val="95000"/>
            </a:schemeClr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struct.dot.9"/>
          <p:cNvSpPr/>
          <p:nvPr/>
        </p:nvSpPr>
        <p:spPr>
          <a:xfrm>
            <a:off x="4985919" y="5288670"/>
            <a:ext cx="227100" cy="2271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72150" tIns="72150" rIns="72150" bIns="721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105"/>
              <a:buFont typeface="Arial"/>
              <a:buNone/>
              <a:tabLst/>
              <a:defRPr/>
            </a:pPr>
            <a:endParaRPr kumimoji="0" sz="1105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slot.horizon.2.tool.4"/>
          <p:cNvSpPr txBox="1"/>
          <p:nvPr/>
        </p:nvSpPr>
        <p:spPr>
          <a:xfrm>
            <a:off x="4893475" y="5486400"/>
            <a:ext cx="420537" cy="14630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Queue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7" name="slot.horizon.2.tool.3"/>
          <p:cNvSpPr txBox="1"/>
          <p:nvPr/>
        </p:nvSpPr>
        <p:spPr>
          <a:xfrm>
            <a:off x="4351347" y="5486400"/>
            <a:ext cx="420537" cy="14630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Forms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8" name="slot.horizon.2.tool.2"/>
          <p:cNvSpPr txBox="1"/>
          <p:nvPr/>
        </p:nvSpPr>
        <p:spPr>
          <a:xfrm>
            <a:off x="3854017" y="5486400"/>
            <a:ext cx="420537" cy="14630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Rules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9" name="slot.horizon.2.tool.1"/>
          <p:cNvSpPr txBox="1"/>
          <p:nvPr/>
        </p:nvSpPr>
        <p:spPr>
          <a:xfrm>
            <a:off x="3417938" y="5486400"/>
            <a:ext cx="420537" cy="14630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Inbox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0" name="slot.horizon.2.tool.note"/>
          <p:cNvSpPr txBox="1"/>
          <p:nvPr/>
        </p:nvSpPr>
        <p:spPr>
          <a:xfrm>
            <a:off x="5469428" y="5276088"/>
            <a:ext cx="530243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Shared</a:t>
            </a:r>
            <a:endParaRPr lang="en-US" sz="8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case file</a:t>
            </a:r>
            <a:endParaRPr lang="en-US" sz="8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1" name="struct.horizon.2.strip"/>
          <p:cNvSpPr/>
          <p:nvPr/>
        </p:nvSpPr>
        <p:spPr>
          <a:xfrm rot="5400000">
            <a:off x="4623812" y="4817221"/>
            <a:ext cx="245700" cy="2625958"/>
          </a:xfrm>
          <a:prstGeom prst="roundRect">
            <a:avLst>
              <a:gd name="adj" fmla="val 18608"/>
            </a:avLst>
          </a:prstGeom>
          <a:solidFill>
            <a:schemeClr val="bg1"/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" name="struct.line.23"/>
          <p:cNvCxnSpPr/>
          <p:nvPr/>
        </p:nvCxnSpPr>
        <p:spPr>
          <a:xfrm>
            <a:off x="4716458" y="5724656"/>
            <a:ext cx="0" cy="235800"/>
          </a:xfrm>
          <a:prstGeom prst="straightConnector1">
            <a:avLst/>
          </a:prstGeom>
          <a:noFill/>
          <a:ln w="14250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273" name="slot.horizon.2.outcome"/>
          <p:cNvSpPr/>
          <p:nvPr/>
        </p:nvSpPr>
        <p:spPr>
          <a:xfrm>
            <a:off x="3988406" y="6025896"/>
            <a:ext cx="1919844" cy="201168"/>
          </a:xfrm>
          <a:prstGeom prst="roundRect">
            <a:avLst>
              <a:gd name="adj" fmla="val 22727"/>
            </a:avLst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Assist cuts handling time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4" name="struct.horizon.2.net"/>
          <p:cNvSpPr/>
          <p:nvPr/>
        </p:nvSpPr>
        <p:spPr>
          <a:xfrm>
            <a:off x="3826844" y="2289398"/>
            <a:ext cx="1846119" cy="2637300"/>
          </a:xfrm>
          <a:prstGeom prst="roundRect">
            <a:avLst>
              <a:gd name="adj" fmla="val 2476"/>
            </a:avLst>
          </a:prstGeom>
          <a:noFill/>
          <a:ln w="952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sz="625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struct.link.42"/>
          <p:cNvSpPr/>
          <p:nvPr/>
        </p:nvSpPr>
        <p:spPr>
          <a:xfrm>
            <a:off x="4850437" y="3615744"/>
            <a:ext cx="357165" cy="448578"/>
          </a:xfrm>
          <a:custGeom>
            <a:avLst/>
            <a:gdLst/>
            <a:ahLst/>
            <a:cxnLst/>
            <a:rect l="l" t="t" r="r" b="b"/>
            <a:pathLst>
              <a:path w="1504166" h="1692746" extrusionOk="0">
                <a:moveTo>
                  <a:pt x="1504166" y="0"/>
                </a:moveTo>
                <a:lnTo>
                  <a:pt x="0" y="1692746"/>
                </a:lnTo>
              </a:path>
            </a:pathLst>
          </a:cu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600"/>
              <a:buFont typeface="Arial"/>
              <a:buNone/>
              <a:tabLst/>
              <a:defRPr/>
            </a:pPr>
            <a:endParaRPr kumimoji="0" sz="5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struct.link.43"/>
          <p:cNvSpPr/>
          <p:nvPr/>
        </p:nvSpPr>
        <p:spPr>
          <a:xfrm>
            <a:off x="4189666" y="4058859"/>
            <a:ext cx="632057" cy="15452"/>
          </a:xfrm>
          <a:custGeom>
            <a:avLst/>
            <a:gdLst/>
            <a:ahLst/>
            <a:cxnLst/>
            <a:rect l="l" t="t" r="r" b="b"/>
            <a:pathLst>
              <a:path w="2661838" h="58308" extrusionOk="0">
                <a:moveTo>
                  <a:pt x="2661839" y="58309"/>
                </a:moveTo>
                <a:lnTo>
                  <a:pt x="0" y="0"/>
                </a:lnTo>
              </a:path>
            </a:pathLst>
          </a:cu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600"/>
              <a:buFont typeface="Arial"/>
              <a:buNone/>
              <a:tabLst/>
              <a:defRPr/>
            </a:pPr>
            <a:endParaRPr kumimoji="0" sz="5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struct.link.44"/>
          <p:cNvSpPr/>
          <p:nvPr/>
        </p:nvSpPr>
        <p:spPr>
          <a:xfrm>
            <a:off x="4115987" y="3533205"/>
            <a:ext cx="57779" cy="504085"/>
          </a:xfrm>
          <a:custGeom>
            <a:avLst/>
            <a:gdLst/>
            <a:ahLst/>
            <a:cxnLst/>
            <a:rect l="l" t="t" r="r" b="b"/>
            <a:pathLst>
              <a:path w="243330" h="1902209" extrusionOk="0">
                <a:moveTo>
                  <a:pt x="243331" y="1902209"/>
                </a:moveTo>
                <a:lnTo>
                  <a:pt x="0" y="0"/>
                </a:lnTo>
              </a:path>
            </a:pathLst>
          </a:cu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600"/>
              <a:buFont typeface="Arial"/>
              <a:buNone/>
              <a:tabLst/>
              <a:defRPr/>
            </a:pPr>
            <a:endParaRPr kumimoji="0" sz="5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struct.link.45"/>
          <p:cNvSpPr/>
          <p:nvPr/>
        </p:nvSpPr>
        <p:spPr>
          <a:xfrm>
            <a:off x="4250071" y="2996750"/>
            <a:ext cx="471693" cy="410421"/>
          </a:xfrm>
          <a:custGeom>
            <a:avLst/>
            <a:gdLst/>
            <a:ahLst/>
            <a:cxnLst/>
            <a:rect l="l" t="t" r="r" b="b"/>
            <a:pathLst>
              <a:path w="1945526" h="1465790" extrusionOk="0">
                <a:moveTo>
                  <a:pt x="0" y="0"/>
                </a:moveTo>
                <a:lnTo>
                  <a:pt x="1945526" y="1465791"/>
                </a:lnTo>
              </a:path>
            </a:pathLst>
          </a:cu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600"/>
              <a:buFont typeface="Arial"/>
              <a:buNone/>
              <a:tabLst/>
              <a:defRPr/>
            </a:pPr>
            <a:endParaRPr kumimoji="0" sz="5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struct.link.46"/>
          <p:cNvSpPr/>
          <p:nvPr/>
        </p:nvSpPr>
        <p:spPr>
          <a:xfrm>
            <a:off x="4743713" y="3072806"/>
            <a:ext cx="433351" cy="331064"/>
          </a:xfrm>
          <a:custGeom>
            <a:avLst/>
            <a:gdLst/>
            <a:ahLst/>
            <a:cxnLst/>
            <a:rect l="l" t="t" r="r" b="b"/>
            <a:pathLst>
              <a:path w="2039718" h="1471397" extrusionOk="0">
                <a:moveTo>
                  <a:pt x="0" y="1471398"/>
                </a:moveTo>
                <a:lnTo>
                  <a:pt x="2039719" y="0"/>
                </a:lnTo>
              </a:path>
            </a:pathLst>
          </a:cu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600"/>
              <a:buFont typeface="Arial"/>
              <a:buNone/>
              <a:tabLst/>
              <a:defRPr/>
            </a:pPr>
            <a:endParaRPr kumimoji="0" sz="5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struct.link.47"/>
          <p:cNvSpPr/>
          <p:nvPr/>
        </p:nvSpPr>
        <p:spPr>
          <a:xfrm>
            <a:off x="4242655" y="2765962"/>
            <a:ext cx="927574" cy="210401"/>
          </a:xfrm>
          <a:custGeom>
            <a:avLst/>
            <a:gdLst/>
            <a:ahLst/>
            <a:cxnLst/>
            <a:rect l="l" t="t" r="r" b="b"/>
            <a:pathLst>
              <a:path w="4078092" h="744781" extrusionOk="0">
                <a:moveTo>
                  <a:pt x="4078092" y="734914"/>
                </a:moveTo>
                <a:lnTo>
                  <a:pt x="1926688" y="0"/>
                </a:lnTo>
                <a:lnTo>
                  <a:pt x="0" y="744782"/>
                </a:lnTo>
              </a:path>
            </a:pathLst>
          </a:cu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600"/>
              <a:buFont typeface="Arial"/>
              <a:buNone/>
              <a:tabLst/>
              <a:defRPr/>
            </a:pPr>
            <a:endParaRPr kumimoji="0" sz="5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1" name="struct.group.71"/>
          <p:cNvGrpSpPr/>
          <p:nvPr/>
        </p:nvGrpSpPr>
        <p:grpSpPr>
          <a:xfrm>
            <a:off x="4709296" y="2820257"/>
            <a:ext cx="8678" cy="498973"/>
            <a:chOff x="4707823" y="2820257"/>
            <a:chExt cx="8680" cy="498973"/>
          </a:xfrm>
          <a:effectLst/>
        </p:grpSpPr>
        <p:sp>
          <p:nvSpPr>
            <p:cNvPr id="282" name="struct.link.48"/>
            <p:cNvSpPr/>
            <p:nvPr/>
          </p:nvSpPr>
          <p:spPr>
            <a:xfrm>
              <a:off x="4708155" y="2832816"/>
              <a:ext cx="8111" cy="467651"/>
            </a:xfrm>
            <a:custGeom>
              <a:avLst/>
              <a:gdLst/>
              <a:ahLst/>
              <a:cxnLst/>
              <a:rect l="l" t="t" r="r" b="b"/>
              <a:pathLst>
                <a:path w="38349" h="2079377" extrusionOk="0">
                  <a:moveTo>
                    <a:pt x="0" y="2079378"/>
                  </a:moveTo>
                  <a:lnTo>
                    <a:pt x="38350" y="0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5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3" name="struct.group.72"/>
          <p:cNvGrpSpPr/>
          <p:nvPr/>
        </p:nvGrpSpPr>
        <p:grpSpPr>
          <a:xfrm>
            <a:off x="4208186" y="3518292"/>
            <a:ext cx="486275" cy="299495"/>
            <a:chOff x="4206609" y="3518292"/>
            <a:chExt cx="486375" cy="299495"/>
          </a:xfrm>
          <a:effectLst/>
        </p:grpSpPr>
        <p:sp>
          <p:nvSpPr>
            <p:cNvPr id="284" name="struct.link.49"/>
            <p:cNvSpPr/>
            <p:nvPr/>
          </p:nvSpPr>
          <p:spPr>
            <a:xfrm>
              <a:off x="4221123" y="3598638"/>
              <a:ext cx="302051" cy="212290"/>
            </a:xfrm>
            <a:custGeom>
              <a:avLst/>
              <a:gdLst/>
              <a:ahLst/>
              <a:cxnLst/>
              <a:rect l="l" t="t" r="r" b="b"/>
              <a:pathLst>
                <a:path w="1428139" h="943928" extrusionOk="0">
                  <a:moveTo>
                    <a:pt x="0" y="0"/>
                  </a:moveTo>
                  <a:lnTo>
                    <a:pt x="1428140" y="943928"/>
                  </a:ln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struct.link.50"/>
            <p:cNvSpPr/>
            <p:nvPr/>
          </p:nvSpPr>
          <p:spPr>
            <a:xfrm>
              <a:off x="4541579" y="3529136"/>
              <a:ext cx="145618" cy="272461"/>
            </a:xfrm>
            <a:custGeom>
              <a:avLst/>
              <a:gdLst/>
              <a:ahLst/>
              <a:cxnLst/>
              <a:rect l="l" t="t" r="r" b="b"/>
              <a:pathLst>
                <a:path w="688503" h="1211475" extrusionOk="0">
                  <a:moveTo>
                    <a:pt x="0" y="1211475"/>
                  </a:moveTo>
                  <a:lnTo>
                    <a:pt x="688503" y="0"/>
                  </a:ln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6" name="struct.group.73"/>
          <p:cNvGrpSpPr/>
          <p:nvPr/>
        </p:nvGrpSpPr>
        <p:grpSpPr>
          <a:xfrm>
            <a:off x="4172879" y="3782860"/>
            <a:ext cx="765332" cy="300664"/>
            <a:chOff x="4171295" y="3782860"/>
            <a:chExt cx="765490" cy="300664"/>
          </a:xfrm>
          <a:effectLst/>
        </p:grpSpPr>
        <p:sp>
          <p:nvSpPr>
            <p:cNvPr id="287" name="struct.link.51"/>
            <p:cNvSpPr/>
            <p:nvPr/>
          </p:nvSpPr>
          <p:spPr>
            <a:xfrm>
              <a:off x="4189118" y="3792915"/>
              <a:ext cx="327184" cy="275592"/>
            </a:xfrm>
            <a:custGeom>
              <a:avLst/>
              <a:gdLst/>
              <a:ahLst/>
              <a:cxnLst/>
              <a:rect l="l" t="t" r="r" b="b"/>
              <a:pathLst>
                <a:path w="1210375" h="958953" extrusionOk="0">
                  <a:moveTo>
                    <a:pt x="0" y="958954"/>
                  </a:moveTo>
                  <a:lnTo>
                    <a:pt x="1210375" y="0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5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16850" tIns="58425" rIns="116850" bIns="58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767"/>
                <a:buFont typeface="Arial"/>
                <a:buNone/>
                <a:tabLst/>
                <a:defRPr/>
              </a:pPr>
              <a:endParaRPr kumimoji="0" sz="639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struct.link.52"/>
            <p:cNvSpPr/>
            <p:nvPr/>
          </p:nvSpPr>
          <p:spPr>
            <a:xfrm>
              <a:off x="4547220" y="3796395"/>
              <a:ext cx="376895" cy="266956"/>
            </a:xfrm>
            <a:custGeom>
              <a:avLst/>
              <a:gdLst/>
              <a:ahLst/>
              <a:cxnLst/>
              <a:rect l="l" t="t" r="r" b="b"/>
              <a:pathLst>
                <a:path w="1394275" h="928902" extrusionOk="0">
                  <a:moveTo>
                    <a:pt x="0" y="0"/>
                  </a:moveTo>
                  <a:lnTo>
                    <a:pt x="1394275" y="928903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5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16850" tIns="58425" rIns="116850" bIns="58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767"/>
                <a:buFont typeface="Arial"/>
                <a:buNone/>
                <a:tabLst/>
                <a:defRPr/>
              </a:pPr>
              <a:endParaRPr kumimoji="0" sz="639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9" name="struct.group.74"/>
          <p:cNvGrpSpPr/>
          <p:nvPr/>
        </p:nvGrpSpPr>
        <p:grpSpPr>
          <a:xfrm>
            <a:off x="4573192" y="3564754"/>
            <a:ext cx="744336" cy="211407"/>
            <a:chOff x="4571691" y="3564754"/>
            <a:chExt cx="744490" cy="211407"/>
          </a:xfrm>
          <a:effectLst/>
        </p:grpSpPr>
        <p:sp>
          <p:nvSpPr>
            <p:cNvPr id="290" name="struct.link.53"/>
            <p:cNvSpPr/>
            <p:nvPr/>
          </p:nvSpPr>
          <p:spPr>
            <a:xfrm rot="21170153">
              <a:off x="4576823" y="3615937"/>
              <a:ext cx="726793" cy="111145"/>
            </a:xfrm>
            <a:custGeom>
              <a:avLst/>
              <a:gdLst/>
              <a:ahLst/>
              <a:cxnLst/>
              <a:rect l="l" t="t" r="r" b="b"/>
              <a:pathLst>
                <a:path w="2665875" h="494278" extrusionOk="0">
                  <a:moveTo>
                    <a:pt x="2665876" y="0"/>
                  </a:moveTo>
                  <a:lnTo>
                    <a:pt x="0" y="494279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5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1" name="struct.group.75"/>
          <p:cNvGrpSpPr/>
          <p:nvPr/>
        </p:nvGrpSpPr>
        <p:grpSpPr>
          <a:xfrm>
            <a:off x="4776558" y="3458352"/>
            <a:ext cx="542361" cy="577106"/>
            <a:chOff x="4775099" y="3458352"/>
            <a:chExt cx="542473" cy="577106"/>
          </a:xfrm>
          <a:effectLst/>
        </p:grpSpPr>
        <p:sp>
          <p:nvSpPr>
            <p:cNvPr id="292" name="struct.link.54"/>
            <p:cNvSpPr/>
            <p:nvPr/>
          </p:nvSpPr>
          <p:spPr>
            <a:xfrm>
              <a:off x="4785837" y="3469768"/>
              <a:ext cx="515506" cy="548501"/>
            </a:xfrm>
            <a:custGeom>
              <a:avLst/>
              <a:gdLst/>
              <a:ahLst/>
              <a:cxnLst/>
              <a:rect l="l" t="t" r="r" b="b"/>
              <a:pathLst>
                <a:path w="1916371" h="1917907" extrusionOk="0">
                  <a:moveTo>
                    <a:pt x="1916371" y="1917907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5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16275" tIns="58125" rIns="116275" bIns="581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763"/>
                <a:buFont typeface="Arial"/>
                <a:buNone/>
                <a:tabLst/>
                <a:defRPr/>
              </a:pPr>
              <a:endParaRPr kumimoji="0" sz="636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3" name="struct.group.76"/>
          <p:cNvGrpSpPr/>
          <p:nvPr/>
        </p:nvGrpSpPr>
        <p:grpSpPr>
          <a:xfrm>
            <a:off x="4741339" y="3501470"/>
            <a:ext cx="176673" cy="492236"/>
            <a:chOff x="4739873" y="3501470"/>
            <a:chExt cx="176709" cy="492236"/>
          </a:xfrm>
          <a:effectLst/>
        </p:grpSpPr>
        <p:sp>
          <p:nvSpPr>
            <p:cNvPr id="294" name="struct.link.55"/>
            <p:cNvSpPr/>
            <p:nvPr/>
          </p:nvSpPr>
          <p:spPr>
            <a:xfrm rot="21149909">
              <a:off x="4792815" y="3505439"/>
              <a:ext cx="92549" cy="484298"/>
            </a:xfrm>
            <a:custGeom>
              <a:avLst/>
              <a:gdLst/>
              <a:ahLst/>
              <a:cxnLst/>
              <a:rect l="l" t="t" r="r" b="b"/>
              <a:pathLst>
                <a:path w="437771" h="2154057" extrusionOk="0">
                  <a:moveTo>
                    <a:pt x="437771" y="2154058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5" name="struct.group.77"/>
          <p:cNvGrpSpPr/>
          <p:nvPr/>
        </p:nvGrpSpPr>
        <p:grpSpPr>
          <a:xfrm>
            <a:off x="4114284" y="2996787"/>
            <a:ext cx="98477" cy="460081"/>
            <a:chOff x="4112688" y="2996787"/>
            <a:chExt cx="98497" cy="460081"/>
          </a:xfrm>
          <a:effectLst/>
        </p:grpSpPr>
        <p:sp>
          <p:nvSpPr>
            <p:cNvPr id="296" name="struct.link.56"/>
            <p:cNvSpPr/>
            <p:nvPr/>
          </p:nvSpPr>
          <p:spPr>
            <a:xfrm>
              <a:off x="4117511" y="3012143"/>
              <a:ext cx="90520" cy="421689"/>
            </a:xfrm>
            <a:custGeom>
              <a:avLst/>
              <a:gdLst/>
              <a:ahLst/>
              <a:cxnLst/>
              <a:rect l="l" t="t" r="r" b="b"/>
              <a:pathLst>
                <a:path w="109442" h="1539573" extrusionOk="0">
                  <a:moveTo>
                    <a:pt x="0" y="1539574"/>
                  </a:moveTo>
                  <a:lnTo>
                    <a:pt x="109443" y="0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7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7" name="struct.group.78"/>
          <p:cNvGrpSpPr/>
          <p:nvPr/>
        </p:nvGrpSpPr>
        <p:grpSpPr>
          <a:xfrm>
            <a:off x="5298645" y="3072261"/>
            <a:ext cx="16266" cy="447679"/>
            <a:chOff x="5297294" y="3072261"/>
            <a:chExt cx="16269" cy="447679"/>
          </a:xfrm>
          <a:effectLst/>
        </p:grpSpPr>
        <p:sp>
          <p:nvSpPr>
            <p:cNvPr id="298" name="struct.link.57"/>
            <p:cNvSpPr/>
            <p:nvPr/>
          </p:nvSpPr>
          <p:spPr>
            <a:xfrm>
              <a:off x="5297958" y="3091024"/>
              <a:ext cx="15178" cy="416358"/>
            </a:xfrm>
            <a:custGeom>
              <a:avLst/>
              <a:gdLst/>
              <a:ahLst/>
              <a:cxnLst/>
              <a:rect l="l" t="t" r="r" b="b"/>
              <a:pathLst>
                <a:path w="71765" h="1851301" extrusionOk="0">
                  <a:moveTo>
                    <a:pt x="0" y="0"/>
                  </a:moveTo>
                  <a:lnTo>
                    <a:pt x="71766" y="1851301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7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9" name="struct.group.79"/>
          <p:cNvGrpSpPr/>
          <p:nvPr/>
        </p:nvGrpSpPr>
        <p:grpSpPr>
          <a:xfrm>
            <a:off x="4929454" y="4091073"/>
            <a:ext cx="370942" cy="5901"/>
            <a:chOff x="4928026" y="4091073"/>
            <a:chExt cx="371019" cy="5901"/>
          </a:xfrm>
          <a:effectLst/>
        </p:grpSpPr>
        <p:sp>
          <p:nvSpPr>
            <p:cNvPr id="300" name="struct.link.58"/>
            <p:cNvSpPr/>
            <p:nvPr/>
          </p:nvSpPr>
          <p:spPr>
            <a:xfrm>
              <a:off x="4939742" y="4091325"/>
              <a:ext cx="341800" cy="5447"/>
            </a:xfrm>
            <a:custGeom>
              <a:avLst/>
              <a:gdLst/>
              <a:ahLst/>
              <a:cxnLst/>
              <a:rect l="l" t="t" r="r" b="b"/>
              <a:pathLst>
                <a:path w="1616076" h="24220" extrusionOk="0">
                  <a:moveTo>
                    <a:pt x="1616077" y="0"/>
                  </a:moveTo>
                  <a:lnTo>
                    <a:pt x="0" y="24221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5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1" name="struct.group.80"/>
          <p:cNvGrpSpPr/>
          <p:nvPr/>
        </p:nvGrpSpPr>
        <p:grpSpPr>
          <a:xfrm>
            <a:off x="5318941" y="3666651"/>
            <a:ext cx="15413" cy="375554"/>
            <a:chOff x="5317594" y="3666651"/>
            <a:chExt cx="15416" cy="375554"/>
          </a:xfrm>
          <a:effectLst/>
        </p:grpSpPr>
        <p:sp>
          <p:nvSpPr>
            <p:cNvPr id="302" name="struct.link.59"/>
            <p:cNvSpPr/>
            <p:nvPr/>
          </p:nvSpPr>
          <p:spPr>
            <a:xfrm>
              <a:off x="5317594" y="3666651"/>
              <a:ext cx="14894" cy="363146"/>
            </a:xfrm>
            <a:custGeom>
              <a:avLst/>
              <a:gdLst/>
              <a:ahLst/>
              <a:cxnLst/>
              <a:rect l="l" t="t" r="r" b="b"/>
              <a:pathLst>
                <a:path w="70420" h="1614702" extrusionOk="0">
                  <a:moveTo>
                    <a:pt x="0" y="0"/>
                  </a:moveTo>
                  <a:lnTo>
                    <a:pt x="70420" y="1614702"/>
                  </a:lnTo>
                </a:path>
              </a:pathLst>
            </a:custGeom>
            <a:noFill/>
            <a:ln w="9525" cap="rnd" cmpd="sng">
              <a:solidFill>
                <a:schemeClr val="bg1">
                  <a:lumMod val="5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600"/>
                <a:buFont typeface="Arial"/>
                <a:buNone/>
                <a:tabLst/>
                <a:defRPr/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03" name="struct.line.24"/>
          <p:cNvCxnSpPr/>
          <p:nvPr/>
        </p:nvCxnSpPr>
        <p:spPr>
          <a:xfrm>
            <a:off x="4167599" y="4195995"/>
            <a:ext cx="277743" cy="21870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304" name="struct.line.25"/>
          <p:cNvCxnSpPr/>
          <p:nvPr/>
        </p:nvCxnSpPr>
        <p:spPr>
          <a:xfrm rot="10800000" flipH="1">
            <a:off x="4605712" y="4184864"/>
            <a:ext cx="211156" cy="22980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sp>
        <p:nvSpPr>
          <p:cNvPr id="305" name="struct.horizon.2.node.3"/>
          <p:cNvSpPr/>
          <p:nvPr/>
        </p:nvSpPr>
        <p:spPr>
          <a:xfrm>
            <a:off x="4412143" y="4381450"/>
            <a:ext cx="226800" cy="2268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spcFirstLastPara="1" wrap="square" lIns="112900" tIns="56425" rIns="112900" bIns="56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741"/>
              <a:buFont typeface="Arial"/>
              <a:buNone/>
              <a:tabLst/>
              <a:defRPr/>
            </a:pPr>
            <a:endParaRPr kumimoji="0" sz="617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struct.horizon.2.node.4"/>
          <p:cNvSpPr/>
          <p:nvPr/>
        </p:nvSpPr>
        <p:spPr>
          <a:xfrm>
            <a:off x="4109943" y="2812820"/>
            <a:ext cx="226800" cy="2268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spcFirstLastPara="1" wrap="square" lIns="112900" tIns="56425" rIns="112900" bIns="56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741"/>
              <a:buFont typeface="Arial"/>
              <a:buNone/>
              <a:tabLst/>
              <a:defRPr/>
            </a:pPr>
            <a:endParaRPr kumimoji="0" sz="617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7" name="struct.group.81"/>
          <p:cNvGrpSpPr/>
          <p:nvPr/>
        </p:nvGrpSpPr>
        <p:grpSpPr>
          <a:xfrm>
            <a:off x="4165052" y="2933188"/>
            <a:ext cx="109587" cy="66996"/>
            <a:chOff x="4163467" y="2933188"/>
            <a:chExt cx="109610" cy="66996"/>
          </a:xfrm>
          <a:effectLst/>
        </p:grpSpPr>
      </p:grpSp>
      <p:sp>
        <p:nvSpPr>
          <p:cNvPr id="308" name="struct.horizon.2.node.5"/>
          <p:cNvSpPr/>
          <p:nvPr/>
        </p:nvSpPr>
        <p:spPr>
          <a:xfrm>
            <a:off x="4009529" y="3419603"/>
            <a:ext cx="226800" cy="2268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112900" tIns="56425" rIns="112900" bIns="56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741"/>
              <a:buFont typeface="Arial"/>
              <a:buNone/>
              <a:tabLst/>
              <a:defRPr/>
            </a:pPr>
            <a:endParaRPr kumimoji="0" sz="617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9" name="struct.group.82"/>
          <p:cNvGrpSpPr/>
          <p:nvPr/>
        </p:nvGrpSpPr>
        <p:grpSpPr>
          <a:xfrm>
            <a:off x="4064026" y="3545997"/>
            <a:ext cx="109587" cy="66996"/>
            <a:chOff x="4062420" y="3545997"/>
            <a:chExt cx="109610" cy="66996"/>
          </a:xfrm>
          <a:effectLst/>
        </p:grpSpPr>
      </p:grpSp>
      <p:sp>
        <p:nvSpPr>
          <p:cNvPr id="310" name="struct.horizon.2.node.6"/>
          <p:cNvSpPr/>
          <p:nvPr/>
        </p:nvSpPr>
        <p:spPr>
          <a:xfrm>
            <a:off x="4054199" y="3969195"/>
            <a:ext cx="226800" cy="2268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spcFirstLastPara="1" wrap="square" lIns="112900" tIns="56425" rIns="112900" bIns="56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741"/>
              <a:buFont typeface="Arial"/>
              <a:buNone/>
              <a:tabLst/>
              <a:defRPr/>
            </a:pPr>
            <a:endParaRPr kumimoji="0" sz="617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1" name="struct.group.83"/>
          <p:cNvGrpSpPr/>
          <p:nvPr/>
        </p:nvGrpSpPr>
        <p:grpSpPr>
          <a:xfrm>
            <a:off x="4112850" y="4088349"/>
            <a:ext cx="109587" cy="66996"/>
            <a:chOff x="4111254" y="4088349"/>
            <a:chExt cx="109610" cy="66996"/>
          </a:xfrm>
          <a:effectLst/>
        </p:grpSpPr>
      </p:grpSp>
      <p:sp>
        <p:nvSpPr>
          <p:cNvPr id="312" name="struct.horizon.2.node.7"/>
          <p:cNvSpPr/>
          <p:nvPr/>
        </p:nvSpPr>
        <p:spPr>
          <a:xfrm>
            <a:off x="4395393" y="3682276"/>
            <a:ext cx="228900" cy="229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112900" tIns="56425" rIns="112900" bIns="56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741"/>
              <a:buFont typeface="Arial"/>
              <a:buNone/>
              <a:tabLst/>
              <a:defRPr/>
            </a:pPr>
            <a:endParaRPr kumimoji="0" sz="617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3" name="struct.group.84"/>
          <p:cNvGrpSpPr/>
          <p:nvPr/>
        </p:nvGrpSpPr>
        <p:grpSpPr>
          <a:xfrm>
            <a:off x="4452534" y="3805165"/>
            <a:ext cx="109587" cy="66996"/>
            <a:chOff x="4451008" y="3805165"/>
            <a:chExt cx="109610" cy="66996"/>
          </a:xfrm>
          <a:effectLst/>
        </p:grpSpPr>
      </p:grpSp>
      <p:sp>
        <p:nvSpPr>
          <p:cNvPr id="314" name="struct.horizon.2.node.8"/>
          <p:cNvSpPr/>
          <p:nvPr/>
        </p:nvSpPr>
        <p:spPr>
          <a:xfrm>
            <a:off x="4609696" y="2665726"/>
            <a:ext cx="226800" cy="2268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spcFirstLastPara="1" wrap="square" lIns="112900" tIns="56425" rIns="112900" bIns="56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741"/>
              <a:buFont typeface="Arial"/>
              <a:buNone/>
              <a:tabLst/>
              <a:defRPr/>
            </a:pPr>
            <a:endParaRPr kumimoji="0" sz="617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5" name="struct.group.85"/>
          <p:cNvGrpSpPr/>
          <p:nvPr/>
        </p:nvGrpSpPr>
        <p:grpSpPr>
          <a:xfrm>
            <a:off x="4666138" y="2782508"/>
            <a:ext cx="109587" cy="66996"/>
            <a:chOff x="4664656" y="2782508"/>
            <a:chExt cx="109610" cy="66996"/>
          </a:xfrm>
          <a:effectLst/>
        </p:grpSpPr>
      </p:grpSp>
      <p:sp>
        <p:nvSpPr>
          <p:cNvPr id="316" name="struct.horizon.2.node.9"/>
          <p:cNvSpPr/>
          <p:nvPr/>
        </p:nvSpPr>
        <p:spPr>
          <a:xfrm>
            <a:off x="5175762" y="2890015"/>
            <a:ext cx="226800" cy="2268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spcFirstLastPara="1" wrap="square" lIns="112900" tIns="56425" rIns="112900" bIns="56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741"/>
              <a:buFont typeface="Arial"/>
              <a:buNone/>
              <a:tabLst/>
              <a:defRPr/>
            </a:pPr>
            <a:endParaRPr kumimoji="0" sz="617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7" name="struct.group.86"/>
          <p:cNvGrpSpPr/>
          <p:nvPr/>
        </p:nvGrpSpPr>
        <p:grpSpPr>
          <a:xfrm>
            <a:off x="5234561" y="3008042"/>
            <a:ext cx="109587" cy="66996"/>
            <a:chOff x="5233196" y="3008042"/>
            <a:chExt cx="109610" cy="66996"/>
          </a:xfrm>
          <a:effectLst/>
        </p:grpSpPr>
      </p:grpSp>
      <p:sp>
        <p:nvSpPr>
          <p:cNvPr id="318" name="struct.horizon.2.node.10"/>
          <p:cNvSpPr/>
          <p:nvPr/>
        </p:nvSpPr>
        <p:spPr>
          <a:xfrm>
            <a:off x="5216184" y="3496767"/>
            <a:ext cx="226800" cy="2268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spcFirstLastPara="1" wrap="square" lIns="112900" tIns="56425" rIns="112900" bIns="56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741"/>
              <a:buFont typeface="Arial"/>
              <a:buNone/>
              <a:tabLst/>
              <a:defRPr/>
            </a:pPr>
            <a:endParaRPr kumimoji="0" sz="617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9" name="struct.group.87"/>
          <p:cNvGrpSpPr/>
          <p:nvPr/>
        </p:nvGrpSpPr>
        <p:grpSpPr>
          <a:xfrm>
            <a:off x="5272970" y="3616420"/>
            <a:ext cx="109587" cy="66996"/>
            <a:chOff x="5271613" y="3616420"/>
            <a:chExt cx="109610" cy="66996"/>
          </a:xfrm>
          <a:effectLst/>
        </p:grpSpPr>
      </p:grpSp>
      <p:sp>
        <p:nvSpPr>
          <p:cNvPr id="320" name="struct.horizon.2.node.11"/>
          <p:cNvSpPr/>
          <p:nvPr/>
        </p:nvSpPr>
        <p:spPr>
          <a:xfrm>
            <a:off x="5263622" y="3978220"/>
            <a:ext cx="226800" cy="2268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spcFirstLastPara="1" wrap="square" lIns="112900" tIns="56425" rIns="112900" bIns="56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741"/>
              <a:buFont typeface="Arial"/>
              <a:buNone/>
              <a:tabLst/>
              <a:defRPr/>
            </a:pPr>
            <a:endParaRPr kumimoji="0" sz="617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1" name="struct.group.88"/>
          <p:cNvGrpSpPr/>
          <p:nvPr/>
        </p:nvGrpSpPr>
        <p:grpSpPr>
          <a:xfrm>
            <a:off x="5318998" y="4098781"/>
            <a:ext cx="109587" cy="66996"/>
            <a:chOff x="5317651" y="4098781"/>
            <a:chExt cx="109610" cy="66996"/>
          </a:xfrm>
          <a:effectLst/>
        </p:grpSpPr>
      </p:grpSp>
      <p:sp>
        <p:nvSpPr>
          <p:cNvPr id="322" name="struct.horizon.2.node.12"/>
          <p:cNvSpPr/>
          <p:nvPr/>
        </p:nvSpPr>
        <p:spPr>
          <a:xfrm>
            <a:off x="4783666" y="3991326"/>
            <a:ext cx="226800" cy="2268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112900" tIns="56425" rIns="112900" bIns="56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741"/>
              <a:buFont typeface="Arial"/>
              <a:buNone/>
              <a:tabLst/>
              <a:defRPr/>
            </a:pPr>
            <a:endParaRPr kumimoji="0" sz="617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3" name="struct.group.89"/>
          <p:cNvGrpSpPr/>
          <p:nvPr/>
        </p:nvGrpSpPr>
        <p:grpSpPr>
          <a:xfrm>
            <a:off x="4841924" y="4109794"/>
            <a:ext cx="109587" cy="66996"/>
            <a:chOff x="4840478" y="4109794"/>
            <a:chExt cx="109610" cy="66996"/>
          </a:xfrm>
          <a:effectLst/>
        </p:grpSpPr>
      </p:grpSp>
      <p:grpSp>
        <p:nvGrpSpPr>
          <p:cNvPr id="324" name="struct.group.90"/>
          <p:cNvGrpSpPr/>
          <p:nvPr/>
        </p:nvGrpSpPr>
        <p:grpSpPr>
          <a:xfrm>
            <a:off x="4466624" y="4499017"/>
            <a:ext cx="109587" cy="66996"/>
            <a:chOff x="4465101" y="4499017"/>
            <a:chExt cx="109610" cy="66996"/>
          </a:xfrm>
          <a:effectLst/>
        </p:grpSpPr>
      </p:grpSp>
      <p:sp>
        <p:nvSpPr>
          <p:cNvPr id="325" name="struct.horizon.2.node.13"/>
          <p:cNvSpPr/>
          <p:nvPr/>
        </p:nvSpPr>
        <p:spPr>
          <a:xfrm>
            <a:off x="4612858" y="3310855"/>
            <a:ext cx="226800" cy="2268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112900" tIns="56425" rIns="112900" bIns="56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741"/>
              <a:buFont typeface="Arial"/>
              <a:buNone/>
              <a:tabLst/>
              <a:defRPr/>
            </a:pPr>
            <a:endParaRPr kumimoji="0" sz="617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slot.horizon.2.step.10"/>
          <p:cNvSpPr txBox="1"/>
          <p:nvPr/>
        </p:nvSpPr>
        <p:spPr>
          <a:xfrm>
            <a:off x="5207325" y="4276154"/>
            <a:ext cx="420537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Pay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7" name="slot.horizon.2.step.11"/>
          <p:cNvSpPr txBox="1"/>
          <p:nvPr/>
        </p:nvSpPr>
        <p:spPr>
          <a:xfrm>
            <a:off x="4217475" y="4647162"/>
            <a:ext cx="563584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Close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8" name="slot.horizon.2.step.8"/>
          <p:cNvSpPr txBox="1"/>
          <p:nvPr/>
        </p:nvSpPr>
        <p:spPr>
          <a:xfrm>
            <a:off x="3842320" y="4229987"/>
            <a:ext cx="420537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Fraud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9" name="slot.horizon.2.step.1"/>
          <p:cNvSpPr txBox="1"/>
          <p:nvPr/>
        </p:nvSpPr>
        <p:spPr>
          <a:xfrm>
            <a:off x="4454799" y="2415543"/>
            <a:ext cx="546187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Intake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0" name="slot.horizon.2.step.2"/>
          <p:cNvSpPr txBox="1"/>
          <p:nvPr/>
        </p:nvSpPr>
        <p:spPr>
          <a:xfrm>
            <a:off x="3889527" y="2487244"/>
            <a:ext cx="506295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Notice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1" name="slot.horizon.2.step.3"/>
          <p:cNvSpPr txBox="1"/>
          <p:nvPr/>
        </p:nvSpPr>
        <p:spPr>
          <a:xfrm>
            <a:off x="5120300" y="2561825"/>
            <a:ext cx="433411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Policy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2" name="slot.horizon.2.step.4"/>
          <p:cNvSpPr txBox="1"/>
          <p:nvPr/>
        </p:nvSpPr>
        <p:spPr>
          <a:xfrm>
            <a:off x="3877431" y="3103703"/>
            <a:ext cx="477501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Triage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3" name="slot.horizon.2.step.5"/>
          <p:cNvSpPr txBox="1"/>
          <p:nvPr/>
        </p:nvSpPr>
        <p:spPr>
          <a:xfrm>
            <a:off x="4511001" y="3070238"/>
            <a:ext cx="444808" cy="1645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Verify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4" name="slot.horizon.2.step.6"/>
          <p:cNvSpPr txBox="1"/>
          <p:nvPr/>
        </p:nvSpPr>
        <p:spPr>
          <a:xfrm>
            <a:off x="4646638" y="3625889"/>
            <a:ext cx="420537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Assess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5" name="slot.horizon.2.step.7"/>
          <p:cNvSpPr txBox="1"/>
          <p:nvPr/>
        </p:nvSpPr>
        <p:spPr>
          <a:xfrm>
            <a:off x="5072222" y="3172880"/>
            <a:ext cx="529391" cy="1645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Reserve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6" name="slot.horizon.2.party.1"/>
          <p:cNvSpPr txBox="1"/>
          <p:nvPr/>
        </p:nvSpPr>
        <p:spPr>
          <a:xfrm>
            <a:off x="3349075" y="2852928"/>
            <a:ext cx="420537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Client</a:t>
            </a:r>
            <a:endParaRPr lang="en-US" sz="8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337" name="struct.group.91"/>
          <p:cNvGrpSpPr/>
          <p:nvPr/>
        </p:nvGrpSpPr>
        <p:grpSpPr>
          <a:xfrm>
            <a:off x="3451457" y="3118414"/>
            <a:ext cx="216010" cy="216011"/>
            <a:chOff x="3449747" y="3118414"/>
            <a:chExt cx="216010" cy="216011"/>
          </a:xfrm>
          <a:effectLst/>
        </p:grpSpPr>
        <p:sp>
          <p:nvSpPr>
            <p:cNvPr id="338" name="struct.horizon.2.node.14"/>
            <p:cNvSpPr/>
            <p:nvPr/>
          </p:nvSpPr>
          <p:spPr>
            <a:xfrm>
              <a:off x="3449747" y="3118414"/>
              <a:ext cx="216010" cy="21601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9" name="struct.group.92"/>
          <p:cNvGrpSpPr/>
          <p:nvPr/>
        </p:nvGrpSpPr>
        <p:grpSpPr>
          <a:xfrm>
            <a:off x="3451457" y="3814662"/>
            <a:ext cx="216010" cy="216010"/>
            <a:chOff x="3449747" y="3814662"/>
            <a:chExt cx="216010" cy="216010"/>
          </a:xfrm>
          <a:effectLst/>
        </p:grpSpPr>
        <p:sp>
          <p:nvSpPr>
            <p:cNvPr id="340" name="struct.horizon.2.node.15"/>
            <p:cNvSpPr/>
            <p:nvPr/>
          </p:nvSpPr>
          <p:spPr>
            <a:xfrm>
              <a:off x="3449747" y="3814662"/>
              <a:ext cx="216010" cy="21601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41" name="struct.line.26"/>
          <p:cNvCxnSpPr/>
          <p:nvPr/>
        </p:nvCxnSpPr>
        <p:spPr>
          <a:xfrm>
            <a:off x="4716458" y="4956330"/>
            <a:ext cx="0" cy="224400"/>
          </a:xfrm>
          <a:prstGeom prst="straightConnector1">
            <a:avLst/>
          </a:prstGeom>
          <a:noFill/>
          <a:ln w="14250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cxnSp>
        <p:nvCxnSpPr>
          <p:cNvPr id="342" name="struct.line.27"/>
          <p:cNvCxnSpPr/>
          <p:nvPr/>
        </p:nvCxnSpPr>
        <p:spPr>
          <a:xfrm>
            <a:off x="3667445" y="3226419"/>
            <a:ext cx="375223" cy="226500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343" name="struct.line.28"/>
          <p:cNvCxnSpPr/>
          <p:nvPr/>
        </p:nvCxnSpPr>
        <p:spPr>
          <a:xfrm rot="10800000" flipH="1">
            <a:off x="3667445" y="3613067"/>
            <a:ext cx="375223" cy="309600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344" name="struct.line.29"/>
          <p:cNvCxnSpPr/>
          <p:nvPr/>
        </p:nvCxnSpPr>
        <p:spPr>
          <a:xfrm rot="10800000" flipH="1">
            <a:off x="5409753" y="3226381"/>
            <a:ext cx="394419" cy="303600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345" name="struct.line.30"/>
          <p:cNvCxnSpPr/>
          <p:nvPr/>
        </p:nvCxnSpPr>
        <p:spPr>
          <a:xfrm>
            <a:off x="5409753" y="3690353"/>
            <a:ext cx="394419" cy="232200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sp>
        <p:nvSpPr>
          <p:cNvPr id="346" name="slot.horizon.2.net.head"/>
          <p:cNvSpPr txBox="1"/>
          <p:nvPr/>
        </p:nvSpPr>
        <p:spPr>
          <a:xfrm>
            <a:off x="3924411" y="2203704"/>
            <a:ext cx="786222" cy="1645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Agent assist</a:t>
            </a:r>
            <a:endParaRPr lang="en-US" sz="9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47" name="struct.line.31"/>
          <p:cNvCxnSpPr/>
          <p:nvPr/>
        </p:nvCxnSpPr>
        <p:spPr>
          <a:xfrm rot="10800000" flipH="1">
            <a:off x="4236306" y="3424403"/>
            <a:ext cx="376722" cy="108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348" name="struct.line.32"/>
          <p:cNvCxnSpPr/>
          <p:nvPr/>
        </p:nvCxnSpPr>
        <p:spPr>
          <a:xfrm rot="10800000">
            <a:off x="4839634" y="3424255"/>
            <a:ext cx="379422" cy="14940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5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349" name="struct.horizon.2.node.16"/>
          <p:cNvSpPr/>
          <p:nvPr/>
        </p:nvSpPr>
        <p:spPr>
          <a:xfrm>
            <a:off x="4941910" y="4431796"/>
            <a:ext cx="227100" cy="2271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72150" tIns="72150" rIns="72150" bIns="721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105"/>
              <a:buFont typeface="Arial"/>
              <a:buNone/>
              <a:tabLst/>
              <a:defRPr/>
            </a:pPr>
            <a:endParaRPr kumimoji="0" sz="1105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0" name="struct.line.33"/>
          <p:cNvCxnSpPr/>
          <p:nvPr/>
        </p:nvCxnSpPr>
        <p:spPr>
          <a:xfrm rot="10800000" flipH="1">
            <a:off x="5109391" y="4171806"/>
            <a:ext cx="187461" cy="27240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5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351" name="struct.line.34"/>
          <p:cNvCxnSpPr/>
          <p:nvPr/>
        </p:nvCxnSpPr>
        <p:spPr>
          <a:xfrm rot="10800000" flipH="1">
            <a:off x="5644725" y="4049329"/>
            <a:ext cx="187461" cy="27240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5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352" name="struct.line.35"/>
          <p:cNvCxnSpPr/>
          <p:nvPr/>
        </p:nvCxnSpPr>
        <p:spPr>
          <a:xfrm>
            <a:off x="4631439" y="4495500"/>
            <a:ext cx="310436" cy="7380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5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353" name="struct.line.36"/>
          <p:cNvCxnSpPr/>
          <p:nvPr/>
        </p:nvCxnSpPr>
        <p:spPr>
          <a:xfrm rot="10800000">
            <a:off x="4919056" y="4215318"/>
            <a:ext cx="86682" cy="231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354" name="struct.line.37"/>
          <p:cNvCxnSpPr/>
          <p:nvPr/>
        </p:nvCxnSpPr>
        <p:spPr>
          <a:xfrm rot="10800000">
            <a:off x="4509843" y="3911476"/>
            <a:ext cx="462505" cy="567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355" name="slot.horizon.2.step.9"/>
          <p:cNvSpPr txBox="1"/>
          <p:nvPr/>
        </p:nvSpPr>
        <p:spPr>
          <a:xfrm>
            <a:off x="4625528" y="4226972"/>
            <a:ext cx="433710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Settle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356" name="struct.legend.1"/>
          <p:cNvGrpSpPr/>
          <p:nvPr/>
        </p:nvGrpSpPr>
        <p:grpSpPr>
          <a:xfrm>
            <a:off x="3083437" y="6430183"/>
            <a:ext cx="193210" cy="193242"/>
            <a:chOff x="3081648" y="6430183"/>
            <a:chExt cx="193210" cy="193242"/>
          </a:xfrm>
          <a:effectLst/>
        </p:grpSpPr>
        <p:sp>
          <p:nvSpPr>
            <p:cNvPr id="357" name="struct.legend.1.disc"/>
            <p:cNvSpPr/>
            <p:nvPr/>
          </p:nvSpPr>
          <p:spPr>
            <a:xfrm>
              <a:off x="3081648" y="6430183"/>
              <a:ext cx="193210" cy="19324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54775" tIns="54775" rIns="54775" bIns="5477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839"/>
                <a:buFont typeface="Arial"/>
                <a:buNone/>
                <a:tabLst/>
                <a:defRPr/>
              </a:pPr>
              <a:endParaRPr kumimoji="0" sz="839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8" name="slot.legend.head"/>
          <p:cNvSpPr/>
          <p:nvPr/>
        </p:nvSpPr>
        <p:spPr>
          <a:xfrm>
            <a:off x="2105131" y="6437376"/>
            <a:ext cx="914211" cy="173736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Step owner</a:t>
            </a:r>
            <a:endParaRPr lang="en-US" sz="9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9" name="slot.legend.1"/>
          <p:cNvSpPr/>
          <p:nvPr/>
        </p:nvSpPr>
        <p:spPr>
          <a:xfrm>
            <a:off x="3330174" y="6437376"/>
            <a:ext cx="566811" cy="173736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Person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360" name="struct.legend.2"/>
          <p:cNvGrpSpPr/>
          <p:nvPr/>
        </p:nvGrpSpPr>
        <p:grpSpPr>
          <a:xfrm>
            <a:off x="3963930" y="6430183"/>
            <a:ext cx="193210" cy="193242"/>
            <a:chOff x="3962323" y="6430183"/>
            <a:chExt cx="193210" cy="193242"/>
          </a:xfrm>
          <a:effectLst/>
        </p:grpSpPr>
        <p:sp>
          <p:nvSpPr>
            <p:cNvPr id="361" name="struct.legend.2.disc"/>
            <p:cNvSpPr/>
            <p:nvPr/>
          </p:nvSpPr>
          <p:spPr>
            <a:xfrm>
              <a:off x="3962323" y="6430183"/>
              <a:ext cx="193210" cy="1932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4775" tIns="54775" rIns="54775" bIns="5477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839"/>
                <a:buFont typeface="Arial"/>
                <a:buNone/>
                <a:tabLst/>
                <a:defRPr/>
              </a:pPr>
              <a:endParaRPr kumimoji="0" sz="839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2" name="slot.legend.2"/>
          <p:cNvSpPr/>
          <p:nvPr/>
        </p:nvSpPr>
        <p:spPr>
          <a:xfrm>
            <a:off x="4207817" y="6437376"/>
            <a:ext cx="639948" cy="173736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Agent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3" name="slot.horizon.1.team.icon.1"/>
          <p:cNvSpPr/>
          <p:nvPr/>
        </p:nvSpPr>
        <p:spPr>
          <a:xfrm>
            <a:off x="754817" y="165232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19050" cap="rnd">
            <a:solidFill>
              <a:schemeClr val="tx1">
                <a:lumMod val="80000"/>
                <a:lumOff val="20000"/>
              </a:schemeClr>
            </a:solidFill>
            <a:round/>
          </a:ln>
          <a:effectLst/>
        </p:spPr>
      </p:sp>
      <p:sp>
        <p:nvSpPr>
          <p:cNvPr id="364" name="slot.horizon.1.team.icon.2"/>
          <p:cNvSpPr/>
          <p:nvPr/>
        </p:nvSpPr>
        <p:spPr>
          <a:xfrm>
            <a:off x="1079362" y="165232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19050" cap="rnd">
            <a:solidFill>
              <a:schemeClr val="tx1">
                <a:lumMod val="80000"/>
                <a:lumOff val="20000"/>
              </a:schemeClr>
            </a:solidFill>
            <a:round/>
          </a:ln>
          <a:effectLst/>
        </p:spPr>
      </p:sp>
      <p:sp>
        <p:nvSpPr>
          <p:cNvPr id="365" name="slot.horizon.1.team.icon.3"/>
          <p:cNvSpPr/>
          <p:nvPr/>
        </p:nvSpPr>
        <p:spPr>
          <a:xfrm>
            <a:off x="1403907" y="165232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19050" cap="rnd">
            <a:solidFill>
              <a:schemeClr val="tx1">
                <a:lumMod val="80000"/>
                <a:lumOff val="20000"/>
              </a:schemeClr>
            </a:solidFill>
            <a:round/>
          </a:ln>
          <a:effectLst/>
        </p:spPr>
      </p:sp>
      <p:sp>
        <p:nvSpPr>
          <p:cNvPr id="366" name="slot.horizon.1.team.icon.4"/>
          <p:cNvSpPr/>
          <p:nvPr/>
        </p:nvSpPr>
        <p:spPr>
          <a:xfrm>
            <a:off x="1728452" y="165232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19050" cap="rnd">
            <a:solidFill>
              <a:schemeClr val="tx1">
                <a:lumMod val="80000"/>
                <a:lumOff val="20000"/>
              </a:schemeClr>
            </a:solidFill>
            <a:round/>
          </a:ln>
          <a:effectLst/>
        </p:spPr>
      </p:sp>
      <p:sp>
        <p:nvSpPr>
          <p:cNvPr id="367" name="slot.horizon.1.team.icon.5"/>
          <p:cNvSpPr/>
          <p:nvPr/>
        </p:nvSpPr>
        <p:spPr>
          <a:xfrm>
            <a:off x="2052997" y="165232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19050" cap="rnd">
            <a:solidFill>
              <a:schemeClr val="tx1">
                <a:lumMod val="80000"/>
                <a:lumOff val="20000"/>
              </a:schemeClr>
            </a:solidFill>
            <a:round/>
          </a:ln>
          <a:effectLst/>
        </p:spPr>
      </p:sp>
      <p:sp>
        <p:nvSpPr>
          <p:cNvPr id="368" name="slot.horizon.1.team.icon.6"/>
          <p:cNvSpPr/>
          <p:nvPr/>
        </p:nvSpPr>
        <p:spPr>
          <a:xfrm>
            <a:off x="2377542" y="165232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19050" cap="rnd">
            <a:solidFill>
              <a:schemeClr val="tx1">
                <a:lumMod val="80000"/>
                <a:lumOff val="20000"/>
              </a:schemeClr>
            </a:solidFill>
            <a:round/>
          </a:ln>
          <a:effectLst/>
        </p:spPr>
      </p:sp>
      <p:sp>
        <p:nvSpPr>
          <p:cNvPr id="369" name="slot.horizon.2.team.icon.1"/>
          <p:cNvSpPr/>
          <p:nvPr/>
        </p:nvSpPr>
        <p:spPr>
          <a:xfrm>
            <a:off x="4383322" y="165232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19050" cap="rnd">
            <a:solidFill>
              <a:schemeClr val="tx1">
                <a:lumMod val="80000"/>
                <a:lumOff val="20000"/>
              </a:schemeClr>
            </a:solidFill>
            <a:round/>
          </a:ln>
          <a:effectLst/>
        </p:spPr>
      </p:sp>
      <p:sp>
        <p:nvSpPr>
          <p:cNvPr id="370" name="slot.horizon.2.team.icon.2"/>
          <p:cNvSpPr/>
          <p:nvPr/>
        </p:nvSpPr>
        <p:spPr>
          <a:xfrm>
            <a:off x="4707867" y="165232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19050" cap="rnd">
            <a:solidFill>
              <a:schemeClr val="tx1">
                <a:lumMod val="80000"/>
                <a:lumOff val="20000"/>
              </a:schemeClr>
            </a:solidFill>
            <a:round/>
          </a:ln>
          <a:effectLst/>
        </p:spPr>
      </p:sp>
      <p:sp>
        <p:nvSpPr>
          <p:cNvPr id="371" name="slot.horizon.2.team.icon.3"/>
          <p:cNvSpPr/>
          <p:nvPr/>
        </p:nvSpPr>
        <p:spPr>
          <a:xfrm>
            <a:off x="5032412" y="165232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19050" cap="rnd">
            <a:solidFill>
              <a:schemeClr val="tx1">
                <a:lumMod val="80000"/>
                <a:lumOff val="20000"/>
              </a:schemeClr>
            </a:solidFill>
            <a:round/>
          </a:ln>
          <a:effectLst/>
        </p:spPr>
      </p:sp>
      <p:sp>
        <p:nvSpPr>
          <p:cNvPr id="372" name="slot.horizon.2.team.icon.4"/>
          <p:cNvSpPr/>
          <p:nvPr/>
        </p:nvSpPr>
        <p:spPr>
          <a:xfrm>
            <a:off x="5356957" y="165232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19050" cap="rnd">
            <a:solidFill>
              <a:schemeClr val="tx1">
                <a:lumMod val="80000"/>
                <a:lumOff val="20000"/>
              </a:schemeClr>
            </a:solidFill>
            <a:round/>
          </a:ln>
          <a:effectLst/>
        </p:spPr>
      </p:sp>
      <p:sp>
        <p:nvSpPr>
          <p:cNvPr id="373" name="slot.horizon.3.team.icon.1"/>
          <p:cNvSpPr/>
          <p:nvPr/>
        </p:nvSpPr>
        <p:spPr>
          <a:xfrm>
            <a:off x="7365479" y="165232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19050" cap="rnd">
            <a:solidFill>
              <a:schemeClr val="tx1">
                <a:lumMod val="80000"/>
                <a:lumOff val="20000"/>
              </a:schemeClr>
            </a:solidFill>
            <a:round/>
          </a:ln>
          <a:effectLst/>
        </p:spPr>
      </p:sp>
      <p:sp>
        <p:nvSpPr>
          <p:cNvPr id="374" name="slot.horizon.3.team.icon.2"/>
          <p:cNvSpPr/>
          <p:nvPr/>
        </p:nvSpPr>
        <p:spPr>
          <a:xfrm>
            <a:off x="7690024" y="165232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19050" cap="rnd">
            <a:solidFill>
              <a:schemeClr val="tx1">
                <a:lumMod val="80000"/>
                <a:lumOff val="20000"/>
              </a:schemeClr>
            </a:solidFill>
            <a:round/>
          </a:ln>
          <a:effectLst/>
        </p:spPr>
      </p:sp>
      <p:sp>
        <p:nvSpPr>
          <p:cNvPr id="375" name="slot.horizon.3.team.icon.3"/>
          <p:cNvSpPr/>
          <p:nvPr/>
        </p:nvSpPr>
        <p:spPr>
          <a:xfrm>
            <a:off x="8014569" y="165232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19050" cap="rnd">
            <a:solidFill>
              <a:schemeClr val="tx1">
                <a:lumMod val="80000"/>
                <a:lumOff val="20000"/>
              </a:schemeClr>
            </a:solidFill>
            <a:round/>
          </a:ln>
          <a:effectLst/>
        </p:spPr>
      </p:sp>
      <p:sp>
        <p:nvSpPr>
          <p:cNvPr id="376" name="slot.horizon.4.team.icon.1"/>
          <p:cNvSpPr/>
          <p:nvPr/>
        </p:nvSpPr>
        <p:spPr>
          <a:xfrm>
            <a:off x="9691232" y="165232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19050" cap="rnd">
            <a:solidFill>
              <a:schemeClr val="tx1">
                <a:lumMod val="80000"/>
                <a:lumOff val="20000"/>
              </a:schemeClr>
            </a:solidFill>
            <a:round/>
          </a:ln>
          <a:effectLst/>
        </p:spPr>
      </p:sp>
      <p:sp>
        <p:nvSpPr>
          <p:cNvPr id="377" name="slot.horizon.4.team.icon.2"/>
          <p:cNvSpPr/>
          <p:nvPr/>
        </p:nvSpPr>
        <p:spPr>
          <a:xfrm>
            <a:off x="9993836" y="165232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19050" cap="rnd">
            <a:solidFill>
              <a:schemeClr val="tx1">
                <a:lumMod val="80000"/>
                <a:lumOff val="20000"/>
              </a:schemeClr>
            </a:solidFill>
            <a:round/>
          </a:ln>
          <a:effectLst/>
        </p:spPr>
      </p:sp>
      <p:sp>
        <p:nvSpPr>
          <p:cNvPr id="378" name="slot.today.member.1.icon"/>
          <p:cNvSpPr/>
          <p:nvPr/>
        </p:nvSpPr>
        <p:spPr>
          <a:xfrm>
            <a:off x="665229" y="259232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</p:sp>
      <p:sp>
        <p:nvSpPr>
          <p:cNvPr id="379" name="slot.today.member.2.icon"/>
          <p:cNvSpPr/>
          <p:nvPr/>
        </p:nvSpPr>
        <p:spPr>
          <a:xfrm>
            <a:off x="1817135" y="259232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10270"/>
                </a:moveTo>
                <a:lnTo>
                  <a:pt x="7000" y="3340"/>
                </a:lnTo>
                <a:moveTo>
                  <a:pt x="11000" y="13730"/>
                </a:moveTo>
                <a:lnTo>
                  <a:pt x="7000" y="20660"/>
                </a:lnTo>
                <a:moveTo>
                  <a:pt x="12000" y="22000"/>
                </a:moveTo>
                <a:lnTo>
                  <a:pt x="12000" y="20000"/>
                </a:lnTo>
                <a:moveTo>
                  <a:pt x="12000" y="2000"/>
                </a:moveTo>
                <a:lnTo>
                  <a:pt x="12000" y="4000"/>
                </a:lnTo>
                <a:moveTo>
                  <a:pt x="14000" y="12000"/>
                </a:moveTo>
                <a:lnTo>
                  <a:pt x="22000" y="12000"/>
                </a:lnTo>
                <a:moveTo>
                  <a:pt x="17000" y="20660"/>
                </a:moveTo>
                <a:lnTo>
                  <a:pt x="16000" y="18930"/>
                </a:lnTo>
                <a:moveTo>
                  <a:pt x="17000" y="3340"/>
                </a:moveTo>
                <a:lnTo>
                  <a:pt x="16000" y="5070"/>
                </a:lnTo>
                <a:moveTo>
                  <a:pt x="2000" y="12000"/>
                </a:moveTo>
                <a:lnTo>
                  <a:pt x="4000" y="12000"/>
                </a:lnTo>
                <a:moveTo>
                  <a:pt x="20660" y="17000"/>
                </a:moveTo>
                <a:lnTo>
                  <a:pt x="18930" y="16000"/>
                </a:lnTo>
                <a:moveTo>
                  <a:pt x="20660" y="7000"/>
                </a:moveTo>
                <a:lnTo>
                  <a:pt x="18930" y="8000"/>
                </a:lnTo>
                <a:moveTo>
                  <a:pt x="3340" y="17000"/>
                </a:moveTo>
                <a:lnTo>
                  <a:pt x="5070" y="16000"/>
                </a:lnTo>
                <a:moveTo>
                  <a:pt x="3340" y="7000"/>
                </a:moveTo>
                <a:lnTo>
                  <a:pt x="5070" y="8000"/>
                </a:lnTo>
                <a:moveTo>
                  <a:pt x="14000" y="12000"/>
                </a:moveTo>
                <a:cubicBezTo>
                  <a:pt x="14000" y="13105"/>
                  <a:pt x="13105" y="14000"/>
                  <a:pt x="12000" y="14000"/>
                </a:cubicBezTo>
                <a:cubicBezTo>
                  <a:pt x="10895" y="14000"/>
                  <a:pt x="10000" y="13105"/>
                  <a:pt x="10000" y="12000"/>
                </a:cubicBezTo>
                <a:cubicBezTo>
                  <a:pt x="10000" y="10895"/>
                  <a:pt x="10895" y="10000"/>
                  <a:pt x="12000" y="10000"/>
                </a:cubicBezTo>
                <a:cubicBezTo>
                  <a:pt x="13105" y="10000"/>
                  <a:pt x="14000" y="10895"/>
                  <a:pt x="14000" y="12000"/>
                </a:cubicBezTo>
                <a:close/>
                <a:moveTo>
                  <a:pt x="20000" y="12000"/>
                </a:moveTo>
                <a:cubicBezTo>
                  <a:pt x="20000" y="16418"/>
                  <a:pt x="16418" y="20000"/>
                  <a:pt x="12000" y="20000"/>
                </a:cubicBezTo>
                <a:cubicBezTo>
                  <a:pt x="7582" y="20000"/>
                  <a:pt x="4000" y="16418"/>
                  <a:pt x="4000" y="12000"/>
                </a:cubicBezTo>
                <a:cubicBezTo>
                  <a:pt x="4000" y="7582"/>
                  <a:pt x="7582" y="4000"/>
                  <a:pt x="12000" y="4000"/>
                </a:cubicBezTo>
                <a:cubicBezTo>
                  <a:pt x="16418" y="4000"/>
                  <a:pt x="20000" y="7582"/>
                  <a:pt x="20000" y="12000"/>
                </a:cubicBezTo>
                <a:close/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</p:sp>
      <p:sp>
        <p:nvSpPr>
          <p:cNvPr id="380" name="slot.today.hub.icon.1"/>
          <p:cNvSpPr/>
          <p:nvPr/>
        </p:nvSpPr>
        <p:spPr>
          <a:xfrm>
            <a:off x="1684575" y="385419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524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381" name="slot.today.hub.icon.2"/>
          <p:cNvSpPr/>
          <p:nvPr/>
        </p:nvSpPr>
        <p:spPr>
          <a:xfrm>
            <a:off x="1684575" y="4325112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7000"/>
                </a:moveTo>
                <a:lnTo>
                  <a:pt x="13009" y="12727"/>
                </a:lnTo>
                <a:cubicBezTo>
                  <a:pt x="12388" y="13088"/>
                  <a:pt x="11621" y="13088"/>
                  <a:pt x="11000" y="12727"/>
                </a:cubicBezTo>
                <a:lnTo>
                  <a:pt x="2000" y="7000"/>
                </a:lnTo>
                <a:moveTo>
                  <a:pt x="4000" y="4000"/>
                </a:moveTo>
                <a:lnTo>
                  <a:pt x="20000" y="4000"/>
                </a:lnTo>
                <a:cubicBezTo>
                  <a:pt x="21105" y="4000"/>
                  <a:pt x="22000" y="4895"/>
                  <a:pt x="22000" y="6000"/>
                </a:cubicBezTo>
                <a:lnTo>
                  <a:pt x="22000" y="18000"/>
                </a:lnTo>
                <a:cubicBezTo>
                  <a:pt x="22000" y="19105"/>
                  <a:pt x="21105" y="20000"/>
                  <a:pt x="20000" y="20000"/>
                </a:cubicBezTo>
                <a:lnTo>
                  <a:pt x="4000" y="20000"/>
                </a:lnTo>
                <a:cubicBezTo>
                  <a:pt x="2895" y="20000"/>
                  <a:pt x="2000" y="19105"/>
                  <a:pt x="2000" y="18000"/>
                </a:cubicBezTo>
                <a:lnTo>
                  <a:pt x="2000" y="6000"/>
                </a:lnTo>
                <a:cubicBezTo>
                  <a:pt x="2000" y="4895"/>
                  <a:pt x="2895" y="4000"/>
                  <a:pt x="4000" y="4000"/>
                </a:cubicBezTo>
                <a:close/>
              </a:path>
            </a:pathLst>
          </a:custGeom>
          <a:noFill/>
          <a:ln w="1524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382" name="slot.today.channel.1.icon"/>
          <p:cNvSpPr/>
          <p:nvPr/>
        </p:nvSpPr>
        <p:spPr>
          <a:xfrm>
            <a:off x="1192351" y="3944155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8000" y="13000"/>
                </a:moveTo>
                <a:lnTo>
                  <a:pt x="10000" y="13000"/>
                </a:lnTo>
                <a:moveTo>
                  <a:pt x="14000" y="13000"/>
                </a:moveTo>
                <a:lnTo>
                  <a:pt x="16000" y="13000"/>
                </a:lnTo>
                <a:moveTo>
                  <a:pt x="8000" y="17000"/>
                </a:moveTo>
                <a:lnTo>
                  <a:pt x="10000" y="17000"/>
                </a:lnTo>
                <a:moveTo>
                  <a:pt x="14000" y="17000"/>
                </a:moveTo>
                <a:lnTo>
                  <a:pt x="16000" y="17000"/>
                </a:lnTo>
              </a:path>
            </a:pathLst>
          </a:custGeom>
          <a:noFill/>
          <a:ln w="11430" cap="rnd">
            <a:solidFill>
              <a:schemeClr val="accent1"/>
            </a:solidFill>
            <a:round/>
          </a:ln>
          <a:effectLst/>
        </p:spPr>
      </p:sp>
      <p:sp>
        <p:nvSpPr>
          <p:cNvPr id="383" name="slot.today.channel.2.icon"/>
          <p:cNvSpPr/>
          <p:nvPr/>
        </p:nvSpPr>
        <p:spPr>
          <a:xfrm>
            <a:off x="1407142" y="3521528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832" y="16568"/>
                </a:moveTo>
                <a:cubicBezTo>
                  <a:pt x="14257" y="16763"/>
                  <a:pt x="14761" y="16637"/>
                  <a:pt x="15045" y="16265"/>
                </a:cubicBezTo>
                <a:lnTo>
                  <a:pt x="15400" y="15800"/>
                </a:lnTo>
                <a:cubicBezTo>
                  <a:pt x="15778" y="15296"/>
                  <a:pt x="16370" y="15000"/>
                  <a:pt x="17000" y="15000"/>
                </a:cubicBezTo>
                <a:lnTo>
                  <a:pt x="20000" y="15000"/>
                </a:lnTo>
                <a:cubicBezTo>
                  <a:pt x="21105" y="15000"/>
                  <a:pt x="22000" y="15895"/>
                  <a:pt x="22000" y="17000"/>
                </a:cubicBezTo>
                <a:lnTo>
                  <a:pt x="22000" y="20000"/>
                </a:lnTo>
                <a:cubicBezTo>
                  <a:pt x="22000" y="21105"/>
                  <a:pt x="21105" y="22000"/>
                  <a:pt x="20000" y="22000"/>
                </a:cubicBezTo>
                <a:cubicBezTo>
                  <a:pt x="10059" y="22000"/>
                  <a:pt x="2000" y="13941"/>
                  <a:pt x="2000" y="4000"/>
                </a:cubicBezTo>
                <a:cubicBezTo>
                  <a:pt x="2000" y="2895"/>
                  <a:pt x="2895" y="2000"/>
                  <a:pt x="4000" y="2000"/>
                </a:cubicBezTo>
                <a:lnTo>
                  <a:pt x="7000" y="2000"/>
                </a:lnTo>
                <a:cubicBezTo>
                  <a:pt x="8105" y="2000"/>
                  <a:pt x="9000" y="2895"/>
                  <a:pt x="9000" y="4000"/>
                </a:cubicBezTo>
                <a:lnTo>
                  <a:pt x="9000" y="7000"/>
                </a:lnTo>
                <a:cubicBezTo>
                  <a:pt x="9000" y="7630"/>
                  <a:pt x="8704" y="8222"/>
                  <a:pt x="8200" y="8600"/>
                </a:cubicBezTo>
                <a:lnTo>
                  <a:pt x="7732" y="8951"/>
                </a:lnTo>
                <a:cubicBezTo>
                  <a:pt x="7353" y="9240"/>
                  <a:pt x="7231" y="9756"/>
                  <a:pt x="7440" y="10184"/>
                </a:cubicBezTo>
                <a:cubicBezTo>
                  <a:pt x="8807" y="12960"/>
                  <a:pt x="11054" y="15205"/>
                  <a:pt x="13832" y="16568"/>
                </a:cubicBezTo>
              </a:path>
            </a:pathLst>
          </a:custGeom>
          <a:noFill/>
          <a:ln w="11430" cap="rnd">
            <a:solidFill>
              <a:schemeClr val="accent1"/>
            </a:solidFill>
            <a:round/>
          </a:ln>
          <a:effectLst/>
        </p:spPr>
      </p:sp>
      <p:sp>
        <p:nvSpPr>
          <p:cNvPr id="384" name="slot.today.channel.3.icon"/>
          <p:cNvSpPr/>
          <p:nvPr/>
        </p:nvSpPr>
        <p:spPr>
          <a:xfrm>
            <a:off x="2025195" y="3521528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7000"/>
                </a:moveTo>
                <a:lnTo>
                  <a:pt x="13009" y="12727"/>
                </a:lnTo>
                <a:cubicBezTo>
                  <a:pt x="12388" y="13088"/>
                  <a:pt x="11621" y="13088"/>
                  <a:pt x="11000" y="12727"/>
                </a:cubicBezTo>
                <a:lnTo>
                  <a:pt x="2000" y="7000"/>
                </a:lnTo>
                <a:moveTo>
                  <a:pt x="4000" y="4000"/>
                </a:moveTo>
                <a:lnTo>
                  <a:pt x="20000" y="4000"/>
                </a:lnTo>
                <a:cubicBezTo>
                  <a:pt x="21105" y="4000"/>
                  <a:pt x="22000" y="4895"/>
                  <a:pt x="22000" y="6000"/>
                </a:cubicBezTo>
                <a:lnTo>
                  <a:pt x="22000" y="18000"/>
                </a:lnTo>
                <a:cubicBezTo>
                  <a:pt x="22000" y="19105"/>
                  <a:pt x="21105" y="20000"/>
                  <a:pt x="20000" y="20000"/>
                </a:cubicBezTo>
                <a:lnTo>
                  <a:pt x="4000" y="20000"/>
                </a:lnTo>
                <a:cubicBezTo>
                  <a:pt x="2895" y="20000"/>
                  <a:pt x="2000" y="19105"/>
                  <a:pt x="2000" y="18000"/>
                </a:cubicBezTo>
                <a:lnTo>
                  <a:pt x="2000" y="6000"/>
                </a:lnTo>
                <a:cubicBezTo>
                  <a:pt x="2000" y="4895"/>
                  <a:pt x="2895" y="4000"/>
                  <a:pt x="4000" y="4000"/>
                </a:cubicBezTo>
                <a:close/>
              </a:path>
            </a:pathLst>
          </a:custGeom>
          <a:noFill/>
          <a:ln w="11430" cap="rnd">
            <a:solidFill>
              <a:schemeClr val="accent1"/>
            </a:solidFill>
            <a:round/>
          </a:ln>
          <a:effectLst/>
        </p:spPr>
      </p:sp>
      <p:sp>
        <p:nvSpPr>
          <p:cNvPr id="385" name="slot.today.channel.4.icon"/>
          <p:cNvSpPr/>
          <p:nvPr/>
        </p:nvSpPr>
        <p:spPr>
          <a:xfrm>
            <a:off x="2229183" y="3944155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11430" cap="rnd">
            <a:solidFill>
              <a:schemeClr val="accent1"/>
            </a:solidFill>
            <a:round/>
          </a:ln>
          <a:effectLst/>
        </p:spPr>
      </p:sp>
      <p:sp>
        <p:nvSpPr>
          <p:cNvPr id="386" name="slot.today.channel.5.icon"/>
          <p:cNvSpPr/>
          <p:nvPr/>
        </p:nvSpPr>
        <p:spPr>
          <a:xfrm>
            <a:off x="1230339" y="4440255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7000"/>
                </a:moveTo>
                <a:cubicBezTo>
                  <a:pt x="22000" y="18105"/>
                  <a:pt x="21105" y="19000"/>
                  <a:pt x="20000" y="19000"/>
                </a:cubicBezTo>
                <a:lnTo>
                  <a:pt x="6828" y="19000"/>
                </a:lnTo>
                <a:cubicBezTo>
                  <a:pt x="6298" y="19000"/>
                  <a:pt x="5789" y="19211"/>
                  <a:pt x="5414" y="19586"/>
                </a:cubicBezTo>
                <a:lnTo>
                  <a:pt x="3212" y="21788"/>
                </a:lnTo>
                <a:cubicBezTo>
                  <a:pt x="3009" y="21991"/>
                  <a:pt x="2704" y="22052"/>
                  <a:pt x="2438" y="21942"/>
                </a:cubicBezTo>
                <a:cubicBezTo>
                  <a:pt x="2173" y="21832"/>
                  <a:pt x="2000" y="21573"/>
                  <a:pt x="2000" y="21286"/>
                </a:cubicBezTo>
                <a:lnTo>
                  <a:pt x="2000" y="5000"/>
                </a:lnTo>
                <a:cubicBezTo>
                  <a:pt x="2000" y="3895"/>
                  <a:pt x="2895" y="3000"/>
                  <a:pt x="4000" y="3000"/>
                </a:cubicBezTo>
                <a:lnTo>
                  <a:pt x="20000" y="3000"/>
                </a:lnTo>
                <a:cubicBezTo>
                  <a:pt x="21105" y="3000"/>
                  <a:pt x="22000" y="3895"/>
                  <a:pt x="22000" y="5000"/>
                </a:cubicBezTo>
                <a:close/>
              </a:path>
            </a:pathLst>
          </a:custGeom>
          <a:noFill/>
          <a:ln w="11430" cap="rnd">
            <a:solidFill>
              <a:schemeClr val="accent1"/>
            </a:solidFill>
            <a:round/>
          </a:ln>
          <a:effectLst/>
        </p:spPr>
      </p:sp>
      <p:sp>
        <p:nvSpPr>
          <p:cNvPr id="387" name="slot.today.tools.1.icon"/>
          <p:cNvSpPr/>
          <p:nvPr/>
        </p:nvSpPr>
        <p:spPr>
          <a:xfrm>
            <a:off x="750977" y="5560661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4000" y="3000"/>
                </a:moveTo>
                <a:lnTo>
                  <a:pt x="20000" y="3000"/>
                </a:lnTo>
                <a:cubicBezTo>
                  <a:pt x="21105" y="3000"/>
                  <a:pt x="22000" y="3895"/>
                  <a:pt x="22000" y="5000"/>
                </a:cubicBezTo>
                <a:lnTo>
                  <a:pt x="22000" y="15000"/>
                </a:lnTo>
                <a:cubicBezTo>
                  <a:pt x="22000" y="16105"/>
                  <a:pt x="21105" y="17000"/>
                  <a:pt x="20000" y="17000"/>
                </a:cubicBezTo>
                <a:lnTo>
                  <a:pt x="4000" y="17000"/>
                </a:lnTo>
                <a:cubicBezTo>
                  <a:pt x="2895" y="17000"/>
                  <a:pt x="2000" y="16105"/>
                  <a:pt x="2000" y="15000"/>
                </a:cubicBezTo>
                <a:lnTo>
                  <a:pt x="2000" y="5000"/>
                </a:lnTo>
                <a:cubicBezTo>
                  <a:pt x="2000" y="3895"/>
                  <a:pt x="2895" y="3000"/>
                  <a:pt x="4000" y="3000"/>
                </a:cubicBezTo>
                <a:close/>
                <a:moveTo>
                  <a:pt x="8000" y="21000"/>
                </a:moveTo>
                <a:lnTo>
                  <a:pt x="16000" y="21000"/>
                </a:lnTo>
                <a:moveTo>
                  <a:pt x="12000" y="17000"/>
                </a:moveTo>
                <a:lnTo>
                  <a:pt x="12000" y="21000"/>
                </a:lnTo>
              </a:path>
            </a:pathLst>
          </a:custGeom>
          <a:noFill/>
          <a:ln w="1397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388" name="slot.today.tools.2.icon"/>
          <p:cNvSpPr/>
          <p:nvPr/>
        </p:nvSpPr>
        <p:spPr>
          <a:xfrm>
            <a:off x="1405458" y="5560661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7000"/>
                </a:moveTo>
                <a:lnTo>
                  <a:pt x="13009" y="12727"/>
                </a:lnTo>
                <a:cubicBezTo>
                  <a:pt x="12388" y="13088"/>
                  <a:pt x="11621" y="13088"/>
                  <a:pt x="11000" y="12727"/>
                </a:cubicBezTo>
                <a:lnTo>
                  <a:pt x="2000" y="7000"/>
                </a:lnTo>
                <a:moveTo>
                  <a:pt x="4000" y="4000"/>
                </a:moveTo>
                <a:lnTo>
                  <a:pt x="20000" y="4000"/>
                </a:lnTo>
                <a:cubicBezTo>
                  <a:pt x="21105" y="4000"/>
                  <a:pt x="22000" y="4895"/>
                  <a:pt x="22000" y="6000"/>
                </a:cubicBezTo>
                <a:lnTo>
                  <a:pt x="22000" y="18000"/>
                </a:lnTo>
                <a:cubicBezTo>
                  <a:pt x="22000" y="19105"/>
                  <a:pt x="21105" y="20000"/>
                  <a:pt x="20000" y="20000"/>
                </a:cubicBezTo>
                <a:lnTo>
                  <a:pt x="4000" y="20000"/>
                </a:lnTo>
                <a:cubicBezTo>
                  <a:pt x="2895" y="20000"/>
                  <a:pt x="2000" y="19105"/>
                  <a:pt x="2000" y="18000"/>
                </a:cubicBezTo>
                <a:lnTo>
                  <a:pt x="2000" y="6000"/>
                </a:lnTo>
                <a:cubicBezTo>
                  <a:pt x="2000" y="4895"/>
                  <a:pt x="2895" y="4000"/>
                  <a:pt x="4000" y="4000"/>
                </a:cubicBezTo>
                <a:close/>
              </a:path>
            </a:pathLst>
          </a:custGeom>
          <a:noFill/>
          <a:ln w="1397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389" name="slot.today.tools.3.icon"/>
          <p:cNvSpPr/>
          <p:nvPr/>
        </p:nvSpPr>
        <p:spPr>
          <a:xfrm>
            <a:off x="2059939" y="5560661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8000" y="13000"/>
                </a:moveTo>
                <a:lnTo>
                  <a:pt x="10000" y="13000"/>
                </a:lnTo>
                <a:moveTo>
                  <a:pt x="14000" y="13000"/>
                </a:moveTo>
                <a:lnTo>
                  <a:pt x="16000" y="13000"/>
                </a:lnTo>
                <a:moveTo>
                  <a:pt x="8000" y="17000"/>
                </a:moveTo>
                <a:lnTo>
                  <a:pt x="10000" y="17000"/>
                </a:lnTo>
                <a:moveTo>
                  <a:pt x="14000" y="17000"/>
                </a:moveTo>
                <a:lnTo>
                  <a:pt x="16000" y="17000"/>
                </a:lnTo>
              </a:path>
            </a:pathLst>
          </a:custGeom>
          <a:noFill/>
          <a:ln w="1397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390" name="slot.today.tools.4.icon"/>
          <p:cNvSpPr/>
          <p:nvPr/>
        </p:nvSpPr>
        <p:spPr>
          <a:xfrm>
            <a:off x="2714419" y="5560661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20000"/>
                </a:moveTo>
                <a:cubicBezTo>
                  <a:pt x="21105" y="20000"/>
                  <a:pt x="22000" y="19105"/>
                  <a:pt x="22000" y="18000"/>
                </a:cubicBezTo>
                <a:lnTo>
                  <a:pt x="22000" y="8000"/>
                </a:lnTo>
                <a:cubicBezTo>
                  <a:pt x="22000" y="6895"/>
                  <a:pt x="21105" y="6000"/>
                  <a:pt x="20000" y="6000"/>
                </a:cubicBezTo>
                <a:lnTo>
                  <a:pt x="12100" y="6000"/>
                </a:lnTo>
                <a:cubicBezTo>
                  <a:pt x="11420" y="6007"/>
                  <a:pt x="10784" y="5668"/>
                  <a:pt x="10410" y="5100"/>
                </a:cubicBezTo>
                <a:lnTo>
                  <a:pt x="9600" y="3900"/>
                </a:lnTo>
                <a:cubicBezTo>
                  <a:pt x="9230" y="3338"/>
                  <a:pt x="8603" y="3000"/>
                  <a:pt x="7930" y="3000"/>
                </a:cubicBezTo>
                <a:lnTo>
                  <a:pt x="4000" y="3000"/>
                </a:lnTo>
                <a:cubicBezTo>
                  <a:pt x="2895" y="3000"/>
                  <a:pt x="2000" y="3895"/>
                  <a:pt x="2000" y="5000"/>
                </a:cubicBezTo>
                <a:lnTo>
                  <a:pt x="2000" y="18000"/>
                </a:lnTo>
                <a:cubicBezTo>
                  <a:pt x="2000" y="19105"/>
                  <a:pt x="2895" y="20000"/>
                  <a:pt x="4000" y="20000"/>
                </a:cubicBezTo>
                <a:close/>
              </a:path>
            </a:pathLst>
          </a:custGeom>
          <a:noFill/>
          <a:ln w="1397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391" name="slot.horizon.2.tool.1.icon"/>
          <p:cNvSpPr/>
          <p:nvPr/>
        </p:nvSpPr>
        <p:spPr>
          <a:xfrm>
            <a:off x="3536766" y="529437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7000"/>
                </a:moveTo>
                <a:lnTo>
                  <a:pt x="13009" y="12727"/>
                </a:lnTo>
                <a:cubicBezTo>
                  <a:pt x="12388" y="13088"/>
                  <a:pt x="11621" y="13088"/>
                  <a:pt x="11000" y="12727"/>
                </a:cubicBezTo>
                <a:lnTo>
                  <a:pt x="2000" y="7000"/>
                </a:lnTo>
                <a:moveTo>
                  <a:pt x="4000" y="4000"/>
                </a:moveTo>
                <a:lnTo>
                  <a:pt x="20000" y="4000"/>
                </a:lnTo>
                <a:cubicBezTo>
                  <a:pt x="21105" y="4000"/>
                  <a:pt x="22000" y="4895"/>
                  <a:pt x="22000" y="6000"/>
                </a:cubicBezTo>
                <a:lnTo>
                  <a:pt x="22000" y="18000"/>
                </a:lnTo>
                <a:cubicBezTo>
                  <a:pt x="22000" y="19105"/>
                  <a:pt x="21105" y="20000"/>
                  <a:pt x="20000" y="20000"/>
                </a:cubicBezTo>
                <a:lnTo>
                  <a:pt x="4000" y="20000"/>
                </a:lnTo>
                <a:cubicBezTo>
                  <a:pt x="2895" y="20000"/>
                  <a:pt x="2000" y="19105"/>
                  <a:pt x="2000" y="18000"/>
                </a:cubicBezTo>
                <a:lnTo>
                  <a:pt x="2000" y="6000"/>
                </a:lnTo>
                <a:cubicBezTo>
                  <a:pt x="2000" y="4895"/>
                  <a:pt x="2895" y="4000"/>
                  <a:pt x="4000" y="4000"/>
                </a:cubicBezTo>
                <a:close/>
              </a:path>
            </a:pathLst>
          </a:custGeom>
          <a:noFill/>
          <a:ln w="1524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392" name="slot.horizon.2.tool.2.icon"/>
          <p:cNvSpPr/>
          <p:nvPr/>
        </p:nvSpPr>
        <p:spPr>
          <a:xfrm>
            <a:off x="3972845" y="529437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000" y="5000"/>
                </a:moveTo>
                <a:lnTo>
                  <a:pt x="21000" y="5000"/>
                </a:lnTo>
                <a:moveTo>
                  <a:pt x="13000" y="12000"/>
                </a:moveTo>
                <a:lnTo>
                  <a:pt x="21000" y="12000"/>
                </a:lnTo>
                <a:moveTo>
                  <a:pt x="13000" y="19000"/>
                </a:moveTo>
                <a:lnTo>
                  <a:pt x="21000" y="19000"/>
                </a:lnTo>
                <a:moveTo>
                  <a:pt x="3000" y="17000"/>
                </a:moveTo>
                <a:lnTo>
                  <a:pt x="5000" y="19000"/>
                </a:lnTo>
                <a:lnTo>
                  <a:pt x="9000" y="15000"/>
                </a:lnTo>
                <a:moveTo>
                  <a:pt x="3000" y="7000"/>
                </a:moveTo>
                <a:lnTo>
                  <a:pt x="5000" y="9000"/>
                </a:lnTo>
                <a:lnTo>
                  <a:pt x="9000" y="5000"/>
                </a:lnTo>
              </a:path>
            </a:pathLst>
          </a:custGeom>
          <a:noFill/>
          <a:ln w="1524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393" name="slot.horizon.2.tool.3.icon"/>
          <p:cNvSpPr/>
          <p:nvPr/>
        </p:nvSpPr>
        <p:spPr>
          <a:xfrm>
            <a:off x="4470177" y="529437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1524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394" name="slot.horizon.2.tool.4.icon"/>
          <p:cNvSpPr/>
          <p:nvPr/>
        </p:nvSpPr>
        <p:spPr>
          <a:xfrm>
            <a:off x="5012304" y="529437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5000"/>
                </a:moveTo>
                <a:lnTo>
                  <a:pt x="21000" y="5000"/>
                </a:lnTo>
                <a:moveTo>
                  <a:pt x="11000" y="12000"/>
                </a:moveTo>
                <a:lnTo>
                  <a:pt x="21000" y="12000"/>
                </a:lnTo>
                <a:moveTo>
                  <a:pt x="11000" y="19000"/>
                </a:moveTo>
                <a:lnTo>
                  <a:pt x="21000" y="19000"/>
                </a:lnTo>
                <a:moveTo>
                  <a:pt x="4000" y="4000"/>
                </a:moveTo>
                <a:lnTo>
                  <a:pt x="5000" y="4000"/>
                </a:lnTo>
                <a:lnTo>
                  <a:pt x="5000" y="9000"/>
                </a:lnTo>
                <a:moveTo>
                  <a:pt x="4000" y="9000"/>
                </a:moveTo>
                <a:lnTo>
                  <a:pt x="6000" y="9000"/>
                </a:lnTo>
                <a:moveTo>
                  <a:pt x="6500" y="20000"/>
                </a:moveTo>
                <a:lnTo>
                  <a:pt x="3400" y="20000"/>
                </a:lnTo>
                <a:cubicBezTo>
                  <a:pt x="3400" y="19000"/>
                  <a:pt x="6000" y="18075"/>
                  <a:pt x="6000" y="16500"/>
                </a:cubicBezTo>
                <a:cubicBezTo>
                  <a:pt x="6000" y="15883"/>
                  <a:pt x="5622" y="15329"/>
                  <a:pt x="5048" y="15103"/>
                </a:cubicBezTo>
                <a:cubicBezTo>
                  <a:pt x="4473" y="14878"/>
                  <a:pt x="3820" y="15027"/>
                  <a:pt x="3400" y="15480"/>
                </a:cubicBezTo>
              </a:path>
            </a:pathLst>
          </a:custGeom>
          <a:noFill/>
          <a:ln w="1524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395" name="slot.horizon.2.outcome.icon"/>
          <p:cNvSpPr/>
          <p:nvPr/>
        </p:nvSpPr>
        <p:spPr>
          <a:xfrm>
            <a:off x="3683042" y="60441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000" y="2000"/>
                </a:moveTo>
                <a:lnTo>
                  <a:pt x="14000" y="2000"/>
                </a:lnTo>
                <a:moveTo>
                  <a:pt x="12000" y="14000"/>
                </a:moveTo>
                <a:lnTo>
                  <a:pt x="15000" y="11000"/>
                </a:lnTo>
                <a:moveTo>
                  <a:pt x="20000" y="14000"/>
                </a:moveTo>
                <a:cubicBezTo>
                  <a:pt x="20000" y="18418"/>
                  <a:pt x="16418" y="22000"/>
                  <a:pt x="12000" y="22000"/>
                </a:cubicBezTo>
                <a:cubicBezTo>
                  <a:pt x="7582" y="22000"/>
                  <a:pt x="4000" y="18418"/>
                  <a:pt x="4000" y="14000"/>
                </a:cubicBezTo>
                <a:cubicBezTo>
                  <a:pt x="4000" y="9582"/>
                  <a:pt x="7582" y="6000"/>
                  <a:pt x="12000" y="6000"/>
                </a:cubicBezTo>
                <a:cubicBezTo>
                  <a:pt x="16418" y="6000"/>
                  <a:pt x="20000" y="9582"/>
                  <a:pt x="20000" y="14000"/>
                </a:cubicBezTo>
                <a:close/>
              </a:path>
            </a:pathLst>
          </a:custGeom>
          <a:noFill/>
          <a:ln w="13970" cap="rnd">
            <a:solidFill>
              <a:schemeClr val="accent1"/>
            </a:solidFill>
            <a:round/>
          </a:ln>
          <a:effectLst/>
        </p:spPr>
      </p:sp>
      <p:sp>
        <p:nvSpPr>
          <p:cNvPr id="396" name="slot.horizon.3.tool.1.icon"/>
          <p:cNvSpPr/>
          <p:nvPr/>
        </p:nvSpPr>
        <p:spPr>
          <a:xfrm>
            <a:off x="6347052" y="529437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7000"/>
                </a:moveTo>
                <a:lnTo>
                  <a:pt x="13009" y="12727"/>
                </a:lnTo>
                <a:cubicBezTo>
                  <a:pt x="12388" y="13088"/>
                  <a:pt x="11621" y="13088"/>
                  <a:pt x="11000" y="12727"/>
                </a:cubicBezTo>
                <a:lnTo>
                  <a:pt x="2000" y="7000"/>
                </a:lnTo>
                <a:moveTo>
                  <a:pt x="4000" y="4000"/>
                </a:moveTo>
                <a:lnTo>
                  <a:pt x="20000" y="4000"/>
                </a:lnTo>
                <a:cubicBezTo>
                  <a:pt x="21105" y="4000"/>
                  <a:pt x="22000" y="4895"/>
                  <a:pt x="22000" y="6000"/>
                </a:cubicBezTo>
                <a:lnTo>
                  <a:pt x="22000" y="18000"/>
                </a:lnTo>
                <a:cubicBezTo>
                  <a:pt x="22000" y="19105"/>
                  <a:pt x="21105" y="20000"/>
                  <a:pt x="20000" y="20000"/>
                </a:cubicBezTo>
                <a:lnTo>
                  <a:pt x="4000" y="20000"/>
                </a:lnTo>
                <a:cubicBezTo>
                  <a:pt x="2895" y="20000"/>
                  <a:pt x="2000" y="19105"/>
                  <a:pt x="2000" y="18000"/>
                </a:cubicBezTo>
                <a:lnTo>
                  <a:pt x="2000" y="6000"/>
                </a:lnTo>
                <a:cubicBezTo>
                  <a:pt x="2000" y="4895"/>
                  <a:pt x="2895" y="4000"/>
                  <a:pt x="4000" y="4000"/>
                </a:cubicBezTo>
                <a:close/>
              </a:path>
            </a:pathLst>
          </a:custGeom>
          <a:noFill/>
          <a:ln w="1524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397" name="slot.horizon.3.tool.2.icon"/>
          <p:cNvSpPr/>
          <p:nvPr/>
        </p:nvSpPr>
        <p:spPr>
          <a:xfrm>
            <a:off x="6783131" y="529437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000" y="5000"/>
                </a:moveTo>
                <a:lnTo>
                  <a:pt x="21000" y="5000"/>
                </a:lnTo>
                <a:moveTo>
                  <a:pt x="13000" y="12000"/>
                </a:moveTo>
                <a:lnTo>
                  <a:pt x="21000" y="12000"/>
                </a:lnTo>
                <a:moveTo>
                  <a:pt x="13000" y="19000"/>
                </a:moveTo>
                <a:lnTo>
                  <a:pt x="21000" y="19000"/>
                </a:lnTo>
                <a:moveTo>
                  <a:pt x="3000" y="17000"/>
                </a:moveTo>
                <a:lnTo>
                  <a:pt x="5000" y="19000"/>
                </a:lnTo>
                <a:lnTo>
                  <a:pt x="9000" y="15000"/>
                </a:lnTo>
                <a:moveTo>
                  <a:pt x="3000" y="7000"/>
                </a:moveTo>
                <a:lnTo>
                  <a:pt x="5000" y="9000"/>
                </a:lnTo>
                <a:lnTo>
                  <a:pt x="9000" y="5000"/>
                </a:lnTo>
              </a:path>
            </a:pathLst>
          </a:custGeom>
          <a:noFill/>
          <a:ln w="1524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398" name="slot.horizon.3.tool.3.icon"/>
          <p:cNvSpPr/>
          <p:nvPr/>
        </p:nvSpPr>
        <p:spPr>
          <a:xfrm>
            <a:off x="7280461" y="529437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5000"/>
                </a:moveTo>
                <a:cubicBezTo>
                  <a:pt x="12003" y="3911"/>
                  <a:pt x="11416" y="2906"/>
                  <a:pt x="10466" y="2374"/>
                </a:cubicBezTo>
                <a:cubicBezTo>
                  <a:pt x="9516" y="1842"/>
                  <a:pt x="8353" y="1866"/>
                  <a:pt x="7426" y="2437"/>
                </a:cubicBezTo>
                <a:cubicBezTo>
                  <a:pt x="6499" y="3009"/>
                  <a:pt x="5954" y="4037"/>
                  <a:pt x="6003" y="5125"/>
                </a:cubicBezTo>
                <a:cubicBezTo>
                  <a:pt x="4812" y="5431"/>
                  <a:pt x="3828" y="6268"/>
                  <a:pt x="3335" y="7395"/>
                </a:cubicBezTo>
                <a:cubicBezTo>
                  <a:pt x="2842" y="8521"/>
                  <a:pt x="2894" y="9812"/>
                  <a:pt x="3477" y="10895"/>
                </a:cubicBezTo>
                <a:cubicBezTo>
                  <a:pt x="2450" y="11729"/>
                  <a:pt x="1902" y="13018"/>
                  <a:pt x="2013" y="14336"/>
                </a:cubicBezTo>
                <a:cubicBezTo>
                  <a:pt x="2125" y="15654"/>
                  <a:pt x="2881" y="16833"/>
                  <a:pt x="4033" y="17483"/>
                </a:cubicBezTo>
                <a:cubicBezTo>
                  <a:pt x="3842" y="18961"/>
                  <a:pt x="4488" y="20422"/>
                  <a:pt x="5710" y="21275"/>
                </a:cubicBezTo>
                <a:cubicBezTo>
                  <a:pt x="6931" y="22128"/>
                  <a:pt x="8526" y="22232"/>
                  <a:pt x="9847" y="21544"/>
                </a:cubicBezTo>
                <a:cubicBezTo>
                  <a:pt x="11169" y="20856"/>
                  <a:pt x="11998" y="19490"/>
                  <a:pt x="12000" y="18000"/>
                </a:cubicBezTo>
                <a:close/>
                <a:moveTo>
                  <a:pt x="9000" y="13000"/>
                </a:moveTo>
                <a:cubicBezTo>
                  <a:pt x="10717" y="12396"/>
                  <a:pt x="11901" y="10817"/>
                  <a:pt x="12000" y="9000"/>
                </a:cubicBezTo>
                <a:moveTo>
                  <a:pt x="6003" y="5125"/>
                </a:moveTo>
                <a:cubicBezTo>
                  <a:pt x="6023" y="5609"/>
                  <a:pt x="6159" y="6080"/>
                  <a:pt x="6401" y="6500"/>
                </a:cubicBezTo>
                <a:moveTo>
                  <a:pt x="3477" y="10896"/>
                </a:moveTo>
                <a:cubicBezTo>
                  <a:pt x="3660" y="10747"/>
                  <a:pt x="3856" y="10614"/>
                  <a:pt x="4062" y="10500"/>
                </a:cubicBezTo>
                <a:moveTo>
                  <a:pt x="6000" y="18000"/>
                </a:moveTo>
                <a:cubicBezTo>
                  <a:pt x="5311" y="18000"/>
                  <a:pt x="4633" y="17823"/>
                  <a:pt x="4033" y="17484"/>
                </a:cubicBezTo>
                <a:moveTo>
                  <a:pt x="12000" y="13000"/>
                </a:moveTo>
                <a:lnTo>
                  <a:pt x="16000" y="13000"/>
                </a:lnTo>
                <a:moveTo>
                  <a:pt x="12000" y="18000"/>
                </a:moveTo>
                <a:lnTo>
                  <a:pt x="18000" y="18000"/>
                </a:lnTo>
                <a:cubicBezTo>
                  <a:pt x="19105" y="18000"/>
                  <a:pt x="20000" y="18895"/>
                  <a:pt x="20000" y="20000"/>
                </a:cubicBezTo>
                <a:lnTo>
                  <a:pt x="20000" y="21000"/>
                </a:lnTo>
                <a:moveTo>
                  <a:pt x="12000" y="8000"/>
                </a:moveTo>
                <a:lnTo>
                  <a:pt x="20000" y="8000"/>
                </a:lnTo>
                <a:moveTo>
                  <a:pt x="16000" y="8000"/>
                </a:moveTo>
                <a:lnTo>
                  <a:pt x="16000" y="5000"/>
                </a:lnTo>
                <a:cubicBezTo>
                  <a:pt x="16000" y="3895"/>
                  <a:pt x="16895" y="3000"/>
                  <a:pt x="18000" y="3000"/>
                </a:cubicBezTo>
                <a:moveTo>
                  <a:pt x="16500" y="13000"/>
                </a:moveTo>
                <a:cubicBezTo>
                  <a:pt x="16500" y="13276"/>
                  <a:pt x="16276" y="13500"/>
                  <a:pt x="16000" y="13500"/>
                </a:cubicBezTo>
                <a:cubicBezTo>
                  <a:pt x="15724" y="13500"/>
                  <a:pt x="15500" y="13276"/>
                  <a:pt x="15500" y="13000"/>
                </a:cubicBezTo>
                <a:cubicBezTo>
                  <a:pt x="15500" y="12724"/>
                  <a:pt x="15724" y="12500"/>
                  <a:pt x="16000" y="12500"/>
                </a:cubicBezTo>
                <a:cubicBezTo>
                  <a:pt x="16276" y="12500"/>
                  <a:pt x="16500" y="12724"/>
                  <a:pt x="16500" y="13000"/>
                </a:cubicBezTo>
                <a:close/>
                <a:moveTo>
                  <a:pt x="18500" y="3000"/>
                </a:moveTo>
                <a:cubicBezTo>
                  <a:pt x="18500" y="3276"/>
                  <a:pt x="18276" y="3500"/>
                  <a:pt x="18000" y="3500"/>
                </a:cubicBezTo>
                <a:cubicBezTo>
                  <a:pt x="17724" y="3500"/>
                  <a:pt x="17500" y="3276"/>
                  <a:pt x="17500" y="3000"/>
                </a:cubicBezTo>
                <a:cubicBezTo>
                  <a:pt x="17500" y="2724"/>
                  <a:pt x="17724" y="2500"/>
                  <a:pt x="18000" y="2500"/>
                </a:cubicBezTo>
                <a:cubicBezTo>
                  <a:pt x="18276" y="2500"/>
                  <a:pt x="18500" y="2724"/>
                  <a:pt x="18500" y="3000"/>
                </a:cubicBezTo>
                <a:close/>
                <a:moveTo>
                  <a:pt x="20500" y="21000"/>
                </a:moveTo>
                <a:cubicBezTo>
                  <a:pt x="20500" y="21276"/>
                  <a:pt x="20276" y="21500"/>
                  <a:pt x="20000" y="21500"/>
                </a:cubicBezTo>
                <a:cubicBezTo>
                  <a:pt x="19724" y="21500"/>
                  <a:pt x="19500" y="21276"/>
                  <a:pt x="19500" y="21000"/>
                </a:cubicBezTo>
                <a:cubicBezTo>
                  <a:pt x="19500" y="20724"/>
                  <a:pt x="19724" y="20500"/>
                  <a:pt x="20000" y="20500"/>
                </a:cubicBezTo>
                <a:cubicBezTo>
                  <a:pt x="20276" y="20500"/>
                  <a:pt x="20500" y="20724"/>
                  <a:pt x="20500" y="21000"/>
                </a:cubicBezTo>
                <a:close/>
                <a:moveTo>
                  <a:pt x="20500" y="8000"/>
                </a:moveTo>
                <a:cubicBezTo>
                  <a:pt x="20500" y="8276"/>
                  <a:pt x="20276" y="8500"/>
                  <a:pt x="20000" y="8500"/>
                </a:cubicBezTo>
                <a:cubicBezTo>
                  <a:pt x="19724" y="8500"/>
                  <a:pt x="19500" y="8276"/>
                  <a:pt x="19500" y="8000"/>
                </a:cubicBezTo>
                <a:cubicBezTo>
                  <a:pt x="19500" y="7724"/>
                  <a:pt x="19724" y="7500"/>
                  <a:pt x="20000" y="7500"/>
                </a:cubicBezTo>
                <a:cubicBezTo>
                  <a:pt x="20276" y="7500"/>
                  <a:pt x="20500" y="7724"/>
                  <a:pt x="20500" y="8000"/>
                </a:cubicBezTo>
                <a:close/>
              </a:path>
            </a:pathLst>
          </a:custGeom>
          <a:noFill/>
          <a:ln w="1524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399" name="slot.horizon.3.tool.4.icon"/>
          <p:cNvSpPr/>
          <p:nvPr/>
        </p:nvSpPr>
        <p:spPr>
          <a:xfrm>
            <a:off x="7822589" y="529437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5000"/>
                </a:moveTo>
                <a:lnTo>
                  <a:pt x="21000" y="5000"/>
                </a:lnTo>
                <a:moveTo>
                  <a:pt x="11000" y="12000"/>
                </a:moveTo>
                <a:lnTo>
                  <a:pt x="21000" y="12000"/>
                </a:lnTo>
                <a:moveTo>
                  <a:pt x="11000" y="19000"/>
                </a:moveTo>
                <a:lnTo>
                  <a:pt x="21000" y="19000"/>
                </a:lnTo>
                <a:moveTo>
                  <a:pt x="4000" y="4000"/>
                </a:moveTo>
                <a:lnTo>
                  <a:pt x="5000" y="4000"/>
                </a:lnTo>
                <a:lnTo>
                  <a:pt x="5000" y="9000"/>
                </a:lnTo>
                <a:moveTo>
                  <a:pt x="4000" y="9000"/>
                </a:moveTo>
                <a:lnTo>
                  <a:pt x="6000" y="9000"/>
                </a:lnTo>
                <a:moveTo>
                  <a:pt x="6500" y="20000"/>
                </a:moveTo>
                <a:lnTo>
                  <a:pt x="3400" y="20000"/>
                </a:lnTo>
                <a:cubicBezTo>
                  <a:pt x="3400" y="19000"/>
                  <a:pt x="6000" y="18075"/>
                  <a:pt x="6000" y="16500"/>
                </a:cubicBezTo>
                <a:cubicBezTo>
                  <a:pt x="6000" y="15883"/>
                  <a:pt x="5622" y="15329"/>
                  <a:pt x="5048" y="15103"/>
                </a:cubicBezTo>
                <a:cubicBezTo>
                  <a:pt x="4473" y="14878"/>
                  <a:pt x="3820" y="15027"/>
                  <a:pt x="3400" y="15480"/>
                </a:cubicBezTo>
              </a:path>
            </a:pathLst>
          </a:custGeom>
          <a:noFill/>
          <a:ln w="1524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400" name="slot.horizon.3.outcome.icon"/>
          <p:cNvSpPr/>
          <p:nvPr/>
        </p:nvSpPr>
        <p:spPr>
          <a:xfrm>
            <a:off x="6493328" y="60441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3970" cap="rnd">
            <a:solidFill>
              <a:schemeClr val="accent1"/>
            </a:solidFill>
            <a:round/>
          </a:ln>
          <a:effectLst/>
        </p:spPr>
      </p:sp>
      <p:sp>
        <p:nvSpPr>
          <p:cNvPr id="401" name="slot.horizon.4.tool.1.icon"/>
          <p:cNvSpPr/>
          <p:nvPr/>
        </p:nvSpPr>
        <p:spPr>
          <a:xfrm>
            <a:off x="9182021" y="529437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524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402" name="slot.horizon.4.tool.2.icon"/>
          <p:cNvSpPr/>
          <p:nvPr/>
        </p:nvSpPr>
        <p:spPr>
          <a:xfrm>
            <a:off x="9618100" y="529437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000" y="5000"/>
                </a:moveTo>
                <a:lnTo>
                  <a:pt x="21000" y="5000"/>
                </a:lnTo>
                <a:moveTo>
                  <a:pt x="13000" y="12000"/>
                </a:moveTo>
                <a:lnTo>
                  <a:pt x="21000" y="12000"/>
                </a:lnTo>
                <a:moveTo>
                  <a:pt x="13000" y="19000"/>
                </a:moveTo>
                <a:lnTo>
                  <a:pt x="21000" y="19000"/>
                </a:lnTo>
                <a:moveTo>
                  <a:pt x="3000" y="17000"/>
                </a:moveTo>
                <a:lnTo>
                  <a:pt x="5000" y="19000"/>
                </a:lnTo>
                <a:lnTo>
                  <a:pt x="9000" y="15000"/>
                </a:lnTo>
                <a:moveTo>
                  <a:pt x="3000" y="7000"/>
                </a:moveTo>
                <a:lnTo>
                  <a:pt x="5000" y="9000"/>
                </a:lnTo>
                <a:lnTo>
                  <a:pt x="9000" y="5000"/>
                </a:lnTo>
              </a:path>
            </a:pathLst>
          </a:custGeom>
          <a:noFill/>
          <a:ln w="1524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403" name="slot.horizon.4.tool.3.icon"/>
          <p:cNvSpPr/>
          <p:nvPr/>
        </p:nvSpPr>
        <p:spPr>
          <a:xfrm>
            <a:off x="10115431" y="529437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5000"/>
                </a:moveTo>
                <a:cubicBezTo>
                  <a:pt x="12003" y="3911"/>
                  <a:pt x="11416" y="2906"/>
                  <a:pt x="10466" y="2374"/>
                </a:cubicBezTo>
                <a:cubicBezTo>
                  <a:pt x="9516" y="1842"/>
                  <a:pt x="8353" y="1866"/>
                  <a:pt x="7426" y="2437"/>
                </a:cubicBezTo>
                <a:cubicBezTo>
                  <a:pt x="6499" y="3009"/>
                  <a:pt x="5954" y="4037"/>
                  <a:pt x="6003" y="5125"/>
                </a:cubicBezTo>
                <a:cubicBezTo>
                  <a:pt x="4812" y="5431"/>
                  <a:pt x="3828" y="6268"/>
                  <a:pt x="3335" y="7395"/>
                </a:cubicBezTo>
                <a:cubicBezTo>
                  <a:pt x="2842" y="8521"/>
                  <a:pt x="2894" y="9812"/>
                  <a:pt x="3477" y="10895"/>
                </a:cubicBezTo>
                <a:cubicBezTo>
                  <a:pt x="2450" y="11729"/>
                  <a:pt x="1902" y="13018"/>
                  <a:pt x="2013" y="14336"/>
                </a:cubicBezTo>
                <a:cubicBezTo>
                  <a:pt x="2125" y="15654"/>
                  <a:pt x="2881" y="16833"/>
                  <a:pt x="4033" y="17483"/>
                </a:cubicBezTo>
                <a:cubicBezTo>
                  <a:pt x="3842" y="18961"/>
                  <a:pt x="4488" y="20422"/>
                  <a:pt x="5710" y="21275"/>
                </a:cubicBezTo>
                <a:cubicBezTo>
                  <a:pt x="6931" y="22128"/>
                  <a:pt x="8526" y="22232"/>
                  <a:pt x="9847" y="21544"/>
                </a:cubicBezTo>
                <a:cubicBezTo>
                  <a:pt x="11169" y="20856"/>
                  <a:pt x="11998" y="19490"/>
                  <a:pt x="12000" y="18000"/>
                </a:cubicBezTo>
                <a:close/>
                <a:moveTo>
                  <a:pt x="9000" y="13000"/>
                </a:moveTo>
                <a:cubicBezTo>
                  <a:pt x="10717" y="12396"/>
                  <a:pt x="11901" y="10817"/>
                  <a:pt x="12000" y="9000"/>
                </a:cubicBezTo>
                <a:moveTo>
                  <a:pt x="6003" y="5125"/>
                </a:moveTo>
                <a:cubicBezTo>
                  <a:pt x="6023" y="5609"/>
                  <a:pt x="6159" y="6080"/>
                  <a:pt x="6401" y="6500"/>
                </a:cubicBezTo>
                <a:moveTo>
                  <a:pt x="3477" y="10896"/>
                </a:moveTo>
                <a:cubicBezTo>
                  <a:pt x="3660" y="10747"/>
                  <a:pt x="3856" y="10614"/>
                  <a:pt x="4062" y="10500"/>
                </a:cubicBezTo>
                <a:moveTo>
                  <a:pt x="6000" y="18000"/>
                </a:moveTo>
                <a:cubicBezTo>
                  <a:pt x="5311" y="18000"/>
                  <a:pt x="4633" y="17823"/>
                  <a:pt x="4033" y="17484"/>
                </a:cubicBezTo>
                <a:moveTo>
                  <a:pt x="12000" y="13000"/>
                </a:moveTo>
                <a:lnTo>
                  <a:pt x="16000" y="13000"/>
                </a:lnTo>
                <a:moveTo>
                  <a:pt x="12000" y="18000"/>
                </a:moveTo>
                <a:lnTo>
                  <a:pt x="18000" y="18000"/>
                </a:lnTo>
                <a:cubicBezTo>
                  <a:pt x="19105" y="18000"/>
                  <a:pt x="20000" y="18895"/>
                  <a:pt x="20000" y="20000"/>
                </a:cubicBezTo>
                <a:lnTo>
                  <a:pt x="20000" y="21000"/>
                </a:lnTo>
                <a:moveTo>
                  <a:pt x="12000" y="8000"/>
                </a:moveTo>
                <a:lnTo>
                  <a:pt x="20000" y="8000"/>
                </a:lnTo>
                <a:moveTo>
                  <a:pt x="16000" y="8000"/>
                </a:moveTo>
                <a:lnTo>
                  <a:pt x="16000" y="5000"/>
                </a:lnTo>
                <a:cubicBezTo>
                  <a:pt x="16000" y="3895"/>
                  <a:pt x="16895" y="3000"/>
                  <a:pt x="18000" y="3000"/>
                </a:cubicBezTo>
                <a:moveTo>
                  <a:pt x="16500" y="13000"/>
                </a:moveTo>
                <a:cubicBezTo>
                  <a:pt x="16500" y="13276"/>
                  <a:pt x="16276" y="13500"/>
                  <a:pt x="16000" y="13500"/>
                </a:cubicBezTo>
                <a:cubicBezTo>
                  <a:pt x="15724" y="13500"/>
                  <a:pt x="15500" y="13276"/>
                  <a:pt x="15500" y="13000"/>
                </a:cubicBezTo>
                <a:cubicBezTo>
                  <a:pt x="15500" y="12724"/>
                  <a:pt x="15724" y="12500"/>
                  <a:pt x="16000" y="12500"/>
                </a:cubicBezTo>
                <a:cubicBezTo>
                  <a:pt x="16276" y="12500"/>
                  <a:pt x="16500" y="12724"/>
                  <a:pt x="16500" y="13000"/>
                </a:cubicBezTo>
                <a:close/>
                <a:moveTo>
                  <a:pt x="18500" y="3000"/>
                </a:moveTo>
                <a:cubicBezTo>
                  <a:pt x="18500" y="3276"/>
                  <a:pt x="18276" y="3500"/>
                  <a:pt x="18000" y="3500"/>
                </a:cubicBezTo>
                <a:cubicBezTo>
                  <a:pt x="17724" y="3500"/>
                  <a:pt x="17500" y="3276"/>
                  <a:pt x="17500" y="3000"/>
                </a:cubicBezTo>
                <a:cubicBezTo>
                  <a:pt x="17500" y="2724"/>
                  <a:pt x="17724" y="2500"/>
                  <a:pt x="18000" y="2500"/>
                </a:cubicBezTo>
                <a:cubicBezTo>
                  <a:pt x="18276" y="2500"/>
                  <a:pt x="18500" y="2724"/>
                  <a:pt x="18500" y="3000"/>
                </a:cubicBezTo>
                <a:close/>
                <a:moveTo>
                  <a:pt x="20500" y="21000"/>
                </a:moveTo>
                <a:cubicBezTo>
                  <a:pt x="20500" y="21276"/>
                  <a:pt x="20276" y="21500"/>
                  <a:pt x="20000" y="21500"/>
                </a:cubicBezTo>
                <a:cubicBezTo>
                  <a:pt x="19724" y="21500"/>
                  <a:pt x="19500" y="21276"/>
                  <a:pt x="19500" y="21000"/>
                </a:cubicBezTo>
                <a:cubicBezTo>
                  <a:pt x="19500" y="20724"/>
                  <a:pt x="19724" y="20500"/>
                  <a:pt x="20000" y="20500"/>
                </a:cubicBezTo>
                <a:cubicBezTo>
                  <a:pt x="20276" y="20500"/>
                  <a:pt x="20500" y="20724"/>
                  <a:pt x="20500" y="21000"/>
                </a:cubicBezTo>
                <a:close/>
                <a:moveTo>
                  <a:pt x="20500" y="8000"/>
                </a:moveTo>
                <a:cubicBezTo>
                  <a:pt x="20500" y="8276"/>
                  <a:pt x="20276" y="8500"/>
                  <a:pt x="20000" y="8500"/>
                </a:cubicBezTo>
                <a:cubicBezTo>
                  <a:pt x="19724" y="8500"/>
                  <a:pt x="19500" y="8276"/>
                  <a:pt x="19500" y="8000"/>
                </a:cubicBezTo>
                <a:cubicBezTo>
                  <a:pt x="19500" y="7724"/>
                  <a:pt x="19724" y="7500"/>
                  <a:pt x="20000" y="7500"/>
                </a:cubicBezTo>
                <a:cubicBezTo>
                  <a:pt x="20276" y="7500"/>
                  <a:pt x="20500" y="7724"/>
                  <a:pt x="20500" y="8000"/>
                </a:cubicBezTo>
                <a:close/>
              </a:path>
            </a:pathLst>
          </a:custGeom>
          <a:noFill/>
          <a:ln w="1524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404" name="slot.horizon.4.tool.4.icon"/>
          <p:cNvSpPr/>
          <p:nvPr/>
        </p:nvSpPr>
        <p:spPr>
          <a:xfrm>
            <a:off x="10657558" y="529437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9000" y="15000"/>
                </a:moveTo>
                <a:lnTo>
                  <a:pt x="11000" y="17000"/>
                </a:lnTo>
                <a:lnTo>
                  <a:pt x="15000" y="13000"/>
                </a:lnTo>
              </a:path>
            </a:pathLst>
          </a:custGeom>
          <a:noFill/>
          <a:ln w="1524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405" name="slot.horizon.4.outcome.icon"/>
          <p:cNvSpPr/>
          <p:nvPr/>
        </p:nvSpPr>
        <p:spPr>
          <a:xfrm>
            <a:off x="9328296" y="60441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13970" cap="rnd">
            <a:solidFill>
              <a:schemeClr val="accent1"/>
            </a:solidFill>
            <a:round/>
          </a:ln>
          <a:effectLst/>
        </p:spPr>
      </p:sp>
      <p:sp>
        <p:nvSpPr>
          <p:cNvPr id="406" name="slot.horizon.3.node.1.icon"/>
          <p:cNvSpPr/>
          <p:nvPr/>
        </p:nvSpPr>
        <p:spPr>
          <a:xfrm>
            <a:off x="7262378" y="4421698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206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407" name="slot.horizon.3.node.2.icon"/>
          <p:cNvSpPr/>
          <p:nvPr/>
        </p:nvSpPr>
        <p:spPr>
          <a:xfrm>
            <a:off x="6960178" y="2853068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408" name="slot.horizon.3.node.3.icon"/>
          <p:cNvSpPr/>
          <p:nvPr/>
        </p:nvSpPr>
        <p:spPr>
          <a:xfrm>
            <a:off x="6859764" y="3459851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409" name="slot.horizon.3.node.4.icon"/>
          <p:cNvSpPr/>
          <p:nvPr/>
        </p:nvSpPr>
        <p:spPr>
          <a:xfrm>
            <a:off x="6904434" y="4009443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206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410" name="slot.horizon.3.node.5.icon"/>
          <p:cNvSpPr/>
          <p:nvPr/>
        </p:nvSpPr>
        <p:spPr>
          <a:xfrm>
            <a:off x="7246678" y="3723574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411" name="slot.horizon.3.node.6.icon"/>
          <p:cNvSpPr/>
          <p:nvPr/>
        </p:nvSpPr>
        <p:spPr>
          <a:xfrm>
            <a:off x="7459931" y="2705974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412" name="slot.horizon.3.node.7.icon"/>
          <p:cNvSpPr/>
          <p:nvPr/>
        </p:nvSpPr>
        <p:spPr>
          <a:xfrm>
            <a:off x="8025997" y="2930263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206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413" name="slot.horizon.3.node.8.icon"/>
          <p:cNvSpPr/>
          <p:nvPr/>
        </p:nvSpPr>
        <p:spPr>
          <a:xfrm>
            <a:off x="8066419" y="3537015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414" name="slot.horizon.3.node.9.icon"/>
          <p:cNvSpPr/>
          <p:nvPr/>
        </p:nvSpPr>
        <p:spPr>
          <a:xfrm>
            <a:off x="8113857" y="4018468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415" name="slot.horizon.3.node.10.icon"/>
          <p:cNvSpPr/>
          <p:nvPr/>
        </p:nvSpPr>
        <p:spPr>
          <a:xfrm>
            <a:off x="7633901" y="4031574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416" name="slot.horizon.3.node.11.icon"/>
          <p:cNvSpPr/>
          <p:nvPr/>
        </p:nvSpPr>
        <p:spPr>
          <a:xfrm>
            <a:off x="7463092" y="3351103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417" name="slot.horizon.3.node.12.icon"/>
          <p:cNvSpPr/>
          <p:nvPr/>
        </p:nvSpPr>
        <p:spPr>
          <a:xfrm>
            <a:off x="6296298" y="3153267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2065" cap="rnd">
            <a:solidFill>
              <a:schemeClr val="accent1"/>
            </a:solidFill>
            <a:round/>
          </a:ln>
          <a:effectLst/>
        </p:spPr>
      </p:sp>
      <p:sp>
        <p:nvSpPr>
          <p:cNvPr id="418" name="slot.horizon.3.node.13.icon"/>
          <p:cNvSpPr/>
          <p:nvPr/>
        </p:nvSpPr>
        <p:spPr>
          <a:xfrm>
            <a:off x="6296298" y="3849516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419" name="slot.horizon.3.node.14.icon"/>
          <p:cNvSpPr/>
          <p:nvPr/>
        </p:nvSpPr>
        <p:spPr>
          <a:xfrm>
            <a:off x="8649045" y="3153267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2065" cap="rnd">
            <a:solidFill>
              <a:schemeClr val="accent1"/>
            </a:solidFill>
            <a:round/>
          </a:ln>
          <a:effectLst/>
        </p:spPr>
      </p:sp>
      <p:sp>
        <p:nvSpPr>
          <p:cNvPr id="420" name="slot.horizon.3.node.15.icon"/>
          <p:cNvSpPr/>
          <p:nvPr/>
        </p:nvSpPr>
        <p:spPr>
          <a:xfrm>
            <a:off x="8649045" y="3849515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421" name="slot.horizon.3.node.16.icon"/>
          <p:cNvSpPr/>
          <p:nvPr/>
        </p:nvSpPr>
        <p:spPr>
          <a:xfrm>
            <a:off x="7862813" y="4552494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422" name="slot.horizon.4.node.1.icon"/>
          <p:cNvSpPr/>
          <p:nvPr/>
        </p:nvSpPr>
        <p:spPr>
          <a:xfrm>
            <a:off x="10097021" y="4421698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423" name="slot.horizon.4.node.2.icon"/>
          <p:cNvSpPr/>
          <p:nvPr/>
        </p:nvSpPr>
        <p:spPr>
          <a:xfrm>
            <a:off x="9794516" y="2852977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424" name="slot.horizon.4.node.3.icon"/>
          <p:cNvSpPr/>
          <p:nvPr/>
        </p:nvSpPr>
        <p:spPr>
          <a:xfrm>
            <a:off x="9694119" y="3459748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425" name="slot.horizon.4.node.4.icon"/>
          <p:cNvSpPr/>
          <p:nvPr/>
        </p:nvSpPr>
        <p:spPr>
          <a:xfrm>
            <a:off x="9738788" y="4009329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426" name="slot.horizon.4.node.5.icon"/>
          <p:cNvSpPr/>
          <p:nvPr/>
        </p:nvSpPr>
        <p:spPr>
          <a:xfrm>
            <a:off x="10081009" y="3723468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427" name="slot.horizon.4.node.6.icon"/>
          <p:cNvSpPr/>
          <p:nvPr/>
        </p:nvSpPr>
        <p:spPr>
          <a:xfrm>
            <a:off x="10294275" y="2705886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428" name="slot.horizon.4.node.7.icon"/>
          <p:cNvSpPr/>
          <p:nvPr/>
        </p:nvSpPr>
        <p:spPr>
          <a:xfrm>
            <a:off x="10860329" y="2930172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429" name="slot.horizon.4.node.8.icon"/>
          <p:cNvSpPr/>
          <p:nvPr/>
        </p:nvSpPr>
        <p:spPr>
          <a:xfrm>
            <a:off x="10900750" y="3536910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430" name="slot.horizon.4.node.9.icon"/>
          <p:cNvSpPr/>
          <p:nvPr/>
        </p:nvSpPr>
        <p:spPr>
          <a:xfrm>
            <a:off x="10948188" y="4018354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431" name="slot.horizon.4.node.10.icon"/>
          <p:cNvSpPr/>
          <p:nvPr/>
        </p:nvSpPr>
        <p:spPr>
          <a:xfrm>
            <a:off x="10468241" y="4031459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432" name="slot.horizon.4.node.11.icon"/>
          <p:cNvSpPr/>
          <p:nvPr/>
        </p:nvSpPr>
        <p:spPr>
          <a:xfrm>
            <a:off x="10297722" y="3351108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433" name="slot.horizon.4.node.12.icon"/>
          <p:cNvSpPr/>
          <p:nvPr/>
        </p:nvSpPr>
        <p:spPr>
          <a:xfrm>
            <a:off x="9130940" y="3153267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434" name="slot.horizon.4.node.13.icon"/>
          <p:cNvSpPr/>
          <p:nvPr/>
        </p:nvSpPr>
        <p:spPr>
          <a:xfrm>
            <a:off x="9130940" y="3849515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435" name="slot.horizon.4.node.14.icon"/>
          <p:cNvSpPr/>
          <p:nvPr/>
        </p:nvSpPr>
        <p:spPr>
          <a:xfrm>
            <a:off x="11483687" y="3153267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436" name="slot.horizon.4.node.15.icon"/>
          <p:cNvSpPr/>
          <p:nvPr/>
        </p:nvSpPr>
        <p:spPr>
          <a:xfrm>
            <a:off x="11483687" y="3849515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437" name="slot.horizon.4.node.16.icon"/>
          <p:cNvSpPr/>
          <p:nvPr/>
        </p:nvSpPr>
        <p:spPr>
          <a:xfrm>
            <a:off x="10670958" y="4520507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438" name="slot.horizon.2.node.1.icon"/>
          <p:cNvSpPr/>
          <p:nvPr/>
        </p:nvSpPr>
        <p:spPr>
          <a:xfrm>
            <a:off x="5839058" y="3153267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2065" cap="rnd">
            <a:solidFill>
              <a:schemeClr val="accent1"/>
            </a:solidFill>
            <a:round/>
          </a:ln>
          <a:effectLst/>
        </p:spPr>
      </p:sp>
      <p:sp>
        <p:nvSpPr>
          <p:cNvPr id="439" name="slot.horizon.2.node.2.icon"/>
          <p:cNvSpPr/>
          <p:nvPr/>
        </p:nvSpPr>
        <p:spPr>
          <a:xfrm>
            <a:off x="5839058" y="3849515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2065" cap="rnd">
            <a:solidFill>
              <a:schemeClr val="accent1"/>
            </a:solidFill>
            <a:round/>
          </a:ln>
          <a:effectLst/>
        </p:spPr>
      </p:sp>
      <p:sp>
        <p:nvSpPr>
          <p:cNvPr id="440" name="slot.horizon.2.node.3.icon"/>
          <p:cNvSpPr/>
          <p:nvPr/>
        </p:nvSpPr>
        <p:spPr>
          <a:xfrm>
            <a:off x="4452391" y="4421698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206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441" name="slot.horizon.2.node.4.icon"/>
          <p:cNvSpPr/>
          <p:nvPr/>
        </p:nvSpPr>
        <p:spPr>
          <a:xfrm>
            <a:off x="4150191" y="2853068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206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442" name="slot.horizon.2.node.5.icon"/>
          <p:cNvSpPr/>
          <p:nvPr/>
        </p:nvSpPr>
        <p:spPr>
          <a:xfrm>
            <a:off x="4049777" y="3459851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443" name="slot.horizon.2.node.6.icon"/>
          <p:cNvSpPr/>
          <p:nvPr/>
        </p:nvSpPr>
        <p:spPr>
          <a:xfrm>
            <a:off x="4094447" y="4009443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206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444" name="slot.horizon.2.node.7.icon"/>
          <p:cNvSpPr/>
          <p:nvPr/>
        </p:nvSpPr>
        <p:spPr>
          <a:xfrm>
            <a:off x="4436691" y="3723574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445" name="slot.horizon.2.node.8.icon"/>
          <p:cNvSpPr/>
          <p:nvPr/>
        </p:nvSpPr>
        <p:spPr>
          <a:xfrm>
            <a:off x="4649944" y="2705974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206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446" name="slot.horizon.2.node.9.icon"/>
          <p:cNvSpPr/>
          <p:nvPr/>
        </p:nvSpPr>
        <p:spPr>
          <a:xfrm>
            <a:off x="5216010" y="2930263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206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447" name="slot.horizon.2.node.10.icon"/>
          <p:cNvSpPr/>
          <p:nvPr/>
        </p:nvSpPr>
        <p:spPr>
          <a:xfrm>
            <a:off x="5256432" y="3537015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206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448" name="slot.horizon.2.node.11.icon"/>
          <p:cNvSpPr/>
          <p:nvPr/>
        </p:nvSpPr>
        <p:spPr>
          <a:xfrm>
            <a:off x="5303870" y="4018468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206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449" name="slot.horizon.2.node.12.icon"/>
          <p:cNvSpPr/>
          <p:nvPr/>
        </p:nvSpPr>
        <p:spPr>
          <a:xfrm>
            <a:off x="4823914" y="4031574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450" name="slot.horizon.2.node.13.icon"/>
          <p:cNvSpPr/>
          <p:nvPr/>
        </p:nvSpPr>
        <p:spPr>
          <a:xfrm>
            <a:off x="4653106" y="3351103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451" name="slot.horizon.2.node.14.icon"/>
          <p:cNvSpPr/>
          <p:nvPr/>
        </p:nvSpPr>
        <p:spPr>
          <a:xfrm>
            <a:off x="3486310" y="3153267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2065" cap="rnd">
            <a:solidFill>
              <a:schemeClr val="accent1"/>
            </a:solidFill>
            <a:round/>
          </a:ln>
          <a:effectLst/>
        </p:spPr>
      </p:sp>
      <p:sp>
        <p:nvSpPr>
          <p:cNvPr id="452" name="slot.horizon.2.node.15.icon"/>
          <p:cNvSpPr/>
          <p:nvPr/>
        </p:nvSpPr>
        <p:spPr>
          <a:xfrm>
            <a:off x="3486310" y="3849515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2065" cap="rnd">
            <a:solidFill>
              <a:schemeClr val="accent1"/>
            </a:solidFill>
            <a:round/>
          </a:ln>
          <a:effectLst/>
        </p:spPr>
      </p:sp>
      <p:sp>
        <p:nvSpPr>
          <p:cNvPr id="453" name="slot.horizon.2.node.16.icon"/>
          <p:cNvSpPr/>
          <p:nvPr/>
        </p:nvSpPr>
        <p:spPr>
          <a:xfrm>
            <a:off x="4982308" y="4472194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bg1"/>
            </a:solidFill>
            <a:round/>
          </a:ln>
          <a:effectLst/>
        </p:spPr>
      </p:sp>
      <p:sp>
        <p:nvSpPr>
          <p:cNvPr id="454" name="slot.legend.1.icon"/>
          <p:cNvSpPr/>
          <p:nvPr/>
        </p:nvSpPr>
        <p:spPr>
          <a:xfrm>
            <a:off x="3115321" y="6464808"/>
            <a:ext cx="128016" cy="12801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079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455" name="slot.legend.2.icon"/>
          <p:cNvSpPr/>
          <p:nvPr/>
        </p:nvSpPr>
        <p:spPr>
          <a:xfrm>
            <a:off x="3992964" y="6464808"/>
            <a:ext cx="128016" cy="12801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0795" cap="rnd">
            <a:solidFill>
              <a:schemeClr val="bg1"/>
            </a:solidFill>
            <a:round/>
          </a:ln>
          <a:effectLst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inciples:principle-columns-proof-diagrams">
    <p:spTree>
      <p:nvGrpSpPr>
        <p:cNvPr id="1" name=""/>
        <p:cNvGrpSpPr/>
        <p:nvPr/>
      </p:nvGrpSpPr>
      <p:grpSpPr/>
      <p:cxnSp>
        <p:nvCxnSpPr>
          <p:cNvPr id="2" name="struct.proof.3.row.2"/>
          <p:cNvCxnSpPr>
            <a:cxnSpLocks/>
          </p:cNvCxnSpPr>
          <p:nvPr/>
        </p:nvCxnSpPr>
        <p:spPr>
          <a:xfrm>
            <a:off x="10757317" y="2975330"/>
            <a:ext cx="600028" cy="0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prstDash val="dash"/>
            <a:tailEnd type="none" w="sm" len="sm"/>
          </a:ln>
          <a:effectLst/>
        </p:spPr>
      </p:cxnSp>
      <p:cxnSp>
        <p:nvCxnSpPr>
          <p:cNvPr id="3" name="struct.proof.3.row.1"/>
          <p:cNvCxnSpPr>
            <a:cxnSpLocks/>
          </p:cNvCxnSpPr>
          <p:nvPr/>
        </p:nvCxnSpPr>
        <p:spPr>
          <a:xfrm>
            <a:off x="10757317" y="2513632"/>
            <a:ext cx="600028" cy="0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prstDash val="dash"/>
            <a:tailEnd type="none" w="sm" len="sm"/>
          </a:ln>
          <a:effectLst/>
        </p:spPr>
      </p:cxnSp>
      <p:sp>
        <p:nvSpPr>
          <p:cNvPr id="4" name="slot.title"/>
          <p:cNvSpPr txBox="1"/>
          <p:nvPr/>
        </p:nvSpPr>
        <p:spPr>
          <a:xfrm>
            <a:off x="457200" y="120724"/>
            <a:ext cx="11338560" cy="646331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Three principles keep the platform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fast to change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and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cheap to run</a:t>
            </a:r>
            <a:endParaRPr lang="en-US" sz="2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" name="struct.principle.1.rule"/>
          <p:cNvCxnSpPr>
            <a:cxnSpLocks/>
          </p:cNvCxnSpPr>
          <p:nvPr/>
        </p:nvCxnSpPr>
        <p:spPr>
          <a:xfrm>
            <a:off x="458247" y="1400175"/>
            <a:ext cx="3385034" cy="0"/>
          </a:xfrm>
          <a:prstGeom prst="line">
            <a:avLst/>
          </a:prstGeom>
          <a:ln w="19050">
            <a:solidFill>
              <a:schemeClr val="accent1"/>
            </a:solidFill>
          </a:ln>
          <a:effectLst/>
        </p:spPr>
      </p:cxnSp>
      <p:cxnSp>
        <p:nvCxnSpPr>
          <p:cNvPr id="6" name="struct.principle.2.rule"/>
          <p:cNvCxnSpPr>
            <a:cxnSpLocks/>
          </p:cNvCxnSpPr>
          <p:nvPr/>
        </p:nvCxnSpPr>
        <p:spPr>
          <a:xfrm>
            <a:off x="4296167" y="1400175"/>
            <a:ext cx="3385034" cy="0"/>
          </a:xfrm>
          <a:prstGeom prst="line">
            <a:avLst/>
          </a:prstGeom>
          <a:ln w="19050">
            <a:solidFill>
              <a:schemeClr val="accent1"/>
            </a:solidFill>
          </a:ln>
          <a:effectLst/>
        </p:spPr>
      </p:cxnSp>
      <p:cxnSp>
        <p:nvCxnSpPr>
          <p:cNvPr id="7" name="struct.principle.3.rule"/>
          <p:cNvCxnSpPr>
            <a:cxnSpLocks/>
          </p:cNvCxnSpPr>
          <p:nvPr/>
        </p:nvCxnSpPr>
        <p:spPr>
          <a:xfrm>
            <a:off x="8134088" y="1400175"/>
            <a:ext cx="3385034" cy="0"/>
          </a:xfrm>
          <a:prstGeom prst="line">
            <a:avLst/>
          </a:prstGeom>
          <a:ln w="19050">
            <a:solidFill>
              <a:schemeClr val="accent1"/>
            </a:solidFill>
          </a:ln>
          <a:effectLst/>
        </p:spPr>
      </p:cxnSp>
      <p:grpSp>
        <p:nvGrpSpPr>
          <p:cNvPr id="8" name="struct.dividers"/>
          <p:cNvGrpSpPr/>
          <p:nvPr/>
        </p:nvGrpSpPr>
        <p:grpSpPr>
          <a:xfrm>
            <a:off x="4069724" y="971549"/>
            <a:ext cx="3837920" cy="5310701"/>
            <a:chOff x="4066326" y="971549"/>
            <a:chExt cx="3837920" cy="5310701"/>
          </a:xfrm>
          <a:effectLst/>
        </p:grpSpPr>
        <p:cxnSp>
          <p:nvCxnSpPr>
            <p:cNvPr id="9" name="struct.divider.1"/>
            <p:cNvCxnSpPr/>
            <p:nvPr/>
          </p:nvCxnSpPr>
          <p:spPr>
            <a:xfrm>
              <a:off x="4066326" y="971549"/>
              <a:ext cx="0" cy="53107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</a:ln>
          </p:spPr>
        </p:cxnSp>
        <p:cxnSp>
          <p:nvCxnSpPr>
            <p:cNvPr id="10" name="struct.divider.2"/>
            <p:cNvCxnSpPr/>
            <p:nvPr/>
          </p:nvCxnSpPr>
          <p:spPr>
            <a:xfrm>
              <a:off x="7904246" y="971549"/>
              <a:ext cx="0" cy="53107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</a:ln>
          </p:spPr>
        </p:cxnSp>
      </p:grpSp>
      <p:sp>
        <p:nvSpPr>
          <p:cNvPr id="11" name="slot.principle.1.head"/>
          <p:cNvSpPr txBox="1"/>
          <p:nvPr/>
        </p:nvSpPr>
        <p:spPr>
          <a:xfrm>
            <a:off x="459281" y="1112785"/>
            <a:ext cx="3384000" cy="21544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b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Separate storage from compute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lot.principle.2.head"/>
          <p:cNvSpPr txBox="1"/>
          <p:nvPr/>
        </p:nvSpPr>
        <p:spPr>
          <a:xfrm>
            <a:off x="4297201" y="1112785"/>
            <a:ext cx="3384000" cy="21544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b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Ship in small, usable releases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slot.principle.3.head"/>
          <p:cNvSpPr txBox="1"/>
          <p:nvPr/>
        </p:nvSpPr>
        <p:spPr>
          <a:xfrm>
            <a:off x="8135122" y="1112785"/>
            <a:ext cx="3384000" cy="21544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b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Automate the path to production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slot.card.1"/>
          <p:cNvSpPr txBox="1"/>
          <p:nvPr/>
        </p:nvSpPr>
        <p:spPr>
          <a:xfrm>
            <a:off x="459281" y="4067248"/>
            <a:ext cx="3384000" cy="8821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  <a:effectLst/>
        </p:spPr>
        <p:txBody>
          <a:bodyPr spcFirstLastPara="1" wrap="square" lIns="108000" tIns="72000" rIns="108000" bIns="72000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Scale each layer on its own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Query load grows with no table copied, and storage cost stays flat.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lot.card.3"/>
          <p:cNvSpPr txBox="1"/>
          <p:nvPr/>
        </p:nvSpPr>
        <p:spPr>
          <a:xfrm>
            <a:off x="4297201" y="4067248"/>
            <a:ext cx="3384000" cy="8821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  <a:effectLst/>
        </p:spPr>
        <p:txBody>
          <a:bodyPr spcFirstLastPara="1" wrap="square" lIns="108000" tIns="72000" rIns="108000" bIns="72000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Working views before scale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Each release puts a usable view in front of the team that asked for it.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lot.card.5"/>
          <p:cNvSpPr txBox="1"/>
          <p:nvPr/>
        </p:nvSpPr>
        <p:spPr>
          <a:xfrm>
            <a:off x="8135122" y="4067248"/>
            <a:ext cx="3384000" cy="8821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  <a:effectLst/>
        </p:spPr>
        <p:txBody>
          <a:bodyPr spcFirstLastPara="1" wrap="square" lIns="108000" tIns="72000" rIns="108000" bIns="72000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No manual release steps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Every change passes the same test suite before it reaches any user.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lot.card.2"/>
          <p:cNvSpPr txBox="1"/>
          <p:nvPr/>
        </p:nvSpPr>
        <p:spPr>
          <a:xfrm>
            <a:off x="459281" y="5149711"/>
            <a:ext cx="3384000" cy="8821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  <a:effectLst/>
        </p:spPr>
        <p:txBody>
          <a:bodyPr spcFirstLastPara="1" wrap="square" lIns="108000" tIns="72000" rIns="108000" bIns="72000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One copy of every table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All engines read the same files, so every report shows the same number.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lot.card.4"/>
          <p:cNvSpPr txBox="1"/>
          <p:nvPr/>
        </p:nvSpPr>
        <p:spPr>
          <a:xfrm>
            <a:off x="4297201" y="5149711"/>
            <a:ext cx="3384000" cy="8821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  <a:effectLst/>
        </p:spPr>
        <p:txBody>
          <a:bodyPr spcFirstLastPara="1" wrap="square" lIns="108000" tIns="72000" rIns="108000" bIns="72000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Feedback sets the next step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Users rank the backlog after each release, and the top item ships next.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lot.card.6"/>
          <p:cNvSpPr txBox="1"/>
          <p:nvPr/>
        </p:nvSpPr>
        <p:spPr>
          <a:xfrm>
            <a:off x="8135122" y="5149711"/>
            <a:ext cx="3384000" cy="8821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  <a:effectLst/>
        </p:spPr>
        <p:txBody>
          <a:bodyPr spcFirstLastPara="1" wrap="square" lIns="108000" tIns="72000" rIns="108000" bIns="72000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Rollback in minutes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 failed check returns the last good version without a change ticket.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0" name="struct.proof.1.link.1"/>
          <p:cNvCxnSpPr>
            <a:cxnSpLocks/>
          </p:cNvCxnSpPr>
          <p:nvPr/>
        </p:nvCxnSpPr>
        <p:spPr>
          <a:xfrm>
            <a:off x="2347470" y="2051004"/>
            <a:ext cx="0" cy="428726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  <a:effectLst/>
        </p:spPr>
      </p:cxnSp>
      <p:cxnSp>
        <p:nvCxnSpPr>
          <p:cNvPr id="21" name="struct.proof.1.link.2"/>
          <p:cNvCxnSpPr>
            <a:cxnSpLocks/>
          </p:cNvCxnSpPr>
          <p:nvPr/>
        </p:nvCxnSpPr>
        <p:spPr>
          <a:xfrm>
            <a:off x="1238587" y="2055355"/>
            <a:ext cx="0" cy="42437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  <a:effectLst/>
        </p:spPr>
      </p:cxnSp>
      <p:grpSp>
        <p:nvGrpSpPr>
          <p:cNvPr id="22" name="struct.proof.1"/>
          <p:cNvGrpSpPr/>
          <p:nvPr/>
        </p:nvGrpSpPr>
        <p:grpSpPr>
          <a:xfrm>
            <a:off x="457200" y="1626629"/>
            <a:ext cx="2457564" cy="2130463"/>
            <a:chOff x="453802" y="1626629"/>
            <a:chExt cx="2457564" cy="2130463"/>
          </a:xfrm>
          <a:effectLst/>
        </p:grpSpPr>
        <p:sp>
          <p:nvSpPr>
            <p:cNvPr id="23" name="slot.proof.1.top"/>
            <p:cNvSpPr/>
            <p:nvPr/>
          </p:nvSpPr>
          <p:spPr>
            <a:xfrm>
              <a:off x="453802" y="1626629"/>
              <a:ext cx="2457560" cy="428726"/>
            </a:xfrm>
            <a:prstGeom prst="roundRect">
              <a:avLst>
                <a:gd name="adj" fmla="val 10664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accent1"/>
              </a:solidFill>
            </a:ln>
          </p:spPr>
          <p:txBody>
            <a:bodyPr rtlCol="0" anchor="ctr" wrap="square" lIns="91440" tIns="45720" rIns="91440" bIns="4572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Shared semantic layer</a:t>
              </a:r>
              <a:endPara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24" name="slot.proof.1.base"/>
            <p:cNvSpPr/>
            <p:nvPr/>
          </p:nvSpPr>
          <p:spPr>
            <a:xfrm>
              <a:off x="453802" y="3328366"/>
              <a:ext cx="2457557" cy="428726"/>
            </a:xfrm>
            <a:prstGeom prst="roundRect">
              <a:avLst>
                <a:gd name="adj" fmla="val 10664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accent1"/>
              </a:solidFill>
            </a:ln>
          </p:spPr>
          <p:txBody>
            <a:bodyPr rtlCol="0" anchor="ctr" wrap="square" lIns="91440" tIns="45720" rIns="91440" bIns="4572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Open table storage</a:t>
              </a:r>
              <a:endParaRPr lang="en-US" sz="10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grpSp>
          <p:nvGrpSpPr>
            <p:cNvPr id="25" name="struct.proof.1.engines"/>
            <p:cNvGrpSpPr/>
            <p:nvPr/>
          </p:nvGrpSpPr>
          <p:grpSpPr>
            <a:xfrm>
              <a:off x="453802" y="2479730"/>
              <a:ext cx="2457564" cy="634878"/>
              <a:chOff x="453802" y="2479730"/>
              <a:chExt cx="2457564" cy="634878"/>
            </a:xfrm>
          </p:grpSpPr>
          <p:sp>
            <p:nvSpPr>
              <p:cNvPr id="26" name="slot.proof.1.engine.1"/>
              <p:cNvSpPr/>
              <p:nvPr/>
            </p:nvSpPr>
            <p:spPr>
              <a:xfrm>
                <a:off x="453802" y="2479730"/>
                <a:ext cx="1134589" cy="634878"/>
              </a:xfrm>
              <a:prstGeom prst="roundRect">
                <a:avLst>
                  <a:gd name="adj" fmla="val 7201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accent1"/>
                </a:solidFill>
              </a:ln>
            </p:spPr>
            <p:txBody>
              <a:bodyPr rtlCol="0" anchor="ctr" wrap="square" lIns="91440" tIns="45720" rIns="91440" bIns="45720">
                <a:noAutofit/>
              </a:bodyPr>
              <a:lstStyle/>
              <a:p>
                <a:pPr marL="0" indent="0" lv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kern="0" dirty="0">
                    <a:solidFill>
                      <a:schemeClr val="tx1">
                        <a:lumMod val="80000"/>
                        <a:lumOff val="20000"/>
                      </a:schemeClr>
                    </a:solidFill>
                    <a:latin typeface="Arial"/>
                    <a:ea typeface="Arial"/>
                    <a:cs typeface="Arial"/>
                  </a:rPr>
                  <a:t>Query</a:t>
                </a:r>
                <a:endPara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endParaRPr>
              </a:p>
              <a:p>
                <a:pPr marL="0" indent="0" lv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kern="0" dirty="0">
                    <a:solidFill>
                      <a:schemeClr val="tx1">
                        <a:lumMod val="80000"/>
                        <a:lumOff val="20000"/>
                      </a:schemeClr>
                    </a:solidFill>
                    <a:latin typeface="Arial"/>
                    <a:ea typeface="Arial"/>
                    <a:cs typeface="Arial"/>
                  </a:rPr>
                  <a:t>engine</a:t>
                </a:r>
                <a:endPara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27" name="slot.proof.1.engine.2"/>
              <p:cNvSpPr/>
              <p:nvPr/>
            </p:nvSpPr>
            <p:spPr>
              <a:xfrm>
                <a:off x="1776777" y="2479730"/>
                <a:ext cx="1134589" cy="634878"/>
              </a:xfrm>
              <a:prstGeom prst="roundRect">
                <a:avLst>
                  <a:gd name="adj" fmla="val 7201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accent1"/>
                </a:solidFill>
              </a:ln>
            </p:spPr>
            <p:txBody>
              <a:bodyPr rtlCol="0" anchor="ctr" wrap="square" lIns="91440" tIns="45720" rIns="91440" bIns="45720">
                <a:noAutofit/>
              </a:bodyPr>
              <a:lstStyle/>
              <a:p>
                <a:pPr marL="0" indent="0" lv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kern="0" dirty="0">
                    <a:solidFill>
                      <a:schemeClr val="tx1">
                        <a:lumMod val="80000"/>
                        <a:lumOff val="20000"/>
                      </a:schemeClr>
                    </a:solidFill>
                    <a:latin typeface="Arial"/>
                    <a:ea typeface="Arial"/>
                    <a:cs typeface="Arial"/>
                  </a:rPr>
                  <a:t>Pipeline</a:t>
                </a:r>
                <a:endPara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endParaRPr>
              </a:p>
              <a:p>
                <a:pPr marL="0" indent="0" lv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kern="0" dirty="0">
                    <a:solidFill>
                      <a:schemeClr val="tx1">
                        <a:lumMod val="80000"/>
                        <a:lumOff val="20000"/>
                      </a:schemeClr>
                    </a:solidFill>
                    <a:latin typeface="Arial"/>
                    <a:ea typeface="Arial"/>
                    <a:cs typeface="Arial"/>
                  </a:rPr>
                  <a:t>jobs</a:t>
                </a:r>
                <a:endPara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endParaRPr>
              </a:p>
            </p:txBody>
          </p:sp>
        </p:grpSp>
      </p:grpSp>
      <p:sp>
        <p:nvSpPr>
          <p:cNvPr id="28" name="slot.proof.1.policy"/>
          <p:cNvSpPr txBox="1"/>
          <p:nvPr/>
        </p:nvSpPr>
        <p:spPr>
          <a:xfrm>
            <a:off x="3130646" y="2880360"/>
            <a:ext cx="822960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Access policy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9" name="struct.proof.1.policy.link"/>
          <p:cNvCxnSpPr>
            <a:cxnSpLocks/>
          </p:cNvCxnSpPr>
          <p:nvPr/>
        </p:nvCxnSpPr>
        <p:spPr>
          <a:xfrm>
            <a:off x="2943112" y="2699402"/>
            <a:ext cx="45845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30" name="slot.proof.2.caption"/>
          <p:cNvSpPr txBox="1"/>
          <p:nvPr/>
        </p:nvSpPr>
        <p:spPr>
          <a:xfrm>
            <a:off x="4529678" y="3611880"/>
            <a:ext cx="2862072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Adoption grows with each release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31" name="struct.proof.2.steps"/>
          <p:cNvGrpSpPr/>
          <p:nvPr/>
        </p:nvGrpSpPr>
        <p:grpSpPr>
          <a:xfrm>
            <a:off x="4482499" y="2685031"/>
            <a:ext cx="2954567" cy="812153"/>
            <a:chOff x="4479101" y="2685031"/>
            <a:chExt cx="2954567" cy="812153"/>
          </a:xfrm>
          <a:effectLst/>
        </p:grpSpPr>
        <p:sp>
          <p:nvSpPr>
            <p:cNvPr id="32" name="slot.proof.2.step.1"/>
            <p:cNvSpPr/>
            <p:nvPr/>
          </p:nvSpPr>
          <p:spPr>
            <a:xfrm>
              <a:off x="4479101" y="3172169"/>
              <a:ext cx="965976" cy="324759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Pilot</a:t>
              </a:r>
              <a:endPara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3" name="slot.proof.2.step.2"/>
            <p:cNvSpPr/>
            <p:nvPr/>
          </p:nvSpPr>
          <p:spPr>
            <a:xfrm>
              <a:off x="5444988" y="2928600"/>
              <a:ext cx="1022883" cy="568200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Second team</a:t>
              </a:r>
              <a:endPara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4" name="slot.proof.2.step.3"/>
            <p:cNvSpPr/>
            <p:nvPr/>
          </p:nvSpPr>
          <p:spPr>
            <a:xfrm>
              <a:off x="6467692" y="2685031"/>
              <a:ext cx="965976" cy="8121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All regions</a:t>
              </a:r>
              <a:endPara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cxnSp>
        <p:nvCxnSpPr>
          <p:cNvPr id="35" name="struct.proof.2.axis"/>
          <p:cNvCxnSpPr>
            <a:cxnSpLocks/>
          </p:cNvCxnSpPr>
          <p:nvPr/>
        </p:nvCxnSpPr>
        <p:spPr>
          <a:xfrm>
            <a:off x="4296167" y="3497184"/>
            <a:ext cx="3327231" cy="0"/>
          </a:xfrm>
          <a:prstGeom prst="straightConnector1">
            <a:avLst/>
          </a:prstGeom>
          <a:ln w="19050">
            <a:tailEnd type="triangle"/>
          </a:ln>
          <a:effectLst/>
        </p:spPr>
      </p:cxnSp>
      <p:grpSp>
        <p:nvGrpSpPr>
          <p:cNvPr id="36" name="struct.proof.2.loop"/>
          <p:cNvGrpSpPr/>
          <p:nvPr/>
        </p:nvGrpSpPr>
        <p:grpSpPr>
          <a:xfrm>
            <a:off x="4601227" y="1689926"/>
            <a:ext cx="2775949" cy="735312"/>
            <a:chOff x="4597829" y="1689926"/>
            <a:chExt cx="2775949" cy="735312"/>
          </a:xfrm>
          <a:effectLst/>
        </p:grpSpPr>
        <p:sp>
          <p:nvSpPr>
            <p:cNvPr id="37" name="slot.proof.2.actor.2"/>
            <p:cNvSpPr txBox="1"/>
            <p:nvPr/>
          </p:nvSpPr>
          <p:spPr>
            <a:xfrm>
              <a:off x="5138928" y="2121408"/>
              <a:ext cx="841248" cy="3291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Use case brief</a:t>
              </a:r>
              <a:endPara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8" name="slot.proof.2.link"/>
            <p:cNvSpPr txBox="1"/>
            <p:nvPr/>
          </p:nvSpPr>
          <p:spPr>
            <a:xfrm>
              <a:off x="5751576" y="1609344"/>
              <a:ext cx="1188720" cy="2011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Weekly feedback</a:t>
              </a:r>
              <a:endPara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9" name="slot.proof.2.actor.3"/>
            <p:cNvSpPr txBox="1"/>
            <p:nvPr/>
          </p:nvSpPr>
          <p:spPr>
            <a:xfrm>
              <a:off x="6812280" y="212140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Platform</a:t>
              </a:r>
              <a:endPara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40" name="slot.proof.2.actor.1"/>
            <p:cNvSpPr txBox="1"/>
            <p:nvPr/>
          </p:nvSpPr>
          <p:spPr>
            <a:xfrm>
              <a:off x="4462272" y="2121408"/>
              <a:ext cx="6583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Analyst</a:t>
              </a:r>
              <a:endPara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41" name="struct.proof.2.arrow"/>
            <p:cNvCxnSpPr>
              <a:cxnSpLocks/>
            </p:cNvCxnSpPr>
            <p:nvPr/>
          </p:nvCxnSpPr>
          <p:spPr>
            <a:xfrm flipH="1">
              <a:off x="5678424" y="1901952"/>
              <a:ext cx="1325880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headEnd type="triangle"/>
              <a:tailEnd type="triangle"/>
            </a:ln>
          </p:spPr>
        </p:cxnSp>
      </p:grpSp>
      <p:sp>
        <p:nvSpPr>
          <p:cNvPr id="42" name="struct.proof.3.pipeline"/>
          <p:cNvSpPr/>
          <p:nvPr/>
        </p:nvSpPr>
        <p:spPr>
          <a:xfrm>
            <a:off x="8134087" y="2239882"/>
            <a:ext cx="2069219" cy="1009199"/>
          </a:xfrm>
          <a:prstGeom prst="roundRect">
            <a:avLst>
              <a:gd name="adj" fmla="val 453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struct.proof.3.stage.1"/>
          <p:cNvSpPr/>
          <p:nvPr/>
        </p:nvSpPr>
        <p:spPr>
          <a:xfrm>
            <a:off x="8246948" y="2320977"/>
            <a:ext cx="276606" cy="276606"/>
          </a:xfrm>
          <a:prstGeom prst="ellipse">
            <a:avLst/>
          </a:prstGeom>
          <a:solidFill>
            <a:schemeClr val="bg1"/>
          </a:solidFill>
          <a:ln w="143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struct.proof.3.stage.2"/>
          <p:cNvSpPr/>
          <p:nvPr/>
        </p:nvSpPr>
        <p:spPr>
          <a:xfrm>
            <a:off x="8735293" y="2320977"/>
            <a:ext cx="276606" cy="276606"/>
          </a:xfrm>
          <a:prstGeom prst="ellipse">
            <a:avLst/>
          </a:prstGeom>
          <a:solidFill>
            <a:schemeClr val="bg1"/>
          </a:solidFill>
          <a:ln w="143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struct.proof.3.stage.3"/>
          <p:cNvSpPr/>
          <p:nvPr/>
        </p:nvSpPr>
        <p:spPr>
          <a:xfrm>
            <a:off x="9223638" y="2320977"/>
            <a:ext cx="276606" cy="276606"/>
          </a:xfrm>
          <a:prstGeom prst="ellipse">
            <a:avLst/>
          </a:prstGeom>
          <a:solidFill>
            <a:schemeClr val="bg1"/>
          </a:solidFill>
          <a:ln w="143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struct.proof.3.stage.4"/>
          <p:cNvSpPr/>
          <p:nvPr/>
        </p:nvSpPr>
        <p:spPr>
          <a:xfrm>
            <a:off x="9734151" y="2320977"/>
            <a:ext cx="276606" cy="276606"/>
          </a:xfrm>
          <a:prstGeom prst="ellipse">
            <a:avLst/>
          </a:prstGeom>
          <a:solidFill>
            <a:schemeClr val="bg1"/>
          </a:solidFill>
          <a:ln w="143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slot.proof.3.stage.1"/>
          <p:cNvSpPr txBox="1"/>
          <p:nvPr/>
        </p:nvSpPr>
        <p:spPr>
          <a:xfrm>
            <a:off x="8150702" y="2633472"/>
            <a:ext cx="475488" cy="12801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Ingest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slot.proof.3.stage.2"/>
          <p:cNvSpPr txBox="1"/>
          <p:nvPr/>
        </p:nvSpPr>
        <p:spPr>
          <a:xfrm>
            <a:off x="8635334" y="2633472"/>
            <a:ext cx="475488" cy="12801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Test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slot.proof.3.stage.3"/>
          <p:cNvSpPr txBox="1"/>
          <p:nvPr/>
        </p:nvSpPr>
        <p:spPr>
          <a:xfrm>
            <a:off x="9119966" y="2633472"/>
            <a:ext cx="475488" cy="12801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Build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slot.proof.3.stage.4"/>
          <p:cNvSpPr txBox="1"/>
          <p:nvPr/>
        </p:nvSpPr>
        <p:spPr>
          <a:xfrm>
            <a:off x="9632030" y="2633472"/>
            <a:ext cx="475488" cy="12801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Release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struct.proof.3.env.1"/>
          <p:cNvSpPr/>
          <p:nvPr/>
        </p:nvSpPr>
        <p:spPr>
          <a:xfrm>
            <a:off x="10595541" y="2432743"/>
            <a:ext cx="161776" cy="161777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struct.proof.3.env.2"/>
          <p:cNvSpPr/>
          <p:nvPr/>
        </p:nvSpPr>
        <p:spPr>
          <a:xfrm>
            <a:off x="10849476" y="2432743"/>
            <a:ext cx="161776" cy="161777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struct.proof.3.env.3"/>
          <p:cNvSpPr/>
          <p:nvPr/>
        </p:nvSpPr>
        <p:spPr>
          <a:xfrm>
            <a:off x="11103410" y="2432743"/>
            <a:ext cx="161776" cy="161777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struct.proof.3.env.4"/>
          <p:cNvSpPr/>
          <p:nvPr/>
        </p:nvSpPr>
        <p:spPr>
          <a:xfrm>
            <a:off x="11357345" y="2432743"/>
            <a:ext cx="161776" cy="161777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struct.proof.3.env.5"/>
          <p:cNvSpPr/>
          <p:nvPr/>
        </p:nvSpPr>
        <p:spPr>
          <a:xfrm>
            <a:off x="10595541" y="2894442"/>
            <a:ext cx="161776" cy="161777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struct.proof.3.env.6"/>
          <p:cNvSpPr/>
          <p:nvPr/>
        </p:nvSpPr>
        <p:spPr>
          <a:xfrm>
            <a:off x="10849476" y="2894442"/>
            <a:ext cx="161776" cy="161777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struct.proof.3.env.7"/>
          <p:cNvSpPr/>
          <p:nvPr/>
        </p:nvSpPr>
        <p:spPr>
          <a:xfrm>
            <a:off x="11103410" y="2894442"/>
            <a:ext cx="161776" cy="161777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struct.proof.3.env.8"/>
          <p:cNvSpPr/>
          <p:nvPr/>
        </p:nvSpPr>
        <p:spPr>
          <a:xfrm>
            <a:off x="11357345" y="2894442"/>
            <a:ext cx="161776" cy="161777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9" name="struct.proof.3.loop.line.part1"/>
          <p:cNvCxnSpPr/>
          <p:nvPr/>
        </p:nvCxnSpPr>
        <p:spPr>
          <a:xfrm>
            <a:off x="9878827" y="2801447"/>
            <a:ext cx="0" cy="274594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prstDash val="dash"/>
            <a:tailEnd type="none" w="sm" len="sm"/>
          </a:ln>
          <a:effectLst/>
        </p:spPr>
      </p:cxnSp>
      <p:cxnSp>
        <p:nvCxnSpPr>
          <p:cNvPr id="60" name="struct.proof.3.loop.line.part2"/>
          <p:cNvCxnSpPr/>
          <p:nvPr/>
        </p:nvCxnSpPr>
        <p:spPr>
          <a:xfrm flipH="1">
            <a:off x="8391646" y="3076042"/>
            <a:ext cx="1487180" cy="0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prstDash val="dash"/>
            <a:tailEnd type="none" w="sm" len="sm"/>
          </a:ln>
          <a:effectLst/>
        </p:spPr>
      </p:cxnSp>
      <p:cxnSp>
        <p:nvCxnSpPr>
          <p:cNvPr id="61" name="struct.proof.3.loop.line.part3"/>
          <p:cNvCxnSpPr/>
          <p:nvPr/>
        </p:nvCxnSpPr>
        <p:spPr>
          <a:xfrm flipV="1">
            <a:off x="8391646" y="2814157"/>
            <a:ext cx="0" cy="261884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prstDash val="dash"/>
            <a:tailEnd type="triangle" w="sm" len="sm"/>
          </a:ln>
          <a:effectLst/>
        </p:spPr>
      </p:cxnSp>
      <p:cxnSp>
        <p:nvCxnSpPr>
          <p:cNvPr id="62" name="struct.proof.3.link.1"/>
          <p:cNvCxnSpPr>
            <a:cxnSpLocks/>
          </p:cNvCxnSpPr>
          <p:nvPr/>
        </p:nvCxnSpPr>
        <p:spPr>
          <a:xfrm>
            <a:off x="8523554" y="2459280"/>
            <a:ext cx="211739" cy="0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prstDash val="dash"/>
            <a:tailEnd type="triangle" w="sm" len="sm"/>
          </a:ln>
          <a:effectLst/>
        </p:spPr>
      </p:cxnSp>
      <p:cxnSp>
        <p:nvCxnSpPr>
          <p:cNvPr id="63" name="struct.proof.3.link.2"/>
          <p:cNvCxnSpPr>
            <a:cxnSpLocks/>
          </p:cNvCxnSpPr>
          <p:nvPr/>
        </p:nvCxnSpPr>
        <p:spPr>
          <a:xfrm>
            <a:off x="9011899" y="2459280"/>
            <a:ext cx="211739" cy="0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prstDash val="dash"/>
            <a:tailEnd type="triangle" w="sm" len="sm"/>
          </a:ln>
          <a:effectLst/>
        </p:spPr>
      </p:cxnSp>
      <p:cxnSp>
        <p:nvCxnSpPr>
          <p:cNvPr id="64" name="struct.proof.3.link.3"/>
          <p:cNvCxnSpPr>
            <a:cxnSpLocks/>
          </p:cNvCxnSpPr>
          <p:nvPr/>
        </p:nvCxnSpPr>
        <p:spPr>
          <a:xfrm>
            <a:off x="9500244" y="2459280"/>
            <a:ext cx="233907" cy="0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prstDash val="dash"/>
            <a:tailEnd type="triangle" w="sm" len="sm"/>
          </a:ln>
          <a:effectLst/>
        </p:spPr>
      </p:cxnSp>
      <p:cxnSp>
        <p:nvCxnSpPr>
          <p:cNvPr id="65" name="struct.proof.3.fan.1.part1"/>
          <p:cNvCxnSpPr/>
          <p:nvPr/>
        </p:nvCxnSpPr>
        <p:spPr>
          <a:xfrm>
            <a:off x="10203347" y="2744480"/>
            <a:ext cx="196047" cy="0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prstDash val="dash"/>
            <a:tailEnd type="none" w="sm" len="sm"/>
          </a:ln>
          <a:effectLst/>
        </p:spPr>
      </p:cxnSp>
      <p:cxnSp>
        <p:nvCxnSpPr>
          <p:cNvPr id="66" name="struct.proof.3.fan.1.part2"/>
          <p:cNvCxnSpPr/>
          <p:nvPr/>
        </p:nvCxnSpPr>
        <p:spPr>
          <a:xfrm flipV="1">
            <a:off x="10399394" y="2513594"/>
            <a:ext cx="0" cy="230886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prstDash val="dash"/>
            <a:tailEnd type="none" w="sm" len="sm"/>
          </a:ln>
          <a:effectLst/>
        </p:spPr>
      </p:cxnSp>
      <p:cxnSp>
        <p:nvCxnSpPr>
          <p:cNvPr id="67" name="struct.proof.3.fan.1.part3"/>
          <p:cNvCxnSpPr/>
          <p:nvPr/>
        </p:nvCxnSpPr>
        <p:spPr>
          <a:xfrm>
            <a:off x="10399394" y="2513594"/>
            <a:ext cx="196139" cy="0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prstDash val="dash"/>
            <a:tailEnd type="triangle" w="sm" len="sm"/>
          </a:ln>
          <a:effectLst/>
        </p:spPr>
      </p:cxnSp>
      <p:cxnSp>
        <p:nvCxnSpPr>
          <p:cNvPr id="68" name="struct.proof.3.fan.2.part1"/>
          <p:cNvCxnSpPr/>
          <p:nvPr/>
        </p:nvCxnSpPr>
        <p:spPr>
          <a:xfrm>
            <a:off x="10203347" y="2744480"/>
            <a:ext cx="196047" cy="0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prstDash val="dash"/>
            <a:tailEnd type="none" w="sm" len="sm"/>
          </a:ln>
          <a:effectLst/>
        </p:spPr>
      </p:cxnSp>
      <p:cxnSp>
        <p:nvCxnSpPr>
          <p:cNvPr id="69" name="struct.proof.3.fan.2.part2"/>
          <p:cNvCxnSpPr/>
          <p:nvPr/>
        </p:nvCxnSpPr>
        <p:spPr>
          <a:xfrm>
            <a:off x="10399394" y="2744480"/>
            <a:ext cx="0" cy="230886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prstDash val="dash"/>
            <a:tailEnd type="none" w="sm" len="sm"/>
          </a:ln>
          <a:effectLst/>
        </p:spPr>
      </p:cxnSp>
      <p:cxnSp>
        <p:nvCxnSpPr>
          <p:cNvPr id="70" name="struct.proof.3.fan.2.part3"/>
          <p:cNvCxnSpPr/>
          <p:nvPr/>
        </p:nvCxnSpPr>
        <p:spPr>
          <a:xfrm>
            <a:off x="10399394" y="2975366"/>
            <a:ext cx="196139" cy="0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prstDash val="dash"/>
            <a:tailEnd type="triangle" w="sm" len="sm"/>
          </a:ln>
          <a:effectLst/>
        </p:spPr>
      </p:cxnSp>
      <p:sp>
        <p:nvSpPr>
          <p:cNvPr id="71" name="slot.proof.3.reach"/>
          <p:cNvSpPr txBox="1"/>
          <p:nvPr/>
        </p:nvSpPr>
        <p:spPr>
          <a:xfrm>
            <a:off x="9714326" y="1536192"/>
            <a:ext cx="1755648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run reaches every environment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struct.proof.3.brace"/>
          <p:cNvSpPr/>
          <p:nvPr/>
        </p:nvSpPr>
        <p:spPr>
          <a:xfrm rot="5400000">
            <a:off x="10512193" y="1091520"/>
            <a:ext cx="161771" cy="1852082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slot.proof.1.base.icon"/>
          <p:cNvSpPr/>
          <p:nvPr/>
        </p:nvSpPr>
        <p:spPr>
          <a:xfrm>
            <a:off x="2558689" y="3414370"/>
            <a:ext cx="256946" cy="25694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21590" cap="rnd">
            <a:solidFill>
              <a:schemeClr val="accent1"/>
            </a:solidFill>
            <a:round/>
          </a:ln>
          <a:effectLst/>
        </p:spPr>
      </p:sp>
      <p:sp>
        <p:nvSpPr>
          <p:cNvPr id="74" name="slot.proof.1.engine.1.icon"/>
          <p:cNvSpPr/>
          <p:nvPr/>
        </p:nvSpPr>
        <p:spPr>
          <a:xfrm>
            <a:off x="1210406" y="2657246"/>
            <a:ext cx="279806" cy="27980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20000"/>
                </a:moveTo>
                <a:lnTo>
                  <a:pt x="12000" y="22000"/>
                </a:lnTo>
                <a:moveTo>
                  <a:pt x="12000" y="2000"/>
                </a:moveTo>
                <a:lnTo>
                  <a:pt x="12000" y="4000"/>
                </a:lnTo>
                <a:moveTo>
                  <a:pt x="17000" y="20000"/>
                </a:moveTo>
                <a:lnTo>
                  <a:pt x="17000" y="22000"/>
                </a:lnTo>
                <a:moveTo>
                  <a:pt x="17000" y="2000"/>
                </a:moveTo>
                <a:lnTo>
                  <a:pt x="17000" y="4000"/>
                </a:lnTo>
                <a:moveTo>
                  <a:pt x="2000" y="12000"/>
                </a:moveTo>
                <a:lnTo>
                  <a:pt x="4000" y="12000"/>
                </a:lnTo>
                <a:moveTo>
                  <a:pt x="2000" y="17000"/>
                </a:moveTo>
                <a:lnTo>
                  <a:pt x="4000" y="17000"/>
                </a:lnTo>
                <a:moveTo>
                  <a:pt x="2000" y="7000"/>
                </a:moveTo>
                <a:lnTo>
                  <a:pt x="4000" y="7000"/>
                </a:lnTo>
                <a:moveTo>
                  <a:pt x="20000" y="12000"/>
                </a:moveTo>
                <a:lnTo>
                  <a:pt x="22000" y="12000"/>
                </a:lnTo>
                <a:moveTo>
                  <a:pt x="20000" y="17000"/>
                </a:moveTo>
                <a:lnTo>
                  <a:pt x="22000" y="17000"/>
                </a:lnTo>
                <a:moveTo>
                  <a:pt x="20000" y="7000"/>
                </a:moveTo>
                <a:lnTo>
                  <a:pt x="22000" y="7000"/>
                </a:lnTo>
                <a:moveTo>
                  <a:pt x="7000" y="20000"/>
                </a:moveTo>
                <a:lnTo>
                  <a:pt x="7000" y="22000"/>
                </a:lnTo>
                <a:moveTo>
                  <a:pt x="7000" y="2000"/>
                </a:moveTo>
                <a:lnTo>
                  <a:pt x="7000" y="4000"/>
                </a:lnTo>
                <a:moveTo>
                  <a:pt x="6000" y="4000"/>
                </a:moveTo>
                <a:lnTo>
                  <a:pt x="18000" y="4000"/>
                </a:lnTo>
                <a:cubicBezTo>
                  <a:pt x="19105" y="4000"/>
                  <a:pt x="20000" y="4895"/>
                  <a:pt x="20000" y="6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6000"/>
                </a:lnTo>
                <a:cubicBezTo>
                  <a:pt x="4000" y="4895"/>
                  <a:pt x="4895" y="4000"/>
                  <a:pt x="6000" y="4000"/>
                </a:cubicBezTo>
                <a:close/>
                <a:moveTo>
                  <a:pt x="9000" y="8000"/>
                </a:moveTo>
                <a:lnTo>
                  <a:pt x="15000" y="8000"/>
                </a:lnTo>
                <a:cubicBezTo>
                  <a:pt x="15552" y="8000"/>
                  <a:pt x="16000" y="8448"/>
                  <a:pt x="16000" y="9000"/>
                </a:cubicBezTo>
                <a:lnTo>
                  <a:pt x="16000" y="15000"/>
                </a:lnTo>
                <a:cubicBezTo>
                  <a:pt x="16000" y="15552"/>
                  <a:pt x="15552" y="16000"/>
                  <a:pt x="15000" y="16000"/>
                </a:cubicBezTo>
                <a:lnTo>
                  <a:pt x="9000" y="16000"/>
                </a:lnTo>
                <a:cubicBezTo>
                  <a:pt x="8448" y="16000"/>
                  <a:pt x="8000" y="15552"/>
                  <a:pt x="8000" y="15000"/>
                </a:cubicBezTo>
                <a:lnTo>
                  <a:pt x="8000" y="9000"/>
                </a:lnTo>
                <a:cubicBezTo>
                  <a:pt x="8000" y="8448"/>
                  <a:pt x="8448" y="8000"/>
                  <a:pt x="9000" y="8000"/>
                </a:cubicBezTo>
                <a:close/>
              </a:path>
            </a:pathLst>
          </a:custGeom>
          <a:noFill/>
          <a:ln w="23495" cap="rnd">
            <a:solidFill>
              <a:schemeClr val="accent1"/>
            </a:solidFill>
            <a:round/>
          </a:ln>
          <a:effectLst/>
        </p:spPr>
      </p:sp>
      <p:sp>
        <p:nvSpPr>
          <p:cNvPr id="75" name="slot.proof.1.engine.2.icon"/>
          <p:cNvSpPr/>
          <p:nvPr/>
        </p:nvSpPr>
        <p:spPr>
          <a:xfrm>
            <a:off x="2549088" y="2653589"/>
            <a:ext cx="276149" cy="276149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10270"/>
                </a:moveTo>
                <a:lnTo>
                  <a:pt x="7000" y="3340"/>
                </a:lnTo>
                <a:moveTo>
                  <a:pt x="11000" y="13730"/>
                </a:moveTo>
                <a:lnTo>
                  <a:pt x="7000" y="20660"/>
                </a:lnTo>
                <a:moveTo>
                  <a:pt x="12000" y="22000"/>
                </a:moveTo>
                <a:lnTo>
                  <a:pt x="12000" y="20000"/>
                </a:lnTo>
                <a:moveTo>
                  <a:pt x="12000" y="2000"/>
                </a:moveTo>
                <a:lnTo>
                  <a:pt x="12000" y="4000"/>
                </a:lnTo>
                <a:moveTo>
                  <a:pt x="14000" y="12000"/>
                </a:moveTo>
                <a:lnTo>
                  <a:pt x="22000" y="12000"/>
                </a:lnTo>
                <a:moveTo>
                  <a:pt x="17000" y="20660"/>
                </a:moveTo>
                <a:lnTo>
                  <a:pt x="16000" y="18930"/>
                </a:lnTo>
                <a:moveTo>
                  <a:pt x="17000" y="3340"/>
                </a:moveTo>
                <a:lnTo>
                  <a:pt x="16000" y="5070"/>
                </a:lnTo>
                <a:moveTo>
                  <a:pt x="2000" y="12000"/>
                </a:moveTo>
                <a:lnTo>
                  <a:pt x="4000" y="12000"/>
                </a:lnTo>
                <a:moveTo>
                  <a:pt x="20660" y="17000"/>
                </a:moveTo>
                <a:lnTo>
                  <a:pt x="18930" y="16000"/>
                </a:lnTo>
                <a:moveTo>
                  <a:pt x="20660" y="7000"/>
                </a:moveTo>
                <a:lnTo>
                  <a:pt x="18930" y="8000"/>
                </a:lnTo>
                <a:moveTo>
                  <a:pt x="3340" y="17000"/>
                </a:moveTo>
                <a:lnTo>
                  <a:pt x="5070" y="16000"/>
                </a:lnTo>
                <a:moveTo>
                  <a:pt x="3340" y="7000"/>
                </a:moveTo>
                <a:lnTo>
                  <a:pt x="5070" y="8000"/>
                </a:lnTo>
                <a:moveTo>
                  <a:pt x="14000" y="12000"/>
                </a:moveTo>
                <a:cubicBezTo>
                  <a:pt x="14000" y="13105"/>
                  <a:pt x="13105" y="14000"/>
                  <a:pt x="12000" y="14000"/>
                </a:cubicBezTo>
                <a:cubicBezTo>
                  <a:pt x="10895" y="14000"/>
                  <a:pt x="10000" y="13105"/>
                  <a:pt x="10000" y="12000"/>
                </a:cubicBezTo>
                <a:cubicBezTo>
                  <a:pt x="10000" y="10895"/>
                  <a:pt x="10895" y="10000"/>
                  <a:pt x="12000" y="10000"/>
                </a:cubicBezTo>
                <a:cubicBezTo>
                  <a:pt x="13105" y="10000"/>
                  <a:pt x="14000" y="10895"/>
                  <a:pt x="14000" y="12000"/>
                </a:cubicBezTo>
                <a:close/>
                <a:moveTo>
                  <a:pt x="20000" y="12000"/>
                </a:moveTo>
                <a:cubicBezTo>
                  <a:pt x="20000" y="16418"/>
                  <a:pt x="16418" y="20000"/>
                  <a:pt x="12000" y="20000"/>
                </a:cubicBezTo>
                <a:cubicBezTo>
                  <a:pt x="7582" y="20000"/>
                  <a:pt x="4000" y="16418"/>
                  <a:pt x="4000" y="12000"/>
                </a:cubicBezTo>
                <a:cubicBezTo>
                  <a:pt x="4000" y="7582"/>
                  <a:pt x="7582" y="4000"/>
                  <a:pt x="12000" y="4000"/>
                </a:cubicBezTo>
                <a:cubicBezTo>
                  <a:pt x="16418" y="4000"/>
                  <a:pt x="20000" y="7582"/>
                  <a:pt x="20000" y="12000"/>
                </a:cubicBezTo>
                <a:close/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76" name="slot.proof.1.policy.icon"/>
          <p:cNvSpPr/>
          <p:nvPr/>
        </p:nvSpPr>
        <p:spPr>
          <a:xfrm>
            <a:off x="3401308" y="2558491"/>
            <a:ext cx="281635" cy="281635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11000"/>
                </a:moveTo>
                <a:lnTo>
                  <a:pt x="19000" y="11000"/>
                </a:lnTo>
                <a:cubicBezTo>
                  <a:pt x="20105" y="11000"/>
                  <a:pt x="21000" y="11895"/>
                  <a:pt x="21000" y="13000"/>
                </a:cubicBezTo>
                <a:lnTo>
                  <a:pt x="21000" y="20000"/>
                </a:lnTo>
                <a:cubicBezTo>
                  <a:pt x="21000" y="21105"/>
                  <a:pt x="20105" y="22000"/>
                  <a:pt x="19000" y="22000"/>
                </a:cubicBezTo>
                <a:lnTo>
                  <a:pt x="5000" y="22000"/>
                </a:lnTo>
                <a:cubicBezTo>
                  <a:pt x="3895" y="22000"/>
                  <a:pt x="3000" y="21105"/>
                  <a:pt x="3000" y="20000"/>
                </a:cubicBezTo>
                <a:lnTo>
                  <a:pt x="3000" y="13000"/>
                </a:lnTo>
                <a:cubicBezTo>
                  <a:pt x="3000" y="11895"/>
                  <a:pt x="3895" y="11000"/>
                  <a:pt x="5000" y="11000"/>
                </a:cubicBezTo>
                <a:close/>
                <a:moveTo>
                  <a:pt x="7000" y="11000"/>
                </a:moveTo>
                <a:lnTo>
                  <a:pt x="7000" y="7000"/>
                </a:lnTo>
                <a:cubicBezTo>
                  <a:pt x="7000" y="4239"/>
                  <a:pt x="9239" y="2000"/>
                  <a:pt x="12000" y="2000"/>
                </a:cubicBezTo>
                <a:cubicBezTo>
                  <a:pt x="14761" y="2000"/>
                  <a:pt x="17000" y="4239"/>
                  <a:pt x="17000" y="7000"/>
                </a:cubicBezTo>
                <a:lnTo>
                  <a:pt x="17000" y="11000"/>
                </a:lnTo>
              </a:path>
            </a:pathLst>
          </a:custGeom>
          <a:noFill/>
          <a:ln w="23495" cap="rnd">
            <a:solidFill>
              <a:schemeClr val="accent1"/>
            </a:solidFill>
            <a:round/>
          </a:ln>
          <a:effectLst/>
        </p:spPr>
      </p:sp>
      <p:sp>
        <p:nvSpPr>
          <p:cNvPr id="77" name="slot.proof.2.actor.1.icon"/>
          <p:cNvSpPr/>
          <p:nvPr/>
        </p:nvSpPr>
        <p:spPr>
          <a:xfrm>
            <a:off x="4633005" y="1736446"/>
            <a:ext cx="332842" cy="33284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27940" cap="rnd">
            <a:solidFill>
              <a:schemeClr val="accent1"/>
            </a:solidFill>
            <a:round/>
          </a:ln>
          <a:effectLst/>
        </p:spPr>
      </p:sp>
      <p:sp>
        <p:nvSpPr>
          <p:cNvPr id="78" name="slot.proof.2.actor.2.icon"/>
          <p:cNvSpPr/>
          <p:nvPr/>
        </p:nvSpPr>
        <p:spPr>
          <a:xfrm>
            <a:off x="5386471" y="1736446"/>
            <a:ext cx="332842" cy="33284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2000"/>
                </a:moveTo>
                <a:lnTo>
                  <a:pt x="15000" y="2000"/>
                </a:lnTo>
                <a:cubicBezTo>
                  <a:pt x="15552" y="2000"/>
                  <a:pt x="16000" y="2448"/>
                  <a:pt x="16000" y="3000"/>
                </a:cubicBezTo>
                <a:lnTo>
                  <a:pt x="16000" y="5000"/>
                </a:lnTo>
                <a:cubicBezTo>
                  <a:pt x="16000" y="5552"/>
                  <a:pt x="15552" y="6000"/>
                  <a:pt x="15000" y="6000"/>
                </a:cubicBezTo>
                <a:lnTo>
                  <a:pt x="9000" y="6000"/>
                </a:lnTo>
                <a:cubicBezTo>
                  <a:pt x="8448" y="6000"/>
                  <a:pt x="8000" y="5552"/>
                  <a:pt x="8000" y="5000"/>
                </a:cubicBezTo>
                <a:lnTo>
                  <a:pt x="8000" y="3000"/>
                </a:lnTo>
                <a:cubicBezTo>
                  <a:pt x="8000" y="2448"/>
                  <a:pt x="8448" y="2000"/>
                  <a:pt x="9000" y="2000"/>
                </a:cubicBezTo>
                <a:close/>
                <a:moveTo>
                  <a:pt x="16000" y="4000"/>
                </a:moveTo>
                <a:lnTo>
                  <a:pt x="18000" y="4000"/>
                </a:lnTo>
                <a:cubicBezTo>
                  <a:pt x="19105" y="4000"/>
                  <a:pt x="20000" y="4895"/>
                  <a:pt x="20000" y="6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lnTo>
                  <a:pt x="6000" y="22000"/>
                </a:lnTo>
                <a:cubicBezTo>
                  <a:pt x="4895" y="22000"/>
                  <a:pt x="4000" y="21105"/>
                  <a:pt x="4000" y="20000"/>
                </a:cubicBezTo>
                <a:lnTo>
                  <a:pt x="4000" y="6000"/>
                </a:lnTo>
                <a:cubicBezTo>
                  <a:pt x="4000" y="4895"/>
                  <a:pt x="4895" y="4000"/>
                  <a:pt x="6000" y="4000"/>
                </a:cubicBezTo>
                <a:lnTo>
                  <a:pt x="8000" y="4000"/>
                </a:lnTo>
                <a:moveTo>
                  <a:pt x="12000" y="11000"/>
                </a:moveTo>
                <a:lnTo>
                  <a:pt x="16000" y="11000"/>
                </a:lnTo>
                <a:moveTo>
                  <a:pt x="12000" y="16000"/>
                </a:moveTo>
                <a:lnTo>
                  <a:pt x="16000" y="16000"/>
                </a:lnTo>
                <a:moveTo>
                  <a:pt x="8000" y="11000"/>
                </a:moveTo>
                <a:lnTo>
                  <a:pt x="8010" y="11000"/>
                </a:lnTo>
                <a:moveTo>
                  <a:pt x="8000" y="16000"/>
                </a:moveTo>
                <a:lnTo>
                  <a:pt x="8010" y="16000"/>
                </a:lnTo>
              </a:path>
            </a:pathLst>
          </a:custGeom>
          <a:noFill/>
          <a:ln w="27940" cap="rnd">
            <a:solidFill>
              <a:schemeClr val="accent1"/>
            </a:solidFill>
            <a:round/>
          </a:ln>
          <a:effectLst/>
        </p:spPr>
      </p:sp>
      <p:sp>
        <p:nvSpPr>
          <p:cNvPr id="79" name="slot.proof.2.actor.3.icon"/>
          <p:cNvSpPr/>
          <p:nvPr/>
        </p:nvSpPr>
        <p:spPr>
          <a:xfrm>
            <a:off x="7025076" y="1749247"/>
            <a:ext cx="308153" cy="308153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7000" y="16000"/>
                </a:moveTo>
                <a:lnTo>
                  <a:pt x="21000" y="16000"/>
                </a:lnTo>
                <a:cubicBezTo>
                  <a:pt x="21552" y="16000"/>
                  <a:pt x="22000" y="16448"/>
                  <a:pt x="22000" y="17000"/>
                </a:cubicBezTo>
                <a:lnTo>
                  <a:pt x="22000" y="21000"/>
                </a:lnTo>
                <a:cubicBezTo>
                  <a:pt x="22000" y="21552"/>
                  <a:pt x="21552" y="22000"/>
                  <a:pt x="21000" y="22000"/>
                </a:cubicBezTo>
                <a:lnTo>
                  <a:pt x="17000" y="22000"/>
                </a:lnTo>
                <a:cubicBezTo>
                  <a:pt x="16448" y="22000"/>
                  <a:pt x="16000" y="21552"/>
                  <a:pt x="16000" y="21000"/>
                </a:cubicBezTo>
                <a:lnTo>
                  <a:pt x="16000" y="17000"/>
                </a:lnTo>
                <a:cubicBezTo>
                  <a:pt x="16000" y="16448"/>
                  <a:pt x="16448" y="16000"/>
                  <a:pt x="17000" y="16000"/>
                </a:cubicBezTo>
                <a:close/>
                <a:moveTo>
                  <a:pt x="3000" y="16000"/>
                </a:moveTo>
                <a:lnTo>
                  <a:pt x="7000" y="16000"/>
                </a:lnTo>
                <a:cubicBezTo>
                  <a:pt x="7552" y="16000"/>
                  <a:pt x="8000" y="16448"/>
                  <a:pt x="8000" y="17000"/>
                </a:cubicBezTo>
                <a:lnTo>
                  <a:pt x="8000" y="21000"/>
                </a:lnTo>
                <a:cubicBezTo>
                  <a:pt x="8000" y="21552"/>
                  <a:pt x="7552" y="22000"/>
                  <a:pt x="7000" y="22000"/>
                </a:cubicBezTo>
                <a:lnTo>
                  <a:pt x="3000" y="22000"/>
                </a:lnTo>
                <a:cubicBezTo>
                  <a:pt x="2448" y="22000"/>
                  <a:pt x="2000" y="21552"/>
                  <a:pt x="2000" y="21000"/>
                </a:cubicBezTo>
                <a:lnTo>
                  <a:pt x="2000" y="17000"/>
                </a:lnTo>
                <a:cubicBezTo>
                  <a:pt x="2000" y="16448"/>
                  <a:pt x="2448" y="16000"/>
                  <a:pt x="3000" y="16000"/>
                </a:cubicBezTo>
                <a:close/>
                <a:moveTo>
                  <a:pt x="10000" y="2000"/>
                </a:moveTo>
                <a:lnTo>
                  <a:pt x="14000" y="2000"/>
                </a:lnTo>
                <a:cubicBezTo>
                  <a:pt x="14552" y="2000"/>
                  <a:pt x="15000" y="2448"/>
                  <a:pt x="15000" y="3000"/>
                </a:cubicBezTo>
                <a:lnTo>
                  <a:pt x="15000" y="7000"/>
                </a:lnTo>
                <a:cubicBezTo>
                  <a:pt x="15000" y="7552"/>
                  <a:pt x="14552" y="8000"/>
                  <a:pt x="14000" y="8000"/>
                </a:cubicBezTo>
                <a:lnTo>
                  <a:pt x="10000" y="8000"/>
                </a:lnTo>
                <a:cubicBezTo>
                  <a:pt x="9448" y="8000"/>
                  <a:pt x="9000" y="7552"/>
                  <a:pt x="9000" y="7000"/>
                </a:cubicBezTo>
                <a:lnTo>
                  <a:pt x="9000" y="3000"/>
                </a:lnTo>
                <a:cubicBezTo>
                  <a:pt x="9000" y="2448"/>
                  <a:pt x="9448" y="2000"/>
                  <a:pt x="10000" y="2000"/>
                </a:cubicBezTo>
                <a:close/>
                <a:moveTo>
                  <a:pt x="5000" y="16000"/>
                </a:moveTo>
                <a:lnTo>
                  <a:pt x="5000" y="13000"/>
                </a:lnTo>
                <a:cubicBezTo>
                  <a:pt x="5000" y="12448"/>
                  <a:pt x="5448" y="12000"/>
                  <a:pt x="6000" y="12000"/>
                </a:cubicBezTo>
                <a:lnTo>
                  <a:pt x="18000" y="12000"/>
                </a:lnTo>
                <a:cubicBezTo>
                  <a:pt x="18552" y="12000"/>
                  <a:pt x="19000" y="12448"/>
                  <a:pt x="19000" y="13000"/>
                </a:cubicBezTo>
                <a:lnTo>
                  <a:pt x="19000" y="16000"/>
                </a:lnTo>
                <a:moveTo>
                  <a:pt x="12000" y="12000"/>
                </a:moveTo>
                <a:lnTo>
                  <a:pt x="12000" y="8000"/>
                </a:lnTo>
              </a:path>
            </a:pathLst>
          </a:custGeom>
          <a:noFill/>
          <a:ln w="25400" cap="rnd">
            <a:solidFill>
              <a:schemeClr val="accent1"/>
            </a:solidFill>
            <a:round/>
          </a:ln>
          <a:effectLst/>
        </p:spPr>
      </p:sp>
      <p:sp>
        <p:nvSpPr>
          <p:cNvPr id="80" name="slot.proof.3.stage.1.icon"/>
          <p:cNvSpPr/>
          <p:nvPr/>
        </p:nvSpPr>
        <p:spPr>
          <a:xfrm>
            <a:off x="8312551" y="2386584"/>
            <a:ext cx="145390" cy="14539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2989" y="19976"/>
                  <a:pt x="4402" y="20893"/>
                  <a:pt x="6790" y="21458"/>
                </a:cubicBezTo>
                <a:cubicBezTo>
                  <a:pt x="9177" y="22023"/>
                  <a:pt x="12240" y="22165"/>
                  <a:pt x="15000" y="21840"/>
                </a:cubicBezTo>
                <a:moveTo>
                  <a:pt x="21000" y="5000"/>
                </a:moveTo>
                <a:lnTo>
                  <a:pt x="21000" y="8000"/>
                </a:lnTo>
                <a:moveTo>
                  <a:pt x="21000" y="12000"/>
                </a:moveTo>
                <a:lnTo>
                  <a:pt x="18000" y="17000"/>
                </a:lnTo>
                <a:lnTo>
                  <a:pt x="22000" y="17000"/>
                </a:lnTo>
                <a:lnTo>
                  <a:pt x="19000" y="22000"/>
                </a:lnTo>
                <a:moveTo>
                  <a:pt x="3000" y="12000"/>
                </a:moveTo>
                <a:cubicBezTo>
                  <a:pt x="3003" y="12948"/>
                  <a:pt x="4350" y="13840"/>
                  <a:pt x="6633" y="14405"/>
                </a:cubicBezTo>
                <a:cubicBezTo>
                  <a:pt x="8916" y="14970"/>
                  <a:pt x="11866" y="15143"/>
                  <a:pt x="14590" y="14870"/>
                </a:cubicBezTo>
              </a:path>
            </a:pathLst>
          </a:custGeom>
          <a:noFill/>
          <a:ln w="12065" cap="rnd">
            <a:solidFill>
              <a:schemeClr val="accent1"/>
            </a:solidFill>
            <a:round/>
          </a:ln>
          <a:effectLst/>
        </p:spPr>
      </p:sp>
      <p:sp>
        <p:nvSpPr>
          <p:cNvPr id="81" name="slot.proof.3.stage.2.icon"/>
          <p:cNvSpPr/>
          <p:nvPr/>
        </p:nvSpPr>
        <p:spPr>
          <a:xfrm>
            <a:off x="8799926" y="2385670"/>
            <a:ext cx="147218" cy="14721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000" y="2000"/>
                </a:moveTo>
                <a:lnTo>
                  <a:pt x="14000" y="8000"/>
                </a:lnTo>
                <a:cubicBezTo>
                  <a:pt x="14000" y="8335"/>
                  <a:pt x="14084" y="8666"/>
                  <a:pt x="14245" y="8960"/>
                </a:cubicBezTo>
                <a:lnTo>
                  <a:pt x="19755" y="19040"/>
                </a:lnTo>
                <a:cubicBezTo>
                  <a:pt x="20094" y="19660"/>
                  <a:pt x="20081" y="20412"/>
                  <a:pt x="19721" y="21020"/>
                </a:cubicBezTo>
                <a:cubicBezTo>
                  <a:pt x="19361" y="21628"/>
                  <a:pt x="18706" y="22000"/>
                  <a:pt x="18000" y="22000"/>
                </a:cubicBezTo>
                <a:lnTo>
                  <a:pt x="6000" y="22000"/>
                </a:lnTo>
                <a:cubicBezTo>
                  <a:pt x="5294" y="22000"/>
                  <a:pt x="4639" y="21628"/>
                  <a:pt x="4279" y="21020"/>
                </a:cubicBezTo>
                <a:cubicBezTo>
                  <a:pt x="3919" y="20412"/>
                  <a:pt x="3906" y="19660"/>
                  <a:pt x="4245" y="19040"/>
                </a:cubicBezTo>
                <a:lnTo>
                  <a:pt x="9755" y="8960"/>
                </a:lnTo>
                <a:cubicBezTo>
                  <a:pt x="9916" y="8666"/>
                  <a:pt x="10000" y="8335"/>
                  <a:pt x="10000" y="8000"/>
                </a:cubicBezTo>
                <a:lnTo>
                  <a:pt x="10000" y="2000"/>
                </a:lnTo>
                <a:moveTo>
                  <a:pt x="6453" y="15000"/>
                </a:moveTo>
                <a:lnTo>
                  <a:pt x="17547" y="15000"/>
                </a:lnTo>
                <a:moveTo>
                  <a:pt x="8500" y="2000"/>
                </a:moveTo>
                <a:lnTo>
                  <a:pt x="15500" y="2000"/>
                </a:lnTo>
              </a:path>
            </a:pathLst>
          </a:custGeom>
          <a:noFill/>
          <a:ln w="12065" cap="rnd">
            <a:solidFill>
              <a:schemeClr val="accent1"/>
            </a:solidFill>
            <a:round/>
          </a:ln>
          <a:effectLst/>
        </p:spPr>
      </p:sp>
      <p:sp>
        <p:nvSpPr>
          <p:cNvPr id="82" name="slot.proof.3.stage.3.icon"/>
          <p:cNvSpPr/>
          <p:nvPr/>
        </p:nvSpPr>
        <p:spPr>
          <a:xfrm>
            <a:off x="9288216" y="2385670"/>
            <a:ext cx="147218" cy="14721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10270"/>
                </a:moveTo>
                <a:lnTo>
                  <a:pt x="7000" y="3340"/>
                </a:lnTo>
                <a:moveTo>
                  <a:pt x="11000" y="13730"/>
                </a:moveTo>
                <a:lnTo>
                  <a:pt x="7000" y="20660"/>
                </a:lnTo>
                <a:moveTo>
                  <a:pt x="12000" y="22000"/>
                </a:moveTo>
                <a:lnTo>
                  <a:pt x="12000" y="20000"/>
                </a:lnTo>
                <a:moveTo>
                  <a:pt x="12000" y="2000"/>
                </a:moveTo>
                <a:lnTo>
                  <a:pt x="12000" y="4000"/>
                </a:lnTo>
                <a:moveTo>
                  <a:pt x="14000" y="12000"/>
                </a:moveTo>
                <a:lnTo>
                  <a:pt x="22000" y="12000"/>
                </a:lnTo>
                <a:moveTo>
                  <a:pt x="17000" y="20660"/>
                </a:moveTo>
                <a:lnTo>
                  <a:pt x="16000" y="18930"/>
                </a:lnTo>
                <a:moveTo>
                  <a:pt x="17000" y="3340"/>
                </a:moveTo>
                <a:lnTo>
                  <a:pt x="16000" y="5070"/>
                </a:lnTo>
                <a:moveTo>
                  <a:pt x="2000" y="12000"/>
                </a:moveTo>
                <a:lnTo>
                  <a:pt x="4000" y="12000"/>
                </a:lnTo>
                <a:moveTo>
                  <a:pt x="20660" y="17000"/>
                </a:moveTo>
                <a:lnTo>
                  <a:pt x="18930" y="16000"/>
                </a:lnTo>
                <a:moveTo>
                  <a:pt x="20660" y="7000"/>
                </a:moveTo>
                <a:lnTo>
                  <a:pt x="18930" y="8000"/>
                </a:lnTo>
                <a:moveTo>
                  <a:pt x="3340" y="17000"/>
                </a:moveTo>
                <a:lnTo>
                  <a:pt x="5070" y="16000"/>
                </a:lnTo>
                <a:moveTo>
                  <a:pt x="3340" y="7000"/>
                </a:moveTo>
                <a:lnTo>
                  <a:pt x="5070" y="8000"/>
                </a:lnTo>
                <a:moveTo>
                  <a:pt x="14000" y="12000"/>
                </a:moveTo>
                <a:cubicBezTo>
                  <a:pt x="14000" y="13105"/>
                  <a:pt x="13105" y="14000"/>
                  <a:pt x="12000" y="14000"/>
                </a:cubicBezTo>
                <a:cubicBezTo>
                  <a:pt x="10895" y="14000"/>
                  <a:pt x="10000" y="13105"/>
                  <a:pt x="10000" y="12000"/>
                </a:cubicBezTo>
                <a:cubicBezTo>
                  <a:pt x="10000" y="10895"/>
                  <a:pt x="10895" y="10000"/>
                  <a:pt x="12000" y="10000"/>
                </a:cubicBezTo>
                <a:cubicBezTo>
                  <a:pt x="13105" y="10000"/>
                  <a:pt x="14000" y="10895"/>
                  <a:pt x="14000" y="12000"/>
                </a:cubicBezTo>
                <a:close/>
                <a:moveTo>
                  <a:pt x="20000" y="12000"/>
                </a:moveTo>
                <a:cubicBezTo>
                  <a:pt x="20000" y="16418"/>
                  <a:pt x="16418" y="20000"/>
                  <a:pt x="12000" y="20000"/>
                </a:cubicBezTo>
                <a:cubicBezTo>
                  <a:pt x="7582" y="20000"/>
                  <a:pt x="4000" y="16418"/>
                  <a:pt x="4000" y="12000"/>
                </a:cubicBezTo>
                <a:cubicBezTo>
                  <a:pt x="4000" y="7582"/>
                  <a:pt x="7582" y="4000"/>
                  <a:pt x="12000" y="4000"/>
                </a:cubicBezTo>
                <a:cubicBezTo>
                  <a:pt x="16418" y="4000"/>
                  <a:pt x="20000" y="7582"/>
                  <a:pt x="20000" y="12000"/>
                </a:cubicBezTo>
                <a:close/>
              </a:path>
            </a:pathLst>
          </a:custGeom>
          <a:noFill/>
          <a:ln w="12065" cap="rnd">
            <a:solidFill>
              <a:schemeClr val="accent1"/>
            </a:solidFill>
            <a:round/>
          </a:ln>
          <a:effectLst/>
        </p:spPr>
      </p:sp>
      <p:sp>
        <p:nvSpPr>
          <p:cNvPr id="83" name="slot.proof.3.stage.4.icon"/>
          <p:cNvSpPr/>
          <p:nvPr/>
        </p:nvSpPr>
        <p:spPr>
          <a:xfrm>
            <a:off x="9798451" y="2385670"/>
            <a:ext cx="147218" cy="14721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22000"/>
                </a:moveTo>
                <a:lnTo>
                  <a:pt x="12000" y="12000"/>
                </a:lnTo>
                <a:moveTo>
                  <a:pt x="16000" y="17000"/>
                </a:moveTo>
                <a:lnTo>
                  <a:pt x="18000" y="19000"/>
                </a:lnTo>
                <a:lnTo>
                  <a:pt x="22000" y="15000"/>
                </a:lnTo>
                <a:moveTo>
                  <a:pt x="21000" y="11127"/>
                </a:moveTo>
                <a:lnTo>
                  <a:pt x="21000" y="8000"/>
                </a:lnTo>
                <a:cubicBezTo>
                  <a:pt x="20999" y="7286"/>
                  <a:pt x="20618" y="6627"/>
                  <a:pt x="20000" y="6270"/>
                </a:cubicBezTo>
                <a:lnTo>
                  <a:pt x="13000" y="2270"/>
                </a:lnTo>
                <a:cubicBezTo>
                  <a:pt x="12381" y="1913"/>
                  <a:pt x="11619" y="1913"/>
                  <a:pt x="11000" y="2270"/>
                </a:cubicBezTo>
                <a:lnTo>
                  <a:pt x="4000" y="6270"/>
                </a:lnTo>
                <a:cubicBezTo>
                  <a:pt x="3382" y="6627"/>
                  <a:pt x="3001" y="7286"/>
                  <a:pt x="3000" y="8000"/>
                </a:cubicBezTo>
                <a:lnTo>
                  <a:pt x="3000" y="16000"/>
                </a:lnTo>
                <a:cubicBezTo>
                  <a:pt x="3001" y="16713"/>
                  <a:pt x="3382" y="17372"/>
                  <a:pt x="4000" y="17729"/>
                </a:cubicBezTo>
                <a:lnTo>
                  <a:pt x="11000" y="21729"/>
                </a:lnTo>
                <a:cubicBezTo>
                  <a:pt x="11619" y="22087"/>
                  <a:pt x="12381" y="22087"/>
                  <a:pt x="13000" y="21730"/>
                </a:cubicBezTo>
                <a:lnTo>
                  <a:pt x="14320" y="20977"/>
                </a:lnTo>
                <a:moveTo>
                  <a:pt x="3290" y="7000"/>
                </a:moveTo>
                <a:lnTo>
                  <a:pt x="12000" y="12000"/>
                </a:lnTo>
                <a:lnTo>
                  <a:pt x="20710" y="7000"/>
                </a:lnTo>
                <a:moveTo>
                  <a:pt x="7500" y="4270"/>
                </a:moveTo>
                <a:lnTo>
                  <a:pt x="16497" y="9418"/>
                </a:lnTo>
              </a:path>
            </a:pathLst>
          </a:custGeom>
          <a:noFill/>
          <a:ln w="12065" cap="rnd">
            <a:solidFill>
              <a:schemeClr val="accent1"/>
            </a:solidFill>
            <a:round/>
          </a:ln>
          <a:effectLst/>
        </p:spPr>
      </p:sp>
      <p:sp>
        <p:nvSpPr>
          <p:cNvPr id="84" name="slot.proof.3.loop"/>
          <p:cNvSpPr txBox="1"/>
          <p:nvPr/>
        </p:nvSpPr>
        <p:spPr>
          <a:xfrm>
            <a:off x="8832870" y="3003213"/>
            <a:ext cx="671653" cy="1231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Rollback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headline-figures:disc-band-figures-card-row">
    <p:spTree>
      <p:nvGrpSpPr>
        <p:cNvPr id="1" name=""/>
        <p:cNvGrpSpPr/>
        <p:nvPr/>
      </p:nvGrpSpPr>
      <p:grpSpPr/>
      <p:sp>
        <p:nvSpPr>
          <p:cNvPr id="2" name="bleed.panel"/>
          <p:cNvSpPr/>
          <p:nvPr/>
        </p:nvSpPr>
        <p:spPr>
          <a:xfrm>
            <a:off x="8458200" y="4983480"/>
            <a:ext cx="3733495" cy="187451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Arial"/>
              <a:buNone/>
            </a:pPr>
            <a:r>
              <a:rPr sz="1400"/>
              <a:t/>
            </a:r>
            <a:endParaRPr b="0" i="0" sz="1400" u="none" cap="none" strike="noStrike">
              <a:solidFill>
                <a:schemeClr val="bg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" name="struct.fig.1.ring"/>
          <p:cNvSpPr/>
          <p:nvPr/>
        </p:nvSpPr>
        <p:spPr>
          <a:xfrm>
            <a:off x="824579" y="1348572"/>
            <a:ext cx="1002600" cy="998556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anchorCtr="0" anchor="ctr" bIns="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200"/>
              <a:buFont typeface="Arial"/>
              <a:buNone/>
            </a:pPr>
            <a:r>
              <a:rPr sz="1400"/>
              <a:t/>
            </a:r>
            <a:endParaRPr b="1" i="0" sz="1200" u="none" cap="none" strike="noStrike">
              <a:solidFill>
                <a:schemeClr val="bg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" name="struct.fig.2.ring"/>
          <p:cNvSpPr/>
          <p:nvPr/>
        </p:nvSpPr>
        <p:spPr>
          <a:xfrm>
            <a:off x="2744820" y="1348572"/>
            <a:ext cx="1002600" cy="998556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anchorCtr="0" anchor="ctr" bIns="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200"/>
              <a:buFont typeface="Arial"/>
              <a:buNone/>
            </a:pPr>
            <a:r>
              <a:rPr sz="1400"/>
              <a:t/>
            </a:r>
            <a:endParaRPr b="1" i="0" sz="1200" u="none" cap="none" strike="noStrike">
              <a:solidFill>
                <a:schemeClr val="bg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" name="struct.fig.3.ring"/>
          <p:cNvSpPr/>
          <p:nvPr/>
        </p:nvSpPr>
        <p:spPr>
          <a:xfrm>
            <a:off x="4665060" y="1348572"/>
            <a:ext cx="1002600" cy="998556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anchorCtr="0" anchor="ctr" bIns="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200"/>
              <a:buFont typeface="Arial"/>
              <a:buNone/>
            </a:pPr>
            <a:r>
              <a:rPr sz="1400"/>
              <a:t/>
            </a:r>
            <a:endParaRPr b="1" i="0" sz="1200" u="none" cap="none" strike="noStrike">
              <a:solidFill>
                <a:schemeClr val="bg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" name="struct.fig.4.ring"/>
          <p:cNvSpPr/>
          <p:nvPr/>
        </p:nvSpPr>
        <p:spPr>
          <a:xfrm>
            <a:off x="6585300" y="1348572"/>
            <a:ext cx="1002600" cy="998556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anchorCtr="0" anchor="ctr" bIns="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200"/>
              <a:buFont typeface="Arial"/>
              <a:buNone/>
            </a:pPr>
            <a:r>
              <a:rPr sz="1400"/>
              <a:t/>
            </a:r>
            <a:endParaRPr b="1" i="0" sz="1200" u="none" cap="none" strike="noStrike">
              <a:solidFill>
                <a:schemeClr val="bg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7" name="struct.fig.5.ring"/>
          <p:cNvSpPr/>
          <p:nvPr/>
        </p:nvSpPr>
        <p:spPr>
          <a:xfrm>
            <a:off x="8505540" y="1348572"/>
            <a:ext cx="1002600" cy="998556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anchorCtr="0" anchor="ctr" bIns="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200"/>
              <a:buFont typeface="Arial"/>
              <a:buNone/>
            </a:pPr>
            <a:r>
              <a:rPr sz="1400"/>
              <a:t/>
            </a:r>
            <a:endParaRPr b="1" i="0" sz="1200" u="none" cap="none" strike="noStrike">
              <a:solidFill>
                <a:schemeClr val="bg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" name="struct.fig.6.ring"/>
          <p:cNvSpPr/>
          <p:nvPr/>
        </p:nvSpPr>
        <p:spPr>
          <a:xfrm>
            <a:off x="10425780" y="1348572"/>
            <a:ext cx="1002600" cy="998556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anchorCtr="0" anchor="ctr" bIns="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sz="1400"/>
              <a:t/>
            </a:r>
            <a:endParaRPr b="1" i="0" sz="1200" u="none" cap="none" strike="noStrike">
              <a:solidFill>
                <a:schemeClr val="bg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" name="slot.title"/>
          <p:cNvSpPr txBox="1"/>
          <p:nvPr/>
        </p:nvSpPr>
        <p:spPr>
          <a:xfrm>
            <a:off x="457200" y="274320"/>
            <a:ext cx="1133856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The invoice automation pilot paid back its cost in </a:t>
            </a:r>
            <a:r>
              <a:rPr lang="en-US" sz="26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five months</a:t>
            </a:r>
            <a:endParaRPr lang="en-US" sz="26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bleed.band"/>
          <p:cNvSpPr/>
          <p:nvPr/>
        </p:nvSpPr>
        <p:spPr>
          <a:xfrm>
            <a:off x="0" y="1848916"/>
            <a:ext cx="12191695" cy="3134563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Arial"/>
              <a:buNone/>
            </a:pPr>
            <a:r>
              <a:rPr sz="1400"/>
              <a:t/>
            </a:r>
            <a:endParaRPr b="0" i="0" sz="1400" u="none" cap="none" strike="noStrike">
              <a:solidFill>
                <a:schemeClr val="bg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" name="slot.fig.1.basis"/>
          <p:cNvSpPr txBox="1"/>
          <p:nvPr/>
        </p:nvSpPr>
        <p:spPr>
          <a:xfrm>
            <a:off x="457200" y="3966291"/>
            <a:ext cx="173736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Up from 18% at the baseline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lot.fig.2.basis"/>
          <p:cNvSpPr txBox="1"/>
          <p:nvPr/>
        </p:nvSpPr>
        <p:spPr>
          <a:xfrm>
            <a:off x="2377440" y="3966291"/>
            <a:ext cx="173736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Close now runs in five days, not nine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slot.fig.3.basis"/>
          <p:cNvSpPr txBox="1"/>
          <p:nvPr/>
        </p:nvSpPr>
        <p:spPr>
          <a:xfrm>
            <a:off x="4297680" y="3966291"/>
            <a:ext cx="173736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Measured over the last eight weeks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slot.fig.4.basis"/>
          <p:cNvSpPr txBox="1"/>
          <p:nvPr/>
        </p:nvSpPr>
        <p:spPr>
          <a:xfrm>
            <a:off x="6217920" y="3966291"/>
            <a:ext cx="173736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Booked over the first two quarters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lot.fig.5.basis"/>
          <p:cNvSpPr txBox="1"/>
          <p:nvPr/>
        </p:nvSpPr>
        <p:spPr>
          <a:xfrm>
            <a:off x="8138160" y="3966291"/>
            <a:ext cx="173736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Exceptions routed to one shared queue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lot.fig.6.basis"/>
          <p:cNvSpPr txBox="1"/>
          <p:nvPr/>
        </p:nvSpPr>
        <p:spPr>
          <a:xfrm>
            <a:off x="10058400" y="3966291"/>
            <a:ext cx="173736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Against a twelve-month business case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truct.fig.1.disc"/>
          <p:cNvSpPr/>
          <p:nvPr/>
        </p:nvSpPr>
        <p:spPr>
          <a:xfrm>
            <a:off x="928249" y="1453950"/>
            <a:ext cx="795260" cy="792052"/>
          </a:xfrm>
          <a:prstGeom prst="ellipse">
            <a:avLst/>
          </a:prstGeom>
          <a:solidFill>
            <a:schemeClr val="bg1"/>
          </a:solidFill>
          <a:ln cap="sq" cmpd="sng" w="57150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200"/>
              <a:buFont typeface="Arial"/>
              <a:buNone/>
            </a:pPr>
            <a:r>
              <a:rPr sz="1400"/>
              <a:t/>
            </a:r>
            <a:endParaRPr b="0" i="0" sz="1200" u="none" cap="none" strike="noStrike">
              <a:solidFill>
                <a:schemeClr val="bg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" name="struct.fig.2.disc"/>
          <p:cNvSpPr/>
          <p:nvPr/>
        </p:nvSpPr>
        <p:spPr>
          <a:xfrm>
            <a:off x="2848490" y="1453950"/>
            <a:ext cx="795260" cy="792052"/>
          </a:xfrm>
          <a:prstGeom prst="ellipse">
            <a:avLst/>
          </a:prstGeom>
          <a:solidFill>
            <a:schemeClr val="bg1"/>
          </a:solidFill>
          <a:ln cap="sq" cmpd="sng" w="57150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200"/>
              <a:buFont typeface="Arial"/>
              <a:buNone/>
            </a:pPr>
            <a:r>
              <a:rPr sz="1400"/>
              <a:t/>
            </a:r>
            <a:endParaRPr b="0" i="0" sz="1200" u="none" cap="none" strike="noStrike">
              <a:solidFill>
                <a:schemeClr val="bg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" name="struct.fig.3.disc"/>
          <p:cNvSpPr/>
          <p:nvPr/>
        </p:nvSpPr>
        <p:spPr>
          <a:xfrm>
            <a:off x="4768730" y="1453950"/>
            <a:ext cx="795260" cy="792052"/>
          </a:xfrm>
          <a:prstGeom prst="ellipse">
            <a:avLst/>
          </a:prstGeom>
          <a:solidFill>
            <a:schemeClr val="bg1"/>
          </a:solidFill>
          <a:ln cap="sq" cmpd="sng" w="57150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200"/>
              <a:buFont typeface="Arial"/>
              <a:buNone/>
            </a:pPr>
            <a:r>
              <a:rPr sz="1400"/>
              <a:t/>
            </a:r>
            <a:endParaRPr b="0" i="0" sz="1200" u="none" cap="none" strike="noStrike">
              <a:solidFill>
                <a:schemeClr val="bg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" name="struct.fig.4.disc"/>
          <p:cNvSpPr/>
          <p:nvPr/>
        </p:nvSpPr>
        <p:spPr>
          <a:xfrm>
            <a:off x="6688970" y="1453950"/>
            <a:ext cx="795260" cy="792052"/>
          </a:xfrm>
          <a:prstGeom prst="ellipse">
            <a:avLst/>
          </a:prstGeom>
          <a:solidFill>
            <a:schemeClr val="bg1"/>
          </a:solidFill>
          <a:ln cap="sq" cmpd="sng" w="57150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200"/>
              <a:buFont typeface="Arial"/>
              <a:buNone/>
            </a:pPr>
            <a:r>
              <a:rPr sz="1400"/>
              <a:t/>
            </a:r>
            <a:endParaRPr b="0" i="0" sz="1200" u="none" cap="none" strike="noStrike">
              <a:solidFill>
                <a:schemeClr val="bg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" name="struct.fig.5.disc"/>
          <p:cNvSpPr/>
          <p:nvPr/>
        </p:nvSpPr>
        <p:spPr>
          <a:xfrm>
            <a:off x="8609210" y="1453950"/>
            <a:ext cx="795260" cy="792052"/>
          </a:xfrm>
          <a:prstGeom prst="ellipse">
            <a:avLst/>
          </a:prstGeom>
          <a:solidFill>
            <a:schemeClr val="bg1"/>
          </a:solidFill>
          <a:ln cap="sq" cmpd="sng" w="57150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200"/>
              <a:buFont typeface="Arial"/>
              <a:buNone/>
            </a:pPr>
            <a:r>
              <a:rPr sz="1400"/>
              <a:t/>
            </a:r>
            <a:endParaRPr b="0" i="0" sz="1200" u="none" cap="none" strike="noStrike">
              <a:solidFill>
                <a:schemeClr val="bg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2" name="struct.fig.6.disc"/>
          <p:cNvSpPr/>
          <p:nvPr/>
        </p:nvSpPr>
        <p:spPr>
          <a:xfrm>
            <a:off x="10529450" y="1453950"/>
            <a:ext cx="795260" cy="792052"/>
          </a:xfrm>
          <a:prstGeom prst="ellipse">
            <a:avLst/>
          </a:prstGeom>
          <a:solidFill>
            <a:schemeClr val="bg1"/>
          </a:solidFill>
          <a:ln cap="sq" cmpd="sng" w="57150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200"/>
              <a:buFont typeface="Arial"/>
              <a:buNone/>
            </a:pPr>
            <a:r>
              <a:rPr sz="1400"/>
              <a:t/>
            </a:r>
            <a:endParaRPr b="0" i="0" sz="1200" u="none" cap="none" strike="noStrike">
              <a:solidFill>
                <a:schemeClr val="bg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23" name="struct.rule.1"/>
          <p:cNvCxnSpPr/>
          <p:nvPr/>
        </p:nvCxnSpPr>
        <p:spPr>
          <a:xfrm>
            <a:off x="2286000" y="2788920"/>
            <a:ext cx="0" cy="1691640"/>
          </a:xfrm>
          <a:prstGeom prst="straightConnector1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cxnSp>
        <p:nvCxnSpPr>
          <p:cNvPr id="24" name="struct.rule.2"/>
          <p:cNvCxnSpPr/>
          <p:nvPr/>
        </p:nvCxnSpPr>
        <p:spPr>
          <a:xfrm>
            <a:off x="4206240" y="2788920"/>
            <a:ext cx="0" cy="1691640"/>
          </a:xfrm>
          <a:prstGeom prst="straightConnector1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cxnSp>
        <p:nvCxnSpPr>
          <p:cNvPr id="25" name="struct.rule.3"/>
          <p:cNvCxnSpPr/>
          <p:nvPr/>
        </p:nvCxnSpPr>
        <p:spPr>
          <a:xfrm>
            <a:off x="6126480" y="2788920"/>
            <a:ext cx="0" cy="1691640"/>
          </a:xfrm>
          <a:prstGeom prst="straightConnector1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cxnSp>
        <p:nvCxnSpPr>
          <p:cNvPr id="26" name="struct.rule.4"/>
          <p:cNvCxnSpPr/>
          <p:nvPr/>
        </p:nvCxnSpPr>
        <p:spPr>
          <a:xfrm>
            <a:off x="8046720" y="2788920"/>
            <a:ext cx="0" cy="1691640"/>
          </a:xfrm>
          <a:prstGeom prst="straightConnector1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cxnSp>
        <p:nvCxnSpPr>
          <p:cNvPr id="27" name="struct.rule.5"/>
          <p:cNvCxnSpPr/>
          <p:nvPr/>
        </p:nvCxnSpPr>
        <p:spPr>
          <a:xfrm>
            <a:off x="9966960" y="2788920"/>
            <a:ext cx="0" cy="1691640"/>
          </a:xfrm>
          <a:prstGeom prst="straightConnector1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sp>
        <p:nvSpPr>
          <p:cNvPr id="28" name="bleed.card.1"/>
          <p:cNvSpPr/>
          <p:nvPr/>
        </p:nvSpPr>
        <p:spPr>
          <a:xfrm>
            <a:off x="1" y="4983480"/>
            <a:ext cx="2746248" cy="1874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Arial"/>
              <a:buNone/>
            </a:pPr>
            <a:r>
              <a:rPr sz="1400"/>
              <a:t/>
            </a:r>
            <a:endParaRPr b="0" i="0" sz="1400" u="none" cap="none" strike="noStrike">
              <a:solidFill>
                <a:schemeClr val="bg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" name="bleed.card.2"/>
          <p:cNvSpPr/>
          <p:nvPr/>
        </p:nvSpPr>
        <p:spPr>
          <a:xfrm>
            <a:off x="2819400" y="4983480"/>
            <a:ext cx="2746248" cy="1874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Arial"/>
              <a:buNone/>
            </a:pPr>
            <a:r>
              <a:rPr sz="1400"/>
              <a:t/>
            </a:r>
            <a:endParaRPr b="0" i="0" sz="1400" u="none" cap="none" strike="noStrike">
              <a:solidFill>
                <a:schemeClr val="bg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0" name="bleed.card.3"/>
          <p:cNvSpPr/>
          <p:nvPr/>
        </p:nvSpPr>
        <p:spPr>
          <a:xfrm>
            <a:off x="5638799" y="4983480"/>
            <a:ext cx="2746248" cy="1874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Arial"/>
              <a:buNone/>
            </a:pPr>
            <a:r>
              <a:rPr sz="1400"/>
              <a:t/>
            </a:r>
            <a:endParaRPr b="0" i="0" sz="1400" u="none" cap="none" strike="noStrike">
              <a:solidFill>
                <a:schemeClr val="bg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1" name="slot.card.1.head"/>
          <p:cNvSpPr txBox="1"/>
          <p:nvPr/>
        </p:nvSpPr>
        <p:spPr>
          <a:xfrm>
            <a:off x="457200" y="5367528"/>
            <a:ext cx="1603249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Controls held</a:t>
            </a:r>
            <a:endParaRPr lang="en-US" sz="16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lot.card.1.body"/>
          <p:cNvSpPr txBox="1"/>
          <p:nvPr/>
        </p:nvSpPr>
        <p:spPr>
          <a:xfrm>
            <a:off x="457200" y="5879592"/>
            <a:ext cx="2060449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Every posting keeps an audit trail and an approver</a:t>
            </a:r>
            <a:endParaRPr lang="en-US" sz="13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slot.card.2.head"/>
          <p:cNvSpPr txBox="1"/>
          <p:nvPr/>
        </p:nvSpPr>
        <p:spPr>
          <a:xfrm>
            <a:off x="3093720" y="5367528"/>
            <a:ext cx="1786128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Savings mix</a:t>
            </a:r>
            <a:endParaRPr lang="en-US" sz="16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slot.card.2.body"/>
          <p:cNvSpPr txBox="1"/>
          <p:nvPr/>
        </p:nvSpPr>
        <p:spPr>
          <a:xfrm>
            <a:off x="3093720" y="5879592"/>
            <a:ext cx="2243328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Two thirds from analyst time, a third from discounts</a:t>
            </a:r>
            <a:endParaRPr lang="en-US" sz="13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lot.card.3.head"/>
          <p:cNvSpPr txBox="1"/>
          <p:nvPr/>
        </p:nvSpPr>
        <p:spPr>
          <a:xfrm>
            <a:off x="5913119" y="5367528"/>
            <a:ext cx="1786128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Team roles</a:t>
            </a:r>
            <a:endParaRPr lang="en-US" sz="16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slot.card.3.body"/>
          <p:cNvSpPr txBox="1"/>
          <p:nvPr/>
        </p:nvSpPr>
        <p:spPr>
          <a:xfrm>
            <a:off x="5913119" y="5879592"/>
            <a:ext cx="2243328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Analysts moved from keying invoices to exceptions</a:t>
            </a:r>
            <a:endParaRPr lang="en-US" sz="13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slot.panel.head"/>
          <p:cNvSpPr txBox="1"/>
          <p:nvPr/>
        </p:nvSpPr>
        <p:spPr>
          <a:xfrm>
            <a:off x="8686800" y="5367528"/>
            <a:ext cx="3090672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Recommended next step</a:t>
            </a:r>
            <a:endParaRPr lang="en-US" sz="16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lot.panel.body"/>
          <p:cNvSpPr txBox="1"/>
          <p:nvPr/>
        </p:nvSpPr>
        <p:spPr>
          <a:xfrm>
            <a:off x="8686800" y="5879592"/>
            <a:ext cx="3090672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Extend to two more regional centers next quarter</a:t>
            </a:r>
            <a:endParaRPr lang="en-US" sz="13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slot.fig.1.icon"/>
          <p:cNvSpPr/>
          <p:nvPr/>
        </p:nvSpPr>
        <p:spPr>
          <a:xfrm>
            <a:off x="1133856" y="165795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9000" y="15000"/>
                </a:moveTo>
                <a:lnTo>
                  <a:pt x="11000" y="17000"/>
                </a:lnTo>
                <a:lnTo>
                  <a:pt x="15000" y="13000"/>
                </a:lnTo>
              </a:path>
            </a:pathLst>
          </a:custGeom>
          <a:noFill/>
          <a:ln w="31750" cap="rnd">
            <a:solidFill>
              <a:schemeClr val="accent1"/>
            </a:solidFill>
            <a:round/>
          </a:ln>
          <a:effectLst/>
        </p:spPr>
      </p:sp>
      <p:grpSp>
        <p:nvGrpSpPr>
          <p:cNvPr id="40" name="slot.fig.1"/>
          <p:cNvGrpSpPr/>
          <p:nvPr/>
        </p:nvGrpSpPr>
        <p:grpSpPr>
          <a:xfrm>
            <a:off x="457200" y="2724912"/>
            <a:ext cx="1737360" cy="1149940"/>
            <a:chOff x="457200" y="2724912"/>
            <a:chExt cx="1737360" cy="1149940"/>
          </a:xfrm>
          <a:effectLst/>
        </p:grpSpPr>
        <p:sp>
          <p:nvSpPr>
            <p:cNvPr id="41" name="slot.fig.1.value"/>
            <p:cNvSpPr txBox="1"/>
            <p:nvPr/>
          </p:nvSpPr>
          <p:spPr>
            <a:xfrm>
              <a:off x="457200" y="2724912"/>
              <a:ext cx="1737360" cy="653027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 b="1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62%</a:t>
              </a:r>
              <a:endParaRPr lang="en-US" sz="4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42" name="slot.fig.1.rule"/>
            <p:cNvCxnSpPr/>
            <p:nvPr/>
          </p:nvCxnSpPr>
          <p:spPr>
            <a:xfrm>
              <a:off x="457200" y="3423659"/>
              <a:ext cx="173736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43" name="slot.fig.1.label"/>
            <p:cNvSpPr txBox="1"/>
            <p:nvPr/>
          </p:nvSpPr>
          <p:spPr>
            <a:xfrm>
              <a:off x="457200" y="3478523"/>
              <a:ext cx="1737360" cy="396329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Invoices posted with no manual touch</a:t>
              </a:r>
              <a:endParaRPr lang="en-US" sz="13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44" name="slot.fig.2.icon"/>
          <p:cNvSpPr/>
          <p:nvPr/>
        </p:nvSpPr>
        <p:spPr>
          <a:xfrm>
            <a:off x="3054096" y="165795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8000" y="2000"/>
                </a:moveTo>
                <a:lnTo>
                  <a:pt x="8000" y="5000"/>
                </a:lnTo>
                <a:moveTo>
                  <a:pt x="16000" y="2000"/>
                </a:moveTo>
                <a:lnTo>
                  <a:pt x="16000" y="5000"/>
                </a:lnTo>
                <a:moveTo>
                  <a:pt x="5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  <a:moveTo>
                  <a:pt x="3000" y="9000"/>
                </a:moveTo>
                <a:lnTo>
                  <a:pt x="21000" y="9000"/>
                </a:lnTo>
                <a:moveTo>
                  <a:pt x="9000" y="15000"/>
                </a:moveTo>
                <a:lnTo>
                  <a:pt x="11000" y="17000"/>
                </a:lnTo>
                <a:lnTo>
                  <a:pt x="15000" y="13000"/>
                </a:lnTo>
              </a:path>
            </a:pathLst>
          </a:custGeom>
          <a:noFill/>
          <a:ln w="31750" cap="rnd">
            <a:solidFill>
              <a:schemeClr val="accent1"/>
            </a:solidFill>
            <a:round/>
          </a:ln>
          <a:effectLst/>
        </p:spPr>
      </p:sp>
      <p:grpSp>
        <p:nvGrpSpPr>
          <p:cNvPr id="45" name="slot.fig.2"/>
          <p:cNvGrpSpPr/>
          <p:nvPr/>
        </p:nvGrpSpPr>
        <p:grpSpPr>
          <a:xfrm>
            <a:off x="2377440" y="2724912"/>
            <a:ext cx="1737360" cy="1149940"/>
            <a:chOff x="2377440" y="2724912"/>
            <a:chExt cx="1737360" cy="1149940"/>
          </a:xfrm>
          <a:effectLst/>
        </p:grpSpPr>
        <p:sp>
          <p:nvSpPr>
            <p:cNvPr id="46" name="slot.fig.2.value"/>
            <p:cNvSpPr txBox="1"/>
            <p:nvPr/>
          </p:nvSpPr>
          <p:spPr>
            <a:xfrm>
              <a:off x="2377440" y="2724912"/>
              <a:ext cx="1737360" cy="653027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 b="1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44%</a:t>
              </a:r>
              <a:endParaRPr lang="en-US" sz="4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47" name="slot.fig.2.rule"/>
            <p:cNvCxnSpPr/>
            <p:nvPr/>
          </p:nvCxnSpPr>
          <p:spPr>
            <a:xfrm>
              <a:off x="2377440" y="3423659"/>
              <a:ext cx="173736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48" name="slot.fig.2.label"/>
            <p:cNvSpPr txBox="1"/>
            <p:nvPr/>
          </p:nvSpPr>
          <p:spPr>
            <a:xfrm>
              <a:off x="2377440" y="3478523"/>
              <a:ext cx="1737360" cy="396329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Shorter month-end close cycle</a:t>
              </a:r>
              <a:endParaRPr lang="en-US" sz="13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49" name="slot.fig.3.icon"/>
          <p:cNvSpPr/>
          <p:nvPr/>
        </p:nvSpPr>
        <p:spPr>
          <a:xfrm>
            <a:off x="4974336" y="165795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31750" cap="rnd">
            <a:solidFill>
              <a:schemeClr val="accent1"/>
            </a:solidFill>
            <a:round/>
          </a:ln>
          <a:effectLst/>
        </p:spPr>
      </p:sp>
      <p:grpSp>
        <p:nvGrpSpPr>
          <p:cNvPr id="50" name="slot.fig.3"/>
          <p:cNvGrpSpPr/>
          <p:nvPr/>
        </p:nvGrpSpPr>
        <p:grpSpPr>
          <a:xfrm>
            <a:off x="4297680" y="2724912"/>
            <a:ext cx="1737360" cy="1149940"/>
            <a:chOff x="4297680" y="2724912"/>
            <a:chExt cx="1737360" cy="1149940"/>
          </a:xfrm>
          <a:effectLst/>
        </p:grpSpPr>
        <p:sp>
          <p:nvSpPr>
            <p:cNvPr id="51" name="slot.fig.3.value"/>
            <p:cNvSpPr txBox="1"/>
            <p:nvPr/>
          </p:nvSpPr>
          <p:spPr>
            <a:xfrm>
              <a:off x="4297680" y="2724912"/>
              <a:ext cx="1737360" cy="653027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 b="1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3x</a:t>
              </a:r>
              <a:endParaRPr lang="en-US" sz="4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52" name="slot.fig.3.rule"/>
            <p:cNvCxnSpPr/>
            <p:nvPr/>
          </p:nvCxnSpPr>
          <p:spPr>
            <a:xfrm>
              <a:off x="4297680" y="3423659"/>
              <a:ext cx="173736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53" name="slot.fig.3.label"/>
            <p:cNvSpPr txBox="1"/>
            <p:nvPr/>
          </p:nvSpPr>
          <p:spPr>
            <a:xfrm>
              <a:off x="4297680" y="3478523"/>
              <a:ext cx="1737360" cy="396329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Vendor queries resolved per analyst</a:t>
              </a:r>
              <a:endParaRPr lang="en-US" sz="13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54" name="slot.fig.4.icon"/>
          <p:cNvSpPr/>
          <p:nvPr/>
        </p:nvSpPr>
        <p:spPr>
          <a:xfrm>
            <a:off x="6894576" y="165795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17000"/>
                </a:moveTo>
                <a:lnTo>
                  <a:pt x="14000" y="17000"/>
                </a:lnTo>
                <a:lnTo>
                  <a:pt x="14000" y="19000"/>
                </a:lnTo>
                <a:cubicBezTo>
                  <a:pt x="14000" y="19552"/>
                  <a:pt x="14448" y="20000"/>
                  <a:pt x="15000" y="20000"/>
                </a:cubicBezTo>
                <a:lnTo>
                  <a:pt x="17000" y="20000"/>
                </a:lnTo>
                <a:cubicBezTo>
                  <a:pt x="17552" y="20000"/>
                  <a:pt x="18000" y="19552"/>
                  <a:pt x="18000" y="19000"/>
                </a:cubicBezTo>
                <a:lnTo>
                  <a:pt x="18000" y="16000"/>
                </a:lnTo>
                <a:cubicBezTo>
                  <a:pt x="18944" y="15686"/>
                  <a:pt x="19686" y="14944"/>
                  <a:pt x="20000" y="14000"/>
                </a:cubicBezTo>
                <a:lnTo>
                  <a:pt x="21000" y="14000"/>
                </a:lnTo>
                <a:cubicBezTo>
                  <a:pt x="21552" y="14000"/>
                  <a:pt x="22000" y="13552"/>
                  <a:pt x="22000" y="13000"/>
                </a:cubicBezTo>
                <a:lnTo>
                  <a:pt x="22000" y="11000"/>
                </a:lnTo>
                <a:cubicBezTo>
                  <a:pt x="22000" y="10448"/>
                  <a:pt x="21552" y="10000"/>
                  <a:pt x="21000" y="10000"/>
                </a:cubicBezTo>
                <a:lnTo>
                  <a:pt x="20000" y="10000"/>
                </a:lnTo>
                <a:cubicBezTo>
                  <a:pt x="20000" y="8426"/>
                  <a:pt x="19259" y="6944"/>
                  <a:pt x="18000" y="6000"/>
                </a:cubicBezTo>
                <a:lnTo>
                  <a:pt x="18000" y="3000"/>
                </a:lnTo>
                <a:cubicBezTo>
                  <a:pt x="16741" y="3000"/>
                  <a:pt x="15555" y="3593"/>
                  <a:pt x="14800" y="4600"/>
                </a:cubicBezTo>
                <a:lnTo>
                  <a:pt x="14500" y="5000"/>
                </a:lnTo>
                <a:lnTo>
                  <a:pt x="11000" y="5000"/>
                </a:lnTo>
                <a:cubicBezTo>
                  <a:pt x="7686" y="5000"/>
                  <a:pt x="5000" y="7686"/>
                  <a:pt x="5000" y="11000"/>
                </a:cubicBezTo>
                <a:lnTo>
                  <a:pt x="5000" y="12000"/>
                </a:lnTo>
                <a:cubicBezTo>
                  <a:pt x="5000" y="13574"/>
                  <a:pt x="5741" y="15056"/>
                  <a:pt x="7000" y="16000"/>
                </a:cubicBezTo>
                <a:lnTo>
                  <a:pt x="7000" y="19000"/>
                </a:lnTo>
                <a:cubicBezTo>
                  <a:pt x="7000" y="19552"/>
                  <a:pt x="7448" y="20000"/>
                  <a:pt x="8000" y="20000"/>
                </a:cubicBezTo>
                <a:lnTo>
                  <a:pt x="10000" y="20000"/>
                </a:lnTo>
                <a:cubicBezTo>
                  <a:pt x="10552" y="20000"/>
                  <a:pt x="11000" y="19552"/>
                  <a:pt x="11000" y="19000"/>
                </a:cubicBezTo>
                <a:close/>
                <a:moveTo>
                  <a:pt x="16000" y="10000"/>
                </a:moveTo>
                <a:lnTo>
                  <a:pt x="16010" y="10000"/>
                </a:lnTo>
                <a:moveTo>
                  <a:pt x="2000" y="8000"/>
                </a:moveTo>
                <a:lnTo>
                  <a:pt x="2000" y="9000"/>
                </a:lnTo>
                <a:cubicBezTo>
                  <a:pt x="2000" y="10105"/>
                  <a:pt x="2895" y="11000"/>
                  <a:pt x="4000" y="11000"/>
                </a:cubicBezTo>
                <a:lnTo>
                  <a:pt x="5000" y="11000"/>
                </a:lnTo>
              </a:path>
            </a:pathLst>
          </a:custGeom>
          <a:noFill/>
          <a:ln w="31750" cap="rnd">
            <a:solidFill>
              <a:schemeClr val="accent1"/>
            </a:solidFill>
            <a:round/>
          </a:ln>
          <a:effectLst/>
        </p:spPr>
      </p:sp>
      <p:grpSp>
        <p:nvGrpSpPr>
          <p:cNvPr id="55" name="slot.fig.4"/>
          <p:cNvGrpSpPr/>
          <p:nvPr/>
        </p:nvGrpSpPr>
        <p:grpSpPr>
          <a:xfrm>
            <a:off x="6217920" y="2724912"/>
            <a:ext cx="1737360" cy="1149940"/>
            <a:chOff x="6217920" y="2724912"/>
            <a:chExt cx="1737360" cy="1149940"/>
          </a:xfrm>
          <a:effectLst/>
        </p:grpSpPr>
        <p:sp>
          <p:nvSpPr>
            <p:cNvPr id="56" name="slot.fig.4.value"/>
            <p:cNvSpPr txBox="1"/>
            <p:nvPr/>
          </p:nvSpPr>
          <p:spPr>
            <a:xfrm>
              <a:off x="6217920" y="2724912"/>
              <a:ext cx="1737360" cy="653027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 b="1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$1.8M</a:t>
              </a:r>
              <a:endParaRPr lang="en-US" sz="4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57" name="slot.fig.4.rule"/>
            <p:cNvCxnSpPr/>
            <p:nvPr/>
          </p:nvCxnSpPr>
          <p:spPr>
            <a:xfrm>
              <a:off x="6217920" y="3423659"/>
              <a:ext cx="173736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58" name="slot.fig.4.label"/>
            <p:cNvSpPr txBox="1"/>
            <p:nvPr/>
          </p:nvSpPr>
          <p:spPr>
            <a:xfrm>
              <a:off x="6217920" y="3478523"/>
              <a:ext cx="1737360" cy="396329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Annual run-rate savings identified</a:t>
              </a:r>
              <a:endParaRPr lang="en-US" sz="13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59" name="slot.fig.5.icon"/>
          <p:cNvSpPr/>
          <p:nvPr/>
        </p:nvSpPr>
        <p:spPr>
          <a:xfrm>
            <a:off x="8814816" y="165795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31750" cap="rnd">
            <a:solidFill>
              <a:schemeClr val="accent1"/>
            </a:solidFill>
            <a:round/>
          </a:ln>
          <a:effectLst/>
        </p:spPr>
      </p:sp>
      <p:grpSp>
        <p:nvGrpSpPr>
          <p:cNvPr id="60" name="slot.fig.5"/>
          <p:cNvGrpSpPr/>
          <p:nvPr/>
        </p:nvGrpSpPr>
        <p:grpSpPr>
          <a:xfrm>
            <a:off x="8138160" y="2724912"/>
            <a:ext cx="1737360" cy="1149940"/>
            <a:chOff x="8138160" y="2724912"/>
            <a:chExt cx="1737360" cy="1149940"/>
          </a:xfrm>
          <a:effectLst/>
        </p:grpSpPr>
        <p:sp>
          <p:nvSpPr>
            <p:cNvPr id="61" name="slot.fig.5.value"/>
            <p:cNvSpPr txBox="1"/>
            <p:nvPr/>
          </p:nvSpPr>
          <p:spPr>
            <a:xfrm>
              <a:off x="8138160" y="2724912"/>
              <a:ext cx="1737360" cy="653027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 b="1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91%</a:t>
              </a:r>
              <a:endParaRPr lang="en-US" sz="4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62" name="slot.fig.5.rule"/>
            <p:cNvCxnSpPr/>
            <p:nvPr/>
          </p:nvCxnSpPr>
          <p:spPr>
            <a:xfrm>
              <a:off x="8138160" y="3423659"/>
              <a:ext cx="173736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63" name="slot.fig.5.label"/>
            <p:cNvSpPr txBox="1"/>
            <p:nvPr/>
          </p:nvSpPr>
          <p:spPr>
            <a:xfrm>
              <a:off x="8138160" y="3478523"/>
              <a:ext cx="1737360" cy="396329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First-pass match rate on payments</a:t>
              </a:r>
              <a:endParaRPr lang="en-US" sz="13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64" name="slot.fig.6.icon"/>
          <p:cNvSpPr/>
          <p:nvPr/>
        </p:nvSpPr>
        <p:spPr>
          <a:xfrm>
            <a:off x="10735056" y="165795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22000"/>
                </a:moveTo>
                <a:lnTo>
                  <a:pt x="19000" y="22000"/>
                </a:lnTo>
                <a:moveTo>
                  <a:pt x="5000" y="2000"/>
                </a:moveTo>
                <a:lnTo>
                  <a:pt x="19000" y="2000"/>
                </a:lnTo>
                <a:moveTo>
                  <a:pt x="17000" y="22000"/>
                </a:moveTo>
                <a:lnTo>
                  <a:pt x="17000" y="17828"/>
                </a:lnTo>
                <a:cubicBezTo>
                  <a:pt x="17000" y="17298"/>
                  <a:pt x="16789" y="16789"/>
                  <a:pt x="16414" y="16414"/>
                </a:cubicBezTo>
                <a:lnTo>
                  <a:pt x="12000" y="12000"/>
                </a:lnTo>
                <a:lnTo>
                  <a:pt x="7586" y="16414"/>
                </a:lnTo>
                <a:cubicBezTo>
                  <a:pt x="7211" y="16789"/>
                  <a:pt x="7000" y="17298"/>
                  <a:pt x="7000" y="17828"/>
                </a:cubicBezTo>
                <a:lnTo>
                  <a:pt x="7000" y="22000"/>
                </a:lnTo>
                <a:moveTo>
                  <a:pt x="7000" y="2000"/>
                </a:moveTo>
                <a:lnTo>
                  <a:pt x="7000" y="6172"/>
                </a:lnTo>
                <a:cubicBezTo>
                  <a:pt x="7000" y="6702"/>
                  <a:pt x="7211" y="7211"/>
                  <a:pt x="7586" y="7586"/>
                </a:cubicBezTo>
                <a:lnTo>
                  <a:pt x="12000" y="12000"/>
                </a:lnTo>
                <a:lnTo>
                  <a:pt x="16414" y="7586"/>
                </a:lnTo>
                <a:cubicBezTo>
                  <a:pt x="16789" y="7211"/>
                  <a:pt x="17000" y="6702"/>
                  <a:pt x="17000" y="6172"/>
                </a:cubicBezTo>
                <a:lnTo>
                  <a:pt x="17000" y="2000"/>
                </a:lnTo>
              </a:path>
            </a:pathLst>
          </a:custGeom>
          <a:noFill/>
          <a:ln w="31750" cap="rnd">
            <a:solidFill>
              <a:schemeClr val="accent1"/>
            </a:solidFill>
            <a:round/>
          </a:ln>
          <a:effectLst/>
        </p:spPr>
      </p:sp>
      <p:grpSp>
        <p:nvGrpSpPr>
          <p:cNvPr id="65" name="slot.fig.6"/>
          <p:cNvGrpSpPr/>
          <p:nvPr/>
        </p:nvGrpSpPr>
        <p:grpSpPr>
          <a:xfrm>
            <a:off x="10058400" y="2724912"/>
            <a:ext cx="1737360" cy="1149940"/>
            <a:chOff x="10058400" y="2724912"/>
            <a:chExt cx="1737360" cy="1149940"/>
          </a:xfrm>
          <a:effectLst/>
        </p:grpSpPr>
        <p:sp>
          <p:nvSpPr>
            <p:cNvPr id="66" name="slot.fig.6.value"/>
            <p:cNvSpPr txBox="1"/>
            <p:nvPr/>
          </p:nvSpPr>
          <p:spPr>
            <a:xfrm>
              <a:off x="10058400" y="2724912"/>
              <a:ext cx="1737360" cy="653027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 b="1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5 mo</a:t>
              </a:r>
              <a:endParaRPr lang="en-US" sz="4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67" name="slot.fig.6.rule"/>
            <p:cNvCxnSpPr/>
            <p:nvPr/>
          </p:nvCxnSpPr>
          <p:spPr>
            <a:xfrm>
              <a:off x="10058400" y="3423659"/>
              <a:ext cx="173736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68" name="slot.fig.6.label"/>
            <p:cNvSpPr txBox="1"/>
            <p:nvPr/>
          </p:nvSpPr>
          <p:spPr>
            <a:xfrm>
              <a:off x="10058400" y="3478523"/>
              <a:ext cx="1737360" cy="396329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To recover the full pilot cost</a:t>
              </a:r>
              <a:endParaRPr lang="en-US" sz="13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69" name="slot.card.1.icon"/>
          <p:cNvSpPr/>
          <p:nvPr/>
        </p:nvSpPr>
        <p:spPr>
          <a:xfrm>
            <a:off x="2069593" y="536752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34925" cap="rnd">
            <a:solidFill>
              <a:schemeClr val="accent1"/>
            </a:solidFill>
            <a:round/>
          </a:ln>
          <a:effectLst/>
        </p:spPr>
      </p:sp>
      <p:sp>
        <p:nvSpPr>
          <p:cNvPr id="70" name="slot.card.2.icon"/>
          <p:cNvSpPr/>
          <p:nvPr/>
        </p:nvSpPr>
        <p:spPr>
          <a:xfrm>
            <a:off x="4888992" y="536752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12000"/>
                </a:moveTo>
                <a:cubicBezTo>
                  <a:pt x="21552" y="12000"/>
                  <a:pt x="22005" y="11551"/>
                  <a:pt x="21950" y="11002"/>
                </a:cubicBezTo>
                <a:cubicBezTo>
                  <a:pt x="21475" y="6269"/>
                  <a:pt x="17731" y="2525"/>
                  <a:pt x="12997" y="2051"/>
                </a:cubicBezTo>
                <a:cubicBezTo>
                  <a:pt x="12447" y="1996"/>
                  <a:pt x="11999" y="2449"/>
                  <a:pt x="11999" y="3001"/>
                </a:cubicBezTo>
                <a:lnTo>
                  <a:pt x="11999" y="11001"/>
                </a:lnTo>
                <a:cubicBezTo>
                  <a:pt x="11999" y="11553"/>
                  <a:pt x="12447" y="12001"/>
                  <a:pt x="12999" y="12001"/>
                </a:cubicBezTo>
                <a:close/>
                <a:moveTo>
                  <a:pt x="21210" y="15890"/>
                </a:moveTo>
                <a:cubicBezTo>
                  <a:pt x="19460" y="20029"/>
                  <a:pt x="15164" y="22492"/>
                  <a:pt x="10708" y="21912"/>
                </a:cubicBezTo>
                <a:cubicBezTo>
                  <a:pt x="6252" y="21331"/>
                  <a:pt x="2730" y="17849"/>
                  <a:pt x="2099" y="13400"/>
                </a:cubicBezTo>
                <a:cubicBezTo>
                  <a:pt x="1467" y="8951"/>
                  <a:pt x="3881" y="4627"/>
                  <a:pt x="8000" y="2830"/>
                </a:cubicBezTo>
              </a:path>
            </a:pathLst>
          </a:custGeom>
          <a:noFill/>
          <a:ln w="34925" cap="rnd">
            <a:solidFill>
              <a:schemeClr val="accent1"/>
            </a:solidFill>
            <a:round/>
          </a:ln>
          <a:effectLst/>
        </p:spPr>
      </p:sp>
      <p:sp>
        <p:nvSpPr>
          <p:cNvPr id="71" name="slot.card.3.icon"/>
          <p:cNvSpPr/>
          <p:nvPr/>
        </p:nvSpPr>
        <p:spPr>
          <a:xfrm>
            <a:off x="7708391" y="536752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34925" cap="rnd">
            <a:solidFill>
              <a:schemeClr val="accent1"/>
            </a:solidFill>
            <a:round/>
          </a:ln>
          <a:effectLst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ecision-logic:slanted-lanes">
    <p:spTree>
      <p:nvGrpSpPr>
        <p:cNvPr id="1" name=""/>
        <p:cNvGrpSpPr/>
        <p:nvPr/>
      </p:nvGrpSpPr>
      <p:grpSpPr/>
      <p:sp>
        <p:nvSpPr>
          <p:cNvPr id="2" name="struct.controls.panel"/>
          <p:cNvSpPr/>
          <p:nvPr/>
        </p:nvSpPr>
        <p:spPr>
          <a:xfrm>
            <a:off x="458736" y="5458967"/>
            <a:ext cx="5532468" cy="896112"/>
          </a:xfrm>
          <a:prstGeom prst="roundRect">
            <a:avLst>
              <a:gd fmla="val 5102" name="adj"/>
            </a:avLst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Arial"/>
              <a:buNone/>
            </a:pPr>
            <a:r>
              <a:rPr sz="140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" name="slot.signals.label"/>
          <p:cNvSpPr/>
          <p:nvPr/>
        </p:nvSpPr>
        <p:spPr>
          <a:xfrm>
            <a:off x="458736" y="896112"/>
            <a:ext cx="2720885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Signals on arrival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truct.signal.1.disc"/>
          <p:cNvSpPr/>
          <p:nvPr/>
        </p:nvSpPr>
        <p:spPr>
          <a:xfrm>
            <a:off x="457174" y="1207008"/>
            <a:ext cx="384048" cy="38404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2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" name="struct.signal.2.disc"/>
          <p:cNvSpPr/>
          <p:nvPr/>
        </p:nvSpPr>
        <p:spPr>
          <a:xfrm>
            <a:off x="3740376" y="1207008"/>
            <a:ext cx="384048" cy="38404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2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" name="slot.signal.1.head"/>
          <p:cNvSpPr/>
          <p:nvPr/>
        </p:nvSpPr>
        <p:spPr>
          <a:xfrm>
            <a:off x="912215" y="1170432"/>
            <a:ext cx="2720885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Match score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lot.signal.1.body"/>
          <p:cNvSpPr/>
          <p:nvPr/>
        </p:nvSpPr>
        <p:spPr>
          <a:xfrm>
            <a:off x="912215" y="1389888"/>
            <a:ext cx="2720885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Order, receipt and invoice agree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lot.signal.2.head"/>
          <p:cNvSpPr/>
          <p:nvPr/>
        </p:nvSpPr>
        <p:spPr>
          <a:xfrm>
            <a:off x="4195419" y="1170432"/>
            <a:ext cx="2720885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Exception flags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slot.signal.2.body"/>
          <p:cNvSpPr/>
          <p:nvPr/>
        </p:nvSpPr>
        <p:spPr>
          <a:xfrm>
            <a:off x="4195419" y="1389888"/>
            <a:ext cx="2720885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Duplicate, price or tax variance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truct.note.panel"/>
          <p:cNvSpPr/>
          <p:nvPr/>
        </p:nvSpPr>
        <p:spPr>
          <a:xfrm>
            <a:off x="7614665" y="1097280"/>
            <a:ext cx="4181095" cy="5669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2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" name="slot.note.body"/>
          <p:cNvSpPr/>
          <p:nvPr/>
        </p:nvSpPr>
        <p:spPr>
          <a:xfrm>
            <a:off x="7723501" y="1161288"/>
            <a:ext cx="3963424" cy="43891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45700" lIns="91425" spcFirstLastPara="1" rIns="91425" wrap="square" tIns="4570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Rules run top to bottom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The first rule that matches sets the lane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lot.lanes.label"/>
          <p:cNvSpPr/>
          <p:nvPr/>
        </p:nvSpPr>
        <p:spPr>
          <a:xfrm>
            <a:off x="458736" y="1956816"/>
            <a:ext cx="8162657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Handling lanes, tested in order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struct.lane.1.shape"/>
          <p:cNvSpPr/>
          <p:nvPr/>
        </p:nvSpPr>
        <p:spPr>
          <a:xfrm>
            <a:off x="458736" y="2304288"/>
            <a:ext cx="2095082" cy="2057400"/>
          </a:xfrm>
          <a:prstGeom prst="parallelogram">
            <a:avLst>
              <a:gd fmla="val 25000" name="adj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2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" name="struct.lane.2.shape"/>
          <p:cNvSpPr/>
          <p:nvPr/>
        </p:nvSpPr>
        <p:spPr>
          <a:xfrm>
            <a:off x="2753350" y="2304288"/>
            <a:ext cx="2095082" cy="2057400"/>
          </a:xfrm>
          <a:prstGeom prst="parallelogram">
            <a:avLst>
              <a:gd fmla="val 25000" name="adj"/>
            </a:avLst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2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" name="struct.lane.3.shape"/>
          <p:cNvSpPr/>
          <p:nvPr/>
        </p:nvSpPr>
        <p:spPr>
          <a:xfrm>
            <a:off x="5047963" y="2304288"/>
            <a:ext cx="2095082" cy="2057400"/>
          </a:xfrm>
          <a:prstGeom prst="parallelogram">
            <a:avLst>
              <a:gd fmla="val 25000" name="adj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2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" name="struct.lane.4.shape"/>
          <p:cNvSpPr/>
          <p:nvPr/>
        </p:nvSpPr>
        <p:spPr>
          <a:xfrm>
            <a:off x="7342577" y="2304288"/>
            <a:ext cx="2095082" cy="2057400"/>
          </a:xfrm>
          <a:prstGeom prst="parallelogram">
            <a:avLst>
              <a:gd fmla="val 25000" name="adj"/>
            </a:avLst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2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7" name="struct.lane.5.shape"/>
          <p:cNvSpPr/>
          <p:nvPr/>
        </p:nvSpPr>
        <p:spPr>
          <a:xfrm>
            <a:off x="9637190" y="2304288"/>
            <a:ext cx="2095082" cy="2057400"/>
          </a:xfrm>
          <a:prstGeom prst="parallelogram">
            <a:avLst>
              <a:gd fmla="val 25000" name="adj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2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" name="struct.lane.1.numeral"/>
          <p:cNvSpPr/>
          <p:nvPr/>
        </p:nvSpPr>
        <p:spPr>
          <a:xfrm>
            <a:off x="1133287" y="2505456"/>
            <a:ext cx="816265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01</a:t>
            </a:r>
            <a:endParaRPr lang="en-US" sz="36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lot.lane.1.head"/>
          <p:cNvSpPr/>
          <p:nvPr/>
        </p:nvSpPr>
        <p:spPr>
          <a:xfrm>
            <a:off x="779573" y="3182112"/>
            <a:ext cx="141486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Straight through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truct.lane.1.pill"/>
          <p:cNvSpPr/>
          <p:nvPr/>
        </p:nvSpPr>
        <p:spPr>
          <a:xfrm>
            <a:off x="920152" y="3730752"/>
            <a:ext cx="906962" cy="274320"/>
          </a:xfrm>
          <a:prstGeom prst="roundRect">
            <a:avLst>
              <a:gd fmla="val 50000" name="adj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2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" name="slot.lane.1.owner"/>
          <p:cNvSpPr/>
          <p:nvPr/>
        </p:nvSpPr>
        <p:spPr>
          <a:xfrm>
            <a:off x="920152" y="3730752"/>
            <a:ext cx="906962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45700" lIns="91425" spcFirstLastPara="1" rIns="91425" wrap="square" tIns="4570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Auto-post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truct.lane.2.numeral"/>
          <p:cNvSpPr/>
          <p:nvPr/>
        </p:nvSpPr>
        <p:spPr>
          <a:xfrm>
            <a:off x="3427903" y="2505456"/>
            <a:ext cx="816265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02</a:t>
            </a:r>
            <a:endParaRPr lang="en-US" sz="36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slot.lane.2.head"/>
          <p:cNvSpPr/>
          <p:nvPr/>
        </p:nvSpPr>
        <p:spPr>
          <a:xfrm>
            <a:off x="3074187" y="3182112"/>
            <a:ext cx="141486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Price variance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truct.lane.2.pill"/>
          <p:cNvSpPr/>
          <p:nvPr/>
        </p:nvSpPr>
        <p:spPr>
          <a:xfrm>
            <a:off x="3214766" y="3730752"/>
            <a:ext cx="906962" cy="27432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2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5" name="slot.lane.2.owner"/>
          <p:cNvSpPr/>
          <p:nvPr/>
        </p:nvSpPr>
        <p:spPr>
          <a:xfrm>
            <a:off x="3214766" y="3730752"/>
            <a:ext cx="906962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45700" lIns="91425" spcFirstLastPara="1" rIns="91425" wrap="square" tIns="4570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Buyer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struct.lane.3.numeral"/>
          <p:cNvSpPr/>
          <p:nvPr/>
        </p:nvSpPr>
        <p:spPr>
          <a:xfrm>
            <a:off x="5722516" y="2505456"/>
            <a:ext cx="816265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03</a:t>
            </a:r>
            <a:endParaRPr lang="en-US" sz="36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lot.lane.3.head"/>
          <p:cNvSpPr/>
          <p:nvPr/>
        </p:nvSpPr>
        <p:spPr>
          <a:xfrm>
            <a:off x="5368801" y="3182112"/>
            <a:ext cx="141486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Tax mismatch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truct.lane.3.pill"/>
          <p:cNvSpPr/>
          <p:nvPr/>
        </p:nvSpPr>
        <p:spPr>
          <a:xfrm>
            <a:off x="5509380" y="3730752"/>
            <a:ext cx="906962" cy="27432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2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" name="slot.lane.3.owner"/>
          <p:cNvSpPr/>
          <p:nvPr/>
        </p:nvSpPr>
        <p:spPr>
          <a:xfrm>
            <a:off x="5509380" y="3730752"/>
            <a:ext cx="906962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45700" lIns="91425" spcFirstLastPara="1" rIns="91425" wrap="square" tIns="4570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Tax desk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struct.lane.4.numeral"/>
          <p:cNvSpPr/>
          <p:nvPr/>
        </p:nvSpPr>
        <p:spPr>
          <a:xfrm>
            <a:off x="8017129" y="2505456"/>
            <a:ext cx="816265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04</a:t>
            </a:r>
            <a:endParaRPr lang="en-US" sz="36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lot.lane.4.head"/>
          <p:cNvSpPr/>
          <p:nvPr/>
        </p:nvSpPr>
        <p:spPr>
          <a:xfrm>
            <a:off x="7663415" y="3182112"/>
            <a:ext cx="141486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Duplicate risk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truct.lane.4.pill"/>
          <p:cNvSpPr/>
          <p:nvPr/>
        </p:nvSpPr>
        <p:spPr>
          <a:xfrm>
            <a:off x="7803993" y="3730752"/>
            <a:ext cx="906962" cy="27432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2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" name="slot.lane.4.owner"/>
          <p:cNvSpPr/>
          <p:nvPr/>
        </p:nvSpPr>
        <p:spPr>
          <a:xfrm>
            <a:off x="7803993" y="3730752"/>
            <a:ext cx="906962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45700" lIns="91425" spcFirstLastPara="1" rIns="91425" wrap="square" tIns="4570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AP lead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struct.lane.5.numeral"/>
          <p:cNvSpPr/>
          <p:nvPr/>
        </p:nvSpPr>
        <p:spPr>
          <a:xfrm>
            <a:off x="10311743" y="2505456"/>
            <a:ext cx="816265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05</a:t>
            </a:r>
            <a:endParaRPr lang="en-US" sz="36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lot.lane.5.head"/>
          <p:cNvSpPr/>
          <p:nvPr/>
        </p:nvSpPr>
        <p:spPr>
          <a:xfrm>
            <a:off x="9958027" y="3182112"/>
            <a:ext cx="141486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Vendor on hold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struct.lane.5.pill"/>
          <p:cNvSpPr/>
          <p:nvPr/>
        </p:nvSpPr>
        <p:spPr>
          <a:xfrm>
            <a:off x="10098607" y="3730752"/>
            <a:ext cx="906962" cy="27432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2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7" name="slot.lane.5.owner"/>
          <p:cNvSpPr/>
          <p:nvPr/>
        </p:nvSpPr>
        <p:spPr>
          <a:xfrm>
            <a:off x="10098607" y="3730752"/>
            <a:ext cx="906962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45700" lIns="91425" spcFirstLastPara="1" rIns="91425" wrap="square" tIns="4570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Hold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lot.rules.label"/>
          <p:cNvSpPr/>
          <p:nvPr/>
        </p:nvSpPr>
        <p:spPr>
          <a:xfrm>
            <a:off x="458736" y="4526279"/>
            <a:ext cx="1127353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Rule that sends an invoice to the lane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slot.rule.1.head"/>
          <p:cNvSpPr/>
          <p:nvPr/>
        </p:nvSpPr>
        <p:spPr>
          <a:xfrm>
            <a:off x="458736" y="4818888"/>
            <a:ext cx="199531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Score 95 and up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slot.rule.1.body"/>
          <p:cNvSpPr/>
          <p:nvPr/>
        </p:nvSpPr>
        <p:spPr>
          <a:xfrm>
            <a:off x="458736" y="5038344"/>
            <a:ext cx="199531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No open flags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1" name="struct.rule.divider.1"/>
          <p:cNvCxnSpPr/>
          <p:nvPr/>
        </p:nvCxnSpPr>
        <p:spPr>
          <a:xfrm>
            <a:off x="2635445" y="4837175"/>
            <a:ext cx="0" cy="402336"/>
          </a:xfrm>
          <a:prstGeom prst="straightConnector1">
            <a:avLst/>
          </a:prstGeom>
          <a:noFill/>
          <a:ln cap="flat" cmpd="sng" w="95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42" name="slot.rule.2.head"/>
          <p:cNvSpPr/>
          <p:nvPr/>
        </p:nvSpPr>
        <p:spPr>
          <a:xfrm>
            <a:off x="2753350" y="4818888"/>
            <a:ext cx="199531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Price off by over 2%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slot.rule.2.body"/>
          <p:cNvSpPr/>
          <p:nvPr/>
        </p:nvSpPr>
        <p:spPr>
          <a:xfrm>
            <a:off x="2753350" y="5038344"/>
            <a:ext cx="199531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Buyer confirms or credits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4" name="struct.rule.divider.2"/>
          <p:cNvCxnSpPr/>
          <p:nvPr/>
        </p:nvCxnSpPr>
        <p:spPr>
          <a:xfrm>
            <a:off x="4930058" y="4837175"/>
            <a:ext cx="0" cy="402336"/>
          </a:xfrm>
          <a:prstGeom prst="straightConnector1">
            <a:avLst/>
          </a:prstGeom>
          <a:noFill/>
          <a:ln cap="flat" cmpd="sng" w="95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45" name="slot.rule.3.head"/>
          <p:cNvSpPr/>
          <p:nvPr/>
        </p:nvSpPr>
        <p:spPr>
          <a:xfrm>
            <a:off x="5047963" y="4818888"/>
            <a:ext cx="199531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Tax code differs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slot.rule.3.body"/>
          <p:cNvSpPr/>
          <p:nvPr/>
        </p:nvSpPr>
        <p:spPr>
          <a:xfrm>
            <a:off x="5047963" y="5038344"/>
            <a:ext cx="199531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Tax desk fixes the code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7" name="struct.rule.divider.3"/>
          <p:cNvCxnSpPr/>
          <p:nvPr/>
        </p:nvCxnSpPr>
        <p:spPr>
          <a:xfrm>
            <a:off x="7224672" y="4837175"/>
            <a:ext cx="0" cy="402336"/>
          </a:xfrm>
          <a:prstGeom prst="straightConnector1">
            <a:avLst/>
          </a:prstGeom>
          <a:noFill/>
          <a:ln cap="flat" cmpd="sng" w="95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48" name="slot.rule.4.head"/>
          <p:cNvSpPr/>
          <p:nvPr/>
        </p:nvSpPr>
        <p:spPr>
          <a:xfrm>
            <a:off x="7342577" y="4818888"/>
            <a:ext cx="199531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Same amount and date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slot.rule.4.body"/>
          <p:cNvSpPr/>
          <p:nvPr/>
        </p:nvSpPr>
        <p:spPr>
          <a:xfrm>
            <a:off x="7342577" y="5038344"/>
            <a:ext cx="199531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Second copy held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0" name="struct.rule.divider.4"/>
          <p:cNvCxnSpPr/>
          <p:nvPr/>
        </p:nvCxnSpPr>
        <p:spPr>
          <a:xfrm>
            <a:off x="9519284" y="4837175"/>
            <a:ext cx="0" cy="402336"/>
          </a:xfrm>
          <a:prstGeom prst="straightConnector1">
            <a:avLst/>
          </a:prstGeom>
          <a:noFill/>
          <a:ln cap="flat" cmpd="sng" w="95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51" name="slot.rule.5.head"/>
          <p:cNvSpPr/>
          <p:nvPr/>
        </p:nvSpPr>
        <p:spPr>
          <a:xfrm>
            <a:off x="9637190" y="4818888"/>
            <a:ext cx="199531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Vendor on watch list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slot.rule.5.body"/>
          <p:cNvSpPr/>
          <p:nvPr/>
        </p:nvSpPr>
        <p:spPr>
          <a:xfrm>
            <a:off x="9637190" y="5038344"/>
            <a:ext cx="199531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Payment held until cleared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3" name="struct.rule.top"/>
          <p:cNvCxnSpPr/>
          <p:nvPr/>
        </p:nvCxnSpPr>
        <p:spPr>
          <a:xfrm>
            <a:off x="458736" y="1828800"/>
            <a:ext cx="11337024" cy="0"/>
          </a:xfrm>
          <a:prstGeom prst="straightConnector1">
            <a:avLst/>
          </a:prstGeom>
          <a:noFill/>
          <a:ln cap="flat" cmpd="sng" w="1270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cxnSp>
        <p:nvCxnSpPr>
          <p:cNvPr id="54" name="struct.clock.rule"/>
          <p:cNvCxnSpPr/>
          <p:nvPr/>
        </p:nvCxnSpPr>
        <p:spPr>
          <a:xfrm>
            <a:off x="6245153" y="5458967"/>
            <a:ext cx="5550607" cy="0"/>
          </a:xfrm>
          <a:prstGeom prst="straightConnector1">
            <a:avLst/>
          </a:prstGeom>
          <a:noFill/>
          <a:ln cap="flat" cmpd="sng" w="1270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55" name="slot.controls.label"/>
          <p:cNvSpPr/>
          <p:nvPr/>
        </p:nvSpPr>
        <p:spPr>
          <a:xfrm>
            <a:off x="585711" y="5550407"/>
            <a:ext cx="5260379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Controls on every lane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lot.clock.label"/>
          <p:cNvSpPr/>
          <p:nvPr/>
        </p:nvSpPr>
        <p:spPr>
          <a:xfrm>
            <a:off x="6245153" y="5550407"/>
            <a:ext cx="3627848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Escalation clock for open cases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slot.clock.1.text"/>
          <p:cNvSpPr/>
          <p:nvPr/>
        </p:nvSpPr>
        <p:spPr>
          <a:xfrm>
            <a:off x="6036551" y="6172199"/>
            <a:ext cx="1179050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Day 0 routed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slot.clock.2.text"/>
          <p:cNvSpPr/>
          <p:nvPr/>
        </p:nvSpPr>
        <p:spPr>
          <a:xfrm>
            <a:off x="7714430" y="6172199"/>
            <a:ext cx="1179050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Day 2 reminder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slot.clock.3.text"/>
          <p:cNvSpPr/>
          <p:nvPr/>
        </p:nvSpPr>
        <p:spPr>
          <a:xfrm>
            <a:off x="9392311" y="6172199"/>
            <a:ext cx="1179050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Day 5 escalated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0" name="struct.clock.line"/>
          <p:cNvCxnSpPr/>
          <p:nvPr/>
        </p:nvCxnSpPr>
        <p:spPr>
          <a:xfrm>
            <a:off x="6626077" y="5989319"/>
            <a:ext cx="500643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61" name="struct.clock.dot.1"/>
          <p:cNvSpPr/>
          <p:nvPr/>
        </p:nvSpPr>
        <p:spPr>
          <a:xfrm>
            <a:off x="6498061" y="5861303"/>
            <a:ext cx="256032" cy="25603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struct.clock.dot.2"/>
          <p:cNvSpPr/>
          <p:nvPr/>
        </p:nvSpPr>
        <p:spPr>
          <a:xfrm>
            <a:off x="8175940" y="5861303"/>
            <a:ext cx="256032" cy="25603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struct.clock.dot.3"/>
          <p:cNvSpPr/>
          <p:nvPr/>
        </p:nvSpPr>
        <p:spPr>
          <a:xfrm>
            <a:off x="9853820" y="5861303"/>
            <a:ext cx="256032" cy="25603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struct.clock.dot.4"/>
          <p:cNvSpPr/>
          <p:nvPr/>
        </p:nvSpPr>
        <p:spPr>
          <a:xfrm>
            <a:off x="11504490" y="5861303"/>
            <a:ext cx="256032" cy="25603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slot.clock.4.text"/>
          <p:cNvSpPr/>
          <p:nvPr/>
        </p:nvSpPr>
        <p:spPr>
          <a:xfrm>
            <a:off x="10616710" y="6172199"/>
            <a:ext cx="1179050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Day 10 closed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slot.control.1.text"/>
          <p:cNvSpPr/>
          <p:nvPr/>
        </p:nvSpPr>
        <p:spPr>
          <a:xfrm>
            <a:off x="875938" y="5861303"/>
            <a:ext cx="902427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Audit trail kept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slot.control.2.text"/>
          <p:cNvSpPr/>
          <p:nvPr/>
        </p:nvSpPr>
        <p:spPr>
          <a:xfrm>
            <a:off x="2195568" y="5861303"/>
            <a:ext cx="902427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Reason coded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8" name="struct.controls.divider.1"/>
          <p:cNvCxnSpPr/>
          <p:nvPr/>
        </p:nvCxnSpPr>
        <p:spPr>
          <a:xfrm>
            <a:off x="1832783" y="5888735"/>
            <a:ext cx="0" cy="310896"/>
          </a:xfrm>
          <a:prstGeom prst="straightConnector1">
            <a:avLst/>
          </a:prstGeom>
          <a:noFill/>
          <a:ln cap="flat" cmpd="sng" w="95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69" name="slot.control.3.text"/>
          <p:cNvSpPr/>
          <p:nvPr/>
        </p:nvSpPr>
        <p:spPr>
          <a:xfrm>
            <a:off x="3515198" y="5861303"/>
            <a:ext cx="902427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Owner named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0" name="struct.controls.divider.2"/>
          <p:cNvCxnSpPr/>
          <p:nvPr/>
        </p:nvCxnSpPr>
        <p:spPr>
          <a:xfrm>
            <a:off x="3152413" y="5888735"/>
            <a:ext cx="0" cy="310896"/>
          </a:xfrm>
          <a:prstGeom prst="straightConnector1">
            <a:avLst/>
          </a:prstGeom>
          <a:noFill/>
          <a:ln cap="flat" cmpd="sng" w="95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71" name="slot.control.4.text"/>
          <p:cNvSpPr/>
          <p:nvPr/>
        </p:nvSpPr>
        <p:spPr>
          <a:xfrm>
            <a:off x="4834827" y="5861303"/>
            <a:ext cx="902427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Spot checked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2" name="struct.controls.divider.3"/>
          <p:cNvCxnSpPr/>
          <p:nvPr/>
        </p:nvCxnSpPr>
        <p:spPr>
          <a:xfrm>
            <a:off x="4472042" y="5888735"/>
            <a:ext cx="0" cy="310896"/>
          </a:xfrm>
          <a:prstGeom prst="straightConnector1">
            <a:avLst/>
          </a:prstGeom>
          <a:noFill/>
          <a:ln cap="flat" cmpd="sng" w="95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73" name="slot.title"/>
          <p:cNvSpPr txBox="1"/>
          <p:nvPr/>
        </p:nvSpPr>
        <p:spPr>
          <a:xfrm>
            <a:off x="457200" y="274320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Two signals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route every supplier invoice to one of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five handling lanes</a:t>
            </a:r>
            <a:endParaRPr lang="en-US" sz="2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slot.signal.1.icon"/>
          <p:cNvSpPr/>
          <p:nvPr/>
        </p:nvSpPr>
        <p:spPr>
          <a:xfrm>
            <a:off x="548614" y="1298448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4000"/>
                </a:moveTo>
                <a:lnTo>
                  <a:pt x="16000" y="10000"/>
                </a:lnTo>
                <a:moveTo>
                  <a:pt x="3340" y="19000"/>
                </a:moveTo>
                <a:cubicBezTo>
                  <a:pt x="913" y="14797"/>
                  <a:pt x="1854" y="9459"/>
                  <a:pt x="5572" y="6339"/>
                </a:cubicBezTo>
                <a:cubicBezTo>
                  <a:pt x="9290" y="3220"/>
                  <a:pt x="14710" y="3220"/>
                  <a:pt x="18428" y="6339"/>
                </a:cubicBezTo>
                <a:cubicBezTo>
                  <a:pt x="22146" y="9459"/>
                  <a:pt x="23087" y="14797"/>
                  <a:pt x="20660" y="19000"/>
                </a:cubicBez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</p:sp>
      <p:sp>
        <p:nvSpPr>
          <p:cNvPr id="75" name="slot.signal.2.icon"/>
          <p:cNvSpPr/>
          <p:nvPr/>
        </p:nvSpPr>
        <p:spPr>
          <a:xfrm>
            <a:off x="3831816" y="1298448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730" y="18000"/>
                </a:moveTo>
                <a:lnTo>
                  <a:pt x="13730" y="4000"/>
                </a:lnTo>
                <a:cubicBezTo>
                  <a:pt x="13375" y="3373"/>
                  <a:pt x="12710" y="2986"/>
                  <a:pt x="11990" y="2986"/>
                </a:cubicBezTo>
                <a:cubicBezTo>
                  <a:pt x="11270" y="2986"/>
                  <a:pt x="10605" y="3373"/>
                  <a:pt x="10250" y="4000"/>
                </a:cubicBezTo>
                <a:lnTo>
                  <a:pt x="2250" y="18000"/>
                </a:lnTo>
                <a:cubicBezTo>
                  <a:pt x="1891" y="18622"/>
                  <a:pt x="1893" y="19388"/>
                  <a:pt x="2254" y="20008"/>
                </a:cubicBezTo>
                <a:cubicBezTo>
                  <a:pt x="2616" y="20628"/>
                  <a:pt x="3282" y="21006"/>
                  <a:pt x="4000" y="21000"/>
                </a:cubicBezTo>
                <a:lnTo>
                  <a:pt x="20000" y="21000"/>
                </a:lnTo>
                <a:cubicBezTo>
                  <a:pt x="20714" y="20999"/>
                  <a:pt x="21374" y="20618"/>
                  <a:pt x="21731" y="19999"/>
                </a:cubicBezTo>
                <a:cubicBezTo>
                  <a:pt x="22087" y="19380"/>
                  <a:pt x="22087" y="18618"/>
                  <a:pt x="21730" y="18000"/>
                </a:cubicBezTo>
                <a:moveTo>
                  <a:pt x="12000" y="9000"/>
                </a:moveTo>
                <a:lnTo>
                  <a:pt x="12000" y="13000"/>
                </a:lnTo>
                <a:moveTo>
                  <a:pt x="12000" y="17000"/>
                </a:moveTo>
                <a:lnTo>
                  <a:pt x="12010" y="17000"/>
                </a:ln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</p:sp>
      <p:sp>
        <p:nvSpPr>
          <p:cNvPr id="76" name="slot.lane.1.icon"/>
          <p:cNvSpPr/>
          <p:nvPr/>
        </p:nvSpPr>
        <p:spPr>
          <a:xfrm>
            <a:off x="1990311" y="2450592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24130" cap="rnd">
            <a:solidFill>
              <a:schemeClr val="bg1"/>
            </a:solidFill>
            <a:round/>
          </a:ln>
          <a:effectLst/>
        </p:spPr>
      </p:sp>
      <p:sp>
        <p:nvSpPr>
          <p:cNvPr id="77" name="slot.lane.2.icon"/>
          <p:cNvSpPr/>
          <p:nvPr/>
        </p:nvSpPr>
        <p:spPr>
          <a:xfrm>
            <a:off x="4284925" y="2450592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3000"/>
                </a:moveTo>
                <a:lnTo>
                  <a:pt x="12000" y="21000"/>
                </a:lnTo>
                <a:moveTo>
                  <a:pt x="19000" y="8000"/>
                </a:moveTo>
                <a:lnTo>
                  <a:pt x="22000" y="16000"/>
                </a:lnTo>
                <a:cubicBezTo>
                  <a:pt x="20222" y="17333"/>
                  <a:pt x="17778" y="17333"/>
                  <a:pt x="16000" y="16000"/>
                </a:cubicBezTo>
                <a:close/>
                <a:moveTo>
                  <a:pt x="19000" y="8000"/>
                </a:moveTo>
                <a:lnTo>
                  <a:pt x="19000" y="7000"/>
                </a:lnTo>
                <a:moveTo>
                  <a:pt x="3000" y="7000"/>
                </a:moveTo>
                <a:lnTo>
                  <a:pt x="4000" y="7000"/>
                </a:lnTo>
                <a:cubicBezTo>
                  <a:pt x="6790" y="7000"/>
                  <a:pt x="9538" y="6313"/>
                  <a:pt x="12000" y="5000"/>
                </a:cubicBezTo>
                <a:cubicBezTo>
                  <a:pt x="14462" y="6313"/>
                  <a:pt x="17210" y="7000"/>
                  <a:pt x="20000" y="7000"/>
                </a:cubicBezTo>
                <a:lnTo>
                  <a:pt x="21000" y="7000"/>
                </a:lnTo>
                <a:moveTo>
                  <a:pt x="5000" y="8000"/>
                </a:moveTo>
                <a:lnTo>
                  <a:pt x="8000" y="16000"/>
                </a:lnTo>
                <a:cubicBezTo>
                  <a:pt x="6222" y="17333"/>
                  <a:pt x="3778" y="17333"/>
                  <a:pt x="2000" y="16000"/>
                </a:cubicBezTo>
                <a:close/>
                <a:moveTo>
                  <a:pt x="5000" y="8000"/>
                </a:moveTo>
                <a:lnTo>
                  <a:pt x="5000" y="7000"/>
                </a:lnTo>
                <a:moveTo>
                  <a:pt x="7000" y="21000"/>
                </a:moveTo>
                <a:lnTo>
                  <a:pt x="17000" y="21000"/>
                </a:lnTo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</p:sp>
      <p:sp>
        <p:nvSpPr>
          <p:cNvPr id="78" name="slot.lane.3.icon"/>
          <p:cNvSpPr/>
          <p:nvPr/>
        </p:nvSpPr>
        <p:spPr>
          <a:xfrm>
            <a:off x="6579539" y="2450592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7000"/>
                </a:moveTo>
                <a:lnTo>
                  <a:pt x="12000" y="7000"/>
                </a:lnTo>
                <a:moveTo>
                  <a:pt x="16000" y="8000"/>
                </a:moveTo>
                <a:lnTo>
                  <a:pt x="10000" y="8000"/>
                </a:lnTo>
                <a:cubicBezTo>
                  <a:pt x="8895" y="8000"/>
                  <a:pt x="8000" y="8895"/>
                  <a:pt x="8000" y="10000"/>
                </a:cubicBezTo>
                <a:cubicBezTo>
                  <a:pt x="8000" y="11105"/>
                  <a:pt x="8895" y="12000"/>
                  <a:pt x="10000" y="12000"/>
                </a:cubicBezTo>
                <a:lnTo>
                  <a:pt x="14000" y="12000"/>
                </a:lnTo>
                <a:cubicBezTo>
                  <a:pt x="15105" y="12000"/>
                  <a:pt x="16000" y="12895"/>
                  <a:pt x="16000" y="14000"/>
                </a:cubicBezTo>
                <a:cubicBezTo>
                  <a:pt x="16000" y="15105"/>
                  <a:pt x="15105" y="16000"/>
                  <a:pt x="14000" y="16000"/>
                </a:cubicBezTo>
                <a:lnTo>
                  <a:pt x="8000" y="16000"/>
                </a:lnTo>
                <a:moveTo>
                  <a:pt x="4000" y="3000"/>
                </a:moveTo>
                <a:cubicBezTo>
                  <a:pt x="4000" y="2448"/>
                  <a:pt x="4448" y="2000"/>
                  <a:pt x="5000" y="2000"/>
                </a:cubicBezTo>
                <a:cubicBezTo>
                  <a:pt x="5248" y="1999"/>
                  <a:pt x="5490" y="2068"/>
                  <a:pt x="5700" y="2200"/>
                </a:cubicBezTo>
                <a:lnTo>
                  <a:pt x="6633" y="2800"/>
                </a:lnTo>
                <a:cubicBezTo>
                  <a:pt x="7060" y="3073"/>
                  <a:pt x="7606" y="3073"/>
                  <a:pt x="8033" y="2800"/>
                </a:cubicBezTo>
                <a:lnTo>
                  <a:pt x="8967" y="2200"/>
                </a:lnTo>
                <a:cubicBezTo>
                  <a:pt x="9394" y="1927"/>
                  <a:pt x="9940" y="1927"/>
                  <a:pt x="10367" y="2200"/>
                </a:cubicBezTo>
                <a:lnTo>
                  <a:pt x="11300" y="2800"/>
                </a:lnTo>
                <a:cubicBezTo>
                  <a:pt x="11727" y="3073"/>
                  <a:pt x="12273" y="3073"/>
                  <a:pt x="12700" y="2800"/>
                </a:cubicBezTo>
                <a:lnTo>
                  <a:pt x="13633" y="2200"/>
                </a:lnTo>
                <a:cubicBezTo>
                  <a:pt x="14060" y="1927"/>
                  <a:pt x="14606" y="1927"/>
                  <a:pt x="15033" y="2200"/>
                </a:cubicBezTo>
                <a:lnTo>
                  <a:pt x="15967" y="2800"/>
                </a:lnTo>
                <a:cubicBezTo>
                  <a:pt x="16394" y="3073"/>
                  <a:pt x="16940" y="3073"/>
                  <a:pt x="17367" y="2800"/>
                </a:cubicBezTo>
                <a:lnTo>
                  <a:pt x="18300" y="2200"/>
                </a:lnTo>
                <a:cubicBezTo>
                  <a:pt x="18510" y="2068"/>
                  <a:pt x="18752" y="1999"/>
                  <a:pt x="19000" y="2000"/>
                </a:cubicBezTo>
                <a:cubicBezTo>
                  <a:pt x="19552" y="2000"/>
                  <a:pt x="20000" y="2448"/>
                  <a:pt x="20000" y="3000"/>
                </a:cubicBezTo>
                <a:lnTo>
                  <a:pt x="20000" y="21000"/>
                </a:lnTo>
                <a:cubicBezTo>
                  <a:pt x="20000" y="21552"/>
                  <a:pt x="19552" y="22000"/>
                  <a:pt x="19000" y="22000"/>
                </a:cubicBezTo>
                <a:cubicBezTo>
                  <a:pt x="18752" y="22001"/>
                  <a:pt x="18510" y="21932"/>
                  <a:pt x="18300" y="21800"/>
                </a:cubicBezTo>
                <a:lnTo>
                  <a:pt x="17367" y="21200"/>
                </a:lnTo>
                <a:cubicBezTo>
                  <a:pt x="16940" y="20927"/>
                  <a:pt x="16394" y="20927"/>
                  <a:pt x="15967" y="21200"/>
                </a:cubicBezTo>
                <a:lnTo>
                  <a:pt x="15033" y="21800"/>
                </a:lnTo>
                <a:cubicBezTo>
                  <a:pt x="14606" y="22073"/>
                  <a:pt x="14060" y="22073"/>
                  <a:pt x="13633" y="21800"/>
                </a:cubicBezTo>
                <a:lnTo>
                  <a:pt x="12700" y="21200"/>
                </a:lnTo>
                <a:cubicBezTo>
                  <a:pt x="12273" y="20927"/>
                  <a:pt x="11727" y="20927"/>
                  <a:pt x="11300" y="21200"/>
                </a:cubicBezTo>
                <a:lnTo>
                  <a:pt x="10367" y="21800"/>
                </a:lnTo>
                <a:cubicBezTo>
                  <a:pt x="9940" y="22073"/>
                  <a:pt x="9394" y="22073"/>
                  <a:pt x="8967" y="21800"/>
                </a:cubicBezTo>
                <a:lnTo>
                  <a:pt x="8033" y="21200"/>
                </a:lnTo>
                <a:cubicBezTo>
                  <a:pt x="7606" y="20927"/>
                  <a:pt x="7060" y="20927"/>
                  <a:pt x="6633" y="21200"/>
                </a:cubicBezTo>
                <a:lnTo>
                  <a:pt x="5700" y="21800"/>
                </a:lnTo>
                <a:cubicBezTo>
                  <a:pt x="5490" y="21932"/>
                  <a:pt x="5248" y="22001"/>
                  <a:pt x="5000" y="22000"/>
                </a:cubicBezTo>
                <a:cubicBezTo>
                  <a:pt x="4448" y="22000"/>
                  <a:pt x="4000" y="21552"/>
                  <a:pt x="4000" y="21000"/>
                </a:cubicBezTo>
                <a:close/>
              </a:path>
            </a:pathLst>
          </a:custGeom>
          <a:noFill/>
          <a:ln w="24130" cap="rnd">
            <a:solidFill>
              <a:schemeClr val="bg1"/>
            </a:solidFill>
            <a:round/>
          </a:ln>
          <a:effectLst/>
        </p:spPr>
      </p:sp>
      <p:sp>
        <p:nvSpPr>
          <p:cNvPr id="79" name="slot.lane.4.icon"/>
          <p:cNvSpPr/>
          <p:nvPr/>
        </p:nvSpPr>
        <p:spPr>
          <a:xfrm>
            <a:off x="8874153" y="2450592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5000" y="2000"/>
                </a:moveTo>
                <a:lnTo>
                  <a:pt x="11000" y="2000"/>
                </a:lnTo>
                <a:cubicBezTo>
                  <a:pt x="9895" y="2000"/>
                  <a:pt x="9000" y="2895"/>
                  <a:pt x="9000" y="4000"/>
                </a:cubicBezTo>
                <a:lnTo>
                  <a:pt x="9000" y="15000"/>
                </a:lnTo>
                <a:cubicBezTo>
                  <a:pt x="9000" y="16105"/>
                  <a:pt x="9895" y="17000"/>
                  <a:pt x="11000" y="17000"/>
                </a:cubicBezTo>
                <a:lnTo>
                  <a:pt x="19000" y="17000"/>
                </a:lnTo>
                <a:cubicBezTo>
                  <a:pt x="20105" y="17000"/>
                  <a:pt x="21000" y="16105"/>
                  <a:pt x="21000" y="15000"/>
                </a:cubicBezTo>
                <a:lnTo>
                  <a:pt x="21000" y="8000"/>
                </a:lnTo>
                <a:moveTo>
                  <a:pt x="16706" y="2706"/>
                </a:moveTo>
                <a:cubicBezTo>
                  <a:pt x="16254" y="2253"/>
                  <a:pt x="15640" y="1998"/>
                  <a:pt x="15000" y="2000"/>
                </a:cubicBezTo>
                <a:lnTo>
                  <a:pt x="15000" y="7000"/>
                </a:lnTo>
                <a:cubicBezTo>
                  <a:pt x="15000" y="7552"/>
                  <a:pt x="15448" y="8000"/>
                  <a:pt x="16000" y="8000"/>
                </a:cubicBezTo>
                <a:lnTo>
                  <a:pt x="21000" y="8000"/>
                </a:lnTo>
                <a:cubicBezTo>
                  <a:pt x="21002" y="7360"/>
                  <a:pt x="20747" y="6746"/>
                  <a:pt x="20294" y="6294"/>
                </a:cubicBezTo>
                <a:close/>
                <a:moveTo>
                  <a:pt x="5000" y="7000"/>
                </a:moveTo>
                <a:cubicBezTo>
                  <a:pt x="3895" y="7000"/>
                  <a:pt x="3000" y="7895"/>
                  <a:pt x="3000" y="9000"/>
                </a:cubicBezTo>
                <a:lnTo>
                  <a:pt x="3000" y="20000"/>
                </a:lnTo>
                <a:cubicBezTo>
                  <a:pt x="3000" y="21105"/>
                  <a:pt x="3895" y="22000"/>
                  <a:pt x="5000" y="22000"/>
                </a:cubicBezTo>
                <a:lnTo>
                  <a:pt x="13000" y="22000"/>
                </a:lnTo>
                <a:cubicBezTo>
                  <a:pt x="13715" y="22000"/>
                  <a:pt x="14375" y="21619"/>
                  <a:pt x="14732" y="21000"/>
                </a:cubicBezTo>
              </a:path>
            </a:pathLst>
          </a:custGeom>
          <a:noFill/>
          <a:ln w="2413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80" name="slot.lane.5.icon"/>
          <p:cNvSpPr/>
          <p:nvPr/>
        </p:nvSpPr>
        <p:spPr>
          <a:xfrm>
            <a:off x="11168766" y="2450592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11000"/>
                </a:moveTo>
                <a:lnTo>
                  <a:pt x="19000" y="11000"/>
                </a:lnTo>
                <a:cubicBezTo>
                  <a:pt x="20105" y="11000"/>
                  <a:pt x="21000" y="11895"/>
                  <a:pt x="21000" y="13000"/>
                </a:cubicBezTo>
                <a:lnTo>
                  <a:pt x="21000" y="20000"/>
                </a:lnTo>
                <a:cubicBezTo>
                  <a:pt x="21000" y="21105"/>
                  <a:pt x="20105" y="22000"/>
                  <a:pt x="19000" y="22000"/>
                </a:cubicBezTo>
                <a:lnTo>
                  <a:pt x="5000" y="22000"/>
                </a:lnTo>
                <a:cubicBezTo>
                  <a:pt x="3895" y="22000"/>
                  <a:pt x="3000" y="21105"/>
                  <a:pt x="3000" y="20000"/>
                </a:cubicBezTo>
                <a:lnTo>
                  <a:pt x="3000" y="13000"/>
                </a:lnTo>
                <a:cubicBezTo>
                  <a:pt x="3000" y="11895"/>
                  <a:pt x="3895" y="11000"/>
                  <a:pt x="5000" y="11000"/>
                </a:cubicBezTo>
                <a:close/>
                <a:moveTo>
                  <a:pt x="7000" y="11000"/>
                </a:moveTo>
                <a:lnTo>
                  <a:pt x="7000" y="7000"/>
                </a:lnTo>
                <a:cubicBezTo>
                  <a:pt x="7000" y="4239"/>
                  <a:pt x="9239" y="2000"/>
                  <a:pt x="12000" y="2000"/>
                </a:cubicBezTo>
                <a:cubicBezTo>
                  <a:pt x="14761" y="2000"/>
                  <a:pt x="17000" y="4239"/>
                  <a:pt x="17000" y="7000"/>
                </a:cubicBezTo>
                <a:lnTo>
                  <a:pt x="17000" y="11000"/>
                </a:lnTo>
              </a:path>
            </a:pathLst>
          </a:custGeom>
          <a:noFill/>
          <a:ln w="2413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81" name="struct.lane.order.1"/>
          <p:cNvSpPr/>
          <p:nvPr/>
        </p:nvSpPr>
        <p:spPr>
          <a:xfrm>
            <a:off x="2525567" y="3204972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21590" cap="rnd">
            <a:solidFill>
              <a:schemeClr val="tx1">
                <a:lumMod val="65000"/>
                <a:lumOff val="35000"/>
              </a:schemeClr>
            </a:solidFill>
            <a:round/>
          </a:ln>
          <a:effectLst/>
        </p:spPr>
      </p:sp>
      <p:sp>
        <p:nvSpPr>
          <p:cNvPr id="82" name="struct.lane.order.2"/>
          <p:cNvSpPr/>
          <p:nvPr/>
        </p:nvSpPr>
        <p:spPr>
          <a:xfrm>
            <a:off x="4820182" y="3204972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21590" cap="rnd">
            <a:solidFill>
              <a:schemeClr val="tx1">
                <a:lumMod val="65000"/>
                <a:lumOff val="35000"/>
              </a:schemeClr>
            </a:solidFill>
            <a:round/>
          </a:ln>
          <a:effectLst/>
        </p:spPr>
      </p:sp>
      <p:sp>
        <p:nvSpPr>
          <p:cNvPr id="83" name="struct.lane.order.3"/>
          <p:cNvSpPr/>
          <p:nvPr/>
        </p:nvSpPr>
        <p:spPr>
          <a:xfrm>
            <a:off x="7114795" y="3204972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21590" cap="rnd">
            <a:solidFill>
              <a:schemeClr val="tx1">
                <a:lumMod val="65000"/>
                <a:lumOff val="35000"/>
              </a:schemeClr>
            </a:solidFill>
            <a:round/>
          </a:ln>
          <a:effectLst/>
        </p:spPr>
      </p:sp>
      <p:sp>
        <p:nvSpPr>
          <p:cNvPr id="84" name="struct.lane.order.4"/>
          <p:cNvSpPr/>
          <p:nvPr/>
        </p:nvSpPr>
        <p:spPr>
          <a:xfrm>
            <a:off x="9409409" y="3204972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21590" cap="rnd">
            <a:solidFill>
              <a:schemeClr val="tx1">
                <a:lumMod val="65000"/>
                <a:lumOff val="35000"/>
              </a:schemeClr>
            </a:solidFill>
            <a:round/>
          </a:ln>
          <a:effectLst/>
        </p:spPr>
      </p:sp>
      <p:sp>
        <p:nvSpPr>
          <p:cNvPr id="85" name="slot.control.1.icon"/>
          <p:cNvSpPr/>
          <p:nvPr/>
        </p:nvSpPr>
        <p:spPr>
          <a:xfrm>
            <a:off x="584744" y="5916168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1968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86" name="slot.control.2.icon"/>
          <p:cNvSpPr/>
          <p:nvPr/>
        </p:nvSpPr>
        <p:spPr>
          <a:xfrm>
            <a:off x="1904373" y="5916168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1968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87" name="slot.control.3.icon"/>
          <p:cNvSpPr/>
          <p:nvPr/>
        </p:nvSpPr>
        <p:spPr>
          <a:xfrm>
            <a:off x="3224003" y="5916168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1968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88" name="slot.control.4.icon"/>
          <p:cNvSpPr/>
          <p:nvPr/>
        </p:nvSpPr>
        <p:spPr>
          <a:xfrm>
            <a:off x="4543632" y="5916168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1968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cess-flow:funnel-route-columns">
    <p:spTree>
      <p:nvGrpSpPr>
        <p:cNvPr id="1" name=""/>
        <p:cNvGrpSpPr/>
        <p:nvPr/>
      </p:nvGrpSpPr>
      <p:grpSpPr/>
      <p:sp>
        <p:nvSpPr>
          <p:cNvPr id="2" name="struct.col.1"/>
          <p:cNvSpPr/>
          <p:nvPr/>
        </p:nvSpPr>
        <p:spPr>
          <a:xfrm>
            <a:off x="457200" y="1518921"/>
            <a:ext cx="1966390" cy="4754880"/>
          </a:xfrm>
          <a:prstGeom prst="roundRect">
            <a:avLst>
              <a:gd fmla="val 2315" name="adj"/>
            </a:avLst>
          </a:prstGeom>
          <a:solidFill>
            <a:schemeClr val="bg1"/>
          </a:solidFill>
          <a:ln cap="flat" cmpd="sng" w="10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" name="struct.col.2"/>
          <p:cNvSpPr/>
          <p:nvPr/>
        </p:nvSpPr>
        <p:spPr>
          <a:xfrm>
            <a:off x="2809811" y="1518921"/>
            <a:ext cx="1939054" cy="4754880"/>
          </a:xfrm>
          <a:prstGeom prst="roundRect">
            <a:avLst>
              <a:gd fmla="val 2348" name="adj"/>
            </a:avLst>
          </a:prstGeom>
          <a:solidFill>
            <a:schemeClr val="bg1"/>
          </a:solidFill>
          <a:ln cap="flat" cmpd="sng" w="10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" name="struct.col.3"/>
          <p:cNvSpPr/>
          <p:nvPr/>
        </p:nvSpPr>
        <p:spPr>
          <a:xfrm>
            <a:off x="5143290" y="1518921"/>
            <a:ext cx="1897210" cy="4754880"/>
          </a:xfrm>
          <a:prstGeom prst="roundRect">
            <a:avLst>
              <a:gd fmla="val 2399" name="adj"/>
            </a:avLst>
          </a:prstGeom>
          <a:solidFill>
            <a:schemeClr val="bg1"/>
          </a:solidFill>
          <a:ln cap="flat" cmpd="sng" w="10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" name="struct.col.4"/>
          <p:cNvSpPr/>
          <p:nvPr/>
        </p:nvSpPr>
        <p:spPr>
          <a:xfrm>
            <a:off x="7426736" y="1518921"/>
            <a:ext cx="2102389" cy="4754880"/>
          </a:xfrm>
          <a:prstGeom prst="roundRect">
            <a:avLst>
              <a:gd fmla="val 2165" name="adj"/>
            </a:avLst>
          </a:prstGeom>
          <a:solidFill>
            <a:schemeClr val="bg1"/>
          </a:solidFill>
          <a:ln cap="flat" cmpd="sng" w="10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" name="struct.col.5"/>
          <p:cNvSpPr/>
          <p:nvPr/>
        </p:nvSpPr>
        <p:spPr>
          <a:xfrm>
            <a:off x="9634983" y="1518921"/>
            <a:ext cx="2160777" cy="4754880"/>
          </a:xfrm>
          <a:prstGeom prst="roundRect">
            <a:avLst>
              <a:gd fmla="val 2107" name="adj"/>
            </a:avLst>
          </a:prstGeom>
          <a:solidFill>
            <a:schemeClr val="tx1">
              <a:lumMod val="90000"/>
              <a:lumOff val="10000"/>
            </a:schemeClr>
          </a:solidFill>
          <a:ln w="9525">
            <a:solidFill>
              <a:schemeClr val="tx1">
                <a:lumMod val="90000"/>
                <a:lumOff val="10000"/>
              </a:schemeClr>
            </a:solidFill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7" name="struct.col.1.disc"/>
          <p:cNvSpPr/>
          <p:nvPr/>
        </p:nvSpPr>
        <p:spPr>
          <a:xfrm>
            <a:off x="537592" y="1659487"/>
            <a:ext cx="316196" cy="316196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lot.col.1.head"/>
          <p:cNvSpPr/>
          <p:nvPr/>
        </p:nvSpPr>
        <p:spPr>
          <a:xfrm>
            <a:off x="929771" y="1664208"/>
            <a:ext cx="1384564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Ingest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slot.col.1.body"/>
          <p:cNvSpPr/>
          <p:nvPr/>
        </p:nvSpPr>
        <p:spPr>
          <a:xfrm>
            <a:off x="929771" y="1956816"/>
            <a:ext cx="1384564" cy="47548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Four ledgers land nightly in one store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lot.col.1.stat.1.value"/>
          <p:cNvSpPr/>
          <p:nvPr/>
        </p:nvSpPr>
        <p:spPr>
          <a:xfrm>
            <a:off x="545537" y="5541264"/>
            <a:ext cx="564484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4</a:t>
            </a:r>
            <a:endParaRPr lang="en-US" sz="13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ot.col.1.stat.1.label"/>
          <p:cNvSpPr/>
          <p:nvPr/>
        </p:nvSpPr>
        <p:spPr>
          <a:xfrm>
            <a:off x="545537" y="5833872"/>
            <a:ext cx="564484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ledgers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lot.col.1.stat.2.value"/>
          <p:cNvSpPr/>
          <p:nvPr/>
        </p:nvSpPr>
        <p:spPr>
          <a:xfrm>
            <a:off x="1164649" y="5541264"/>
            <a:ext cx="564484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24h</a:t>
            </a:r>
            <a:endParaRPr lang="en-US" sz="13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slot.col.1.stat.2.label"/>
          <p:cNvSpPr/>
          <p:nvPr/>
        </p:nvSpPr>
        <p:spPr>
          <a:xfrm>
            <a:off x="1164649" y="5833872"/>
            <a:ext cx="564484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refresh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slot.col.1.stat.3.value"/>
          <p:cNvSpPr/>
          <p:nvPr/>
        </p:nvSpPr>
        <p:spPr>
          <a:xfrm>
            <a:off x="1783760" y="5541264"/>
            <a:ext cx="564484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99%</a:t>
            </a:r>
            <a:endParaRPr lang="en-US" sz="13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lot.col.1.stat.3.label"/>
          <p:cNvSpPr/>
          <p:nvPr/>
        </p:nvSpPr>
        <p:spPr>
          <a:xfrm>
            <a:off x="1783760" y="5833872"/>
            <a:ext cx="564484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matched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truct.col.2.disc"/>
          <p:cNvSpPr/>
          <p:nvPr/>
        </p:nvSpPr>
        <p:spPr>
          <a:xfrm>
            <a:off x="2880178" y="1659487"/>
            <a:ext cx="316196" cy="316196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lot.col.2.head"/>
          <p:cNvSpPr/>
          <p:nvPr/>
        </p:nvSpPr>
        <p:spPr>
          <a:xfrm>
            <a:off x="3272356" y="1664208"/>
            <a:ext cx="1367253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Narrow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lot.col.2.body"/>
          <p:cNvSpPr/>
          <p:nvPr/>
        </p:nvSpPr>
        <p:spPr>
          <a:xfrm>
            <a:off x="3272356" y="1956816"/>
            <a:ext cx="1367253" cy="47548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Rules cut the pool to likely duplicates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truct.funnel.tier.1"/>
          <p:cNvSpPr/>
          <p:nvPr/>
        </p:nvSpPr>
        <p:spPr>
          <a:xfrm flipH="1" rot="10800000">
            <a:off x="2850224" y="2828856"/>
            <a:ext cx="1856719" cy="492020"/>
          </a:xfrm>
          <a:prstGeom prst="trapezoid">
            <a:avLst>
              <a:gd fmla="val 25000" name="adj"/>
            </a:avLst>
          </a:prstGeom>
          <a:solidFill>
            <a:schemeClr val="bg1">
              <a:lumMod val="85000"/>
            </a:schemeClr>
          </a:solidFill>
          <a:ln cap="flat" cmpd="sng" w="1270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" name="slot.funnel.1"/>
          <p:cNvSpPr/>
          <p:nvPr/>
        </p:nvSpPr>
        <p:spPr>
          <a:xfrm>
            <a:off x="2959479" y="2902008"/>
            <a:ext cx="1638210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120K invoices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truct.funnel.tier.2"/>
          <p:cNvSpPr/>
          <p:nvPr/>
        </p:nvSpPr>
        <p:spPr>
          <a:xfrm flipH="1" rot="10800000">
            <a:off x="2956758" y="3329627"/>
            <a:ext cx="1643653" cy="492020"/>
          </a:xfrm>
          <a:prstGeom prst="trapezoid">
            <a:avLst>
              <a:gd fmla="val 25000" name="adj"/>
            </a:avLst>
          </a:prstGeom>
          <a:solidFill>
            <a:schemeClr val="bg1">
              <a:lumMod val="75000"/>
            </a:schemeClr>
          </a:solidFill>
          <a:ln cap="flat" cmpd="sng" w="1270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2" name="slot.funnel.2"/>
          <p:cNvSpPr/>
          <p:nvPr/>
        </p:nvSpPr>
        <p:spPr>
          <a:xfrm>
            <a:off x="3066013" y="3402779"/>
            <a:ext cx="1425143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38K same vendor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struct.funnel.tier.3"/>
          <p:cNvSpPr/>
          <p:nvPr/>
        </p:nvSpPr>
        <p:spPr>
          <a:xfrm flipH="1" rot="10800000">
            <a:off x="3063291" y="3830398"/>
            <a:ext cx="1430588" cy="492020"/>
          </a:xfrm>
          <a:prstGeom prst="trapezoid">
            <a:avLst>
              <a:gd fmla="val 25000" name="adj"/>
            </a:avLst>
          </a:prstGeom>
          <a:solidFill>
            <a:schemeClr val="tx1">
              <a:lumMod val="90000"/>
              <a:lumOff val="10000"/>
            </a:schemeClr>
          </a:solidFill>
          <a:ln cap="flat" cmpd="sng" w="1270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4" name="slot.funnel.3"/>
          <p:cNvSpPr/>
          <p:nvPr/>
        </p:nvSpPr>
        <p:spPr>
          <a:xfrm>
            <a:off x="3172546" y="3903550"/>
            <a:ext cx="1212078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6.2K same amount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struct.funnel.tier.4"/>
          <p:cNvSpPr/>
          <p:nvPr/>
        </p:nvSpPr>
        <p:spPr>
          <a:xfrm flipH="1" rot="10800000">
            <a:off x="3169824" y="4324079"/>
            <a:ext cx="1217521" cy="492020"/>
          </a:xfrm>
          <a:prstGeom prst="trapezoid">
            <a:avLst>
              <a:gd fmla="val 25000" name="adj"/>
            </a:avLst>
          </a:prstGeom>
          <a:solidFill>
            <a:schemeClr val="bg1">
              <a:lumMod val="95000"/>
            </a:schemeClr>
          </a:solidFill>
          <a:ln cap="flat" cmpd="sng" w="1270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" name="slot.funnel.4"/>
          <p:cNvSpPr/>
          <p:nvPr/>
        </p:nvSpPr>
        <p:spPr>
          <a:xfrm>
            <a:off x="3279079" y="4397231"/>
            <a:ext cx="999011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1.4K flagged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truct.funnel.tier.5"/>
          <p:cNvSpPr/>
          <p:nvPr/>
        </p:nvSpPr>
        <p:spPr>
          <a:xfrm flipH="1" rot="10800000">
            <a:off x="3276357" y="4831939"/>
            <a:ext cx="1004455" cy="492020"/>
          </a:xfrm>
          <a:prstGeom prst="trapezoid">
            <a:avLst>
              <a:gd fmla="val 28133" name="adj"/>
            </a:avLst>
          </a:prstGeom>
          <a:solidFill>
            <a:schemeClr val="accent1"/>
          </a:solidFill>
          <a:ln cap="flat" cmpd="sng" w="1270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" name="slot.funnel.5"/>
          <p:cNvSpPr/>
          <p:nvPr/>
        </p:nvSpPr>
        <p:spPr>
          <a:xfrm>
            <a:off x="3385612" y="4905091"/>
            <a:ext cx="785945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900 likely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truct.col.3.disc"/>
          <p:cNvSpPr/>
          <p:nvPr/>
        </p:nvSpPr>
        <p:spPr>
          <a:xfrm>
            <a:off x="5207496" y="1659487"/>
            <a:ext cx="316196" cy="316196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slot.col.3.head"/>
          <p:cNvSpPr/>
          <p:nvPr/>
        </p:nvSpPr>
        <p:spPr>
          <a:xfrm>
            <a:off x="5599673" y="1664208"/>
            <a:ext cx="1331571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Route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lot.col.3.body"/>
          <p:cNvSpPr/>
          <p:nvPr/>
        </p:nvSpPr>
        <p:spPr>
          <a:xfrm>
            <a:off x="5599673" y="1956816"/>
            <a:ext cx="1331571" cy="47548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Each flagged pair takes one path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truct.col.4.disc"/>
          <p:cNvSpPr/>
          <p:nvPr/>
        </p:nvSpPr>
        <p:spPr>
          <a:xfrm>
            <a:off x="7516155" y="1659487"/>
            <a:ext cx="316196" cy="316196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slot.col.4.head"/>
          <p:cNvSpPr/>
          <p:nvPr/>
        </p:nvSpPr>
        <p:spPr>
          <a:xfrm>
            <a:off x="7908333" y="1664208"/>
            <a:ext cx="1511536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Recover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slot.col.4.body"/>
          <p:cNvSpPr/>
          <p:nvPr/>
        </p:nvSpPr>
        <p:spPr>
          <a:xfrm>
            <a:off x="7908333" y="1956816"/>
            <a:ext cx="1511536" cy="47548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Analysts confirm each case and book the credit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truct.col.5.disc"/>
          <p:cNvSpPr/>
          <p:nvPr/>
        </p:nvSpPr>
        <p:spPr>
          <a:xfrm>
            <a:off x="9818000" y="1659487"/>
            <a:ext cx="316196" cy="316196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 w="12700">
            <a:solidFill>
              <a:schemeClr val="bg1"/>
            </a:solidFill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5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slot.col.5.head"/>
          <p:cNvSpPr/>
          <p:nvPr/>
        </p:nvSpPr>
        <p:spPr>
          <a:xfrm>
            <a:off x="10210179" y="1664208"/>
            <a:ext cx="1476327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Each quarter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7" name="struct.col.5.rule.1"/>
          <p:cNvCxnSpPr/>
          <p:nvPr/>
        </p:nvCxnSpPr>
        <p:spPr>
          <a:xfrm>
            <a:off x="9827429" y="2221756"/>
            <a:ext cx="1775632" cy="0"/>
          </a:xfrm>
          <a:prstGeom prst="straightConnector1">
            <a:avLst/>
          </a:prstGeom>
          <a:noFill/>
          <a:ln cap="flat" cmpd="sng" w="10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cxnSp>
        <p:nvCxnSpPr>
          <p:cNvPr id="38" name="struct.col.5.rule.2"/>
          <p:cNvCxnSpPr/>
          <p:nvPr/>
        </p:nvCxnSpPr>
        <p:spPr>
          <a:xfrm>
            <a:off x="9823102" y="3255264"/>
            <a:ext cx="1775393" cy="0"/>
          </a:xfrm>
          <a:prstGeom prst="straightConnector1">
            <a:avLst/>
          </a:prstGeom>
          <a:noFill/>
          <a:ln cap="flat" cmpd="sng" w="10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39" name="slot.result.row.2.label"/>
          <p:cNvSpPr/>
          <p:nvPr/>
        </p:nvSpPr>
        <p:spPr>
          <a:xfrm>
            <a:off x="9823102" y="3712464"/>
            <a:ext cx="1238222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Cases per analyst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slot.result.row.2.value"/>
          <p:cNvSpPr/>
          <p:nvPr/>
        </p:nvSpPr>
        <p:spPr>
          <a:xfrm>
            <a:off x="11043115" y="3712464"/>
            <a:ext cx="582693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60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lot.result.row.3.label"/>
          <p:cNvSpPr/>
          <p:nvPr/>
        </p:nvSpPr>
        <p:spPr>
          <a:xfrm>
            <a:off x="9823102" y="4078224"/>
            <a:ext cx="1238222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Days to credit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slot.result.row.3.value"/>
          <p:cNvSpPr/>
          <p:nvPr/>
        </p:nvSpPr>
        <p:spPr>
          <a:xfrm>
            <a:off x="11043115" y="4078224"/>
            <a:ext cx="582693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6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3" name="struct.col.5.rule.3"/>
          <p:cNvCxnSpPr/>
          <p:nvPr/>
        </p:nvCxnSpPr>
        <p:spPr>
          <a:xfrm>
            <a:off x="9827429" y="4450214"/>
            <a:ext cx="1775632" cy="0"/>
          </a:xfrm>
          <a:prstGeom prst="straightConnector1">
            <a:avLst/>
          </a:prstGeom>
          <a:noFill/>
          <a:ln cap="flat" cmpd="sng" w="10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44" name="struct.control.1.ring"/>
          <p:cNvSpPr/>
          <p:nvPr/>
        </p:nvSpPr>
        <p:spPr>
          <a:xfrm>
            <a:off x="9826373" y="4634708"/>
            <a:ext cx="298613" cy="298613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 w="9525">
            <a:solidFill>
              <a:schemeClr val="bg1"/>
            </a:solidFill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5" name="slot.control.1"/>
          <p:cNvSpPr/>
          <p:nvPr/>
        </p:nvSpPr>
        <p:spPr>
          <a:xfrm>
            <a:off x="10196389" y="4652995"/>
            <a:ext cx="154777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Rules signed off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struct.control.2.ring"/>
          <p:cNvSpPr/>
          <p:nvPr/>
        </p:nvSpPr>
        <p:spPr>
          <a:xfrm>
            <a:off x="9826373" y="5038839"/>
            <a:ext cx="298613" cy="298613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 w="9525">
            <a:solidFill>
              <a:schemeClr val="bg1"/>
            </a:solidFill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7" name="slot.control.2"/>
          <p:cNvSpPr/>
          <p:nvPr/>
        </p:nvSpPr>
        <p:spPr>
          <a:xfrm>
            <a:off x="10196389" y="5057127"/>
            <a:ext cx="154777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Evidence per case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struct.control.3.ring"/>
          <p:cNvSpPr/>
          <p:nvPr/>
        </p:nvSpPr>
        <p:spPr>
          <a:xfrm>
            <a:off x="9826373" y="5442970"/>
            <a:ext cx="298613" cy="298613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 w="9525">
            <a:solidFill>
              <a:schemeClr val="bg1"/>
            </a:solidFill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9" name="slot.control.3"/>
          <p:cNvSpPr/>
          <p:nvPr/>
        </p:nvSpPr>
        <p:spPr>
          <a:xfrm>
            <a:off x="10196389" y="5461257"/>
            <a:ext cx="154777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Vendor notified first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struct.control.4.ring"/>
          <p:cNvSpPr/>
          <p:nvPr/>
        </p:nvSpPr>
        <p:spPr>
          <a:xfrm>
            <a:off x="9826373" y="5847101"/>
            <a:ext cx="298613" cy="298613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 w="9525">
            <a:solidFill>
              <a:schemeClr val="bg1"/>
            </a:solidFill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1" name="slot.control.4"/>
          <p:cNvSpPr/>
          <p:nvPr/>
        </p:nvSpPr>
        <p:spPr>
          <a:xfrm>
            <a:off x="10196389" y="5865389"/>
            <a:ext cx="154777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Audit trail kept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slot.title"/>
          <p:cNvSpPr txBox="1"/>
          <p:nvPr/>
        </p:nvSpPr>
        <p:spPr>
          <a:xfrm>
            <a:off x="457200" y="457200"/>
            <a:ext cx="11338560" cy="78638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Four steps narrow 120K invoices to </a:t>
            </a:r>
            <a:r>
              <a:rPr lang="en-US" sz="2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900 recoverable payments</a:t>
            </a:r>
            <a:endParaRPr lang="en-US" sz="2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struct.node.1"/>
          <p:cNvSpPr/>
          <p:nvPr/>
        </p:nvSpPr>
        <p:spPr>
          <a:xfrm>
            <a:off x="2465953" y="3726180"/>
            <a:ext cx="301752" cy="30175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b="0" i="0" sz="1400" u="none" cap="none" strike="noStrike">
              <a:solidFill>
                <a:schemeClr val="bg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4" name="struct.node.2"/>
          <p:cNvSpPr/>
          <p:nvPr/>
        </p:nvSpPr>
        <p:spPr>
          <a:xfrm>
            <a:off x="4796725" y="3726180"/>
            <a:ext cx="301752" cy="30175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b="0" i="0" sz="1400" u="none" cap="none" strike="noStrike">
              <a:solidFill>
                <a:schemeClr val="bg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5" name="struct.node.3"/>
          <p:cNvSpPr/>
          <p:nvPr/>
        </p:nvSpPr>
        <p:spPr>
          <a:xfrm>
            <a:off x="7081973" y="3726180"/>
            <a:ext cx="301752" cy="30175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b="0" i="0" sz="1400" u="none" cap="none" strike="noStrike">
              <a:solidFill>
                <a:schemeClr val="bg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6" name="slot.route.1"/>
          <p:cNvSpPr/>
          <p:nvPr/>
        </p:nvSpPr>
        <p:spPr>
          <a:xfrm>
            <a:off x="5537716" y="2482158"/>
            <a:ext cx="1345678" cy="921966"/>
          </a:xfrm>
          <a:prstGeom prst="roundRect">
            <a:avLst>
              <a:gd fmla="val 4959" name="adj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45700" lIns="91425" spcFirstLastPara="1" rIns="91425" wrap="square" tIns="4570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Discard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Recurring fee, not a duplicate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slot.route.2"/>
          <p:cNvSpPr/>
          <p:nvPr/>
        </p:nvSpPr>
        <p:spPr>
          <a:xfrm>
            <a:off x="5537716" y="3571517"/>
            <a:ext cx="1345678" cy="921966"/>
          </a:xfrm>
          <a:prstGeom prst="roundRect">
            <a:avLst>
              <a:gd fmla="val 4959" name="adj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45700" lIns="91425" spcFirstLastPara="1" rIns="91425" wrap="square" tIns="4570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Review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Analyst checks both invoices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slot.route.3"/>
          <p:cNvSpPr/>
          <p:nvPr/>
        </p:nvSpPr>
        <p:spPr>
          <a:xfrm>
            <a:off x="5537716" y="4660875"/>
            <a:ext cx="1345678" cy="921966"/>
          </a:xfrm>
          <a:prstGeom prst="roundRect">
            <a:avLst>
              <a:gd fmla="val 4959" name="adj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45700" lIns="91425" spcFirstLastPara="1" rIns="91425" wrap="square" tIns="4570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Enrich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Pull missing vendor detail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slot.route.hold"/>
          <p:cNvSpPr/>
          <p:nvPr/>
        </p:nvSpPr>
        <p:spPr>
          <a:xfrm>
            <a:off x="5537716" y="5760720"/>
            <a:ext cx="1456732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10800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Hold for next cycle</a:t>
            </a:r>
            <a:endParaRPr lang="en-US" sz="1000" b="0" i="1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slot.result.row.1.label"/>
          <p:cNvSpPr/>
          <p:nvPr/>
        </p:nvSpPr>
        <p:spPr>
          <a:xfrm>
            <a:off x="9823102" y="3346704"/>
            <a:ext cx="1238222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Match precision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slot.result.row.1.value"/>
          <p:cNvSpPr/>
          <p:nvPr/>
        </p:nvSpPr>
        <p:spPr>
          <a:xfrm>
            <a:off x="11043115" y="3346704"/>
            <a:ext cx="582693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94%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struct.node.1.icon"/>
          <p:cNvSpPr/>
          <p:nvPr/>
        </p:nvSpPr>
        <p:spPr>
          <a:xfrm>
            <a:off x="2525389" y="378561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15240" cap="rnd">
            <a:solidFill>
              <a:schemeClr val="tx1">
                <a:lumMod val="65000"/>
                <a:lumOff val="35000"/>
              </a:schemeClr>
            </a:solidFill>
            <a:round/>
          </a:ln>
          <a:effectLst/>
        </p:spPr>
      </p:sp>
      <p:sp>
        <p:nvSpPr>
          <p:cNvPr id="63" name="struct.node.2.icon"/>
          <p:cNvSpPr/>
          <p:nvPr/>
        </p:nvSpPr>
        <p:spPr>
          <a:xfrm>
            <a:off x="4856161" y="378561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15240" cap="rnd">
            <a:solidFill>
              <a:schemeClr val="tx1">
                <a:lumMod val="65000"/>
                <a:lumOff val="35000"/>
              </a:schemeClr>
            </a:solidFill>
            <a:round/>
          </a:ln>
          <a:effectLst/>
        </p:spPr>
      </p:sp>
      <p:sp>
        <p:nvSpPr>
          <p:cNvPr id="64" name="struct.node.3.icon"/>
          <p:cNvSpPr/>
          <p:nvPr/>
        </p:nvSpPr>
        <p:spPr>
          <a:xfrm>
            <a:off x="7141409" y="378561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15240" cap="rnd">
            <a:solidFill>
              <a:schemeClr val="tx1">
                <a:lumMod val="65000"/>
                <a:lumOff val="35000"/>
              </a:schemeClr>
            </a:solidFill>
            <a:round/>
          </a:ln>
          <a:effectLst/>
        </p:spPr>
      </p:sp>
      <p:sp>
        <p:nvSpPr>
          <p:cNvPr id="65" name="struct.col.1.zone"/>
          <p:cNvSpPr/>
          <p:nvPr/>
        </p:nvSpPr>
        <p:spPr>
          <a:xfrm>
            <a:off x="549815" y="2534717"/>
            <a:ext cx="1811151" cy="2855671"/>
          </a:xfrm>
          <a:prstGeom prst="roundRect">
            <a:avLst>
              <a:gd name="adj" fmla="val 2513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</p:sp>
      <p:sp>
        <p:nvSpPr>
          <p:cNvPr id="66" name="slot.source.1.icon"/>
          <p:cNvSpPr/>
          <p:nvPr/>
        </p:nvSpPr>
        <p:spPr>
          <a:xfrm>
            <a:off x="658518" y="2772461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21590" cap="rnd">
            <a:solidFill>
              <a:schemeClr val="accent1"/>
            </a:solidFill>
            <a:round/>
          </a:ln>
          <a:effectLst/>
        </p:spPr>
      </p:sp>
      <p:sp>
        <p:nvSpPr>
          <p:cNvPr id="67" name="slot.source.1.text"/>
          <p:cNvSpPr txBox="1"/>
          <p:nvPr/>
        </p:nvSpPr>
        <p:spPr>
          <a:xfrm>
            <a:off x="986835" y="2735885"/>
            <a:ext cx="1319504" cy="51206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Invoice ledger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120K rows a quarter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slot.source.2.icon"/>
          <p:cNvSpPr/>
          <p:nvPr/>
        </p:nvSpPr>
        <p:spPr>
          <a:xfrm>
            <a:off x="658518" y="3430829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8000" y="13000"/>
                </a:moveTo>
                <a:lnTo>
                  <a:pt x="10000" y="13000"/>
                </a:lnTo>
                <a:moveTo>
                  <a:pt x="14000" y="13000"/>
                </a:moveTo>
                <a:lnTo>
                  <a:pt x="16000" y="13000"/>
                </a:lnTo>
                <a:moveTo>
                  <a:pt x="8000" y="17000"/>
                </a:moveTo>
                <a:lnTo>
                  <a:pt x="10000" y="17000"/>
                </a:lnTo>
                <a:moveTo>
                  <a:pt x="14000" y="17000"/>
                </a:moveTo>
                <a:lnTo>
                  <a:pt x="16000" y="17000"/>
                </a:lnTo>
              </a:path>
            </a:pathLst>
          </a:custGeom>
          <a:noFill/>
          <a:ln w="21590" cap="rnd">
            <a:solidFill>
              <a:schemeClr val="accent1"/>
            </a:solidFill>
            <a:round/>
          </a:ln>
          <a:effectLst/>
        </p:spPr>
      </p:sp>
      <p:sp>
        <p:nvSpPr>
          <p:cNvPr id="69" name="slot.source.2.text"/>
          <p:cNvSpPr txBox="1"/>
          <p:nvPr/>
        </p:nvSpPr>
        <p:spPr>
          <a:xfrm>
            <a:off x="986835" y="3394253"/>
            <a:ext cx="1319504" cy="51206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Vendor master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8.4K active vendors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slot.source.3.icon"/>
          <p:cNvSpPr/>
          <p:nvPr/>
        </p:nvSpPr>
        <p:spPr>
          <a:xfrm>
            <a:off x="658518" y="4089197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21590" cap="rnd">
            <a:solidFill>
              <a:schemeClr val="accent1"/>
            </a:solidFill>
            <a:round/>
          </a:ln>
          <a:effectLst/>
        </p:spPr>
      </p:sp>
      <p:sp>
        <p:nvSpPr>
          <p:cNvPr id="71" name="slot.source.3.text"/>
          <p:cNvSpPr txBox="1"/>
          <p:nvPr/>
        </p:nvSpPr>
        <p:spPr>
          <a:xfrm>
            <a:off x="986835" y="4052621"/>
            <a:ext cx="1319504" cy="51206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Contract terms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Rates and credit terms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slot.source.4.icon"/>
          <p:cNvSpPr/>
          <p:nvPr/>
        </p:nvSpPr>
        <p:spPr>
          <a:xfrm>
            <a:off x="658518" y="4747565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4000" y="6000"/>
                </a:moveTo>
                <a:lnTo>
                  <a:pt x="20000" y="6000"/>
                </a:lnTo>
                <a:cubicBezTo>
                  <a:pt x="21105" y="6000"/>
                  <a:pt x="22000" y="6895"/>
                  <a:pt x="22000" y="8000"/>
                </a:cubicBezTo>
                <a:lnTo>
                  <a:pt x="22000" y="16000"/>
                </a:lnTo>
                <a:cubicBezTo>
                  <a:pt x="22000" y="17105"/>
                  <a:pt x="21105" y="18000"/>
                  <a:pt x="20000" y="18000"/>
                </a:cubicBezTo>
                <a:lnTo>
                  <a:pt x="4000" y="18000"/>
                </a:lnTo>
                <a:cubicBezTo>
                  <a:pt x="2895" y="18000"/>
                  <a:pt x="2000" y="17105"/>
                  <a:pt x="2000" y="16000"/>
                </a:cubicBezTo>
                <a:lnTo>
                  <a:pt x="2000" y="8000"/>
                </a:lnTo>
                <a:cubicBezTo>
                  <a:pt x="2000" y="6895"/>
                  <a:pt x="2895" y="6000"/>
                  <a:pt x="4000" y="6000"/>
                </a:cubicBezTo>
                <a:close/>
                <a:moveTo>
                  <a:pt x="14000" y="12000"/>
                </a:moveTo>
                <a:cubicBezTo>
                  <a:pt x="14000" y="13105"/>
                  <a:pt x="13105" y="14000"/>
                  <a:pt x="12000" y="14000"/>
                </a:cubicBezTo>
                <a:cubicBezTo>
                  <a:pt x="10895" y="14000"/>
                  <a:pt x="10000" y="13105"/>
                  <a:pt x="10000" y="12000"/>
                </a:cubicBezTo>
                <a:cubicBezTo>
                  <a:pt x="10000" y="10895"/>
                  <a:pt x="10895" y="10000"/>
                  <a:pt x="12000" y="10000"/>
                </a:cubicBezTo>
                <a:cubicBezTo>
                  <a:pt x="13105" y="10000"/>
                  <a:pt x="14000" y="10895"/>
                  <a:pt x="14000" y="12000"/>
                </a:cubicBezTo>
                <a:close/>
                <a:moveTo>
                  <a:pt x="6000" y="12000"/>
                </a:moveTo>
                <a:lnTo>
                  <a:pt x="6010" y="12000"/>
                </a:lnTo>
                <a:moveTo>
                  <a:pt x="18000" y="12000"/>
                </a:moveTo>
                <a:lnTo>
                  <a:pt x="18010" y="12000"/>
                </a:lnTo>
              </a:path>
            </a:pathLst>
          </a:custGeom>
          <a:noFill/>
          <a:ln w="21590" cap="rnd">
            <a:solidFill>
              <a:schemeClr val="accent1"/>
            </a:solidFill>
            <a:round/>
          </a:ln>
          <a:effectLst/>
        </p:spPr>
      </p:sp>
      <p:sp>
        <p:nvSpPr>
          <p:cNvPr id="73" name="slot.source.4.text"/>
          <p:cNvSpPr txBox="1"/>
          <p:nvPr/>
        </p:nvSpPr>
        <p:spPr>
          <a:xfrm>
            <a:off x="986835" y="4710989"/>
            <a:ext cx="1319504" cy="51206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Payment runs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Weekly, three banks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slot.route.1.icon"/>
          <p:cNvSpPr/>
          <p:nvPr/>
        </p:nvSpPr>
        <p:spPr>
          <a:xfrm>
            <a:off x="6555157" y="2573598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5000" y="9000"/>
                </a:moveTo>
                <a:lnTo>
                  <a:pt x="9000" y="15000"/>
                </a:lnTo>
                <a:moveTo>
                  <a:pt x="9000" y="9000"/>
                </a:moveTo>
                <a:lnTo>
                  <a:pt x="15000" y="15000"/>
                </a:lnTo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</p:sp>
      <p:sp>
        <p:nvSpPr>
          <p:cNvPr id="75" name="slot.route.2.icon"/>
          <p:cNvSpPr/>
          <p:nvPr/>
        </p:nvSpPr>
        <p:spPr>
          <a:xfrm>
            <a:off x="6555157" y="3662957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2000"/>
                </a:moveTo>
                <a:lnTo>
                  <a:pt x="15000" y="2000"/>
                </a:lnTo>
                <a:cubicBezTo>
                  <a:pt x="15552" y="2000"/>
                  <a:pt x="16000" y="2448"/>
                  <a:pt x="16000" y="3000"/>
                </a:cubicBezTo>
                <a:lnTo>
                  <a:pt x="16000" y="5000"/>
                </a:lnTo>
                <a:cubicBezTo>
                  <a:pt x="16000" y="5552"/>
                  <a:pt x="15552" y="6000"/>
                  <a:pt x="15000" y="6000"/>
                </a:cubicBezTo>
                <a:lnTo>
                  <a:pt x="9000" y="6000"/>
                </a:lnTo>
                <a:cubicBezTo>
                  <a:pt x="8448" y="6000"/>
                  <a:pt x="8000" y="5552"/>
                  <a:pt x="8000" y="5000"/>
                </a:cubicBezTo>
                <a:lnTo>
                  <a:pt x="8000" y="3000"/>
                </a:lnTo>
                <a:cubicBezTo>
                  <a:pt x="8000" y="2448"/>
                  <a:pt x="8448" y="2000"/>
                  <a:pt x="9000" y="2000"/>
                </a:cubicBezTo>
                <a:close/>
                <a:moveTo>
                  <a:pt x="16000" y="4000"/>
                </a:moveTo>
                <a:lnTo>
                  <a:pt x="18000" y="4000"/>
                </a:lnTo>
                <a:cubicBezTo>
                  <a:pt x="19105" y="4000"/>
                  <a:pt x="20000" y="4895"/>
                  <a:pt x="20000" y="6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lnTo>
                  <a:pt x="6000" y="22000"/>
                </a:lnTo>
                <a:cubicBezTo>
                  <a:pt x="4895" y="22000"/>
                  <a:pt x="4000" y="21105"/>
                  <a:pt x="4000" y="20000"/>
                </a:cubicBezTo>
                <a:lnTo>
                  <a:pt x="4000" y="6000"/>
                </a:lnTo>
                <a:cubicBezTo>
                  <a:pt x="4000" y="4895"/>
                  <a:pt x="4895" y="4000"/>
                  <a:pt x="6000" y="4000"/>
                </a:cubicBezTo>
                <a:lnTo>
                  <a:pt x="8000" y="4000"/>
                </a:lnTo>
                <a:moveTo>
                  <a:pt x="12000" y="11000"/>
                </a:moveTo>
                <a:lnTo>
                  <a:pt x="16000" y="11000"/>
                </a:lnTo>
                <a:moveTo>
                  <a:pt x="12000" y="16000"/>
                </a:moveTo>
                <a:lnTo>
                  <a:pt x="16000" y="16000"/>
                </a:lnTo>
                <a:moveTo>
                  <a:pt x="8000" y="11000"/>
                </a:moveTo>
                <a:lnTo>
                  <a:pt x="8010" y="11000"/>
                </a:lnTo>
                <a:moveTo>
                  <a:pt x="8000" y="16000"/>
                </a:moveTo>
                <a:lnTo>
                  <a:pt x="8010" y="16000"/>
                </a:lnTo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</p:sp>
      <p:sp>
        <p:nvSpPr>
          <p:cNvPr id="76" name="slot.route.3.icon"/>
          <p:cNvSpPr/>
          <p:nvPr/>
        </p:nvSpPr>
        <p:spPr>
          <a:xfrm>
            <a:off x="6555157" y="4752315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11693"/>
                </a:moveTo>
                <a:lnTo>
                  <a:pt x="21000" y="5000"/>
                </a:lnTo>
                <a:moveTo>
                  <a:pt x="22000" y="22000"/>
                </a:moveTo>
                <a:lnTo>
                  <a:pt x="20125" y="20125"/>
                </a:lnTo>
                <a:moveTo>
                  <a:pt x="3000" y="12000"/>
                </a:moveTo>
                <a:cubicBezTo>
                  <a:pt x="3000" y="13617"/>
                  <a:pt x="6847" y="14944"/>
                  <a:pt x="11697" y="14998"/>
                </a:cubicBezTo>
                <a:moveTo>
                  <a:pt x="3000" y="5000"/>
                </a:moveTo>
                <a:lnTo>
                  <a:pt x="3000" y="19000"/>
                </a:lnTo>
                <a:cubicBezTo>
                  <a:pt x="3000" y="19812"/>
                  <a:pt x="3987" y="20589"/>
                  <a:pt x="5735" y="21154"/>
                </a:cubicBezTo>
                <a:cubicBezTo>
                  <a:pt x="7484" y="21720"/>
                  <a:pt x="9845" y="22024"/>
                  <a:pt x="12280" y="21999"/>
                </a:cubicBezTo>
                <a:moveTo>
                  <a:pt x="21000" y="18000"/>
                </a:moveTo>
                <a:cubicBezTo>
                  <a:pt x="21000" y="19657"/>
                  <a:pt x="19657" y="21000"/>
                  <a:pt x="18000" y="21000"/>
                </a:cubicBezTo>
                <a:cubicBezTo>
                  <a:pt x="16343" y="21000"/>
                  <a:pt x="15000" y="19657"/>
                  <a:pt x="15000" y="18000"/>
                </a:cubicBezTo>
                <a:cubicBezTo>
                  <a:pt x="15000" y="16343"/>
                  <a:pt x="16343" y="15000"/>
                  <a:pt x="18000" y="15000"/>
                </a:cubicBezTo>
                <a:cubicBezTo>
                  <a:pt x="19657" y="15000"/>
                  <a:pt x="21000" y="16343"/>
                  <a:pt x="21000" y="18000"/>
                </a:cubicBezTo>
                <a:close/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</p:sp>
      <p:sp>
        <p:nvSpPr>
          <p:cNvPr id="77" name="struct.route.arrow.1"/>
          <p:cNvSpPr/>
          <p:nvPr/>
        </p:nvSpPr>
        <p:spPr>
          <a:xfrm>
            <a:off x="5097826" y="2943141"/>
            <a:ext cx="439890" cy="933915"/>
          </a:xfrm>
          <a:custGeom>
            <a:avLst/>
            <a:gdLst/>
            <a:ahLst/>
            <a:cxnLst/>
            <a:rect l="l" t="t" r="r" b="b"/>
            <a:pathLst>
              <a:path w="441795" h="933915" fill="none">
                <a:moveTo>
                  <a:pt x="0" y="933915"/>
                </a:moveTo>
                <a:lnTo>
                  <a:pt x="164592" y="933915"/>
                </a:lnTo>
                <a:lnTo>
                  <a:pt x="164592" y="0"/>
                </a:lnTo>
                <a:lnTo>
                  <a:pt x="441795" y="0"/>
                </a:lnTo>
              </a:path>
            </a:pathLst>
          </a:custGeom>
          <a:noFill/>
          <a:ln w="9525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</p:sp>
      <p:sp>
        <p:nvSpPr>
          <p:cNvPr id="78" name="struct.route.arrow.2"/>
          <p:cNvSpPr/>
          <p:nvPr/>
        </p:nvSpPr>
        <p:spPr>
          <a:xfrm>
            <a:off x="5097826" y="3877056"/>
            <a:ext cx="439890" cy="155444"/>
          </a:xfrm>
          <a:custGeom>
            <a:avLst/>
            <a:gdLst/>
            <a:ahLst/>
            <a:cxnLst/>
            <a:rect l="l" t="t" r="r" b="b"/>
            <a:pathLst>
              <a:path w="441795" h="155444" fill="none">
                <a:moveTo>
                  <a:pt x="0" y="0"/>
                </a:moveTo>
                <a:lnTo>
                  <a:pt x="164592" y="0"/>
                </a:lnTo>
                <a:lnTo>
                  <a:pt x="164592" y="155444"/>
                </a:lnTo>
                <a:lnTo>
                  <a:pt x="441795" y="155444"/>
                </a:lnTo>
              </a:path>
            </a:pathLst>
          </a:custGeom>
          <a:noFill/>
          <a:ln w="9525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</p:sp>
      <p:sp>
        <p:nvSpPr>
          <p:cNvPr id="79" name="struct.route.arrow.3"/>
          <p:cNvSpPr/>
          <p:nvPr/>
        </p:nvSpPr>
        <p:spPr>
          <a:xfrm>
            <a:off x="5097826" y="3877056"/>
            <a:ext cx="439890" cy="1244802"/>
          </a:xfrm>
          <a:custGeom>
            <a:avLst/>
            <a:gdLst/>
            <a:ahLst/>
            <a:cxnLst/>
            <a:rect l="l" t="t" r="r" b="b"/>
            <a:pathLst>
              <a:path w="441795" h="1244802" fill="none">
                <a:moveTo>
                  <a:pt x="0" y="0"/>
                </a:moveTo>
                <a:lnTo>
                  <a:pt x="164592" y="0"/>
                </a:lnTo>
                <a:lnTo>
                  <a:pt x="164592" y="1244802"/>
                </a:lnTo>
                <a:lnTo>
                  <a:pt x="441795" y="1244802"/>
                </a:lnTo>
              </a:path>
            </a:pathLst>
          </a:custGeom>
          <a:noFill/>
          <a:ln w="9525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</p:sp>
      <p:sp>
        <p:nvSpPr>
          <p:cNvPr id="80" name="struct.route.arrow.4"/>
          <p:cNvSpPr/>
          <p:nvPr/>
        </p:nvSpPr>
        <p:spPr>
          <a:xfrm>
            <a:off x="5097826" y="3877056"/>
            <a:ext cx="439890" cy="2002536"/>
          </a:xfrm>
          <a:custGeom>
            <a:avLst/>
            <a:gdLst/>
            <a:ahLst/>
            <a:cxnLst/>
            <a:rect l="l" t="t" r="r" b="b"/>
            <a:pathLst>
              <a:path w="441795" h="2002536" fill="none">
                <a:moveTo>
                  <a:pt x="0" y="0"/>
                </a:moveTo>
                <a:lnTo>
                  <a:pt x="164592" y="0"/>
                </a:lnTo>
                <a:lnTo>
                  <a:pt x="164592" y="2002536"/>
                </a:lnTo>
                <a:lnTo>
                  <a:pt x="441795" y="2002536"/>
                </a:lnTo>
              </a:path>
            </a:pathLst>
          </a:custGeom>
          <a:noFill/>
          <a:ln w="9525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</p:sp>
      <p:sp>
        <p:nvSpPr>
          <p:cNvPr id="81" name="struct.col.4.zone"/>
          <p:cNvSpPr/>
          <p:nvPr/>
        </p:nvSpPr>
        <p:spPr>
          <a:xfrm>
            <a:off x="7592853" y="2534717"/>
            <a:ext cx="1851126" cy="3566160"/>
          </a:xfrm>
          <a:prstGeom prst="roundRect">
            <a:avLst>
              <a:gd name="adj" fmla="val 245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</p:sp>
      <p:sp>
        <p:nvSpPr>
          <p:cNvPr id="82" name="slot.check.1.icon"/>
          <p:cNvSpPr/>
          <p:nvPr/>
        </p:nvSpPr>
        <p:spPr>
          <a:xfrm>
            <a:off x="7701556" y="2754173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21590" cap="rnd">
            <a:solidFill>
              <a:schemeClr val="accent1"/>
            </a:solidFill>
            <a:round/>
          </a:ln>
          <a:effectLst/>
        </p:spPr>
      </p:sp>
      <p:sp>
        <p:nvSpPr>
          <p:cNvPr id="83" name="slot.check.1.text"/>
          <p:cNvSpPr txBox="1"/>
          <p:nvPr/>
        </p:nvSpPr>
        <p:spPr>
          <a:xfrm>
            <a:off x="8011663" y="2717597"/>
            <a:ext cx="1377688" cy="51206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Evidence filed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Invoices and payment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slot.check.2.icon"/>
          <p:cNvSpPr/>
          <p:nvPr/>
        </p:nvSpPr>
        <p:spPr>
          <a:xfrm>
            <a:off x="7701556" y="3412541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21590" cap="rnd">
            <a:solidFill>
              <a:schemeClr val="accent1"/>
            </a:solidFill>
            <a:round/>
          </a:ln>
          <a:effectLst/>
        </p:spPr>
      </p:sp>
      <p:sp>
        <p:nvSpPr>
          <p:cNvPr id="85" name="slot.check.2.text"/>
          <p:cNvSpPr txBox="1"/>
          <p:nvPr/>
        </p:nvSpPr>
        <p:spPr>
          <a:xfrm>
            <a:off x="8011663" y="3375965"/>
            <a:ext cx="1377688" cy="51206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Vendor confirmed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Same tax id and bank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slot.check.3.icon"/>
          <p:cNvSpPr/>
          <p:nvPr/>
        </p:nvSpPr>
        <p:spPr>
          <a:xfrm>
            <a:off x="7701556" y="4070909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21590" cap="rnd">
            <a:solidFill>
              <a:schemeClr val="accent1"/>
            </a:solidFill>
            <a:round/>
          </a:ln>
          <a:effectLst/>
        </p:spPr>
      </p:sp>
      <p:sp>
        <p:nvSpPr>
          <p:cNvPr id="87" name="slot.check.3.text"/>
          <p:cNvSpPr txBox="1"/>
          <p:nvPr/>
        </p:nvSpPr>
        <p:spPr>
          <a:xfrm>
            <a:off x="8011663" y="4034333"/>
            <a:ext cx="1377688" cy="51206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Credit agreed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Vendor signs the claim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slot.check.4.icon"/>
          <p:cNvSpPr/>
          <p:nvPr/>
        </p:nvSpPr>
        <p:spPr>
          <a:xfrm>
            <a:off x="7701556" y="4729277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21590" cap="rnd">
            <a:solidFill>
              <a:schemeClr val="accent1"/>
            </a:solidFill>
            <a:round/>
          </a:ln>
          <a:effectLst/>
        </p:spPr>
      </p:sp>
      <p:sp>
        <p:nvSpPr>
          <p:cNvPr id="89" name="slot.check.4.text"/>
          <p:cNvSpPr txBox="1"/>
          <p:nvPr/>
        </p:nvSpPr>
        <p:spPr>
          <a:xfrm>
            <a:off x="8011663" y="4692701"/>
            <a:ext cx="1377688" cy="51206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Recovery booked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Offset on the next run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slot.check.5.icon"/>
          <p:cNvSpPr/>
          <p:nvPr/>
        </p:nvSpPr>
        <p:spPr>
          <a:xfrm>
            <a:off x="7701556" y="5387645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21590" cap="rnd">
            <a:solidFill>
              <a:schemeClr val="accent1"/>
            </a:solidFill>
            <a:round/>
          </a:ln>
          <a:effectLst/>
        </p:spPr>
      </p:sp>
      <p:sp>
        <p:nvSpPr>
          <p:cNvPr id="91" name="slot.check.5.text"/>
          <p:cNvSpPr txBox="1"/>
          <p:nvPr/>
        </p:nvSpPr>
        <p:spPr>
          <a:xfrm>
            <a:off x="8011663" y="5351069"/>
            <a:ext cx="1377688" cy="51206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Rule tuned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Misses refine the rules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92" name="slot.result"/>
          <p:cNvGrpSpPr/>
          <p:nvPr/>
        </p:nvGrpSpPr>
        <p:grpSpPr>
          <a:xfrm>
            <a:off x="9886834" y="2258568"/>
            <a:ext cx="1638824" cy="906627"/>
            <a:chOff x="9893808" y="2258568"/>
            <a:chExt cx="1645920" cy="906627"/>
          </a:xfrm>
          <a:effectLst/>
        </p:grpSpPr>
        <p:sp>
          <p:nvSpPr>
            <p:cNvPr id="93" name="slot.result.value"/>
            <p:cNvSpPr txBox="1"/>
            <p:nvPr/>
          </p:nvSpPr>
          <p:spPr>
            <a:xfrm>
              <a:off x="9893808" y="2258568"/>
              <a:ext cx="1645920" cy="373159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$2.4M</a:t>
              </a:r>
              <a:endParaRPr lang="en-US" sz="2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94" name="slot.result.rule"/>
            <p:cNvCxnSpPr/>
            <p:nvPr/>
          </p:nvCxnSpPr>
          <p:spPr>
            <a:xfrm>
              <a:off x="9893808" y="2677447"/>
              <a:ext cx="164592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95" name="slot.result.label"/>
            <p:cNvSpPr txBox="1"/>
            <p:nvPr/>
          </p:nvSpPr>
          <p:spPr>
            <a:xfrm>
              <a:off x="9893808" y="2732311"/>
              <a:ext cx="1645920" cy="167677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recovered per quarter</a:t>
              </a:r>
              <a:endPara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96" name="slot.result.basis"/>
            <p:cNvSpPr/>
            <p:nvPr/>
          </p:nvSpPr>
          <p:spPr>
            <a:xfrm>
              <a:off x="9893808" y="2954852"/>
              <a:ext cx="811329" cy="21034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tlCol="0" anchor="ctr" wrap="square" lIns="36576" tIns="0" rIns="36576" bIns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Illustrative</a:t>
              </a:r>
              <a:endPara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97" name="slot.control.1.icon"/>
          <p:cNvSpPr/>
          <p:nvPr/>
        </p:nvSpPr>
        <p:spPr>
          <a:xfrm>
            <a:off x="9885802" y="469414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671" y="4136"/>
                </a:moveTo>
                <a:cubicBezTo>
                  <a:pt x="9785" y="2935"/>
                  <a:pt x="10794" y="2017"/>
                  <a:pt x="12000" y="2017"/>
                </a:cubicBezTo>
                <a:cubicBezTo>
                  <a:pt x="13207" y="2017"/>
                  <a:pt x="14216" y="2935"/>
                  <a:pt x="14330" y="4136"/>
                </a:cubicBezTo>
                <a:cubicBezTo>
                  <a:pt x="14397" y="4896"/>
                  <a:pt x="14831" y="5575"/>
                  <a:pt x="15491" y="5957"/>
                </a:cubicBezTo>
                <a:cubicBezTo>
                  <a:pt x="16152" y="6338"/>
                  <a:pt x="16957" y="6373"/>
                  <a:pt x="17649" y="6051"/>
                </a:cubicBezTo>
                <a:cubicBezTo>
                  <a:pt x="18745" y="5553"/>
                  <a:pt x="20040" y="5969"/>
                  <a:pt x="20643" y="7011"/>
                </a:cubicBezTo>
                <a:cubicBezTo>
                  <a:pt x="21245" y="8054"/>
                  <a:pt x="20958" y="9383"/>
                  <a:pt x="19979" y="10084"/>
                </a:cubicBezTo>
                <a:cubicBezTo>
                  <a:pt x="19355" y="10522"/>
                  <a:pt x="18983" y="11237"/>
                  <a:pt x="18983" y="11999"/>
                </a:cubicBezTo>
                <a:cubicBezTo>
                  <a:pt x="18983" y="12762"/>
                  <a:pt x="19355" y="13477"/>
                  <a:pt x="19979" y="13915"/>
                </a:cubicBezTo>
                <a:cubicBezTo>
                  <a:pt x="20958" y="14616"/>
                  <a:pt x="21245" y="15945"/>
                  <a:pt x="20643" y="16988"/>
                </a:cubicBezTo>
                <a:cubicBezTo>
                  <a:pt x="20040" y="18030"/>
                  <a:pt x="18745" y="18446"/>
                  <a:pt x="17649" y="17948"/>
                </a:cubicBezTo>
                <a:cubicBezTo>
                  <a:pt x="16957" y="17626"/>
                  <a:pt x="16152" y="17661"/>
                  <a:pt x="15491" y="18042"/>
                </a:cubicBezTo>
                <a:cubicBezTo>
                  <a:pt x="14831" y="18424"/>
                  <a:pt x="14397" y="19103"/>
                  <a:pt x="14330" y="19863"/>
                </a:cubicBezTo>
                <a:cubicBezTo>
                  <a:pt x="14216" y="21064"/>
                  <a:pt x="13207" y="21982"/>
                  <a:pt x="12001" y="21982"/>
                </a:cubicBezTo>
                <a:cubicBezTo>
                  <a:pt x="10794" y="21982"/>
                  <a:pt x="9785" y="21064"/>
                  <a:pt x="9671" y="19863"/>
                </a:cubicBezTo>
                <a:cubicBezTo>
                  <a:pt x="9604" y="19103"/>
                  <a:pt x="9170" y="18423"/>
                  <a:pt x="8509" y="18042"/>
                </a:cubicBezTo>
                <a:cubicBezTo>
                  <a:pt x="7848" y="17660"/>
                  <a:pt x="7043" y="17625"/>
                  <a:pt x="6351" y="17948"/>
                </a:cubicBezTo>
                <a:cubicBezTo>
                  <a:pt x="5255" y="18446"/>
                  <a:pt x="3960" y="18030"/>
                  <a:pt x="3357" y="16988"/>
                </a:cubicBezTo>
                <a:cubicBezTo>
                  <a:pt x="2755" y="15945"/>
                  <a:pt x="3042" y="14616"/>
                  <a:pt x="4021" y="13915"/>
                </a:cubicBezTo>
                <a:cubicBezTo>
                  <a:pt x="4645" y="13477"/>
                  <a:pt x="5017" y="12762"/>
                  <a:pt x="5017" y="11999"/>
                </a:cubicBezTo>
                <a:cubicBezTo>
                  <a:pt x="5017" y="11237"/>
                  <a:pt x="4645" y="10522"/>
                  <a:pt x="4021" y="10084"/>
                </a:cubicBezTo>
                <a:cubicBezTo>
                  <a:pt x="3044" y="9383"/>
                  <a:pt x="2757" y="8054"/>
                  <a:pt x="3359" y="7013"/>
                </a:cubicBezTo>
                <a:cubicBezTo>
                  <a:pt x="3961" y="5971"/>
                  <a:pt x="5254" y="5555"/>
                  <a:pt x="6350" y="6051"/>
                </a:cubicBezTo>
                <a:cubicBezTo>
                  <a:pt x="7042" y="6373"/>
                  <a:pt x="7847" y="6338"/>
                  <a:pt x="8508" y="5957"/>
                </a:cubicBezTo>
                <a:cubicBezTo>
                  <a:pt x="9168" y="5575"/>
                  <a:pt x="9602" y="4896"/>
                  <a:pt x="9669" y="4136"/>
                </a:cubicBezTo>
                <a:moveTo>
                  <a:pt x="15000" y="12000"/>
                </a:moveTo>
                <a:cubicBezTo>
                  <a:pt x="15000" y="13657"/>
                  <a:pt x="13657" y="15000"/>
                  <a:pt x="12000" y="15000"/>
                </a:cubicBezTo>
                <a:cubicBezTo>
                  <a:pt x="10343" y="15000"/>
                  <a:pt x="9000" y="13657"/>
                  <a:pt x="9000" y="12000"/>
                </a:cubicBezTo>
                <a:cubicBezTo>
                  <a:pt x="9000" y="10343"/>
                  <a:pt x="10343" y="9000"/>
                  <a:pt x="12000" y="9000"/>
                </a:cubicBezTo>
                <a:cubicBezTo>
                  <a:pt x="13657" y="9000"/>
                  <a:pt x="15000" y="10343"/>
                  <a:pt x="15000" y="12000"/>
                </a:cubicBezTo>
                <a:close/>
              </a:path>
            </a:pathLst>
          </a:custGeom>
          <a:noFill/>
          <a:ln w="15240" cap="rnd">
            <a:solidFill>
              <a:schemeClr val="bg1"/>
            </a:solidFill>
            <a:round/>
          </a:ln>
          <a:effectLst/>
        </p:spPr>
      </p:sp>
      <p:sp>
        <p:nvSpPr>
          <p:cNvPr id="98" name="slot.control.2.icon"/>
          <p:cNvSpPr/>
          <p:nvPr/>
        </p:nvSpPr>
        <p:spPr>
          <a:xfrm>
            <a:off x="9885802" y="5098275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9000" y="15000"/>
                </a:moveTo>
                <a:lnTo>
                  <a:pt x="11000" y="17000"/>
                </a:lnTo>
                <a:lnTo>
                  <a:pt x="15000" y="13000"/>
                </a:lnTo>
              </a:path>
            </a:pathLst>
          </a:custGeom>
          <a:noFill/>
          <a:ln w="15240" cap="rnd">
            <a:solidFill>
              <a:schemeClr val="bg1"/>
            </a:solidFill>
            <a:round/>
          </a:ln>
          <a:effectLst/>
        </p:spPr>
      </p:sp>
      <p:sp>
        <p:nvSpPr>
          <p:cNvPr id="99" name="slot.control.3.icon"/>
          <p:cNvSpPr/>
          <p:nvPr/>
        </p:nvSpPr>
        <p:spPr>
          <a:xfrm>
            <a:off x="9885802" y="550240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7000"/>
                </a:moveTo>
                <a:lnTo>
                  <a:pt x="13009" y="12727"/>
                </a:lnTo>
                <a:cubicBezTo>
                  <a:pt x="12388" y="13088"/>
                  <a:pt x="11621" y="13088"/>
                  <a:pt x="11000" y="12727"/>
                </a:cubicBezTo>
                <a:lnTo>
                  <a:pt x="2000" y="7000"/>
                </a:lnTo>
                <a:moveTo>
                  <a:pt x="4000" y="4000"/>
                </a:moveTo>
                <a:lnTo>
                  <a:pt x="20000" y="4000"/>
                </a:lnTo>
                <a:cubicBezTo>
                  <a:pt x="21105" y="4000"/>
                  <a:pt x="22000" y="4895"/>
                  <a:pt x="22000" y="6000"/>
                </a:cubicBezTo>
                <a:lnTo>
                  <a:pt x="22000" y="18000"/>
                </a:lnTo>
                <a:cubicBezTo>
                  <a:pt x="22000" y="19105"/>
                  <a:pt x="21105" y="20000"/>
                  <a:pt x="20000" y="20000"/>
                </a:cubicBezTo>
                <a:lnTo>
                  <a:pt x="4000" y="20000"/>
                </a:lnTo>
                <a:cubicBezTo>
                  <a:pt x="2895" y="20000"/>
                  <a:pt x="2000" y="19105"/>
                  <a:pt x="2000" y="18000"/>
                </a:cubicBezTo>
                <a:lnTo>
                  <a:pt x="2000" y="6000"/>
                </a:lnTo>
                <a:cubicBezTo>
                  <a:pt x="2000" y="4895"/>
                  <a:pt x="2895" y="4000"/>
                  <a:pt x="4000" y="4000"/>
                </a:cubicBezTo>
                <a:close/>
              </a:path>
            </a:pathLst>
          </a:custGeom>
          <a:noFill/>
          <a:ln w="15240" cap="rnd">
            <a:solidFill>
              <a:schemeClr val="bg1"/>
            </a:solidFill>
            <a:round/>
          </a:ln>
          <a:effectLst/>
        </p:spPr>
      </p:sp>
      <p:sp>
        <p:nvSpPr>
          <p:cNvPr id="100" name="slot.control.4.icon"/>
          <p:cNvSpPr/>
          <p:nvPr/>
        </p:nvSpPr>
        <p:spPr>
          <a:xfrm>
            <a:off x="9885802" y="5906537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15240" cap="rnd">
            <a:solidFill>
              <a:schemeClr val="bg1"/>
            </a:solidFill>
            <a:round/>
          </a:ln>
          <a:effectLst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maturity-model:indented-ladder-status-rail">
    <p:spTree>
      <p:nvGrpSpPr>
        <p:cNvPr id="1" name=""/>
        <p:cNvGrpSpPr/>
        <p:nvPr/>
      </p:nvGrpSpPr>
      <p:grpSpPr/>
      <p:sp>
        <p:nvSpPr>
          <p:cNvPr id="2" name="slot.ladder.label"/>
          <p:cNvSpPr txBox="1"/>
          <p:nvPr/>
        </p:nvSpPr>
        <p:spPr>
          <a:xfrm>
            <a:off x="457200" y="1051560"/>
            <a:ext cx="6984553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Automation maturity levels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ot.rail.label"/>
          <p:cNvSpPr txBox="1"/>
          <p:nvPr/>
        </p:nvSpPr>
        <p:spPr>
          <a:xfrm>
            <a:off x="7732020" y="1051560"/>
            <a:ext cx="406374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Status today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truct.level.1"/>
          <p:cNvSpPr/>
          <p:nvPr/>
        </p:nvSpPr>
        <p:spPr>
          <a:xfrm>
            <a:off x="457200" y="1353312"/>
            <a:ext cx="6984552" cy="438912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" name="slot.level.1.head"/>
          <p:cNvSpPr txBox="1"/>
          <p:nvPr/>
        </p:nvSpPr>
        <p:spPr>
          <a:xfrm>
            <a:off x="910741" y="1353312"/>
            <a:ext cx="2612404" cy="43891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01  </a:t>
            </a: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Manual entry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ot.level.1.body"/>
          <p:cNvSpPr txBox="1"/>
          <p:nvPr/>
        </p:nvSpPr>
        <p:spPr>
          <a:xfrm>
            <a:off x="3568500" y="1353312"/>
            <a:ext cx="3746260" cy="43891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Clerks key every invoice line by hand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truct.level.2"/>
          <p:cNvSpPr/>
          <p:nvPr/>
        </p:nvSpPr>
        <p:spPr>
          <a:xfrm>
            <a:off x="545640" y="1865376"/>
            <a:ext cx="6896111" cy="43891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" name="slot.level.2.head"/>
          <p:cNvSpPr txBox="1"/>
          <p:nvPr/>
        </p:nvSpPr>
        <p:spPr>
          <a:xfrm>
            <a:off x="999183" y="1865376"/>
            <a:ext cx="2523963" cy="43891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02  </a:t>
            </a: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Standard forms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slot.level.2.body"/>
          <p:cNvSpPr txBox="1"/>
          <p:nvPr/>
        </p:nvSpPr>
        <p:spPr>
          <a:xfrm>
            <a:off x="3568500" y="1865376"/>
            <a:ext cx="3746260" cy="43891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Supplier templates remove most keying errors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truct.level.3"/>
          <p:cNvSpPr/>
          <p:nvPr/>
        </p:nvSpPr>
        <p:spPr>
          <a:xfrm>
            <a:off x="634082" y="2377440"/>
            <a:ext cx="6807670" cy="4389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" name="slot.level.3.head"/>
          <p:cNvSpPr txBox="1"/>
          <p:nvPr/>
        </p:nvSpPr>
        <p:spPr>
          <a:xfrm>
            <a:off x="1087624" y="2377440"/>
            <a:ext cx="2435522" cy="43891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03  </a:t>
            </a: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Rule-based matching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lot.level.3.body"/>
          <p:cNvSpPr txBox="1"/>
          <p:nvPr/>
        </p:nvSpPr>
        <p:spPr>
          <a:xfrm>
            <a:off x="3568500" y="2377440"/>
            <a:ext cx="3746260" cy="43891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Fixed rules clear routine order matches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struct.level.4"/>
          <p:cNvSpPr/>
          <p:nvPr/>
        </p:nvSpPr>
        <p:spPr>
          <a:xfrm>
            <a:off x="722521" y="2889504"/>
            <a:ext cx="6719230" cy="4389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" name="slot.level.4.head"/>
          <p:cNvSpPr txBox="1"/>
          <p:nvPr/>
        </p:nvSpPr>
        <p:spPr>
          <a:xfrm>
            <a:off x="1176065" y="2889504"/>
            <a:ext cx="2347082" cy="43891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04  </a:t>
            </a: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Assisted review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lot.level.4.body"/>
          <p:cNvSpPr txBox="1"/>
          <p:nvPr/>
        </p:nvSpPr>
        <p:spPr>
          <a:xfrm>
            <a:off x="3568500" y="2889504"/>
            <a:ext cx="3746260" cy="43891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Models suggest matches and reviewers approve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truct.level.5"/>
          <p:cNvSpPr/>
          <p:nvPr/>
        </p:nvSpPr>
        <p:spPr>
          <a:xfrm>
            <a:off x="810963" y="3401568"/>
            <a:ext cx="6630789" cy="4389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7" name="slot.level.5.head"/>
          <p:cNvSpPr txBox="1"/>
          <p:nvPr/>
        </p:nvSpPr>
        <p:spPr>
          <a:xfrm>
            <a:off x="1264505" y="3401568"/>
            <a:ext cx="2258641" cy="43891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05  </a:t>
            </a: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Exception agents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lot.level.5.body"/>
          <p:cNvSpPr txBox="1"/>
          <p:nvPr/>
        </p:nvSpPr>
        <p:spPr>
          <a:xfrm>
            <a:off x="3568500" y="3401568"/>
            <a:ext cx="3746260" cy="43891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Agents resolve known exceptions unaided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truct.level.6"/>
          <p:cNvSpPr/>
          <p:nvPr/>
        </p:nvSpPr>
        <p:spPr>
          <a:xfrm>
            <a:off x="899404" y="3913632"/>
            <a:ext cx="6542348" cy="4389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" name="slot.level.6.head"/>
          <p:cNvSpPr txBox="1"/>
          <p:nvPr/>
        </p:nvSpPr>
        <p:spPr>
          <a:xfrm>
            <a:off x="1352946" y="3913632"/>
            <a:ext cx="2170200" cy="43891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06  </a:t>
            </a: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Self-tuning rules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lot.level.6.body"/>
          <p:cNvSpPr txBox="1"/>
          <p:nvPr/>
        </p:nvSpPr>
        <p:spPr>
          <a:xfrm>
            <a:off x="3568500" y="3913632"/>
            <a:ext cx="3746260" cy="43891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Reviewer decisions retune the rules weekly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truct.level.7"/>
          <p:cNvSpPr/>
          <p:nvPr/>
        </p:nvSpPr>
        <p:spPr>
          <a:xfrm>
            <a:off x="987844" y="4425696"/>
            <a:ext cx="6453907" cy="4389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" name="slot.level.7.head"/>
          <p:cNvSpPr txBox="1"/>
          <p:nvPr/>
        </p:nvSpPr>
        <p:spPr>
          <a:xfrm>
            <a:off x="1441387" y="4425696"/>
            <a:ext cx="2081760" cy="43891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07  </a:t>
            </a: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Touchless close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lot.level.7.body"/>
          <p:cNvSpPr txBox="1"/>
          <p:nvPr/>
        </p:nvSpPr>
        <p:spPr>
          <a:xfrm>
            <a:off x="3568500" y="4425696"/>
            <a:ext cx="3746260" cy="43891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Month-end close runs with spot checks only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slot.key.1.head"/>
          <p:cNvSpPr txBox="1"/>
          <p:nvPr/>
        </p:nvSpPr>
        <p:spPr>
          <a:xfrm>
            <a:off x="7732020" y="1353312"/>
            <a:ext cx="1333415" cy="786384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At scale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slot.key.1.body"/>
          <p:cNvSpPr txBox="1"/>
          <p:nvPr/>
        </p:nvSpPr>
        <p:spPr>
          <a:xfrm>
            <a:off x="9183356" y="1353312"/>
            <a:ext cx="2612404" cy="78638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Live in every business unit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and measured monthly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lot.key.2.head"/>
          <p:cNvSpPr txBox="1"/>
          <p:nvPr/>
        </p:nvSpPr>
        <p:spPr>
          <a:xfrm>
            <a:off x="7732020" y="2258568"/>
            <a:ext cx="1333415" cy="786384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In pilot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lot.key.2.body"/>
          <p:cNvSpPr txBox="1"/>
          <p:nvPr/>
        </p:nvSpPr>
        <p:spPr>
          <a:xfrm>
            <a:off x="9183356" y="2258568"/>
            <a:ext cx="2612404" cy="78638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Two business units, with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results due next quarter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lot.key.3.head"/>
          <p:cNvSpPr txBox="1"/>
          <p:nvPr/>
        </p:nvSpPr>
        <p:spPr>
          <a:xfrm>
            <a:off x="7732020" y="3163824"/>
            <a:ext cx="1333415" cy="7863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Not started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slot.key.3.body"/>
          <p:cNvSpPr txBox="1"/>
          <p:nvPr/>
        </p:nvSpPr>
        <p:spPr>
          <a:xfrm>
            <a:off x="9183356" y="3163824"/>
            <a:ext cx="2612404" cy="78638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Funded once the next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rung proves out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lot.key.4.head"/>
          <p:cNvSpPr txBox="1"/>
          <p:nvPr/>
        </p:nvSpPr>
        <p:spPr>
          <a:xfrm>
            <a:off x="7732020" y="4069079"/>
            <a:ext cx="1333415" cy="78638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Next rung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lot.key.4.body"/>
          <p:cNvSpPr txBox="1"/>
          <p:nvPr/>
        </p:nvSpPr>
        <p:spPr>
          <a:xfrm>
            <a:off x="9183356" y="4069079"/>
            <a:ext cx="2612404" cy="78638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Twelve-week build on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ledger first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slot.cards.label"/>
          <p:cNvSpPr txBox="1"/>
          <p:nvPr/>
        </p:nvSpPr>
        <p:spPr>
          <a:xfrm>
            <a:off x="457200" y="5047488"/>
            <a:ext cx="1133856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What reaching level 3 takes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struct.card.1"/>
          <p:cNvSpPr/>
          <p:nvPr/>
        </p:nvSpPr>
        <p:spPr>
          <a:xfrm>
            <a:off x="457200" y="5340096"/>
            <a:ext cx="3628339" cy="89611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anchorCtr="0" anchor="ctr" bIns="45700" lIns="72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b="0" i="0" sz="16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5" name="struct.card.1.band"/>
          <p:cNvSpPr/>
          <p:nvPr/>
        </p:nvSpPr>
        <p:spPr>
          <a:xfrm>
            <a:off x="457200" y="5340096"/>
            <a:ext cx="3628339" cy="29260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6" name="slot.card.1.head"/>
          <p:cNvSpPr txBox="1"/>
          <p:nvPr/>
        </p:nvSpPr>
        <p:spPr>
          <a:xfrm>
            <a:off x="566050" y="5340096"/>
            <a:ext cx="3410639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01  Clean supplier master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slot.card.1.body"/>
          <p:cNvSpPr txBox="1"/>
          <p:nvPr/>
        </p:nvSpPr>
        <p:spPr>
          <a:xfrm>
            <a:off x="1055876" y="5669280"/>
            <a:ext cx="2920813" cy="53035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Duplicate and stale supplier records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merged before any rule goes live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truct.card.2"/>
          <p:cNvSpPr/>
          <p:nvPr/>
        </p:nvSpPr>
        <p:spPr>
          <a:xfrm>
            <a:off x="4312310" y="5340096"/>
            <a:ext cx="3628339" cy="89611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anchorCtr="0" anchor="ctr" bIns="45700" lIns="72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b="0" i="0" sz="16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9" name="struct.card.2.band"/>
          <p:cNvSpPr/>
          <p:nvPr/>
        </p:nvSpPr>
        <p:spPr>
          <a:xfrm>
            <a:off x="4312310" y="5340096"/>
            <a:ext cx="3628339" cy="29260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" name="slot.card.2.head"/>
          <p:cNvSpPr txBox="1"/>
          <p:nvPr/>
        </p:nvSpPr>
        <p:spPr>
          <a:xfrm>
            <a:off x="4421161" y="5340096"/>
            <a:ext cx="3410639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02  Shared rule library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lot.card.2.body"/>
          <p:cNvSpPr txBox="1"/>
          <p:nvPr/>
        </p:nvSpPr>
        <p:spPr>
          <a:xfrm>
            <a:off x="4910986" y="5669280"/>
            <a:ext cx="2920813" cy="53035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owner keeps every matching rule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versioned, tested and documented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struct.card.3"/>
          <p:cNvSpPr/>
          <p:nvPr/>
        </p:nvSpPr>
        <p:spPr>
          <a:xfrm>
            <a:off x="8158350" y="5340096"/>
            <a:ext cx="3628339" cy="89611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anchorCtr="0" anchor="ctr" bIns="45700" lIns="72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b="0" i="0" sz="16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3" name="struct.card.3.band"/>
          <p:cNvSpPr/>
          <p:nvPr/>
        </p:nvSpPr>
        <p:spPr>
          <a:xfrm>
            <a:off x="8158350" y="5340096"/>
            <a:ext cx="3628339" cy="2926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4" name="slot.card.3.head"/>
          <p:cNvSpPr txBox="1"/>
          <p:nvPr/>
        </p:nvSpPr>
        <p:spPr>
          <a:xfrm>
            <a:off x="8267199" y="5340096"/>
            <a:ext cx="3410639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03  Named reviewer roles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lot.card.3.body"/>
          <p:cNvSpPr txBox="1"/>
          <p:nvPr/>
        </p:nvSpPr>
        <p:spPr>
          <a:xfrm>
            <a:off x="8757026" y="5669280"/>
            <a:ext cx="2920813" cy="53035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Held lines cleared by a named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reviewer within one working day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slot.title"/>
          <p:cNvSpPr txBox="1"/>
          <p:nvPr/>
        </p:nvSpPr>
        <p:spPr>
          <a:xfrm>
            <a:off x="457200" y="365760"/>
            <a:ext cx="1133856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Payables run at </a:t>
            </a:r>
            <a:r>
              <a:rPr lang="en-US" sz="2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level 2</a:t>
            </a:r>
            <a:r>
              <a:rPr lang="en-US" sz="2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and rule-based matching is the </a:t>
            </a:r>
            <a:r>
              <a:rPr lang="en-US" sz="2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next rung</a:t>
            </a:r>
            <a:endParaRPr lang="en-US" sz="2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7" name="struct.rail.rule.1"/>
          <p:cNvCxnSpPr/>
          <p:nvPr/>
        </p:nvCxnSpPr>
        <p:spPr>
          <a:xfrm>
            <a:off x="7732020" y="2199132"/>
            <a:ext cx="4063740" cy="0"/>
          </a:xfrm>
          <a:prstGeom prst="straightConnector1">
            <a:avLst/>
          </a:prstGeom>
          <a:noFill/>
          <a:ln cap="flat" cmpd="sng" w="95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cxnSp>
        <p:nvCxnSpPr>
          <p:cNvPr id="48" name="struct.rail.rule.2"/>
          <p:cNvCxnSpPr/>
          <p:nvPr/>
        </p:nvCxnSpPr>
        <p:spPr>
          <a:xfrm>
            <a:off x="7732020" y="4009644"/>
            <a:ext cx="4063740" cy="0"/>
          </a:xfrm>
          <a:prstGeom prst="straightConnector1">
            <a:avLst/>
          </a:prstGeom>
          <a:noFill/>
          <a:ln cap="flat" cmpd="sng" w="95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49" name="slot.level.1.icon"/>
          <p:cNvSpPr/>
          <p:nvPr/>
        </p:nvSpPr>
        <p:spPr>
          <a:xfrm>
            <a:off x="565026" y="1444752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21590" cap="rnd">
            <a:solidFill>
              <a:schemeClr val="bg1"/>
            </a:solidFill>
            <a:round/>
          </a:ln>
          <a:effectLst/>
        </p:spPr>
      </p:sp>
      <p:sp>
        <p:nvSpPr>
          <p:cNvPr id="50" name="slot.level.2.icon"/>
          <p:cNvSpPr/>
          <p:nvPr/>
        </p:nvSpPr>
        <p:spPr>
          <a:xfrm>
            <a:off x="653467" y="1956816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2000"/>
                </a:moveTo>
                <a:lnTo>
                  <a:pt x="15000" y="2000"/>
                </a:lnTo>
                <a:cubicBezTo>
                  <a:pt x="15552" y="2000"/>
                  <a:pt x="16000" y="2448"/>
                  <a:pt x="16000" y="3000"/>
                </a:cubicBezTo>
                <a:lnTo>
                  <a:pt x="16000" y="5000"/>
                </a:lnTo>
                <a:cubicBezTo>
                  <a:pt x="16000" y="5552"/>
                  <a:pt x="15552" y="6000"/>
                  <a:pt x="15000" y="6000"/>
                </a:cubicBezTo>
                <a:lnTo>
                  <a:pt x="9000" y="6000"/>
                </a:lnTo>
                <a:cubicBezTo>
                  <a:pt x="8448" y="6000"/>
                  <a:pt x="8000" y="5552"/>
                  <a:pt x="8000" y="5000"/>
                </a:cubicBezTo>
                <a:lnTo>
                  <a:pt x="8000" y="3000"/>
                </a:lnTo>
                <a:cubicBezTo>
                  <a:pt x="8000" y="2448"/>
                  <a:pt x="8448" y="2000"/>
                  <a:pt x="9000" y="2000"/>
                </a:cubicBezTo>
                <a:close/>
                <a:moveTo>
                  <a:pt x="16000" y="4000"/>
                </a:moveTo>
                <a:lnTo>
                  <a:pt x="18000" y="4000"/>
                </a:lnTo>
                <a:cubicBezTo>
                  <a:pt x="19105" y="4000"/>
                  <a:pt x="20000" y="4895"/>
                  <a:pt x="20000" y="6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lnTo>
                  <a:pt x="6000" y="22000"/>
                </a:lnTo>
                <a:cubicBezTo>
                  <a:pt x="4895" y="22000"/>
                  <a:pt x="4000" y="21105"/>
                  <a:pt x="4000" y="20000"/>
                </a:cubicBezTo>
                <a:lnTo>
                  <a:pt x="4000" y="6000"/>
                </a:lnTo>
                <a:cubicBezTo>
                  <a:pt x="4000" y="4895"/>
                  <a:pt x="4895" y="4000"/>
                  <a:pt x="6000" y="4000"/>
                </a:cubicBezTo>
                <a:lnTo>
                  <a:pt x="8000" y="4000"/>
                </a:lnTo>
                <a:moveTo>
                  <a:pt x="12000" y="11000"/>
                </a:moveTo>
                <a:lnTo>
                  <a:pt x="16000" y="11000"/>
                </a:lnTo>
                <a:moveTo>
                  <a:pt x="12000" y="16000"/>
                </a:moveTo>
                <a:lnTo>
                  <a:pt x="16000" y="16000"/>
                </a:lnTo>
                <a:moveTo>
                  <a:pt x="8000" y="11000"/>
                </a:moveTo>
                <a:lnTo>
                  <a:pt x="8010" y="11000"/>
                </a:lnTo>
                <a:moveTo>
                  <a:pt x="8000" y="16000"/>
                </a:moveTo>
                <a:lnTo>
                  <a:pt x="8010" y="16000"/>
                </a:lnTo>
              </a:path>
            </a:pathLst>
          </a:custGeom>
          <a:noFill/>
          <a:ln w="21590" cap="rnd">
            <a:solidFill>
              <a:schemeClr val="bg1"/>
            </a:solidFill>
            <a:round/>
          </a:ln>
          <a:effectLst/>
        </p:spPr>
      </p:sp>
      <p:sp>
        <p:nvSpPr>
          <p:cNvPr id="51" name="slot.level.3.icon"/>
          <p:cNvSpPr/>
          <p:nvPr/>
        </p:nvSpPr>
        <p:spPr>
          <a:xfrm>
            <a:off x="741908" y="2468880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000" y="5000"/>
                </a:moveTo>
                <a:lnTo>
                  <a:pt x="21000" y="5000"/>
                </a:lnTo>
                <a:moveTo>
                  <a:pt x="13000" y="12000"/>
                </a:moveTo>
                <a:lnTo>
                  <a:pt x="21000" y="12000"/>
                </a:lnTo>
                <a:moveTo>
                  <a:pt x="13000" y="19000"/>
                </a:moveTo>
                <a:lnTo>
                  <a:pt x="21000" y="19000"/>
                </a:lnTo>
                <a:moveTo>
                  <a:pt x="3000" y="17000"/>
                </a:moveTo>
                <a:lnTo>
                  <a:pt x="5000" y="19000"/>
                </a:lnTo>
                <a:lnTo>
                  <a:pt x="9000" y="15000"/>
                </a:lnTo>
                <a:moveTo>
                  <a:pt x="3000" y="7000"/>
                </a:moveTo>
                <a:lnTo>
                  <a:pt x="5000" y="9000"/>
                </a:lnTo>
                <a:lnTo>
                  <a:pt x="9000" y="5000"/>
                </a:lnTo>
              </a:path>
            </a:pathLst>
          </a:custGeom>
          <a:noFill/>
          <a:ln w="21590" cap="rnd">
            <a:solidFill>
              <a:schemeClr val="bg1"/>
            </a:solidFill>
            <a:round/>
          </a:ln>
          <a:effectLst/>
        </p:spPr>
      </p:sp>
      <p:sp>
        <p:nvSpPr>
          <p:cNvPr id="52" name="slot.level.4.icon"/>
          <p:cNvSpPr/>
          <p:nvPr/>
        </p:nvSpPr>
        <p:spPr>
          <a:xfrm>
            <a:off x="830348" y="2980944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21590" cap="rnd">
            <a:solidFill>
              <a:schemeClr val="accent1"/>
            </a:solidFill>
            <a:round/>
          </a:ln>
          <a:effectLst/>
        </p:spPr>
      </p:sp>
      <p:sp>
        <p:nvSpPr>
          <p:cNvPr id="53" name="slot.level.5.icon"/>
          <p:cNvSpPr/>
          <p:nvPr/>
        </p:nvSpPr>
        <p:spPr>
          <a:xfrm>
            <a:off x="918789" y="3493008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21590" cap="rnd">
            <a:solidFill>
              <a:schemeClr val="accent1"/>
            </a:solidFill>
            <a:round/>
          </a:ln>
          <a:effectLst/>
        </p:spPr>
      </p:sp>
      <p:sp>
        <p:nvSpPr>
          <p:cNvPr id="54" name="slot.level.6.icon"/>
          <p:cNvSpPr/>
          <p:nvPr/>
        </p:nvSpPr>
        <p:spPr>
          <a:xfrm>
            <a:off x="1007230" y="4005072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12000"/>
                </a:moveTo>
                <a:cubicBezTo>
                  <a:pt x="3000" y="7029"/>
                  <a:pt x="7029" y="3000"/>
                  <a:pt x="12000" y="3000"/>
                </a:cubicBezTo>
                <a:cubicBezTo>
                  <a:pt x="14516" y="3009"/>
                  <a:pt x="16931" y="3991"/>
                  <a:pt x="18740" y="5740"/>
                </a:cubicBezTo>
                <a:lnTo>
                  <a:pt x="21000" y="8000"/>
                </a:lnTo>
                <a:moveTo>
                  <a:pt x="21000" y="3000"/>
                </a:moveTo>
                <a:lnTo>
                  <a:pt x="21000" y="8000"/>
                </a:lnTo>
                <a:lnTo>
                  <a:pt x="16000" y="8000"/>
                </a:lnTo>
                <a:moveTo>
                  <a:pt x="21000" y="12000"/>
                </a:moveTo>
                <a:cubicBezTo>
                  <a:pt x="21000" y="16971"/>
                  <a:pt x="16971" y="21000"/>
                  <a:pt x="12000" y="21000"/>
                </a:cubicBezTo>
                <a:cubicBezTo>
                  <a:pt x="9484" y="20991"/>
                  <a:pt x="7069" y="20009"/>
                  <a:pt x="5260" y="18260"/>
                </a:cubicBezTo>
                <a:lnTo>
                  <a:pt x="3000" y="16000"/>
                </a:lnTo>
                <a:moveTo>
                  <a:pt x="8000" y="16000"/>
                </a:moveTo>
                <a:lnTo>
                  <a:pt x="3000" y="16000"/>
                </a:lnTo>
                <a:lnTo>
                  <a:pt x="3000" y="21000"/>
                </a:lnTo>
              </a:path>
            </a:pathLst>
          </a:custGeom>
          <a:noFill/>
          <a:ln w="21590" cap="rnd">
            <a:solidFill>
              <a:schemeClr val="accent1"/>
            </a:solidFill>
            <a:round/>
          </a:ln>
          <a:effectLst/>
        </p:spPr>
      </p:sp>
      <p:sp>
        <p:nvSpPr>
          <p:cNvPr id="55" name="slot.level.7.icon"/>
          <p:cNvSpPr/>
          <p:nvPr/>
        </p:nvSpPr>
        <p:spPr>
          <a:xfrm>
            <a:off x="1095671" y="4517136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8000" y="2000"/>
                </a:moveTo>
                <a:lnTo>
                  <a:pt x="8000" y="5000"/>
                </a:lnTo>
                <a:moveTo>
                  <a:pt x="16000" y="2000"/>
                </a:moveTo>
                <a:lnTo>
                  <a:pt x="16000" y="5000"/>
                </a:lnTo>
                <a:moveTo>
                  <a:pt x="5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  <a:moveTo>
                  <a:pt x="3000" y="9000"/>
                </a:moveTo>
                <a:lnTo>
                  <a:pt x="21000" y="9000"/>
                </a:lnTo>
                <a:moveTo>
                  <a:pt x="9000" y="15000"/>
                </a:moveTo>
                <a:lnTo>
                  <a:pt x="11000" y="17000"/>
                </a:lnTo>
                <a:lnTo>
                  <a:pt x="15000" y="13000"/>
                </a:lnTo>
              </a:path>
            </a:pathLst>
          </a:custGeom>
          <a:noFill/>
          <a:ln w="21590" cap="rnd">
            <a:solidFill>
              <a:schemeClr val="accent1"/>
            </a:solidFill>
            <a:round/>
          </a:ln>
          <a:effectLst/>
        </p:spPr>
      </p:sp>
      <p:sp>
        <p:nvSpPr>
          <p:cNvPr id="56" name="slot.card.1.icon"/>
          <p:cNvSpPr/>
          <p:nvPr/>
        </p:nvSpPr>
        <p:spPr>
          <a:xfrm>
            <a:off x="582729" y="575157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30480" cap="rnd">
            <a:solidFill>
              <a:schemeClr val="accent1"/>
            </a:solidFill>
            <a:round/>
          </a:ln>
          <a:effectLst/>
        </p:spPr>
      </p:sp>
      <p:sp>
        <p:nvSpPr>
          <p:cNvPr id="57" name="slot.card.2.icon"/>
          <p:cNvSpPr/>
          <p:nvPr/>
        </p:nvSpPr>
        <p:spPr>
          <a:xfrm>
            <a:off x="4437839" y="575157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6000"/>
                </a:moveTo>
                <a:lnTo>
                  <a:pt x="20000" y="20000"/>
                </a:lnTo>
                <a:moveTo>
                  <a:pt x="12000" y="6000"/>
                </a:moveTo>
                <a:lnTo>
                  <a:pt x="12000" y="20000"/>
                </a:lnTo>
                <a:moveTo>
                  <a:pt x="8000" y="8000"/>
                </a:moveTo>
                <a:lnTo>
                  <a:pt x="8000" y="20000"/>
                </a:lnTo>
                <a:moveTo>
                  <a:pt x="4000" y="4000"/>
                </a:moveTo>
                <a:lnTo>
                  <a:pt x="4000" y="20000"/>
                </a:lnTo>
              </a:path>
            </a:pathLst>
          </a:custGeom>
          <a:noFill/>
          <a:ln w="30480" cap="rnd">
            <a:solidFill>
              <a:schemeClr val="accent1"/>
            </a:solidFill>
            <a:round/>
          </a:ln>
          <a:effectLst/>
        </p:spPr>
      </p:sp>
      <p:sp>
        <p:nvSpPr>
          <p:cNvPr id="58" name="slot.card.3.icon"/>
          <p:cNvSpPr/>
          <p:nvPr/>
        </p:nvSpPr>
        <p:spPr>
          <a:xfrm>
            <a:off x="8283879" y="575157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30480" cap="rnd">
            <a:solidFill>
              <a:schemeClr val="accent1"/>
            </a:solidFill>
            <a:round/>
          </a:ln>
          <a:effectLst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ered-architecture:source-band-stage-cards-enablers">
    <p:spTree>
      <p:nvGrpSpPr>
        <p:cNvPr id="1" name=""/>
        <p:cNvGrpSpPr/>
        <p:nvPr/>
      </p:nvGrpSpPr>
      <p:grpSpPr/>
      <p:sp>
        <p:nvSpPr>
          <p:cNvPr id="2" name="struct.source.bar"/>
          <p:cNvSpPr/>
          <p:nvPr/>
        </p:nvSpPr>
        <p:spPr>
          <a:xfrm>
            <a:off x="460516" y="1005840"/>
            <a:ext cx="11319822" cy="283464"/>
          </a:xfrm>
          <a:prstGeom prst="round2SameRect">
            <a:avLst>
              <a:gd fmla="val 16129" name="adj1"/>
              <a:gd fmla="val 0" name="adj2"/>
            </a:avLst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slot.source.head"/>
          <p:cNvSpPr txBox="1"/>
          <p:nvPr/>
        </p:nvSpPr>
        <p:spPr>
          <a:xfrm>
            <a:off x="667148" y="1005840"/>
            <a:ext cx="10906558" cy="28346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Source systems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truct.source.frame"/>
          <p:cNvSpPr/>
          <p:nvPr/>
        </p:nvSpPr>
        <p:spPr>
          <a:xfrm rot="10800000">
            <a:off x="460516" y="1289304"/>
            <a:ext cx="11319822" cy="978408"/>
          </a:xfrm>
          <a:prstGeom prst="round2SameRect">
            <a:avLst>
              <a:gd fmla="val 4673" name="adj1"/>
              <a:gd fmla="val 0" name="adj2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slot.title"/>
          <p:cNvSpPr txBox="1"/>
          <p:nvPr/>
        </p:nvSpPr>
        <p:spPr>
          <a:xfrm>
            <a:off x="457200" y="182880"/>
            <a:ext cx="11338560" cy="74980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Four shared stages</a:t>
            </a:r>
            <a:r>
              <a:rPr lang="en-US" sz="2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turn twelve sources into </a:t>
            </a:r>
            <a:r>
              <a:rPr lang="en-US" sz="2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governed analytics</a:t>
            </a:r>
            <a:endParaRPr lang="en-US" sz="2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truct.source.1.strip"/>
          <p:cNvSpPr/>
          <p:nvPr/>
        </p:nvSpPr>
        <p:spPr>
          <a:xfrm>
            <a:off x="595276" y="1353312"/>
            <a:ext cx="2452628" cy="2468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9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lot.source.1.head"/>
          <p:cNvSpPr txBox="1"/>
          <p:nvPr/>
        </p:nvSpPr>
        <p:spPr>
          <a:xfrm>
            <a:off x="685116" y="1353312"/>
            <a:ext cx="2272948" cy="24688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Core operations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" name="struct.source.rule.1"/>
          <p:cNvCxnSpPr/>
          <p:nvPr/>
        </p:nvCxnSpPr>
        <p:spPr>
          <a:xfrm>
            <a:off x="3254535" y="1371600"/>
            <a:ext cx="0" cy="859536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9" name="struct.source.2.strip"/>
          <p:cNvSpPr/>
          <p:nvPr/>
        </p:nvSpPr>
        <p:spPr>
          <a:xfrm>
            <a:off x="3461167" y="1353312"/>
            <a:ext cx="2452628" cy="2468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9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slot.source.2.head"/>
          <p:cNvSpPr txBox="1"/>
          <p:nvPr/>
        </p:nvSpPr>
        <p:spPr>
          <a:xfrm>
            <a:off x="3551007" y="1353312"/>
            <a:ext cx="2272948" cy="24688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Customer channels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1" name="struct.source.rule.2"/>
          <p:cNvCxnSpPr/>
          <p:nvPr/>
        </p:nvCxnSpPr>
        <p:spPr>
          <a:xfrm>
            <a:off x="6120427" y="1371600"/>
            <a:ext cx="0" cy="859536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12" name="struct.source.3.strip"/>
          <p:cNvSpPr/>
          <p:nvPr/>
        </p:nvSpPr>
        <p:spPr>
          <a:xfrm>
            <a:off x="6327058" y="1353312"/>
            <a:ext cx="2452628" cy="2468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9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slot.source.3.head"/>
          <p:cNvSpPr txBox="1"/>
          <p:nvPr/>
        </p:nvSpPr>
        <p:spPr>
          <a:xfrm>
            <a:off x="6416898" y="1353312"/>
            <a:ext cx="2272948" cy="24688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Event streams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4" name="struct.source.rule.3"/>
          <p:cNvCxnSpPr/>
          <p:nvPr/>
        </p:nvCxnSpPr>
        <p:spPr>
          <a:xfrm>
            <a:off x="8986318" y="1371600"/>
            <a:ext cx="0" cy="859536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15" name="struct.source.4.strip"/>
          <p:cNvSpPr/>
          <p:nvPr/>
        </p:nvSpPr>
        <p:spPr>
          <a:xfrm>
            <a:off x="9192950" y="1353312"/>
            <a:ext cx="2452628" cy="2468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9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slot.source.4.head"/>
          <p:cNvSpPr txBox="1"/>
          <p:nvPr/>
        </p:nvSpPr>
        <p:spPr>
          <a:xfrm>
            <a:off x="9282790" y="1353312"/>
            <a:ext cx="2272948" cy="24688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External feeds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truct.platform.bar"/>
          <p:cNvSpPr/>
          <p:nvPr/>
        </p:nvSpPr>
        <p:spPr>
          <a:xfrm>
            <a:off x="457200" y="2601566"/>
            <a:ext cx="11320089" cy="280393"/>
          </a:xfrm>
          <a:prstGeom prst="round2SameRect">
            <a:avLst>
              <a:gd fmla="val 16306" name="adj1"/>
              <a:gd fmla="val 0" name="adj2"/>
            </a:avLst>
          </a:prstGeom>
          <a:solidFill>
            <a:schemeClr val="accent1"/>
          </a:solidFill>
          <a:ln w="9525">
            <a:solidFill>
              <a:schemeClr val="accent1"/>
            </a:solidFill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slot.platform.head"/>
          <p:cNvSpPr txBox="1"/>
          <p:nvPr/>
        </p:nvSpPr>
        <p:spPr>
          <a:xfrm>
            <a:off x="667148" y="2606040"/>
            <a:ext cx="10906558" cy="28346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Shared data platform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truct.platform.frame"/>
          <p:cNvSpPr/>
          <p:nvPr/>
        </p:nvSpPr>
        <p:spPr>
          <a:xfrm rot="10800000">
            <a:off x="457274" y="2880295"/>
            <a:ext cx="11320089" cy="2259944"/>
          </a:xfrm>
          <a:prstGeom prst="round2SameRect">
            <a:avLst>
              <a:gd fmla="val 2023" name="adj1"/>
              <a:gd fmla="val 0" name="adj2"/>
            </a:avLst>
          </a:prstGeom>
          <a:noFill/>
          <a:ln w="9525">
            <a:solidFill>
              <a:schemeClr val="accent1"/>
            </a:solidFill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struct.enabler.strip"/>
          <p:cNvSpPr/>
          <p:nvPr/>
        </p:nvSpPr>
        <p:spPr>
          <a:xfrm>
            <a:off x="457201" y="5211488"/>
            <a:ext cx="11338559" cy="1037174"/>
          </a:xfrm>
          <a:prstGeom prst="roundRect">
            <a:avLst>
              <a:gd fmla="val 4408" name="adj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struct.stage.1.card"/>
          <p:cNvSpPr/>
          <p:nvPr/>
        </p:nvSpPr>
        <p:spPr>
          <a:xfrm>
            <a:off x="595276" y="2971800"/>
            <a:ext cx="2452628" cy="1856231"/>
          </a:xfrm>
          <a:prstGeom prst="roundRect">
            <a:avLst>
              <a:gd fmla="val 2463" name="adj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struct.stage.2.card"/>
          <p:cNvSpPr/>
          <p:nvPr/>
        </p:nvSpPr>
        <p:spPr>
          <a:xfrm>
            <a:off x="3461167" y="2971800"/>
            <a:ext cx="2452628" cy="1856231"/>
          </a:xfrm>
          <a:prstGeom prst="roundRect">
            <a:avLst>
              <a:gd fmla="val 2463" name="adj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struct.stage.3.card"/>
          <p:cNvSpPr/>
          <p:nvPr/>
        </p:nvSpPr>
        <p:spPr>
          <a:xfrm>
            <a:off x="6327058" y="2971800"/>
            <a:ext cx="2452628" cy="1856231"/>
          </a:xfrm>
          <a:prstGeom prst="roundRect">
            <a:avLst>
              <a:gd fmla="val 2463" name="adj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struct.stage.4.card"/>
          <p:cNvSpPr/>
          <p:nvPr/>
        </p:nvSpPr>
        <p:spPr>
          <a:xfrm>
            <a:off x="9192950" y="2971800"/>
            <a:ext cx="2452628" cy="1856231"/>
          </a:xfrm>
          <a:prstGeom prst="roundRect">
            <a:avLst>
              <a:gd fmla="val 2463" name="adj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struct.enabler.1.card"/>
          <p:cNvSpPr/>
          <p:nvPr/>
        </p:nvSpPr>
        <p:spPr>
          <a:xfrm>
            <a:off x="656561" y="5520822"/>
            <a:ext cx="3512156" cy="649584"/>
          </a:xfrm>
          <a:prstGeom prst="roundRect">
            <a:avLst>
              <a:gd fmla="val 7038" name="adj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struct.enabler.2.card"/>
          <p:cNvSpPr/>
          <p:nvPr/>
        </p:nvSpPr>
        <p:spPr>
          <a:xfrm>
            <a:off x="4361739" y="5520822"/>
            <a:ext cx="3512156" cy="649584"/>
          </a:xfrm>
          <a:prstGeom prst="roundRect">
            <a:avLst>
              <a:gd fmla="val 7038" name="adj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struct.enabler.3.card"/>
          <p:cNvSpPr/>
          <p:nvPr/>
        </p:nvSpPr>
        <p:spPr>
          <a:xfrm>
            <a:off x="8066917" y="5520822"/>
            <a:ext cx="3512156" cy="649584"/>
          </a:xfrm>
          <a:prstGeom prst="roundRect">
            <a:avLst>
              <a:gd fmla="val 7038" name="adj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slot.enabler.head"/>
          <p:cNvSpPr txBox="1"/>
          <p:nvPr/>
        </p:nvSpPr>
        <p:spPr>
          <a:xfrm>
            <a:off x="3425231" y="5266944"/>
            <a:ext cx="5390391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Cross-cutting enablers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truct.enabler.1.disc"/>
          <p:cNvSpPr/>
          <p:nvPr/>
        </p:nvSpPr>
        <p:spPr>
          <a:xfrm>
            <a:off x="757669" y="5612445"/>
            <a:ext cx="466388" cy="46638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slot.enabler.1.head"/>
          <p:cNvSpPr/>
          <p:nvPr/>
        </p:nvSpPr>
        <p:spPr>
          <a:xfrm>
            <a:off x="1302654" y="5568696"/>
            <a:ext cx="2767068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Data governance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lot.enabler.1.body"/>
          <p:cNvSpPr/>
          <p:nvPr/>
        </p:nvSpPr>
        <p:spPr>
          <a:xfrm>
            <a:off x="1302654" y="5769864"/>
            <a:ext cx="2785036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Named owners, shared definitions and quality targets for each shared table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truct.enabler.2.disc"/>
          <p:cNvSpPr/>
          <p:nvPr/>
        </p:nvSpPr>
        <p:spPr>
          <a:xfrm>
            <a:off x="4461669" y="5612445"/>
            <a:ext cx="466388" cy="46638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slot.enabler.2.head"/>
          <p:cNvSpPr/>
          <p:nvPr/>
        </p:nvSpPr>
        <p:spPr>
          <a:xfrm>
            <a:off x="5006653" y="5568696"/>
            <a:ext cx="2767068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Platform operations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slot.enabler.2.body"/>
          <p:cNvSpPr/>
          <p:nvPr/>
        </p:nvSpPr>
        <p:spPr>
          <a:xfrm>
            <a:off x="5006653" y="5769864"/>
            <a:ext cx="2785036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Automated releases, uptime monitoring and cost controls across all four stages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truct.enabler.3.disc"/>
          <p:cNvSpPr/>
          <p:nvPr/>
        </p:nvSpPr>
        <p:spPr>
          <a:xfrm>
            <a:off x="8165670" y="5612445"/>
            <a:ext cx="466388" cy="46638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slot.enabler.3.head"/>
          <p:cNvSpPr/>
          <p:nvPr/>
        </p:nvSpPr>
        <p:spPr>
          <a:xfrm>
            <a:off x="8710655" y="5568696"/>
            <a:ext cx="2767068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Security and access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slot.enabler.3.body"/>
          <p:cNvSpPr/>
          <p:nvPr/>
        </p:nvSpPr>
        <p:spPr>
          <a:xfrm>
            <a:off x="8710659" y="5769864"/>
            <a:ext cx="2785036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Role-based access, masked fields and an audit trail on every layer of the stack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truct.stage.1.strip"/>
          <p:cNvSpPr/>
          <p:nvPr/>
        </p:nvSpPr>
        <p:spPr>
          <a:xfrm>
            <a:off x="595276" y="2971800"/>
            <a:ext cx="2452628" cy="438912"/>
          </a:xfrm>
          <a:prstGeom prst="round2SameRect">
            <a:avLst>
              <a:gd fmla="val 10417" name="adj1"/>
              <a:gd fmla="val 0" name="adj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struct.stage.2.strip"/>
          <p:cNvSpPr/>
          <p:nvPr/>
        </p:nvSpPr>
        <p:spPr>
          <a:xfrm>
            <a:off x="3461167" y="2971800"/>
            <a:ext cx="2452628" cy="438912"/>
          </a:xfrm>
          <a:prstGeom prst="round2SameRect">
            <a:avLst>
              <a:gd fmla="val 10417" name="adj1"/>
              <a:gd fmla="val 0" name="adj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struct.stage.3.strip"/>
          <p:cNvSpPr/>
          <p:nvPr/>
        </p:nvSpPr>
        <p:spPr>
          <a:xfrm>
            <a:off x="6327058" y="2971800"/>
            <a:ext cx="2452628" cy="438912"/>
          </a:xfrm>
          <a:prstGeom prst="round2SameRect">
            <a:avLst>
              <a:gd fmla="val 10417" name="adj1"/>
              <a:gd fmla="val 0" name="adj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struct.stage.4.strip"/>
          <p:cNvSpPr/>
          <p:nvPr/>
        </p:nvSpPr>
        <p:spPr>
          <a:xfrm>
            <a:off x="9192950" y="2971800"/>
            <a:ext cx="2452628" cy="438912"/>
          </a:xfrm>
          <a:prstGeom prst="round2SameRect">
            <a:avLst>
              <a:gd fmla="val 10417" name="adj1"/>
              <a:gd fmla="val 0" name="adj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struct.join.1.disc"/>
          <p:cNvSpPr/>
          <p:nvPr/>
        </p:nvSpPr>
        <p:spPr>
          <a:xfrm>
            <a:off x="3108231" y="3867912"/>
            <a:ext cx="292608" cy="292608"/>
          </a:xfrm>
          <a:prstGeom prst="ellipse">
            <a:avLst/>
          </a:prstGeom>
          <a:solidFill>
            <a:schemeClr val="accent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struct.join.2.disc"/>
          <p:cNvSpPr/>
          <p:nvPr/>
        </p:nvSpPr>
        <p:spPr>
          <a:xfrm>
            <a:off x="5974123" y="3867912"/>
            <a:ext cx="292608" cy="292608"/>
          </a:xfrm>
          <a:prstGeom prst="ellipse">
            <a:avLst/>
          </a:prstGeom>
          <a:solidFill>
            <a:schemeClr val="accent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struct.join.3.disc"/>
          <p:cNvSpPr/>
          <p:nvPr/>
        </p:nvSpPr>
        <p:spPr>
          <a:xfrm>
            <a:off x="8840014" y="3867912"/>
            <a:ext cx="292608" cy="292608"/>
          </a:xfrm>
          <a:prstGeom prst="ellipse">
            <a:avLst/>
          </a:prstGeom>
          <a:solidFill>
            <a:schemeClr val="accent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slot.seam"/>
          <p:cNvSpPr txBox="1"/>
          <p:nvPr/>
        </p:nvSpPr>
        <p:spPr>
          <a:xfrm>
            <a:off x="3407263" y="2313432"/>
            <a:ext cx="5417343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Raw records flow down, trusted signals flow back up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struct.seam.down"/>
          <p:cNvSpPr/>
          <p:nvPr/>
        </p:nvSpPr>
        <p:spPr>
          <a:xfrm>
            <a:off x="3090984" y="2331720"/>
            <a:ext cx="210312" cy="20116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bg1">
              <a:lumMod val="55000"/>
            </a:schemeClr>
          </a:solidFill>
          <a:ln>
            <a:noFill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struct.seam.up"/>
          <p:cNvSpPr/>
          <p:nvPr/>
        </p:nvSpPr>
        <p:spPr>
          <a:xfrm flipH="1" rot="10800000">
            <a:off x="8930574" y="2331720"/>
            <a:ext cx="210312" cy="20116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bg1">
              <a:lumMod val="55000"/>
            </a:schemeClr>
          </a:solidFill>
          <a:ln>
            <a:noFill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slot.stage.1.head"/>
          <p:cNvSpPr txBox="1"/>
          <p:nvPr/>
        </p:nvSpPr>
        <p:spPr>
          <a:xfrm>
            <a:off x="1062443" y="3017520"/>
            <a:ext cx="1895621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Ingest and land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slot.stage.2.head"/>
          <p:cNvSpPr txBox="1"/>
          <p:nvPr/>
        </p:nvSpPr>
        <p:spPr>
          <a:xfrm>
            <a:off x="3928334" y="3017520"/>
            <a:ext cx="1895621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Clean and model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slot.stage.3.head"/>
          <p:cNvSpPr txBox="1"/>
          <p:nvPr/>
        </p:nvSpPr>
        <p:spPr>
          <a:xfrm>
            <a:off x="6794226" y="3017520"/>
            <a:ext cx="1895621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Analyze and predict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slot.stage.4.head"/>
          <p:cNvSpPr txBox="1"/>
          <p:nvPr/>
        </p:nvSpPr>
        <p:spPr>
          <a:xfrm>
            <a:off x="9660117" y="3017520"/>
            <a:ext cx="1895621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Serve and govern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struct.join.1.chevron"/>
          <p:cNvSpPr/>
          <p:nvPr/>
        </p:nvSpPr>
        <p:spPr>
          <a:xfrm>
            <a:off x="3218599" y="3931920"/>
            <a:ext cx="98824" cy="164592"/>
          </a:xfrm>
          <a:prstGeom prst="chevron">
            <a:avLst>
              <a:gd fmla="val 50000" name="adj"/>
            </a:avLst>
          </a:prstGeom>
          <a:solidFill>
            <a:schemeClr val="bg1"/>
          </a:solidFill>
          <a:ln>
            <a:noFill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struct.join.2.chevron"/>
          <p:cNvSpPr/>
          <p:nvPr/>
        </p:nvSpPr>
        <p:spPr>
          <a:xfrm>
            <a:off x="6084491" y="3931920"/>
            <a:ext cx="98824" cy="164592"/>
          </a:xfrm>
          <a:prstGeom prst="chevron">
            <a:avLst>
              <a:gd fmla="val 50000" name="adj"/>
            </a:avLst>
          </a:prstGeom>
          <a:solidFill>
            <a:schemeClr val="bg1"/>
          </a:solidFill>
          <a:ln>
            <a:noFill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struct.join.3.chevron"/>
          <p:cNvSpPr/>
          <p:nvPr/>
        </p:nvSpPr>
        <p:spPr>
          <a:xfrm>
            <a:off x="8950382" y="3931920"/>
            <a:ext cx="98824" cy="164592"/>
          </a:xfrm>
          <a:prstGeom prst="chevron">
            <a:avLst>
              <a:gd fmla="val 50000" name="adj"/>
            </a:avLst>
          </a:prstGeom>
          <a:solidFill>
            <a:schemeClr val="bg1"/>
          </a:solidFill>
          <a:ln>
            <a:noFill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slot.stage.1.outcome"/>
          <p:cNvSpPr txBox="1"/>
          <p:nvPr/>
        </p:nvSpPr>
        <p:spPr>
          <a:xfrm>
            <a:off x="595276" y="4873752"/>
            <a:ext cx="2452628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Every source landed daily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lot.stage.2.outcome"/>
          <p:cNvSpPr txBox="1"/>
          <p:nvPr/>
        </p:nvSpPr>
        <p:spPr>
          <a:xfrm>
            <a:off x="3461167" y="4873752"/>
            <a:ext cx="2452628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One version of each record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slot.stage.3.outcome"/>
          <p:cNvSpPr txBox="1"/>
          <p:nvPr/>
        </p:nvSpPr>
        <p:spPr>
          <a:xfrm>
            <a:off x="6327058" y="4873752"/>
            <a:ext cx="2452628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Models retrained on schedule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slot.stage.4.outcome"/>
          <p:cNvSpPr txBox="1"/>
          <p:nvPr/>
        </p:nvSpPr>
        <p:spPr>
          <a:xfrm>
            <a:off x="9192950" y="4873752"/>
            <a:ext cx="2452628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One governed metrics layer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9" name="struct.outcome.rule.1"/>
          <p:cNvCxnSpPr/>
          <p:nvPr/>
        </p:nvCxnSpPr>
        <p:spPr>
          <a:xfrm>
            <a:off x="3254535" y="4901184"/>
            <a:ext cx="0" cy="164592"/>
          </a:xfrm>
          <a:prstGeom prst="straightConnector1">
            <a:avLst/>
          </a:prstGeom>
          <a:noFill/>
          <a:ln cap="flat" cmpd="sng" w="119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cxnSp>
        <p:nvCxnSpPr>
          <p:cNvPr id="60" name="struct.outcome.rule.2"/>
          <p:cNvCxnSpPr/>
          <p:nvPr/>
        </p:nvCxnSpPr>
        <p:spPr>
          <a:xfrm>
            <a:off x="6120427" y="4901184"/>
            <a:ext cx="0" cy="164592"/>
          </a:xfrm>
          <a:prstGeom prst="straightConnector1">
            <a:avLst/>
          </a:prstGeom>
          <a:noFill/>
          <a:ln cap="flat" cmpd="sng" w="119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cxnSp>
        <p:nvCxnSpPr>
          <p:cNvPr id="61" name="struct.outcome.rule.3"/>
          <p:cNvCxnSpPr/>
          <p:nvPr/>
        </p:nvCxnSpPr>
        <p:spPr>
          <a:xfrm>
            <a:off x="8986318" y="4901184"/>
            <a:ext cx="0" cy="164592"/>
          </a:xfrm>
          <a:prstGeom prst="straightConnector1">
            <a:avLst/>
          </a:prstGeom>
          <a:noFill/>
          <a:ln cap="flat" cmpd="sng" w="119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62" name="slot.source.1.item.1.icon"/>
          <p:cNvSpPr/>
          <p:nvPr/>
        </p:nvSpPr>
        <p:spPr>
          <a:xfrm>
            <a:off x="885175" y="1682496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000" y="18000"/>
                </a:moveTo>
                <a:lnTo>
                  <a:pt x="10000" y="11000"/>
                </a:lnTo>
                <a:moveTo>
                  <a:pt x="11119" y="2205"/>
                </a:moveTo>
                <a:cubicBezTo>
                  <a:pt x="11675" y="1932"/>
                  <a:pt x="12325" y="1932"/>
                  <a:pt x="12881" y="2205"/>
                </a:cubicBezTo>
                <a:lnTo>
                  <a:pt x="20721" y="6051"/>
                </a:lnTo>
                <a:cubicBezTo>
                  <a:pt x="20930" y="6153"/>
                  <a:pt x="21041" y="6387"/>
                  <a:pt x="20988" y="6613"/>
                </a:cubicBezTo>
                <a:cubicBezTo>
                  <a:pt x="20935" y="6840"/>
                  <a:pt x="20733" y="7000"/>
                  <a:pt x="20500" y="7000"/>
                </a:cubicBezTo>
                <a:lnTo>
                  <a:pt x="3500" y="7000"/>
                </a:lnTo>
                <a:cubicBezTo>
                  <a:pt x="3267" y="7000"/>
                  <a:pt x="3065" y="6840"/>
                  <a:pt x="3013" y="6613"/>
                </a:cubicBezTo>
                <a:cubicBezTo>
                  <a:pt x="2960" y="6386"/>
                  <a:pt x="3071" y="6153"/>
                  <a:pt x="3280" y="6051"/>
                </a:cubicBezTo>
                <a:close/>
                <a:moveTo>
                  <a:pt x="14000" y="18000"/>
                </a:moveTo>
                <a:lnTo>
                  <a:pt x="14000" y="11000"/>
                </a:lnTo>
                <a:moveTo>
                  <a:pt x="18000" y="18000"/>
                </a:moveTo>
                <a:lnTo>
                  <a:pt x="18000" y="11000"/>
                </a:lnTo>
                <a:moveTo>
                  <a:pt x="3000" y="22000"/>
                </a:moveTo>
                <a:lnTo>
                  <a:pt x="21000" y="22000"/>
                </a:lnTo>
                <a:moveTo>
                  <a:pt x="6000" y="18000"/>
                </a:moveTo>
                <a:lnTo>
                  <a:pt x="6000" y="11000"/>
                </a:lnTo>
              </a:path>
            </a:pathLst>
          </a:custGeom>
          <a:noFill/>
          <a:ln w="19685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63" name="slot.source.1.item.1"/>
          <p:cNvSpPr txBox="1"/>
          <p:nvPr/>
        </p:nvSpPr>
        <p:spPr>
          <a:xfrm>
            <a:off x="613244" y="1947672"/>
            <a:ext cx="781607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Finance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slot.source.1.item.2.icon"/>
          <p:cNvSpPr/>
          <p:nvPr/>
        </p:nvSpPr>
        <p:spPr>
          <a:xfrm>
            <a:off x="1702718" y="1682496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000" y="18000"/>
                </a:moveTo>
                <a:lnTo>
                  <a:pt x="14000" y="6000"/>
                </a:lnTo>
                <a:cubicBezTo>
                  <a:pt x="14000" y="4895"/>
                  <a:pt x="13105" y="4000"/>
                  <a:pt x="12000" y="4000"/>
                </a:cubicBezTo>
                <a:lnTo>
                  <a:pt x="4000" y="4000"/>
                </a:lnTo>
                <a:cubicBezTo>
                  <a:pt x="2895" y="4000"/>
                  <a:pt x="2000" y="4895"/>
                  <a:pt x="2000" y="6000"/>
                </a:cubicBezTo>
                <a:lnTo>
                  <a:pt x="2000" y="17000"/>
                </a:lnTo>
                <a:cubicBezTo>
                  <a:pt x="2000" y="17552"/>
                  <a:pt x="2448" y="18000"/>
                  <a:pt x="3000" y="18000"/>
                </a:cubicBezTo>
                <a:lnTo>
                  <a:pt x="5000" y="18000"/>
                </a:lnTo>
                <a:moveTo>
                  <a:pt x="15000" y="18000"/>
                </a:moveTo>
                <a:lnTo>
                  <a:pt x="9000" y="18000"/>
                </a:lnTo>
                <a:moveTo>
                  <a:pt x="19000" y="18000"/>
                </a:moveTo>
                <a:lnTo>
                  <a:pt x="21000" y="18000"/>
                </a:lnTo>
                <a:cubicBezTo>
                  <a:pt x="21552" y="18000"/>
                  <a:pt x="22000" y="17552"/>
                  <a:pt x="22000" y="17000"/>
                </a:cubicBezTo>
                <a:lnTo>
                  <a:pt x="22000" y="13350"/>
                </a:lnTo>
                <a:cubicBezTo>
                  <a:pt x="22000" y="13123"/>
                  <a:pt x="21922" y="12903"/>
                  <a:pt x="21780" y="12726"/>
                </a:cubicBezTo>
                <a:lnTo>
                  <a:pt x="18300" y="8376"/>
                </a:lnTo>
                <a:cubicBezTo>
                  <a:pt x="18111" y="8139"/>
                  <a:pt x="17824" y="8000"/>
                  <a:pt x="17520" y="8000"/>
                </a:cubicBezTo>
                <a:lnTo>
                  <a:pt x="14000" y="8000"/>
                </a:lnTo>
                <a:moveTo>
                  <a:pt x="19000" y="18000"/>
                </a:moveTo>
                <a:cubicBezTo>
                  <a:pt x="19000" y="19105"/>
                  <a:pt x="18105" y="20000"/>
                  <a:pt x="17000" y="20000"/>
                </a:cubicBezTo>
                <a:cubicBezTo>
                  <a:pt x="15895" y="20000"/>
                  <a:pt x="15000" y="19105"/>
                  <a:pt x="15000" y="18000"/>
                </a:cubicBezTo>
                <a:cubicBezTo>
                  <a:pt x="15000" y="16895"/>
                  <a:pt x="15895" y="16000"/>
                  <a:pt x="17000" y="16000"/>
                </a:cubicBezTo>
                <a:cubicBezTo>
                  <a:pt x="18105" y="16000"/>
                  <a:pt x="19000" y="16895"/>
                  <a:pt x="19000" y="18000"/>
                </a:cubicBezTo>
                <a:close/>
                <a:moveTo>
                  <a:pt x="9000" y="18000"/>
                </a:moveTo>
                <a:cubicBezTo>
                  <a:pt x="9000" y="19105"/>
                  <a:pt x="8105" y="20000"/>
                  <a:pt x="7000" y="20000"/>
                </a:cubicBezTo>
                <a:cubicBezTo>
                  <a:pt x="5895" y="20000"/>
                  <a:pt x="5000" y="19105"/>
                  <a:pt x="5000" y="18000"/>
                </a:cubicBezTo>
                <a:cubicBezTo>
                  <a:pt x="5000" y="16895"/>
                  <a:pt x="5895" y="16000"/>
                  <a:pt x="7000" y="16000"/>
                </a:cubicBezTo>
                <a:cubicBezTo>
                  <a:pt x="8105" y="16000"/>
                  <a:pt x="9000" y="16895"/>
                  <a:pt x="9000" y="18000"/>
                </a:cubicBezTo>
                <a:close/>
              </a:path>
            </a:pathLst>
          </a:custGeom>
          <a:noFill/>
          <a:ln w="19685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65" name="slot.source.1.item.2"/>
          <p:cNvSpPr txBox="1"/>
          <p:nvPr/>
        </p:nvSpPr>
        <p:spPr>
          <a:xfrm>
            <a:off x="1430786" y="1947672"/>
            <a:ext cx="781607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Logistics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slot.source.1.item.3.icon"/>
          <p:cNvSpPr/>
          <p:nvPr/>
        </p:nvSpPr>
        <p:spPr>
          <a:xfrm>
            <a:off x="2520260" y="1682496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19685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67" name="slot.source.1.item.3"/>
          <p:cNvSpPr txBox="1"/>
          <p:nvPr/>
        </p:nvSpPr>
        <p:spPr>
          <a:xfrm>
            <a:off x="2248329" y="1947672"/>
            <a:ext cx="781607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Workforce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slot.source.2.item.1.icon"/>
          <p:cNvSpPr/>
          <p:nvPr/>
        </p:nvSpPr>
        <p:spPr>
          <a:xfrm>
            <a:off x="3751066" y="1682496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5000" y="21000"/>
                </a:moveTo>
                <a:lnTo>
                  <a:pt x="15000" y="16000"/>
                </a:lnTo>
                <a:cubicBezTo>
                  <a:pt x="15000" y="15448"/>
                  <a:pt x="14552" y="15000"/>
                  <a:pt x="14000" y="15000"/>
                </a:cubicBezTo>
                <a:lnTo>
                  <a:pt x="10000" y="15000"/>
                </a:lnTo>
                <a:cubicBezTo>
                  <a:pt x="9448" y="15000"/>
                  <a:pt x="9000" y="15448"/>
                  <a:pt x="9000" y="16000"/>
                </a:cubicBezTo>
                <a:lnTo>
                  <a:pt x="9000" y="21000"/>
                </a:lnTo>
                <a:moveTo>
                  <a:pt x="17774" y="10310"/>
                </a:moveTo>
                <a:cubicBezTo>
                  <a:pt x="17341" y="9895"/>
                  <a:pt x="16658" y="9895"/>
                  <a:pt x="16225" y="10310"/>
                </a:cubicBezTo>
                <a:cubicBezTo>
                  <a:pt x="15259" y="11231"/>
                  <a:pt x="13740" y="11231"/>
                  <a:pt x="12774" y="10310"/>
                </a:cubicBezTo>
                <a:cubicBezTo>
                  <a:pt x="12341" y="9896"/>
                  <a:pt x="11659" y="9896"/>
                  <a:pt x="11226" y="10310"/>
                </a:cubicBezTo>
                <a:cubicBezTo>
                  <a:pt x="10260" y="11232"/>
                  <a:pt x="8740" y="11232"/>
                  <a:pt x="7774" y="10310"/>
                </a:cubicBezTo>
                <a:cubicBezTo>
                  <a:pt x="7341" y="9895"/>
                  <a:pt x="6658" y="9895"/>
                  <a:pt x="6225" y="10310"/>
                </a:cubicBezTo>
                <a:cubicBezTo>
                  <a:pt x="5294" y="11198"/>
                  <a:pt x="3842" y="11235"/>
                  <a:pt x="2867" y="10395"/>
                </a:cubicBezTo>
                <a:cubicBezTo>
                  <a:pt x="1893" y="9556"/>
                  <a:pt x="1714" y="8114"/>
                  <a:pt x="2455" y="7062"/>
                </a:cubicBezTo>
                <a:lnTo>
                  <a:pt x="5344" y="2878"/>
                </a:lnTo>
                <a:cubicBezTo>
                  <a:pt x="5716" y="2329"/>
                  <a:pt x="6337" y="2000"/>
                  <a:pt x="7000" y="2000"/>
                </a:cubicBezTo>
                <a:lnTo>
                  <a:pt x="17000" y="2000"/>
                </a:lnTo>
                <a:cubicBezTo>
                  <a:pt x="17661" y="2000"/>
                  <a:pt x="18280" y="2327"/>
                  <a:pt x="18653" y="2873"/>
                </a:cubicBezTo>
                <a:lnTo>
                  <a:pt x="21548" y="7065"/>
                </a:lnTo>
                <a:cubicBezTo>
                  <a:pt x="22289" y="8118"/>
                  <a:pt x="22109" y="9561"/>
                  <a:pt x="21133" y="10400"/>
                </a:cubicBezTo>
                <a:cubicBezTo>
                  <a:pt x="20157" y="11239"/>
                  <a:pt x="18703" y="11199"/>
                  <a:pt x="17774" y="10309"/>
                </a:cubicBezTo>
                <a:moveTo>
                  <a:pt x="4000" y="10950"/>
                </a:moveTo>
                <a:lnTo>
                  <a:pt x="4000" y="19000"/>
                </a:lnTo>
                <a:cubicBezTo>
                  <a:pt x="4000" y="20105"/>
                  <a:pt x="4895" y="21000"/>
                  <a:pt x="6000" y="21000"/>
                </a:cubicBezTo>
                <a:lnTo>
                  <a:pt x="18000" y="21000"/>
                </a:lnTo>
                <a:cubicBezTo>
                  <a:pt x="19105" y="21000"/>
                  <a:pt x="20000" y="20105"/>
                  <a:pt x="20000" y="19000"/>
                </a:cubicBezTo>
                <a:lnTo>
                  <a:pt x="20000" y="10950"/>
                </a:lnTo>
              </a:path>
            </a:pathLst>
          </a:custGeom>
          <a:noFill/>
          <a:ln w="19685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69" name="slot.source.2.item.1"/>
          <p:cNvSpPr txBox="1"/>
          <p:nvPr/>
        </p:nvSpPr>
        <p:spPr>
          <a:xfrm>
            <a:off x="3479135" y="1947672"/>
            <a:ext cx="781607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Web store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slot.source.2.item.2.icon"/>
          <p:cNvSpPr/>
          <p:nvPr/>
        </p:nvSpPr>
        <p:spPr>
          <a:xfrm>
            <a:off x="4568609" y="1682496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14000"/>
                </a:moveTo>
                <a:lnTo>
                  <a:pt x="6000" y="14000"/>
                </a:lnTo>
                <a:cubicBezTo>
                  <a:pt x="7105" y="14000"/>
                  <a:pt x="8000" y="14895"/>
                  <a:pt x="8000" y="16000"/>
                </a:cubicBezTo>
                <a:lnTo>
                  <a:pt x="8000" y="19000"/>
                </a:lnTo>
                <a:cubicBezTo>
                  <a:pt x="8000" y="20105"/>
                  <a:pt x="7105" y="21000"/>
                  <a:pt x="6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12000"/>
                </a:lnTo>
                <a:cubicBezTo>
                  <a:pt x="3000" y="7029"/>
                  <a:pt x="7029" y="3000"/>
                  <a:pt x="12000" y="3000"/>
                </a:cubicBezTo>
                <a:cubicBezTo>
                  <a:pt x="16971" y="3000"/>
                  <a:pt x="21000" y="7029"/>
                  <a:pt x="21000" y="12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8000" y="21000"/>
                </a:lnTo>
                <a:cubicBezTo>
                  <a:pt x="16895" y="21000"/>
                  <a:pt x="16000" y="20105"/>
                  <a:pt x="16000" y="19000"/>
                </a:cubicBezTo>
                <a:lnTo>
                  <a:pt x="16000" y="16000"/>
                </a:lnTo>
                <a:cubicBezTo>
                  <a:pt x="16000" y="14895"/>
                  <a:pt x="16895" y="14000"/>
                  <a:pt x="18000" y="14000"/>
                </a:cubicBezTo>
                <a:lnTo>
                  <a:pt x="21000" y="14000"/>
                </a:lnTo>
              </a:path>
            </a:pathLst>
          </a:custGeom>
          <a:noFill/>
          <a:ln w="19685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71" name="slot.source.2.item.2"/>
          <p:cNvSpPr txBox="1"/>
          <p:nvPr/>
        </p:nvSpPr>
        <p:spPr>
          <a:xfrm>
            <a:off x="4296678" y="1947672"/>
            <a:ext cx="781607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Call center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slot.source.2.item.3.icon"/>
          <p:cNvSpPr/>
          <p:nvPr/>
        </p:nvSpPr>
        <p:spPr>
          <a:xfrm>
            <a:off x="5386152" y="1682496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7000" y="2000"/>
                </a:moveTo>
                <a:lnTo>
                  <a:pt x="17000" y="2000"/>
                </a:lnTo>
                <a:cubicBezTo>
                  <a:pt x="18105" y="2000"/>
                  <a:pt x="19000" y="2895"/>
                  <a:pt x="19000" y="4000"/>
                </a:cubicBezTo>
                <a:lnTo>
                  <a:pt x="19000" y="20000"/>
                </a:lnTo>
                <a:cubicBezTo>
                  <a:pt x="19000" y="21105"/>
                  <a:pt x="18105" y="22000"/>
                  <a:pt x="17000" y="22000"/>
                </a:cubicBezTo>
                <a:lnTo>
                  <a:pt x="7000" y="22000"/>
                </a:lnTo>
                <a:cubicBezTo>
                  <a:pt x="5895" y="22000"/>
                  <a:pt x="5000" y="21105"/>
                  <a:pt x="5000" y="20000"/>
                </a:cubicBezTo>
                <a:lnTo>
                  <a:pt x="5000" y="4000"/>
                </a:lnTo>
                <a:cubicBezTo>
                  <a:pt x="5000" y="2895"/>
                  <a:pt x="5895" y="2000"/>
                  <a:pt x="7000" y="2000"/>
                </a:cubicBezTo>
                <a:close/>
                <a:moveTo>
                  <a:pt x="12000" y="18000"/>
                </a:moveTo>
                <a:lnTo>
                  <a:pt x="12010" y="18000"/>
                </a:lnTo>
              </a:path>
            </a:pathLst>
          </a:custGeom>
          <a:noFill/>
          <a:ln w="19685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73" name="slot.source.2.item.3"/>
          <p:cNvSpPr txBox="1"/>
          <p:nvPr/>
        </p:nvSpPr>
        <p:spPr>
          <a:xfrm>
            <a:off x="5114220" y="1947672"/>
            <a:ext cx="781607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Mobile app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slot.source.3.item.1.icon"/>
          <p:cNvSpPr/>
          <p:nvPr/>
        </p:nvSpPr>
        <p:spPr>
          <a:xfrm>
            <a:off x="6616958" y="1682496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lnTo>
                  <a:pt x="19520" y="12000"/>
                </a:lnTo>
                <a:cubicBezTo>
                  <a:pt x="18622" y="11998"/>
                  <a:pt x="17833" y="12595"/>
                  <a:pt x="17590" y="13460"/>
                </a:cubicBezTo>
                <a:lnTo>
                  <a:pt x="15240" y="21820"/>
                </a:lnTo>
                <a:cubicBezTo>
                  <a:pt x="15209" y="21927"/>
                  <a:pt x="15111" y="22000"/>
                  <a:pt x="15000" y="22000"/>
                </a:cubicBezTo>
                <a:cubicBezTo>
                  <a:pt x="14889" y="22000"/>
                  <a:pt x="14791" y="21927"/>
                  <a:pt x="14760" y="21820"/>
                </a:cubicBezTo>
                <a:lnTo>
                  <a:pt x="9240" y="2180"/>
                </a:lnTo>
                <a:cubicBezTo>
                  <a:pt x="9209" y="2073"/>
                  <a:pt x="9111" y="2000"/>
                  <a:pt x="9000" y="2000"/>
                </a:cubicBezTo>
                <a:cubicBezTo>
                  <a:pt x="8889" y="2000"/>
                  <a:pt x="8791" y="2073"/>
                  <a:pt x="8760" y="2180"/>
                </a:cubicBezTo>
                <a:lnTo>
                  <a:pt x="6410" y="10540"/>
                </a:lnTo>
                <a:cubicBezTo>
                  <a:pt x="6168" y="11401"/>
                  <a:pt x="5384" y="11997"/>
                  <a:pt x="4490" y="12000"/>
                </a:cubicBezTo>
                <a:lnTo>
                  <a:pt x="2000" y="12000"/>
                </a:lnTo>
              </a:path>
            </a:pathLst>
          </a:custGeom>
          <a:noFill/>
          <a:ln w="19685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75" name="slot.source.3.item.1"/>
          <p:cNvSpPr txBox="1"/>
          <p:nvPr/>
        </p:nvSpPr>
        <p:spPr>
          <a:xfrm>
            <a:off x="6345026" y="1947672"/>
            <a:ext cx="781607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Sensors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slot.source.3.item.2.icon"/>
          <p:cNvSpPr/>
          <p:nvPr/>
        </p:nvSpPr>
        <p:spPr>
          <a:xfrm>
            <a:off x="7434501" y="1682496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9000"/>
                </a:moveTo>
                <a:lnTo>
                  <a:pt x="20000" y="19000"/>
                </a:lnTo>
                <a:moveTo>
                  <a:pt x="4000" y="17000"/>
                </a:moveTo>
                <a:lnTo>
                  <a:pt x="10000" y="11000"/>
                </a:lnTo>
                <a:lnTo>
                  <a:pt x="4000" y="5000"/>
                </a:lnTo>
              </a:path>
            </a:pathLst>
          </a:custGeom>
          <a:noFill/>
          <a:ln w="19685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77" name="slot.source.3.item.2"/>
          <p:cNvSpPr txBox="1"/>
          <p:nvPr/>
        </p:nvSpPr>
        <p:spPr>
          <a:xfrm>
            <a:off x="7162569" y="1947672"/>
            <a:ext cx="781607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App logs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slot.source.3.item.3.icon"/>
          <p:cNvSpPr/>
          <p:nvPr/>
        </p:nvSpPr>
        <p:spPr>
          <a:xfrm>
            <a:off x="8252043" y="1682496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4000" y="3000"/>
                </a:moveTo>
                <a:lnTo>
                  <a:pt x="20000" y="3000"/>
                </a:lnTo>
                <a:cubicBezTo>
                  <a:pt x="21105" y="3000"/>
                  <a:pt x="22000" y="3895"/>
                  <a:pt x="22000" y="5000"/>
                </a:cubicBezTo>
                <a:lnTo>
                  <a:pt x="22000" y="15000"/>
                </a:lnTo>
                <a:cubicBezTo>
                  <a:pt x="22000" y="16105"/>
                  <a:pt x="21105" y="17000"/>
                  <a:pt x="20000" y="17000"/>
                </a:cubicBezTo>
                <a:lnTo>
                  <a:pt x="4000" y="17000"/>
                </a:lnTo>
                <a:cubicBezTo>
                  <a:pt x="2895" y="17000"/>
                  <a:pt x="2000" y="16105"/>
                  <a:pt x="2000" y="15000"/>
                </a:cubicBezTo>
                <a:lnTo>
                  <a:pt x="2000" y="5000"/>
                </a:lnTo>
                <a:cubicBezTo>
                  <a:pt x="2000" y="3895"/>
                  <a:pt x="2895" y="3000"/>
                  <a:pt x="4000" y="3000"/>
                </a:cubicBezTo>
                <a:close/>
                <a:moveTo>
                  <a:pt x="8000" y="21000"/>
                </a:moveTo>
                <a:lnTo>
                  <a:pt x="16000" y="21000"/>
                </a:lnTo>
                <a:moveTo>
                  <a:pt x="12000" y="17000"/>
                </a:moveTo>
                <a:lnTo>
                  <a:pt x="12000" y="21000"/>
                </a:lnTo>
              </a:path>
            </a:pathLst>
          </a:custGeom>
          <a:noFill/>
          <a:ln w="19685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79" name="slot.source.3.item.3"/>
          <p:cNvSpPr txBox="1"/>
          <p:nvPr/>
        </p:nvSpPr>
        <p:spPr>
          <a:xfrm>
            <a:off x="7980112" y="1947672"/>
            <a:ext cx="781607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Clickstream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slot.source.4.item.1.icon"/>
          <p:cNvSpPr/>
          <p:nvPr/>
        </p:nvSpPr>
        <p:spPr>
          <a:xfrm>
            <a:off x="9482849" y="1682496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3000"/>
                </a:moveTo>
                <a:lnTo>
                  <a:pt x="3000" y="19000"/>
                </a:lnTo>
                <a:cubicBezTo>
                  <a:pt x="3000" y="20105"/>
                  <a:pt x="3895" y="21000"/>
                  <a:pt x="5000" y="21000"/>
                </a:cubicBezTo>
                <a:lnTo>
                  <a:pt x="21000" y="21000"/>
                </a:lnTo>
                <a:moveTo>
                  <a:pt x="19000" y="9000"/>
                </a:moveTo>
                <a:lnTo>
                  <a:pt x="14000" y="14000"/>
                </a:lnTo>
                <a:lnTo>
                  <a:pt x="10000" y="10000"/>
                </a:lnTo>
                <a:lnTo>
                  <a:pt x="7000" y="13000"/>
                </a:lnTo>
              </a:path>
            </a:pathLst>
          </a:custGeom>
          <a:noFill/>
          <a:ln w="19685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81" name="slot.source.4.item.1"/>
          <p:cNvSpPr txBox="1"/>
          <p:nvPr/>
        </p:nvSpPr>
        <p:spPr>
          <a:xfrm>
            <a:off x="9210918" y="1947672"/>
            <a:ext cx="781607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Price data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slot.source.4.item.2.icon"/>
          <p:cNvSpPr/>
          <p:nvPr/>
        </p:nvSpPr>
        <p:spPr>
          <a:xfrm>
            <a:off x="10300392" y="1682496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7500" y="19000"/>
                </a:moveTo>
                <a:lnTo>
                  <a:pt x="9000" y="19000"/>
                </a:lnTo>
                <a:cubicBezTo>
                  <a:pt x="5396" y="18999"/>
                  <a:pt x="2381" y="16261"/>
                  <a:pt x="2034" y="12674"/>
                </a:cubicBezTo>
                <a:cubicBezTo>
                  <a:pt x="1687" y="9086"/>
                  <a:pt x="4121" y="5822"/>
                  <a:pt x="7659" y="5130"/>
                </a:cubicBezTo>
                <a:cubicBezTo>
                  <a:pt x="11196" y="4438"/>
                  <a:pt x="14680" y="6546"/>
                  <a:pt x="15710" y="10000"/>
                </a:cubicBezTo>
                <a:lnTo>
                  <a:pt x="17500" y="10000"/>
                </a:lnTo>
                <a:cubicBezTo>
                  <a:pt x="19985" y="10000"/>
                  <a:pt x="22000" y="12015"/>
                  <a:pt x="22000" y="14500"/>
                </a:cubicBezTo>
                <a:cubicBezTo>
                  <a:pt x="22000" y="16985"/>
                  <a:pt x="19985" y="19000"/>
                  <a:pt x="17500" y="19000"/>
                </a:cubicBezTo>
                <a:close/>
              </a:path>
            </a:pathLst>
          </a:custGeom>
          <a:noFill/>
          <a:ln w="19685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83" name="slot.source.4.item.2"/>
          <p:cNvSpPr txBox="1"/>
          <p:nvPr/>
        </p:nvSpPr>
        <p:spPr>
          <a:xfrm>
            <a:off x="10028461" y="1947672"/>
            <a:ext cx="781607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Weather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slot.source.4.item.3.icon"/>
          <p:cNvSpPr/>
          <p:nvPr/>
        </p:nvSpPr>
        <p:spPr>
          <a:xfrm>
            <a:off x="11117935" y="1682496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6000"/>
                </a:moveTo>
                <a:lnTo>
                  <a:pt x="20000" y="20000"/>
                </a:lnTo>
                <a:moveTo>
                  <a:pt x="12000" y="6000"/>
                </a:moveTo>
                <a:lnTo>
                  <a:pt x="12000" y="20000"/>
                </a:lnTo>
                <a:moveTo>
                  <a:pt x="8000" y="8000"/>
                </a:moveTo>
                <a:lnTo>
                  <a:pt x="8000" y="20000"/>
                </a:lnTo>
                <a:moveTo>
                  <a:pt x="4000" y="4000"/>
                </a:moveTo>
                <a:lnTo>
                  <a:pt x="4000" y="20000"/>
                </a:lnTo>
              </a:path>
            </a:pathLst>
          </a:custGeom>
          <a:noFill/>
          <a:ln w="19685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85" name="slot.source.4.item.3"/>
          <p:cNvSpPr txBox="1"/>
          <p:nvPr/>
        </p:nvSpPr>
        <p:spPr>
          <a:xfrm>
            <a:off x="10846003" y="1947672"/>
            <a:ext cx="781607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Registries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slot.stage.1.icon"/>
          <p:cNvSpPr/>
          <p:nvPr/>
        </p:nvSpPr>
        <p:spPr>
          <a:xfrm>
            <a:off x="700683" y="305409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2989" y="19976"/>
                  <a:pt x="4402" y="20893"/>
                  <a:pt x="6790" y="21458"/>
                </a:cubicBezTo>
                <a:cubicBezTo>
                  <a:pt x="9177" y="22023"/>
                  <a:pt x="12240" y="22165"/>
                  <a:pt x="15000" y="21840"/>
                </a:cubicBezTo>
                <a:moveTo>
                  <a:pt x="21000" y="5000"/>
                </a:moveTo>
                <a:lnTo>
                  <a:pt x="21000" y="8000"/>
                </a:lnTo>
                <a:moveTo>
                  <a:pt x="21000" y="12000"/>
                </a:moveTo>
                <a:lnTo>
                  <a:pt x="18000" y="17000"/>
                </a:lnTo>
                <a:lnTo>
                  <a:pt x="22000" y="17000"/>
                </a:lnTo>
                <a:lnTo>
                  <a:pt x="19000" y="22000"/>
                </a:lnTo>
                <a:moveTo>
                  <a:pt x="3000" y="12000"/>
                </a:moveTo>
                <a:cubicBezTo>
                  <a:pt x="3003" y="12948"/>
                  <a:pt x="4350" y="13840"/>
                  <a:pt x="6633" y="14405"/>
                </a:cubicBezTo>
                <a:cubicBezTo>
                  <a:pt x="8916" y="14970"/>
                  <a:pt x="11866" y="15143"/>
                  <a:pt x="14590" y="14870"/>
                </a:cubicBez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87" name="struct.stage.1.chip.1"/>
          <p:cNvSpPr/>
          <p:nvPr/>
        </p:nvSpPr>
        <p:spPr>
          <a:xfrm>
            <a:off x="792923" y="3529584"/>
            <a:ext cx="2057333" cy="256032"/>
          </a:xfrm>
          <a:prstGeom prst="roundRect">
            <a:avLst>
              <a:gd name="adj" fmla="val 14285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88" name="slot.stage.1.chip.1"/>
          <p:cNvSpPr txBox="1"/>
          <p:nvPr/>
        </p:nvSpPr>
        <p:spPr>
          <a:xfrm>
            <a:off x="792923" y="3529584"/>
            <a:ext cx="2057333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Batch connectors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struct.stage.1.chip.2"/>
          <p:cNvSpPr/>
          <p:nvPr/>
        </p:nvSpPr>
        <p:spPr>
          <a:xfrm>
            <a:off x="792923" y="3849624"/>
            <a:ext cx="2057333" cy="256032"/>
          </a:xfrm>
          <a:prstGeom prst="roundRect">
            <a:avLst>
              <a:gd name="adj" fmla="val 14285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90" name="slot.stage.1.chip.2"/>
          <p:cNvSpPr txBox="1"/>
          <p:nvPr/>
        </p:nvSpPr>
        <p:spPr>
          <a:xfrm>
            <a:off x="792923" y="3849624"/>
            <a:ext cx="2057333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Stream capture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struct.stage.1.chip.3"/>
          <p:cNvSpPr/>
          <p:nvPr/>
        </p:nvSpPr>
        <p:spPr>
          <a:xfrm>
            <a:off x="792923" y="4169664"/>
            <a:ext cx="2057333" cy="256032"/>
          </a:xfrm>
          <a:prstGeom prst="roundRect">
            <a:avLst>
              <a:gd name="adj" fmla="val 14285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92" name="slot.stage.1.chip.3"/>
          <p:cNvSpPr txBox="1"/>
          <p:nvPr/>
        </p:nvSpPr>
        <p:spPr>
          <a:xfrm>
            <a:off x="792923" y="4169664"/>
            <a:ext cx="2057333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Schema checks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struct.stage.1.chip.4"/>
          <p:cNvSpPr/>
          <p:nvPr/>
        </p:nvSpPr>
        <p:spPr>
          <a:xfrm>
            <a:off x="792923" y="4489704"/>
            <a:ext cx="2057333" cy="256032"/>
          </a:xfrm>
          <a:prstGeom prst="roundRect">
            <a:avLst>
              <a:gd name="adj" fmla="val 14285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94" name="slot.stage.1.chip.4"/>
          <p:cNvSpPr txBox="1"/>
          <p:nvPr/>
        </p:nvSpPr>
        <p:spPr>
          <a:xfrm>
            <a:off x="792923" y="4489704"/>
            <a:ext cx="2057333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Raw landing zone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slot.stage.2.icon"/>
          <p:cNvSpPr/>
          <p:nvPr/>
        </p:nvSpPr>
        <p:spPr>
          <a:xfrm>
            <a:off x="3566575" y="305409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3000"/>
                </a:moveTo>
                <a:lnTo>
                  <a:pt x="9000" y="3000"/>
                </a:lnTo>
                <a:cubicBezTo>
                  <a:pt x="10105" y="3000"/>
                  <a:pt x="11000" y="3895"/>
                  <a:pt x="11000" y="5000"/>
                </a:cubicBezTo>
                <a:lnTo>
                  <a:pt x="11000" y="9000"/>
                </a:lnTo>
                <a:cubicBezTo>
                  <a:pt x="11000" y="10105"/>
                  <a:pt x="10105" y="11000"/>
                  <a:pt x="9000" y="11000"/>
                </a:cubicBezTo>
                <a:lnTo>
                  <a:pt x="5000" y="11000"/>
                </a:lnTo>
                <a:cubicBezTo>
                  <a:pt x="3895" y="11000"/>
                  <a:pt x="3000" y="10105"/>
                  <a:pt x="3000" y="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  <a:moveTo>
                  <a:pt x="7000" y="11000"/>
                </a:moveTo>
                <a:lnTo>
                  <a:pt x="7000" y="15000"/>
                </a:lnTo>
                <a:cubicBezTo>
                  <a:pt x="7000" y="16105"/>
                  <a:pt x="7895" y="17000"/>
                  <a:pt x="9000" y="17000"/>
                </a:cubicBezTo>
                <a:lnTo>
                  <a:pt x="13000" y="17000"/>
                </a:lnTo>
                <a:moveTo>
                  <a:pt x="15000" y="13000"/>
                </a:moveTo>
                <a:lnTo>
                  <a:pt x="19000" y="13000"/>
                </a:lnTo>
                <a:cubicBezTo>
                  <a:pt x="20105" y="13000"/>
                  <a:pt x="21000" y="13895"/>
                  <a:pt x="21000" y="1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5000" y="21000"/>
                </a:lnTo>
                <a:cubicBezTo>
                  <a:pt x="13895" y="21000"/>
                  <a:pt x="13000" y="20105"/>
                  <a:pt x="13000" y="19000"/>
                </a:cubicBezTo>
                <a:lnTo>
                  <a:pt x="13000" y="15000"/>
                </a:lnTo>
                <a:cubicBezTo>
                  <a:pt x="13000" y="13895"/>
                  <a:pt x="13895" y="13000"/>
                  <a:pt x="15000" y="13000"/>
                </a:cubicBezTo>
                <a:close/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96" name="struct.stage.2.chip.1"/>
          <p:cNvSpPr/>
          <p:nvPr/>
        </p:nvSpPr>
        <p:spPr>
          <a:xfrm>
            <a:off x="3658815" y="3529584"/>
            <a:ext cx="2057333" cy="256032"/>
          </a:xfrm>
          <a:prstGeom prst="roundRect">
            <a:avLst>
              <a:gd name="adj" fmla="val 14285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97" name="slot.stage.2.chip.1"/>
          <p:cNvSpPr txBox="1"/>
          <p:nvPr/>
        </p:nvSpPr>
        <p:spPr>
          <a:xfrm>
            <a:off x="3658815" y="3529584"/>
            <a:ext cx="2057333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Quality rules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struct.stage.2.chip.2"/>
          <p:cNvSpPr/>
          <p:nvPr/>
        </p:nvSpPr>
        <p:spPr>
          <a:xfrm>
            <a:off x="3658815" y="3849624"/>
            <a:ext cx="2057333" cy="256032"/>
          </a:xfrm>
          <a:prstGeom prst="roundRect">
            <a:avLst>
              <a:gd name="adj" fmla="val 14285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99" name="slot.stage.2.chip.2"/>
          <p:cNvSpPr txBox="1"/>
          <p:nvPr/>
        </p:nvSpPr>
        <p:spPr>
          <a:xfrm>
            <a:off x="3658815" y="3849624"/>
            <a:ext cx="2057333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Entity matching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struct.stage.2.chip.3"/>
          <p:cNvSpPr/>
          <p:nvPr/>
        </p:nvSpPr>
        <p:spPr>
          <a:xfrm>
            <a:off x="3658815" y="4169664"/>
            <a:ext cx="2057333" cy="256032"/>
          </a:xfrm>
          <a:prstGeom prst="roundRect">
            <a:avLst>
              <a:gd name="adj" fmla="val 14285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101" name="slot.stage.2.chip.3"/>
          <p:cNvSpPr txBox="1"/>
          <p:nvPr/>
        </p:nvSpPr>
        <p:spPr>
          <a:xfrm>
            <a:off x="3658815" y="4169664"/>
            <a:ext cx="2057333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Conformed tables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struct.stage.2.chip.4"/>
          <p:cNvSpPr/>
          <p:nvPr/>
        </p:nvSpPr>
        <p:spPr>
          <a:xfrm>
            <a:off x="3658815" y="4489704"/>
            <a:ext cx="2057333" cy="256032"/>
          </a:xfrm>
          <a:prstGeom prst="roundRect">
            <a:avLst>
              <a:gd name="adj" fmla="val 14285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103" name="slot.stage.2.chip.4"/>
          <p:cNvSpPr txBox="1"/>
          <p:nvPr/>
        </p:nvSpPr>
        <p:spPr>
          <a:xfrm>
            <a:off x="3658815" y="4489704"/>
            <a:ext cx="2057333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Lineage capture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slot.stage.3.icon"/>
          <p:cNvSpPr/>
          <p:nvPr/>
        </p:nvSpPr>
        <p:spPr>
          <a:xfrm>
            <a:off x="6432466" y="305409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5000"/>
                </a:moveTo>
                <a:cubicBezTo>
                  <a:pt x="12003" y="3911"/>
                  <a:pt x="11416" y="2906"/>
                  <a:pt x="10466" y="2374"/>
                </a:cubicBezTo>
                <a:cubicBezTo>
                  <a:pt x="9516" y="1842"/>
                  <a:pt x="8353" y="1866"/>
                  <a:pt x="7426" y="2437"/>
                </a:cubicBezTo>
                <a:cubicBezTo>
                  <a:pt x="6499" y="3009"/>
                  <a:pt x="5954" y="4037"/>
                  <a:pt x="6003" y="5125"/>
                </a:cubicBezTo>
                <a:cubicBezTo>
                  <a:pt x="4812" y="5431"/>
                  <a:pt x="3828" y="6268"/>
                  <a:pt x="3335" y="7395"/>
                </a:cubicBezTo>
                <a:cubicBezTo>
                  <a:pt x="2842" y="8521"/>
                  <a:pt x="2894" y="9812"/>
                  <a:pt x="3477" y="10895"/>
                </a:cubicBezTo>
                <a:cubicBezTo>
                  <a:pt x="2450" y="11729"/>
                  <a:pt x="1902" y="13018"/>
                  <a:pt x="2013" y="14336"/>
                </a:cubicBezTo>
                <a:cubicBezTo>
                  <a:pt x="2125" y="15654"/>
                  <a:pt x="2881" y="16833"/>
                  <a:pt x="4033" y="17483"/>
                </a:cubicBezTo>
                <a:cubicBezTo>
                  <a:pt x="3842" y="18961"/>
                  <a:pt x="4488" y="20422"/>
                  <a:pt x="5710" y="21275"/>
                </a:cubicBezTo>
                <a:cubicBezTo>
                  <a:pt x="6931" y="22128"/>
                  <a:pt x="8526" y="22232"/>
                  <a:pt x="9847" y="21544"/>
                </a:cubicBezTo>
                <a:cubicBezTo>
                  <a:pt x="11169" y="20856"/>
                  <a:pt x="11998" y="19490"/>
                  <a:pt x="12000" y="18000"/>
                </a:cubicBezTo>
                <a:close/>
                <a:moveTo>
                  <a:pt x="9000" y="13000"/>
                </a:moveTo>
                <a:cubicBezTo>
                  <a:pt x="10717" y="12396"/>
                  <a:pt x="11901" y="10817"/>
                  <a:pt x="12000" y="9000"/>
                </a:cubicBezTo>
                <a:moveTo>
                  <a:pt x="6003" y="5125"/>
                </a:moveTo>
                <a:cubicBezTo>
                  <a:pt x="6023" y="5609"/>
                  <a:pt x="6159" y="6080"/>
                  <a:pt x="6401" y="6500"/>
                </a:cubicBezTo>
                <a:moveTo>
                  <a:pt x="3477" y="10896"/>
                </a:moveTo>
                <a:cubicBezTo>
                  <a:pt x="3660" y="10747"/>
                  <a:pt x="3856" y="10614"/>
                  <a:pt x="4062" y="10500"/>
                </a:cubicBezTo>
                <a:moveTo>
                  <a:pt x="6000" y="18000"/>
                </a:moveTo>
                <a:cubicBezTo>
                  <a:pt x="5311" y="18000"/>
                  <a:pt x="4633" y="17823"/>
                  <a:pt x="4033" y="17484"/>
                </a:cubicBezTo>
                <a:moveTo>
                  <a:pt x="12000" y="13000"/>
                </a:moveTo>
                <a:lnTo>
                  <a:pt x="16000" y="13000"/>
                </a:lnTo>
                <a:moveTo>
                  <a:pt x="12000" y="18000"/>
                </a:moveTo>
                <a:lnTo>
                  <a:pt x="18000" y="18000"/>
                </a:lnTo>
                <a:cubicBezTo>
                  <a:pt x="19105" y="18000"/>
                  <a:pt x="20000" y="18895"/>
                  <a:pt x="20000" y="20000"/>
                </a:cubicBezTo>
                <a:lnTo>
                  <a:pt x="20000" y="21000"/>
                </a:lnTo>
                <a:moveTo>
                  <a:pt x="12000" y="8000"/>
                </a:moveTo>
                <a:lnTo>
                  <a:pt x="20000" y="8000"/>
                </a:lnTo>
                <a:moveTo>
                  <a:pt x="16000" y="8000"/>
                </a:moveTo>
                <a:lnTo>
                  <a:pt x="16000" y="5000"/>
                </a:lnTo>
                <a:cubicBezTo>
                  <a:pt x="16000" y="3895"/>
                  <a:pt x="16895" y="3000"/>
                  <a:pt x="18000" y="3000"/>
                </a:cubicBezTo>
                <a:moveTo>
                  <a:pt x="16500" y="13000"/>
                </a:moveTo>
                <a:cubicBezTo>
                  <a:pt x="16500" y="13276"/>
                  <a:pt x="16276" y="13500"/>
                  <a:pt x="16000" y="13500"/>
                </a:cubicBezTo>
                <a:cubicBezTo>
                  <a:pt x="15724" y="13500"/>
                  <a:pt x="15500" y="13276"/>
                  <a:pt x="15500" y="13000"/>
                </a:cubicBezTo>
                <a:cubicBezTo>
                  <a:pt x="15500" y="12724"/>
                  <a:pt x="15724" y="12500"/>
                  <a:pt x="16000" y="12500"/>
                </a:cubicBezTo>
                <a:cubicBezTo>
                  <a:pt x="16276" y="12500"/>
                  <a:pt x="16500" y="12724"/>
                  <a:pt x="16500" y="13000"/>
                </a:cubicBezTo>
                <a:close/>
                <a:moveTo>
                  <a:pt x="18500" y="3000"/>
                </a:moveTo>
                <a:cubicBezTo>
                  <a:pt x="18500" y="3276"/>
                  <a:pt x="18276" y="3500"/>
                  <a:pt x="18000" y="3500"/>
                </a:cubicBezTo>
                <a:cubicBezTo>
                  <a:pt x="17724" y="3500"/>
                  <a:pt x="17500" y="3276"/>
                  <a:pt x="17500" y="3000"/>
                </a:cubicBezTo>
                <a:cubicBezTo>
                  <a:pt x="17500" y="2724"/>
                  <a:pt x="17724" y="2500"/>
                  <a:pt x="18000" y="2500"/>
                </a:cubicBezTo>
                <a:cubicBezTo>
                  <a:pt x="18276" y="2500"/>
                  <a:pt x="18500" y="2724"/>
                  <a:pt x="18500" y="3000"/>
                </a:cubicBezTo>
                <a:close/>
                <a:moveTo>
                  <a:pt x="20500" y="21000"/>
                </a:moveTo>
                <a:cubicBezTo>
                  <a:pt x="20500" y="21276"/>
                  <a:pt x="20276" y="21500"/>
                  <a:pt x="20000" y="21500"/>
                </a:cubicBezTo>
                <a:cubicBezTo>
                  <a:pt x="19724" y="21500"/>
                  <a:pt x="19500" y="21276"/>
                  <a:pt x="19500" y="21000"/>
                </a:cubicBezTo>
                <a:cubicBezTo>
                  <a:pt x="19500" y="20724"/>
                  <a:pt x="19724" y="20500"/>
                  <a:pt x="20000" y="20500"/>
                </a:cubicBezTo>
                <a:cubicBezTo>
                  <a:pt x="20276" y="20500"/>
                  <a:pt x="20500" y="20724"/>
                  <a:pt x="20500" y="21000"/>
                </a:cubicBezTo>
                <a:close/>
                <a:moveTo>
                  <a:pt x="20500" y="8000"/>
                </a:moveTo>
                <a:cubicBezTo>
                  <a:pt x="20500" y="8276"/>
                  <a:pt x="20276" y="8500"/>
                  <a:pt x="20000" y="8500"/>
                </a:cubicBezTo>
                <a:cubicBezTo>
                  <a:pt x="19724" y="8500"/>
                  <a:pt x="19500" y="8276"/>
                  <a:pt x="19500" y="8000"/>
                </a:cubicBezTo>
                <a:cubicBezTo>
                  <a:pt x="19500" y="7724"/>
                  <a:pt x="19724" y="7500"/>
                  <a:pt x="20000" y="7500"/>
                </a:cubicBezTo>
                <a:cubicBezTo>
                  <a:pt x="20276" y="7500"/>
                  <a:pt x="20500" y="7724"/>
                  <a:pt x="20500" y="8000"/>
                </a:cubicBezTo>
                <a:close/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105" name="struct.stage.3.chip.1"/>
          <p:cNvSpPr/>
          <p:nvPr/>
        </p:nvSpPr>
        <p:spPr>
          <a:xfrm>
            <a:off x="6524706" y="3529584"/>
            <a:ext cx="2057333" cy="256032"/>
          </a:xfrm>
          <a:prstGeom prst="roundRect">
            <a:avLst>
              <a:gd name="adj" fmla="val 14285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106" name="slot.stage.3.chip.1"/>
          <p:cNvSpPr txBox="1"/>
          <p:nvPr/>
        </p:nvSpPr>
        <p:spPr>
          <a:xfrm>
            <a:off x="6524706" y="3529584"/>
            <a:ext cx="2057333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Feature store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struct.stage.3.chip.2"/>
          <p:cNvSpPr/>
          <p:nvPr/>
        </p:nvSpPr>
        <p:spPr>
          <a:xfrm>
            <a:off x="6524706" y="3849624"/>
            <a:ext cx="2057333" cy="256032"/>
          </a:xfrm>
          <a:prstGeom prst="roundRect">
            <a:avLst>
              <a:gd name="adj" fmla="val 14285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108" name="slot.stage.3.chip.2"/>
          <p:cNvSpPr txBox="1"/>
          <p:nvPr/>
        </p:nvSpPr>
        <p:spPr>
          <a:xfrm>
            <a:off x="6524706" y="3849624"/>
            <a:ext cx="2057333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Forecast models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struct.stage.3.chip.3"/>
          <p:cNvSpPr/>
          <p:nvPr/>
        </p:nvSpPr>
        <p:spPr>
          <a:xfrm>
            <a:off x="6524706" y="4169664"/>
            <a:ext cx="2057333" cy="256032"/>
          </a:xfrm>
          <a:prstGeom prst="roundRect">
            <a:avLst>
              <a:gd name="adj" fmla="val 14285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110" name="slot.stage.3.chip.3"/>
          <p:cNvSpPr txBox="1"/>
          <p:nvPr/>
        </p:nvSpPr>
        <p:spPr>
          <a:xfrm>
            <a:off x="6524706" y="4169664"/>
            <a:ext cx="2057333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Anomaly alerts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struct.stage.3.chip.4"/>
          <p:cNvSpPr/>
          <p:nvPr/>
        </p:nvSpPr>
        <p:spPr>
          <a:xfrm>
            <a:off x="6524706" y="4489704"/>
            <a:ext cx="2057333" cy="256032"/>
          </a:xfrm>
          <a:prstGeom prst="roundRect">
            <a:avLst>
              <a:gd name="adj" fmla="val 14285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112" name="slot.stage.3.chip.4"/>
          <p:cNvSpPr txBox="1"/>
          <p:nvPr/>
        </p:nvSpPr>
        <p:spPr>
          <a:xfrm>
            <a:off x="6524706" y="4489704"/>
            <a:ext cx="2057333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Model registry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slot.stage.4.icon"/>
          <p:cNvSpPr/>
          <p:nvPr/>
        </p:nvSpPr>
        <p:spPr>
          <a:xfrm>
            <a:off x="9298357" y="305409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114" name="struct.stage.4.chip.1"/>
          <p:cNvSpPr/>
          <p:nvPr/>
        </p:nvSpPr>
        <p:spPr>
          <a:xfrm>
            <a:off x="9390598" y="3529584"/>
            <a:ext cx="2057333" cy="256032"/>
          </a:xfrm>
          <a:prstGeom prst="roundRect">
            <a:avLst>
              <a:gd name="adj" fmla="val 14285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115" name="slot.stage.4.chip.1"/>
          <p:cNvSpPr txBox="1"/>
          <p:nvPr/>
        </p:nvSpPr>
        <p:spPr>
          <a:xfrm>
            <a:off x="9390598" y="3529584"/>
            <a:ext cx="2057333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Metrics layer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struct.stage.4.chip.2"/>
          <p:cNvSpPr/>
          <p:nvPr/>
        </p:nvSpPr>
        <p:spPr>
          <a:xfrm>
            <a:off x="9390598" y="3849624"/>
            <a:ext cx="2057333" cy="256032"/>
          </a:xfrm>
          <a:prstGeom prst="roundRect">
            <a:avLst>
              <a:gd name="adj" fmla="val 14285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117" name="slot.stage.4.chip.2"/>
          <p:cNvSpPr txBox="1"/>
          <p:nvPr/>
        </p:nvSpPr>
        <p:spPr>
          <a:xfrm>
            <a:off x="9390598" y="3849624"/>
            <a:ext cx="2057333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Self-service views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struct.stage.4.chip.3"/>
          <p:cNvSpPr/>
          <p:nvPr/>
        </p:nvSpPr>
        <p:spPr>
          <a:xfrm>
            <a:off x="9390598" y="4169664"/>
            <a:ext cx="2057333" cy="256032"/>
          </a:xfrm>
          <a:prstGeom prst="roundRect">
            <a:avLst>
              <a:gd name="adj" fmla="val 14285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119" name="slot.stage.4.chip.3"/>
          <p:cNvSpPr txBox="1"/>
          <p:nvPr/>
        </p:nvSpPr>
        <p:spPr>
          <a:xfrm>
            <a:off x="9390598" y="4169664"/>
            <a:ext cx="2057333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Access policies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struct.stage.4.chip.4"/>
          <p:cNvSpPr/>
          <p:nvPr/>
        </p:nvSpPr>
        <p:spPr>
          <a:xfrm>
            <a:off x="9390598" y="4489704"/>
            <a:ext cx="2057333" cy="256032"/>
          </a:xfrm>
          <a:prstGeom prst="roundRect">
            <a:avLst>
              <a:gd name="adj" fmla="val 14285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121" name="slot.stage.4.chip.4"/>
          <p:cNvSpPr txBox="1"/>
          <p:nvPr/>
        </p:nvSpPr>
        <p:spPr>
          <a:xfrm>
            <a:off x="9390598" y="4489704"/>
            <a:ext cx="2057333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Usage audit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slot.enabler.1.icon"/>
          <p:cNvSpPr/>
          <p:nvPr/>
        </p:nvSpPr>
        <p:spPr>
          <a:xfrm>
            <a:off x="860274" y="5715050"/>
            <a:ext cx="261177" cy="261177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2000"/>
                </a:moveTo>
                <a:lnTo>
                  <a:pt x="15000" y="2000"/>
                </a:lnTo>
                <a:cubicBezTo>
                  <a:pt x="15552" y="2000"/>
                  <a:pt x="16000" y="2448"/>
                  <a:pt x="16000" y="3000"/>
                </a:cubicBezTo>
                <a:lnTo>
                  <a:pt x="16000" y="5000"/>
                </a:lnTo>
                <a:cubicBezTo>
                  <a:pt x="16000" y="5552"/>
                  <a:pt x="15552" y="6000"/>
                  <a:pt x="15000" y="6000"/>
                </a:cubicBezTo>
                <a:lnTo>
                  <a:pt x="9000" y="6000"/>
                </a:lnTo>
                <a:cubicBezTo>
                  <a:pt x="8448" y="6000"/>
                  <a:pt x="8000" y="5552"/>
                  <a:pt x="8000" y="5000"/>
                </a:cubicBezTo>
                <a:lnTo>
                  <a:pt x="8000" y="3000"/>
                </a:lnTo>
                <a:cubicBezTo>
                  <a:pt x="8000" y="2448"/>
                  <a:pt x="8448" y="2000"/>
                  <a:pt x="9000" y="2000"/>
                </a:cubicBezTo>
                <a:close/>
                <a:moveTo>
                  <a:pt x="16000" y="4000"/>
                </a:moveTo>
                <a:lnTo>
                  <a:pt x="18000" y="4000"/>
                </a:lnTo>
                <a:cubicBezTo>
                  <a:pt x="19105" y="4000"/>
                  <a:pt x="20000" y="4895"/>
                  <a:pt x="20000" y="6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lnTo>
                  <a:pt x="6000" y="22000"/>
                </a:lnTo>
                <a:cubicBezTo>
                  <a:pt x="4895" y="22000"/>
                  <a:pt x="4000" y="21105"/>
                  <a:pt x="4000" y="20000"/>
                </a:cubicBezTo>
                <a:lnTo>
                  <a:pt x="4000" y="6000"/>
                </a:lnTo>
                <a:cubicBezTo>
                  <a:pt x="4000" y="4895"/>
                  <a:pt x="4895" y="4000"/>
                  <a:pt x="6000" y="4000"/>
                </a:cubicBezTo>
                <a:lnTo>
                  <a:pt x="8000" y="4000"/>
                </a:lnTo>
                <a:moveTo>
                  <a:pt x="9000" y="14000"/>
                </a:moveTo>
                <a:lnTo>
                  <a:pt x="11000" y="16000"/>
                </a:lnTo>
                <a:lnTo>
                  <a:pt x="15000" y="12000"/>
                </a:lnTo>
              </a:path>
            </a:pathLst>
          </a:custGeom>
          <a:noFill/>
          <a:ln w="21590" cap="rnd">
            <a:solidFill>
              <a:schemeClr val="bg1"/>
            </a:solidFill>
            <a:round/>
          </a:ln>
          <a:effectLst/>
        </p:spPr>
      </p:sp>
      <p:sp>
        <p:nvSpPr>
          <p:cNvPr id="123" name="slot.enabler.2.icon"/>
          <p:cNvSpPr/>
          <p:nvPr/>
        </p:nvSpPr>
        <p:spPr>
          <a:xfrm>
            <a:off x="4564274" y="5715050"/>
            <a:ext cx="261177" cy="261177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671" y="4136"/>
                </a:moveTo>
                <a:cubicBezTo>
                  <a:pt x="9785" y="2935"/>
                  <a:pt x="10794" y="2017"/>
                  <a:pt x="12000" y="2017"/>
                </a:cubicBezTo>
                <a:cubicBezTo>
                  <a:pt x="13207" y="2017"/>
                  <a:pt x="14216" y="2935"/>
                  <a:pt x="14330" y="4136"/>
                </a:cubicBezTo>
                <a:cubicBezTo>
                  <a:pt x="14397" y="4896"/>
                  <a:pt x="14831" y="5575"/>
                  <a:pt x="15491" y="5957"/>
                </a:cubicBezTo>
                <a:cubicBezTo>
                  <a:pt x="16152" y="6338"/>
                  <a:pt x="16957" y="6373"/>
                  <a:pt x="17649" y="6051"/>
                </a:cubicBezTo>
                <a:cubicBezTo>
                  <a:pt x="18745" y="5553"/>
                  <a:pt x="20040" y="5969"/>
                  <a:pt x="20643" y="7011"/>
                </a:cubicBezTo>
                <a:cubicBezTo>
                  <a:pt x="21245" y="8054"/>
                  <a:pt x="20958" y="9383"/>
                  <a:pt x="19979" y="10084"/>
                </a:cubicBezTo>
                <a:cubicBezTo>
                  <a:pt x="19355" y="10522"/>
                  <a:pt x="18983" y="11237"/>
                  <a:pt x="18983" y="11999"/>
                </a:cubicBezTo>
                <a:cubicBezTo>
                  <a:pt x="18983" y="12762"/>
                  <a:pt x="19355" y="13477"/>
                  <a:pt x="19979" y="13915"/>
                </a:cubicBezTo>
                <a:cubicBezTo>
                  <a:pt x="20958" y="14616"/>
                  <a:pt x="21245" y="15945"/>
                  <a:pt x="20643" y="16988"/>
                </a:cubicBezTo>
                <a:cubicBezTo>
                  <a:pt x="20040" y="18030"/>
                  <a:pt x="18745" y="18446"/>
                  <a:pt x="17649" y="17948"/>
                </a:cubicBezTo>
                <a:cubicBezTo>
                  <a:pt x="16957" y="17626"/>
                  <a:pt x="16152" y="17661"/>
                  <a:pt x="15491" y="18042"/>
                </a:cubicBezTo>
                <a:cubicBezTo>
                  <a:pt x="14831" y="18424"/>
                  <a:pt x="14397" y="19103"/>
                  <a:pt x="14330" y="19863"/>
                </a:cubicBezTo>
                <a:cubicBezTo>
                  <a:pt x="14216" y="21064"/>
                  <a:pt x="13207" y="21982"/>
                  <a:pt x="12001" y="21982"/>
                </a:cubicBezTo>
                <a:cubicBezTo>
                  <a:pt x="10794" y="21982"/>
                  <a:pt x="9785" y="21064"/>
                  <a:pt x="9671" y="19863"/>
                </a:cubicBezTo>
                <a:cubicBezTo>
                  <a:pt x="9604" y="19103"/>
                  <a:pt x="9170" y="18423"/>
                  <a:pt x="8509" y="18042"/>
                </a:cubicBezTo>
                <a:cubicBezTo>
                  <a:pt x="7848" y="17660"/>
                  <a:pt x="7043" y="17625"/>
                  <a:pt x="6351" y="17948"/>
                </a:cubicBezTo>
                <a:cubicBezTo>
                  <a:pt x="5255" y="18446"/>
                  <a:pt x="3960" y="18030"/>
                  <a:pt x="3357" y="16988"/>
                </a:cubicBezTo>
                <a:cubicBezTo>
                  <a:pt x="2755" y="15945"/>
                  <a:pt x="3042" y="14616"/>
                  <a:pt x="4021" y="13915"/>
                </a:cubicBezTo>
                <a:cubicBezTo>
                  <a:pt x="4645" y="13477"/>
                  <a:pt x="5017" y="12762"/>
                  <a:pt x="5017" y="11999"/>
                </a:cubicBezTo>
                <a:cubicBezTo>
                  <a:pt x="5017" y="11237"/>
                  <a:pt x="4645" y="10522"/>
                  <a:pt x="4021" y="10084"/>
                </a:cubicBezTo>
                <a:cubicBezTo>
                  <a:pt x="3044" y="9383"/>
                  <a:pt x="2757" y="8054"/>
                  <a:pt x="3359" y="7013"/>
                </a:cubicBezTo>
                <a:cubicBezTo>
                  <a:pt x="3961" y="5971"/>
                  <a:pt x="5254" y="5555"/>
                  <a:pt x="6350" y="6051"/>
                </a:cubicBezTo>
                <a:cubicBezTo>
                  <a:pt x="7042" y="6373"/>
                  <a:pt x="7847" y="6338"/>
                  <a:pt x="8508" y="5957"/>
                </a:cubicBezTo>
                <a:cubicBezTo>
                  <a:pt x="9168" y="5575"/>
                  <a:pt x="9602" y="4896"/>
                  <a:pt x="9669" y="4136"/>
                </a:cubicBezTo>
                <a:moveTo>
                  <a:pt x="15000" y="12000"/>
                </a:moveTo>
                <a:cubicBezTo>
                  <a:pt x="15000" y="13657"/>
                  <a:pt x="13657" y="15000"/>
                  <a:pt x="12000" y="15000"/>
                </a:cubicBezTo>
                <a:cubicBezTo>
                  <a:pt x="10343" y="15000"/>
                  <a:pt x="9000" y="13657"/>
                  <a:pt x="9000" y="12000"/>
                </a:cubicBezTo>
                <a:cubicBezTo>
                  <a:pt x="9000" y="10343"/>
                  <a:pt x="10343" y="9000"/>
                  <a:pt x="12000" y="9000"/>
                </a:cubicBezTo>
                <a:cubicBezTo>
                  <a:pt x="13657" y="9000"/>
                  <a:pt x="15000" y="10343"/>
                  <a:pt x="15000" y="12000"/>
                </a:cubicBezTo>
                <a:close/>
              </a:path>
            </a:pathLst>
          </a:custGeom>
          <a:noFill/>
          <a:ln w="21590" cap="rnd">
            <a:solidFill>
              <a:schemeClr val="bg1"/>
            </a:solidFill>
            <a:round/>
          </a:ln>
          <a:effectLst/>
        </p:spPr>
      </p:sp>
      <p:sp>
        <p:nvSpPr>
          <p:cNvPr id="124" name="slot.enabler.3.icon"/>
          <p:cNvSpPr/>
          <p:nvPr/>
        </p:nvSpPr>
        <p:spPr>
          <a:xfrm>
            <a:off x="8268275" y="5715050"/>
            <a:ext cx="261177" cy="261177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11000"/>
                </a:moveTo>
                <a:lnTo>
                  <a:pt x="19000" y="11000"/>
                </a:lnTo>
                <a:cubicBezTo>
                  <a:pt x="20105" y="11000"/>
                  <a:pt x="21000" y="11895"/>
                  <a:pt x="21000" y="13000"/>
                </a:cubicBezTo>
                <a:lnTo>
                  <a:pt x="21000" y="20000"/>
                </a:lnTo>
                <a:cubicBezTo>
                  <a:pt x="21000" y="21105"/>
                  <a:pt x="20105" y="22000"/>
                  <a:pt x="19000" y="22000"/>
                </a:cubicBezTo>
                <a:lnTo>
                  <a:pt x="5000" y="22000"/>
                </a:lnTo>
                <a:cubicBezTo>
                  <a:pt x="3895" y="22000"/>
                  <a:pt x="3000" y="21105"/>
                  <a:pt x="3000" y="20000"/>
                </a:cubicBezTo>
                <a:lnTo>
                  <a:pt x="3000" y="13000"/>
                </a:lnTo>
                <a:cubicBezTo>
                  <a:pt x="3000" y="11895"/>
                  <a:pt x="3895" y="11000"/>
                  <a:pt x="5000" y="11000"/>
                </a:cubicBezTo>
                <a:close/>
                <a:moveTo>
                  <a:pt x="7000" y="11000"/>
                </a:moveTo>
                <a:lnTo>
                  <a:pt x="7000" y="7000"/>
                </a:lnTo>
                <a:cubicBezTo>
                  <a:pt x="7000" y="4239"/>
                  <a:pt x="9239" y="2000"/>
                  <a:pt x="12000" y="2000"/>
                </a:cubicBezTo>
                <a:cubicBezTo>
                  <a:pt x="14761" y="2000"/>
                  <a:pt x="17000" y="4239"/>
                  <a:pt x="17000" y="7000"/>
                </a:cubicBezTo>
                <a:lnTo>
                  <a:pt x="17000" y="11000"/>
                </a:lnTo>
              </a:path>
            </a:pathLst>
          </a:custGeom>
          <a:noFill/>
          <a:ln w="21590" cap="rnd">
            <a:solidFill>
              <a:schemeClr val="bg1"/>
            </a:solidFill>
            <a:round/>
          </a:ln>
          <a:effectLst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maturity-model:rising-curve-foundations-rail">
    <p:spTree>
      <p:nvGrpSpPr>
        <p:cNvPr id="1" name=""/>
        <p:cNvGrpSpPr/>
        <p:nvPr/>
      </p:nvGrpSpPr>
      <p:grpSpPr/>
      <p:sp>
        <p:nvSpPr>
          <p:cNvPr id="2" name="slot.title"/>
          <p:cNvSpPr txBox="1"/>
          <p:nvPr/>
        </p:nvSpPr>
        <p:spPr>
          <a:xfrm>
            <a:off x="457200" y="256032"/>
            <a:ext cx="11338560" cy="51206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Finance value </a:t>
            </a:r>
            <a:r>
              <a:rPr lang="en-US" sz="2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climbs fastest</a:t>
            </a:r>
            <a:r>
              <a:rPr lang="en-US" sz="2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once teams move past automated posting</a:t>
            </a:r>
            <a:endParaRPr lang="en-US" sz="2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truct.plot"/>
          <p:cNvSpPr/>
          <p:nvPr/>
        </p:nvSpPr>
        <p:spPr>
          <a:xfrm>
            <a:off x="1354197" y="1110739"/>
            <a:ext cx="8573628" cy="51478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9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" name="struct.axis.y"/>
          <p:cNvCxnSpPr/>
          <p:nvPr/>
        </p:nvCxnSpPr>
        <p:spPr>
          <a:xfrm rot="10800000">
            <a:off x="1354198" y="1115817"/>
            <a:ext cx="0" cy="5102102"/>
          </a:xfrm>
          <a:prstGeom prst="straightConnector1">
            <a:avLst/>
          </a:prstGeom>
          <a:noFill/>
          <a:ln cap="flat" cmpd="sng" w="14300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len="sm" w="sm" type="none"/>
            <a:tailEnd len="med" w="med" type="triangle"/>
          </a:ln>
          <a:effectLst/>
        </p:spPr>
      </p:cxnSp>
      <p:cxnSp>
        <p:nvCxnSpPr>
          <p:cNvPr id="5" name="struct.axis.x"/>
          <p:cNvCxnSpPr/>
          <p:nvPr/>
        </p:nvCxnSpPr>
        <p:spPr>
          <a:xfrm>
            <a:off x="1346574" y="6221185"/>
            <a:ext cx="8686056" cy="0"/>
          </a:xfrm>
          <a:prstGeom prst="straightConnector1">
            <a:avLst/>
          </a:prstGeom>
          <a:noFill/>
          <a:ln cap="flat" cmpd="sng" w="14300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len="sm" w="sm" type="none"/>
            <a:tailEnd len="med" w="med" type="triangle"/>
          </a:ln>
          <a:effectLst/>
        </p:spPr>
      </p:cxnSp>
      <p:sp>
        <p:nvSpPr>
          <p:cNvPr id="6" name="slot.marker"/>
          <p:cNvSpPr txBox="1"/>
          <p:nvPr/>
        </p:nvSpPr>
        <p:spPr>
          <a:xfrm>
            <a:off x="4844963" y="5266925"/>
            <a:ext cx="1565365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18288" lIns="36576" spcFirstLastPara="1" rIns="36576" wrap="square" tIns="18288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Most teams today</a:t>
            </a:r>
            <a:endParaRPr lang="en-US" sz="105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lot.axis.y.label"/>
          <p:cNvSpPr txBox="1"/>
          <p:nvPr/>
        </p:nvSpPr>
        <p:spPr>
          <a:xfrm flipH="1" rot="-5398089">
            <a:off x="-575922" y="3511929"/>
            <a:ext cx="2377440" cy="30987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Value to the business</a:t>
            </a:r>
            <a:endParaRPr lang="en-US" sz="1050" b="1" i="0" kern="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lot.axis.y.tick.4"/>
          <p:cNvSpPr txBox="1"/>
          <p:nvPr/>
        </p:nvSpPr>
        <p:spPr>
          <a:xfrm>
            <a:off x="785965" y="5581182"/>
            <a:ext cx="528616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27000" lIns="27000" spcFirstLastPara="1" rIns="27000" wrap="square" tIns="27000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Low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slot.axis.y.tick.3"/>
          <p:cNvSpPr txBox="1"/>
          <p:nvPr/>
        </p:nvSpPr>
        <p:spPr>
          <a:xfrm>
            <a:off x="785965" y="4099680"/>
            <a:ext cx="528616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27000" lIns="27000" spcFirstLastPara="1" rIns="27000" wrap="square" tIns="27000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Medium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lot.axis.y.tick.2"/>
          <p:cNvSpPr txBox="1"/>
          <p:nvPr/>
        </p:nvSpPr>
        <p:spPr>
          <a:xfrm>
            <a:off x="785965" y="2618178"/>
            <a:ext cx="528616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27000" lIns="27000" spcFirstLastPara="1" rIns="27000" wrap="square" tIns="27000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High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ot.axis.y.tick.1"/>
          <p:cNvSpPr txBox="1"/>
          <p:nvPr/>
        </p:nvSpPr>
        <p:spPr>
          <a:xfrm>
            <a:off x="785965" y="1136676"/>
            <a:ext cx="528616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27000" lIns="27000" spcFirstLastPara="1" rIns="27000" wrap="square" tIns="27000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Highest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truct.rail"/>
          <p:cNvSpPr/>
          <p:nvPr/>
        </p:nvSpPr>
        <p:spPr>
          <a:xfrm>
            <a:off x="10027631" y="1115817"/>
            <a:ext cx="1768129" cy="5102102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  <a:effectLst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9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struct.curve"/>
          <p:cNvSpPr/>
          <p:nvPr/>
        </p:nvSpPr>
        <p:spPr>
          <a:xfrm>
            <a:off x="1352861" y="1613094"/>
            <a:ext cx="8573388" cy="3561106"/>
          </a:xfrm>
          <a:custGeom>
            <a:rect b="b" l="l" r="r" t="t"/>
            <a:pathLst>
              <a:path extrusionOk="0" h="79923" w="181510">
                <a:moveTo>
                  <a:pt x="0" y="79740"/>
                </a:moveTo>
                <a:cubicBezTo>
                  <a:pt x="8077" y="79006"/>
                  <a:pt x="26140" y="81943"/>
                  <a:pt x="48462" y="75335"/>
                </a:cubicBezTo>
                <a:cubicBezTo>
                  <a:pt x="70784" y="68727"/>
                  <a:pt x="111755" y="52646"/>
                  <a:pt x="133930" y="40090"/>
                </a:cubicBezTo>
                <a:cubicBezTo>
                  <a:pt x="156105" y="27534"/>
                  <a:pt x="173580" y="6682"/>
                  <a:pt x="181510" y="0"/>
                </a:cubicBezTo>
              </a:path>
            </a:pathLst>
          </a:custGeom>
          <a:noFill/>
          <a:ln cap="flat" cmpd="sng" w="13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9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" name="struct.fence.1"/>
          <p:cNvCxnSpPr/>
          <p:nvPr/>
        </p:nvCxnSpPr>
        <p:spPr>
          <a:xfrm>
            <a:off x="3142887" y="5185283"/>
            <a:ext cx="0" cy="745194"/>
          </a:xfrm>
          <a:prstGeom prst="straightConnector1">
            <a:avLst/>
          </a:prstGeom>
          <a:noFill/>
          <a:ln cap="rnd" cmpd="sng" w="9525">
            <a:solidFill>
              <a:schemeClr val="bg1">
                <a:lumMod val="5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cxnSp>
        <p:nvCxnSpPr>
          <p:cNvPr id="15" name="struct.fence.2"/>
          <p:cNvCxnSpPr/>
          <p:nvPr/>
        </p:nvCxnSpPr>
        <p:spPr>
          <a:xfrm>
            <a:off x="4799394" y="4777201"/>
            <a:ext cx="0" cy="1153275"/>
          </a:xfrm>
          <a:prstGeom prst="straightConnector1">
            <a:avLst/>
          </a:prstGeom>
          <a:noFill/>
          <a:ln cap="rnd" cmpd="sng" w="9525">
            <a:solidFill>
              <a:schemeClr val="bg1">
                <a:lumMod val="5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cxnSp>
        <p:nvCxnSpPr>
          <p:cNvPr id="16" name="struct.fence.3"/>
          <p:cNvCxnSpPr/>
          <p:nvPr/>
        </p:nvCxnSpPr>
        <p:spPr>
          <a:xfrm>
            <a:off x="6455900" y="4179614"/>
            <a:ext cx="0" cy="1750863"/>
          </a:xfrm>
          <a:prstGeom prst="straightConnector1">
            <a:avLst/>
          </a:prstGeom>
          <a:noFill/>
          <a:ln cap="rnd" cmpd="sng" w="9525">
            <a:solidFill>
              <a:schemeClr val="bg1">
                <a:lumMod val="5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cxnSp>
        <p:nvCxnSpPr>
          <p:cNvPr id="17" name="struct.fence.4"/>
          <p:cNvCxnSpPr/>
          <p:nvPr/>
        </p:nvCxnSpPr>
        <p:spPr>
          <a:xfrm>
            <a:off x="8112405" y="3429417"/>
            <a:ext cx="0" cy="2501060"/>
          </a:xfrm>
          <a:prstGeom prst="straightConnector1">
            <a:avLst/>
          </a:prstGeom>
          <a:noFill/>
          <a:ln cap="rnd" cmpd="sng" w="9525">
            <a:solidFill>
              <a:schemeClr val="bg1">
                <a:lumMod val="5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sp>
        <p:nvSpPr>
          <p:cNvPr id="18" name="slot.level.1.num"/>
          <p:cNvSpPr/>
          <p:nvPr/>
        </p:nvSpPr>
        <p:spPr>
          <a:xfrm>
            <a:off x="2170855" y="4994745"/>
            <a:ext cx="274320" cy="274320"/>
          </a:xfrm>
          <a:prstGeom prst="ellipse">
            <a:avLst/>
          </a:prstGeom>
          <a:solidFill>
            <a:schemeClr val="accent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lot.level.1.label"/>
          <p:cNvSpPr txBox="1"/>
          <p:nvPr/>
        </p:nvSpPr>
        <p:spPr>
          <a:xfrm>
            <a:off x="1569775" y="5333073"/>
            <a:ext cx="1476479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Slow close</a:t>
            </a:r>
            <a:endParaRPr lang="en-US" sz="105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lot.level.1.body"/>
          <p:cNvSpPr txBox="1"/>
          <p:nvPr/>
        </p:nvSpPr>
        <p:spPr>
          <a:xfrm>
            <a:off x="1569775" y="5570817"/>
            <a:ext cx="1476479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Errors only surface late in the review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lot.level.2.num"/>
          <p:cNvSpPr/>
          <p:nvPr/>
        </p:nvSpPr>
        <p:spPr>
          <a:xfrm>
            <a:off x="3866070" y="4707075"/>
            <a:ext cx="274320" cy="274320"/>
          </a:xfrm>
          <a:prstGeom prst="ellipse">
            <a:avLst/>
          </a:prstGeom>
          <a:solidFill>
            <a:schemeClr val="accent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lot.level.2.label"/>
          <p:cNvSpPr txBox="1"/>
          <p:nvPr/>
        </p:nvSpPr>
        <p:spPr>
          <a:xfrm>
            <a:off x="3264991" y="5045403"/>
            <a:ext cx="1476479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Fewer errors</a:t>
            </a:r>
            <a:endParaRPr lang="en-US" sz="105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slot.level.2.body"/>
          <p:cNvSpPr txBox="1"/>
          <p:nvPr/>
        </p:nvSpPr>
        <p:spPr>
          <a:xfrm>
            <a:off x="3264991" y="5283147"/>
            <a:ext cx="1476479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Staff still clear every exception by hand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lot.level.3.num"/>
          <p:cNvSpPr/>
          <p:nvPr/>
        </p:nvSpPr>
        <p:spPr>
          <a:xfrm>
            <a:off x="5488376" y="4160501"/>
            <a:ext cx="274320" cy="274320"/>
          </a:xfrm>
          <a:prstGeom prst="ellipse">
            <a:avLst/>
          </a:prstGeom>
          <a:solidFill>
            <a:schemeClr val="accent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slot.level.3.label"/>
          <p:cNvSpPr txBox="1"/>
          <p:nvPr/>
        </p:nvSpPr>
        <p:spPr>
          <a:xfrm>
            <a:off x="4887296" y="4498829"/>
            <a:ext cx="1476479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Faster close</a:t>
            </a:r>
            <a:endParaRPr lang="en-US" sz="105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slot.level.3.body"/>
          <p:cNvSpPr txBox="1"/>
          <p:nvPr/>
        </p:nvSpPr>
        <p:spPr>
          <a:xfrm>
            <a:off x="4887296" y="4736573"/>
            <a:ext cx="1476479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Exceptions queue for an analyst to clear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lot.level.4.num"/>
          <p:cNvSpPr/>
          <p:nvPr/>
        </p:nvSpPr>
        <p:spPr>
          <a:xfrm>
            <a:off x="7147136" y="3455709"/>
            <a:ext cx="274320" cy="274320"/>
          </a:xfrm>
          <a:prstGeom prst="ellipse">
            <a:avLst/>
          </a:prstGeom>
          <a:solidFill>
            <a:schemeClr val="accent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lot.level.4.label"/>
          <p:cNvSpPr txBox="1"/>
          <p:nvPr/>
        </p:nvSpPr>
        <p:spPr>
          <a:xfrm>
            <a:off x="6546056" y="3794037"/>
            <a:ext cx="1476479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Earlier insight</a:t>
            </a:r>
            <a:endParaRPr lang="en-US" sz="105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lot.level.4.body"/>
          <p:cNvSpPr txBox="1"/>
          <p:nvPr/>
        </p:nvSpPr>
        <p:spPr>
          <a:xfrm>
            <a:off x="6546056" y="4031781"/>
            <a:ext cx="1476479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Analysts act on model advice each day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slot.level.5.num"/>
          <p:cNvSpPr/>
          <p:nvPr/>
        </p:nvSpPr>
        <p:spPr>
          <a:xfrm>
            <a:off x="8796782" y="2348179"/>
            <a:ext cx="274320" cy="274320"/>
          </a:xfrm>
          <a:prstGeom prst="ellipse">
            <a:avLst/>
          </a:prstGeom>
          <a:solidFill>
            <a:schemeClr val="accent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5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lot.level.5.label"/>
          <p:cNvSpPr txBox="1"/>
          <p:nvPr/>
        </p:nvSpPr>
        <p:spPr>
          <a:xfrm>
            <a:off x="8332414" y="3052267"/>
            <a:ext cx="1476479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Continuous close</a:t>
            </a:r>
            <a:endParaRPr lang="en-US" sz="105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lot.level.5.body"/>
          <p:cNvSpPr txBox="1"/>
          <p:nvPr/>
        </p:nvSpPr>
        <p:spPr>
          <a:xfrm>
            <a:off x="8332414" y="3290011"/>
            <a:ext cx="1476479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People govern the policy and every limit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slot.level.1.head"/>
          <p:cNvSpPr/>
          <p:nvPr/>
        </p:nvSpPr>
        <p:spPr>
          <a:xfrm>
            <a:off x="1478634" y="4034625"/>
            <a:ext cx="1476479" cy="384048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27432" lIns="384048" spcFirstLastPara="1" rIns="36576" wrap="square" tIns="27432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Manual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slot.level.1.desc"/>
          <p:cNvSpPr txBox="1"/>
          <p:nvPr/>
        </p:nvSpPr>
        <p:spPr>
          <a:xfrm>
            <a:off x="1478634" y="4455249"/>
            <a:ext cx="1476479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Staff key and check every entry by hand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lot.level.2.head"/>
          <p:cNvSpPr/>
          <p:nvPr/>
        </p:nvSpPr>
        <p:spPr>
          <a:xfrm>
            <a:off x="3173850" y="3746955"/>
            <a:ext cx="1476479" cy="384048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27432" lIns="384048" spcFirstLastPara="1" rIns="36576" wrap="square" tIns="27432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Assisted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slot.level.2.desc"/>
          <p:cNvSpPr txBox="1"/>
          <p:nvPr/>
        </p:nvSpPr>
        <p:spPr>
          <a:xfrm>
            <a:off x="3173850" y="4167579"/>
            <a:ext cx="1476479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Rules flag gaps for staff to review and fix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slot.level.3.head"/>
          <p:cNvSpPr/>
          <p:nvPr/>
        </p:nvSpPr>
        <p:spPr>
          <a:xfrm>
            <a:off x="4796155" y="3200381"/>
            <a:ext cx="1476479" cy="384048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27432" lIns="384048" spcFirstLastPara="1" rIns="36576" wrap="square" tIns="27432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Automated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lot.level.3.desc"/>
          <p:cNvSpPr txBox="1"/>
          <p:nvPr/>
        </p:nvSpPr>
        <p:spPr>
          <a:xfrm>
            <a:off x="4796155" y="3621005"/>
            <a:ext cx="1476479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Bots post routine entries end to end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slot.level.4.head"/>
          <p:cNvSpPr/>
          <p:nvPr/>
        </p:nvSpPr>
        <p:spPr>
          <a:xfrm>
            <a:off x="6454916" y="2495589"/>
            <a:ext cx="1476479" cy="384048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27432" lIns="384048" spcFirstLastPara="1" rIns="36576" wrap="square" tIns="27432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Augmented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slot.level.4.desc"/>
          <p:cNvSpPr txBox="1"/>
          <p:nvPr/>
        </p:nvSpPr>
        <p:spPr>
          <a:xfrm>
            <a:off x="6454916" y="2916213"/>
            <a:ext cx="1476479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Models forecast and suggest next steps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lot.level.5.head"/>
          <p:cNvSpPr/>
          <p:nvPr/>
        </p:nvSpPr>
        <p:spPr>
          <a:xfrm>
            <a:off x="8104562" y="1388059"/>
            <a:ext cx="1476479" cy="384048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27432" lIns="384048" spcFirstLastPara="1" rIns="36576" wrap="square" tIns="27432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Autonomous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slot.level.5.desc"/>
          <p:cNvSpPr txBox="1"/>
          <p:nvPr/>
        </p:nvSpPr>
        <p:spPr>
          <a:xfrm>
            <a:off x="8104562" y="1808683"/>
            <a:ext cx="1476479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27000" lIns="27000" spcFirstLastPara="1" rIns="27000" wrap="square" tIns="2700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Agents run the close within set limits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slot.rail.item.1"/>
          <p:cNvSpPr/>
          <p:nvPr/>
        </p:nvSpPr>
        <p:spPr>
          <a:xfrm>
            <a:off x="10100543" y="1865625"/>
            <a:ext cx="1640532" cy="760730"/>
          </a:xfrm>
          <a:prstGeom prst="roundRect">
            <a:avLst>
              <a:gd fmla="val 6010" name="adj"/>
            </a:avLst>
          </a:prstGeom>
          <a:solidFill>
            <a:schemeClr val="bg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54864" lIns="438912" spcFirstLastPara="1" rIns="36576" wrap="square" tIns="54864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Controls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Every entry has an audit trail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slot.rail.item.2"/>
          <p:cNvSpPr/>
          <p:nvPr/>
        </p:nvSpPr>
        <p:spPr>
          <a:xfrm>
            <a:off x="10100543" y="2736084"/>
            <a:ext cx="1640532" cy="760730"/>
          </a:xfrm>
          <a:prstGeom prst="roundRect">
            <a:avLst>
              <a:gd fmla="val 6010" name="adj"/>
            </a:avLst>
          </a:prstGeom>
          <a:solidFill>
            <a:schemeClr val="bg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54864" lIns="438912" spcFirstLastPara="1" rIns="36576" wrap="square" tIns="54864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Oversight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People approve agent limits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lot.rail.item.3"/>
          <p:cNvSpPr/>
          <p:nvPr/>
        </p:nvSpPr>
        <p:spPr>
          <a:xfrm>
            <a:off x="10100543" y="3606543"/>
            <a:ext cx="1640532" cy="760730"/>
          </a:xfrm>
          <a:prstGeom prst="roundRect">
            <a:avLst>
              <a:gd fmla="val 6010" name="adj"/>
            </a:avLst>
          </a:prstGeom>
          <a:solidFill>
            <a:schemeClr val="bg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54864" lIns="438912" spcFirstLastPara="1" rIns="36576" wrap="square" tIns="54864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Integration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ledger and data model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slot.rail.item.4"/>
          <p:cNvSpPr/>
          <p:nvPr/>
        </p:nvSpPr>
        <p:spPr>
          <a:xfrm>
            <a:off x="10100543" y="4477002"/>
            <a:ext cx="1640532" cy="760730"/>
          </a:xfrm>
          <a:prstGeom prst="roundRect">
            <a:avLst>
              <a:gd fmla="val 6010" name="adj"/>
            </a:avLst>
          </a:prstGeom>
          <a:solidFill>
            <a:schemeClr val="bg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54864" lIns="438912" spcFirstLastPara="1" rIns="36576" wrap="square" tIns="54864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Data quality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Master data cleaned monthly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slot.rail.item.5"/>
          <p:cNvSpPr/>
          <p:nvPr/>
        </p:nvSpPr>
        <p:spPr>
          <a:xfrm>
            <a:off x="10100543" y="5347461"/>
            <a:ext cx="1640532" cy="760730"/>
          </a:xfrm>
          <a:prstGeom prst="roundRect">
            <a:avLst>
              <a:gd fmla="val 6010" name="adj"/>
            </a:avLst>
          </a:prstGeom>
          <a:solidFill>
            <a:schemeClr val="bg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54864" lIns="438912" spcFirstLastPara="1" rIns="36576" wrap="square" tIns="54864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Skills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Analysts trained for each level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slot.level.1.icon"/>
          <p:cNvSpPr/>
          <p:nvPr/>
        </p:nvSpPr>
        <p:spPr>
          <a:xfrm>
            <a:off x="1578440" y="4089489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8000" y="13000"/>
                </a:moveTo>
                <a:lnTo>
                  <a:pt x="10000" y="13000"/>
                </a:lnTo>
                <a:moveTo>
                  <a:pt x="14000" y="13000"/>
                </a:moveTo>
                <a:lnTo>
                  <a:pt x="16000" y="13000"/>
                </a:lnTo>
                <a:moveTo>
                  <a:pt x="8000" y="17000"/>
                </a:moveTo>
                <a:lnTo>
                  <a:pt x="10000" y="17000"/>
                </a:lnTo>
                <a:moveTo>
                  <a:pt x="14000" y="17000"/>
                </a:moveTo>
                <a:lnTo>
                  <a:pt x="16000" y="17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49" name="slot.level.2.icon"/>
          <p:cNvSpPr/>
          <p:nvPr/>
        </p:nvSpPr>
        <p:spPr>
          <a:xfrm>
            <a:off x="3273657" y="3801819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000" y="5000"/>
                </a:moveTo>
                <a:lnTo>
                  <a:pt x="21000" y="5000"/>
                </a:lnTo>
                <a:moveTo>
                  <a:pt x="13000" y="12000"/>
                </a:moveTo>
                <a:lnTo>
                  <a:pt x="21000" y="12000"/>
                </a:lnTo>
                <a:moveTo>
                  <a:pt x="13000" y="19000"/>
                </a:moveTo>
                <a:lnTo>
                  <a:pt x="21000" y="19000"/>
                </a:lnTo>
                <a:moveTo>
                  <a:pt x="3000" y="17000"/>
                </a:moveTo>
                <a:lnTo>
                  <a:pt x="5000" y="19000"/>
                </a:lnTo>
                <a:lnTo>
                  <a:pt x="9000" y="15000"/>
                </a:lnTo>
                <a:moveTo>
                  <a:pt x="3000" y="7000"/>
                </a:moveTo>
                <a:lnTo>
                  <a:pt x="5000" y="9000"/>
                </a:lnTo>
                <a:lnTo>
                  <a:pt x="9000" y="5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50" name="slot.level.3.icon"/>
          <p:cNvSpPr/>
          <p:nvPr/>
        </p:nvSpPr>
        <p:spPr>
          <a:xfrm>
            <a:off x="4895961" y="325524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3000"/>
                </a:moveTo>
                <a:lnTo>
                  <a:pt x="9000" y="3000"/>
                </a:lnTo>
                <a:cubicBezTo>
                  <a:pt x="10105" y="3000"/>
                  <a:pt x="11000" y="3895"/>
                  <a:pt x="11000" y="5000"/>
                </a:cubicBezTo>
                <a:lnTo>
                  <a:pt x="11000" y="9000"/>
                </a:lnTo>
                <a:cubicBezTo>
                  <a:pt x="11000" y="10105"/>
                  <a:pt x="10105" y="11000"/>
                  <a:pt x="9000" y="11000"/>
                </a:cubicBezTo>
                <a:lnTo>
                  <a:pt x="5000" y="11000"/>
                </a:lnTo>
                <a:cubicBezTo>
                  <a:pt x="3895" y="11000"/>
                  <a:pt x="3000" y="10105"/>
                  <a:pt x="3000" y="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  <a:moveTo>
                  <a:pt x="7000" y="11000"/>
                </a:moveTo>
                <a:lnTo>
                  <a:pt x="7000" y="15000"/>
                </a:lnTo>
                <a:cubicBezTo>
                  <a:pt x="7000" y="16105"/>
                  <a:pt x="7895" y="17000"/>
                  <a:pt x="9000" y="17000"/>
                </a:cubicBezTo>
                <a:lnTo>
                  <a:pt x="13000" y="17000"/>
                </a:lnTo>
                <a:moveTo>
                  <a:pt x="15000" y="13000"/>
                </a:moveTo>
                <a:lnTo>
                  <a:pt x="19000" y="13000"/>
                </a:lnTo>
                <a:cubicBezTo>
                  <a:pt x="20105" y="13000"/>
                  <a:pt x="21000" y="13895"/>
                  <a:pt x="21000" y="1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5000" y="21000"/>
                </a:lnTo>
                <a:cubicBezTo>
                  <a:pt x="13895" y="21000"/>
                  <a:pt x="13000" y="20105"/>
                  <a:pt x="13000" y="19000"/>
                </a:cubicBezTo>
                <a:lnTo>
                  <a:pt x="13000" y="15000"/>
                </a:lnTo>
                <a:cubicBezTo>
                  <a:pt x="13000" y="13895"/>
                  <a:pt x="13895" y="13000"/>
                  <a:pt x="15000" y="13000"/>
                </a:cubicBezTo>
                <a:close/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51" name="slot.level.4.icon"/>
          <p:cNvSpPr/>
          <p:nvPr/>
        </p:nvSpPr>
        <p:spPr>
          <a:xfrm>
            <a:off x="6554722" y="2550454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5000"/>
                </a:moveTo>
                <a:cubicBezTo>
                  <a:pt x="12003" y="3911"/>
                  <a:pt x="11416" y="2906"/>
                  <a:pt x="10466" y="2374"/>
                </a:cubicBezTo>
                <a:cubicBezTo>
                  <a:pt x="9516" y="1842"/>
                  <a:pt x="8353" y="1866"/>
                  <a:pt x="7426" y="2437"/>
                </a:cubicBezTo>
                <a:cubicBezTo>
                  <a:pt x="6499" y="3009"/>
                  <a:pt x="5954" y="4037"/>
                  <a:pt x="6003" y="5125"/>
                </a:cubicBezTo>
                <a:cubicBezTo>
                  <a:pt x="4812" y="5431"/>
                  <a:pt x="3828" y="6268"/>
                  <a:pt x="3335" y="7395"/>
                </a:cubicBezTo>
                <a:cubicBezTo>
                  <a:pt x="2842" y="8521"/>
                  <a:pt x="2894" y="9812"/>
                  <a:pt x="3477" y="10895"/>
                </a:cubicBezTo>
                <a:cubicBezTo>
                  <a:pt x="2450" y="11729"/>
                  <a:pt x="1902" y="13018"/>
                  <a:pt x="2013" y="14336"/>
                </a:cubicBezTo>
                <a:cubicBezTo>
                  <a:pt x="2125" y="15654"/>
                  <a:pt x="2881" y="16833"/>
                  <a:pt x="4033" y="17483"/>
                </a:cubicBezTo>
                <a:cubicBezTo>
                  <a:pt x="3842" y="18961"/>
                  <a:pt x="4488" y="20422"/>
                  <a:pt x="5710" y="21275"/>
                </a:cubicBezTo>
                <a:cubicBezTo>
                  <a:pt x="6931" y="22128"/>
                  <a:pt x="8526" y="22232"/>
                  <a:pt x="9847" y="21544"/>
                </a:cubicBezTo>
                <a:cubicBezTo>
                  <a:pt x="11169" y="20856"/>
                  <a:pt x="11998" y="19490"/>
                  <a:pt x="12000" y="18000"/>
                </a:cubicBezTo>
                <a:close/>
                <a:moveTo>
                  <a:pt x="9000" y="13000"/>
                </a:moveTo>
                <a:cubicBezTo>
                  <a:pt x="10717" y="12396"/>
                  <a:pt x="11901" y="10817"/>
                  <a:pt x="12000" y="9000"/>
                </a:cubicBezTo>
                <a:moveTo>
                  <a:pt x="6003" y="5125"/>
                </a:moveTo>
                <a:cubicBezTo>
                  <a:pt x="6023" y="5609"/>
                  <a:pt x="6159" y="6080"/>
                  <a:pt x="6401" y="6500"/>
                </a:cubicBezTo>
                <a:moveTo>
                  <a:pt x="3477" y="10896"/>
                </a:moveTo>
                <a:cubicBezTo>
                  <a:pt x="3660" y="10747"/>
                  <a:pt x="3856" y="10614"/>
                  <a:pt x="4062" y="10500"/>
                </a:cubicBezTo>
                <a:moveTo>
                  <a:pt x="6000" y="18000"/>
                </a:moveTo>
                <a:cubicBezTo>
                  <a:pt x="5311" y="18000"/>
                  <a:pt x="4633" y="17823"/>
                  <a:pt x="4033" y="17484"/>
                </a:cubicBezTo>
                <a:moveTo>
                  <a:pt x="12000" y="13000"/>
                </a:moveTo>
                <a:lnTo>
                  <a:pt x="16000" y="13000"/>
                </a:lnTo>
                <a:moveTo>
                  <a:pt x="12000" y="18000"/>
                </a:moveTo>
                <a:lnTo>
                  <a:pt x="18000" y="18000"/>
                </a:lnTo>
                <a:cubicBezTo>
                  <a:pt x="19105" y="18000"/>
                  <a:pt x="20000" y="18895"/>
                  <a:pt x="20000" y="20000"/>
                </a:cubicBezTo>
                <a:lnTo>
                  <a:pt x="20000" y="21000"/>
                </a:lnTo>
                <a:moveTo>
                  <a:pt x="12000" y="8000"/>
                </a:moveTo>
                <a:lnTo>
                  <a:pt x="20000" y="8000"/>
                </a:lnTo>
                <a:moveTo>
                  <a:pt x="16000" y="8000"/>
                </a:moveTo>
                <a:lnTo>
                  <a:pt x="16000" y="5000"/>
                </a:lnTo>
                <a:cubicBezTo>
                  <a:pt x="16000" y="3895"/>
                  <a:pt x="16895" y="3000"/>
                  <a:pt x="18000" y="3000"/>
                </a:cubicBezTo>
                <a:moveTo>
                  <a:pt x="16500" y="13000"/>
                </a:moveTo>
                <a:cubicBezTo>
                  <a:pt x="16500" y="13276"/>
                  <a:pt x="16276" y="13500"/>
                  <a:pt x="16000" y="13500"/>
                </a:cubicBezTo>
                <a:cubicBezTo>
                  <a:pt x="15724" y="13500"/>
                  <a:pt x="15500" y="13276"/>
                  <a:pt x="15500" y="13000"/>
                </a:cubicBezTo>
                <a:cubicBezTo>
                  <a:pt x="15500" y="12724"/>
                  <a:pt x="15724" y="12500"/>
                  <a:pt x="16000" y="12500"/>
                </a:cubicBezTo>
                <a:cubicBezTo>
                  <a:pt x="16276" y="12500"/>
                  <a:pt x="16500" y="12724"/>
                  <a:pt x="16500" y="13000"/>
                </a:cubicBezTo>
                <a:close/>
                <a:moveTo>
                  <a:pt x="18500" y="3000"/>
                </a:moveTo>
                <a:cubicBezTo>
                  <a:pt x="18500" y="3276"/>
                  <a:pt x="18276" y="3500"/>
                  <a:pt x="18000" y="3500"/>
                </a:cubicBezTo>
                <a:cubicBezTo>
                  <a:pt x="17724" y="3500"/>
                  <a:pt x="17500" y="3276"/>
                  <a:pt x="17500" y="3000"/>
                </a:cubicBezTo>
                <a:cubicBezTo>
                  <a:pt x="17500" y="2724"/>
                  <a:pt x="17724" y="2500"/>
                  <a:pt x="18000" y="2500"/>
                </a:cubicBezTo>
                <a:cubicBezTo>
                  <a:pt x="18276" y="2500"/>
                  <a:pt x="18500" y="2724"/>
                  <a:pt x="18500" y="3000"/>
                </a:cubicBezTo>
                <a:close/>
                <a:moveTo>
                  <a:pt x="20500" y="21000"/>
                </a:moveTo>
                <a:cubicBezTo>
                  <a:pt x="20500" y="21276"/>
                  <a:pt x="20276" y="21500"/>
                  <a:pt x="20000" y="21500"/>
                </a:cubicBezTo>
                <a:cubicBezTo>
                  <a:pt x="19724" y="21500"/>
                  <a:pt x="19500" y="21276"/>
                  <a:pt x="19500" y="21000"/>
                </a:cubicBezTo>
                <a:cubicBezTo>
                  <a:pt x="19500" y="20724"/>
                  <a:pt x="19724" y="20500"/>
                  <a:pt x="20000" y="20500"/>
                </a:cubicBezTo>
                <a:cubicBezTo>
                  <a:pt x="20276" y="20500"/>
                  <a:pt x="20500" y="20724"/>
                  <a:pt x="20500" y="21000"/>
                </a:cubicBezTo>
                <a:close/>
                <a:moveTo>
                  <a:pt x="20500" y="8000"/>
                </a:moveTo>
                <a:cubicBezTo>
                  <a:pt x="20500" y="8276"/>
                  <a:pt x="20276" y="8500"/>
                  <a:pt x="20000" y="8500"/>
                </a:cubicBezTo>
                <a:cubicBezTo>
                  <a:pt x="19724" y="8500"/>
                  <a:pt x="19500" y="8276"/>
                  <a:pt x="19500" y="8000"/>
                </a:cubicBezTo>
                <a:cubicBezTo>
                  <a:pt x="19500" y="7724"/>
                  <a:pt x="19724" y="7500"/>
                  <a:pt x="20000" y="7500"/>
                </a:cubicBezTo>
                <a:cubicBezTo>
                  <a:pt x="20276" y="7500"/>
                  <a:pt x="20500" y="7724"/>
                  <a:pt x="20500" y="8000"/>
                </a:cubicBezTo>
                <a:close/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52" name="slot.level.5.icon"/>
          <p:cNvSpPr/>
          <p:nvPr/>
        </p:nvSpPr>
        <p:spPr>
          <a:xfrm>
            <a:off x="8204368" y="1442923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53" name="slot.rail.icon"/>
          <p:cNvSpPr/>
          <p:nvPr/>
        </p:nvSpPr>
        <p:spPr>
          <a:xfrm>
            <a:off x="10154629" y="12712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830" y="2180"/>
                </a:moveTo>
                <a:cubicBezTo>
                  <a:pt x="12303" y="1940"/>
                  <a:pt x="11697" y="1940"/>
                  <a:pt x="11170" y="2180"/>
                </a:cubicBezTo>
                <a:lnTo>
                  <a:pt x="2600" y="6080"/>
                </a:lnTo>
                <a:cubicBezTo>
                  <a:pt x="2237" y="6240"/>
                  <a:pt x="2003" y="6599"/>
                  <a:pt x="2003" y="6995"/>
                </a:cubicBezTo>
                <a:cubicBezTo>
                  <a:pt x="2003" y="7391"/>
                  <a:pt x="2237" y="7750"/>
                  <a:pt x="2600" y="7910"/>
                </a:cubicBezTo>
                <a:lnTo>
                  <a:pt x="11180" y="11820"/>
                </a:lnTo>
                <a:cubicBezTo>
                  <a:pt x="11707" y="12060"/>
                  <a:pt x="12313" y="12060"/>
                  <a:pt x="12840" y="11820"/>
                </a:cubicBezTo>
                <a:lnTo>
                  <a:pt x="21420" y="7920"/>
                </a:lnTo>
                <a:cubicBezTo>
                  <a:pt x="21783" y="7760"/>
                  <a:pt x="22017" y="7401"/>
                  <a:pt x="22017" y="7005"/>
                </a:cubicBezTo>
                <a:cubicBezTo>
                  <a:pt x="22017" y="6609"/>
                  <a:pt x="21783" y="6250"/>
                  <a:pt x="21420" y="6090"/>
                </a:cubicBezTo>
                <a:close/>
                <a:moveTo>
                  <a:pt x="2000" y="12000"/>
                </a:moveTo>
                <a:cubicBezTo>
                  <a:pt x="1999" y="12391"/>
                  <a:pt x="2226" y="12746"/>
                  <a:pt x="2580" y="12910"/>
                </a:cubicBezTo>
                <a:lnTo>
                  <a:pt x="11180" y="16820"/>
                </a:lnTo>
                <a:cubicBezTo>
                  <a:pt x="11704" y="17057"/>
                  <a:pt x="12306" y="17057"/>
                  <a:pt x="12830" y="16820"/>
                </a:cubicBezTo>
                <a:lnTo>
                  <a:pt x="21410" y="12920"/>
                </a:lnTo>
                <a:cubicBezTo>
                  <a:pt x="21772" y="12757"/>
                  <a:pt x="22003" y="12397"/>
                  <a:pt x="22000" y="12000"/>
                </a:cubicBezTo>
                <a:moveTo>
                  <a:pt x="2000" y="17000"/>
                </a:moveTo>
                <a:cubicBezTo>
                  <a:pt x="1999" y="17391"/>
                  <a:pt x="2226" y="17746"/>
                  <a:pt x="2580" y="17910"/>
                </a:cubicBezTo>
                <a:lnTo>
                  <a:pt x="11180" y="21820"/>
                </a:lnTo>
                <a:cubicBezTo>
                  <a:pt x="11704" y="22057"/>
                  <a:pt x="12306" y="22057"/>
                  <a:pt x="12830" y="21820"/>
                </a:cubicBezTo>
                <a:lnTo>
                  <a:pt x="21410" y="17920"/>
                </a:lnTo>
                <a:cubicBezTo>
                  <a:pt x="21772" y="17757"/>
                  <a:pt x="22003" y="17397"/>
                  <a:pt x="22000" y="17000"/>
                </a:cubicBezTo>
              </a:path>
            </a:pathLst>
          </a:custGeom>
          <a:noFill/>
          <a:ln w="30480" cap="rnd">
            <a:solidFill>
              <a:schemeClr val="accent1"/>
            </a:solidFill>
            <a:round/>
          </a:ln>
          <a:effectLst/>
        </p:spPr>
      </p:sp>
      <p:sp>
        <p:nvSpPr>
          <p:cNvPr id="54" name="slot.rail.head"/>
          <p:cNvSpPr txBox="1"/>
          <p:nvPr/>
        </p:nvSpPr>
        <p:spPr>
          <a:xfrm>
            <a:off x="10592703" y="1207258"/>
            <a:ext cx="1184829" cy="512064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Foundations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for every level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slot.rail.item.1.icon"/>
          <p:cNvSpPr/>
          <p:nvPr/>
        </p:nvSpPr>
        <p:spPr>
          <a:xfrm>
            <a:off x="10182091" y="2099687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</p:sp>
      <p:sp>
        <p:nvSpPr>
          <p:cNvPr id="56" name="slot.rail.item.2.icon"/>
          <p:cNvSpPr/>
          <p:nvPr/>
        </p:nvSpPr>
        <p:spPr>
          <a:xfrm>
            <a:off x="10182091" y="297014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</p:sp>
      <p:sp>
        <p:nvSpPr>
          <p:cNvPr id="57" name="slot.rail.item.3.icon"/>
          <p:cNvSpPr/>
          <p:nvPr/>
        </p:nvSpPr>
        <p:spPr>
          <a:xfrm>
            <a:off x="10182091" y="3840605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970" y="12920"/>
                </a:moveTo>
                <a:cubicBezTo>
                  <a:pt x="2369" y="13281"/>
                  <a:pt x="2002" y="13929"/>
                  <a:pt x="2000" y="14630"/>
                </a:cubicBezTo>
                <a:lnTo>
                  <a:pt x="2000" y="17870"/>
                </a:lnTo>
                <a:cubicBezTo>
                  <a:pt x="2002" y="18571"/>
                  <a:pt x="2369" y="19219"/>
                  <a:pt x="2970" y="19580"/>
                </a:cubicBezTo>
                <a:lnTo>
                  <a:pt x="5970" y="21380"/>
                </a:lnTo>
                <a:cubicBezTo>
                  <a:pt x="6604" y="21761"/>
                  <a:pt x="7396" y="21761"/>
                  <a:pt x="8030" y="21380"/>
                </a:cubicBezTo>
                <a:lnTo>
                  <a:pt x="12000" y="19000"/>
                </a:lnTo>
                <a:lnTo>
                  <a:pt x="12000" y="13500"/>
                </a:lnTo>
                <a:lnTo>
                  <a:pt x="7000" y="10500"/>
                </a:lnTo>
                <a:lnTo>
                  <a:pt x="2970" y="12920"/>
                </a:lnTo>
                <a:close/>
                <a:moveTo>
                  <a:pt x="7000" y="16500"/>
                </a:moveTo>
                <a:lnTo>
                  <a:pt x="2260" y="13650"/>
                </a:lnTo>
                <a:moveTo>
                  <a:pt x="7000" y="16500"/>
                </a:moveTo>
                <a:lnTo>
                  <a:pt x="12000" y="13500"/>
                </a:lnTo>
                <a:moveTo>
                  <a:pt x="7000" y="16500"/>
                </a:moveTo>
                <a:lnTo>
                  <a:pt x="7000" y="21670"/>
                </a:lnTo>
                <a:moveTo>
                  <a:pt x="12000" y="13500"/>
                </a:moveTo>
                <a:lnTo>
                  <a:pt x="12000" y="19000"/>
                </a:lnTo>
                <a:lnTo>
                  <a:pt x="15970" y="21380"/>
                </a:lnTo>
                <a:cubicBezTo>
                  <a:pt x="16604" y="21761"/>
                  <a:pt x="17396" y="21761"/>
                  <a:pt x="18030" y="21380"/>
                </a:cubicBezTo>
                <a:lnTo>
                  <a:pt x="21030" y="19580"/>
                </a:lnTo>
                <a:cubicBezTo>
                  <a:pt x="21631" y="19219"/>
                  <a:pt x="21998" y="18571"/>
                  <a:pt x="22000" y="17870"/>
                </a:cubicBezTo>
                <a:lnTo>
                  <a:pt x="22000" y="14630"/>
                </a:lnTo>
                <a:cubicBezTo>
                  <a:pt x="21998" y="13929"/>
                  <a:pt x="21631" y="13281"/>
                  <a:pt x="21030" y="12920"/>
                </a:cubicBezTo>
                <a:lnTo>
                  <a:pt x="17000" y="10500"/>
                </a:lnTo>
                <a:lnTo>
                  <a:pt x="12000" y="13500"/>
                </a:lnTo>
                <a:close/>
                <a:moveTo>
                  <a:pt x="17000" y="16500"/>
                </a:moveTo>
                <a:lnTo>
                  <a:pt x="12000" y="13500"/>
                </a:lnTo>
                <a:moveTo>
                  <a:pt x="17000" y="16500"/>
                </a:moveTo>
                <a:lnTo>
                  <a:pt x="21740" y="13650"/>
                </a:lnTo>
                <a:moveTo>
                  <a:pt x="17000" y="16500"/>
                </a:moveTo>
                <a:lnTo>
                  <a:pt x="17000" y="21670"/>
                </a:lnTo>
                <a:moveTo>
                  <a:pt x="7970" y="4420"/>
                </a:moveTo>
                <a:cubicBezTo>
                  <a:pt x="7369" y="4781"/>
                  <a:pt x="7002" y="5429"/>
                  <a:pt x="7000" y="6130"/>
                </a:cubicBezTo>
                <a:lnTo>
                  <a:pt x="7000" y="10500"/>
                </a:lnTo>
                <a:lnTo>
                  <a:pt x="12000" y="13500"/>
                </a:lnTo>
                <a:lnTo>
                  <a:pt x="17000" y="10500"/>
                </a:lnTo>
                <a:lnTo>
                  <a:pt x="17000" y="6130"/>
                </a:lnTo>
                <a:cubicBezTo>
                  <a:pt x="16998" y="5429"/>
                  <a:pt x="16631" y="4781"/>
                  <a:pt x="16030" y="4420"/>
                </a:cubicBezTo>
                <a:lnTo>
                  <a:pt x="13030" y="2620"/>
                </a:lnTo>
                <a:cubicBezTo>
                  <a:pt x="12396" y="2239"/>
                  <a:pt x="11604" y="2239"/>
                  <a:pt x="10970" y="2620"/>
                </a:cubicBezTo>
                <a:lnTo>
                  <a:pt x="7970" y="4420"/>
                </a:lnTo>
                <a:close/>
                <a:moveTo>
                  <a:pt x="12000" y="8000"/>
                </a:moveTo>
                <a:lnTo>
                  <a:pt x="7260" y="5150"/>
                </a:lnTo>
                <a:moveTo>
                  <a:pt x="12000" y="8000"/>
                </a:moveTo>
                <a:lnTo>
                  <a:pt x="16740" y="5150"/>
                </a:lnTo>
                <a:moveTo>
                  <a:pt x="12000" y="13500"/>
                </a:moveTo>
                <a:lnTo>
                  <a:pt x="12000" y="8000"/>
                </a:lnTo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</p:sp>
      <p:sp>
        <p:nvSpPr>
          <p:cNvPr id="58" name="slot.rail.item.4.icon"/>
          <p:cNvSpPr/>
          <p:nvPr/>
        </p:nvSpPr>
        <p:spPr>
          <a:xfrm>
            <a:off x="10182091" y="4711064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</p:sp>
      <p:sp>
        <p:nvSpPr>
          <p:cNvPr id="59" name="slot.rail.item.5.icon"/>
          <p:cNvSpPr/>
          <p:nvPr/>
        </p:nvSpPr>
        <p:spPr>
          <a:xfrm>
            <a:off x="10182091" y="5581523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420" y="10922"/>
                </a:moveTo>
                <a:cubicBezTo>
                  <a:pt x="21786" y="10761"/>
                  <a:pt x="22020" y="10397"/>
                  <a:pt x="22016" y="9997"/>
                </a:cubicBezTo>
                <a:cubicBezTo>
                  <a:pt x="22012" y="9597"/>
                  <a:pt x="21770" y="9238"/>
                  <a:pt x="21401" y="9084"/>
                </a:cubicBezTo>
                <a:lnTo>
                  <a:pt x="12830" y="5180"/>
                </a:lnTo>
                <a:cubicBezTo>
                  <a:pt x="12303" y="4940"/>
                  <a:pt x="11697" y="4940"/>
                  <a:pt x="11170" y="5180"/>
                </a:cubicBezTo>
                <a:lnTo>
                  <a:pt x="2600" y="9080"/>
                </a:lnTo>
                <a:cubicBezTo>
                  <a:pt x="2236" y="9239"/>
                  <a:pt x="2001" y="9599"/>
                  <a:pt x="2001" y="9996"/>
                </a:cubicBezTo>
                <a:cubicBezTo>
                  <a:pt x="2001" y="10393"/>
                  <a:pt x="2236" y="10753"/>
                  <a:pt x="2600" y="10912"/>
                </a:cubicBezTo>
                <a:lnTo>
                  <a:pt x="11170" y="14820"/>
                </a:lnTo>
                <a:cubicBezTo>
                  <a:pt x="11697" y="15060"/>
                  <a:pt x="12303" y="15060"/>
                  <a:pt x="12830" y="14820"/>
                </a:cubicBezTo>
                <a:close/>
                <a:moveTo>
                  <a:pt x="22000" y="10000"/>
                </a:moveTo>
                <a:lnTo>
                  <a:pt x="22000" y="16000"/>
                </a:lnTo>
                <a:moveTo>
                  <a:pt x="6000" y="12500"/>
                </a:moveTo>
                <a:lnTo>
                  <a:pt x="6000" y="16000"/>
                </a:lnTo>
                <a:cubicBezTo>
                  <a:pt x="6000" y="17657"/>
                  <a:pt x="8686" y="19000"/>
                  <a:pt x="12000" y="19000"/>
                </a:cubicBezTo>
                <a:cubicBezTo>
                  <a:pt x="15314" y="19000"/>
                  <a:pt x="18000" y="17657"/>
                  <a:pt x="18000" y="16000"/>
                </a:cubicBezTo>
                <a:lnTo>
                  <a:pt x="18000" y="12500"/>
                </a:lnTo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hased-roadmap:gated-rail-phase-columns-loop">
    <p:spTree>
      <p:nvGrpSpPr>
        <p:cNvPr id="1" name=""/>
        <p:cNvGrpSpPr/>
        <p:nvPr/>
      </p:nvGrpSpPr>
      <p:grpSpPr/>
      <p:sp>
        <p:nvSpPr>
          <p:cNvPr id="2" name="slot.title"/>
          <p:cNvSpPr txBox="1"/>
          <p:nvPr/>
        </p:nvSpPr>
        <p:spPr>
          <a:xfrm>
            <a:off x="457200" y="128016"/>
            <a:ext cx="11338560" cy="78638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Four phases take the first AI use case to scale in </a:t>
            </a:r>
            <a:r>
              <a:rPr lang="en-US" sz="2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40 weeks</a:t>
            </a:r>
            <a:endParaRPr lang="en-US" sz="2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" name="struct.rail"/>
          <p:cNvCxnSpPr/>
          <p:nvPr/>
        </p:nvCxnSpPr>
        <p:spPr>
          <a:xfrm>
            <a:off x="457202" y="1620987"/>
            <a:ext cx="10869184" cy="0"/>
          </a:xfrm>
          <a:prstGeom prst="straightConnector1">
            <a:avLst/>
          </a:prstGeom>
          <a:noFill/>
          <a:ln cap="flat" cmpd="sng" w="11900">
            <a:solidFill>
              <a:schemeClr val="accent1"/>
            </a:solidFill>
            <a:prstDash val="dash"/>
            <a:round/>
            <a:headEnd len="sm" w="sm" type="none"/>
            <a:tailEnd len="med" w="med" type="triangle"/>
          </a:ln>
          <a:effectLst/>
        </p:spPr>
      </p:cxnSp>
      <p:sp>
        <p:nvSpPr>
          <p:cNvPr id="4" name="struct.phase.1.disc"/>
          <p:cNvSpPr/>
          <p:nvPr/>
        </p:nvSpPr>
        <p:spPr>
          <a:xfrm>
            <a:off x="2309145" y="1429750"/>
            <a:ext cx="382390" cy="38239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cap="flat" cmpd="sng" w="9525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" name="struct.phase.1.arrow"/>
          <p:cNvCxnSpPr/>
          <p:nvPr/>
        </p:nvCxnSpPr>
        <p:spPr>
          <a:xfrm>
            <a:off x="2500382" y="1191230"/>
            <a:ext cx="0" cy="228794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/>
        </p:spPr>
      </p:cxnSp>
      <p:sp>
        <p:nvSpPr>
          <p:cNvPr id="6" name="struct.phase.2.disc"/>
          <p:cNvSpPr/>
          <p:nvPr/>
        </p:nvSpPr>
        <p:spPr>
          <a:xfrm>
            <a:off x="4528854" y="1429750"/>
            <a:ext cx="382390" cy="38239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cap="flat" cmpd="sng" w="9525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" name="struct.phase.2.arrow"/>
          <p:cNvCxnSpPr/>
          <p:nvPr/>
        </p:nvCxnSpPr>
        <p:spPr>
          <a:xfrm>
            <a:off x="4720092" y="1191230"/>
            <a:ext cx="0" cy="228794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/>
        </p:spPr>
      </p:cxnSp>
      <p:sp>
        <p:nvSpPr>
          <p:cNvPr id="8" name="struct.phase.3.disc"/>
          <p:cNvSpPr/>
          <p:nvPr/>
        </p:nvSpPr>
        <p:spPr>
          <a:xfrm>
            <a:off x="7230171" y="1429750"/>
            <a:ext cx="382390" cy="38239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cap="flat" cmpd="sng" w="9525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" name="struct.phase.3.arrow"/>
          <p:cNvCxnSpPr/>
          <p:nvPr/>
        </p:nvCxnSpPr>
        <p:spPr>
          <a:xfrm>
            <a:off x="7421408" y="1191230"/>
            <a:ext cx="0" cy="228794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/>
        </p:spPr>
      </p:cxnSp>
      <p:sp>
        <p:nvSpPr>
          <p:cNvPr id="10" name="struct.phase.4.disc"/>
          <p:cNvSpPr/>
          <p:nvPr/>
        </p:nvSpPr>
        <p:spPr>
          <a:xfrm>
            <a:off x="9455479" y="1429750"/>
            <a:ext cx="382390" cy="38239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cap="flat" cmpd="sng" w="9525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" name="struct.phase.4.arrow"/>
          <p:cNvCxnSpPr/>
          <p:nvPr/>
        </p:nvCxnSpPr>
        <p:spPr>
          <a:xfrm>
            <a:off x="9646716" y="1191230"/>
            <a:ext cx="0" cy="228794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/>
        </p:spPr>
      </p:cxnSp>
      <p:sp>
        <p:nvSpPr>
          <p:cNvPr id="12" name="struct.target.1"/>
          <p:cNvSpPr/>
          <p:nvPr/>
        </p:nvSpPr>
        <p:spPr>
          <a:xfrm>
            <a:off x="11322370" y="1456400"/>
            <a:ext cx="329192" cy="329192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struct.target.2"/>
          <p:cNvSpPr/>
          <p:nvPr/>
        </p:nvSpPr>
        <p:spPr>
          <a:xfrm>
            <a:off x="11359451" y="1493483"/>
            <a:ext cx="255194" cy="255194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struct.target.3"/>
          <p:cNvSpPr/>
          <p:nvPr/>
        </p:nvSpPr>
        <p:spPr>
          <a:xfrm>
            <a:off x="11400094" y="1534122"/>
            <a:ext cx="173596" cy="173596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struct.target.4"/>
          <p:cNvSpPr/>
          <p:nvPr/>
        </p:nvSpPr>
        <p:spPr>
          <a:xfrm>
            <a:off x="11437557" y="1571586"/>
            <a:ext cx="98798" cy="98798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slot.start.when"/>
          <p:cNvSpPr/>
          <p:nvPr/>
        </p:nvSpPr>
        <p:spPr>
          <a:xfrm>
            <a:off x="558551" y="1243584"/>
            <a:ext cx="1069748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Week 0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lot.phase.4.when"/>
          <p:cNvSpPr/>
          <p:nvPr/>
        </p:nvSpPr>
        <p:spPr>
          <a:xfrm>
            <a:off x="9200945" y="987552"/>
            <a:ext cx="891457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Week 40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lot.phase.3.when"/>
          <p:cNvSpPr/>
          <p:nvPr/>
        </p:nvSpPr>
        <p:spPr>
          <a:xfrm>
            <a:off x="6975637" y="987552"/>
            <a:ext cx="891457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Week 26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lot.phase.2.when"/>
          <p:cNvSpPr/>
          <p:nvPr/>
        </p:nvSpPr>
        <p:spPr>
          <a:xfrm>
            <a:off x="4274321" y="987552"/>
            <a:ext cx="891457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Week 14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lot.phase.1.when"/>
          <p:cNvSpPr/>
          <p:nvPr/>
        </p:nvSpPr>
        <p:spPr>
          <a:xfrm>
            <a:off x="2054610" y="987552"/>
            <a:ext cx="891457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Week 6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lot.start.label"/>
          <p:cNvSpPr/>
          <p:nvPr/>
        </p:nvSpPr>
        <p:spPr>
          <a:xfrm>
            <a:off x="705642" y="1522476"/>
            <a:ext cx="1604623" cy="1920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Scope and sponsor agreed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truct.gate.1"/>
          <p:cNvSpPr/>
          <p:nvPr/>
        </p:nvSpPr>
        <p:spPr>
          <a:xfrm>
            <a:off x="538011" y="1552917"/>
            <a:ext cx="136397" cy="136397"/>
          </a:xfrm>
          <a:prstGeom prst="ellipse">
            <a:avLst/>
          </a:prstGeom>
          <a:solidFill>
            <a:schemeClr val="bg1"/>
          </a:solidFill>
          <a:ln cap="flat" cmpd="sng" w="1190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" name="struct.start.arrow"/>
          <p:cNvCxnSpPr/>
          <p:nvPr/>
        </p:nvCxnSpPr>
        <p:spPr>
          <a:xfrm>
            <a:off x="499682" y="1376856"/>
            <a:ext cx="0" cy="228794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/>
        </p:spPr>
      </p:cxnSp>
      <p:sp>
        <p:nvSpPr>
          <p:cNvPr id="24" name="struct.gate.2"/>
          <p:cNvSpPr/>
          <p:nvPr/>
        </p:nvSpPr>
        <p:spPr>
          <a:xfrm>
            <a:off x="3332508" y="1552917"/>
            <a:ext cx="136397" cy="136397"/>
          </a:xfrm>
          <a:prstGeom prst="ellipse">
            <a:avLst/>
          </a:prstGeom>
          <a:solidFill>
            <a:schemeClr val="bg1"/>
          </a:solidFill>
          <a:ln cap="flat" cmpd="sng" w="1190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struct.gate.3"/>
          <p:cNvSpPr/>
          <p:nvPr/>
        </p:nvSpPr>
        <p:spPr>
          <a:xfrm>
            <a:off x="6010801" y="1552917"/>
            <a:ext cx="136397" cy="136397"/>
          </a:xfrm>
          <a:prstGeom prst="ellipse">
            <a:avLst/>
          </a:prstGeom>
          <a:solidFill>
            <a:schemeClr val="bg1"/>
          </a:solidFill>
          <a:ln cap="flat" cmpd="sng" w="1190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struct.gate.4"/>
          <p:cNvSpPr/>
          <p:nvPr/>
        </p:nvSpPr>
        <p:spPr>
          <a:xfrm>
            <a:off x="8733392" y="1552917"/>
            <a:ext cx="136397" cy="136397"/>
          </a:xfrm>
          <a:prstGeom prst="ellipse">
            <a:avLst/>
          </a:prstGeom>
          <a:solidFill>
            <a:schemeClr val="bg1"/>
          </a:solidFill>
          <a:ln cap="flat" cmpd="sng" w="1190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struct.list.1"/>
          <p:cNvSpPr/>
          <p:nvPr/>
        </p:nvSpPr>
        <p:spPr>
          <a:xfrm>
            <a:off x="457200" y="3561264"/>
            <a:ext cx="2505454" cy="12963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slot.list.1.item.1"/>
          <p:cNvSpPr/>
          <p:nvPr/>
        </p:nvSpPr>
        <p:spPr>
          <a:xfrm>
            <a:off x="858972" y="3608888"/>
            <a:ext cx="1996707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Data source inventory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9" name="struct.list.1.rule.1"/>
          <p:cNvCxnSpPr/>
          <p:nvPr/>
        </p:nvCxnSpPr>
        <p:spPr>
          <a:xfrm>
            <a:off x="606081" y="3830115"/>
            <a:ext cx="2175943" cy="0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30" name="slot.list.1.item.2"/>
          <p:cNvSpPr/>
          <p:nvPr/>
        </p:nvSpPr>
        <p:spPr>
          <a:xfrm>
            <a:off x="858972" y="3850303"/>
            <a:ext cx="1996707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Process maps for top flows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1" name="struct.list.1.rule.2"/>
          <p:cNvCxnSpPr/>
          <p:nvPr/>
        </p:nvCxnSpPr>
        <p:spPr>
          <a:xfrm>
            <a:off x="606081" y="4071530"/>
            <a:ext cx="2175943" cy="0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32" name="slot.list.1.item.3"/>
          <p:cNvSpPr/>
          <p:nvPr/>
        </p:nvSpPr>
        <p:spPr>
          <a:xfrm>
            <a:off x="858972" y="4091719"/>
            <a:ext cx="1996707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Skills and role survey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3" name="struct.list.1.rule.3"/>
          <p:cNvCxnSpPr/>
          <p:nvPr/>
        </p:nvCxnSpPr>
        <p:spPr>
          <a:xfrm>
            <a:off x="606081" y="4312947"/>
            <a:ext cx="2175943" cy="0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34" name="slot.list.1.item.4"/>
          <p:cNvSpPr/>
          <p:nvPr/>
        </p:nvSpPr>
        <p:spPr>
          <a:xfrm>
            <a:off x="858972" y="4333135"/>
            <a:ext cx="1996707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Value case per use case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5" name="struct.list.1.rule.4"/>
          <p:cNvCxnSpPr/>
          <p:nvPr/>
        </p:nvCxnSpPr>
        <p:spPr>
          <a:xfrm>
            <a:off x="606081" y="4554361"/>
            <a:ext cx="2175943" cy="0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36" name="slot.list.1.item.5"/>
          <p:cNvSpPr/>
          <p:nvPr/>
        </p:nvSpPr>
        <p:spPr>
          <a:xfrm>
            <a:off x="858972" y="4574549"/>
            <a:ext cx="1996707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Shortlist of three pilots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struct.list.2"/>
          <p:cNvSpPr/>
          <p:nvPr/>
        </p:nvSpPr>
        <p:spPr>
          <a:xfrm>
            <a:off x="3368468" y="3561264"/>
            <a:ext cx="2505454" cy="12963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slot.list.2.item.1"/>
          <p:cNvSpPr/>
          <p:nvPr/>
        </p:nvSpPr>
        <p:spPr>
          <a:xfrm>
            <a:off x="3759773" y="3608888"/>
            <a:ext cx="2007173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Working model on live data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9" name="struct.list.2.rule.1"/>
          <p:cNvCxnSpPr/>
          <p:nvPr/>
        </p:nvCxnSpPr>
        <p:spPr>
          <a:xfrm>
            <a:off x="3489879" y="3830115"/>
            <a:ext cx="2175943" cy="0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40" name="slot.list.2.item.2"/>
          <p:cNvSpPr/>
          <p:nvPr/>
        </p:nvSpPr>
        <p:spPr>
          <a:xfrm>
            <a:off x="3759773" y="3850303"/>
            <a:ext cx="2007173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Control group comparison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1" name="struct.list.2.rule.2"/>
          <p:cNvCxnSpPr/>
          <p:nvPr/>
        </p:nvCxnSpPr>
        <p:spPr>
          <a:xfrm>
            <a:off x="3489879" y="4071530"/>
            <a:ext cx="2175943" cy="0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42" name="slot.list.2.item.3"/>
          <p:cNvSpPr/>
          <p:nvPr/>
        </p:nvSpPr>
        <p:spPr>
          <a:xfrm>
            <a:off x="3759773" y="4091719"/>
            <a:ext cx="2007173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Five-measure scorecard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3" name="struct.list.2.rule.3"/>
          <p:cNvCxnSpPr/>
          <p:nvPr/>
        </p:nvCxnSpPr>
        <p:spPr>
          <a:xfrm>
            <a:off x="3489879" y="4312947"/>
            <a:ext cx="2175943" cy="0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44" name="slot.list.2.item.4"/>
          <p:cNvSpPr/>
          <p:nvPr/>
        </p:nvSpPr>
        <p:spPr>
          <a:xfrm>
            <a:off x="3759773" y="4333135"/>
            <a:ext cx="2007173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Two user feedback rounds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5" name="struct.list.2.rule.4"/>
          <p:cNvCxnSpPr/>
          <p:nvPr/>
        </p:nvCxnSpPr>
        <p:spPr>
          <a:xfrm>
            <a:off x="3489879" y="4554361"/>
            <a:ext cx="2175943" cy="0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46" name="slot.list.2.item.5"/>
          <p:cNvSpPr/>
          <p:nvPr/>
        </p:nvSpPr>
        <p:spPr>
          <a:xfrm>
            <a:off x="3759773" y="4574549"/>
            <a:ext cx="2007173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Go or stop decision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struct.list.3"/>
          <p:cNvSpPr/>
          <p:nvPr/>
        </p:nvSpPr>
        <p:spPr>
          <a:xfrm>
            <a:off x="6279736" y="3561264"/>
            <a:ext cx="2505454" cy="12963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slot.list.3.item.1"/>
          <p:cNvSpPr/>
          <p:nvPr/>
        </p:nvSpPr>
        <p:spPr>
          <a:xfrm>
            <a:off x="6662355" y="3608888"/>
            <a:ext cx="2015859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Shared feature store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9" name="struct.list.3.rule.1"/>
          <p:cNvCxnSpPr/>
          <p:nvPr/>
        </p:nvCxnSpPr>
        <p:spPr>
          <a:xfrm>
            <a:off x="6389925" y="3830115"/>
            <a:ext cx="2281231" cy="0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50" name="slot.list.3.item.2"/>
          <p:cNvSpPr/>
          <p:nvPr/>
        </p:nvSpPr>
        <p:spPr>
          <a:xfrm>
            <a:off x="6662355" y="3850303"/>
            <a:ext cx="2015859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Automated release pipeline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1" name="struct.list.3.rule.2"/>
          <p:cNvCxnSpPr/>
          <p:nvPr/>
        </p:nvCxnSpPr>
        <p:spPr>
          <a:xfrm>
            <a:off x="6389925" y="4071530"/>
            <a:ext cx="2281231" cy="0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52" name="slot.list.3.item.3"/>
          <p:cNvSpPr/>
          <p:nvPr/>
        </p:nvSpPr>
        <p:spPr>
          <a:xfrm>
            <a:off x="6662355" y="4091719"/>
            <a:ext cx="2015859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Model risk controls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3" name="struct.list.3.rule.3"/>
          <p:cNvCxnSpPr/>
          <p:nvPr/>
        </p:nvCxnSpPr>
        <p:spPr>
          <a:xfrm>
            <a:off x="6389925" y="4312947"/>
            <a:ext cx="2281231" cy="0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54" name="slot.list.3.item.4"/>
          <p:cNvSpPr/>
          <p:nvPr/>
        </p:nvSpPr>
        <p:spPr>
          <a:xfrm>
            <a:off x="6662355" y="4333135"/>
            <a:ext cx="2015859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Access and audit logs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5" name="struct.list.3.rule.4"/>
          <p:cNvCxnSpPr/>
          <p:nvPr/>
        </p:nvCxnSpPr>
        <p:spPr>
          <a:xfrm>
            <a:off x="6389925" y="4554361"/>
            <a:ext cx="2281231" cy="0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56" name="slot.list.3.item.5"/>
          <p:cNvSpPr/>
          <p:nvPr/>
        </p:nvSpPr>
        <p:spPr>
          <a:xfrm>
            <a:off x="6662355" y="4574549"/>
            <a:ext cx="2015859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Team onboarding kit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struct.list.4"/>
          <p:cNvSpPr/>
          <p:nvPr/>
        </p:nvSpPr>
        <p:spPr>
          <a:xfrm>
            <a:off x="9191002" y="3561264"/>
            <a:ext cx="2505454" cy="12963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slot.list.4.item.1"/>
          <p:cNvSpPr/>
          <p:nvPr/>
        </p:nvSpPr>
        <p:spPr>
          <a:xfrm>
            <a:off x="9581876" y="3608888"/>
            <a:ext cx="2007603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Regional rollout plan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9" name="struct.list.4.rule.1"/>
          <p:cNvCxnSpPr/>
          <p:nvPr/>
        </p:nvCxnSpPr>
        <p:spPr>
          <a:xfrm>
            <a:off x="9305960" y="3830115"/>
            <a:ext cx="2175943" cy="0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60" name="slot.list.4.item.2"/>
          <p:cNvSpPr/>
          <p:nvPr/>
        </p:nvSpPr>
        <p:spPr>
          <a:xfrm>
            <a:off x="9581876" y="3850303"/>
            <a:ext cx="2007603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Adoption dashboard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1" name="struct.list.4.rule.2"/>
          <p:cNvCxnSpPr/>
          <p:nvPr/>
        </p:nvCxnSpPr>
        <p:spPr>
          <a:xfrm>
            <a:off x="9305960" y="4071530"/>
            <a:ext cx="2175943" cy="0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62" name="slot.list.4.item.3"/>
          <p:cNvSpPr/>
          <p:nvPr/>
        </p:nvSpPr>
        <p:spPr>
          <a:xfrm>
            <a:off x="9581876" y="4091719"/>
            <a:ext cx="2007603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Quarterly value review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3" name="struct.list.4.rule.3"/>
          <p:cNvCxnSpPr/>
          <p:nvPr/>
        </p:nvCxnSpPr>
        <p:spPr>
          <a:xfrm>
            <a:off x="9305960" y="4312947"/>
            <a:ext cx="2175943" cy="0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64" name="slot.list.4.item.4"/>
          <p:cNvSpPr/>
          <p:nvPr/>
        </p:nvSpPr>
        <p:spPr>
          <a:xfrm>
            <a:off x="9581876" y="4333135"/>
            <a:ext cx="2007603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Handover to operations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struct.phase.1.pill"/>
          <p:cNvSpPr/>
          <p:nvPr/>
        </p:nvSpPr>
        <p:spPr>
          <a:xfrm>
            <a:off x="457202" y="1974980"/>
            <a:ext cx="2505454" cy="28639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struct.phase.2.pill"/>
          <p:cNvSpPr/>
          <p:nvPr/>
        </p:nvSpPr>
        <p:spPr>
          <a:xfrm>
            <a:off x="3366284" y="1974980"/>
            <a:ext cx="2505454" cy="28639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struct.phase.3.pill"/>
          <p:cNvSpPr/>
          <p:nvPr/>
        </p:nvSpPr>
        <p:spPr>
          <a:xfrm>
            <a:off x="6275368" y="1974980"/>
            <a:ext cx="2505454" cy="28639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struct.phase.4.pill"/>
          <p:cNvSpPr/>
          <p:nvPr/>
        </p:nvSpPr>
        <p:spPr>
          <a:xfrm>
            <a:off x="9184449" y="1974980"/>
            <a:ext cx="2505454" cy="28639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slot.phase.1.name"/>
          <p:cNvSpPr/>
          <p:nvPr/>
        </p:nvSpPr>
        <p:spPr>
          <a:xfrm>
            <a:off x="766816" y="2008380"/>
            <a:ext cx="1886207" cy="219595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Assess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slot.phase.2.name"/>
          <p:cNvSpPr/>
          <p:nvPr/>
        </p:nvSpPr>
        <p:spPr>
          <a:xfrm>
            <a:off x="3675897" y="2008380"/>
            <a:ext cx="1886207" cy="219595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Pilot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slot.phase.3.name"/>
          <p:cNvSpPr/>
          <p:nvPr/>
        </p:nvSpPr>
        <p:spPr>
          <a:xfrm>
            <a:off x="6584980" y="2008380"/>
            <a:ext cx="1886207" cy="219595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Scale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slot.phase.4.name"/>
          <p:cNvSpPr/>
          <p:nvPr/>
        </p:nvSpPr>
        <p:spPr>
          <a:xfrm>
            <a:off x="9494063" y="2008380"/>
            <a:ext cx="1886207" cy="219595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Run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slot.phase.1.head"/>
          <p:cNvSpPr/>
          <p:nvPr/>
        </p:nvSpPr>
        <p:spPr>
          <a:xfrm>
            <a:off x="574773" y="2971800"/>
            <a:ext cx="2317788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Readiness scored three ways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slot.phase.1.body"/>
          <p:cNvSpPr/>
          <p:nvPr/>
        </p:nvSpPr>
        <p:spPr>
          <a:xfrm>
            <a:off x="574773" y="3172968"/>
            <a:ext cx="2317788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From interviews and system access</a:t>
            </a:r>
            <a:endParaRPr lang="en-US" sz="9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slot.phase.2.head"/>
          <p:cNvSpPr/>
          <p:nvPr/>
        </p:nvSpPr>
        <p:spPr>
          <a:xfrm>
            <a:off x="3465785" y="2971800"/>
            <a:ext cx="2317788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Two use cases proven live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slot.phase.2.body"/>
          <p:cNvSpPr/>
          <p:nvPr/>
        </p:nvSpPr>
        <p:spPr>
          <a:xfrm>
            <a:off x="3465785" y="3172968"/>
            <a:ext cx="2317788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Scored on five value measures</a:t>
            </a:r>
            <a:endParaRPr lang="en-US" sz="9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slot.phase.3.head"/>
          <p:cNvSpPr/>
          <p:nvPr/>
        </p:nvSpPr>
        <p:spPr>
          <a:xfrm>
            <a:off x="6378932" y="2971800"/>
            <a:ext cx="2317788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One platform for every team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slot.phase.3.body"/>
          <p:cNvSpPr/>
          <p:nvPr/>
        </p:nvSpPr>
        <p:spPr>
          <a:xfrm>
            <a:off x="6378932" y="3172968"/>
            <a:ext cx="2317788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Built once, reused by each team</a:t>
            </a:r>
            <a:endParaRPr lang="en-US" sz="9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slot.phase.4.head"/>
          <p:cNvSpPr/>
          <p:nvPr/>
        </p:nvSpPr>
        <p:spPr>
          <a:xfrm>
            <a:off x="9275547" y="2971800"/>
            <a:ext cx="2317788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Adoption tied to the value case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slot.phase.4.body"/>
          <p:cNvSpPr/>
          <p:nvPr/>
        </p:nvSpPr>
        <p:spPr>
          <a:xfrm>
            <a:off x="9275547" y="3172968"/>
            <a:ext cx="2317788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Owned by the business</a:t>
            </a:r>
            <a:endParaRPr lang="en-US" sz="9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struct.lens.1"/>
          <p:cNvSpPr/>
          <p:nvPr/>
        </p:nvSpPr>
        <p:spPr>
          <a:xfrm>
            <a:off x="894192" y="2331720"/>
            <a:ext cx="603504" cy="603504"/>
          </a:xfrm>
          <a:prstGeom prst="ellipse">
            <a:avLst/>
          </a:prstGeom>
          <a:solidFill>
            <a:schemeClr val="bg1"/>
          </a:solidFill>
          <a:ln cap="flat" cmpd="sng" w="11900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slot.lens.1"/>
          <p:cNvSpPr/>
          <p:nvPr/>
        </p:nvSpPr>
        <p:spPr>
          <a:xfrm>
            <a:off x="964165" y="2551176"/>
            <a:ext cx="463557" cy="17373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Data</a:t>
            </a:r>
            <a:endParaRPr lang="en-US" sz="8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struct.lens.2"/>
          <p:cNvSpPr/>
          <p:nvPr/>
        </p:nvSpPr>
        <p:spPr>
          <a:xfrm>
            <a:off x="1411235" y="2331720"/>
            <a:ext cx="603504" cy="603504"/>
          </a:xfrm>
          <a:prstGeom prst="ellipse">
            <a:avLst/>
          </a:prstGeom>
          <a:solidFill>
            <a:schemeClr val="bg1"/>
          </a:solidFill>
          <a:ln cap="flat" cmpd="sng" w="11900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slot.lens.2"/>
          <p:cNvSpPr/>
          <p:nvPr/>
        </p:nvSpPr>
        <p:spPr>
          <a:xfrm>
            <a:off x="1481209" y="2551176"/>
            <a:ext cx="463557" cy="17373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Process</a:t>
            </a:r>
            <a:endParaRPr lang="en-US" sz="8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struct.lens.3"/>
          <p:cNvSpPr/>
          <p:nvPr/>
        </p:nvSpPr>
        <p:spPr>
          <a:xfrm>
            <a:off x="1928281" y="2331720"/>
            <a:ext cx="603504" cy="603504"/>
          </a:xfrm>
          <a:prstGeom prst="ellipse">
            <a:avLst/>
          </a:prstGeom>
          <a:solidFill>
            <a:schemeClr val="bg1"/>
          </a:solidFill>
          <a:ln cap="flat" cmpd="sng" w="119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slot.lens.3"/>
          <p:cNvSpPr/>
          <p:nvPr/>
        </p:nvSpPr>
        <p:spPr>
          <a:xfrm>
            <a:off x="1998253" y="2551176"/>
            <a:ext cx="463557" cy="17373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People</a:t>
            </a:r>
            <a:endParaRPr lang="en-US" sz="8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struct.radar.1"/>
          <p:cNvSpPr/>
          <p:nvPr/>
        </p:nvSpPr>
        <p:spPr>
          <a:xfrm>
            <a:off x="3669239" y="2335706"/>
            <a:ext cx="632116" cy="589185"/>
          </a:xfrm>
          <a:prstGeom prst="pentagon">
            <a:avLst>
              <a:gd fmla="val 105146" name="hf"/>
              <a:gd fmla="val 110557" name="vf"/>
            </a:avLst>
          </a:prstGeom>
          <a:solidFill>
            <a:schemeClr val="bg1">
              <a:lumMod val="95000"/>
            </a:schemeClr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slot.track.1"/>
          <p:cNvSpPr/>
          <p:nvPr/>
        </p:nvSpPr>
        <p:spPr>
          <a:xfrm>
            <a:off x="4266974" y="2359152"/>
            <a:ext cx="463557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Build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slot.track.2"/>
          <p:cNvSpPr/>
          <p:nvPr/>
        </p:nvSpPr>
        <p:spPr>
          <a:xfrm>
            <a:off x="4634698" y="2359152"/>
            <a:ext cx="463557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Test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slot.track.3"/>
          <p:cNvSpPr/>
          <p:nvPr/>
        </p:nvSpPr>
        <p:spPr>
          <a:xfrm>
            <a:off x="5002420" y="2359152"/>
            <a:ext cx="463557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Tune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91" name="struct.track"/>
          <p:cNvCxnSpPr/>
          <p:nvPr/>
        </p:nvCxnSpPr>
        <p:spPr>
          <a:xfrm>
            <a:off x="4365640" y="2623868"/>
            <a:ext cx="1196379" cy="0"/>
          </a:xfrm>
          <a:prstGeom prst="straightConnector1">
            <a:avLst/>
          </a:prstGeom>
          <a:noFill/>
          <a:ln cap="flat" cmpd="sng" w="9525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92" name="struct.track.node.1"/>
          <p:cNvSpPr/>
          <p:nvPr/>
        </p:nvSpPr>
        <p:spPr>
          <a:xfrm>
            <a:off x="4446755" y="2571842"/>
            <a:ext cx="103997" cy="103997"/>
          </a:xfrm>
          <a:prstGeom prst="ellipse">
            <a:avLst/>
          </a:prstGeom>
          <a:solidFill>
            <a:schemeClr val="bg1"/>
          </a:solidFill>
          <a:ln cap="flat" cmpd="sng" w="9525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struct.track.node.2"/>
          <p:cNvSpPr/>
          <p:nvPr/>
        </p:nvSpPr>
        <p:spPr>
          <a:xfrm>
            <a:off x="4814479" y="2571842"/>
            <a:ext cx="103997" cy="103997"/>
          </a:xfrm>
          <a:prstGeom prst="ellipse">
            <a:avLst/>
          </a:prstGeom>
          <a:solidFill>
            <a:schemeClr val="bg1"/>
          </a:solidFill>
          <a:ln cap="flat" cmpd="sng" w="9525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struct.track.node.3"/>
          <p:cNvSpPr/>
          <p:nvPr/>
        </p:nvSpPr>
        <p:spPr>
          <a:xfrm>
            <a:off x="5182201" y="2571842"/>
            <a:ext cx="103997" cy="103997"/>
          </a:xfrm>
          <a:prstGeom prst="ellipse">
            <a:avLst/>
          </a:prstGeom>
          <a:solidFill>
            <a:schemeClr val="bg1"/>
          </a:solidFill>
          <a:ln cap="flat" cmpd="sng" w="9525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struct.step.1"/>
          <p:cNvSpPr/>
          <p:nvPr/>
        </p:nvSpPr>
        <p:spPr>
          <a:xfrm>
            <a:off x="6586402" y="2387031"/>
            <a:ext cx="418790" cy="41879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cap="flat" cmpd="sng" w="9525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slot.step.1"/>
          <p:cNvSpPr/>
          <p:nvPr/>
        </p:nvSpPr>
        <p:spPr>
          <a:xfrm>
            <a:off x="6421386" y="2807208"/>
            <a:ext cx="748823" cy="17373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Integrate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97" name="struct.step.arrow.1"/>
          <p:cNvCxnSpPr/>
          <p:nvPr/>
        </p:nvCxnSpPr>
        <p:spPr>
          <a:xfrm>
            <a:off x="7046088" y="2596456"/>
            <a:ext cx="200436" cy="0"/>
          </a:xfrm>
          <a:prstGeom prst="straightConnector1">
            <a:avLst/>
          </a:prstGeom>
          <a:noFill/>
          <a:ln cap="flat" cmpd="sng" w="9525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len="sm" w="sm" type="none"/>
            <a:tailEnd len="med" w="med" type="triangle"/>
          </a:ln>
          <a:effectLst/>
        </p:spPr>
      </p:cxnSp>
      <p:sp>
        <p:nvSpPr>
          <p:cNvPr id="98" name="struct.step.2"/>
          <p:cNvSpPr/>
          <p:nvPr/>
        </p:nvSpPr>
        <p:spPr>
          <a:xfrm>
            <a:off x="7265675" y="2387031"/>
            <a:ext cx="418790" cy="41879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cap="flat" cmpd="sng" w="9525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slot.step.2"/>
          <p:cNvSpPr/>
          <p:nvPr/>
        </p:nvSpPr>
        <p:spPr>
          <a:xfrm>
            <a:off x="7100658" y="2807208"/>
            <a:ext cx="748823" cy="17373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Automate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00" name="struct.step.arrow.2"/>
          <p:cNvCxnSpPr/>
          <p:nvPr/>
        </p:nvCxnSpPr>
        <p:spPr>
          <a:xfrm>
            <a:off x="7725359" y="2596456"/>
            <a:ext cx="200436" cy="0"/>
          </a:xfrm>
          <a:prstGeom prst="straightConnector1">
            <a:avLst/>
          </a:prstGeom>
          <a:noFill/>
          <a:ln cap="flat" cmpd="sng" w="9525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len="sm" w="sm" type="none"/>
            <a:tailEnd len="med" w="med" type="triangle"/>
          </a:ln>
          <a:effectLst/>
        </p:spPr>
      </p:cxnSp>
      <p:sp>
        <p:nvSpPr>
          <p:cNvPr id="101" name="struct.step.3"/>
          <p:cNvSpPr/>
          <p:nvPr/>
        </p:nvSpPr>
        <p:spPr>
          <a:xfrm>
            <a:off x="7944947" y="2387031"/>
            <a:ext cx="418790" cy="41879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cap="flat" cmpd="sng" w="9525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slot.step.3"/>
          <p:cNvSpPr/>
          <p:nvPr/>
        </p:nvSpPr>
        <p:spPr>
          <a:xfrm>
            <a:off x="7779930" y="2807208"/>
            <a:ext cx="748823" cy="17373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Govern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struct.wave.3"/>
          <p:cNvSpPr/>
          <p:nvPr/>
        </p:nvSpPr>
        <p:spPr>
          <a:xfrm>
            <a:off x="10751469" y="2377440"/>
            <a:ext cx="942269" cy="329184"/>
          </a:xfrm>
          <a:prstGeom prst="homePlate">
            <a:avLst>
              <a:gd fmla="val 50000" name="adj"/>
            </a:avLst>
          </a:prstGeom>
          <a:solidFill>
            <a:schemeClr val="tx1">
              <a:lumMod val="75000"/>
              <a:lumOff val="2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slot.wave.label"/>
          <p:cNvSpPr/>
          <p:nvPr/>
        </p:nvSpPr>
        <p:spPr>
          <a:xfrm>
            <a:off x="9184447" y="2752344"/>
            <a:ext cx="2482836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Rollout by region over three waves</a:t>
            </a:r>
            <a:endParaRPr lang="en-US" sz="9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struct.wave.2"/>
          <p:cNvSpPr/>
          <p:nvPr/>
        </p:nvSpPr>
        <p:spPr>
          <a:xfrm>
            <a:off x="9969660" y="2377440"/>
            <a:ext cx="942269" cy="329184"/>
          </a:xfrm>
          <a:prstGeom prst="homePlate">
            <a:avLst>
              <a:gd fmla="val 50000" name="adj"/>
            </a:avLst>
          </a:prstGeom>
          <a:solidFill>
            <a:schemeClr val="tx1">
              <a:lumMod val="75000"/>
              <a:lumOff val="2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struct.wave.1"/>
          <p:cNvSpPr/>
          <p:nvPr/>
        </p:nvSpPr>
        <p:spPr>
          <a:xfrm>
            <a:off x="9187853" y="2377440"/>
            <a:ext cx="942269" cy="329184"/>
          </a:xfrm>
          <a:prstGeom prst="homePlate">
            <a:avLst>
              <a:gd fmla="val 50000" name="adj"/>
            </a:avLst>
          </a:prstGeom>
          <a:solidFill>
            <a:schemeClr val="tx1">
              <a:lumMod val="75000"/>
              <a:lumOff val="2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slot.wave.1"/>
          <p:cNvSpPr/>
          <p:nvPr/>
        </p:nvSpPr>
        <p:spPr>
          <a:xfrm>
            <a:off x="9312657" y="2459736"/>
            <a:ext cx="659678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Wave 1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slot.wave.2"/>
          <p:cNvSpPr/>
          <p:nvPr/>
        </p:nvSpPr>
        <p:spPr>
          <a:xfrm>
            <a:off x="10094464" y="2459736"/>
            <a:ext cx="659678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Wave 2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slot.wave.3"/>
          <p:cNvSpPr/>
          <p:nvPr/>
        </p:nvSpPr>
        <p:spPr>
          <a:xfrm>
            <a:off x="10876272" y="2459736"/>
            <a:ext cx="659678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Wave 3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struct.radar.2"/>
          <p:cNvSpPr/>
          <p:nvPr/>
        </p:nvSpPr>
        <p:spPr>
          <a:xfrm>
            <a:off x="3819438" y="2496122"/>
            <a:ext cx="344719" cy="321592"/>
          </a:xfrm>
          <a:prstGeom prst="pentagon">
            <a:avLst>
              <a:gd fmla="val 105146" name="hf"/>
              <a:gd fmla="val 110557" name="vf"/>
            </a:avLst>
          </a:prstGeom>
          <a:solidFill>
            <a:schemeClr val="bg1">
              <a:lumMod val="95000"/>
            </a:schemeClr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struct.radar.3"/>
          <p:cNvSpPr/>
          <p:nvPr/>
        </p:nvSpPr>
        <p:spPr>
          <a:xfrm>
            <a:off x="3968732" y="2644801"/>
            <a:ext cx="50399" cy="45599"/>
          </a:xfrm>
          <a:prstGeom prst="pentagon">
            <a:avLst>
              <a:gd fmla="val 105146" name="hf"/>
              <a:gd fmla="val 110557" name="vf"/>
            </a:avLst>
          </a:prstGeom>
          <a:solidFill>
            <a:schemeClr val="bg1">
              <a:lumMod val="75000"/>
            </a:schemeClr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slot.phase.1.metric"/>
          <p:cNvSpPr/>
          <p:nvPr/>
        </p:nvSpPr>
        <p:spPr>
          <a:xfrm>
            <a:off x="574773" y="3355848"/>
            <a:ext cx="2317788" cy="1920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6 weeks</a:t>
            </a:r>
            <a:endParaRPr lang="en-US" sz="105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slot.phase.2.metric"/>
          <p:cNvSpPr/>
          <p:nvPr/>
        </p:nvSpPr>
        <p:spPr>
          <a:xfrm>
            <a:off x="3465785" y="3355848"/>
            <a:ext cx="2317788" cy="1920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8 weeks</a:t>
            </a:r>
            <a:endParaRPr lang="en-US" sz="105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slot.phase.3.metric"/>
          <p:cNvSpPr/>
          <p:nvPr/>
        </p:nvSpPr>
        <p:spPr>
          <a:xfrm>
            <a:off x="6378932" y="3355848"/>
            <a:ext cx="2317788" cy="1920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12 weeks</a:t>
            </a:r>
            <a:endParaRPr lang="en-US" sz="105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slot.phase.4.metric"/>
          <p:cNvSpPr/>
          <p:nvPr/>
        </p:nvSpPr>
        <p:spPr>
          <a:xfrm>
            <a:off x="9275547" y="3355848"/>
            <a:ext cx="2317788" cy="1920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14 weeks</a:t>
            </a:r>
            <a:endParaRPr lang="en-US" sz="105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struct.brace"/>
          <p:cNvSpPr/>
          <p:nvPr/>
        </p:nvSpPr>
        <p:spPr>
          <a:xfrm rot="-5400000">
            <a:off x="8892460" y="2125790"/>
            <a:ext cx="183595" cy="5561132"/>
          </a:xfrm>
          <a:prstGeom prst="leftBrace">
            <a:avLst>
              <a:gd fmla="val 43215" name="adj1"/>
              <a:gd fmla="val 50000" name="adj2"/>
            </a:avLst>
          </a:prstGeom>
          <a:noFill/>
          <a:ln cap="flat" cmpd="sng" w="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struct.loop.head.1"/>
          <p:cNvSpPr/>
          <p:nvPr/>
        </p:nvSpPr>
        <p:spPr>
          <a:xfrm rot="5400000">
            <a:off x="6809740" y="5108831"/>
            <a:ext cx="95198" cy="81998"/>
          </a:xfrm>
          <a:prstGeom prst="triangle">
            <a:avLst>
              <a:gd fmla="val 50000" name="adj"/>
            </a:avLst>
          </a:prstGeom>
          <a:solidFill>
            <a:schemeClr val="bg1">
              <a:lumMod val="85000"/>
            </a:schemeClr>
          </a:solidFill>
          <a:ln cap="rnd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struct.loop.head.2"/>
          <p:cNvSpPr/>
          <p:nvPr/>
        </p:nvSpPr>
        <p:spPr>
          <a:xfrm>
            <a:off x="6159266" y="5633802"/>
            <a:ext cx="95198" cy="81998"/>
          </a:xfrm>
          <a:prstGeom prst="triangle">
            <a:avLst>
              <a:gd fmla="val 50000" name="adj"/>
            </a:avLst>
          </a:prstGeom>
          <a:solidFill>
            <a:schemeClr val="bg1">
              <a:lumMod val="85000"/>
            </a:schemeClr>
          </a:solidFill>
          <a:ln cap="rnd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struct.loop.head.3"/>
          <p:cNvSpPr/>
          <p:nvPr/>
        </p:nvSpPr>
        <p:spPr>
          <a:xfrm rot="-5400000">
            <a:off x="11053890" y="5103746"/>
            <a:ext cx="95198" cy="81998"/>
          </a:xfrm>
          <a:prstGeom prst="triangle">
            <a:avLst>
              <a:gd fmla="val 50000" name="adj"/>
            </a:avLst>
          </a:prstGeom>
          <a:solidFill>
            <a:schemeClr val="bg1">
              <a:lumMod val="85000"/>
            </a:schemeClr>
          </a:solidFill>
          <a:ln cap="rnd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struct.loop.head.4"/>
          <p:cNvSpPr/>
          <p:nvPr/>
        </p:nvSpPr>
        <p:spPr>
          <a:xfrm rot="10800000">
            <a:off x="11700567" y="5623510"/>
            <a:ext cx="95198" cy="81998"/>
          </a:xfrm>
          <a:prstGeom prst="triangle">
            <a:avLst>
              <a:gd fmla="val 50000" name="adj"/>
            </a:avLst>
          </a:prstGeom>
          <a:solidFill>
            <a:schemeClr val="bg1">
              <a:lumMod val="85000"/>
            </a:schemeClr>
          </a:solidFill>
          <a:ln cap="rnd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struct.loop"/>
          <p:cNvSpPr/>
          <p:nvPr/>
        </p:nvSpPr>
        <p:spPr>
          <a:xfrm>
            <a:off x="6202538" y="5144791"/>
            <a:ext cx="5541245" cy="1170771"/>
          </a:xfrm>
          <a:prstGeom prst="roundRect">
            <a:avLst>
              <a:gd fmla="val 50000" name="adj"/>
            </a:avLst>
          </a:prstGeom>
          <a:noFill/>
          <a:ln cap="rnd" cmpd="sng" w="95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slot.loop.label"/>
          <p:cNvSpPr/>
          <p:nvPr/>
        </p:nvSpPr>
        <p:spPr>
          <a:xfrm>
            <a:off x="6906729" y="5230368"/>
            <a:ext cx="4152620" cy="1737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Continuous improvement once live</a:t>
            </a:r>
            <a:endParaRPr lang="en-US" sz="105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struct.loop.step.1"/>
          <p:cNvSpPr/>
          <p:nvPr/>
        </p:nvSpPr>
        <p:spPr>
          <a:xfrm>
            <a:off x="6646031" y="5440680"/>
            <a:ext cx="487988" cy="48798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slot.loop.step.1"/>
          <p:cNvSpPr/>
          <p:nvPr/>
        </p:nvSpPr>
        <p:spPr>
          <a:xfrm>
            <a:off x="6444297" y="5989320"/>
            <a:ext cx="89145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Monitor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struct.loop.step.2"/>
          <p:cNvSpPr/>
          <p:nvPr/>
        </p:nvSpPr>
        <p:spPr>
          <a:xfrm>
            <a:off x="7610980" y="5440680"/>
            <a:ext cx="487988" cy="48798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slot.loop.step.2"/>
          <p:cNvSpPr/>
          <p:nvPr/>
        </p:nvSpPr>
        <p:spPr>
          <a:xfrm>
            <a:off x="7409246" y="5989320"/>
            <a:ext cx="89145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Diagnose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struct.loop.step.3"/>
          <p:cNvSpPr/>
          <p:nvPr/>
        </p:nvSpPr>
        <p:spPr>
          <a:xfrm>
            <a:off x="8557324" y="5440680"/>
            <a:ext cx="487988" cy="48798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slot.loop.step.3"/>
          <p:cNvSpPr/>
          <p:nvPr/>
        </p:nvSpPr>
        <p:spPr>
          <a:xfrm>
            <a:off x="8355590" y="5989320"/>
            <a:ext cx="89145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Retrain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struct.loop.step.4"/>
          <p:cNvSpPr/>
          <p:nvPr/>
        </p:nvSpPr>
        <p:spPr>
          <a:xfrm>
            <a:off x="9595955" y="5440680"/>
            <a:ext cx="487988" cy="48798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slot.loop.step.4"/>
          <p:cNvSpPr/>
          <p:nvPr/>
        </p:nvSpPr>
        <p:spPr>
          <a:xfrm>
            <a:off x="9394220" y="5989320"/>
            <a:ext cx="89145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Release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struct.loop.step.5"/>
          <p:cNvSpPr/>
          <p:nvPr/>
        </p:nvSpPr>
        <p:spPr>
          <a:xfrm>
            <a:off x="10648340" y="5440680"/>
            <a:ext cx="487988" cy="48798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slot.loop.step.5"/>
          <p:cNvSpPr/>
          <p:nvPr/>
        </p:nvSpPr>
        <p:spPr>
          <a:xfrm>
            <a:off x="10446605" y="5989320"/>
            <a:ext cx="89145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Measure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33" name="struct.radar.spoke.1"/>
          <p:cNvCxnSpPr/>
          <p:nvPr/>
        </p:nvCxnSpPr>
        <p:spPr>
          <a:xfrm rot="10800000">
            <a:off x="4098350" y="2817692"/>
            <a:ext cx="82280" cy="107197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cxnSp>
        <p:nvCxnSpPr>
          <p:cNvPr id="134" name="struct.radar.spoke.2"/>
          <p:cNvCxnSpPr/>
          <p:nvPr/>
        </p:nvCxnSpPr>
        <p:spPr>
          <a:xfrm flipH="1">
            <a:off x="4164089" y="2560753"/>
            <a:ext cx="137264" cy="58399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cxnSp>
        <p:nvCxnSpPr>
          <p:cNvPr id="135" name="struct.radar.spoke.3"/>
          <p:cNvCxnSpPr/>
          <p:nvPr/>
        </p:nvCxnSpPr>
        <p:spPr>
          <a:xfrm>
            <a:off x="3985296" y="2335706"/>
            <a:ext cx="6629" cy="160396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cxnSp>
        <p:nvCxnSpPr>
          <p:cNvPr id="136" name="struct.radar.spoke.4"/>
          <p:cNvCxnSpPr/>
          <p:nvPr/>
        </p:nvCxnSpPr>
        <p:spPr>
          <a:xfrm>
            <a:off x="3669239" y="2560753"/>
            <a:ext cx="150132" cy="58399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cxnSp>
        <p:nvCxnSpPr>
          <p:cNvPr id="137" name="struct.radar.spoke.5"/>
          <p:cNvCxnSpPr/>
          <p:nvPr/>
        </p:nvCxnSpPr>
        <p:spPr>
          <a:xfrm flipH="1" rot="10800000">
            <a:off x="3788739" y="2817692"/>
            <a:ext cx="97598" cy="107197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cxnSp>
        <p:nvCxnSpPr>
          <p:cNvPr id="138" name="struct.radar.spoke.6"/>
          <p:cNvCxnSpPr/>
          <p:nvPr/>
        </p:nvCxnSpPr>
        <p:spPr>
          <a:xfrm flipH="1" rot="10800000">
            <a:off x="3885274" y="2690515"/>
            <a:ext cx="93589" cy="127197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cxnSp>
        <p:nvCxnSpPr>
          <p:cNvPr id="139" name="struct.radar.spoke.7"/>
          <p:cNvCxnSpPr/>
          <p:nvPr/>
        </p:nvCxnSpPr>
        <p:spPr>
          <a:xfrm rot="10800000">
            <a:off x="4009022" y="2690515"/>
            <a:ext cx="89300" cy="127197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cxnSp>
        <p:nvCxnSpPr>
          <p:cNvPr id="140" name="struct.radar.spoke.8"/>
          <p:cNvCxnSpPr/>
          <p:nvPr/>
        </p:nvCxnSpPr>
        <p:spPr>
          <a:xfrm flipH="1">
            <a:off x="4018313" y="2618959"/>
            <a:ext cx="145843" cy="43199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cxnSp>
        <p:nvCxnSpPr>
          <p:cNvPr id="141" name="struct.radar.spoke.9"/>
          <p:cNvCxnSpPr/>
          <p:nvPr/>
        </p:nvCxnSpPr>
        <p:spPr>
          <a:xfrm>
            <a:off x="3991797" y="2496122"/>
            <a:ext cx="1950" cy="148796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cxnSp>
        <p:nvCxnSpPr>
          <p:cNvPr id="142" name="struct.radar.spoke.10"/>
          <p:cNvCxnSpPr/>
          <p:nvPr/>
        </p:nvCxnSpPr>
        <p:spPr>
          <a:xfrm>
            <a:off x="3819438" y="2618959"/>
            <a:ext cx="155202" cy="48799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sp>
        <p:nvSpPr>
          <p:cNvPr id="143" name="struct.gate.1.icon"/>
          <p:cNvSpPr/>
          <p:nvPr/>
        </p:nvSpPr>
        <p:spPr>
          <a:xfrm>
            <a:off x="528857" y="1543773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</p:sp>
      <p:sp>
        <p:nvSpPr>
          <p:cNvPr id="144" name="struct.gate.2.icon"/>
          <p:cNvSpPr/>
          <p:nvPr/>
        </p:nvSpPr>
        <p:spPr>
          <a:xfrm>
            <a:off x="3323355" y="1543773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</p:sp>
      <p:sp>
        <p:nvSpPr>
          <p:cNvPr id="145" name="struct.gate.3.icon"/>
          <p:cNvSpPr/>
          <p:nvPr/>
        </p:nvSpPr>
        <p:spPr>
          <a:xfrm>
            <a:off x="6001647" y="1543773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</p:sp>
      <p:sp>
        <p:nvSpPr>
          <p:cNvPr id="146" name="struct.gate.4.icon"/>
          <p:cNvSpPr/>
          <p:nvPr/>
        </p:nvSpPr>
        <p:spPr>
          <a:xfrm>
            <a:off x="8724238" y="1543773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</p:sp>
      <p:sp>
        <p:nvSpPr>
          <p:cNvPr id="147" name="slot.phase.1.icon"/>
          <p:cNvSpPr/>
          <p:nvPr/>
        </p:nvSpPr>
        <p:spPr>
          <a:xfrm>
            <a:off x="2381468" y="1502073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240" y="7760"/>
                </a:moveTo>
                <a:lnTo>
                  <a:pt x="14436" y="13171"/>
                </a:lnTo>
                <a:cubicBezTo>
                  <a:pt x="14237" y="13768"/>
                  <a:pt x="13768" y="14237"/>
                  <a:pt x="13171" y="14436"/>
                </a:cubicBezTo>
                <a:lnTo>
                  <a:pt x="7760" y="16240"/>
                </a:lnTo>
                <a:lnTo>
                  <a:pt x="9564" y="10829"/>
                </a:lnTo>
                <a:cubicBezTo>
                  <a:pt x="9763" y="10232"/>
                  <a:pt x="10232" y="9763"/>
                  <a:pt x="10829" y="9564"/>
                </a:cubicBezTo>
                <a:close/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</p:sp>
      <p:sp>
        <p:nvSpPr>
          <p:cNvPr id="148" name="slot.phase.2.icon"/>
          <p:cNvSpPr/>
          <p:nvPr/>
        </p:nvSpPr>
        <p:spPr>
          <a:xfrm>
            <a:off x="4601177" y="1502073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000" y="2000"/>
                </a:moveTo>
                <a:lnTo>
                  <a:pt x="14000" y="8000"/>
                </a:lnTo>
                <a:cubicBezTo>
                  <a:pt x="14000" y="8335"/>
                  <a:pt x="14084" y="8666"/>
                  <a:pt x="14245" y="8960"/>
                </a:cubicBezTo>
                <a:lnTo>
                  <a:pt x="19755" y="19040"/>
                </a:lnTo>
                <a:cubicBezTo>
                  <a:pt x="20094" y="19660"/>
                  <a:pt x="20081" y="20412"/>
                  <a:pt x="19721" y="21020"/>
                </a:cubicBezTo>
                <a:cubicBezTo>
                  <a:pt x="19361" y="21628"/>
                  <a:pt x="18706" y="22000"/>
                  <a:pt x="18000" y="22000"/>
                </a:cubicBezTo>
                <a:lnTo>
                  <a:pt x="6000" y="22000"/>
                </a:lnTo>
                <a:cubicBezTo>
                  <a:pt x="5294" y="22000"/>
                  <a:pt x="4639" y="21628"/>
                  <a:pt x="4279" y="21020"/>
                </a:cubicBezTo>
                <a:cubicBezTo>
                  <a:pt x="3919" y="20412"/>
                  <a:pt x="3906" y="19660"/>
                  <a:pt x="4245" y="19040"/>
                </a:cubicBezTo>
                <a:lnTo>
                  <a:pt x="9755" y="8960"/>
                </a:lnTo>
                <a:cubicBezTo>
                  <a:pt x="9916" y="8666"/>
                  <a:pt x="10000" y="8335"/>
                  <a:pt x="10000" y="8000"/>
                </a:cubicBezTo>
                <a:lnTo>
                  <a:pt x="10000" y="2000"/>
                </a:lnTo>
                <a:moveTo>
                  <a:pt x="6453" y="15000"/>
                </a:moveTo>
                <a:lnTo>
                  <a:pt x="17547" y="15000"/>
                </a:lnTo>
                <a:moveTo>
                  <a:pt x="8500" y="2000"/>
                </a:moveTo>
                <a:lnTo>
                  <a:pt x="15500" y="2000"/>
                </a:lnTo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</p:sp>
      <p:sp>
        <p:nvSpPr>
          <p:cNvPr id="149" name="slot.phase.3.icon"/>
          <p:cNvSpPr/>
          <p:nvPr/>
        </p:nvSpPr>
        <p:spPr>
          <a:xfrm>
            <a:off x="7302494" y="1502073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830" y="2180"/>
                </a:moveTo>
                <a:cubicBezTo>
                  <a:pt x="12303" y="1940"/>
                  <a:pt x="11697" y="1940"/>
                  <a:pt x="11170" y="2180"/>
                </a:cubicBezTo>
                <a:lnTo>
                  <a:pt x="2600" y="6080"/>
                </a:lnTo>
                <a:cubicBezTo>
                  <a:pt x="2237" y="6240"/>
                  <a:pt x="2003" y="6599"/>
                  <a:pt x="2003" y="6995"/>
                </a:cubicBezTo>
                <a:cubicBezTo>
                  <a:pt x="2003" y="7391"/>
                  <a:pt x="2237" y="7750"/>
                  <a:pt x="2600" y="7910"/>
                </a:cubicBezTo>
                <a:lnTo>
                  <a:pt x="11180" y="11820"/>
                </a:lnTo>
                <a:cubicBezTo>
                  <a:pt x="11707" y="12060"/>
                  <a:pt x="12313" y="12060"/>
                  <a:pt x="12840" y="11820"/>
                </a:cubicBezTo>
                <a:lnTo>
                  <a:pt x="21420" y="7920"/>
                </a:lnTo>
                <a:cubicBezTo>
                  <a:pt x="21783" y="7760"/>
                  <a:pt x="22017" y="7401"/>
                  <a:pt x="22017" y="7005"/>
                </a:cubicBezTo>
                <a:cubicBezTo>
                  <a:pt x="22017" y="6609"/>
                  <a:pt x="21783" y="6250"/>
                  <a:pt x="21420" y="6090"/>
                </a:cubicBezTo>
                <a:close/>
                <a:moveTo>
                  <a:pt x="2000" y="12000"/>
                </a:moveTo>
                <a:cubicBezTo>
                  <a:pt x="1999" y="12391"/>
                  <a:pt x="2226" y="12746"/>
                  <a:pt x="2580" y="12910"/>
                </a:cubicBezTo>
                <a:lnTo>
                  <a:pt x="11180" y="16820"/>
                </a:lnTo>
                <a:cubicBezTo>
                  <a:pt x="11704" y="17057"/>
                  <a:pt x="12306" y="17057"/>
                  <a:pt x="12830" y="16820"/>
                </a:cubicBezTo>
                <a:lnTo>
                  <a:pt x="21410" y="12920"/>
                </a:lnTo>
                <a:cubicBezTo>
                  <a:pt x="21772" y="12757"/>
                  <a:pt x="22003" y="12397"/>
                  <a:pt x="22000" y="12000"/>
                </a:cubicBezTo>
                <a:moveTo>
                  <a:pt x="2000" y="17000"/>
                </a:moveTo>
                <a:cubicBezTo>
                  <a:pt x="1999" y="17391"/>
                  <a:pt x="2226" y="17746"/>
                  <a:pt x="2580" y="17910"/>
                </a:cubicBezTo>
                <a:lnTo>
                  <a:pt x="11180" y="21820"/>
                </a:lnTo>
                <a:cubicBezTo>
                  <a:pt x="11704" y="22057"/>
                  <a:pt x="12306" y="22057"/>
                  <a:pt x="12830" y="21820"/>
                </a:cubicBezTo>
                <a:lnTo>
                  <a:pt x="21410" y="17920"/>
                </a:lnTo>
                <a:cubicBezTo>
                  <a:pt x="21772" y="17757"/>
                  <a:pt x="22003" y="17397"/>
                  <a:pt x="22000" y="17000"/>
                </a:cubicBezTo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</p:sp>
      <p:sp>
        <p:nvSpPr>
          <p:cNvPr id="150" name="slot.phase.4.icon"/>
          <p:cNvSpPr/>
          <p:nvPr/>
        </p:nvSpPr>
        <p:spPr>
          <a:xfrm>
            <a:off x="9527802" y="1502073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7000"/>
                </a:moveTo>
                <a:lnTo>
                  <a:pt x="22000" y="7000"/>
                </a:lnTo>
                <a:lnTo>
                  <a:pt x="22000" y="13000"/>
                </a:lnTo>
                <a:moveTo>
                  <a:pt x="22000" y="7000"/>
                </a:moveTo>
                <a:lnTo>
                  <a:pt x="13500" y="15500"/>
                </a:lnTo>
                <a:lnTo>
                  <a:pt x="8500" y="10500"/>
                </a:lnTo>
                <a:lnTo>
                  <a:pt x="2000" y="17000"/>
                </a:lnTo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</p:sp>
      <p:sp>
        <p:nvSpPr>
          <p:cNvPr id="151" name="slot.step.1.icon"/>
          <p:cNvSpPr/>
          <p:nvPr/>
        </p:nvSpPr>
        <p:spPr>
          <a:xfrm>
            <a:off x="6667781" y="2468410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21590" cap="rnd">
            <a:solidFill>
              <a:schemeClr val="bg1"/>
            </a:solidFill>
            <a:round/>
          </a:ln>
          <a:effectLst/>
        </p:spPr>
      </p:sp>
      <p:sp>
        <p:nvSpPr>
          <p:cNvPr id="152" name="slot.step.2.icon"/>
          <p:cNvSpPr/>
          <p:nvPr/>
        </p:nvSpPr>
        <p:spPr>
          <a:xfrm>
            <a:off x="7347054" y="2468410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10270"/>
                </a:moveTo>
                <a:lnTo>
                  <a:pt x="7000" y="3340"/>
                </a:lnTo>
                <a:moveTo>
                  <a:pt x="11000" y="13730"/>
                </a:moveTo>
                <a:lnTo>
                  <a:pt x="7000" y="20660"/>
                </a:lnTo>
                <a:moveTo>
                  <a:pt x="12000" y="22000"/>
                </a:moveTo>
                <a:lnTo>
                  <a:pt x="12000" y="20000"/>
                </a:lnTo>
                <a:moveTo>
                  <a:pt x="12000" y="2000"/>
                </a:moveTo>
                <a:lnTo>
                  <a:pt x="12000" y="4000"/>
                </a:lnTo>
                <a:moveTo>
                  <a:pt x="14000" y="12000"/>
                </a:moveTo>
                <a:lnTo>
                  <a:pt x="22000" y="12000"/>
                </a:lnTo>
                <a:moveTo>
                  <a:pt x="17000" y="20660"/>
                </a:moveTo>
                <a:lnTo>
                  <a:pt x="16000" y="18930"/>
                </a:lnTo>
                <a:moveTo>
                  <a:pt x="17000" y="3340"/>
                </a:moveTo>
                <a:lnTo>
                  <a:pt x="16000" y="5070"/>
                </a:lnTo>
                <a:moveTo>
                  <a:pt x="2000" y="12000"/>
                </a:moveTo>
                <a:lnTo>
                  <a:pt x="4000" y="12000"/>
                </a:lnTo>
                <a:moveTo>
                  <a:pt x="20660" y="17000"/>
                </a:moveTo>
                <a:lnTo>
                  <a:pt x="18930" y="16000"/>
                </a:lnTo>
                <a:moveTo>
                  <a:pt x="20660" y="7000"/>
                </a:moveTo>
                <a:lnTo>
                  <a:pt x="18930" y="8000"/>
                </a:lnTo>
                <a:moveTo>
                  <a:pt x="3340" y="17000"/>
                </a:moveTo>
                <a:lnTo>
                  <a:pt x="5070" y="16000"/>
                </a:lnTo>
                <a:moveTo>
                  <a:pt x="3340" y="7000"/>
                </a:moveTo>
                <a:lnTo>
                  <a:pt x="5070" y="8000"/>
                </a:lnTo>
                <a:moveTo>
                  <a:pt x="14000" y="12000"/>
                </a:moveTo>
                <a:cubicBezTo>
                  <a:pt x="14000" y="13105"/>
                  <a:pt x="13105" y="14000"/>
                  <a:pt x="12000" y="14000"/>
                </a:cubicBezTo>
                <a:cubicBezTo>
                  <a:pt x="10895" y="14000"/>
                  <a:pt x="10000" y="13105"/>
                  <a:pt x="10000" y="12000"/>
                </a:cubicBezTo>
                <a:cubicBezTo>
                  <a:pt x="10000" y="10895"/>
                  <a:pt x="10895" y="10000"/>
                  <a:pt x="12000" y="10000"/>
                </a:cubicBezTo>
                <a:cubicBezTo>
                  <a:pt x="13105" y="10000"/>
                  <a:pt x="14000" y="10895"/>
                  <a:pt x="14000" y="12000"/>
                </a:cubicBezTo>
                <a:close/>
                <a:moveTo>
                  <a:pt x="20000" y="12000"/>
                </a:moveTo>
                <a:cubicBezTo>
                  <a:pt x="20000" y="16418"/>
                  <a:pt x="16418" y="20000"/>
                  <a:pt x="12000" y="20000"/>
                </a:cubicBezTo>
                <a:cubicBezTo>
                  <a:pt x="7582" y="20000"/>
                  <a:pt x="4000" y="16418"/>
                  <a:pt x="4000" y="12000"/>
                </a:cubicBezTo>
                <a:cubicBezTo>
                  <a:pt x="4000" y="7582"/>
                  <a:pt x="7582" y="4000"/>
                  <a:pt x="12000" y="4000"/>
                </a:cubicBezTo>
                <a:cubicBezTo>
                  <a:pt x="16418" y="4000"/>
                  <a:pt x="20000" y="7582"/>
                  <a:pt x="20000" y="12000"/>
                </a:cubicBezTo>
                <a:close/>
              </a:path>
            </a:pathLst>
          </a:custGeom>
          <a:noFill/>
          <a:ln w="21590" cap="rnd">
            <a:solidFill>
              <a:schemeClr val="bg1"/>
            </a:solidFill>
            <a:round/>
          </a:ln>
          <a:effectLst/>
        </p:spPr>
      </p:sp>
      <p:sp>
        <p:nvSpPr>
          <p:cNvPr id="153" name="slot.step.3.icon"/>
          <p:cNvSpPr/>
          <p:nvPr/>
        </p:nvSpPr>
        <p:spPr>
          <a:xfrm>
            <a:off x="8026326" y="2468410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21590" cap="rnd">
            <a:solidFill>
              <a:schemeClr val="bg1"/>
            </a:solidFill>
            <a:round/>
          </a:ln>
          <a:effectLst/>
        </p:spPr>
      </p:sp>
      <p:sp>
        <p:nvSpPr>
          <p:cNvPr id="154" name="struct.list.1.mark.1"/>
          <p:cNvSpPr/>
          <p:nvPr/>
        </p:nvSpPr>
        <p:spPr>
          <a:xfrm>
            <a:off x="625244" y="3631749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</p:sp>
      <p:sp>
        <p:nvSpPr>
          <p:cNvPr id="155" name="struct.list.1.mark.2"/>
          <p:cNvSpPr/>
          <p:nvPr/>
        </p:nvSpPr>
        <p:spPr>
          <a:xfrm>
            <a:off x="625244" y="3873164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</p:sp>
      <p:sp>
        <p:nvSpPr>
          <p:cNvPr id="156" name="struct.list.1.mark.3"/>
          <p:cNvSpPr/>
          <p:nvPr/>
        </p:nvSpPr>
        <p:spPr>
          <a:xfrm>
            <a:off x="625244" y="4114580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</p:sp>
      <p:sp>
        <p:nvSpPr>
          <p:cNvPr id="157" name="struct.list.1.mark.4"/>
          <p:cNvSpPr/>
          <p:nvPr/>
        </p:nvSpPr>
        <p:spPr>
          <a:xfrm>
            <a:off x="625244" y="4355996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</p:sp>
      <p:sp>
        <p:nvSpPr>
          <p:cNvPr id="158" name="struct.list.1.mark.5"/>
          <p:cNvSpPr/>
          <p:nvPr/>
        </p:nvSpPr>
        <p:spPr>
          <a:xfrm>
            <a:off x="625244" y="4597410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</p:sp>
      <p:sp>
        <p:nvSpPr>
          <p:cNvPr id="159" name="struct.list.2.mark.1"/>
          <p:cNvSpPr/>
          <p:nvPr/>
        </p:nvSpPr>
        <p:spPr>
          <a:xfrm>
            <a:off x="3526044" y="3631749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</p:sp>
      <p:sp>
        <p:nvSpPr>
          <p:cNvPr id="160" name="struct.list.2.mark.2"/>
          <p:cNvSpPr/>
          <p:nvPr/>
        </p:nvSpPr>
        <p:spPr>
          <a:xfrm>
            <a:off x="3526044" y="3873164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</p:sp>
      <p:sp>
        <p:nvSpPr>
          <p:cNvPr id="161" name="struct.list.2.mark.3"/>
          <p:cNvSpPr/>
          <p:nvPr/>
        </p:nvSpPr>
        <p:spPr>
          <a:xfrm>
            <a:off x="3526044" y="4114580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</p:sp>
      <p:sp>
        <p:nvSpPr>
          <p:cNvPr id="162" name="struct.list.2.mark.4"/>
          <p:cNvSpPr/>
          <p:nvPr/>
        </p:nvSpPr>
        <p:spPr>
          <a:xfrm>
            <a:off x="3526044" y="4355996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</p:sp>
      <p:sp>
        <p:nvSpPr>
          <p:cNvPr id="163" name="struct.list.2.mark.5"/>
          <p:cNvSpPr/>
          <p:nvPr/>
        </p:nvSpPr>
        <p:spPr>
          <a:xfrm>
            <a:off x="3526044" y="4597410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</p:sp>
      <p:sp>
        <p:nvSpPr>
          <p:cNvPr id="164" name="struct.list.3.mark.1"/>
          <p:cNvSpPr/>
          <p:nvPr/>
        </p:nvSpPr>
        <p:spPr>
          <a:xfrm>
            <a:off x="6428628" y="3631749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</p:sp>
      <p:sp>
        <p:nvSpPr>
          <p:cNvPr id="165" name="struct.list.3.mark.2"/>
          <p:cNvSpPr/>
          <p:nvPr/>
        </p:nvSpPr>
        <p:spPr>
          <a:xfrm>
            <a:off x="6428628" y="3873164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</p:sp>
      <p:sp>
        <p:nvSpPr>
          <p:cNvPr id="166" name="struct.list.3.mark.3"/>
          <p:cNvSpPr/>
          <p:nvPr/>
        </p:nvSpPr>
        <p:spPr>
          <a:xfrm>
            <a:off x="6428628" y="4114580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</p:sp>
      <p:sp>
        <p:nvSpPr>
          <p:cNvPr id="167" name="struct.list.3.mark.4"/>
          <p:cNvSpPr/>
          <p:nvPr/>
        </p:nvSpPr>
        <p:spPr>
          <a:xfrm>
            <a:off x="6428628" y="4355996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</p:sp>
      <p:sp>
        <p:nvSpPr>
          <p:cNvPr id="168" name="struct.list.3.mark.5"/>
          <p:cNvSpPr/>
          <p:nvPr/>
        </p:nvSpPr>
        <p:spPr>
          <a:xfrm>
            <a:off x="6428628" y="4597410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</p:sp>
      <p:sp>
        <p:nvSpPr>
          <p:cNvPr id="169" name="struct.list.4.mark.1"/>
          <p:cNvSpPr/>
          <p:nvPr/>
        </p:nvSpPr>
        <p:spPr>
          <a:xfrm>
            <a:off x="9348149" y="3631749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</p:sp>
      <p:sp>
        <p:nvSpPr>
          <p:cNvPr id="170" name="struct.list.4.mark.2"/>
          <p:cNvSpPr/>
          <p:nvPr/>
        </p:nvSpPr>
        <p:spPr>
          <a:xfrm>
            <a:off x="9348149" y="3873164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</p:sp>
      <p:sp>
        <p:nvSpPr>
          <p:cNvPr id="171" name="struct.list.4.mark.3"/>
          <p:cNvSpPr/>
          <p:nvPr/>
        </p:nvSpPr>
        <p:spPr>
          <a:xfrm>
            <a:off x="9348149" y="4114580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</p:sp>
      <p:sp>
        <p:nvSpPr>
          <p:cNvPr id="172" name="struct.list.4.mark.4"/>
          <p:cNvSpPr/>
          <p:nvPr/>
        </p:nvSpPr>
        <p:spPr>
          <a:xfrm>
            <a:off x="9348149" y="4355996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</p:sp>
      <p:sp>
        <p:nvSpPr>
          <p:cNvPr id="173" name="slot.loop.step.1.icon"/>
          <p:cNvSpPr/>
          <p:nvPr/>
        </p:nvSpPr>
        <p:spPr>
          <a:xfrm>
            <a:off x="6743721" y="5538370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4000"/>
                </a:moveTo>
                <a:lnTo>
                  <a:pt x="16000" y="10000"/>
                </a:lnTo>
                <a:moveTo>
                  <a:pt x="3340" y="19000"/>
                </a:moveTo>
                <a:cubicBezTo>
                  <a:pt x="913" y="14797"/>
                  <a:pt x="1854" y="9459"/>
                  <a:pt x="5572" y="6339"/>
                </a:cubicBezTo>
                <a:cubicBezTo>
                  <a:pt x="9290" y="3220"/>
                  <a:pt x="14710" y="3220"/>
                  <a:pt x="18428" y="6339"/>
                </a:cubicBezTo>
                <a:cubicBezTo>
                  <a:pt x="22146" y="9459"/>
                  <a:pt x="23087" y="14797"/>
                  <a:pt x="20660" y="19000"/>
                </a:cubicBezTo>
              </a:path>
            </a:pathLst>
          </a:custGeom>
          <a:noFill/>
          <a:ln w="24130" cap="rnd">
            <a:solidFill>
              <a:schemeClr val="bg1"/>
            </a:solidFill>
            <a:round/>
          </a:ln>
          <a:effectLst/>
        </p:spPr>
      </p:sp>
      <p:sp>
        <p:nvSpPr>
          <p:cNvPr id="174" name="slot.loop.step.2.icon"/>
          <p:cNvSpPr/>
          <p:nvPr/>
        </p:nvSpPr>
        <p:spPr>
          <a:xfrm>
            <a:off x="7708670" y="5538370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21000"/>
                </a:moveTo>
                <a:lnTo>
                  <a:pt x="16660" y="16660"/>
                </a:lnTo>
                <a:moveTo>
                  <a:pt x="19000" y="11000"/>
                </a:moveTo>
                <a:cubicBezTo>
                  <a:pt x="19000" y="15418"/>
                  <a:pt x="15418" y="19000"/>
                  <a:pt x="11000" y="19000"/>
                </a:cubicBezTo>
                <a:cubicBezTo>
                  <a:pt x="6582" y="19000"/>
                  <a:pt x="3000" y="15418"/>
                  <a:pt x="3000" y="11000"/>
                </a:cubicBezTo>
                <a:cubicBezTo>
                  <a:pt x="3000" y="6582"/>
                  <a:pt x="6582" y="3000"/>
                  <a:pt x="11000" y="3000"/>
                </a:cubicBezTo>
                <a:cubicBezTo>
                  <a:pt x="15418" y="3000"/>
                  <a:pt x="19000" y="6582"/>
                  <a:pt x="19000" y="11000"/>
                </a:cubicBezTo>
                <a:close/>
              </a:path>
            </a:pathLst>
          </a:custGeom>
          <a:noFill/>
          <a:ln w="24130" cap="rnd">
            <a:solidFill>
              <a:schemeClr val="bg1"/>
            </a:solidFill>
            <a:round/>
          </a:ln>
          <a:effectLst/>
        </p:spPr>
      </p:sp>
      <p:sp>
        <p:nvSpPr>
          <p:cNvPr id="175" name="slot.loop.step.3.icon"/>
          <p:cNvSpPr/>
          <p:nvPr/>
        </p:nvSpPr>
        <p:spPr>
          <a:xfrm>
            <a:off x="8655014" y="5538370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12000"/>
                </a:moveTo>
                <a:cubicBezTo>
                  <a:pt x="3000" y="7029"/>
                  <a:pt x="7029" y="3000"/>
                  <a:pt x="12000" y="3000"/>
                </a:cubicBezTo>
                <a:cubicBezTo>
                  <a:pt x="14516" y="3009"/>
                  <a:pt x="16931" y="3991"/>
                  <a:pt x="18740" y="5740"/>
                </a:cubicBezTo>
                <a:lnTo>
                  <a:pt x="21000" y="8000"/>
                </a:lnTo>
                <a:moveTo>
                  <a:pt x="21000" y="3000"/>
                </a:moveTo>
                <a:lnTo>
                  <a:pt x="21000" y="8000"/>
                </a:lnTo>
                <a:lnTo>
                  <a:pt x="16000" y="8000"/>
                </a:lnTo>
                <a:moveTo>
                  <a:pt x="21000" y="12000"/>
                </a:moveTo>
                <a:cubicBezTo>
                  <a:pt x="21000" y="16971"/>
                  <a:pt x="16971" y="21000"/>
                  <a:pt x="12000" y="21000"/>
                </a:cubicBezTo>
                <a:cubicBezTo>
                  <a:pt x="9484" y="20991"/>
                  <a:pt x="7069" y="20009"/>
                  <a:pt x="5260" y="18260"/>
                </a:cubicBezTo>
                <a:lnTo>
                  <a:pt x="3000" y="16000"/>
                </a:lnTo>
                <a:moveTo>
                  <a:pt x="8000" y="16000"/>
                </a:moveTo>
                <a:lnTo>
                  <a:pt x="3000" y="16000"/>
                </a:lnTo>
                <a:lnTo>
                  <a:pt x="3000" y="21000"/>
                </a:lnTo>
              </a:path>
            </a:pathLst>
          </a:custGeom>
          <a:noFill/>
          <a:ln w="24130" cap="rnd">
            <a:solidFill>
              <a:schemeClr val="bg1"/>
            </a:solidFill>
            <a:round/>
          </a:ln>
          <a:effectLst/>
        </p:spPr>
      </p:sp>
      <p:sp>
        <p:nvSpPr>
          <p:cNvPr id="176" name="slot.loop.step.4.icon"/>
          <p:cNvSpPr/>
          <p:nvPr/>
        </p:nvSpPr>
        <p:spPr>
          <a:xfrm>
            <a:off x="9693645" y="5538370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5000"/>
                </a:moveTo>
                <a:lnTo>
                  <a:pt x="12000" y="20000"/>
                </a:lnTo>
                <a:cubicBezTo>
                  <a:pt x="12000" y="20000"/>
                  <a:pt x="15030" y="19450"/>
                  <a:pt x="16000" y="18000"/>
                </a:cubicBezTo>
                <a:cubicBezTo>
                  <a:pt x="17080" y="16380"/>
                  <a:pt x="16000" y="13000"/>
                  <a:pt x="16000" y="13000"/>
                </a:cubicBezTo>
                <a:moveTo>
                  <a:pt x="4500" y="16500"/>
                </a:moveTo>
                <a:cubicBezTo>
                  <a:pt x="3000" y="17760"/>
                  <a:pt x="2500" y="21500"/>
                  <a:pt x="2500" y="21500"/>
                </a:cubicBezTo>
                <a:cubicBezTo>
                  <a:pt x="2500" y="21500"/>
                  <a:pt x="6240" y="21000"/>
                  <a:pt x="7500" y="19500"/>
                </a:cubicBezTo>
                <a:cubicBezTo>
                  <a:pt x="8210" y="18660"/>
                  <a:pt x="8200" y="17370"/>
                  <a:pt x="7410" y="16590"/>
                </a:cubicBezTo>
                <a:cubicBezTo>
                  <a:pt x="6605" y="15822"/>
                  <a:pt x="5351" y="15783"/>
                  <a:pt x="4500" y="16500"/>
                </a:cubicBezTo>
                <a:moveTo>
                  <a:pt x="9000" y="12000"/>
                </a:moveTo>
                <a:cubicBezTo>
                  <a:pt x="9532" y="10619"/>
                  <a:pt x="10202" y="9296"/>
                  <a:pt x="11000" y="8050"/>
                </a:cubicBezTo>
                <a:cubicBezTo>
                  <a:pt x="13369" y="4262"/>
                  <a:pt x="17532" y="1972"/>
                  <a:pt x="22000" y="2000"/>
                </a:cubicBezTo>
                <a:cubicBezTo>
                  <a:pt x="22000" y="4720"/>
                  <a:pt x="21220" y="9500"/>
                  <a:pt x="16000" y="13000"/>
                </a:cubicBezTo>
                <a:cubicBezTo>
                  <a:pt x="14737" y="13798"/>
                  <a:pt x="13397" y="14468"/>
                  <a:pt x="12000" y="15000"/>
                </a:cubicBezTo>
                <a:close/>
                <a:moveTo>
                  <a:pt x="9000" y="12000"/>
                </a:moveTo>
                <a:lnTo>
                  <a:pt x="4000" y="12000"/>
                </a:lnTo>
                <a:cubicBezTo>
                  <a:pt x="4000" y="12000"/>
                  <a:pt x="4550" y="8970"/>
                  <a:pt x="6000" y="8000"/>
                </a:cubicBezTo>
                <a:cubicBezTo>
                  <a:pt x="7620" y="6920"/>
                  <a:pt x="11000" y="8050"/>
                  <a:pt x="11000" y="8050"/>
                </a:cubicBezTo>
              </a:path>
            </a:pathLst>
          </a:custGeom>
          <a:noFill/>
          <a:ln w="24130" cap="rnd">
            <a:solidFill>
              <a:schemeClr val="bg1"/>
            </a:solidFill>
            <a:round/>
          </a:ln>
          <a:effectLst/>
        </p:spPr>
      </p:sp>
      <p:sp>
        <p:nvSpPr>
          <p:cNvPr id="177" name="slot.loop.step.5.icon"/>
          <p:cNvSpPr/>
          <p:nvPr/>
        </p:nvSpPr>
        <p:spPr>
          <a:xfrm>
            <a:off x="10746030" y="5538370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3000"/>
                </a:moveTo>
                <a:lnTo>
                  <a:pt x="3000" y="19000"/>
                </a:lnTo>
                <a:cubicBezTo>
                  <a:pt x="3000" y="20105"/>
                  <a:pt x="3895" y="21000"/>
                  <a:pt x="5000" y="21000"/>
                </a:cubicBezTo>
                <a:lnTo>
                  <a:pt x="21000" y="21000"/>
                </a:lnTo>
                <a:moveTo>
                  <a:pt x="19000" y="9000"/>
                </a:moveTo>
                <a:lnTo>
                  <a:pt x="14000" y="14000"/>
                </a:lnTo>
                <a:lnTo>
                  <a:pt x="10000" y="10000"/>
                </a:lnTo>
                <a:lnTo>
                  <a:pt x="7000" y="13000"/>
                </a:lnTo>
              </a:path>
            </a:pathLst>
          </a:custGeom>
          <a:noFill/>
          <a:ln w="24130" cap="rnd">
            <a:solidFill>
              <a:schemeClr val="bg1"/>
            </a:solidFill>
            <a:round/>
          </a:ln>
          <a:effectLst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onvergence-hub:nested-core-feeders-outcomes">
    <p:spTree>
      <p:nvGrpSpPr>
        <p:cNvPr id="1" name=""/>
        <p:cNvGrpSpPr/>
        <p:nvPr/>
      </p:nvGrpSpPr>
      <p:grpSpPr/>
      <p:sp>
        <p:nvSpPr>
          <p:cNvPr id="2" name="struct.hub.outer"/>
          <p:cNvSpPr/>
          <p:nvPr/>
        </p:nvSpPr>
        <p:spPr>
          <a:xfrm>
            <a:off x="4123944" y="978408"/>
            <a:ext cx="3950208" cy="5111496"/>
          </a:xfrm>
          <a:prstGeom prst="roundRect">
            <a:avLst>
              <a:gd name="adj" fmla="val 1157"/>
            </a:avLst>
          </a:prstGeom>
          <a:solidFill>
            <a:schemeClr val="bg1">
              <a:lumMod val="95000"/>
            </a:schemeClr>
          </a:solidFill>
          <a:ln cap="flat" cmpd="sng" w="9525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truct.hub.inner"/>
          <p:cNvSpPr/>
          <p:nvPr/>
        </p:nvSpPr>
        <p:spPr>
          <a:xfrm>
            <a:off x="4425696" y="1344168"/>
            <a:ext cx="3337560" cy="4645152"/>
          </a:xfrm>
          <a:prstGeom prst="roundRect">
            <a:avLst>
              <a:gd name="adj" fmla="val 1369"/>
            </a:avLst>
          </a:prstGeom>
          <a:solidFill>
            <a:schemeClr val="bg1">
              <a:lumMod val="95000"/>
            </a:schemeClr>
          </a:solidFill>
          <a:ln cap="flat" cmpd="sng" w="9525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truct.hub.core"/>
          <p:cNvSpPr/>
          <p:nvPr/>
        </p:nvSpPr>
        <p:spPr>
          <a:xfrm>
            <a:off x="4727448" y="1801368"/>
            <a:ext cx="2743200" cy="4087368"/>
          </a:xfrm>
          <a:prstGeom prst="roundRect">
            <a:avLst>
              <a:gd name="adj" fmla="val 1666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struct.step.rule.1"/>
          <p:cNvSpPr/>
          <p:nvPr/>
        </p:nvSpPr>
        <p:spPr>
          <a:xfrm>
            <a:off x="4846320" y="3131820"/>
            <a:ext cx="2496312" cy="914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struct.step.rule.2"/>
          <p:cNvSpPr/>
          <p:nvPr/>
        </p:nvSpPr>
        <p:spPr>
          <a:xfrm>
            <a:off x="4846320" y="4027932"/>
            <a:ext cx="2496312" cy="914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struct.step.rule.3"/>
          <p:cNvSpPr/>
          <p:nvPr/>
        </p:nvSpPr>
        <p:spPr>
          <a:xfrm>
            <a:off x="4846320" y="4924044"/>
            <a:ext cx="2496312" cy="914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struct.feeder.1"/>
          <p:cNvSpPr/>
          <p:nvPr/>
        </p:nvSpPr>
        <p:spPr>
          <a:xfrm>
            <a:off x="457200" y="978408"/>
            <a:ext cx="2743200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struct.feeder.1.tile"/>
          <p:cNvSpPr/>
          <p:nvPr/>
        </p:nvSpPr>
        <p:spPr>
          <a:xfrm>
            <a:off x="590550" y="1118235"/>
            <a:ext cx="476250" cy="476250"/>
          </a:xfrm>
          <a:prstGeom prst="roundRect">
            <a:avLst>
              <a:gd fmla="val 15385" name="adj"/>
            </a:avLst>
          </a:prstGeom>
          <a:solidFill>
            <a:schemeClr val="bg1"/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struct.feeder.2"/>
          <p:cNvSpPr/>
          <p:nvPr/>
        </p:nvSpPr>
        <p:spPr>
          <a:xfrm>
            <a:off x="457200" y="1847088"/>
            <a:ext cx="2743200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struct.feeder.2.tile"/>
          <p:cNvSpPr/>
          <p:nvPr/>
        </p:nvSpPr>
        <p:spPr>
          <a:xfrm>
            <a:off x="590550" y="1986915"/>
            <a:ext cx="476250" cy="476250"/>
          </a:xfrm>
          <a:prstGeom prst="roundRect">
            <a:avLst>
              <a:gd fmla="val 15385" name="adj"/>
            </a:avLst>
          </a:prstGeom>
          <a:solidFill>
            <a:schemeClr val="bg1"/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struct.feeder.3"/>
          <p:cNvSpPr/>
          <p:nvPr/>
        </p:nvSpPr>
        <p:spPr>
          <a:xfrm>
            <a:off x="457200" y="2715768"/>
            <a:ext cx="2743200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struct.feeder.3.tile"/>
          <p:cNvSpPr/>
          <p:nvPr/>
        </p:nvSpPr>
        <p:spPr>
          <a:xfrm>
            <a:off x="590550" y="2855595"/>
            <a:ext cx="476250" cy="476250"/>
          </a:xfrm>
          <a:prstGeom prst="roundRect">
            <a:avLst>
              <a:gd fmla="val 15385" name="adj"/>
            </a:avLst>
          </a:prstGeom>
          <a:solidFill>
            <a:schemeClr val="bg1"/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struct.feeder.4"/>
          <p:cNvSpPr/>
          <p:nvPr/>
        </p:nvSpPr>
        <p:spPr>
          <a:xfrm>
            <a:off x="457200" y="3584448"/>
            <a:ext cx="2743200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struct.feeder.4.tile"/>
          <p:cNvSpPr/>
          <p:nvPr/>
        </p:nvSpPr>
        <p:spPr>
          <a:xfrm>
            <a:off x="590550" y="3724275"/>
            <a:ext cx="476250" cy="476250"/>
          </a:xfrm>
          <a:prstGeom prst="roundRect">
            <a:avLst>
              <a:gd fmla="val 15385" name="adj"/>
            </a:avLst>
          </a:prstGeom>
          <a:solidFill>
            <a:schemeClr val="bg1"/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struct.feeder.5"/>
          <p:cNvSpPr/>
          <p:nvPr/>
        </p:nvSpPr>
        <p:spPr>
          <a:xfrm>
            <a:off x="457200" y="4453128"/>
            <a:ext cx="2743200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struct.feeder.5.tile"/>
          <p:cNvSpPr/>
          <p:nvPr/>
        </p:nvSpPr>
        <p:spPr>
          <a:xfrm>
            <a:off x="590550" y="4592955"/>
            <a:ext cx="476250" cy="476250"/>
          </a:xfrm>
          <a:prstGeom prst="roundRect">
            <a:avLst>
              <a:gd fmla="val 15385" name="adj"/>
            </a:avLst>
          </a:prstGeom>
          <a:solidFill>
            <a:schemeClr val="bg1"/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struct.feeder.6"/>
          <p:cNvSpPr/>
          <p:nvPr/>
        </p:nvSpPr>
        <p:spPr>
          <a:xfrm>
            <a:off x="457200" y="5321808"/>
            <a:ext cx="2743200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struct.feeder.6.tile"/>
          <p:cNvSpPr/>
          <p:nvPr/>
        </p:nvSpPr>
        <p:spPr>
          <a:xfrm>
            <a:off x="590550" y="5461635"/>
            <a:ext cx="476250" cy="476250"/>
          </a:xfrm>
          <a:prstGeom prst="roundRect">
            <a:avLst>
              <a:gd fmla="val 15385" name="adj"/>
            </a:avLst>
          </a:prstGeom>
          <a:solidFill>
            <a:schemeClr val="bg1"/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struct.outcome.1"/>
          <p:cNvSpPr/>
          <p:nvPr/>
        </p:nvSpPr>
        <p:spPr>
          <a:xfrm>
            <a:off x="8668512" y="978408"/>
            <a:ext cx="3127248" cy="890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struct.outcome.2"/>
          <p:cNvSpPr/>
          <p:nvPr/>
        </p:nvSpPr>
        <p:spPr>
          <a:xfrm>
            <a:off x="8668512" y="2033625"/>
            <a:ext cx="3127248" cy="890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9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struct.outcome.3"/>
          <p:cNvSpPr/>
          <p:nvPr/>
        </p:nvSpPr>
        <p:spPr>
          <a:xfrm>
            <a:off x="8668512" y="3088843"/>
            <a:ext cx="3127248" cy="890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9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struct.outcome.4"/>
          <p:cNvSpPr/>
          <p:nvPr/>
        </p:nvSpPr>
        <p:spPr>
          <a:xfrm>
            <a:off x="8668512" y="4144060"/>
            <a:ext cx="3127248" cy="890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9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struct.outcome.5"/>
          <p:cNvSpPr/>
          <p:nvPr/>
        </p:nvSpPr>
        <p:spPr>
          <a:xfrm>
            <a:off x="8668512" y="5199278"/>
            <a:ext cx="3127248" cy="890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9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slot.title"/>
          <p:cNvSpPr/>
          <p:nvPr/>
        </p:nvSpPr>
        <p:spPr>
          <a:xfrm>
            <a:off x="457200" y="256032"/>
            <a:ext cx="1133856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Six sources converge on </a:t>
            </a:r>
            <a:r>
              <a:rPr lang="en-US" sz="2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one governed platform</a:t>
            </a:r>
            <a:r>
              <a:rPr lang="en-US" sz="2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that serves five teams</a:t>
            </a:r>
            <a:endParaRPr lang="en-US" sz="2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slot.hub.outer.label"/>
          <p:cNvSpPr/>
          <p:nvPr/>
        </p:nvSpPr>
        <p:spPr>
          <a:xfrm>
            <a:off x="4187952" y="1042415"/>
            <a:ext cx="3813048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Shared data foundation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lot.hub.inner.label"/>
          <p:cNvSpPr/>
          <p:nvPr/>
        </p:nvSpPr>
        <p:spPr>
          <a:xfrm>
            <a:off x="4480560" y="1408176"/>
            <a:ext cx="3218688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Common definitions and access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lot.hub.core.label"/>
          <p:cNvSpPr/>
          <p:nvPr/>
        </p:nvSpPr>
        <p:spPr>
          <a:xfrm>
            <a:off x="4782312" y="1865376"/>
            <a:ext cx="2633472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Platform services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lot.feeder.1.text"/>
          <p:cNvSpPr/>
          <p:nvPr/>
        </p:nvSpPr>
        <p:spPr>
          <a:xfrm>
            <a:off x="1161288" y="1033272"/>
            <a:ext cx="1965960" cy="6492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Sales history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Daily orders, three regions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slot.feeder.2.text"/>
          <p:cNvSpPr/>
          <p:nvPr/>
        </p:nvSpPr>
        <p:spPr>
          <a:xfrm>
            <a:off x="1161288" y="1901952"/>
            <a:ext cx="1965960" cy="6492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Audit records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Inspections and fixes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lot.feeder.3.text"/>
          <p:cNvSpPr/>
          <p:nvPr/>
        </p:nvSpPr>
        <p:spPr>
          <a:xfrm>
            <a:off x="1161288" y="2770632"/>
            <a:ext cx="1965960" cy="6492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Product data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Specs, packs and prices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lot.feeder.4.text"/>
          <p:cNvSpPr/>
          <p:nvPr/>
        </p:nvSpPr>
        <p:spPr>
          <a:xfrm>
            <a:off x="1161288" y="3639312"/>
            <a:ext cx="1965960" cy="6492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Customer master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Accounts and service tiers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slot.feeder.5.text"/>
          <p:cNvSpPr/>
          <p:nvPr/>
        </p:nvSpPr>
        <p:spPr>
          <a:xfrm>
            <a:off x="1161288" y="4507992"/>
            <a:ext cx="1965960" cy="6492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Partner feeds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Weekly files from partners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slot.feeder.6.text"/>
          <p:cNvSpPr/>
          <p:nvPr/>
        </p:nvSpPr>
        <p:spPr>
          <a:xfrm>
            <a:off x="1161288" y="5376672"/>
            <a:ext cx="1965960" cy="6492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Field service logs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Visit notes, parts used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lot.step.1.num"/>
          <p:cNvSpPr/>
          <p:nvPr/>
        </p:nvSpPr>
        <p:spPr>
          <a:xfrm>
            <a:off x="4791456" y="2459736"/>
            <a:ext cx="420624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01</a:t>
            </a:r>
            <a:endParaRPr lang="en-US" sz="1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slot.step.1.head"/>
          <p:cNvSpPr/>
          <p:nvPr/>
        </p:nvSpPr>
        <p:spPr>
          <a:xfrm>
            <a:off x="5239512" y="2432304"/>
            <a:ext cx="182880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Ingest once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slot.step.1.body"/>
          <p:cNvSpPr/>
          <p:nvPr/>
        </p:nvSpPr>
        <p:spPr>
          <a:xfrm>
            <a:off x="5239512" y="2679192"/>
            <a:ext cx="2157984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One schedule for every source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lot.step.2.num"/>
          <p:cNvSpPr/>
          <p:nvPr/>
        </p:nvSpPr>
        <p:spPr>
          <a:xfrm>
            <a:off x="4791456" y="3355848"/>
            <a:ext cx="420624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02</a:t>
            </a:r>
            <a:endParaRPr lang="en-US" sz="1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slot.step.2.head"/>
          <p:cNvSpPr/>
          <p:nvPr/>
        </p:nvSpPr>
        <p:spPr>
          <a:xfrm>
            <a:off x="5239512" y="3328416"/>
            <a:ext cx="182880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Standardize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slot.step.2.body"/>
          <p:cNvSpPr/>
          <p:nvPr/>
        </p:nvSpPr>
        <p:spPr>
          <a:xfrm>
            <a:off x="5239512" y="3575304"/>
            <a:ext cx="2157984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Shared terms on every record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lot.step.3.num"/>
          <p:cNvSpPr/>
          <p:nvPr/>
        </p:nvSpPr>
        <p:spPr>
          <a:xfrm>
            <a:off x="4791456" y="4251960"/>
            <a:ext cx="420624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03</a:t>
            </a:r>
            <a:endParaRPr lang="en-US" sz="1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slot.step.3.head"/>
          <p:cNvSpPr/>
          <p:nvPr/>
        </p:nvSpPr>
        <p:spPr>
          <a:xfrm>
            <a:off x="5239512" y="4224528"/>
            <a:ext cx="182880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Govern access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slot.step.3.body"/>
          <p:cNvSpPr/>
          <p:nvPr/>
        </p:nvSpPr>
        <p:spPr>
          <a:xfrm>
            <a:off x="5239512" y="4471416"/>
            <a:ext cx="2157984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Role rules at query time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slot.step.4.num"/>
          <p:cNvSpPr/>
          <p:nvPr/>
        </p:nvSpPr>
        <p:spPr>
          <a:xfrm>
            <a:off x="4791456" y="5148072"/>
            <a:ext cx="420624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04</a:t>
            </a:r>
            <a:endParaRPr lang="en-US" sz="1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lot.step.4.head"/>
          <p:cNvSpPr/>
          <p:nvPr/>
        </p:nvSpPr>
        <p:spPr>
          <a:xfrm>
            <a:off x="5239512" y="5120640"/>
            <a:ext cx="182880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Serve by API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slot.step.4.body"/>
          <p:cNvSpPr/>
          <p:nvPr/>
        </p:nvSpPr>
        <p:spPr>
          <a:xfrm>
            <a:off x="5239512" y="5367527"/>
            <a:ext cx="2157984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One endpoint per question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slot.outcome.1.head"/>
          <p:cNvSpPr/>
          <p:nvPr/>
        </p:nvSpPr>
        <p:spPr>
          <a:xfrm>
            <a:off x="9198864" y="1115568"/>
            <a:ext cx="2505456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Faster market reports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slot.outcome.1.body"/>
          <p:cNvSpPr/>
          <p:nvPr/>
        </p:nvSpPr>
        <p:spPr>
          <a:xfrm>
            <a:off x="8796528" y="1417320"/>
            <a:ext cx="2907792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New reports ship in days instead of quarters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slot.outcome.2.head"/>
          <p:cNvSpPr/>
          <p:nvPr/>
        </p:nvSpPr>
        <p:spPr>
          <a:xfrm>
            <a:off x="9198864" y="2170785"/>
            <a:ext cx="2505456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Fewer audit findings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slot.outcome.2.body"/>
          <p:cNvSpPr/>
          <p:nvPr/>
        </p:nvSpPr>
        <p:spPr>
          <a:xfrm>
            <a:off x="8796528" y="2472537"/>
            <a:ext cx="2907792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lineage trail answers each reviewer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slot.outcome.3.head"/>
          <p:cNvSpPr/>
          <p:nvPr/>
        </p:nvSpPr>
        <p:spPr>
          <a:xfrm>
            <a:off x="9198864" y="3226003"/>
            <a:ext cx="2505456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Steadier forecasts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slot.outcome.3.body"/>
          <p:cNvSpPr/>
          <p:nvPr/>
        </p:nvSpPr>
        <p:spPr>
          <a:xfrm>
            <a:off x="8796528" y="3527755"/>
            <a:ext cx="2907792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Demand models train on one reconciled history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slot.outcome.4.head"/>
          <p:cNvSpPr/>
          <p:nvPr/>
        </p:nvSpPr>
        <p:spPr>
          <a:xfrm>
            <a:off x="9198864" y="4281220"/>
            <a:ext cx="2505456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One leadership view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slot.outcome.4.body"/>
          <p:cNvSpPr/>
          <p:nvPr/>
        </p:nvSpPr>
        <p:spPr>
          <a:xfrm>
            <a:off x="8796528" y="4582972"/>
            <a:ext cx="2907792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Every review reads the same numbers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slot.outcome.5.head"/>
          <p:cNvSpPr/>
          <p:nvPr/>
        </p:nvSpPr>
        <p:spPr>
          <a:xfrm>
            <a:off x="9198864" y="5336438"/>
            <a:ext cx="2505456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Self-serve analysts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lot.outcome.5.body"/>
          <p:cNvSpPr/>
          <p:nvPr/>
        </p:nvSpPr>
        <p:spPr>
          <a:xfrm>
            <a:off x="8796528" y="5638190"/>
            <a:ext cx="2907792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Teams query governed data without tickets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slot.step.1.icon"/>
          <p:cNvSpPr/>
          <p:nvPr/>
        </p:nvSpPr>
        <p:spPr>
          <a:xfrm>
            <a:off x="7132320" y="2441448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</p:sp>
      <p:sp>
        <p:nvSpPr>
          <p:cNvPr id="58" name="slot.step.2.icon"/>
          <p:cNvSpPr/>
          <p:nvPr/>
        </p:nvSpPr>
        <p:spPr>
          <a:xfrm>
            <a:off x="7132320" y="333756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830" y="2180"/>
                </a:moveTo>
                <a:cubicBezTo>
                  <a:pt x="12303" y="1940"/>
                  <a:pt x="11697" y="1940"/>
                  <a:pt x="11170" y="2180"/>
                </a:cubicBezTo>
                <a:lnTo>
                  <a:pt x="2600" y="6080"/>
                </a:lnTo>
                <a:cubicBezTo>
                  <a:pt x="2237" y="6240"/>
                  <a:pt x="2003" y="6599"/>
                  <a:pt x="2003" y="6995"/>
                </a:cubicBezTo>
                <a:cubicBezTo>
                  <a:pt x="2003" y="7391"/>
                  <a:pt x="2237" y="7750"/>
                  <a:pt x="2600" y="7910"/>
                </a:cubicBezTo>
                <a:lnTo>
                  <a:pt x="11180" y="11820"/>
                </a:lnTo>
                <a:cubicBezTo>
                  <a:pt x="11707" y="12060"/>
                  <a:pt x="12313" y="12060"/>
                  <a:pt x="12840" y="11820"/>
                </a:cubicBezTo>
                <a:lnTo>
                  <a:pt x="21420" y="7920"/>
                </a:lnTo>
                <a:cubicBezTo>
                  <a:pt x="21783" y="7760"/>
                  <a:pt x="22017" y="7401"/>
                  <a:pt x="22017" y="7005"/>
                </a:cubicBezTo>
                <a:cubicBezTo>
                  <a:pt x="22017" y="6609"/>
                  <a:pt x="21783" y="6250"/>
                  <a:pt x="21420" y="6090"/>
                </a:cubicBezTo>
                <a:close/>
                <a:moveTo>
                  <a:pt x="2000" y="12000"/>
                </a:moveTo>
                <a:cubicBezTo>
                  <a:pt x="1999" y="12391"/>
                  <a:pt x="2226" y="12746"/>
                  <a:pt x="2580" y="12910"/>
                </a:cubicBezTo>
                <a:lnTo>
                  <a:pt x="11180" y="16820"/>
                </a:lnTo>
                <a:cubicBezTo>
                  <a:pt x="11704" y="17057"/>
                  <a:pt x="12306" y="17057"/>
                  <a:pt x="12830" y="16820"/>
                </a:cubicBezTo>
                <a:lnTo>
                  <a:pt x="21410" y="12920"/>
                </a:lnTo>
                <a:cubicBezTo>
                  <a:pt x="21772" y="12757"/>
                  <a:pt x="22003" y="12397"/>
                  <a:pt x="22000" y="12000"/>
                </a:cubicBezTo>
                <a:moveTo>
                  <a:pt x="2000" y="17000"/>
                </a:moveTo>
                <a:cubicBezTo>
                  <a:pt x="1999" y="17391"/>
                  <a:pt x="2226" y="17746"/>
                  <a:pt x="2580" y="17910"/>
                </a:cubicBezTo>
                <a:lnTo>
                  <a:pt x="11180" y="21820"/>
                </a:lnTo>
                <a:cubicBezTo>
                  <a:pt x="11704" y="22057"/>
                  <a:pt x="12306" y="22057"/>
                  <a:pt x="12830" y="21820"/>
                </a:cubicBezTo>
                <a:lnTo>
                  <a:pt x="21410" y="17920"/>
                </a:lnTo>
                <a:cubicBezTo>
                  <a:pt x="21772" y="17757"/>
                  <a:pt x="22003" y="17397"/>
                  <a:pt x="22000" y="17000"/>
                </a:cubicBezTo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</p:sp>
      <p:sp>
        <p:nvSpPr>
          <p:cNvPr id="59" name="slot.step.3.icon"/>
          <p:cNvSpPr/>
          <p:nvPr/>
        </p:nvSpPr>
        <p:spPr>
          <a:xfrm>
            <a:off x="7132320" y="4233672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</p:sp>
      <p:sp>
        <p:nvSpPr>
          <p:cNvPr id="60" name="slot.step.4.icon"/>
          <p:cNvSpPr/>
          <p:nvPr/>
        </p:nvSpPr>
        <p:spPr>
          <a:xfrm>
            <a:off x="7132320" y="5129784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22000"/>
                </a:moveTo>
                <a:lnTo>
                  <a:pt x="12000" y="17000"/>
                </a:lnTo>
                <a:moveTo>
                  <a:pt x="15000" y="8000"/>
                </a:moveTo>
                <a:lnTo>
                  <a:pt x="15000" y="2000"/>
                </a:lnTo>
                <a:moveTo>
                  <a:pt x="17000" y="8000"/>
                </a:moveTo>
                <a:cubicBezTo>
                  <a:pt x="17552" y="8000"/>
                  <a:pt x="18000" y="8448"/>
                  <a:pt x="18000" y="9000"/>
                </a:cubicBezTo>
                <a:lnTo>
                  <a:pt x="18000" y="13000"/>
                </a:lnTo>
                <a:cubicBezTo>
                  <a:pt x="18000" y="15209"/>
                  <a:pt x="16209" y="17000"/>
                  <a:pt x="14000" y="17000"/>
                </a:cubicBezTo>
                <a:lnTo>
                  <a:pt x="10000" y="17000"/>
                </a:lnTo>
                <a:cubicBezTo>
                  <a:pt x="7791" y="17000"/>
                  <a:pt x="6000" y="15209"/>
                  <a:pt x="6000" y="13000"/>
                </a:cubicBezTo>
                <a:lnTo>
                  <a:pt x="6000" y="9000"/>
                </a:lnTo>
                <a:cubicBezTo>
                  <a:pt x="6000" y="8448"/>
                  <a:pt x="6448" y="8000"/>
                  <a:pt x="7000" y="8000"/>
                </a:cubicBezTo>
                <a:close/>
                <a:moveTo>
                  <a:pt x="9000" y="8000"/>
                </a:moveTo>
                <a:lnTo>
                  <a:pt x="9000" y="2000"/>
                </a:lnTo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</p:sp>
      <p:sp>
        <p:nvSpPr>
          <p:cNvPr id="61" name="slot.feeder.1.icon"/>
          <p:cNvSpPr/>
          <p:nvPr/>
        </p:nvSpPr>
        <p:spPr>
          <a:xfrm>
            <a:off x="657454" y="1185062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4000" y="3000"/>
                </a:moveTo>
                <a:lnTo>
                  <a:pt x="9000" y="3000"/>
                </a:lnTo>
                <a:cubicBezTo>
                  <a:pt x="9552" y="3000"/>
                  <a:pt x="10000" y="3448"/>
                  <a:pt x="10000" y="4000"/>
                </a:cubicBezTo>
                <a:lnTo>
                  <a:pt x="10000" y="11000"/>
                </a:lnTo>
                <a:cubicBezTo>
                  <a:pt x="10000" y="11552"/>
                  <a:pt x="9552" y="12000"/>
                  <a:pt x="9000" y="12000"/>
                </a:cubicBezTo>
                <a:lnTo>
                  <a:pt x="4000" y="12000"/>
                </a:lnTo>
                <a:cubicBezTo>
                  <a:pt x="3448" y="12000"/>
                  <a:pt x="3000" y="11552"/>
                  <a:pt x="3000" y="11000"/>
                </a:cubicBezTo>
                <a:lnTo>
                  <a:pt x="3000" y="4000"/>
                </a:lnTo>
                <a:cubicBezTo>
                  <a:pt x="3000" y="3448"/>
                  <a:pt x="3448" y="3000"/>
                  <a:pt x="4000" y="3000"/>
                </a:cubicBezTo>
                <a:close/>
                <a:moveTo>
                  <a:pt x="15000" y="3000"/>
                </a:moveTo>
                <a:lnTo>
                  <a:pt x="20000" y="3000"/>
                </a:lnTo>
                <a:cubicBezTo>
                  <a:pt x="20552" y="3000"/>
                  <a:pt x="21000" y="3448"/>
                  <a:pt x="21000" y="4000"/>
                </a:cubicBezTo>
                <a:lnTo>
                  <a:pt x="21000" y="7000"/>
                </a:lnTo>
                <a:cubicBezTo>
                  <a:pt x="21000" y="7552"/>
                  <a:pt x="20552" y="8000"/>
                  <a:pt x="20000" y="8000"/>
                </a:cubicBezTo>
                <a:lnTo>
                  <a:pt x="15000" y="8000"/>
                </a:lnTo>
                <a:cubicBezTo>
                  <a:pt x="14448" y="8000"/>
                  <a:pt x="14000" y="7552"/>
                  <a:pt x="14000" y="7000"/>
                </a:cubicBezTo>
                <a:lnTo>
                  <a:pt x="14000" y="4000"/>
                </a:lnTo>
                <a:cubicBezTo>
                  <a:pt x="14000" y="3448"/>
                  <a:pt x="14448" y="3000"/>
                  <a:pt x="15000" y="3000"/>
                </a:cubicBezTo>
                <a:close/>
                <a:moveTo>
                  <a:pt x="15000" y="12000"/>
                </a:moveTo>
                <a:lnTo>
                  <a:pt x="20000" y="12000"/>
                </a:lnTo>
                <a:cubicBezTo>
                  <a:pt x="20552" y="12000"/>
                  <a:pt x="21000" y="12448"/>
                  <a:pt x="21000" y="13000"/>
                </a:cubicBezTo>
                <a:lnTo>
                  <a:pt x="21000" y="20000"/>
                </a:lnTo>
                <a:cubicBezTo>
                  <a:pt x="21000" y="20552"/>
                  <a:pt x="20552" y="21000"/>
                  <a:pt x="20000" y="21000"/>
                </a:cubicBezTo>
                <a:lnTo>
                  <a:pt x="15000" y="21000"/>
                </a:lnTo>
                <a:cubicBezTo>
                  <a:pt x="14448" y="21000"/>
                  <a:pt x="14000" y="20552"/>
                  <a:pt x="14000" y="20000"/>
                </a:cubicBezTo>
                <a:lnTo>
                  <a:pt x="14000" y="13000"/>
                </a:lnTo>
                <a:cubicBezTo>
                  <a:pt x="14000" y="12448"/>
                  <a:pt x="14448" y="12000"/>
                  <a:pt x="15000" y="12000"/>
                </a:cubicBezTo>
                <a:close/>
                <a:moveTo>
                  <a:pt x="4000" y="16000"/>
                </a:moveTo>
                <a:lnTo>
                  <a:pt x="9000" y="16000"/>
                </a:lnTo>
                <a:cubicBezTo>
                  <a:pt x="9552" y="16000"/>
                  <a:pt x="10000" y="16448"/>
                  <a:pt x="10000" y="17000"/>
                </a:cubicBezTo>
                <a:lnTo>
                  <a:pt x="10000" y="20000"/>
                </a:lnTo>
                <a:cubicBezTo>
                  <a:pt x="10000" y="20552"/>
                  <a:pt x="9552" y="21000"/>
                  <a:pt x="9000" y="21000"/>
                </a:cubicBezTo>
                <a:lnTo>
                  <a:pt x="4000" y="21000"/>
                </a:lnTo>
                <a:cubicBezTo>
                  <a:pt x="3448" y="21000"/>
                  <a:pt x="3000" y="20552"/>
                  <a:pt x="3000" y="20000"/>
                </a:cubicBezTo>
                <a:lnTo>
                  <a:pt x="3000" y="17000"/>
                </a:lnTo>
                <a:cubicBezTo>
                  <a:pt x="3000" y="16448"/>
                  <a:pt x="3448" y="16000"/>
                  <a:pt x="4000" y="16000"/>
                </a:cubicBezTo>
                <a:close/>
              </a:path>
            </a:pathLst>
          </a:custGeom>
          <a:noFill/>
          <a:ln w="28575" cap="rnd">
            <a:solidFill>
              <a:schemeClr val="accent1"/>
            </a:solidFill>
            <a:round/>
          </a:ln>
          <a:effectLst/>
        </p:spPr>
      </p:sp>
      <p:sp>
        <p:nvSpPr>
          <p:cNvPr id="62" name="slot.feeder.2.icon"/>
          <p:cNvSpPr/>
          <p:nvPr/>
        </p:nvSpPr>
        <p:spPr>
          <a:xfrm>
            <a:off x="657454" y="2053742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5477" y="12890"/>
                </a:moveTo>
                <a:lnTo>
                  <a:pt x="16992" y="21416"/>
                </a:lnTo>
                <a:cubicBezTo>
                  <a:pt x="17027" y="21622"/>
                  <a:pt x="16930" y="21827"/>
                  <a:pt x="16750" y="21932"/>
                </a:cubicBezTo>
                <a:cubicBezTo>
                  <a:pt x="16570" y="22036"/>
                  <a:pt x="16343" y="22018"/>
                  <a:pt x="16182" y="21886"/>
                </a:cubicBezTo>
                <a:lnTo>
                  <a:pt x="12602" y="19199"/>
                </a:lnTo>
                <a:cubicBezTo>
                  <a:pt x="12247" y="18934"/>
                  <a:pt x="11760" y="18934"/>
                  <a:pt x="11405" y="19199"/>
                </a:cubicBezTo>
                <a:lnTo>
                  <a:pt x="7819" y="21885"/>
                </a:lnTo>
                <a:cubicBezTo>
                  <a:pt x="7658" y="22017"/>
                  <a:pt x="7432" y="22035"/>
                  <a:pt x="7252" y="21931"/>
                </a:cubicBezTo>
                <a:cubicBezTo>
                  <a:pt x="7071" y="21827"/>
                  <a:pt x="6975" y="21621"/>
                  <a:pt x="7009" y="21416"/>
                </a:cubicBezTo>
                <a:lnTo>
                  <a:pt x="8523" y="12890"/>
                </a:lnTo>
                <a:moveTo>
                  <a:pt x="18000" y="8000"/>
                </a:moveTo>
                <a:cubicBezTo>
                  <a:pt x="18000" y="11314"/>
                  <a:pt x="15314" y="14000"/>
                  <a:pt x="12000" y="14000"/>
                </a:cubicBezTo>
                <a:cubicBezTo>
                  <a:pt x="8686" y="14000"/>
                  <a:pt x="6000" y="11314"/>
                  <a:pt x="6000" y="8000"/>
                </a:cubicBezTo>
                <a:cubicBezTo>
                  <a:pt x="6000" y="4686"/>
                  <a:pt x="8686" y="2000"/>
                  <a:pt x="12000" y="2000"/>
                </a:cubicBezTo>
                <a:cubicBezTo>
                  <a:pt x="15314" y="2000"/>
                  <a:pt x="18000" y="4686"/>
                  <a:pt x="18000" y="8000"/>
                </a:cubicBezTo>
                <a:close/>
              </a:path>
            </a:pathLst>
          </a:custGeom>
          <a:noFill/>
          <a:ln w="28575" cap="rnd">
            <a:solidFill>
              <a:schemeClr val="accent1"/>
            </a:solidFill>
            <a:round/>
          </a:ln>
          <a:effectLst/>
        </p:spPr>
      </p:sp>
      <p:sp>
        <p:nvSpPr>
          <p:cNvPr id="63" name="slot.feeder.3.icon"/>
          <p:cNvSpPr/>
          <p:nvPr/>
        </p:nvSpPr>
        <p:spPr>
          <a:xfrm>
            <a:off x="657454" y="2922422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5000"/>
                </a:moveTo>
                <a:lnTo>
                  <a:pt x="12000" y="21000"/>
                </a:lnTo>
                <a:moveTo>
                  <a:pt x="20001" y="19000"/>
                </a:moveTo>
                <a:cubicBezTo>
                  <a:pt x="21105" y="18999"/>
                  <a:pt x="22000" y="18104"/>
                  <a:pt x="22000" y="17000"/>
                </a:cubicBezTo>
                <a:lnTo>
                  <a:pt x="22000" y="5000"/>
                </a:lnTo>
                <a:cubicBezTo>
                  <a:pt x="22000" y="3896"/>
                  <a:pt x="21105" y="3001"/>
                  <a:pt x="20001" y="3000"/>
                </a:cubicBezTo>
                <a:lnTo>
                  <a:pt x="16000" y="3002"/>
                </a:lnTo>
                <a:cubicBezTo>
                  <a:pt x="14427" y="3002"/>
                  <a:pt x="12945" y="3742"/>
                  <a:pt x="12000" y="5000"/>
                </a:cubicBezTo>
                <a:cubicBezTo>
                  <a:pt x="11056" y="3741"/>
                  <a:pt x="9574" y="3000"/>
                  <a:pt x="8000" y="3000"/>
                </a:cubicBezTo>
                <a:lnTo>
                  <a:pt x="4000" y="3000"/>
                </a:lnTo>
                <a:cubicBezTo>
                  <a:pt x="2895" y="3000"/>
                  <a:pt x="2000" y="3895"/>
                  <a:pt x="2000" y="5000"/>
                </a:cubicBezTo>
                <a:lnTo>
                  <a:pt x="2000" y="17000"/>
                </a:lnTo>
                <a:cubicBezTo>
                  <a:pt x="2000" y="18104"/>
                  <a:pt x="2895" y="18999"/>
                  <a:pt x="3999" y="19000"/>
                </a:cubicBezTo>
                <a:lnTo>
                  <a:pt x="8000" y="19000"/>
                </a:lnTo>
                <a:cubicBezTo>
                  <a:pt x="9574" y="19000"/>
                  <a:pt x="11056" y="19741"/>
                  <a:pt x="12000" y="21000"/>
                </a:cubicBezTo>
                <a:cubicBezTo>
                  <a:pt x="12944" y="19741"/>
                  <a:pt x="14426" y="19000"/>
                  <a:pt x="16000" y="19000"/>
                </a:cubicBezTo>
                <a:close/>
              </a:path>
            </a:pathLst>
          </a:custGeom>
          <a:noFill/>
          <a:ln w="28575" cap="rnd">
            <a:solidFill>
              <a:schemeClr val="accent1"/>
            </a:solidFill>
            <a:round/>
          </a:ln>
          <a:effectLst/>
        </p:spPr>
      </p:sp>
      <p:sp>
        <p:nvSpPr>
          <p:cNvPr id="64" name="slot.feeder.4.icon"/>
          <p:cNvSpPr/>
          <p:nvPr/>
        </p:nvSpPr>
        <p:spPr>
          <a:xfrm>
            <a:off x="657454" y="3791102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28575" cap="rnd">
            <a:solidFill>
              <a:schemeClr val="accent1"/>
            </a:solidFill>
            <a:round/>
          </a:ln>
          <a:effectLst/>
        </p:spPr>
      </p:sp>
      <p:sp>
        <p:nvSpPr>
          <p:cNvPr id="65" name="slot.feeder.5.icon"/>
          <p:cNvSpPr/>
          <p:nvPr/>
        </p:nvSpPr>
        <p:spPr>
          <a:xfrm>
            <a:off x="657454" y="4659782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000" y="13000"/>
                </a:moveTo>
                <a:cubicBezTo>
                  <a:pt x="10869" y="14162"/>
                  <a:pt x="12200" y="14889"/>
                  <a:pt x="13647" y="14992"/>
                </a:cubicBezTo>
                <a:cubicBezTo>
                  <a:pt x="15094" y="15096"/>
                  <a:pt x="16514" y="14566"/>
                  <a:pt x="17540" y="13540"/>
                </a:cubicBezTo>
                <a:lnTo>
                  <a:pt x="20540" y="10540"/>
                </a:lnTo>
                <a:cubicBezTo>
                  <a:pt x="22435" y="8578"/>
                  <a:pt x="22408" y="5460"/>
                  <a:pt x="20479" y="3531"/>
                </a:cubicBezTo>
                <a:cubicBezTo>
                  <a:pt x="18550" y="1602"/>
                  <a:pt x="15432" y="1575"/>
                  <a:pt x="13470" y="3470"/>
                </a:cubicBezTo>
                <a:lnTo>
                  <a:pt x="11750" y="5180"/>
                </a:lnTo>
                <a:moveTo>
                  <a:pt x="14000" y="11000"/>
                </a:moveTo>
                <a:cubicBezTo>
                  <a:pt x="13131" y="9838"/>
                  <a:pt x="11800" y="9111"/>
                  <a:pt x="10353" y="9008"/>
                </a:cubicBezTo>
                <a:cubicBezTo>
                  <a:pt x="8906" y="8904"/>
                  <a:pt x="7486" y="9434"/>
                  <a:pt x="6460" y="10460"/>
                </a:cubicBezTo>
                <a:lnTo>
                  <a:pt x="3460" y="13460"/>
                </a:lnTo>
                <a:cubicBezTo>
                  <a:pt x="1565" y="15422"/>
                  <a:pt x="1592" y="18540"/>
                  <a:pt x="3521" y="20469"/>
                </a:cubicBezTo>
                <a:cubicBezTo>
                  <a:pt x="5450" y="22398"/>
                  <a:pt x="8568" y="22425"/>
                  <a:pt x="10530" y="20530"/>
                </a:cubicBezTo>
                <a:lnTo>
                  <a:pt x="12240" y="18820"/>
                </a:lnTo>
              </a:path>
            </a:pathLst>
          </a:custGeom>
          <a:noFill/>
          <a:ln w="28575" cap="rnd">
            <a:solidFill>
              <a:schemeClr val="accent1"/>
            </a:solidFill>
            <a:round/>
          </a:ln>
          <a:effectLst/>
        </p:spPr>
      </p:sp>
      <p:sp>
        <p:nvSpPr>
          <p:cNvPr id="66" name="slot.feeder.6.icon"/>
          <p:cNvSpPr/>
          <p:nvPr/>
        </p:nvSpPr>
        <p:spPr>
          <a:xfrm>
            <a:off x="657454" y="5528462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000" y="5000"/>
                </a:moveTo>
                <a:lnTo>
                  <a:pt x="21000" y="5000"/>
                </a:lnTo>
                <a:moveTo>
                  <a:pt x="13000" y="12000"/>
                </a:moveTo>
                <a:lnTo>
                  <a:pt x="21000" y="12000"/>
                </a:lnTo>
                <a:moveTo>
                  <a:pt x="13000" y="19000"/>
                </a:moveTo>
                <a:lnTo>
                  <a:pt x="21000" y="19000"/>
                </a:lnTo>
                <a:moveTo>
                  <a:pt x="3000" y="17000"/>
                </a:moveTo>
                <a:lnTo>
                  <a:pt x="5000" y="19000"/>
                </a:lnTo>
                <a:lnTo>
                  <a:pt x="9000" y="15000"/>
                </a:lnTo>
                <a:moveTo>
                  <a:pt x="3000" y="7000"/>
                </a:moveTo>
                <a:lnTo>
                  <a:pt x="5000" y="9000"/>
                </a:lnTo>
                <a:lnTo>
                  <a:pt x="9000" y="5000"/>
                </a:lnTo>
              </a:path>
            </a:pathLst>
          </a:custGeom>
          <a:noFill/>
          <a:ln w="28575" cap="rnd">
            <a:solidFill>
              <a:schemeClr val="accent1"/>
            </a:solidFill>
            <a:round/>
          </a:ln>
          <a:effectLst/>
        </p:spPr>
      </p:sp>
      <p:sp>
        <p:nvSpPr>
          <p:cNvPr id="67" name="slot.outcome.1.icon"/>
          <p:cNvSpPr/>
          <p:nvPr/>
        </p:nvSpPr>
        <p:spPr>
          <a:xfrm>
            <a:off x="8808415" y="1129284"/>
            <a:ext cx="267005" cy="267005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5000"/>
                </a:moveTo>
                <a:lnTo>
                  <a:pt x="12000" y="20000"/>
                </a:lnTo>
                <a:cubicBezTo>
                  <a:pt x="12000" y="20000"/>
                  <a:pt x="15030" y="19450"/>
                  <a:pt x="16000" y="18000"/>
                </a:cubicBezTo>
                <a:cubicBezTo>
                  <a:pt x="17080" y="16380"/>
                  <a:pt x="16000" y="13000"/>
                  <a:pt x="16000" y="13000"/>
                </a:cubicBezTo>
                <a:moveTo>
                  <a:pt x="4500" y="16500"/>
                </a:moveTo>
                <a:cubicBezTo>
                  <a:pt x="3000" y="17760"/>
                  <a:pt x="2500" y="21500"/>
                  <a:pt x="2500" y="21500"/>
                </a:cubicBezTo>
                <a:cubicBezTo>
                  <a:pt x="2500" y="21500"/>
                  <a:pt x="6240" y="21000"/>
                  <a:pt x="7500" y="19500"/>
                </a:cubicBezTo>
                <a:cubicBezTo>
                  <a:pt x="8210" y="18660"/>
                  <a:pt x="8200" y="17370"/>
                  <a:pt x="7410" y="16590"/>
                </a:cubicBezTo>
                <a:cubicBezTo>
                  <a:pt x="6605" y="15822"/>
                  <a:pt x="5351" y="15783"/>
                  <a:pt x="4500" y="16500"/>
                </a:cubicBezTo>
                <a:moveTo>
                  <a:pt x="9000" y="12000"/>
                </a:moveTo>
                <a:cubicBezTo>
                  <a:pt x="9532" y="10619"/>
                  <a:pt x="10202" y="9296"/>
                  <a:pt x="11000" y="8050"/>
                </a:cubicBezTo>
                <a:cubicBezTo>
                  <a:pt x="13369" y="4262"/>
                  <a:pt x="17532" y="1972"/>
                  <a:pt x="22000" y="2000"/>
                </a:cubicBezTo>
                <a:cubicBezTo>
                  <a:pt x="22000" y="4720"/>
                  <a:pt x="21220" y="9500"/>
                  <a:pt x="16000" y="13000"/>
                </a:cubicBezTo>
                <a:cubicBezTo>
                  <a:pt x="14737" y="13798"/>
                  <a:pt x="13397" y="14468"/>
                  <a:pt x="12000" y="15000"/>
                </a:cubicBezTo>
                <a:close/>
                <a:moveTo>
                  <a:pt x="9000" y="12000"/>
                </a:moveTo>
                <a:lnTo>
                  <a:pt x="4000" y="12000"/>
                </a:lnTo>
                <a:cubicBezTo>
                  <a:pt x="4000" y="12000"/>
                  <a:pt x="4550" y="8970"/>
                  <a:pt x="6000" y="8000"/>
                </a:cubicBezTo>
                <a:cubicBezTo>
                  <a:pt x="7620" y="6920"/>
                  <a:pt x="11000" y="8050"/>
                  <a:pt x="11000" y="8050"/>
                </a:cubicBezTo>
              </a:path>
            </a:pathLst>
          </a:custGeom>
          <a:noFill/>
          <a:ln w="22225" cap="rnd">
            <a:solidFill>
              <a:schemeClr val="accent1"/>
            </a:solidFill>
            <a:round/>
          </a:ln>
          <a:effectLst/>
        </p:spPr>
      </p:sp>
      <p:sp>
        <p:nvSpPr>
          <p:cNvPr id="68" name="slot.outcome.2.icon"/>
          <p:cNvSpPr/>
          <p:nvPr/>
        </p:nvSpPr>
        <p:spPr>
          <a:xfrm>
            <a:off x="8808415" y="2184502"/>
            <a:ext cx="267005" cy="267005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22225" cap="rnd">
            <a:solidFill>
              <a:schemeClr val="accent1"/>
            </a:solidFill>
            <a:round/>
          </a:ln>
          <a:effectLst/>
        </p:spPr>
      </p:sp>
      <p:sp>
        <p:nvSpPr>
          <p:cNvPr id="69" name="slot.outcome.3.icon"/>
          <p:cNvSpPr/>
          <p:nvPr/>
        </p:nvSpPr>
        <p:spPr>
          <a:xfrm>
            <a:off x="8808415" y="3239719"/>
            <a:ext cx="267005" cy="267005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8000"/>
                </a:moveTo>
                <a:lnTo>
                  <a:pt x="12000" y="5000"/>
                </a:lnTo>
                <a:moveTo>
                  <a:pt x="15000" y="13000"/>
                </a:moveTo>
                <a:cubicBezTo>
                  <a:pt x="13223" y="12481"/>
                  <a:pt x="12001" y="10851"/>
                  <a:pt x="12000" y="9000"/>
                </a:cubicBezTo>
                <a:cubicBezTo>
                  <a:pt x="11999" y="10851"/>
                  <a:pt x="10777" y="12481"/>
                  <a:pt x="9000" y="13000"/>
                </a:cubicBezTo>
                <a:moveTo>
                  <a:pt x="17598" y="6500"/>
                </a:moveTo>
                <a:cubicBezTo>
                  <a:pt x="18229" y="5408"/>
                  <a:pt x="18109" y="4038"/>
                  <a:pt x="17298" y="3072"/>
                </a:cubicBezTo>
                <a:cubicBezTo>
                  <a:pt x="16487" y="2105"/>
                  <a:pt x="15159" y="1749"/>
                  <a:pt x="13974" y="2181"/>
                </a:cubicBezTo>
                <a:cubicBezTo>
                  <a:pt x="12789" y="2612"/>
                  <a:pt x="12000" y="3739"/>
                  <a:pt x="12000" y="5000"/>
                </a:cubicBezTo>
                <a:cubicBezTo>
                  <a:pt x="12000" y="3739"/>
                  <a:pt x="11211" y="2612"/>
                  <a:pt x="10026" y="2181"/>
                </a:cubicBezTo>
                <a:cubicBezTo>
                  <a:pt x="8841" y="1749"/>
                  <a:pt x="7513" y="2105"/>
                  <a:pt x="6702" y="3072"/>
                </a:cubicBezTo>
                <a:cubicBezTo>
                  <a:pt x="5891" y="4038"/>
                  <a:pt x="5771" y="5408"/>
                  <a:pt x="6402" y="6500"/>
                </a:cubicBezTo>
                <a:moveTo>
                  <a:pt x="17997" y="5125"/>
                </a:moveTo>
                <a:cubicBezTo>
                  <a:pt x="19188" y="5431"/>
                  <a:pt x="20172" y="6268"/>
                  <a:pt x="20665" y="7395"/>
                </a:cubicBezTo>
                <a:cubicBezTo>
                  <a:pt x="21158" y="8521"/>
                  <a:pt x="21106" y="9812"/>
                  <a:pt x="20523" y="10895"/>
                </a:cubicBezTo>
                <a:moveTo>
                  <a:pt x="18000" y="18000"/>
                </a:moveTo>
                <a:cubicBezTo>
                  <a:pt x="19810" y="18000"/>
                  <a:pt x="21395" y="16784"/>
                  <a:pt x="21864" y="15035"/>
                </a:cubicBezTo>
                <a:cubicBezTo>
                  <a:pt x="22332" y="13287"/>
                  <a:pt x="21568" y="11441"/>
                  <a:pt x="20000" y="10536"/>
                </a:cubicBezTo>
                <a:moveTo>
                  <a:pt x="19967" y="17483"/>
                </a:moveTo>
                <a:cubicBezTo>
                  <a:pt x="20158" y="18961"/>
                  <a:pt x="19512" y="20422"/>
                  <a:pt x="18290" y="21275"/>
                </a:cubicBezTo>
                <a:cubicBezTo>
                  <a:pt x="17069" y="22128"/>
                  <a:pt x="15474" y="22232"/>
                  <a:pt x="14153" y="21544"/>
                </a:cubicBezTo>
                <a:cubicBezTo>
                  <a:pt x="12831" y="20856"/>
                  <a:pt x="12002" y="19490"/>
                  <a:pt x="12000" y="18000"/>
                </a:cubicBezTo>
                <a:cubicBezTo>
                  <a:pt x="11998" y="19490"/>
                  <a:pt x="11169" y="20856"/>
                  <a:pt x="9847" y="21544"/>
                </a:cubicBezTo>
                <a:cubicBezTo>
                  <a:pt x="8526" y="22232"/>
                  <a:pt x="6931" y="22128"/>
                  <a:pt x="5710" y="21275"/>
                </a:cubicBezTo>
                <a:cubicBezTo>
                  <a:pt x="4488" y="20422"/>
                  <a:pt x="3842" y="18961"/>
                  <a:pt x="4033" y="17483"/>
                </a:cubicBezTo>
                <a:moveTo>
                  <a:pt x="6000" y="18000"/>
                </a:moveTo>
                <a:cubicBezTo>
                  <a:pt x="4190" y="18000"/>
                  <a:pt x="2605" y="16784"/>
                  <a:pt x="2136" y="15035"/>
                </a:cubicBezTo>
                <a:cubicBezTo>
                  <a:pt x="1668" y="13287"/>
                  <a:pt x="2432" y="11441"/>
                  <a:pt x="4000" y="10536"/>
                </a:cubicBezTo>
                <a:moveTo>
                  <a:pt x="6003" y="5125"/>
                </a:moveTo>
                <a:cubicBezTo>
                  <a:pt x="4812" y="5431"/>
                  <a:pt x="3828" y="6268"/>
                  <a:pt x="3335" y="7395"/>
                </a:cubicBezTo>
                <a:cubicBezTo>
                  <a:pt x="2842" y="8521"/>
                  <a:pt x="2894" y="9812"/>
                  <a:pt x="3477" y="10895"/>
                </a:cubicBezTo>
              </a:path>
            </a:pathLst>
          </a:custGeom>
          <a:noFill/>
          <a:ln w="22225" cap="rnd">
            <a:solidFill>
              <a:schemeClr val="accent1"/>
            </a:solidFill>
            <a:round/>
          </a:ln>
          <a:effectLst/>
        </p:spPr>
      </p:sp>
      <p:sp>
        <p:nvSpPr>
          <p:cNvPr id="70" name="slot.outcome.4.icon"/>
          <p:cNvSpPr/>
          <p:nvPr/>
        </p:nvSpPr>
        <p:spPr>
          <a:xfrm>
            <a:off x="8808415" y="4294937"/>
            <a:ext cx="267005" cy="267005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4000" y="3000"/>
                </a:moveTo>
                <a:lnTo>
                  <a:pt x="20000" y="3000"/>
                </a:lnTo>
                <a:cubicBezTo>
                  <a:pt x="21105" y="3000"/>
                  <a:pt x="22000" y="3895"/>
                  <a:pt x="22000" y="5000"/>
                </a:cubicBezTo>
                <a:lnTo>
                  <a:pt x="22000" y="15000"/>
                </a:lnTo>
                <a:cubicBezTo>
                  <a:pt x="22000" y="16105"/>
                  <a:pt x="21105" y="17000"/>
                  <a:pt x="20000" y="17000"/>
                </a:cubicBezTo>
                <a:lnTo>
                  <a:pt x="4000" y="17000"/>
                </a:lnTo>
                <a:cubicBezTo>
                  <a:pt x="2895" y="17000"/>
                  <a:pt x="2000" y="16105"/>
                  <a:pt x="2000" y="15000"/>
                </a:cubicBezTo>
                <a:lnTo>
                  <a:pt x="2000" y="5000"/>
                </a:lnTo>
                <a:cubicBezTo>
                  <a:pt x="2000" y="3895"/>
                  <a:pt x="2895" y="3000"/>
                  <a:pt x="4000" y="3000"/>
                </a:cubicBezTo>
                <a:close/>
                <a:moveTo>
                  <a:pt x="8000" y="21000"/>
                </a:moveTo>
                <a:lnTo>
                  <a:pt x="16000" y="21000"/>
                </a:lnTo>
                <a:moveTo>
                  <a:pt x="12000" y="17000"/>
                </a:moveTo>
                <a:lnTo>
                  <a:pt x="12000" y="21000"/>
                </a:lnTo>
              </a:path>
            </a:pathLst>
          </a:custGeom>
          <a:noFill/>
          <a:ln w="22225" cap="rnd">
            <a:solidFill>
              <a:schemeClr val="accent1"/>
            </a:solidFill>
            <a:round/>
          </a:ln>
          <a:effectLst/>
        </p:spPr>
      </p:sp>
      <p:sp>
        <p:nvSpPr>
          <p:cNvPr id="71" name="slot.outcome.5.icon"/>
          <p:cNvSpPr/>
          <p:nvPr/>
        </p:nvSpPr>
        <p:spPr>
          <a:xfrm>
            <a:off x="8808415" y="5350154"/>
            <a:ext cx="267005" cy="267005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22225" cap="rnd">
            <a:solidFill>
              <a:schemeClr val="accent1"/>
            </a:solidFill>
            <a:round/>
          </a:ln>
          <a:effectLst/>
        </p:spPr>
      </p:sp>
      <p:sp>
        <p:nvSpPr>
          <p:cNvPr id="72" name="struct.feeder.1.arrow"/>
          <p:cNvSpPr/>
          <p:nvPr/>
        </p:nvSpPr>
        <p:spPr>
          <a:xfrm>
            <a:off x="3200400" y="1359408"/>
            <a:ext cx="923544" cy="868680"/>
          </a:xfrm>
          <a:custGeom>
            <a:avLst/>
            <a:gdLst/>
            <a:ahLst/>
            <a:cxnLst/>
            <a:rect l="l" t="t" r="r" b="b"/>
            <a:pathLst>
              <a:path w="923544" h="868680" fill="none">
                <a:moveTo>
                  <a:pt x="0" y="0"/>
                </a:moveTo>
                <a:lnTo>
                  <a:pt x="457200" y="0"/>
                </a:lnTo>
                <a:lnTo>
                  <a:pt x="457200" y="868680"/>
                </a:lnTo>
                <a:lnTo>
                  <a:pt x="923544" y="868680"/>
                </a:lnTo>
              </a:path>
            </a:pathLst>
          </a:custGeom>
          <a:noFill/>
          <a:ln w="15875">
            <a:solidFill>
              <a:schemeClr val="accent1"/>
            </a:solidFill>
            <a:miter lim="800000"/>
            <a:tailEnd type="triangle" w="med" len="med"/>
          </a:ln>
          <a:effectLst/>
        </p:spPr>
      </p:sp>
      <p:sp>
        <p:nvSpPr>
          <p:cNvPr id="73" name="struct.feeder.2.arrow"/>
          <p:cNvSpPr/>
          <p:nvPr/>
        </p:nvSpPr>
        <p:spPr>
          <a:xfrm>
            <a:off x="3200400" y="2228088"/>
            <a:ext cx="923544" cy="1"/>
          </a:xfrm>
          <a:custGeom>
            <a:avLst/>
            <a:gdLst/>
            <a:ahLst/>
            <a:cxnLst/>
            <a:rect l="l" t="t" r="r" b="b"/>
            <a:pathLst>
              <a:path w="923544" h="1" fill="none">
                <a:moveTo>
                  <a:pt x="0" y="0"/>
                </a:moveTo>
                <a:lnTo>
                  <a:pt x="923544" y="0"/>
                </a:lnTo>
              </a:path>
            </a:pathLst>
          </a:custGeom>
          <a:noFill/>
          <a:ln w="15875">
            <a:solidFill>
              <a:schemeClr val="accent1"/>
            </a:solidFill>
            <a:miter lim="800000"/>
            <a:tailEnd type="triangle" w="med" len="med"/>
          </a:ln>
          <a:effectLst/>
        </p:spPr>
      </p:sp>
      <p:sp>
        <p:nvSpPr>
          <p:cNvPr id="74" name="struct.feeder.3.arrow"/>
          <p:cNvSpPr/>
          <p:nvPr/>
        </p:nvSpPr>
        <p:spPr>
          <a:xfrm>
            <a:off x="3200400" y="2228088"/>
            <a:ext cx="923544" cy="868680"/>
          </a:xfrm>
          <a:custGeom>
            <a:avLst/>
            <a:gdLst/>
            <a:ahLst/>
            <a:cxnLst/>
            <a:rect l="l" t="t" r="r" b="b"/>
            <a:pathLst>
              <a:path w="923544" h="868680" fill="none">
                <a:moveTo>
                  <a:pt x="0" y="868680"/>
                </a:moveTo>
                <a:lnTo>
                  <a:pt x="457200" y="868680"/>
                </a:lnTo>
                <a:lnTo>
                  <a:pt x="457200" y="0"/>
                </a:lnTo>
                <a:lnTo>
                  <a:pt x="923544" y="0"/>
                </a:lnTo>
              </a:path>
            </a:pathLst>
          </a:custGeom>
          <a:noFill/>
          <a:ln w="15875">
            <a:solidFill>
              <a:schemeClr val="accent1"/>
            </a:solidFill>
            <a:miter lim="800000"/>
            <a:tailEnd type="triangle" w="med" len="med"/>
          </a:ln>
          <a:effectLst/>
        </p:spPr>
      </p:sp>
      <p:sp>
        <p:nvSpPr>
          <p:cNvPr id="75" name="struct.feeder.4.arrow"/>
          <p:cNvSpPr/>
          <p:nvPr/>
        </p:nvSpPr>
        <p:spPr>
          <a:xfrm>
            <a:off x="3200400" y="3965448"/>
            <a:ext cx="923544" cy="868680"/>
          </a:xfrm>
          <a:custGeom>
            <a:avLst/>
            <a:gdLst/>
            <a:ahLst/>
            <a:cxnLst/>
            <a:rect l="l" t="t" r="r" b="b"/>
            <a:pathLst>
              <a:path w="923544" h="868680" fill="none">
                <a:moveTo>
                  <a:pt x="0" y="0"/>
                </a:moveTo>
                <a:lnTo>
                  <a:pt x="457200" y="0"/>
                </a:lnTo>
                <a:lnTo>
                  <a:pt x="457200" y="868680"/>
                </a:lnTo>
                <a:lnTo>
                  <a:pt x="923544" y="868680"/>
                </a:lnTo>
              </a:path>
            </a:pathLst>
          </a:custGeom>
          <a:noFill/>
          <a:ln w="15875">
            <a:solidFill>
              <a:schemeClr val="accent1"/>
            </a:solidFill>
            <a:miter lim="800000"/>
            <a:tailEnd type="triangle" w="med" len="med"/>
          </a:ln>
          <a:effectLst/>
        </p:spPr>
      </p:sp>
      <p:sp>
        <p:nvSpPr>
          <p:cNvPr id="76" name="struct.feeder.5.arrow"/>
          <p:cNvSpPr/>
          <p:nvPr/>
        </p:nvSpPr>
        <p:spPr>
          <a:xfrm>
            <a:off x="3200400" y="4834128"/>
            <a:ext cx="923544" cy="1"/>
          </a:xfrm>
          <a:custGeom>
            <a:avLst/>
            <a:gdLst/>
            <a:ahLst/>
            <a:cxnLst/>
            <a:rect l="l" t="t" r="r" b="b"/>
            <a:pathLst>
              <a:path w="923544" h="1" fill="none">
                <a:moveTo>
                  <a:pt x="0" y="0"/>
                </a:moveTo>
                <a:lnTo>
                  <a:pt x="923544" y="0"/>
                </a:lnTo>
              </a:path>
            </a:pathLst>
          </a:custGeom>
          <a:noFill/>
          <a:ln w="15875">
            <a:solidFill>
              <a:schemeClr val="accent1"/>
            </a:solidFill>
            <a:miter lim="800000"/>
            <a:tailEnd type="triangle" w="med" len="med"/>
          </a:ln>
          <a:effectLst/>
        </p:spPr>
      </p:sp>
      <p:sp>
        <p:nvSpPr>
          <p:cNvPr id="77" name="struct.feeder.6.arrow"/>
          <p:cNvSpPr/>
          <p:nvPr/>
        </p:nvSpPr>
        <p:spPr>
          <a:xfrm>
            <a:off x="3200400" y="4834128"/>
            <a:ext cx="923544" cy="868680"/>
          </a:xfrm>
          <a:custGeom>
            <a:avLst/>
            <a:gdLst/>
            <a:ahLst/>
            <a:cxnLst/>
            <a:rect l="l" t="t" r="r" b="b"/>
            <a:pathLst>
              <a:path w="923544" h="868680" fill="none">
                <a:moveTo>
                  <a:pt x="0" y="868680"/>
                </a:moveTo>
                <a:lnTo>
                  <a:pt x="457200" y="868680"/>
                </a:lnTo>
                <a:lnTo>
                  <a:pt x="457200" y="0"/>
                </a:lnTo>
                <a:lnTo>
                  <a:pt x="923544" y="0"/>
                </a:lnTo>
              </a:path>
            </a:pathLst>
          </a:custGeom>
          <a:noFill/>
          <a:ln w="15875">
            <a:solidFill>
              <a:schemeClr val="accent1"/>
            </a:solidFill>
            <a:miter lim="800000"/>
            <a:tailEnd type="triangle" w="med" len="med"/>
          </a:ln>
          <a:effectLst/>
        </p:spPr>
      </p:sp>
      <p:sp>
        <p:nvSpPr>
          <p:cNvPr id="78" name="struct.outcome.1.arrow"/>
          <p:cNvSpPr/>
          <p:nvPr/>
        </p:nvSpPr>
        <p:spPr>
          <a:xfrm>
            <a:off x="8074152" y="1423720"/>
            <a:ext cx="594360" cy="2110436"/>
          </a:xfrm>
          <a:custGeom>
            <a:avLst/>
            <a:gdLst/>
            <a:ahLst/>
            <a:cxnLst/>
            <a:rect l="l" t="t" r="r" b="b"/>
            <a:pathLst>
              <a:path w="594360" h="2110436" fill="none">
                <a:moveTo>
                  <a:pt x="0" y="2110436"/>
                </a:moveTo>
                <a:lnTo>
                  <a:pt x="292608" y="2110436"/>
                </a:lnTo>
                <a:lnTo>
                  <a:pt x="292608" y="0"/>
                </a:lnTo>
                <a:lnTo>
                  <a:pt x="594360" y="0"/>
                </a:lnTo>
              </a:path>
            </a:pathLst>
          </a:custGeom>
          <a:noFill/>
          <a:ln w="15875">
            <a:solidFill>
              <a:schemeClr val="accent1"/>
            </a:solidFill>
            <a:miter lim="800000"/>
            <a:tailEnd type="triangle" w="med" len="med"/>
          </a:ln>
          <a:effectLst/>
        </p:spPr>
      </p:sp>
      <p:sp>
        <p:nvSpPr>
          <p:cNvPr id="79" name="struct.outcome.2.arrow"/>
          <p:cNvSpPr/>
          <p:nvPr/>
        </p:nvSpPr>
        <p:spPr>
          <a:xfrm>
            <a:off x="8074152" y="2478938"/>
            <a:ext cx="594360" cy="1055218"/>
          </a:xfrm>
          <a:custGeom>
            <a:avLst/>
            <a:gdLst/>
            <a:ahLst/>
            <a:cxnLst/>
            <a:rect l="l" t="t" r="r" b="b"/>
            <a:pathLst>
              <a:path w="594360" h="1055218" fill="none">
                <a:moveTo>
                  <a:pt x="0" y="1055218"/>
                </a:moveTo>
                <a:lnTo>
                  <a:pt x="292608" y="1055218"/>
                </a:lnTo>
                <a:lnTo>
                  <a:pt x="292608" y="0"/>
                </a:lnTo>
                <a:lnTo>
                  <a:pt x="594360" y="0"/>
                </a:lnTo>
              </a:path>
            </a:pathLst>
          </a:custGeom>
          <a:noFill/>
          <a:ln w="15875">
            <a:solidFill>
              <a:schemeClr val="accent1"/>
            </a:solidFill>
            <a:miter lim="800000"/>
            <a:tailEnd type="triangle" w="med" len="med"/>
          </a:ln>
          <a:effectLst/>
        </p:spPr>
      </p:sp>
      <p:sp>
        <p:nvSpPr>
          <p:cNvPr id="80" name="struct.outcome.3.arrow"/>
          <p:cNvSpPr/>
          <p:nvPr/>
        </p:nvSpPr>
        <p:spPr>
          <a:xfrm>
            <a:off x="8074152" y="3534156"/>
            <a:ext cx="594360" cy="1"/>
          </a:xfrm>
          <a:custGeom>
            <a:avLst/>
            <a:gdLst/>
            <a:ahLst/>
            <a:cxnLst/>
            <a:rect l="l" t="t" r="r" b="b"/>
            <a:pathLst>
              <a:path w="594360" h="1" fill="none">
                <a:moveTo>
                  <a:pt x="0" y="0"/>
                </a:moveTo>
                <a:lnTo>
                  <a:pt x="594360" y="0"/>
                </a:lnTo>
              </a:path>
            </a:pathLst>
          </a:custGeom>
          <a:noFill/>
          <a:ln w="15875">
            <a:solidFill>
              <a:schemeClr val="accent1"/>
            </a:solidFill>
            <a:miter lim="800000"/>
            <a:tailEnd type="triangle" w="med" len="med"/>
          </a:ln>
          <a:effectLst/>
        </p:spPr>
      </p:sp>
      <p:sp>
        <p:nvSpPr>
          <p:cNvPr id="81" name="struct.outcome.4.arrow"/>
          <p:cNvSpPr/>
          <p:nvPr/>
        </p:nvSpPr>
        <p:spPr>
          <a:xfrm>
            <a:off x="8074152" y="3534156"/>
            <a:ext cx="594360" cy="1055216"/>
          </a:xfrm>
          <a:custGeom>
            <a:avLst/>
            <a:gdLst/>
            <a:ahLst/>
            <a:cxnLst/>
            <a:rect l="l" t="t" r="r" b="b"/>
            <a:pathLst>
              <a:path w="594360" h="1055216" fill="none">
                <a:moveTo>
                  <a:pt x="0" y="0"/>
                </a:moveTo>
                <a:lnTo>
                  <a:pt x="292608" y="0"/>
                </a:lnTo>
                <a:lnTo>
                  <a:pt x="292608" y="1055216"/>
                </a:lnTo>
                <a:lnTo>
                  <a:pt x="594360" y="1055216"/>
                </a:lnTo>
              </a:path>
            </a:pathLst>
          </a:custGeom>
          <a:noFill/>
          <a:ln w="15875">
            <a:solidFill>
              <a:schemeClr val="accent1"/>
            </a:solidFill>
            <a:miter lim="800000"/>
            <a:tailEnd type="triangle" w="med" len="med"/>
          </a:ln>
          <a:effectLst/>
        </p:spPr>
      </p:sp>
      <p:sp>
        <p:nvSpPr>
          <p:cNvPr id="82" name="struct.outcome.5.arrow"/>
          <p:cNvSpPr/>
          <p:nvPr/>
        </p:nvSpPr>
        <p:spPr>
          <a:xfrm>
            <a:off x="8074152" y="3534156"/>
            <a:ext cx="594360" cy="2110434"/>
          </a:xfrm>
          <a:custGeom>
            <a:avLst/>
            <a:gdLst/>
            <a:ahLst/>
            <a:cxnLst/>
            <a:rect l="l" t="t" r="r" b="b"/>
            <a:pathLst>
              <a:path w="594360" h="2110434" fill="none">
                <a:moveTo>
                  <a:pt x="0" y="0"/>
                </a:moveTo>
                <a:lnTo>
                  <a:pt x="292608" y="0"/>
                </a:lnTo>
                <a:lnTo>
                  <a:pt x="292608" y="2110434"/>
                </a:lnTo>
                <a:lnTo>
                  <a:pt x="594360" y="2110434"/>
                </a:lnTo>
              </a:path>
            </a:pathLst>
          </a:custGeom>
          <a:noFill/>
          <a:ln w="15875">
            <a:solidFill>
              <a:schemeClr val="accent1"/>
            </a:solidFill>
            <a:miter lim="800000"/>
            <a:tailEnd type="triangle" w="med" len="med"/>
          </a:ln>
          <a:effectLst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input-process-output:pill-triptych-step-stack-proofs">
    <p:spTree>
      <p:nvGrpSpPr>
        <p:cNvPr id="1" name=""/>
        <p:cNvGrpSpPr/>
        <p:nvPr/>
      </p:nvGrpSpPr>
      <p:grpSpPr/>
      <p:sp>
        <p:nvSpPr>
          <p:cNvPr id="2" name="slot.title"/>
          <p:cNvSpPr/>
          <p:nvPr/>
        </p:nvSpPr>
        <p:spPr>
          <a:xfrm>
            <a:off x="457200" y="256032"/>
            <a:ext cx="11338560" cy="56692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Six automated steps</a:t>
            </a:r>
            <a:r>
              <a:rPr lang="en-US" sz="2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turn sales signals into a </a:t>
            </a:r>
            <a:r>
              <a:rPr lang="en-US" sz="2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weekly demand plan</a:t>
            </a:r>
            <a:endParaRPr lang="en-US" sz="2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truct.input.panel"/>
          <p:cNvSpPr/>
          <p:nvPr/>
        </p:nvSpPr>
        <p:spPr>
          <a:xfrm>
            <a:off x="457200" y="896112"/>
            <a:ext cx="3238285" cy="4443984"/>
          </a:xfrm>
          <a:prstGeom prst="roundRect">
            <a:avLst>
              <a:gd fmla="val 1408" name="adj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struct.method.panel"/>
          <p:cNvSpPr/>
          <p:nvPr/>
        </p:nvSpPr>
        <p:spPr>
          <a:xfrm>
            <a:off x="3950900" y="896112"/>
            <a:ext cx="4515356" cy="4443984"/>
          </a:xfrm>
          <a:prstGeom prst="roundRect">
            <a:avLst>
              <a:gd fmla="val 1029" name="adj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struct.output.panel"/>
          <p:cNvSpPr/>
          <p:nvPr/>
        </p:nvSpPr>
        <p:spPr>
          <a:xfrm>
            <a:off x="8721669" y="896112"/>
            <a:ext cx="3074091" cy="4443984"/>
          </a:xfrm>
          <a:prstGeom prst="roundRect">
            <a:avLst>
              <a:gd fmla="val 1484" name="adj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struct.input.pill"/>
          <p:cNvSpPr/>
          <p:nvPr/>
        </p:nvSpPr>
        <p:spPr>
          <a:xfrm>
            <a:off x="621395" y="969264"/>
            <a:ext cx="1204095" cy="36576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truct.input.disc"/>
          <p:cNvSpPr/>
          <p:nvPr/>
        </p:nvSpPr>
        <p:spPr>
          <a:xfrm>
            <a:off x="666673" y="1014984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slot.input.head"/>
          <p:cNvSpPr/>
          <p:nvPr/>
        </p:nvSpPr>
        <p:spPr>
          <a:xfrm>
            <a:off x="1013638" y="969264"/>
            <a:ext cx="784486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Inputs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struct.method.pill"/>
          <p:cNvSpPr/>
          <p:nvPr/>
        </p:nvSpPr>
        <p:spPr>
          <a:xfrm>
            <a:off x="4115094" y="969264"/>
            <a:ext cx="2216629" cy="36576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struct.method.disc"/>
          <p:cNvSpPr/>
          <p:nvPr/>
        </p:nvSpPr>
        <p:spPr>
          <a:xfrm>
            <a:off x="4160373" y="1014984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slot.method.head"/>
          <p:cNvSpPr/>
          <p:nvPr/>
        </p:nvSpPr>
        <p:spPr>
          <a:xfrm>
            <a:off x="4507337" y="969264"/>
            <a:ext cx="179702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Forecast engine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truct.output.pill"/>
          <p:cNvSpPr/>
          <p:nvPr/>
        </p:nvSpPr>
        <p:spPr>
          <a:xfrm>
            <a:off x="8885864" y="969264"/>
            <a:ext cx="1350046" cy="36576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struct.output.disc"/>
          <p:cNvSpPr/>
          <p:nvPr/>
        </p:nvSpPr>
        <p:spPr>
          <a:xfrm>
            <a:off x="8931143" y="1014984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slot.output.head"/>
          <p:cNvSpPr/>
          <p:nvPr/>
        </p:nvSpPr>
        <p:spPr>
          <a:xfrm>
            <a:off x="9278107" y="969264"/>
            <a:ext cx="930437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Outputs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lot.input.brief.head"/>
          <p:cNvSpPr/>
          <p:nvPr/>
        </p:nvSpPr>
        <p:spPr>
          <a:xfrm>
            <a:off x="831199" y="1490472"/>
            <a:ext cx="272745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Planning questions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lot.input.brief.1"/>
          <p:cNvSpPr/>
          <p:nvPr/>
        </p:nvSpPr>
        <p:spPr>
          <a:xfrm>
            <a:off x="822077" y="1737360"/>
            <a:ext cx="272745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Forecast horizon of 13 weeks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lot.input.brief.2"/>
          <p:cNvSpPr/>
          <p:nvPr/>
        </p:nvSpPr>
        <p:spPr>
          <a:xfrm>
            <a:off x="822077" y="2011680"/>
            <a:ext cx="272745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Regions and channels in scope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lot.input.brief.3"/>
          <p:cNvSpPr/>
          <p:nvPr/>
        </p:nvSpPr>
        <p:spPr>
          <a:xfrm>
            <a:off x="822077" y="2286000"/>
            <a:ext cx="272745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Accuracy target per product family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9" name="struct.input.rule"/>
          <p:cNvCxnSpPr/>
          <p:nvPr/>
        </p:nvCxnSpPr>
        <p:spPr>
          <a:xfrm>
            <a:off x="603151" y="2624328"/>
            <a:ext cx="2946384" cy="0"/>
          </a:xfrm>
          <a:prstGeom prst="straightConnector1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20" name="slot.input.sources.head"/>
          <p:cNvSpPr/>
          <p:nvPr/>
        </p:nvSpPr>
        <p:spPr>
          <a:xfrm>
            <a:off x="831199" y="2770632"/>
            <a:ext cx="2718335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Data sources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lot.input.source.1"/>
          <p:cNvSpPr/>
          <p:nvPr/>
        </p:nvSpPr>
        <p:spPr>
          <a:xfrm>
            <a:off x="822077" y="3017520"/>
            <a:ext cx="1185851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Order history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lot.input.source.2"/>
          <p:cNvSpPr/>
          <p:nvPr/>
        </p:nvSpPr>
        <p:spPr>
          <a:xfrm>
            <a:off x="2299830" y="3017520"/>
            <a:ext cx="1185851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Promotions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slot.input.source.3"/>
          <p:cNvSpPr/>
          <p:nvPr/>
        </p:nvSpPr>
        <p:spPr>
          <a:xfrm>
            <a:off x="822077" y="3291840"/>
            <a:ext cx="1185851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Shipments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lot.input.source.4"/>
          <p:cNvSpPr/>
          <p:nvPr/>
        </p:nvSpPr>
        <p:spPr>
          <a:xfrm>
            <a:off x="2299830" y="3291840"/>
            <a:ext cx="1185851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Market trends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slot.input.source.5"/>
          <p:cNvSpPr/>
          <p:nvPr/>
        </p:nvSpPr>
        <p:spPr>
          <a:xfrm>
            <a:off x="822077" y="3566160"/>
            <a:ext cx="1185851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Inventory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slot.input.source.6"/>
          <p:cNvSpPr/>
          <p:nvPr/>
        </p:nvSpPr>
        <p:spPr>
          <a:xfrm>
            <a:off x="2299830" y="3566160"/>
            <a:ext cx="1185851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Field notes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lot.input.source.7"/>
          <p:cNvSpPr/>
          <p:nvPr/>
        </p:nvSpPr>
        <p:spPr>
          <a:xfrm>
            <a:off x="822077" y="3840480"/>
            <a:ext cx="1185851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Price lists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lot.input.source.8"/>
          <p:cNvSpPr/>
          <p:nvPr/>
        </p:nvSpPr>
        <p:spPr>
          <a:xfrm>
            <a:off x="2299830" y="3840480"/>
            <a:ext cx="1185851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Event calendar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lot.method.legend.1"/>
          <p:cNvSpPr/>
          <p:nvPr/>
        </p:nvSpPr>
        <p:spPr>
          <a:xfrm>
            <a:off x="6432065" y="1389888"/>
            <a:ext cx="483462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Rules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slot.method.legend.2"/>
          <p:cNvSpPr/>
          <p:nvPr/>
        </p:nvSpPr>
        <p:spPr>
          <a:xfrm>
            <a:off x="7043234" y="1389888"/>
            <a:ext cx="519950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Model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lot.method.legend.3"/>
          <p:cNvSpPr/>
          <p:nvPr/>
        </p:nvSpPr>
        <p:spPr>
          <a:xfrm>
            <a:off x="7700012" y="1389888"/>
            <a:ext cx="802730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Reviewer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truct.step.1.card"/>
          <p:cNvSpPr/>
          <p:nvPr/>
        </p:nvSpPr>
        <p:spPr>
          <a:xfrm>
            <a:off x="4096850" y="1664208"/>
            <a:ext cx="2736579" cy="539496"/>
          </a:xfrm>
          <a:prstGeom prst="roundRect">
            <a:avLst>
              <a:gd fmla="val 8475" name="adj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slot.step.1.num"/>
          <p:cNvSpPr/>
          <p:nvPr/>
        </p:nvSpPr>
        <p:spPr>
          <a:xfrm>
            <a:off x="4187739" y="1792224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slot.step.1.head"/>
          <p:cNvSpPr/>
          <p:nvPr/>
        </p:nvSpPr>
        <p:spPr>
          <a:xfrm>
            <a:off x="4534703" y="1719072"/>
            <a:ext cx="1824386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Clean and join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5" name="struct.step.link.1"/>
          <p:cNvCxnSpPr/>
          <p:nvPr/>
        </p:nvCxnSpPr>
        <p:spPr>
          <a:xfrm>
            <a:off x="4324899" y="2240280"/>
            <a:ext cx="0" cy="320040"/>
          </a:xfrm>
          <a:prstGeom prst="straightConnector1">
            <a:avLst/>
          </a:prstGeom>
          <a:noFill/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36" name="struct.step.2.card"/>
          <p:cNvSpPr/>
          <p:nvPr/>
        </p:nvSpPr>
        <p:spPr>
          <a:xfrm>
            <a:off x="4096850" y="2267712"/>
            <a:ext cx="2736579" cy="539496"/>
          </a:xfrm>
          <a:prstGeom prst="roundRect">
            <a:avLst>
              <a:gd fmla="val 8475" name="adj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slot.step.2.num"/>
          <p:cNvSpPr/>
          <p:nvPr/>
        </p:nvSpPr>
        <p:spPr>
          <a:xfrm>
            <a:off x="4187739" y="2395728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lot.step.2.head"/>
          <p:cNvSpPr/>
          <p:nvPr/>
        </p:nvSpPr>
        <p:spPr>
          <a:xfrm>
            <a:off x="4534703" y="2322576"/>
            <a:ext cx="1824386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Detect demand drivers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9" name="struct.step.link.2"/>
          <p:cNvCxnSpPr/>
          <p:nvPr/>
        </p:nvCxnSpPr>
        <p:spPr>
          <a:xfrm>
            <a:off x="4324899" y="2843784"/>
            <a:ext cx="0" cy="320040"/>
          </a:xfrm>
          <a:prstGeom prst="straightConnector1">
            <a:avLst/>
          </a:prstGeom>
          <a:noFill/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40" name="struct.step.3.card"/>
          <p:cNvSpPr/>
          <p:nvPr/>
        </p:nvSpPr>
        <p:spPr>
          <a:xfrm>
            <a:off x="4096850" y="2871216"/>
            <a:ext cx="2736579" cy="539496"/>
          </a:xfrm>
          <a:prstGeom prst="roundRect">
            <a:avLst>
              <a:gd fmla="val 8475" name="adj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slot.step.3.num"/>
          <p:cNvSpPr/>
          <p:nvPr/>
        </p:nvSpPr>
        <p:spPr>
          <a:xfrm>
            <a:off x="4187739" y="2999232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slot.step.3.head"/>
          <p:cNvSpPr/>
          <p:nvPr/>
        </p:nvSpPr>
        <p:spPr>
          <a:xfrm>
            <a:off x="4534703" y="2926080"/>
            <a:ext cx="1824386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Build the baseline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3" name="struct.step.link.3"/>
          <p:cNvCxnSpPr/>
          <p:nvPr/>
        </p:nvCxnSpPr>
        <p:spPr>
          <a:xfrm>
            <a:off x="4324899" y="3447288"/>
            <a:ext cx="0" cy="320040"/>
          </a:xfrm>
          <a:prstGeom prst="straightConnector1">
            <a:avLst/>
          </a:prstGeom>
          <a:noFill/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44" name="struct.step.4.card"/>
          <p:cNvSpPr/>
          <p:nvPr/>
        </p:nvSpPr>
        <p:spPr>
          <a:xfrm>
            <a:off x="4096850" y="3474720"/>
            <a:ext cx="2736579" cy="539496"/>
          </a:xfrm>
          <a:prstGeom prst="roundRect">
            <a:avLst>
              <a:gd fmla="val 8475" name="adj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slot.step.4.num"/>
          <p:cNvSpPr/>
          <p:nvPr/>
        </p:nvSpPr>
        <p:spPr>
          <a:xfrm>
            <a:off x="4187739" y="3602736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slot.step.4.head"/>
          <p:cNvSpPr/>
          <p:nvPr/>
        </p:nvSpPr>
        <p:spPr>
          <a:xfrm>
            <a:off x="4534703" y="3529584"/>
            <a:ext cx="1824386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Adjust for signals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7" name="struct.step.link.4"/>
          <p:cNvCxnSpPr/>
          <p:nvPr/>
        </p:nvCxnSpPr>
        <p:spPr>
          <a:xfrm>
            <a:off x="4324899" y="4050791"/>
            <a:ext cx="0" cy="320041"/>
          </a:xfrm>
          <a:prstGeom prst="straightConnector1">
            <a:avLst/>
          </a:prstGeom>
          <a:noFill/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48" name="struct.step.5.card"/>
          <p:cNvSpPr/>
          <p:nvPr/>
        </p:nvSpPr>
        <p:spPr>
          <a:xfrm>
            <a:off x="4096850" y="4078224"/>
            <a:ext cx="2736579" cy="539496"/>
          </a:xfrm>
          <a:prstGeom prst="roundRect">
            <a:avLst>
              <a:gd fmla="val 8475" name="adj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slot.step.5.num"/>
          <p:cNvSpPr/>
          <p:nvPr/>
        </p:nvSpPr>
        <p:spPr>
          <a:xfrm>
            <a:off x="4187739" y="4206240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5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slot.step.5.head"/>
          <p:cNvSpPr/>
          <p:nvPr/>
        </p:nvSpPr>
        <p:spPr>
          <a:xfrm>
            <a:off x="4534703" y="4133087"/>
            <a:ext cx="1824386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Explain each change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1" name="struct.step.link.5"/>
          <p:cNvCxnSpPr/>
          <p:nvPr/>
        </p:nvCxnSpPr>
        <p:spPr>
          <a:xfrm>
            <a:off x="4324899" y="4654296"/>
            <a:ext cx="0" cy="320040"/>
          </a:xfrm>
          <a:prstGeom prst="straightConnector1">
            <a:avLst/>
          </a:prstGeom>
          <a:noFill/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52" name="struct.step.6.card"/>
          <p:cNvSpPr/>
          <p:nvPr/>
        </p:nvSpPr>
        <p:spPr>
          <a:xfrm>
            <a:off x="4096850" y="4681728"/>
            <a:ext cx="2736579" cy="539496"/>
          </a:xfrm>
          <a:prstGeom prst="roundRect">
            <a:avLst>
              <a:gd fmla="val 8475" name="adj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slot.step.6.num"/>
          <p:cNvSpPr/>
          <p:nvPr/>
        </p:nvSpPr>
        <p:spPr>
          <a:xfrm>
            <a:off x="4187739" y="4809744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6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slot.step.6.head"/>
          <p:cNvSpPr/>
          <p:nvPr/>
        </p:nvSpPr>
        <p:spPr>
          <a:xfrm>
            <a:off x="4534703" y="4736592"/>
            <a:ext cx="1824386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Planner sign-off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struct.handoff.1.disc"/>
          <p:cNvSpPr/>
          <p:nvPr/>
        </p:nvSpPr>
        <p:spPr>
          <a:xfrm>
            <a:off x="3740808" y="3136392"/>
            <a:ext cx="237744" cy="23774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struct.handoff.2.disc"/>
          <p:cNvSpPr/>
          <p:nvPr/>
        </p:nvSpPr>
        <p:spPr>
          <a:xfrm>
            <a:off x="8502456" y="3136392"/>
            <a:ext cx="237744" cy="23774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slot.output.1.head"/>
          <p:cNvSpPr/>
          <p:nvPr/>
        </p:nvSpPr>
        <p:spPr>
          <a:xfrm>
            <a:off x="9077425" y="1481328"/>
            <a:ext cx="1413899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Demand plan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slot.output.1.tag.2"/>
          <p:cNvSpPr/>
          <p:nvPr/>
        </p:nvSpPr>
        <p:spPr>
          <a:xfrm>
            <a:off x="11120737" y="1499616"/>
            <a:ext cx="529072" cy="201168"/>
          </a:xfrm>
          <a:prstGeom prst="roundRect">
            <a:avLst>
              <a:gd fmla="val 50000" name="adj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Table</a:t>
            </a:r>
            <a:endParaRPr lang="en-US" sz="8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slot.output.1.tag.1"/>
          <p:cNvSpPr/>
          <p:nvPr/>
        </p:nvSpPr>
        <p:spPr>
          <a:xfrm>
            <a:off x="10536934" y="1499616"/>
            <a:ext cx="529072" cy="201168"/>
          </a:xfrm>
          <a:prstGeom prst="roundRect">
            <a:avLst>
              <a:gd fmla="val 50000" name="adj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Weekly</a:t>
            </a:r>
            <a:endParaRPr lang="en-US" sz="8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slot.output.1.body"/>
          <p:cNvSpPr/>
          <p:nvPr/>
        </p:nvSpPr>
        <p:spPr>
          <a:xfrm>
            <a:off x="8867620" y="1746504"/>
            <a:ext cx="2782189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Units by product, region and week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slot.output.2.head"/>
          <p:cNvSpPr/>
          <p:nvPr/>
        </p:nvSpPr>
        <p:spPr>
          <a:xfrm>
            <a:off x="9077425" y="2770632"/>
            <a:ext cx="1413899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Exception list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slot.output.2.tag.2"/>
          <p:cNvSpPr/>
          <p:nvPr/>
        </p:nvSpPr>
        <p:spPr>
          <a:xfrm>
            <a:off x="11120737" y="2788920"/>
            <a:ext cx="529072" cy="201168"/>
          </a:xfrm>
          <a:prstGeom prst="roundRect">
            <a:avLst>
              <a:gd fmla="val 50000" name="adj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Alert</a:t>
            </a:r>
            <a:endParaRPr lang="en-US" sz="8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slot.output.2.tag.1"/>
          <p:cNvSpPr/>
          <p:nvPr/>
        </p:nvSpPr>
        <p:spPr>
          <a:xfrm>
            <a:off x="10536934" y="2788920"/>
            <a:ext cx="529072" cy="201168"/>
          </a:xfrm>
          <a:prstGeom prst="roundRect">
            <a:avLst>
              <a:gd fmla="val 50000" name="adj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Daily</a:t>
            </a:r>
            <a:endParaRPr lang="en-US" sz="8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slot.output.2.body"/>
          <p:cNvSpPr/>
          <p:nvPr/>
        </p:nvSpPr>
        <p:spPr>
          <a:xfrm>
            <a:off x="8867620" y="3035808"/>
            <a:ext cx="2782189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Products drifting more than 10% off target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slot.output.3.head"/>
          <p:cNvSpPr/>
          <p:nvPr/>
        </p:nvSpPr>
        <p:spPr>
          <a:xfrm>
            <a:off x="9077425" y="4059936"/>
            <a:ext cx="1413899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Change summary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slot.output.3.tag.1"/>
          <p:cNvSpPr/>
          <p:nvPr/>
        </p:nvSpPr>
        <p:spPr>
          <a:xfrm>
            <a:off x="11120737" y="4078224"/>
            <a:ext cx="529072" cy="201168"/>
          </a:xfrm>
          <a:prstGeom prst="roundRect">
            <a:avLst>
              <a:gd fmla="val 50000" name="adj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Weekly</a:t>
            </a:r>
            <a:endParaRPr lang="en-US" sz="8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slot.output.3.body"/>
          <p:cNvSpPr/>
          <p:nvPr/>
        </p:nvSpPr>
        <p:spPr>
          <a:xfrm>
            <a:off x="8867620" y="4325112"/>
            <a:ext cx="2782189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Reasons behind each forecast shift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slot.output.3.note"/>
          <p:cNvSpPr/>
          <p:nvPr/>
        </p:nvSpPr>
        <p:spPr>
          <a:xfrm>
            <a:off x="10080837" y="4599432"/>
            <a:ext cx="1587216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Planner brief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page per region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struct.reuse.panel"/>
          <p:cNvSpPr/>
          <p:nvPr/>
        </p:nvSpPr>
        <p:spPr>
          <a:xfrm>
            <a:off x="457200" y="5449824"/>
            <a:ext cx="5509646" cy="768096"/>
          </a:xfrm>
          <a:prstGeom prst="roundRect">
            <a:avLst>
              <a:gd fmla="val 5952" name="adj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struct.uses.panel"/>
          <p:cNvSpPr/>
          <p:nvPr/>
        </p:nvSpPr>
        <p:spPr>
          <a:xfrm>
            <a:off x="6149285" y="5449824"/>
            <a:ext cx="5646475" cy="768096"/>
          </a:xfrm>
          <a:prstGeom prst="roundRect">
            <a:avLst>
              <a:gd fmla="val 5952" name="adj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struct.reuse.pill"/>
          <p:cNvSpPr/>
          <p:nvPr/>
        </p:nvSpPr>
        <p:spPr>
          <a:xfrm>
            <a:off x="621395" y="5504688"/>
            <a:ext cx="1733167" cy="292608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struct.reuse.disc"/>
          <p:cNvSpPr/>
          <p:nvPr/>
        </p:nvSpPr>
        <p:spPr>
          <a:xfrm>
            <a:off x="666762" y="5550408"/>
            <a:ext cx="201168" cy="20116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slot.reuse.head"/>
          <p:cNvSpPr/>
          <p:nvPr/>
        </p:nvSpPr>
        <p:spPr>
          <a:xfrm>
            <a:off x="931540" y="5504688"/>
            <a:ext cx="1404777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Reusable skills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struct.uses.pill"/>
          <p:cNvSpPr/>
          <p:nvPr/>
        </p:nvSpPr>
        <p:spPr>
          <a:xfrm>
            <a:off x="6313480" y="5504688"/>
            <a:ext cx="2316970" cy="292608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struct.uses.disc"/>
          <p:cNvSpPr/>
          <p:nvPr/>
        </p:nvSpPr>
        <p:spPr>
          <a:xfrm>
            <a:off x="6358846" y="5550408"/>
            <a:ext cx="201168" cy="20116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slot.uses.head"/>
          <p:cNvSpPr/>
          <p:nvPr/>
        </p:nvSpPr>
        <p:spPr>
          <a:xfrm>
            <a:off x="6623625" y="5504688"/>
            <a:ext cx="1988581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Further uses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struct.reuse.chip.1"/>
          <p:cNvSpPr/>
          <p:nvPr/>
        </p:nvSpPr>
        <p:spPr>
          <a:xfrm>
            <a:off x="594029" y="5870448"/>
            <a:ext cx="1323226" cy="237744"/>
          </a:xfrm>
          <a:prstGeom prst="roundRect">
            <a:avLst>
              <a:gd fmla="val 50000" name="adj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slot.reuse.1"/>
          <p:cNvSpPr/>
          <p:nvPr/>
        </p:nvSpPr>
        <p:spPr>
          <a:xfrm>
            <a:off x="867686" y="5870448"/>
            <a:ext cx="994835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Data cleaning</a:t>
            </a:r>
            <a:endParaRPr lang="en-US" sz="9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struct.reuse.chip.2"/>
          <p:cNvSpPr/>
          <p:nvPr/>
        </p:nvSpPr>
        <p:spPr>
          <a:xfrm>
            <a:off x="1957392" y="5870448"/>
            <a:ext cx="1402243" cy="237744"/>
          </a:xfrm>
          <a:prstGeom prst="roundRect">
            <a:avLst>
              <a:gd fmla="val 50000" name="adj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slot.reuse.2"/>
          <p:cNvSpPr/>
          <p:nvPr/>
        </p:nvSpPr>
        <p:spPr>
          <a:xfrm>
            <a:off x="2231416" y="5870448"/>
            <a:ext cx="1073488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Driver search</a:t>
            </a:r>
            <a:endParaRPr lang="en-US" sz="9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struct.reuse.chip.3"/>
          <p:cNvSpPr/>
          <p:nvPr/>
        </p:nvSpPr>
        <p:spPr>
          <a:xfrm>
            <a:off x="3399771" y="5870448"/>
            <a:ext cx="1452667" cy="237744"/>
          </a:xfrm>
          <a:prstGeom prst="roundRect">
            <a:avLst>
              <a:gd fmla="val 50000" name="adj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slot.reuse.3"/>
          <p:cNvSpPr/>
          <p:nvPr/>
        </p:nvSpPr>
        <p:spPr>
          <a:xfrm>
            <a:off x="3673592" y="5870448"/>
            <a:ext cx="1124113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Report writer</a:t>
            </a:r>
            <a:endParaRPr lang="en-US" sz="9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struct.reuse.chip.4"/>
          <p:cNvSpPr/>
          <p:nvPr/>
        </p:nvSpPr>
        <p:spPr>
          <a:xfrm>
            <a:off x="4892575" y="5870448"/>
            <a:ext cx="917993" cy="237744"/>
          </a:xfrm>
          <a:prstGeom prst="roundRect">
            <a:avLst>
              <a:gd fmla="val 50000" name="adj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slot.reuse.4"/>
          <p:cNvSpPr/>
          <p:nvPr/>
        </p:nvSpPr>
        <p:spPr>
          <a:xfrm>
            <a:off x="5165940" y="5870448"/>
            <a:ext cx="589896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Feeds</a:t>
            </a:r>
            <a:endParaRPr lang="en-US" sz="9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slot.uses.1"/>
          <p:cNvSpPr/>
          <p:nvPr/>
        </p:nvSpPr>
        <p:spPr>
          <a:xfrm>
            <a:off x="6495917" y="5870448"/>
            <a:ext cx="1459509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Inventory planning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slot.uses.2"/>
          <p:cNvSpPr/>
          <p:nvPr/>
        </p:nvSpPr>
        <p:spPr>
          <a:xfrm>
            <a:off x="8274695" y="5870448"/>
            <a:ext cx="1459509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Price testing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slot.uses.3"/>
          <p:cNvSpPr/>
          <p:nvPr/>
        </p:nvSpPr>
        <p:spPr>
          <a:xfrm>
            <a:off x="10053471" y="5870448"/>
            <a:ext cx="1459509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Staff scheduling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slot.input.icon"/>
          <p:cNvSpPr/>
          <p:nvPr/>
        </p:nvSpPr>
        <p:spPr>
          <a:xfrm>
            <a:off x="721548" y="1069848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14000"/>
                </a:moveTo>
                <a:lnTo>
                  <a:pt x="7500" y="11100"/>
                </a:lnTo>
                <a:cubicBezTo>
                  <a:pt x="7832" y="10440"/>
                  <a:pt x="8501" y="10017"/>
                  <a:pt x="9240" y="10000"/>
                </a:cubicBezTo>
                <a:lnTo>
                  <a:pt x="20000" y="10000"/>
                </a:lnTo>
                <a:cubicBezTo>
                  <a:pt x="20619" y="9999"/>
                  <a:pt x="21204" y="10285"/>
                  <a:pt x="21584" y="10774"/>
                </a:cubicBezTo>
                <a:cubicBezTo>
                  <a:pt x="21963" y="11263"/>
                  <a:pt x="22095" y="11900"/>
                  <a:pt x="21940" y="12500"/>
                </a:cubicBezTo>
                <a:lnTo>
                  <a:pt x="20400" y="18500"/>
                </a:lnTo>
                <a:cubicBezTo>
                  <a:pt x="20171" y="19388"/>
                  <a:pt x="19367" y="20006"/>
                  <a:pt x="18450" y="20000"/>
                </a:cubicBezTo>
                <a:lnTo>
                  <a:pt x="4000" y="20000"/>
                </a:lnTo>
                <a:cubicBezTo>
                  <a:pt x="2895" y="20000"/>
                  <a:pt x="2000" y="19105"/>
                  <a:pt x="2000" y="18000"/>
                </a:cubicBezTo>
                <a:lnTo>
                  <a:pt x="2000" y="5000"/>
                </a:lnTo>
                <a:cubicBezTo>
                  <a:pt x="2000" y="3895"/>
                  <a:pt x="2895" y="3000"/>
                  <a:pt x="4000" y="3000"/>
                </a:cubicBezTo>
                <a:lnTo>
                  <a:pt x="7900" y="3000"/>
                </a:lnTo>
                <a:cubicBezTo>
                  <a:pt x="8580" y="2993"/>
                  <a:pt x="9216" y="3332"/>
                  <a:pt x="9590" y="3900"/>
                </a:cubicBezTo>
                <a:lnTo>
                  <a:pt x="10400" y="5100"/>
                </a:lnTo>
                <a:cubicBezTo>
                  <a:pt x="10770" y="5662"/>
                  <a:pt x="11397" y="6000"/>
                  <a:pt x="12070" y="6000"/>
                </a:cubicBezTo>
                <a:lnTo>
                  <a:pt x="18000" y="6000"/>
                </a:lnTo>
                <a:cubicBezTo>
                  <a:pt x="19105" y="6000"/>
                  <a:pt x="20000" y="6895"/>
                  <a:pt x="20000" y="8000"/>
                </a:cubicBezTo>
                <a:lnTo>
                  <a:pt x="20000" y="10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</p:sp>
      <p:sp>
        <p:nvSpPr>
          <p:cNvPr id="89" name="slot.method.icon"/>
          <p:cNvSpPr/>
          <p:nvPr/>
        </p:nvSpPr>
        <p:spPr>
          <a:xfrm>
            <a:off x="4215248" y="1069848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3000"/>
                </a:moveTo>
                <a:lnTo>
                  <a:pt x="9000" y="3000"/>
                </a:lnTo>
                <a:cubicBezTo>
                  <a:pt x="10105" y="3000"/>
                  <a:pt x="11000" y="3895"/>
                  <a:pt x="11000" y="5000"/>
                </a:cubicBezTo>
                <a:lnTo>
                  <a:pt x="11000" y="9000"/>
                </a:lnTo>
                <a:cubicBezTo>
                  <a:pt x="11000" y="10105"/>
                  <a:pt x="10105" y="11000"/>
                  <a:pt x="9000" y="11000"/>
                </a:cubicBezTo>
                <a:lnTo>
                  <a:pt x="5000" y="11000"/>
                </a:lnTo>
                <a:cubicBezTo>
                  <a:pt x="3895" y="11000"/>
                  <a:pt x="3000" y="10105"/>
                  <a:pt x="3000" y="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  <a:moveTo>
                  <a:pt x="7000" y="11000"/>
                </a:moveTo>
                <a:lnTo>
                  <a:pt x="7000" y="15000"/>
                </a:lnTo>
                <a:cubicBezTo>
                  <a:pt x="7000" y="16105"/>
                  <a:pt x="7895" y="17000"/>
                  <a:pt x="9000" y="17000"/>
                </a:cubicBezTo>
                <a:lnTo>
                  <a:pt x="13000" y="17000"/>
                </a:lnTo>
                <a:moveTo>
                  <a:pt x="15000" y="13000"/>
                </a:moveTo>
                <a:lnTo>
                  <a:pt x="19000" y="13000"/>
                </a:lnTo>
                <a:cubicBezTo>
                  <a:pt x="20105" y="13000"/>
                  <a:pt x="21000" y="13895"/>
                  <a:pt x="21000" y="1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5000" y="21000"/>
                </a:lnTo>
                <a:cubicBezTo>
                  <a:pt x="13895" y="21000"/>
                  <a:pt x="13000" y="20105"/>
                  <a:pt x="13000" y="19000"/>
                </a:cubicBezTo>
                <a:lnTo>
                  <a:pt x="13000" y="15000"/>
                </a:lnTo>
                <a:cubicBezTo>
                  <a:pt x="13000" y="13895"/>
                  <a:pt x="13895" y="13000"/>
                  <a:pt x="15000" y="13000"/>
                </a:cubicBezTo>
                <a:close/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</p:sp>
      <p:sp>
        <p:nvSpPr>
          <p:cNvPr id="90" name="slot.output.icon"/>
          <p:cNvSpPr/>
          <p:nvPr/>
        </p:nvSpPr>
        <p:spPr>
          <a:xfrm>
            <a:off x="8986018" y="1069848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536" y="21686"/>
                </a:moveTo>
                <a:cubicBezTo>
                  <a:pt x="14614" y="21880"/>
                  <a:pt x="14804" y="22005"/>
                  <a:pt x="15013" y="22000"/>
                </a:cubicBezTo>
                <a:cubicBezTo>
                  <a:pt x="15222" y="21994"/>
                  <a:pt x="15405" y="21860"/>
                  <a:pt x="15473" y="21662"/>
                </a:cubicBezTo>
                <a:lnTo>
                  <a:pt x="21973" y="2662"/>
                </a:lnTo>
                <a:cubicBezTo>
                  <a:pt x="22038" y="2481"/>
                  <a:pt x="21993" y="2279"/>
                  <a:pt x="21857" y="2143"/>
                </a:cubicBezTo>
                <a:cubicBezTo>
                  <a:pt x="21721" y="2007"/>
                  <a:pt x="21519" y="1962"/>
                  <a:pt x="21338" y="2027"/>
                </a:cubicBezTo>
                <a:lnTo>
                  <a:pt x="2338" y="8527"/>
                </a:lnTo>
                <a:cubicBezTo>
                  <a:pt x="2140" y="8595"/>
                  <a:pt x="2006" y="8778"/>
                  <a:pt x="2000" y="8987"/>
                </a:cubicBezTo>
                <a:cubicBezTo>
                  <a:pt x="1995" y="9196"/>
                  <a:pt x="2120" y="9386"/>
                  <a:pt x="2314" y="9464"/>
                </a:cubicBezTo>
                <a:lnTo>
                  <a:pt x="10244" y="12644"/>
                </a:lnTo>
                <a:cubicBezTo>
                  <a:pt x="10751" y="12847"/>
                  <a:pt x="11152" y="13248"/>
                  <a:pt x="11356" y="13754"/>
                </a:cubicBezTo>
                <a:close/>
                <a:moveTo>
                  <a:pt x="21854" y="2147"/>
                </a:moveTo>
                <a:lnTo>
                  <a:pt x="10914" y="13086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</p:sp>
      <p:sp>
        <p:nvSpPr>
          <p:cNvPr id="91" name="slot.input.brief.head.icon"/>
          <p:cNvSpPr/>
          <p:nvPr/>
        </p:nvSpPr>
        <p:spPr>
          <a:xfrm>
            <a:off x="602963" y="1517904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9090" y="9000"/>
                </a:moveTo>
                <a:cubicBezTo>
                  <a:pt x="9575" y="7620"/>
                  <a:pt x="10985" y="6791"/>
                  <a:pt x="12427" y="7039"/>
                </a:cubicBezTo>
                <a:cubicBezTo>
                  <a:pt x="13869" y="7286"/>
                  <a:pt x="14922" y="8537"/>
                  <a:pt x="14920" y="10000"/>
                </a:cubicBezTo>
                <a:cubicBezTo>
                  <a:pt x="14920" y="12000"/>
                  <a:pt x="11920" y="13000"/>
                  <a:pt x="11920" y="13000"/>
                </a:cubicBezTo>
                <a:moveTo>
                  <a:pt x="12000" y="17000"/>
                </a:moveTo>
                <a:lnTo>
                  <a:pt x="12010" y="17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</p:sp>
      <p:sp>
        <p:nvSpPr>
          <p:cNvPr id="92" name="slot.input.brief.1.icon"/>
          <p:cNvSpPr/>
          <p:nvPr/>
        </p:nvSpPr>
        <p:spPr>
          <a:xfrm>
            <a:off x="602963" y="1764792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8000" y="2000"/>
                </a:moveTo>
                <a:lnTo>
                  <a:pt x="8000" y="5000"/>
                </a:lnTo>
                <a:moveTo>
                  <a:pt x="16000" y="2000"/>
                </a:moveTo>
                <a:lnTo>
                  <a:pt x="16000" y="5000"/>
                </a:lnTo>
                <a:moveTo>
                  <a:pt x="5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  <a:moveTo>
                  <a:pt x="3000" y="9000"/>
                </a:moveTo>
                <a:lnTo>
                  <a:pt x="21000" y="9000"/>
                </a:lnTo>
                <a:moveTo>
                  <a:pt x="8000" y="13000"/>
                </a:moveTo>
                <a:lnTo>
                  <a:pt x="8010" y="13000"/>
                </a:lnTo>
                <a:moveTo>
                  <a:pt x="12000" y="13000"/>
                </a:moveTo>
                <a:lnTo>
                  <a:pt x="12010" y="13000"/>
                </a:lnTo>
                <a:moveTo>
                  <a:pt x="16000" y="13000"/>
                </a:moveTo>
                <a:lnTo>
                  <a:pt x="16010" y="13000"/>
                </a:lnTo>
                <a:moveTo>
                  <a:pt x="8000" y="17000"/>
                </a:moveTo>
                <a:lnTo>
                  <a:pt x="8010" y="17000"/>
                </a:lnTo>
                <a:moveTo>
                  <a:pt x="12000" y="17000"/>
                </a:moveTo>
                <a:lnTo>
                  <a:pt x="12010" y="17000"/>
                </a:lnTo>
                <a:moveTo>
                  <a:pt x="16000" y="17000"/>
                </a:moveTo>
                <a:lnTo>
                  <a:pt x="16010" y="17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</p:sp>
      <p:sp>
        <p:nvSpPr>
          <p:cNvPr id="93" name="slot.input.brief.2.icon"/>
          <p:cNvSpPr/>
          <p:nvPr/>
        </p:nvSpPr>
        <p:spPr>
          <a:xfrm>
            <a:off x="602963" y="2039112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2000" y="2000"/>
                </a:moveTo>
                <a:cubicBezTo>
                  <a:pt x="6667" y="7600"/>
                  <a:pt x="6667" y="16400"/>
                  <a:pt x="12000" y="22000"/>
                </a:cubicBezTo>
                <a:cubicBezTo>
                  <a:pt x="17333" y="16400"/>
                  <a:pt x="17333" y="7600"/>
                  <a:pt x="12000" y="2000"/>
                </a:cubicBezTo>
                <a:moveTo>
                  <a:pt x="2000" y="12000"/>
                </a:moveTo>
                <a:lnTo>
                  <a:pt x="22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</p:sp>
      <p:sp>
        <p:nvSpPr>
          <p:cNvPr id="94" name="slot.input.brief.3.icon"/>
          <p:cNvSpPr/>
          <p:nvPr/>
        </p:nvSpPr>
        <p:spPr>
          <a:xfrm>
            <a:off x="602963" y="2313432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8000" y="12000"/>
                </a:moveTo>
                <a:cubicBezTo>
                  <a:pt x="18000" y="15314"/>
                  <a:pt x="15314" y="18000"/>
                  <a:pt x="12000" y="18000"/>
                </a:cubicBezTo>
                <a:cubicBezTo>
                  <a:pt x="8686" y="18000"/>
                  <a:pt x="6000" y="15314"/>
                  <a:pt x="6000" y="12000"/>
                </a:cubicBezTo>
                <a:cubicBezTo>
                  <a:pt x="6000" y="8686"/>
                  <a:pt x="8686" y="6000"/>
                  <a:pt x="12000" y="6000"/>
                </a:cubicBezTo>
                <a:cubicBezTo>
                  <a:pt x="15314" y="6000"/>
                  <a:pt x="18000" y="8686"/>
                  <a:pt x="18000" y="12000"/>
                </a:cubicBezTo>
                <a:close/>
                <a:moveTo>
                  <a:pt x="14000" y="12000"/>
                </a:moveTo>
                <a:cubicBezTo>
                  <a:pt x="14000" y="13105"/>
                  <a:pt x="13105" y="14000"/>
                  <a:pt x="12000" y="14000"/>
                </a:cubicBezTo>
                <a:cubicBezTo>
                  <a:pt x="10895" y="14000"/>
                  <a:pt x="10000" y="13105"/>
                  <a:pt x="10000" y="12000"/>
                </a:cubicBezTo>
                <a:cubicBezTo>
                  <a:pt x="10000" y="10895"/>
                  <a:pt x="10895" y="10000"/>
                  <a:pt x="12000" y="10000"/>
                </a:cubicBezTo>
                <a:cubicBezTo>
                  <a:pt x="13105" y="10000"/>
                  <a:pt x="14000" y="10895"/>
                  <a:pt x="14000" y="12000"/>
                </a:cubicBezTo>
                <a:close/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</p:sp>
      <p:sp>
        <p:nvSpPr>
          <p:cNvPr id="95" name="slot.input.sources.head.icon"/>
          <p:cNvSpPr/>
          <p:nvPr/>
        </p:nvSpPr>
        <p:spPr>
          <a:xfrm>
            <a:off x="602963" y="2798064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6000"/>
                </a:moveTo>
                <a:lnTo>
                  <a:pt x="20000" y="20000"/>
                </a:lnTo>
                <a:moveTo>
                  <a:pt x="12000" y="6000"/>
                </a:moveTo>
                <a:lnTo>
                  <a:pt x="12000" y="20000"/>
                </a:lnTo>
                <a:moveTo>
                  <a:pt x="8000" y="8000"/>
                </a:moveTo>
                <a:lnTo>
                  <a:pt x="8000" y="20000"/>
                </a:lnTo>
                <a:moveTo>
                  <a:pt x="4000" y="4000"/>
                </a:moveTo>
                <a:lnTo>
                  <a:pt x="4000" y="20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</p:sp>
      <p:sp>
        <p:nvSpPr>
          <p:cNvPr id="96" name="slot.input.source.1.icon"/>
          <p:cNvSpPr/>
          <p:nvPr/>
        </p:nvSpPr>
        <p:spPr>
          <a:xfrm>
            <a:off x="602974" y="3044952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12065" cap="rnd">
            <a:solidFill>
              <a:schemeClr val="accent1"/>
            </a:solidFill>
            <a:round/>
          </a:ln>
          <a:effectLst/>
        </p:spPr>
      </p:sp>
      <p:sp>
        <p:nvSpPr>
          <p:cNvPr id="97" name="slot.input.source.2.icon"/>
          <p:cNvSpPr/>
          <p:nvPr/>
        </p:nvSpPr>
        <p:spPr>
          <a:xfrm>
            <a:off x="2080727" y="3044952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6000"/>
                </a:moveTo>
                <a:cubicBezTo>
                  <a:pt x="14041" y="6078"/>
                  <a:pt x="17014" y="5088"/>
                  <a:pt x="19400" y="3200"/>
                </a:cubicBezTo>
                <a:cubicBezTo>
                  <a:pt x="19703" y="2973"/>
                  <a:pt x="20108" y="2936"/>
                  <a:pt x="20447" y="3106"/>
                </a:cubicBezTo>
                <a:cubicBezTo>
                  <a:pt x="20786" y="3275"/>
                  <a:pt x="21000" y="3621"/>
                  <a:pt x="21000" y="4000"/>
                </a:cubicBezTo>
                <a:lnTo>
                  <a:pt x="21000" y="16000"/>
                </a:lnTo>
                <a:cubicBezTo>
                  <a:pt x="21000" y="16379"/>
                  <a:pt x="20786" y="16725"/>
                  <a:pt x="20447" y="16894"/>
                </a:cubicBezTo>
                <a:cubicBezTo>
                  <a:pt x="20108" y="17064"/>
                  <a:pt x="19703" y="17027"/>
                  <a:pt x="19400" y="16800"/>
                </a:cubicBezTo>
                <a:cubicBezTo>
                  <a:pt x="17014" y="14912"/>
                  <a:pt x="14041" y="13922"/>
                  <a:pt x="11000" y="14000"/>
                </a:cubicBezTo>
                <a:lnTo>
                  <a:pt x="5000" y="14000"/>
                </a:lnTo>
                <a:cubicBezTo>
                  <a:pt x="3895" y="14000"/>
                  <a:pt x="3000" y="13105"/>
                  <a:pt x="3000" y="12000"/>
                </a:cubicBezTo>
                <a:lnTo>
                  <a:pt x="3000" y="8000"/>
                </a:lnTo>
                <a:cubicBezTo>
                  <a:pt x="3000" y="6895"/>
                  <a:pt x="3895" y="6000"/>
                  <a:pt x="5000" y="6000"/>
                </a:cubicBezTo>
                <a:close/>
                <a:moveTo>
                  <a:pt x="6000" y="14000"/>
                </a:moveTo>
                <a:cubicBezTo>
                  <a:pt x="6000" y="16596"/>
                  <a:pt x="6842" y="19123"/>
                  <a:pt x="8400" y="21200"/>
                </a:cubicBezTo>
                <a:cubicBezTo>
                  <a:pt x="9063" y="22084"/>
                  <a:pt x="10316" y="22263"/>
                  <a:pt x="11200" y="21600"/>
                </a:cubicBezTo>
                <a:cubicBezTo>
                  <a:pt x="12084" y="20937"/>
                  <a:pt x="12263" y="19684"/>
                  <a:pt x="11600" y="18800"/>
                </a:cubicBezTo>
                <a:cubicBezTo>
                  <a:pt x="10561" y="17415"/>
                  <a:pt x="10000" y="15731"/>
                  <a:pt x="10000" y="14000"/>
                </a:cubicBezTo>
                <a:moveTo>
                  <a:pt x="8000" y="6000"/>
                </a:moveTo>
                <a:lnTo>
                  <a:pt x="8000" y="14000"/>
                </a:lnTo>
              </a:path>
            </a:pathLst>
          </a:custGeom>
          <a:noFill/>
          <a:ln w="12065" cap="rnd">
            <a:solidFill>
              <a:schemeClr val="accent1"/>
            </a:solidFill>
            <a:round/>
          </a:ln>
          <a:effectLst/>
        </p:spPr>
      </p:sp>
      <p:sp>
        <p:nvSpPr>
          <p:cNvPr id="98" name="slot.input.source.3.icon"/>
          <p:cNvSpPr/>
          <p:nvPr/>
        </p:nvSpPr>
        <p:spPr>
          <a:xfrm>
            <a:off x="602974" y="3319272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000" y="18000"/>
                </a:moveTo>
                <a:lnTo>
                  <a:pt x="14000" y="6000"/>
                </a:lnTo>
                <a:cubicBezTo>
                  <a:pt x="14000" y="4895"/>
                  <a:pt x="13105" y="4000"/>
                  <a:pt x="12000" y="4000"/>
                </a:cubicBezTo>
                <a:lnTo>
                  <a:pt x="4000" y="4000"/>
                </a:lnTo>
                <a:cubicBezTo>
                  <a:pt x="2895" y="4000"/>
                  <a:pt x="2000" y="4895"/>
                  <a:pt x="2000" y="6000"/>
                </a:cubicBezTo>
                <a:lnTo>
                  <a:pt x="2000" y="17000"/>
                </a:lnTo>
                <a:cubicBezTo>
                  <a:pt x="2000" y="17552"/>
                  <a:pt x="2448" y="18000"/>
                  <a:pt x="3000" y="18000"/>
                </a:cubicBezTo>
                <a:lnTo>
                  <a:pt x="5000" y="18000"/>
                </a:lnTo>
                <a:moveTo>
                  <a:pt x="15000" y="18000"/>
                </a:moveTo>
                <a:lnTo>
                  <a:pt x="9000" y="18000"/>
                </a:lnTo>
                <a:moveTo>
                  <a:pt x="19000" y="18000"/>
                </a:moveTo>
                <a:lnTo>
                  <a:pt x="21000" y="18000"/>
                </a:lnTo>
                <a:cubicBezTo>
                  <a:pt x="21552" y="18000"/>
                  <a:pt x="22000" y="17552"/>
                  <a:pt x="22000" y="17000"/>
                </a:cubicBezTo>
                <a:lnTo>
                  <a:pt x="22000" y="13350"/>
                </a:lnTo>
                <a:cubicBezTo>
                  <a:pt x="22000" y="13123"/>
                  <a:pt x="21922" y="12903"/>
                  <a:pt x="21780" y="12726"/>
                </a:cubicBezTo>
                <a:lnTo>
                  <a:pt x="18300" y="8376"/>
                </a:lnTo>
                <a:cubicBezTo>
                  <a:pt x="18111" y="8139"/>
                  <a:pt x="17824" y="8000"/>
                  <a:pt x="17520" y="8000"/>
                </a:cubicBezTo>
                <a:lnTo>
                  <a:pt x="14000" y="8000"/>
                </a:lnTo>
                <a:moveTo>
                  <a:pt x="19000" y="18000"/>
                </a:moveTo>
                <a:cubicBezTo>
                  <a:pt x="19000" y="19105"/>
                  <a:pt x="18105" y="20000"/>
                  <a:pt x="17000" y="20000"/>
                </a:cubicBezTo>
                <a:cubicBezTo>
                  <a:pt x="15895" y="20000"/>
                  <a:pt x="15000" y="19105"/>
                  <a:pt x="15000" y="18000"/>
                </a:cubicBezTo>
                <a:cubicBezTo>
                  <a:pt x="15000" y="16895"/>
                  <a:pt x="15895" y="16000"/>
                  <a:pt x="17000" y="16000"/>
                </a:cubicBezTo>
                <a:cubicBezTo>
                  <a:pt x="18105" y="16000"/>
                  <a:pt x="19000" y="16895"/>
                  <a:pt x="19000" y="18000"/>
                </a:cubicBezTo>
                <a:close/>
                <a:moveTo>
                  <a:pt x="9000" y="18000"/>
                </a:moveTo>
                <a:cubicBezTo>
                  <a:pt x="9000" y="19105"/>
                  <a:pt x="8105" y="20000"/>
                  <a:pt x="7000" y="20000"/>
                </a:cubicBezTo>
                <a:cubicBezTo>
                  <a:pt x="5895" y="20000"/>
                  <a:pt x="5000" y="19105"/>
                  <a:pt x="5000" y="18000"/>
                </a:cubicBezTo>
                <a:cubicBezTo>
                  <a:pt x="5000" y="16895"/>
                  <a:pt x="5895" y="16000"/>
                  <a:pt x="7000" y="16000"/>
                </a:cubicBezTo>
                <a:cubicBezTo>
                  <a:pt x="8105" y="16000"/>
                  <a:pt x="9000" y="16895"/>
                  <a:pt x="9000" y="18000"/>
                </a:cubicBezTo>
                <a:close/>
              </a:path>
            </a:pathLst>
          </a:custGeom>
          <a:noFill/>
          <a:ln w="12065" cap="rnd">
            <a:solidFill>
              <a:schemeClr val="accent1"/>
            </a:solidFill>
            <a:round/>
          </a:ln>
          <a:effectLst/>
        </p:spPr>
      </p:sp>
      <p:sp>
        <p:nvSpPr>
          <p:cNvPr id="99" name="slot.input.source.4.icon"/>
          <p:cNvSpPr/>
          <p:nvPr/>
        </p:nvSpPr>
        <p:spPr>
          <a:xfrm>
            <a:off x="2080727" y="3319272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3000"/>
                </a:moveTo>
                <a:lnTo>
                  <a:pt x="3000" y="19000"/>
                </a:lnTo>
                <a:cubicBezTo>
                  <a:pt x="3000" y="20105"/>
                  <a:pt x="3895" y="21000"/>
                  <a:pt x="5000" y="21000"/>
                </a:cubicBezTo>
                <a:lnTo>
                  <a:pt x="21000" y="21000"/>
                </a:lnTo>
                <a:moveTo>
                  <a:pt x="19000" y="9000"/>
                </a:moveTo>
                <a:lnTo>
                  <a:pt x="14000" y="14000"/>
                </a:lnTo>
                <a:lnTo>
                  <a:pt x="10000" y="10000"/>
                </a:lnTo>
                <a:lnTo>
                  <a:pt x="7000" y="13000"/>
                </a:lnTo>
              </a:path>
            </a:pathLst>
          </a:custGeom>
          <a:noFill/>
          <a:ln w="12065" cap="rnd">
            <a:solidFill>
              <a:schemeClr val="accent1"/>
            </a:solidFill>
            <a:round/>
          </a:ln>
          <a:effectLst/>
        </p:spPr>
      </p:sp>
      <p:sp>
        <p:nvSpPr>
          <p:cNvPr id="100" name="slot.input.source.5.icon"/>
          <p:cNvSpPr/>
          <p:nvPr/>
        </p:nvSpPr>
        <p:spPr>
          <a:xfrm>
            <a:off x="602974" y="3593592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8000" y="21000"/>
                </a:moveTo>
                <a:lnTo>
                  <a:pt x="18000" y="10000"/>
                </a:lnTo>
                <a:cubicBezTo>
                  <a:pt x="18000" y="9448"/>
                  <a:pt x="17552" y="9000"/>
                  <a:pt x="17000" y="9000"/>
                </a:cubicBezTo>
                <a:lnTo>
                  <a:pt x="7000" y="9000"/>
                </a:lnTo>
                <a:cubicBezTo>
                  <a:pt x="6448" y="9000"/>
                  <a:pt x="6000" y="9448"/>
                  <a:pt x="6000" y="10000"/>
                </a:cubicBezTo>
                <a:lnTo>
                  <a:pt x="6000" y="21000"/>
                </a:lnTo>
                <a:moveTo>
                  <a:pt x="22000" y="19000"/>
                </a:moveTo>
                <a:cubicBezTo>
                  <a:pt x="22000" y="20105"/>
                  <a:pt x="21105" y="21000"/>
                  <a:pt x="20000" y="21000"/>
                </a:cubicBezTo>
                <a:lnTo>
                  <a:pt x="4000" y="21000"/>
                </a:lnTo>
                <a:cubicBezTo>
                  <a:pt x="2895" y="21000"/>
                  <a:pt x="2000" y="20105"/>
                  <a:pt x="2000" y="19000"/>
                </a:cubicBezTo>
                <a:lnTo>
                  <a:pt x="2000" y="8000"/>
                </a:lnTo>
                <a:cubicBezTo>
                  <a:pt x="2000" y="7231"/>
                  <a:pt x="2440" y="6531"/>
                  <a:pt x="3132" y="6197"/>
                </a:cubicBezTo>
                <a:lnTo>
                  <a:pt x="11082" y="2223"/>
                </a:lnTo>
                <a:cubicBezTo>
                  <a:pt x="11658" y="1925"/>
                  <a:pt x="12343" y="1925"/>
                  <a:pt x="12919" y="2223"/>
                </a:cubicBezTo>
                <a:lnTo>
                  <a:pt x="20867" y="6197"/>
                </a:lnTo>
                <a:cubicBezTo>
                  <a:pt x="21560" y="6530"/>
                  <a:pt x="22000" y="7231"/>
                  <a:pt x="22000" y="8000"/>
                </a:cubicBezTo>
                <a:close/>
                <a:moveTo>
                  <a:pt x="6000" y="13000"/>
                </a:moveTo>
                <a:lnTo>
                  <a:pt x="18000" y="13000"/>
                </a:lnTo>
                <a:moveTo>
                  <a:pt x="6000" y="17000"/>
                </a:moveTo>
                <a:lnTo>
                  <a:pt x="18000" y="17000"/>
                </a:lnTo>
              </a:path>
            </a:pathLst>
          </a:custGeom>
          <a:noFill/>
          <a:ln w="12065" cap="rnd">
            <a:solidFill>
              <a:schemeClr val="accent1"/>
            </a:solidFill>
            <a:round/>
          </a:ln>
          <a:effectLst/>
        </p:spPr>
      </p:sp>
      <p:sp>
        <p:nvSpPr>
          <p:cNvPr id="101" name="slot.input.source.6.icon"/>
          <p:cNvSpPr/>
          <p:nvPr/>
        </p:nvSpPr>
        <p:spPr>
          <a:xfrm>
            <a:off x="2080727" y="3593592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0000"/>
                </a:moveTo>
                <a:cubicBezTo>
                  <a:pt x="16000" y="11105"/>
                  <a:pt x="15105" y="12000"/>
                  <a:pt x="14000" y="12000"/>
                </a:cubicBezTo>
                <a:lnTo>
                  <a:pt x="6828" y="12000"/>
                </a:lnTo>
                <a:cubicBezTo>
                  <a:pt x="6298" y="12000"/>
                  <a:pt x="5789" y="12211"/>
                  <a:pt x="5414" y="12586"/>
                </a:cubicBezTo>
                <a:lnTo>
                  <a:pt x="3212" y="14788"/>
                </a:lnTo>
                <a:cubicBezTo>
                  <a:pt x="3009" y="14991"/>
                  <a:pt x="2704" y="15052"/>
                  <a:pt x="2438" y="14942"/>
                </a:cubicBezTo>
                <a:cubicBezTo>
                  <a:pt x="2173" y="14832"/>
                  <a:pt x="2000" y="14573"/>
                  <a:pt x="2000" y="14286"/>
                </a:cubicBezTo>
                <a:lnTo>
                  <a:pt x="2000" y="4000"/>
                </a:lnTo>
                <a:cubicBezTo>
                  <a:pt x="2000" y="2895"/>
                  <a:pt x="2895" y="2000"/>
                  <a:pt x="4000" y="2000"/>
                </a:cubicBezTo>
                <a:lnTo>
                  <a:pt x="14000" y="2000"/>
                </a:lnTo>
                <a:cubicBezTo>
                  <a:pt x="15105" y="2000"/>
                  <a:pt x="16000" y="2895"/>
                  <a:pt x="16000" y="4000"/>
                </a:cubicBezTo>
                <a:close/>
                <a:moveTo>
                  <a:pt x="20000" y="9000"/>
                </a:moveTo>
                <a:cubicBezTo>
                  <a:pt x="21105" y="9000"/>
                  <a:pt x="22000" y="9895"/>
                  <a:pt x="22000" y="11000"/>
                </a:cubicBezTo>
                <a:lnTo>
                  <a:pt x="22000" y="21286"/>
                </a:lnTo>
                <a:cubicBezTo>
                  <a:pt x="22000" y="21573"/>
                  <a:pt x="21827" y="21832"/>
                  <a:pt x="21562" y="21942"/>
                </a:cubicBezTo>
                <a:cubicBezTo>
                  <a:pt x="21296" y="22052"/>
                  <a:pt x="20991" y="21991"/>
                  <a:pt x="20788" y="21788"/>
                </a:cubicBezTo>
                <a:lnTo>
                  <a:pt x="18586" y="19586"/>
                </a:lnTo>
                <a:cubicBezTo>
                  <a:pt x="18211" y="19211"/>
                  <a:pt x="17702" y="19000"/>
                  <a:pt x="17172" y="19000"/>
                </a:cubicBezTo>
                <a:lnTo>
                  <a:pt x="10000" y="19000"/>
                </a:lnTo>
                <a:cubicBezTo>
                  <a:pt x="8895" y="19000"/>
                  <a:pt x="8000" y="18105"/>
                  <a:pt x="8000" y="17000"/>
                </a:cubicBezTo>
                <a:lnTo>
                  <a:pt x="8000" y="16000"/>
                </a:lnTo>
              </a:path>
            </a:pathLst>
          </a:custGeom>
          <a:noFill/>
          <a:ln w="12065" cap="rnd">
            <a:solidFill>
              <a:schemeClr val="accent1"/>
            </a:solidFill>
            <a:round/>
          </a:ln>
          <a:effectLst/>
        </p:spPr>
      </p:sp>
      <p:sp>
        <p:nvSpPr>
          <p:cNvPr id="102" name="slot.input.source.7.icon"/>
          <p:cNvSpPr/>
          <p:nvPr/>
        </p:nvSpPr>
        <p:spPr>
          <a:xfrm>
            <a:off x="602974" y="3867912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586" y="2586"/>
                </a:moveTo>
                <a:cubicBezTo>
                  <a:pt x="12211" y="2211"/>
                  <a:pt x="11702" y="2000"/>
                  <a:pt x="11172" y="2000"/>
                </a:cubicBezTo>
                <a:lnTo>
                  <a:pt x="4000" y="2000"/>
                </a:lnTo>
                <a:cubicBezTo>
                  <a:pt x="2895" y="2000"/>
                  <a:pt x="2000" y="2895"/>
                  <a:pt x="2000" y="4000"/>
                </a:cubicBezTo>
                <a:lnTo>
                  <a:pt x="2000" y="11172"/>
                </a:lnTo>
                <a:cubicBezTo>
                  <a:pt x="2000" y="11702"/>
                  <a:pt x="2211" y="12211"/>
                  <a:pt x="2586" y="12586"/>
                </a:cubicBezTo>
                <a:lnTo>
                  <a:pt x="11290" y="21290"/>
                </a:lnTo>
                <a:cubicBezTo>
                  <a:pt x="12236" y="22230"/>
                  <a:pt x="13764" y="22230"/>
                  <a:pt x="14710" y="21290"/>
                </a:cubicBezTo>
                <a:lnTo>
                  <a:pt x="21290" y="14710"/>
                </a:lnTo>
                <a:cubicBezTo>
                  <a:pt x="22230" y="13764"/>
                  <a:pt x="22230" y="12236"/>
                  <a:pt x="21290" y="11290"/>
                </a:cubicBezTo>
                <a:close/>
              </a:path>
              <a:path w="24000" h="24000">
                <a:moveTo>
                  <a:pt x="8000" y="7500"/>
                </a:moveTo>
                <a:cubicBezTo>
                  <a:pt x="8000" y="7776"/>
                  <a:pt x="7776" y="8000"/>
                  <a:pt x="7500" y="8000"/>
                </a:cubicBezTo>
                <a:cubicBezTo>
                  <a:pt x="7224" y="8000"/>
                  <a:pt x="7000" y="7776"/>
                  <a:pt x="7000" y="7500"/>
                </a:cubicBezTo>
                <a:cubicBezTo>
                  <a:pt x="7000" y="7224"/>
                  <a:pt x="7224" y="7000"/>
                  <a:pt x="7500" y="7000"/>
                </a:cubicBezTo>
                <a:cubicBezTo>
                  <a:pt x="7776" y="7000"/>
                  <a:pt x="8000" y="7224"/>
                  <a:pt x="8000" y="7500"/>
                </a:cubicBezTo>
                <a:close/>
              </a:path>
            </a:pathLst>
          </a:custGeom>
          <a:solidFill>
            <a:schemeClr val="accent1"/>
          </a:solidFill>
          <a:ln w="12065" cap="rnd">
            <a:solidFill>
              <a:schemeClr val="accent1"/>
            </a:solidFill>
            <a:round/>
          </a:ln>
          <a:effectLst/>
        </p:spPr>
      </p:sp>
      <p:sp>
        <p:nvSpPr>
          <p:cNvPr id="103" name="slot.input.source.8.icon"/>
          <p:cNvSpPr/>
          <p:nvPr/>
        </p:nvSpPr>
        <p:spPr>
          <a:xfrm>
            <a:off x="2080727" y="3867912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8000" y="2000"/>
                </a:moveTo>
                <a:lnTo>
                  <a:pt x="8000" y="5000"/>
                </a:lnTo>
                <a:moveTo>
                  <a:pt x="16000" y="2000"/>
                </a:moveTo>
                <a:lnTo>
                  <a:pt x="16000" y="5000"/>
                </a:lnTo>
                <a:moveTo>
                  <a:pt x="5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  <a:moveTo>
                  <a:pt x="3000" y="9000"/>
                </a:moveTo>
                <a:lnTo>
                  <a:pt x="21000" y="9000"/>
                </a:lnTo>
              </a:path>
            </a:pathLst>
          </a:custGeom>
          <a:noFill/>
          <a:ln w="12065" cap="rnd">
            <a:solidFill>
              <a:schemeClr val="accent1"/>
            </a:solidFill>
            <a:round/>
          </a:ln>
          <a:effectLst/>
        </p:spPr>
      </p:sp>
      <p:sp>
        <p:nvSpPr>
          <p:cNvPr id="104" name="struct.input.sample.1.zone"/>
          <p:cNvSpPr/>
          <p:nvPr/>
        </p:nvSpPr>
        <p:spPr>
          <a:xfrm>
            <a:off x="603151" y="4315968"/>
            <a:ext cx="1423021" cy="896112"/>
          </a:xfrm>
          <a:prstGeom prst="roundRect">
            <a:avLst>
              <a:gd name="adj" fmla="val 612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105" name="slot.input.sample.1.icon"/>
          <p:cNvSpPr/>
          <p:nvPr/>
        </p:nvSpPr>
        <p:spPr>
          <a:xfrm>
            <a:off x="1177501" y="452628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8000" y="13000"/>
                </a:moveTo>
                <a:lnTo>
                  <a:pt x="10000" y="13000"/>
                </a:lnTo>
                <a:moveTo>
                  <a:pt x="14000" y="13000"/>
                </a:moveTo>
                <a:lnTo>
                  <a:pt x="16000" y="13000"/>
                </a:lnTo>
                <a:moveTo>
                  <a:pt x="8000" y="17000"/>
                </a:moveTo>
                <a:lnTo>
                  <a:pt x="10000" y="17000"/>
                </a:lnTo>
                <a:moveTo>
                  <a:pt x="14000" y="17000"/>
                </a:moveTo>
                <a:lnTo>
                  <a:pt x="16000" y="17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106" name="slot.input.sample.1.label"/>
          <p:cNvSpPr txBox="1"/>
          <p:nvPr/>
        </p:nvSpPr>
        <p:spPr>
          <a:xfrm>
            <a:off x="657882" y="4837176"/>
            <a:ext cx="1313558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Order archive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struct.input.sample.2.zone"/>
          <p:cNvSpPr/>
          <p:nvPr/>
        </p:nvSpPr>
        <p:spPr>
          <a:xfrm>
            <a:off x="2117391" y="4315968"/>
            <a:ext cx="1423021" cy="896112"/>
          </a:xfrm>
          <a:prstGeom prst="roundRect">
            <a:avLst>
              <a:gd name="adj" fmla="val 612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108" name="slot.input.sample.2.icon"/>
          <p:cNvSpPr/>
          <p:nvPr/>
        </p:nvSpPr>
        <p:spPr>
          <a:xfrm>
            <a:off x="2691742" y="452628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lnTo>
                  <a:pt x="19520" y="12000"/>
                </a:lnTo>
                <a:cubicBezTo>
                  <a:pt x="18622" y="11998"/>
                  <a:pt x="17833" y="12595"/>
                  <a:pt x="17590" y="13460"/>
                </a:cubicBezTo>
                <a:lnTo>
                  <a:pt x="15240" y="21820"/>
                </a:lnTo>
                <a:cubicBezTo>
                  <a:pt x="15209" y="21927"/>
                  <a:pt x="15111" y="22000"/>
                  <a:pt x="15000" y="22000"/>
                </a:cubicBezTo>
                <a:cubicBezTo>
                  <a:pt x="14889" y="22000"/>
                  <a:pt x="14791" y="21927"/>
                  <a:pt x="14760" y="21820"/>
                </a:cubicBezTo>
                <a:lnTo>
                  <a:pt x="9240" y="2180"/>
                </a:lnTo>
                <a:cubicBezTo>
                  <a:pt x="9209" y="2073"/>
                  <a:pt x="9111" y="2000"/>
                  <a:pt x="9000" y="2000"/>
                </a:cubicBezTo>
                <a:cubicBezTo>
                  <a:pt x="8889" y="2000"/>
                  <a:pt x="8791" y="2073"/>
                  <a:pt x="8760" y="2180"/>
                </a:cubicBezTo>
                <a:lnTo>
                  <a:pt x="6410" y="10540"/>
                </a:lnTo>
                <a:cubicBezTo>
                  <a:pt x="6168" y="11401"/>
                  <a:pt x="5384" y="11997"/>
                  <a:pt x="4490" y="12000"/>
                </a:cubicBezTo>
                <a:lnTo>
                  <a:pt x="2000" y="12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109" name="slot.input.sample.2.label"/>
          <p:cNvSpPr txBox="1"/>
          <p:nvPr/>
        </p:nvSpPr>
        <p:spPr>
          <a:xfrm>
            <a:off x="2172123" y="4837176"/>
            <a:ext cx="1313558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Daily store feeds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slot.method.legend.1.icon"/>
          <p:cNvSpPr/>
          <p:nvPr/>
        </p:nvSpPr>
        <p:spPr>
          <a:xfrm>
            <a:off x="6258594" y="1417320"/>
            <a:ext cx="128016" cy="12801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8000"/>
                </a:moveTo>
                <a:lnTo>
                  <a:pt x="22000" y="12000"/>
                </a:lnTo>
                <a:lnTo>
                  <a:pt x="16000" y="6000"/>
                </a:lnTo>
                <a:moveTo>
                  <a:pt x="8000" y="6000"/>
                </a:moveTo>
                <a:lnTo>
                  <a:pt x="2000" y="12000"/>
                </a:lnTo>
                <a:lnTo>
                  <a:pt x="8000" y="18000"/>
                </a:lnTo>
              </a:path>
            </a:pathLst>
          </a:custGeom>
          <a:noFill/>
          <a:ln w="10795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11" name="slot.method.legend.2.icon"/>
          <p:cNvSpPr/>
          <p:nvPr/>
        </p:nvSpPr>
        <p:spPr>
          <a:xfrm>
            <a:off x="6869763" y="1417320"/>
            <a:ext cx="128016" cy="12801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0795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12" name="slot.method.legend.3.icon"/>
          <p:cNvSpPr/>
          <p:nvPr/>
        </p:nvSpPr>
        <p:spPr>
          <a:xfrm>
            <a:off x="7526542" y="1417320"/>
            <a:ext cx="128016" cy="12801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0795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13" name="slot.step.1.body"/>
          <p:cNvSpPr txBox="1"/>
          <p:nvPr/>
        </p:nvSpPr>
        <p:spPr>
          <a:xfrm>
            <a:off x="4534703" y="1938528"/>
            <a:ext cx="1824386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Units aligned, gaps filled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slot.step.1.mark.1"/>
          <p:cNvSpPr/>
          <p:nvPr/>
        </p:nvSpPr>
        <p:spPr>
          <a:xfrm>
            <a:off x="6395400" y="1856232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8000"/>
                </a:moveTo>
                <a:lnTo>
                  <a:pt x="22000" y="12000"/>
                </a:lnTo>
                <a:lnTo>
                  <a:pt x="16000" y="6000"/>
                </a:lnTo>
                <a:moveTo>
                  <a:pt x="8000" y="6000"/>
                </a:moveTo>
                <a:lnTo>
                  <a:pt x="2000" y="12000"/>
                </a:lnTo>
                <a:lnTo>
                  <a:pt x="8000" y="18000"/>
                </a:lnTo>
              </a:path>
            </a:pathLst>
          </a:custGeom>
          <a:noFill/>
          <a:ln w="12065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15" name="slot.step.1.mark.2"/>
          <p:cNvSpPr/>
          <p:nvPr/>
        </p:nvSpPr>
        <p:spPr>
          <a:xfrm>
            <a:off x="6596083" y="1856232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16" name="slot.step.2.body"/>
          <p:cNvSpPr txBox="1"/>
          <p:nvPr/>
        </p:nvSpPr>
        <p:spPr>
          <a:xfrm>
            <a:off x="4534703" y="2542032"/>
            <a:ext cx="1824386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Seasonality tagged by item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slot.step.2.mark.1"/>
          <p:cNvSpPr/>
          <p:nvPr/>
        </p:nvSpPr>
        <p:spPr>
          <a:xfrm>
            <a:off x="6596083" y="2459736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8000"/>
                </a:moveTo>
                <a:lnTo>
                  <a:pt x="22000" y="12000"/>
                </a:lnTo>
                <a:lnTo>
                  <a:pt x="16000" y="6000"/>
                </a:lnTo>
                <a:moveTo>
                  <a:pt x="8000" y="6000"/>
                </a:moveTo>
                <a:lnTo>
                  <a:pt x="2000" y="12000"/>
                </a:lnTo>
                <a:lnTo>
                  <a:pt x="8000" y="18000"/>
                </a:lnTo>
              </a:path>
            </a:pathLst>
          </a:custGeom>
          <a:noFill/>
          <a:ln w="12065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18" name="slot.step.3.body"/>
          <p:cNvSpPr txBox="1"/>
          <p:nvPr/>
        </p:nvSpPr>
        <p:spPr>
          <a:xfrm>
            <a:off x="4534703" y="3145536"/>
            <a:ext cx="1824386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Forecast per product line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slot.step.3.mark.1"/>
          <p:cNvSpPr/>
          <p:nvPr/>
        </p:nvSpPr>
        <p:spPr>
          <a:xfrm>
            <a:off x="6596083" y="3063240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8000"/>
                </a:moveTo>
                <a:lnTo>
                  <a:pt x="22000" y="12000"/>
                </a:lnTo>
                <a:lnTo>
                  <a:pt x="16000" y="6000"/>
                </a:lnTo>
                <a:moveTo>
                  <a:pt x="8000" y="6000"/>
                </a:moveTo>
                <a:lnTo>
                  <a:pt x="2000" y="12000"/>
                </a:lnTo>
                <a:lnTo>
                  <a:pt x="8000" y="18000"/>
                </a:lnTo>
              </a:path>
            </a:pathLst>
          </a:custGeom>
          <a:noFill/>
          <a:ln w="12065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20" name="slot.step.4.body"/>
          <p:cNvSpPr txBox="1"/>
          <p:nvPr/>
        </p:nvSpPr>
        <p:spPr>
          <a:xfrm>
            <a:off x="4534703" y="3749040"/>
            <a:ext cx="1824386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Trends shift the baseline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slot.step.4.mark.1"/>
          <p:cNvSpPr/>
          <p:nvPr/>
        </p:nvSpPr>
        <p:spPr>
          <a:xfrm>
            <a:off x="6596083" y="3666744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8000"/>
                </a:moveTo>
                <a:lnTo>
                  <a:pt x="22000" y="12000"/>
                </a:lnTo>
                <a:lnTo>
                  <a:pt x="16000" y="6000"/>
                </a:lnTo>
                <a:moveTo>
                  <a:pt x="8000" y="6000"/>
                </a:moveTo>
                <a:lnTo>
                  <a:pt x="2000" y="12000"/>
                </a:lnTo>
                <a:lnTo>
                  <a:pt x="8000" y="18000"/>
                </a:lnTo>
              </a:path>
            </a:pathLst>
          </a:custGeom>
          <a:noFill/>
          <a:ln w="12065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22" name="slot.step.5.body"/>
          <p:cNvSpPr txBox="1"/>
          <p:nvPr/>
        </p:nvSpPr>
        <p:spPr>
          <a:xfrm>
            <a:off x="4534703" y="4352544"/>
            <a:ext cx="1824386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 reason drafted per shift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slot.step.5.mark.1"/>
          <p:cNvSpPr/>
          <p:nvPr/>
        </p:nvSpPr>
        <p:spPr>
          <a:xfrm>
            <a:off x="6596083" y="4270248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2065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24" name="slot.step.6.body"/>
          <p:cNvSpPr txBox="1"/>
          <p:nvPr/>
        </p:nvSpPr>
        <p:spPr>
          <a:xfrm>
            <a:off x="4534703" y="4956048"/>
            <a:ext cx="1824386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Overrides logged and dated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slot.step.6.mark.1"/>
          <p:cNvSpPr/>
          <p:nvPr/>
        </p:nvSpPr>
        <p:spPr>
          <a:xfrm>
            <a:off x="6596083" y="4873752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2065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26" name="struct.method.proof.1.zone"/>
          <p:cNvSpPr/>
          <p:nvPr/>
        </p:nvSpPr>
        <p:spPr>
          <a:xfrm>
            <a:off x="6961137" y="1719072"/>
            <a:ext cx="1249705" cy="1042416"/>
          </a:xfrm>
          <a:prstGeom prst="roundRect">
            <a:avLst>
              <a:gd name="adj" fmla="val 5263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127" name="slot.method.proof.1.icon"/>
          <p:cNvSpPr/>
          <p:nvPr/>
        </p:nvSpPr>
        <p:spPr>
          <a:xfrm>
            <a:off x="7448829" y="200253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3000"/>
                </a:moveTo>
                <a:lnTo>
                  <a:pt x="12000" y="21000"/>
                </a:lnTo>
                <a:moveTo>
                  <a:pt x="5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  <a:moveTo>
                  <a:pt x="3000" y="9000"/>
                </a:moveTo>
                <a:lnTo>
                  <a:pt x="21000" y="9000"/>
                </a:lnTo>
                <a:moveTo>
                  <a:pt x="3000" y="15000"/>
                </a:moveTo>
                <a:lnTo>
                  <a:pt x="21000" y="15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128" name="slot.method.proof.1.label"/>
          <p:cNvSpPr txBox="1"/>
          <p:nvPr/>
        </p:nvSpPr>
        <p:spPr>
          <a:xfrm>
            <a:off x="7015868" y="2313432"/>
            <a:ext cx="1140241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Joined dataset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struct.method.proof.2.zone"/>
          <p:cNvSpPr/>
          <p:nvPr/>
        </p:nvSpPr>
        <p:spPr>
          <a:xfrm>
            <a:off x="6961137" y="2944368"/>
            <a:ext cx="1249705" cy="1042416"/>
          </a:xfrm>
          <a:prstGeom prst="roundRect">
            <a:avLst>
              <a:gd name="adj" fmla="val 5263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130" name="slot.method.proof.2.icon"/>
          <p:cNvSpPr/>
          <p:nvPr/>
        </p:nvSpPr>
        <p:spPr>
          <a:xfrm>
            <a:off x="7448829" y="322783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3000"/>
                </a:moveTo>
                <a:lnTo>
                  <a:pt x="3000" y="19000"/>
                </a:lnTo>
                <a:cubicBezTo>
                  <a:pt x="3000" y="20105"/>
                  <a:pt x="3895" y="21000"/>
                  <a:pt x="5000" y="21000"/>
                </a:cubicBezTo>
                <a:lnTo>
                  <a:pt x="21000" y="21000"/>
                </a:lnTo>
                <a:moveTo>
                  <a:pt x="19000" y="9000"/>
                </a:moveTo>
                <a:lnTo>
                  <a:pt x="14000" y="14000"/>
                </a:lnTo>
                <a:lnTo>
                  <a:pt x="10000" y="10000"/>
                </a:lnTo>
                <a:lnTo>
                  <a:pt x="7000" y="13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131" name="slot.method.proof.2.label"/>
          <p:cNvSpPr txBox="1"/>
          <p:nvPr/>
        </p:nvSpPr>
        <p:spPr>
          <a:xfrm>
            <a:off x="7015868" y="3538728"/>
            <a:ext cx="1140241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Baseline forecast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struct.method.proof.3.zone"/>
          <p:cNvSpPr/>
          <p:nvPr/>
        </p:nvSpPr>
        <p:spPr>
          <a:xfrm>
            <a:off x="6961137" y="4142232"/>
            <a:ext cx="1249705" cy="1042416"/>
          </a:xfrm>
          <a:prstGeom prst="roundRect">
            <a:avLst>
              <a:gd name="adj" fmla="val 5263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133" name="slot.method.proof.3.icon"/>
          <p:cNvSpPr/>
          <p:nvPr/>
        </p:nvSpPr>
        <p:spPr>
          <a:xfrm>
            <a:off x="7448829" y="442569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134" name="slot.method.proof.3.label"/>
          <p:cNvSpPr txBox="1"/>
          <p:nvPr/>
        </p:nvSpPr>
        <p:spPr>
          <a:xfrm>
            <a:off x="7015868" y="4736592"/>
            <a:ext cx="1140241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Change notes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struct.handoff.1.mark"/>
          <p:cNvSpPr/>
          <p:nvPr/>
        </p:nvSpPr>
        <p:spPr>
          <a:xfrm>
            <a:off x="3786528" y="3182112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12065" cap="rnd">
            <a:solidFill>
              <a:schemeClr val="accent1"/>
            </a:solidFill>
            <a:round/>
          </a:ln>
          <a:effectLst/>
        </p:spPr>
      </p:sp>
      <p:sp>
        <p:nvSpPr>
          <p:cNvPr id="136" name="struct.handoff.2.mark"/>
          <p:cNvSpPr/>
          <p:nvPr/>
        </p:nvSpPr>
        <p:spPr>
          <a:xfrm>
            <a:off x="8548176" y="3182112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12065" cap="rnd">
            <a:solidFill>
              <a:schemeClr val="accent1"/>
            </a:solidFill>
            <a:round/>
          </a:ln>
          <a:effectLst/>
        </p:spPr>
      </p:sp>
      <p:sp>
        <p:nvSpPr>
          <p:cNvPr id="137" name="slot.output.1.icon"/>
          <p:cNvSpPr/>
          <p:nvPr/>
        </p:nvSpPr>
        <p:spPr>
          <a:xfrm>
            <a:off x="8867444" y="1527048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4000" y="3000"/>
                </a:moveTo>
                <a:lnTo>
                  <a:pt x="9000" y="3000"/>
                </a:lnTo>
                <a:cubicBezTo>
                  <a:pt x="9552" y="3000"/>
                  <a:pt x="10000" y="3448"/>
                  <a:pt x="10000" y="4000"/>
                </a:cubicBezTo>
                <a:lnTo>
                  <a:pt x="10000" y="11000"/>
                </a:lnTo>
                <a:cubicBezTo>
                  <a:pt x="10000" y="11552"/>
                  <a:pt x="9552" y="12000"/>
                  <a:pt x="9000" y="12000"/>
                </a:cubicBezTo>
                <a:lnTo>
                  <a:pt x="4000" y="12000"/>
                </a:lnTo>
                <a:cubicBezTo>
                  <a:pt x="3448" y="12000"/>
                  <a:pt x="3000" y="11552"/>
                  <a:pt x="3000" y="11000"/>
                </a:cubicBezTo>
                <a:lnTo>
                  <a:pt x="3000" y="4000"/>
                </a:lnTo>
                <a:cubicBezTo>
                  <a:pt x="3000" y="3448"/>
                  <a:pt x="3448" y="3000"/>
                  <a:pt x="4000" y="3000"/>
                </a:cubicBezTo>
                <a:close/>
                <a:moveTo>
                  <a:pt x="15000" y="3000"/>
                </a:moveTo>
                <a:lnTo>
                  <a:pt x="20000" y="3000"/>
                </a:lnTo>
                <a:cubicBezTo>
                  <a:pt x="20552" y="3000"/>
                  <a:pt x="21000" y="3448"/>
                  <a:pt x="21000" y="4000"/>
                </a:cubicBezTo>
                <a:lnTo>
                  <a:pt x="21000" y="7000"/>
                </a:lnTo>
                <a:cubicBezTo>
                  <a:pt x="21000" y="7552"/>
                  <a:pt x="20552" y="8000"/>
                  <a:pt x="20000" y="8000"/>
                </a:cubicBezTo>
                <a:lnTo>
                  <a:pt x="15000" y="8000"/>
                </a:lnTo>
                <a:cubicBezTo>
                  <a:pt x="14448" y="8000"/>
                  <a:pt x="14000" y="7552"/>
                  <a:pt x="14000" y="7000"/>
                </a:cubicBezTo>
                <a:lnTo>
                  <a:pt x="14000" y="4000"/>
                </a:lnTo>
                <a:cubicBezTo>
                  <a:pt x="14000" y="3448"/>
                  <a:pt x="14448" y="3000"/>
                  <a:pt x="15000" y="3000"/>
                </a:cubicBezTo>
                <a:close/>
                <a:moveTo>
                  <a:pt x="15000" y="12000"/>
                </a:moveTo>
                <a:lnTo>
                  <a:pt x="20000" y="12000"/>
                </a:lnTo>
                <a:cubicBezTo>
                  <a:pt x="20552" y="12000"/>
                  <a:pt x="21000" y="12448"/>
                  <a:pt x="21000" y="13000"/>
                </a:cubicBezTo>
                <a:lnTo>
                  <a:pt x="21000" y="20000"/>
                </a:lnTo>
                <a:cubicBezTo>
                  <a:pt x="21000" y="20552"/>
                  <a:pt x="20552" y="21000"/>
                  <a:pt x="20000" y="21000"/>
                </a:cubicBezTo>
                <a:lnTo>
                  <a:pt x="15000" y="21000"/>
                </a:lnTo>
                <a:cubicBezTo>
                  <a:pt x="14448" y="21000"/>
                  <a:pt x="14000" y="20552"/>
                  <a:pt x="14000" y="20000"/>
                </a:cubicBezTo>
                <a:lnTo>
                  <a:pt x="14000" y="13000"/>
                </a:lnTo>
                <a:cubicBezTo>
                  <a:pt x="14000" y="12448"/>
                  <a:pt x="14448" y="12000"/>
                  <a:pt x="15000" y="12000"/>
                </a:cubicBezTo>
                <a:close/>
                <a:moveTo>
                  <a:pt x="4000" y="16000"/>
                </a:moveTo>
                <a:lnTo>
                  <a:pt x="9000" y="16000"/>
                </a:lnTo>
                <a:cubicBezTo>
                  <a:pt x="9552" y="16000"/>
                  <a:pt x="10000" y="16448"/>
                  <a:pt x="10000" y="17000"/>
                </a:cubicBezTo>
                <a:lnTo>
                  <a:pt x="10000" y="20000"/>
                </a:lnTo>
                <a:cubicBezTo>
                  <a:pt x="10000" y="20552"/>
                  <a:pt x="9552" y="21000"/>
                  <a:pt x="9000" y="21000"/>
                </a:cubicBezTo>
                <a:lnTo>
                  <a:pt x="4000" y="21000"/>
                </a:lnTo>
                <a:cubicBezTo>
                  <a:pt x="3448" y="21000"/>
                  <a:pt x="3000" y="20552"/>
                  <a:pt x="3000" y="20000"/>
                </a:cubicBezTo>
                <a:lnTo>
                  <a:pt x="3000" y="17000"/>
                </a:lnTo>
                <a:cubicBezTo>
                  <a:pt x="3000" y="16448"/>
                  <a:pt x="3448" y="16000"/>
                  <a:pt x="4000" y="16000"/>
                </a:cubicBezTo>
                <a:close/>
              </a:path>
            </a:pathLst>
          </a:custGeom>
          <a:noFill/>
          <a:ln w="12065" cap="rnd">
            <a:solidFill>
              <a:schemeClr val="accent1"/>
            </a:solidFill>
            <a:round/>
          </a:ln>
          <a:effectLst/>
        </p:spPr>
      </p:sp>
      <p:sp>
        <p:nvSpPr>
          <p:cNvPr id="138" name="slot.output.2.icon"/>
          <p:cNvSpPr/>
          <p:nvPr/>
        </p:nvSpPr>
        <p:spPr>
          <a:xfrm>
            <a:off x="8867444" y="2816352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730" y="18000"/>
                </a:moveTo>
                <a:lnTo>
                  <a:pt x="13730" y="4000"/>
                </a:lnTo>
                <a:cubicBezTo>
                  <a:pt x="13375" y="3373"/>
                  <a:pt x="12710" y="2986"/>
                  <a:pt x="11990" y="2986"/>
                </a:cubicBezTo>
                <a:cubicBezTo>
                  <a:pt x="11270" y="2986"/>
                  <a:pt x="10605" y="3373"/>
                  <a:pt x="10250" y="4000"/>
                </a:cubicBezTo>
                <a:lnTo>
                  <a:pt x="2250" y="18000"/>
                </a:lnTo>
                <a:cubicBezTo>
                  <a:pt x="1891" y="18622"/>
                  <a:pt x="1893" y="19388"/>
                  <a:pt x="2254" y="20008"/>
                </a:cubicBezTo>
                <a:cubicBezTo>
                  <a:pt x="2616" y="20628"/>
                  <a:pt x="3282" y="21006"/>
                  <a:pt x="4000" y="21000"/>
                </a:cubicBezTo>
                <a:lnTo>
                  <a:pt x="20000" y="21000"/>
                </a:lnTo>
                <a:cubicBezTo>
                  <a:pt x="20714" y="20999"/>
                  <a:pt x="21374" y="20618"/>
                  <a:pt x="21731" y="19999"/>
                </a:cubicBezTo>
                <a:cubicBezTo>
                  <a:pt x="22087" y="19380"/>
                  <a:pt x="22087" y="18618"/>
                  <a:pt x="21730" y="18000"/>
                </a:cubicBezTo>
                <a:moveTo>
                  <a:pt x="12000" y="9000"/>
                </a:moveTo>
                <a:lnTo>
                  <a:pt x="12000" y="13000"/>
                </a:lnTo>
                <a:moveTo>
                  <a:pt x="12000" y="17000"/>
                </a:moveTo>
                <a:lnTo>
                  <a:pt x="12010" y="17000"/>
                </a:lnTo>
              </a:path>
            </a:pathLst>
          </a:custGeom>
          <a:noFill/>
          <a:ln w="12065" cap="rnd">
            <a:solidFill>
              <a:schemeClr val="accent1"/>
            </a:solidFill>
            <a:round/>
          </a:ln>
          <a:effectLst/>
        </p:spPr>
      </p:sp>
      <p:sp>
        <p:nvSpPr>
          <p:cNvPr id="139" name="slot.output.3.icon"/>
          <p:cNvSpPr/>
          <p:nvPr/>
        </p:nvSpPr>
        <p:spPr>
          <a:xfrm>
            <a:off x="8867444" y="4105656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12065" cap="rnd">
            <a:solidFill>
              <a:schemeClr val="accent1"/>
            </a:solidFill>
            <a:round/>
          </a:ln>
          <a:effectLst/>
        </p:spPr>
      </p:sp>
      <p:sp>
        <p:nvSpPr>
          <p:cNvPr id="140" name="struct.output.proof.1.zone"/>
          <p:cNvSpPr/>
          <p:nvPr/>
        </p:nvSpPr>
        <p:spPr>
          <a:xfrm>
            <a:off x="9442302" y="2020824"/>
            <a:ext cx="1413899" cy="713232"/>
          </a:xfrm>
          <a:prstGeom prst="roundRect">
            <a:avLst>
              <a:gd name="adj" fmla="val 769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141" name="slot.output.proof.1.icon"/>
          <p:cNvSpPr/>
          <p:nvPr/>
        </p:nvSpPr>
        <p:spPr>
          <a:xfrm>
            <a:off x="10012091" y="213969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3000"/>
                </a:moveTo>
                <a:lnTo>
                  <a:pt x="3000" y="19000"/>
                </a:lnTo>
                <a:cubicBezTo>
                  <a:pt x="3000" y="20105"/>
                  <a:pt x="3895" y="21000"/>
                  <a:pt x="5000" y="21000"/>
                </a:cubicBezTo>
                <a:lnTo>
                  <a:pt x="21000" y="21000"/>
                </a:lnTo>
                <a:moveTo>
                  <a:pt x="18000" y="17000"/>
                </a:moveTo>
                <a:lnTo>
                  <a:pt x="18000" y="9000"/>
                </a:lnTo>
                <a:moveTo>
                  <a:pt x="13000" y="17000"/>
                </a:moveTo>
                <a:lnTo>
                  <a:pt x="13000" y="5000"/>
                </a:lnTo>
                <a:moveTo>
                  <a:pt x="8000" y="17000"/>
                </a:moveTo>
                <a:lnTo>
                  <a:pt x="8000" y="14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142" name="slot.output.proof.1.label"/>
          <p:cNvSpPr txBox="1"/>
          <p:nvPr/>
        </p:nvSpPr>
        <p:spPr>
          <a:xfrm>
            <a:off x="9497033" y="2450592"/>
            <a:ext cx="1304436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Plan view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struct.output.proof.2.zone"/>
          <p:cNvSpPr/>
          <p:nvPr/>
        </p:nvSpPr>
        <p:spPr>
          <a:xfrm>
            <a:off x="9442302" y="3310128"/>
            <a:ext cx="1413899" cy="713232"/>
          </a:xfrm>
          <a:prstGeom prst="roundRect">
            <a:avLst>
              <a:gd name="adj" fmla="val 769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144" name="slot.output.proof.2.icon"/>
          <p:cNvSpPr/>
          <p:nvPr/>
        </p:nvSpPr>
        <p:spPr>
          <a:xfrm>
            <a:off x="10012091" y="342900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000" y="5000"/>
                </a:moveTo>
                <a:lnTo>
                  <a:pt x="21000" y="5000"/>
                </a:lnTo>
                <a:moveTo>
                  <a:pt x="13000" y="12000"/>
                </a:moveTo>
                <a:lnTo>
                  <a:pt x="21000" y="12000"/>
                </a:lnTo>
                <a:moveTo>
                  <a:pt x="13000" y="19000"/>
                </a:moveTo>
                <a:lnTo>
                  <a:pt x="21000" y="19000"/>
                </a:lnTo>
                <a:moveTo>
                  <a:pt x="3000" y="17000"/>
                </a:moveTo>
                <a:lnTo>
                  <a:pt x="5000" y="19000"/>
                </a:lnTo>
                <a:lnTo>
                  <a:pt x="9000" y="15000"/>
                </a:lnTo>
                <a:moveTo>
                  <a:pt x="3000" y="7000"/>
                </a:moveTo>
                <a:lnTo>
                  <a:pt x="5000" y="9000"/>
                </a:lnTo>
                <a:lnTo>
                  <a:pt x="9000" y="5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145" name="slot.output.proof.2.label"/>
          <p:cNvSpPr txBox="1"/>
          <p:nvPr/>
        </p:nvSpPr>
        <p:spPr>
          <a:xfrm>
            <a:off x="9497033" y="3739896"/>
            <a:ext cx="1304436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Flag queue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struct.output.proof.3.zone"/>
          <p:cNvSpPr/>
          <p:nvPr/>
        </p:nvSpPr>
        <p:spPr>
          <a:xfrm>
            <a:off x="8986205" y="4599432"/>
            <a:ext cx="930437" cy="640080"/>
          </a:xfrm>
          <a:prstGeom prst="roundRect">
            <a:avLst>
              <a:gd name="adj" fmla="val 8571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147" name="slot.output.proof.3.icon"/>
          <p:cNvSpPr/>
          <p:nvPr/>
        </p:nvSpPr>
        <p:spPr>
          <a:xfrm>
            <a:off x="9305120" y="4773168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</p:sp>
      <p:sp>
        <p:nvSpPr>
          <p:cNvPr id="148" name="slot.reuse.icon"/>
          <p:cNvSpPr/>
          <p:nvPr/>
        </p:nvSpPr>
        <p:spPr>
          <a:xfrm>
            <a:off x="712471" y="5596128"/>
            <a:ext cx="118872" cy="1188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000" y="22000"/>
                </a:moveTo>
                <a:lnTo>
                  <a:pt x="10000" y="7000"/>
                </a:lnTo>
                <a:cubicBezTo>
                  <a:pt x="10000" y="6448"/>
                  <a:pt x="9552" y="6000"/>
                  <a:pt x="9000" y="6000"/>
                </a:cubicBezTo>
                <a:lnTo>
                  <a:pt x="4000" y="6000"/>
                </a:lnTo>
                <a:cubicBezTo>
                  <a:pt x="2895" y="6000"/>
                  <a:pt x="2000" y="6895"/>
                  <a:pt x="2000" y="8000"/>
                </a:cubicBezTo>
                <a:lnTo>
                  <a:pt x="2000" y="20000"/>
                </a:lnTo>
                <a:cubicBezTo>
                  <a:pt x="2000" y="21105"/>
                  <a:pt x="2895" y="22000"/>
                  <a:pt x="4000" y="22000"/>
                </a:cubicBezTo>
                <a:lnTo>
                  <a:pt x="16000" y="22000"/>
                </a:lnTo>
                <a:cubicBezTo>
                  <a:pt x="17105" y="22000"/>
                  <a:pt x="18000" y="21105"/>
                  <a:pt x="18000" y="20000"/>
                </a:cubicBezTo>
                <a:lnTo>
                  <a:pt x="18000" y="15000"/>
                </a:lnTo>
                <a:cubicBezTo>
                  <a:pt x="18000" y="14448"/>
                  <a:pt x="17552" y="14000"/>
                  <a:pt x="17000" y="14000"/>
                </a:cubicBezTo>
                <a:lnTo>
                  <a:pt x="2000" y="14000"/>
                </a:lnTo>
                <a:moveTo>
                  <a:pt x="15000" y="2000"/>
                </a:moveTo>
                <a:lnTo>
                  <a:pt x="21000" y="2000"/>
                </a:lnTo>
                <a:cubicBezTo>
                  <a:pt x="21552" y="2000"/>
                  <a:pt x="22000" y="2448"/>
                  <a:pt x="22000" y="3000"/>
                </a:cubicBezTo>
                <a:lnTo>
                  <a:pt x="22000" y="9000"/>
                </a:lnTo>
                <a:cubicBezTo>
                  <a:pt x="22000" y="9552"/>
                  <a:pt x="21552" y="10000"/>
                  <a:pt x="21000" y="10000"/>
                </a:cubicBezTo>
                <a:lnTo>
                  <a:pt x="15000" y="10000"/>
                </a:lnTo>
                <a:cubicBezTo>
                  <a:pt x="14448" y="10000"/>
                  <a:pt x="14000" y="9552"/>
                  <a:pt x="14000" y="9000"/>
                </a:cubicBezTo>
                <a:lnTo>
                  <a:pt x="14000" y="3000"/>
                </a:lnTo>
                <a:cubicBezTo>
                  <a:pt x="14000" y="2448"/>
                  <a:pt x="14448" y="2000"/>
                  <a:pt x="15000" y="2000"/>
                </a:cubicBezTo>
                <a:close/>
              </a:path>
            </a:pathLst>
          </a:custGeom>
          <a:noFill/>
          <a:ln w="10160" cap="rnd">
            <a:solidFill>
              <a:schemeClr val="accent1"/>
            </a:solidFill>
            <a:round/>
          </a:ln>
          <a:effectLst/>
        </p:spPr>
      </p:sp>
      <p:sp>
        <p:nvSpPr>
          <p:cNvPr id="149" name="slot.uses.icon"/>
          <p:cNvSpPr/>
          <p:nvPr/>
        </p:nvSpPr>
        <p:spPr>
          <a:xfrm>
            <a:off x="6404555" y="5596128"/>
            <a:ext cx="118872" cy="1188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240" y="7760"/>
                </a:moveTo>
                <a:lnTo>
                  <a:pt x="14436" y="13171"/>
                </a:lnTo>
                <a:cubicBezTo>
                  <a:pt x="14237" y="13768"/>
                  <a:pt x="13768" y="14237"/>
                  <a:pt x="13171" y="14436"/>
                </a:cubicBezTo>
                <a:lnTo>
                  <a:pt x="7760" y="16240"/>
                </a:lnTo>
                <a:lnTo>
                  <a:pt x="9564" y="10829"/>
                </a:lnTo>
                <a:cubicBezTo>
                  <a:pt x="9763" y="10232"/>
                  <a:pt x="10232" y="9763"/>
                  <a:pt x="10829" y="9564"/>
                </a:cubicBezTo>
                <a:close/>
              </a:path>
            </a:pathLst>
          </a:custGeom>
          <a:noFill/>
          <a:ln w="10160" cap="rnd">
            <a:solidFill>
              <a:schemeClr val="accent1"/>
            </a:solidFill>
            <a:round/>
          </a:ln>
          <a:effectLst/>
        </p:spPr>
      </p:sp>
      <p:sp>
        <p:nvSpPr>
          <p:cNvPr id="150" name="slot.reuse.1.icon"/>
          <p:cNvSpPr/>
          <p:nvPr/>
        </p:nvSpPr>
        <p:spPr>
          <a:xfrm>
            <a:off x="685094" y="5925312"/>
            <a:ext cx="128016" cy="12801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17" y="2814"/>
                </a:moveTo>
                <a:cubicBezTo>
                  <a:pt x="11105" y="2341"/>
                  <a:pt x="11519" y="1998"/>
                  <a:pt x="12000" y="1998"/>
                </a:cubicBezTo>
                <a:cubicBezTo>
                  <a:pt x="12481" y="1998"/>
                  <a:pt x="12895" y="2341"/>
                  <a:pt x="12983" y="2814"/>
                </a:cubicBezTo>
                <a:lnTo>
                  <a:pt x="14034" y="8372"/>
                </a:lnTo>
                <a:cubicBezTo>
                  <a:pt x="14187" y="9181"/>
                  <a:pt x="14819" y="9813"/>
                  <a:pt x="15628" y="9966"/>
                </a:cubicBezTo>
                <a:lnTo>
                  <a:pt x="21186" y="11017"/>
                </a:lnTo>
                <a:cubicBezTo>
                  <a:pt x="21659" y="11105"/>
                  <a:pt x="22002" y="11519"/>
                  <a:pt x="22002" y="12000"/>
                </a:cubicBezTo>
                <a:cubicBezTo>
                  <a:pt x="22002" y="12481"/>
                  <a:pt x="21659" y="12895"/>
                  <a:pt x="21186" y="12983"/>
                </a:cubicBezTo>
                <a:lnTo>
                  <a:pt x="15628" y="14034"/>
                </a:lnTo>
                <a:cubicBezTo>
                  <a:pt x="14819" y="14187"/>
                  <a:pt x="14187" y="14819"/>
                  <a:pt x="14034" y="15628"/>
                </a:cubicBezTo>
                <a:lnTo>
                  <a:pt x="12983" y="21186"/>
                </a:lnTo>
                <a:cubicBezTo>
                  <a:pt x="12895" y="21659"/>
                  <a:pt x="12481" y="22002"/>
                  <a:pt x="12000" y="22002"/>
                </a:cubicBezTo>
                <a:cubicBezTo>
                  <a:pt x="11519" y="22002"/>
                  <a:pt x="11105" y="21659"/>
                  <a:pt x="11017" y="21186"/>
                </a:cubicBezTo>
                <a:lnTo>
                  <a:pt x="9966" y="15628"/>
                </a:lnTo>
                <a:cubicBezTo>
                  <a:pt x="9813" y="14819"/>
                  <a:pt x="9181" y="14187"/>
                  <a:pt x="8372" y="14034"/>
                </a:cubicBezTo>
                <a:lnTo>
                  <a:pt x="2814" y="12983"/>
                </a:lnTo>
                <a:cubicBezTo>
                  <a:pt x="2341" y="12895"/>
                  <a:pt x="1998" y="12481"/>
                  <a:pt x="1998" y="12000"/>
                </a:cubicBezTo>
                <a:cubicBezTo>
                  <a:pt x="1998" y="11519"/>
                  <a:pt x="2341" y="11105"/>
                  <a:pt x="2814" y="11017"/>
                </a:cubicBezTo>
                <a:lnTo>
                  <a:pt x="8372" y="9966"/>
                </a:lnTo>
                <a:cubicBezTo>
                  <a:pt x="9181" y="9813"/>
                  <a:pt x="9813" y="9181"/>
                  <a:pt x="9966" y="8372"/>
                </a:cubicBezTo>
                <a:close/>
                <a:moveTo>
                  <a:pt x="20000" y="2000"/>
                </a:moveTo>
                <a:lnTo>
                  <a:pt x="20000" y="6000"/>
                </a:lnTo>
                <a:moveTo>
                  <a:pt x="22000" y="4000"/>
                </a:moveTo>
                <a:lnTo>
                  <a:pt x="18000" y="4000"/>
                </a:lnTo>
                <a:moveTo>
                  <a:pt x="6000" y="20000"/>
                </a:moveTo>
                <a:cubicBezTo>
                  <a:pt x="6000" y="21105"/>
                  <a:pt x="5105" y="22000"/>
                  <a:pt x="4000" y="22000"/>
                </a:cubicBezTo>
                <a:cubicBezTo>
                  <a:pt x="2895" y="22000"/>
                  <a:pt x="2000" y="21105"/>
                  <a:pt x="2000" y="20000"/>
                </a:cubicBezTo>
                <a:cubicBezTo>
                  <a:pt x="2000" y="18895"/>
                  <a:pt x="2895" y="18000"/>
                  <a:pt x="4000" y="18000"/>
                </a:cubicBezTo>
                <a:cubicBezTo>
                  <a:pt x="5105" y="18000"/>
                  <a:pt x="6000" y="18895"/>
                  <a:pt x="6000" y="20000"/>
                </a:cubicBezTo>
                <a:close/>
              </a:path>
            </a:pathLst>
          </a:custGeom>
          <a:noFill/>
          <a:ln w="10795" cap="rnd">
            <a:solidFill>
              <a:schemeClr val="accent1"/>
            </a:solidFill>
            <a:round/>
          </a:ln>
          <a:effectLst/>
        </p:spPr>
      </p:sp>
      <p:sp>
        <p:nvSpPr>
          <p:cNvPr id="151" name="slot.reuse.2.icon"/>
          <p:cNvSpPr/>
          <p:nvPr/>
        </p:nvSpPr>
        <p:spPr>
          <a:xfrm>
            <a:off x="2048822" y="5925312"/>
            <a:ext cx="128016" cy="12801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21000"/>
                </a:moveTo>
                <a:lnTo>
                  <a:pt x="16660" y="16660"/>
                </a:lnTo>
                <a:moveTo>
                  <a:pt x="19000" y="11000"/>
                </a:moveTo>
                <a:cubicBezTo>
                  <a:pt x="19000" y="15418"/>
                  <a:pt x="15418" y="19000"/>
                  <a:pt x="11000" y="19000"/>
                </a:cubicBezTo>
                <a:cubicBezTo>
                  <a:pt x="6582" y="19000"/>
                  <a:pt x="3000" y="15418"/>
                  <a:pt x="3000" y="11000"/>
                </a:cubicBezTo>
                <a:cubicBezTo>
                  <a:pt x="3000" y="6582"/>
                  <a:pt x="6582" y="3000"/>
                  <a:pt x="11000" y="3000"/>
                </a:cubicBezTo>
                <a:cubicBezTo>
                  <a:pt x="15418" y="3000"/>
                  <a:pt x="19000" y="6582"/>
                  <a:pt x="19000" y="11000"/>
                </a:cubicBezTo>
                <a:close/>
              </a:path>
            </a:pathLst>
          </a:custGeom>
          <a:noFill/>
          <a:ln w="10795" cap="rnd">
            <a:solidFill>
              <a:schemeClr val="accent1"/>
            </a:solidFill>
            <a:round/>
          </a:ln>
          <a:effectLst/>
        </p:spPr>
      </p:sp>
      <p:sp>
        <p:nvSpPr>
          <p:cNvPr id="152" name="slot.reuse.3.icon"/>
          <p:cNvSpPr/>
          <p:nvPr/>
        </p:nvSpPr>
        <p:spPr>
          <a:xfrm>
            <a:off x="3490999" y="5925312"/>
            <a:ext cx="128016" cy="12801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10795" cap="rnd">
            <a:solidFill>
              <a:schemeClr val="accent1"/>
            </a:solidFill>
            <a:round/>
          </a:ln>
          <a:effectLst/>
        </p:spPr>
      </p:sp>
      <p:sp>
        <p:nvSpPr>
          <p:cNvPr id="153" name="slot.reuse.4.icon"/>
          <p:cNvSpPr/>
          <p:nvPr/>
        </p:nvSpPr>
        <p:spPr>
          <a:xfrm>
            <a:off x="4983348" y="5925312"/>
            <a:ext cx="128016" cy="12801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22000"/>
                </a:moveTo>
                <a:lnTo>
                  <a:pt x="12000" y="17000"/>
                </a:lnTo>
                <a:moveTo>
                  <a:pt x="15000" y="8000"/>
                </a:moveTo>
                <a:lnTo>
                  <a:pt x="15000" y="2000"/>
                </a:lnTo>
                <a:moveTo>
                  <a:pt x="17000" y="8000"/>
                </a:moveTo>
                <a:cubicBezTo>
                  <a:pt x="17552" y="8000"/>
                  <a:pt x="18000" y="8448"/>
                  <a:pt x="18000" y="9000"/>
                </a:cubicBezTo>
                <a:lnTo>
                  <a:pt x="18000" y="13000"/>
                </a:lnTo>
                <a:cubicBezTo>
                  <a:pt x="18000" y="15209"/>
                  <a:pt x="16209" y="17000"/>
                  <a:pt x="14000" y="17000"/>
                </a:cubicBezTo>
                <a:lnTo>
                  <a:pt x="10000" y="17000"/>
                </a:lnTo>
                <a:cubicBezTo>
                  <a:pt x="7791" y="17000"/>
                  <a:pt x="6000" y="15209"/>
                  <a:pt x="6000" y="13000"/>
                </a:cubicBezTo>
                <a:lnTo>
                  <a:pt x="6000" y="9000"/>
                </a:lnTo>
                <a:cubicBezTo>
                  <a:pt x="6000" y="8448"/>
                  <a:pt x="6448" y="8000"/>
                  <a:pt x="7000" y="8000"/>
                </a:cubicBezTo>
                <a:close/>
                <a:moveTo>
                  <a:pt x="9000" y="8000"/>
                </a:moveTo>
                <a:lnTo>
                  <a:pt x="9000" y="2000"/>
                </a:lnTo>
              </a:path>
            </a:pathLst>
          </a:custGeom>
          <a:noFill/>
          <a:ln w="10795" cap="rnd">
            <a:solidFill>
              <a:schemeClr val="accent1"/>
            </a:solidFill>
            <a:round/>
          </a:ln>
          <a:effectLst/>
        </p:spPr>
      </p:sp>
      <p:sp>
        <p:nvSpPr>
          <p:cNvPr id="154" name="slot.uses.1.icon"/>
          <p:cNvSpPr/>
          <p:nvPr/>
        </p:nvSpPr>
        <p:spPr>
          <a:xfrm>
            <a:off x="6295081" y="5925312"/>
            <a:ext cx="128016" cy="12801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8000" y="21000"/>
                </a:moveTo>
                <a:lnTo>
                  <a:pt x="18000" y="10000"/>
                </a:lnTo>
                <a:cubicBezTo>
                  <a:pt x="18000" y="9448"/>
                  <a:pt x="17552" y="9000"/>
                  <a:pt x="17000" y="9000"/>
                </a:cubicBezTo>
                <a:lnTo>
                  <a:pt x="7000" y="9000"/>
                </a:lnTo>
                <a:cubicBezTo>
                  <a:pt x="6448" y="9000"/>
                  <a:pt x="6000" y="9448"/>
                  <a:pt x="6000" y="10000"/>
                </a:cubicBezTo>
                <a:lnTo>
                  <a:pt x="6000" y="21000"/>
                </a:lnTo>
                <a:moveTo>
                  <a:pt x="22000" y="19000"/>
                </a:moveTo>
                <a:cubicBezTo>
                  <a:pt x="22000" y="20105"/>
                  <a:pt x="21105" y="21000"/>
                  <a:pt x="20000" y="21000"/>
                </a:cubicBezTo>
                <a:lnTo>
                  <a:pt x="4000" y="21000"/>
                </a:lnTo>
                <a:cubicBezTo>
                  <a:pt x="2895" y="21000"/>
                  <a:pt x="2000" y="20105"/>
                  <a:pt x="2000" y="19000"/>
                </a:cubicBezTo>
                <a:lnTo>
                  <a:pt x="2000" y="8000"/>
                </a:lnTo>
                <a:cubicBezTo>
                  <a:pt x="2000" y="7231"/>
                  <a:pt x="2440" y="6531"/>
                  <a:pt x="3132" y="6197"/>
                </a:cubicBezTo>
                <a:lnTo>
                  <a:pt x="11082" y="2223"/>
                </a:lnTo>
                <a:cubicBezTo>
                  <a:pt x="11658" y="1925"/>
                  <a:pt x="12343" y="1925"/>
                  <a:pt x="12919" y="2223"/>
                </a:cubicBezTo>
                <a:lnTo>
                  <a:pt x="20867" y="6197"/>
                </a:lnTo>
                <a:cubicBezTo>
                  <a:pt x="21560" y="6530"/>
                  <a:pt x="22000" y="7231"/>
                  <a:pt x="22000" y="8000"/>
                </a:cubicBezTo>
                <a:close/>
                <a:moveTo>
                  <a:pt x="6000" y="13000"/>
                </a:moveTo>
                <a:lnTo>
                  <a:pt x="18000" y="13000"/>
                </a:lnTo>
                <a:moveTo>
                  <a:pt x="6000" y="17000"/>
                </a:moveTo>
                <a:lnTo>
                  <a:pt x="18000" y="17000"/>
                </a:lnTo>
              </a:path>
            </a:pathLst>
          </a:custGeom>
          <a:noFill/>
          <a:ln w="10795" cap="rnd">
            <a:solidFill>
              <a:schemeClr val="accent1"/>
            </a:solidFill>
            <a:round/>
          </a:ln>
          <a:effectLst/>
        </p:spPr>
      </p:sp>
      <p:sp>
        <p:nvSpPr>
          <p:cNvPr id="155" name="slot.uses.2.icon"/>
          <p:cNvSpPr/>
          <p:nvPr/>
        </p:nvSpPr>
        <p:spPr>
          <a:xfrm>
            <a:off x="8073858" y="5925312"/>
            <a:ext cx="128016" cy="12801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586" y="2586"/>
                </a:moveTo>
                <a:cubicBezTo>
                  <a:pt x="12211" y="2211"/>
                  <a:pt x="11702" y="2000"/>
                  <a:pt x="11172" y="2000"/>
                </a:cubicBezTo>
                <a:lnTo>
                  <a:pt x="4000" y="2000"/>
                </a:lnTo>
                <a:cubicBezTo>
                  <a:pt x="2895" y="2000"/>
                  <a:pt x="2000" y="2895"/>
                  <a:pt x="2000" y="4000"/>
                </a:cubicBezTo>
                <a:lnTo>
                  <a:pt x="2000" y="11172"/>
                </a:lnTo>
                <a:cubicBezTo>
                  <a:pt x="2000" y="11702"/>
                  <a:pt x="2211" y="12211"/>
                  <a:pt x="2586" y="12586"/>
                </a:cubicBezTo>
                <a:lnTo>
                  <a:pt x="11290" y="21290"/>
                </a:lnTo>
                <a:cubicBezTo>
                  <a:pt x="12236" y="22230"/>
                  <a:pt x="13764" y="22230"/>
                  <a:pt x="14710" y="21290"/>
                </a:cubicBezTo>
                <a:lnTo>
                  <a:pt x="21290" y="14710"/>
                </a:lnTo>
                <a:cubicBezTo>
                  <a:pt x="22230" y="13764"/>
                  <a:pt x="22230" y="12236"/>
                  <a:pt x="21290" y="11290"/>
                </a:cubicBezTo>
                <a:close/>
              </a:path>
              <a:path w="24000" h="24000">
                <a:moveTo>
                  <a:pt x="8000" y="7500"/>
                </a:moveTo>
                <a:cubicBezTo>
                  <a:pt x="8000" y="7776"/>
                  <a:pt x="7776" y="8000"/>
                  <a:pt x="7500" y="8000"/>
                </a:cubicBezTo>
                <a:cubicBezTo>
                  <a:pt x="7224" y="8000"/>
                  <a:pt x="7000" y="7776"/>
                  <a:pt x="7000" y="7500"/>
                </a:cubicBezTo>
                <a:cubicBezTo>
                  <a:pt x="7000" y="7224"/>
                  <a:pt x="7224" y="7000"/>
                  <a:pt x="7500" y="7000"/>
                </a:cubicBezTo>
                <a:cubicBezTo>
                  <a:pt x="7776" y="7000"/>
                  <a:pt x="8000" y="7224"/>
                  <a:pt x="8000" y="7500"/>
                </a:cubicBezTo>
                <a:close/>
              </a:path>
            </a:pathLst>
          </a:custGeom>
          <a:solidFill>
            <a:schemeClr val="accent1"/>
          </a:solidFill>
          <a:ln w="10795" cap="rnd">
            <a:solidFill>
              <a:schemeClr val="accent1"/>
            </a:solidFill>
            <a:round/>
          </a:ln>
          <a:effectLst/>
        </p:spPr>
      </p:sp>
      <p:sp>
        <p:nvSpPr>
          <p:cNvPr id="156" name="slot.uses.3.icon"/>
          <p:cNvSpPr/>
          <p:nvPr/>
        </p:nvSpPr>
        <p:spPr>
          <a:xfrm>
            <a:off x="9852634" y="5925312"/>
            <a:ext cx="128016" cy="12801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8000" y="2000"/>
                </a:moveTo>
                <a:lnTo>
                  <a:pt x="8000" y="5000"/>
                </a:lnTo>
                <a:moveTo>
                  <a:pt x="16000" y="2000"/>
                </a:moveTo>
                <a:lnTo>
                  <a:pt x="16000" y="5000"/>
                </a:lnTo>
                <a:moveTo>
                  <a:pt x="5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  <a:moveTo>
                  <a:pt x="3000" y="9000"/>
                </a:moveTo>
                <a:lnTo>
                  <a:pt x="21000" y="9000"/>
                </a:lnTo>
                <a:moveTo>
                  <a:pt x="9000" y="15000"/>
                </a:moveTo>
                <a:lnTo>
                  <a:pt x="11000" y="17000"/>
                </a:lnTo>
                <a:lnTo>
                  <a:pt x="15000" y="13000"/>
                </a:lnTo>
              </a:path>
            </a:pathLst>
          </a:custGeom>
          <a:noFill/>
          <a:ln w="10795" cap="rnd">
            <a:solidFill>
              <a:schemeClr val="accent1"/>
            </a:solidFill>
            <a:round/>
          </a:ln>
          <a:effectLst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ecision-logic:staged-rule-lanes">
    <p:spTree>
      <p:nvGrpSpPr>
        <p:cNvPr id="1" name=""/>
        <p:cNvGrpSpPr/>
        <p:nvPr/>
      </p:nvGrpSpPr>
      <p:grpSpPr/>
      <p:sp>
        <p:nvSpPr>
          <p:cNvPr id="2" name="slot.title"/>
          <p:cNvSpPr txBox="1"/>
          <p:nvPr/>
        </p:nvSpPr>
        <p:spPr>
          <a:xfrm>
            <a:off x="457200" y="212655"/>
            <a:ext cx="11338560" cy="615585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Five ordered rules</a:t>
            </a:r>
            <a:r>
              <a:rPr lang="en-US" sz="2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route every late shipment to expedite or hold</a:t>
            </a:r>
            <a:endParaRPr lang="en-US" sz="2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truct.tab.1"/>
          <p:cNvSpPr/>
          <p:nvPr/>
        </p:nvSpPr>
        <p:spPr>
          <a:xfrm>
            <a:off x="457200" y="1307566"/>
            <a:ext cx="2134762" cy="369591"/>
          </a:xfrm>
          <a:prstGeom prst="roundRect">
            <a:avLst>
              <a:gd fmla="val 15909" name="adj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4" name="struct.tab.1.disc"/>
          <p:cNvSpPr/>
          <p:nvPr/>
        </p:nvSpPr>
        <p:spPr>
          <a:xfrm>
            <a:off x="546835" y="1383212"/>
            <a:ext cx="232883" cy="218395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5" name="struct.tab.1.num"/>
          <p:cNvSpPr/>
          <p:nvPr/>
        </p:nvSpPr>
        <p:spPr>
          <a:xfrm>
            <a:off x="546835" y="1383212"/>
            <a:ext cx="232883" cy="218395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18288" lIns="36576" spcFirstLastPara="1" rIns="36576" wrap="square" tIns="18288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1</a:t>
            </a:r>
            <a:endParaRPr lang="en-US" sz="1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ot.stage.1.label"/>
          <p:cNvSpPr/>
          <p:nvPr/>
        </p:nvSpPr>
        <p:spPr>
          <a:xfrm>
            <a:off x="833670" y="1307566"/>
            <a:ext cx="1686850" cy="369591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Order signals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lot.stage.1.caption"/>
          <p:cNvSpPr/>
          <p:nvPr/>
        </p:nvSpPr>
        <p:spPr>
          <a:xfrm>
            <a:off x="475127" y="1711012"/>
            <a:ext cx="2134762" cy="184795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18288" lIns="36576" spcFirstLastPara="1" rIns="36576" wrap="square" tIns="18288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Six inputs</a:t>
            </a:r>
            <a:endParaRPr lang="en-US" sz="9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truct.tab.2"/>
          <p:cNvSpPr/>
          <p:nvPr/>
        </p:nvSpPr>
        <p:spPr>
          <a:xfrm>
            <a:off x="2753668" y="1307566"/>
            <a:ext cx="2134762" cy="369591"/>
          </a:xfrm>
          <a:prstGeom prst="roundRect">
            <a:avLst>
              <a:gd fmla="val 15909" name="adj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9" name="struct.tab.2.disc"/>
          <p:cNvSpPr/>
          <p:nvPr/>
        </p:nvSpPr>
        <p:spPr>
          <a:xfrm>
            <a:off x="2843303" y="1383212"/>
            <a:ext cx="232883" cy="218395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10" name="struct.tab.2.num"/>
          <p:cNvSpPr/>
          <p:nvPr/>
        </p:nvSpPr>
        <p:spPr>
          <a:xfrm>
            <a:off x="2843303" y="1383212"/>
            <a:ext cx="232883" cy="218395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18288" lIns="36576" spcFirstLastPara="1" rIns="36576" wrap="square" tIns="18288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2</a:t>
            </a:r>
            <a:endParaRPr lang="en-US" sz="1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ot.stage.2.label"/>
          <p:cNvSpPr/>
          <p:nvPr/>
        </p:nvSpPr>
        <p:spPr>
          <a:xfrm>
            <a:off x="3130138" y="1307566"/>
            <a:ext cx="1686850" cy="369591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Checks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lot.stage.2.caption"/>
          <p:cNvSpPr/>
          <p:nvPr/>
        </p:nvSpPr>
        <p:spPr>
          <a:xfrm>
            <a:off x="2771595" y="1711012"/>
            <a:ext cx="2134762" cy="184795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18288" lIns="36576" spcFirstLastPara="1" rIns="36576" wrap="square" tIns="18288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Yes or no</a:t>
            </a:r>
            <a:endParaRPr lang="en-US" sz="9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struct.tab.3"/>
          <p:cNvSpPr/>
          <p:nvPr/>
        </p:nvSpPr>
        <p:spPr>
          <a:xfrm>
            <a:off x="5050136" y="1307566"/>
            <a:ext cx="2134762" cy="369591"/>
          </a:xfrm>
          <a:prstGeom prst="roundRect">
            <a:avLst>
              <a:gd fmla="val 15909" name="adj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14" name="struct.tab.3.disc"/>
          <p:cNvSpPr/>
          <p:nvPr/>
        </p:nvSpPr>
        <p:spPr>
          <a:xfrm>
            <a:off x="5139772" y="1383212"/>
            <a:ext cx="232883" cy="218395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15" name="struct.tab.3.num"/>
          <p:cNvSpPr/>
          <p:nvPr/>
        </p:nvSpPr>
        <p:spPr>
          <a:xfrm>
            <a:off x="5139772" y="1383212"/>
            <a:ext cx="232883" cy="218395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18288" lIns="36576" spcFirstLastPara="1" rIns="36576" wrap="square" tIns="18288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3</a:t>
            </a:r>
            <a:endParaRPr lang="en-US" sz="1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lot.stage.3.label"/>
          <p:cNvSpPr/>
          <p:nvPr/>
        </p:nvSpPr>
        <p:spPr>
          <a:xfrm>
            <a:off x="5426607" y="1307566"/>
            <a:ext cx="1686850" cy="369591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Routing rules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lot.stage.3.caption"/>
          <p:cNvSpPr/>
          <p:nvPr/>
        </p:nvSpPr>
        <p:spPr>
          <a:xfrm>
            <a:off x="5068064" y="1711012"/>
            <a:ext cx="2134762" cy="184795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18288" lIns="36576" spcFirstLastPara="1" rIns="36576" wrap="square" tIns="18288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Five rules, in order</a:t>
            </a:r>
            <a:endParaRPr lang="en-US" sz="9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truct.tab.4"/>
          <p:cNvSpPr/>
          <p:nvPr/>
        </p:nvSpPr>
        <p:spPr>
          <a:xfrm>
            <a:off x="7346604" y="1307566"/>
            <a:ext cx="2134762" cy="369591"/>
          </a:xfrm>
          <a:prstGeom prst="roundRect">
            <a:avLst>
              <a:gd fmla="val 15909" name="adj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19" name="struct.tab.4.disc"/>
          <p:cNvSpPr/>
          <p:nvPr/>
        </p:nvSpPr>
        <p:spPr>
          <a:xfrm>
            <a:off x="7436239" y="1383212"/>
            <a:ext cx="232883" cy="218395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20" name="struct.tab.4.num"/>
          <p:cNvSpPr/>
          <p:nvPr/>
        </p:nvSpPr>
        <p:spPr>
          <a:xfrm>
            <a:off x="7436239" y="1383212"/>
            <a:ext cx="232883" cy="218395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18288" lIns="36576" spcFirstLastPara="1" rIns="36576" wrap="square" tIns="18288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4</a:t>
            </a:r>
            <a:endParaRPr lang="en-US" sz="1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lot.stage.4.label"/>
          <p:cNvSpPr/>
          <p:nvPr/>
        </p:nvSpPr>
        <p:spPr>
          <a:xfrm>
            <a:off x="7723074" y="1307566"/>
            <a:ext cx="1686850" cy="369591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Outcomes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lot.stage.4.caption"/>
          <p:cNvSpPr/>
          <p:nvPr/>
        </p:nvSpPr>
        <p:spPr>
          <a:xfrm>
            <a:off x="7364530" y="1711012"/>
            <a:ext cx="2134762" cy="184795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18288" lIns="36576" spcFirstLastPara="1" rIns="36576" wrap="square" tIns="18288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Two dispositions</a:t>
            </a:r>
            <a:endParaRPr lang="en-US" sz="9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struct.tab.5"/>
          <p:cNvSpPr/>
          <p:nvPr/>
        </p:nvSpPr>
        <p:spPr>
          <a:xfrm>
            <a:off x="9643071" y="1307566"/>
            <a:ext cx="2134762" cy="369591"/>
          </a:xfrm>
          <a:prstGeom prst="roundRect">
            <a:avLst>
              <a:gd fmla="val 15909" name="adj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24" name="struct.tab.5.disc"/>
          <p:cNvSpPr/>
          <p:nvPr/>
        </p:nvSpPr>
        <p:spPr>
          <a:xfrm>
            <a:off x="9732707" y="1383212"/>
            <a:ext cx="232883" cy="218395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25" name="struct.tab.5.num"/>
          <p:cNvSpPr/>
          <p:nvPr/>
        </p:nvSpPr>
        <p:spPr>
          <a:xfrm>
            <a:off x="9732707" y="1383212"/>
            <a:ext cx="232883" cy="218395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18288" lIns="36576" spcFirstLastPara="1" rIns="36576" wrap="square" tIns="18288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5</a:t>
            </a:r>
            <a:endParaRPr lang="en-US" sz="1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slot.stage.5.label"/>
          <p:cNvSpPr/>
          <p:nvPr/>
        </p:nvSpPr>
        <p:spPr>
          <a:xfrm>
            <a:off x="10019541" y="1307566"/>
            <a:ext cx="1686850" cy="369591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Decision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lot.stage.5.caption"/>
          <p:cNvSpPr/>
          <p:nvPr/>
        </p:nvSpPr>
        <p:spPr>
          <a:xfrm>
            <a:off x="9660998" y="1711012"/>
            <a:ext cx="2134762" cy="184795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18288" lIns="36576" spcFirstLastPara="1" rIns="36576" wrap="square" tIns="18288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Per order</a:t>
            </a:r>
            <a:endParaRPr lang="en-US" sz="9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truct.input.1"/>
          <p:cNvSpPr/>
          <p:nvPr/>
        </p:nvSpPr>
        <p:spPr>
          <a:xfrm>
            <a:off x="546835" y="1946357"/>
            <a:ext cx="1955830" cy="647184"/>
          </a:xfrm>
          <a:prstGeom prst="roundRect">
            <a:avLst>
              <a:gd fmla="val 7792" name="adj"/>
            </a:avLst>
          </a:prstGeom>
          <a:solidFill>
            <a:schemeClr val="bg1"/>
          </a:solidFill>
          <a:ln cap="flat" cmpd="sng" w="9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29" name="struct.input.1.tile"/>
          <p:cNvSpPr/>
          <p:nvPr/>
        </p:nvSpPr>
        <p:spPr>
          <a:xfrm>
            <a:off x="636472" y="2093446"/>
            <a:ext cx="376106" cy="352791"/>
          </a:xfrm>
          <a:prstGeom prst="roundRect">
            <a:avLst>
              <a:gd fmla="val 14286" name="adj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30" name="slot.input.1.head"/>
          <p:cNvSpPr/>
          <p:nvPr/>
        </p:nvSpPr>
        <p:spPr>
          <a:xfrm>
            <a:off x="1087333" y="2057400"/>
            <a:ext cx="1366452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Order profile</a:t>
            </a:r>
            <a:endParaRPr lang="en-US" sz="1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lot.input.1.body"/>
          <p:cNvSpPr/>
          <p:nvPr/>
        </p:nvSpPr>
        <p:spPr>
          <a:xfrm>
            <a:off x="1087333" y="2295144"/>
            <a:ext cx="1366452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Units and margin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truct.input.2"/>
          <p:cNvSpPr/>
          <p:nvPr/>
        </p:nvSpPr>
        <p:spPr>
          <a:xfrm>
            <a:off x="546835" y="2677604"/>
            <a:ext cx="1955830" cy="647184"/>
          </a:xfrm>
          <a:prstGeom prst="roundRect">
            <a:avLst>
              <a:gd fmla="val 7792" name="adj"/>
            </a:avLst>
          </a:prstGeom>
          <a:solidFill>
            <a:schemeClr val="bg1"/>
          </a:solidFill>
          <a:ln cap="flat" cmpd="sng" w="9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33" name="struct.input.2.tile"/>
          <p:cNvSpPr/>
          <p:nvPr/>
        </p:nvSpPr>
        <p:spPr>
          <a:xfrm>
            <a:off x="636472" y="2824693"/>
            <a:ext cx="376106" cy="352791"/>
          </a:xfrm>
          <a:prstGeom prst="roundRect">
            <a:avLst>
              <a:gd fmla="val 14286" name="adj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34" name="slot.input.2.head"/>
          <p:cNvSpPr/>
          <p:nvPr/>
        </p:nvSpPr>
        <p:spPr>
          <a:xfrm>
            <a:off x="1087333" y="2788920"/>
            <a:ext cx="1366452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Store stock</a:t>
            </a:r>
            <a:endParaRPr lang="en-US" sz="1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lot.input.2.body"/>
          <p:cNvSpPr/>
          <p:nvPr/>
        </p:nvSpPr>
        <p:spPr>
          <a:xfrm>
            <a:off x="1087333" y="3026664"/>
            <a:ext cx="1366452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Days of cover left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struct.input.3"/>
          <p:cNvSpPr/>
          <p:nvPr/>
        </p:nvSpPr>
        <p:spPr>
          <a:xfrm>
            <a:off x="546835" y="3408851"/>
            <a:ext cx="1955830" cy="647184"/>
          </a:xfrm>
          <a:prstGeom prst="roundRect">
            <a:avLst>
              <a:gd fmla="val 7792" name="adj"/>
            </a:avLst>
          </a:prstGeom>
          <a:solidFill>
            <a:schemeClr val="bg1"/>
          </a:solidFill>
          <a:ln cap="flat" cmpd="sng" w="9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37" name="struct.input.3.tile"/>
          <p:cNvSpPr/>
          <p:nvPr/>
        </p:nvSpPr>
        <p:spPr>
          <a:xfrm>
            <a:off x="636472" y="3555940"/>
            <a:ext cx="376106" cy="352791"/>
          </a:xfrm>
          <a:prstGeom prst="roundRect">
            <a:avLst>
              <a:gd fmla="val 14286" name="adj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38" name="slot.input.3.head"/>
          <p:cNvSpPr/>
          <p:nvPr/>
        </p:nvSpPr>
        <p:spPr>
          <a:xfrm>
            <a:off x="1087333" y="3520440"/>
            <a:ext cx="1366452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Carrier status</a:t>
            </a:r>
            <a:endParaRPr lang="en-US" sz="1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slot.input.3.body"/>
          <p:cNvSpPr/>
          <p:nvPr/>
        </p:nvSpPr>
        <p:spPr>
          <a:xfrm>
            <a:off x="1087333" y="3758184"/>
            <a:ext cx="1366452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Last scan and delay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struct.input.4"/>
          <p:cNvSpPr/>
          <p:nvPr/>
        </p:nvSpPr>
        <p:spPr>
          <a:xfrm>
            <a:off x="546835" y="4140096"/>
            <a:ext cx="1955830" cy="647184"/>
          </a:xfrm>
          <a:prstGeom prst="roundRect">
            <a:avLst>
              <a:gd fmla="val 7792" name="adj"/>
            </a:avLst>
          </a:prstGeom>
          <a:solidFill>
            <a:schemeClr val="bg1"/>
          </a:solidFill>
          <a:ln cap="flat" cmpd="sng" w="9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41" name="struct.input.4.tile"/>
          <p:cNvSpPr/>
          <p:nvPr/>
        </p:nvSpPr>
        <p:spPr>
          <a:xfrm>
            <a:off x="636472" y="4287187"/>
            <a:ext cx="376106" cy="352791"/>
          </a:xfrm>
          <a:prstGeom prst="roundRect">
            <a:avLst>
              <a:gd fmla="val 14286" name="adj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42" name="slot.input.4.head"/>
          <p:cNvSpPr/>
          <p:nvPr/>
        </p:nvSpPr>
        <p:spPr>
          <a:xfrm>
            <a:off x="1087333" y="4251959"/>
            <a:ext cx="1366452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Lane distance</a:t>
            </a:r>
            <a:endParaRPr lang="en-US" sz="1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slot.input.4.body"/>
          <p:cNvSpPr/>
          <p:nvPr/>
        </p:nvSpPr>
        <p:spPr>
          <a:xfrm>
            <a:off x="1087333" y="4489704"/>
            <a:ext cx="1366452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Hub to store miles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struct.input.5"/>
          <p:cNvSpPr/>
          <p:nvPr/>
        </p:nvSpPr>
        <p:spPr>
          <a:xfrm>
            <a:off x="546835" y="4871344"/>
            <a:ext cx="1955830" cy="647184"/>
          </a:xfrm>
          <a:prstGeom prst="roundRect">
            <a:avLst>
              <a:gd fmla="val 7792" name="adj"/>
            </a:avLst>
          </a:prstGeom>
          <a:solidFill>
            <a:schemeClr val="bg1"/>
          </a:solidFill>
          <a:ln cap="flat" cmpd="sng" w="9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45" name="struct.input.5.tile"/>
          <p:cNvSpPr/>
          <p:nvPr/>
        </p:nvSpPr>
        <p:spPr>
          <a:xfrm>
            <a:off x="636472" y="5018435"/>
            <a:ext cx="376106" cy="352791"/>
          </a:xfrm>
          <a:prstGeom prst="roundRect">
            <a:avLst>
              <a:gd fmla="val 14286" name="adj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46" name="slot.input.5.head"/>
          <p:cNvSpPr/>
          <p:nvPr/>
        </p:nvSpPr>
        <p:spPr>
          <a:xfrm>
            <a:off x="1087333" y="4983480"/>
            <a:ext cx="1366452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Promo calendar</a:t>
            </a:r>
            <a:endParaRPr lang="en-US" sz="1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slot.input.5.body"/>
          <p:cNvSpPr/>
          <p:nvPr/>
        </p:nvSpPr>
        <p:spPr>
          <a:xfrm>
            <a:off x="1087333" y="5221224"/>
            <a:ext cx="1366452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Upcoming events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struct.input.6"/>
          <p:cNvSpPr/>
          <p:nvPr/>
        </p:nvSpPr>
        <p:spPr>
          <a:xfrm>
            <a:off x="546835" y="5602591"/>
            <a:ext cx="1955830" cy="647184"/>
          </a:xfrm>
          <a:prstGeom prst="roundRect">
            <a:avLst>
              <a:gd fmla="val 7792" name="adj"/>
            </a:avLst>
          </a:prstGeom>
          <a:solidFill>
            <a:schemeClr val="bg1"/>
          </a:solidFill>
          <a:ln cap="flat" cmpd="sng" w="9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49" name="struct.input.6.tile"/>
          <p:cNvSpPr/>
          <p:nvPr/>
        </p:nvSpPr>
        <p:spPr>
          <a:xfrm>
            <a:off x="636472" y="5749682"/>
            <a:ext cx="376106" cy="352791"/>
          </a:xfrm>
          <a:prstGeom prst="roundRect">
            <a:avLst>
              <a:gd fmla="val 14286" name="adj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50" name="slot.input.6.head"/>
          <p:cNvSpPr/>
          <p:nvPr/>
        </p:nvSpPr>
        <p:spPr>
          <a:xfrm>
            <a:off x="1087333" y="5714999"/>
            <a:ext cx="1366452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Price tier</a:t>
            </a:r>
            <a:endParaRPr lang="en-US" sz="1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slot.input.6.body"/>
          <p:cNvSpPr/>
          <p:nvPr/>
        </p:nvSpPr>
        <p:spPr>
          <a:xfrm>
            <a:off x="1087333" y="5952744"/>
            <a:ext cx="1366452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Markdown exposure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struct.check.1"/>
          <p:cNvSpPr/>
          <p:nvPr/>
        </p:nvSpPr>
        <p:spPr>
          <a:xfrm>
            <a:off x="2843303" y="1946357"/>
            <a:ext cx="1955830" cy="647184"/>
          </a:xfrm>
          <a:prstGeom prst="roundRect">
            <a:avLst>
              <a:gd fmla="val 7792" name="adj"/>
            </a:avLst>
          </a:prstGeom>
          <a:solidFill>
            <a:schemeClr val="bg1"/>
          </a:solidFill>
          <a:ln cap="flat" cmpd="sng" w="9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53" name="slot.check.1.head"/>
          <p:cNvSpPr/>
          <p:nvPr/>
        </p:nvSpPr>
        <p:spPr>
          <a:xfrm>
            <a:off x="2924058" y="1984248"/>
            <a:ext cx="179236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Shelf empties first?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slot.check.1.test"/>
          <p:cNvSpPr/>
          <p:nvPr/>
        </p:nvSpPr>
        <p:spPr>
          <a:xfrm>
            <a:off x="2924058" y="2176272"/>
            <a:ext cx="1792360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Cover shorter than the delay</a:t>
            </a:r>
            <a:endParaRPr lang="en-US" sz="900" b="0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slot.check.1.source"/>
          <p:cNvSpPr/>
          <p:nvPr/>
        </p:nvSpPr>
        <p:spPr>
          <a:xfrm>
            <a:off x="2924058" y="2359152"/>
            <a:ext cx="1792360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Reads stock and carrier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truct.check.2"/>
          <p:cNvSpPr/>
          <p:nvPr/>
        </p:nvSpPr>
        <p:spPr>
          <a:xfrm>
            <a:off x="2843303" y="2677604"/>
            <a:ext cx="1955830" cy="647184"/>
          </a:xfrm>
          <a:prstGeom prst="roundRect">
            <a:avLst>
              <a:gd fmla="val 7792" name="adj"/>
            </a:avLst>
          </a:prstGeom>
          <a:solidFill>
            <a:schemeClr val="bg1"/>
          </a:solidFill>
          <a:ln cap="flat" cmpd="sng" w="9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57" name="slot.check.2.head"/>
          <p:cNvSpPr/>
          <p:nvPr/>
        </p:nvSpPr>
        <p:spPr>
          <a:xfrm>
            <a:off x="2924058" y="2715768"/>
            <a:ext cx="179236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Event at stake?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slot.check.2.test"/>
          <p:cNvSpPr/>
          <p:nvPr/>
        </p:nvSpPr>
        <p:spPr>
          <a:xfrm>
            <a:off x="2924058" y="2907791"/>
            <a:ext cx="1792360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Promo starts within 7 days</a:t>
            </a:r>
            <a:endParaRPr lang="en-US" sz="900" b="0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slot.check.2.source"/>
          <p:cNvSpPr/>
          <p:nvPr/>
        </p:nvSpPr>
        <p:spPr>
          <a:xfrm>
            <a:off x="2924058" y="3090672"/>
            <a:ext cx="1792360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Reads promo calendar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struct.check.3"/>
          <p:cNvSpPr/>
          <p:nvPr/>
        </p:nvSpPr>
        <p:spPr>
          <a:xfrm>
            <a:off x="2843303" y="3408851"/>
            <a:ext cx="1955830" cy="647184"/>
          </a:xfrm>
          <a:prstGeom prst="roundRect">
            <a:avLst>
              <a:gd fmla="val 7792" name="adj"/>
            </a:avLst>
          </a:prstGeom>
          <a:solidFill>
            <a:schemeClr val="bg1"/>
          </a:solidFill>
          <a:ln cap="flat" cmpd="sng" w="9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61" name="slot.check.3.head"/>
          <p:cNvSpPr/>
          <p:nvPr/>
        </p:nvSpPr>
        <p:spPr>
          <a:xfrm>
            <a:off x="2924058" y="3447288"/>
            <a:ext cx="179236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Margin worth saving?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slot.check.3.test"/>
          <p:cNvSpPr/>
          <p:nvPr/>
        </p:nvSpPr>
        <p:spPr>
          <a:xfrm>
            <a:off x="2924058" y="3639312"/>
            <a:ext cx="1792360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Lost margin above $5K</a:t>
            </a:r>
            <a:endParaRPr lang="en-US" sz="900" b="0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slot.check.3.source"/>
          <p:cNvSpPr/>
          <p:nvPr/>
        </p:nvSpPr>
        <p:spPr>
          <a:xfrm>
            <a:off x="2924058" y="3822191"/>
            <a:ext cx="1792360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Reads order profile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struct.check.4"/>
          <p:cNvSpPr/>
          <p:nvPr/>
        </p:nvSpPr>
        <p:spPr>
          <a:xfrm>
            <a:off x="2843303" y="4140096"/>
            <a:ext cx="1955830" cy="647184"/>
          </a:xfrm>
          <a:prstGeom prst="roundRect">
            <a:avLst>
              <a:gd fmla="val 7792" name="adj"/>
            </a:avLst>
          </a:prstGeom>
          <a:solidFill>
            <a:schemeClr val="bg1"/>
          </a:solidFill>
          <a:ln cap="flat" cmpd="sng" w="9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65" name="slot.check.4.head"/>
          <p:cNvSpPr/>
          <p:nvPr/>
        </p:nvSpPr>
        <p:spPr>
          <a:xfrm>
            <a:off x="2924058" y="4178808"/>
            <a:ext cx="179236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Faster lane open?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slot.check.4.test"/>
          <p:cNvSpPr/>
          <p:nvPr/>
        </p:nvSpPr>
        <p:spPr>
          <a:xfrm>
            <a:off x="2924058" y="4370832"/>
            <a:ext cx="1792360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Air or direct truck free</a:t>
            </a:r>
            <a:endParaRPr lang="en-US" sz="900" b="0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slot.check.4.source"/>
          <p:cNvSpPr/>
          <p:nvPr/>
        </p:nvSpPr>
        <p:spPr>
          <a:xfrm>
            <a:off x="2924058" y="4553712"/>
            <a:ext cx="1792360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Reads lane distance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struct.check.5"/>
          <p:cNvSpPr/>
          <p:nvPr/>
        </p:nvSpPr>
        <p:spPr>
          <a:xfrm>
            <a:off x="2843303" y="4871344"/>
            <a:ext cx="1955830" cy="647184"/>
          </a:xfrm>
          <a:prstGeom prst="roundRect">
            <a:avLst>
              <a:gd fmla="val 7792" name="adj"/>
            </a:avLst>
          </a:prstGeom>
          <a:solidFill>
            <a:schemeClr val="bg1"/>
          </a:solidFill>
          <a:ln cap="flat" cmpd="sng" w="9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69" name="slot.check.5.head"/>
          <p:cNvSpPr/>
          <p:nvPr/>
        </p:nvSpPr>
        <p:spPr>
          <a:xfrm>
            <a:off x="2924058" y="4910328"/>
            <a:ext cx="179236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Cost in bounds?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slot.check.5.test"/>
          <p:cNvSpPr/>
          <p:nvPr/>
        </p:nvSpPr>
        <p:spPr>
          <a:xfrm>
            <a:off x="2924058" y="5102352"/>
            <a:ext cx="1792360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Expedite under 20% of value</a:t>
            </a:r>
            <a:endParaRPr lang="en-US" sz="900" b="0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slot.check.5.source"/>
          <p:cNvSpPr/>
          <p:nvPr/>
        </p:nvSpPr>
        <p:spPr>
          <a:xfrm>
            <a:off x="2924058" y="5285232"/>
            <a:ext cx="1792360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Reads price tier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struct.check.6"/>
          <p:cNvSpPr/>
          <p:nvPr/>
        </p:nvSpPr>
        <p:spPr>
          <a:xfrm>
            <a:off x="2843303" y="5602591"/>
            <a:ext cx="1955830" cy="647184"/>
          </a:xfrm>
          <a:prstGeom prst="roundRect">
            <a:avLst>
              <a:gd fmla="val 7792" name="adj"/>
            </a:avLst>
          </a:prstGeom>
          <a:solidFill>
            <a:schemeClr val="bg1"/>
          </a:solidFill>
          <a:ln cap="flat" cmpd="sng" w="9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73" name="slot.check.6.head"/>
          <p:cNvSpPr/>
          <p:nvPr/>
        </p:nvSpPr>
        <p:spPr>
          <a:xfrm>
            <a:off x="2924058" y="5641848"/>
            <a:ext cx="179236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Substitute on hand?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slot.check.6.test"/>
          <p:cNvSpPr/>
          <p:nvPr/>
        </p:nvSpPr>
        <p:spPr>
          <a:xfrm>
            <a:off x="2924058" y="5833872"/>
            <a:ext cx="1792360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Like item within 30 miles</a:t>
            </a:r>
            <a:endParaRPr lang="en-US" sz="900" b="0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slot.check.6.source"/>
          <p:cNvSpPr/>
          <p:nvPr/>
        </p:nvSpPr>
        <p:spPr>
          <a:xfrm>
            <a:off x="2924058" y="6016752"/>
            <a:ext cx="1792360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Reads store stock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struct.rules.head"/>
          <p:cNvSpPr/>
          <p:nvPr/>
        </p:nvSpPr>
        <p:spPr>
          <a:xfrm>
            <a:off x="5139772" y="1946357"/>
            <a:ext cx="1955830" cy="520787"/>
          </a:xfrm>
          <a:prstGeom prst="roundRect">
            <a:avLst>
              <a:gd fmla="val 9677" name="adj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77" name="slot.rules.head"/>
          <p:cNvSpPr/>
          <p:nvPr/>
        </p:nvSpPr>
        <p:spPr>
          <a:xfrm>
            <a:off x="5498315" y="1946357"/>
            <a:ext cx="1507918" cy="520787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First match sets the route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struct.rule.1"/>
          <p:cNvSpPr/>
          <p:nvPr/>
        </p:nvSpPr>
        <p:spPr>
          <a:xfrm>
            <a:off x="5139772" y="2568336"/>
            <a:ext cx="1955830" cy="675983"/>
          </a:xfrm>
          <a:prstGeom prst="roundRect">
            <a:avLst>
              <a:gd fmla="val 6219" name="adj"/>
            </a:avLst>
          </a:prstGeom>
          <a:solidFill>
            <a:schemeClr val="bg1"/>
          </a:solidFill>
          <a:ln cap="flat" cmpd="sng" w="9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79" name="struct.rule.1.disc"/>
          <p:cNvSpPr/>
          <p:nvPr/>
        </p:nvSpPr>
        <p:spPr>
          <a:xfrm>
            <a:off x="5231056" y="2614056"/>
            <a:ext cx="197563" cy="184795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80" name="slot.rule.1.num"/>
          <p:cNvSpPr/>
          <p:nvPr/>
        </p:nvSpPr>
        <p:spPr>
          <a:xfrm>
            <a:off x="5231056" y="2614056"/>
            <a:ext cx="197563" cy="184795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18288" lIns="36576" spcFirstLastPara="1" rIns="36576" wrap="square" tIns="18288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1</a:t>
            </a:r>
            <a:endParaRPr lang="en-US" sz="9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slot.rule.1.head"/>
          <p:cNvSpPr/>
          <p:nvPr/>
        </p:nvSpPr>
        <p:spPr>
          <a:xfrm>
            <a:off x="5497248" y="2604912"/>
            <a:ext cx="1543914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Promo stock-out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slot.rule.1.body"/>
          <p:cNvSpPr/>
          <p:nvPr/>
        </p:nvSpPr>
        <p:spPr>
          <a:xfrm>
            <a:off x="5231056" y="2806080"/>
            <a:ext cx="1827852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Shelf empty during a promo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slot.rule.1.route"/>
          <p:cNvSpPr/>
          <p:nvPr/>
        </p:nvSpPr>
        <p:spPr>
          <a:xfrm>
            <a:off x="5231056" y="2988960"/>
            <a:ext cx="1827852" cy="1920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Expedite by air</a:t>
            </a:r>
            <a:endParaRPr lang="en-US" sz="9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struct.rule.2"/>
          <p:cNvSpPr/>
          <p:nvPr/>
        </p:nvSpPr>
        <p:spPr>
          <a:xfrm>
            <a:off x="5139772" y="3319756"/>
            <a:ext cx="1955830" cy="675983"/>
          </a:xfrm>
          <a:prstGeom prst="roundRect">
            <a:avLst>
              <a:gd fmla="val 6219" name="adj"/>
            </a:avLst>
          </a:prstGeom>
          <a:solidFill>
            <a:schemeClr val="bg1"/>
          </a:solidFill>
          <a:ln cap="flat" cmpd="sng" w="9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85" name="struct.rule.2.disc"/>
          <p:cNvSpPr/>
          <p:nvPr/>
        </p:nvSpPr>
        <p:spPr>
          <a:xfrm>
            <a:off x="5231056" y="3365475"/>
            <a:ext cx="197563" cy="184795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86" name="slot.rule.2.num"/>
          <p:cNvSpPr/>
          <p:nvPr/>
        </p:nvSpPr>
        <p:spPr>
          <a:xfrm>
            <a:off x="5231056" y="3365475"/>
            <a:ext cx="197563" cy="184795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18288" lIns="36576" spcFirstLastPara="1" rIns="36576" wrap="square" tIns="18288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2</a:t>
            </a:r>
            <a:endParaRPr lang="en-US" sz="9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slot.rule.2.head"/>
          <p:cNvSpPr/>
          <p:nvPr/>
        </p:nvSpPr>
        <p:spPr>
          <a:xfrm>
            <a:off x="5497248" y="3356332"/>
            <a:ext cx="1543914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Margin and lane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slot.rule.2.body"/>
          <p:cNvSpPr/>
          <p:nvPr/>
        </p:nvSpPr>
        <p:spPr>
          <a:xfrm>
            <a:off x="5231056" y="3557500"/>
            <a:ext cx="1827852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Loss over limit, lane open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slot.rule.2.route"/>
          <p:cNvSpPr/>
          <p:nvPr/>
        </p:nvSpPr>
        <p:spPr>
          <a:xfrm>
            <a:off x="5231056" y="3740380"/>
            <a:ext cx="1827852" cy="1920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Expedite by truck</a:t>
            </a:r>
            <a:endParaRPr lang="en-US" sz="9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struct.rule.3"/>
          <p:cNvSpPr/>
          <p:nvPr/>
        </p:nvSpPr>
        <p:spPr>
          <a:xfrm>
            <a:off x="5139772" y="4071174"/>
            <a:ext cx="1955830" cy="675983"/>
          </a:xfrm>
          <a:prstGeom prst="roundRect">
            <a:avLst>
              <a:gd fmla="val 6219" name="adj"/>
            </a:avLst>
          </a:prstGeom>
          <a:solidFill>
            <a:schemeClr val="bg1"/>
          </a:solidFill>
          <a:ln cap="flat" cmpd="sng" w="9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91" name="struct.rule.3.disc"/>
          <p:cNvSpPr/>
          <p:nvPr/>
        </p:nvSpPr>
        <p:spPr>
          <a:xfrm>
            <a:off x="5231056" y="4116894"/>
            <a:ext cx="197563" cy="184795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92" name="slot.rule.3.num"/>
          <p:cNvSpPr/>
          <p:nvPr/>
        </p:nvSpPr>
        <p:spPr>
          <a:xfrm>
            <a:off x="5231056" y="4116894"/>
            <a:ext cx="197563" cy="184795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18288" lIns="36576" spcFirstLastPara="1" rIns="36576" wrap="square" tIns="18288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3</a:t>
            </a:r>
            <a:endParaRPr lang="en-US" sz="9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slot.rule.3.head"/>
          <p:cNvSpPr/>
          <p:nvPr/>
        </p:nvSpPr>
        <p:spPr>
          <a:xfrm>
            <a:off x="5497248" y="4107750"/>
            <a:ext cx="1543914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Substitute nearby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slot.rule.3.body"/>
          <p:cNvSpPr/>
          <p:nvPr/>
        </p:nvSpPr>
        <p:spPr>
          <a:xfrm>
            <a:off x="5231056" y="4308918"/>
            <a:ext cx="1827852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Like item covers the gap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slot.rule.3.route"/>
          <p:cNvSpPr/>
          <p:nvPr/>
        </p:nvSpPr>
        <p:spPr>
          <a:xfrm>
            <a:off x="5231056" y="4491798"/>
            <a:ext cx="1827852" cy="1920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Hold and transfer</a:t>
            </a:r>
            <a:endParaRPr lang="en-US" sz="9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struct.rule.4"/>
          <p:cNvSpPr/>
          <p:nvPr/>
        </p:nvSpPr>
        <p:spPr>
          <a:xfrm>
            <a:off x="5139772" y="4822594"/>
            <a:ext cx="1955830" cy="675983"/>
          </a:xfrm>
          <a:prstGeom prst="roundRect">
            <a:avLst>
              <a:gd fmla="val 6219" name="adj"/>
            </a:avLst>
          </a:prstGeom>
          <a:solidFill>
            <a:schemeClr val="bg1"/>
          </a:solidFill>
          <a:ln cap="flat" cmpd="sng" w="9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97" name="struct.rule.4.disc"/>
          <p:cNvSpPr/>
          <p:nvPr/>
        </p:nvSpPr>
        <p:spPr>
          <a:xfrm>
            <a:off x="5231056" y="4868314"/>
            <a:ext cx="197563" cy="184795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98" name="slot.rule.4.num"/>
          <p:cNvSpPr/>
          <p:nvPr/>
        </p:nvSpPr>
        <p:spPr>
          <a:xfrm>
            <a:off x="5231056" y="4868314"/>
            <a:ext cx="197563" cy="184795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18288" lIns="36576" spcFirstLastPara="1" rIns="36576" wrap="square" tIns="18288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4</a:t>
            </a:r>
            <a:endParaRPr lang="en-US" sz="9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slot.rule.4.head"/>
          <p:cNvSpPr/>
          <p:nvPr/>
        </p:nvSpPr>
        <p:spPr>
          <a:xfrm>
            <a:off x="5497248" y="4859170"/>
            <a:ext cx="1543914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Cost over bounds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slot.rule.4.body"/>
          <p:cNvSpPr/>
          <p:nvPr/>
        </p:nvSpPr>
        <p:spPr>
          <a:xfrm>
            <a:off x="5231056" y="5060338"/>
            <a:ext cx="1827852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Cost above 20% of value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slot.rule.4.route"/>
          <p:cNvSpPr/>
          <p:nvPr/>
        </p:nvSpPr>
        <p:spPr>
          <a:xfrm>
            <a:off x="5231056" y="5243218"/>
            <a:ext cx="1827852" cy="1920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Hold and transfer</a:t>
            </a:r>
            <a:endParaRPr lang="en-US" sz="9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struct.rule.5"/>
          <p:cNvSpPr/>
          <p:nvPr/>
        </p:nvSpPr>
        <p:spPr>
          <a:xfrm>
            <a:off x="5139772" y="5574013"/>
            <a:ext cx="1955830" cy="675983"/>
          </a:xfrm>
          <a:prstGeom prst="roundRect">
            <a:avLst>
              <a:gd fmla="val 6219" name="adj"/>
            </a:avLst>
          </a:prstGeom>
          <a:solidFill>
            <a:schemeClr val="bg1"/>
          </a:solidFill>
          <a:ln cap="flat" cmpd="sng" w="9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103" name="struct.rule.5.disc"/>
          <p:cNvSpPr/>
          <p:nvPr/>
        </p:nvSpPr>
        <p:spPr>
          <a:xfrm>
            <a:off x="5231056" y="5619733"/>
            <a:ext cx="197563" cy="184795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104" name="slot.rule.5.num"/>
          <p:cNvSpPr/>
          <p:nvPr/>
        </p:nvSpPr>
        <p:spPr>
          <a:xfrm>
            <a:off x="5231056" y="5619733"/>
            <a:ext cx="197563" cy="184795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18288" lIns="36576" spcFirstLastPara="1" rIns="36576" wrap="square" tIns="18288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5</a:t>
            </a:r>
            <a:endParaRPr lang="en-US" sz="9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slot.rule.5.head"/>
          <p:cNvSpPr/>
          <p:nvPr/>
        </p:nvSpPr>
        <p:spPr>
          <a:xfrm>
            <a:off x="5497248" y="5610589"/>
            <a:ext cx="1543914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No rule matched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slot.rule.5.body"/>
          <p:cNvSpPr/>
          <p:nvPr/>
        </p:nvSpPr>
        <p:spPr>
          <a:xfrm>
            <a:off x="5231056" y="5811757"/>
            <a:ext cx="1827852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All other late orders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slot.rule.5.route"/>
          <p:cNvSpPr/>
          <p:nvPr/>
        </p:nvSpPr>
        <p:spPr>
          <a:xfrm>
            <a:off x="5231056" y="5994637"/>
            <a:ext cx="1827852" cy="1920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Hold and transfer</a:t>
            </a:r>
            <a:endParaRPr lang="en-US" sz="9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struct.outcome.1"/>
          <p:cNvSpPr/>
          <p:nvPr/>
        </p:nvSpPr>
        <p:spPr>
          <a:xfrm>
            <a:off x="7436239" y="1946357"/>
            <a:ext cx="1955830" cy="793180"/>
          </a:xfrm>
          <a:prstGeom prst="roundRect">
            <a:avLst>
              <a:gd fmla="val 6356" name="adj"/>
            </a:avLst>
          </a:prstGeom>
          <a:solidFill>
            <a:schemeClr val="bg1"/>
          </a:solidFill>
          <a:ln cap="flat" cmpd="sng" w="9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109" name="slot.outcome.1.head"/>
          <p:cNvSpPr/>
          <p:nvPr/>
        </p:nvSpPr>
        <p:spPr>
          <a:xfrm>
            <a:off x="7546926" y="2019509"/>
            <a:ext cx="1739121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Expedite now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slot.outcome.1.body"/>
          <p:cNvSpPr/>
          <p:nvPr/>
        </p:nvSpPr>
        <p:spPr>
          <a:xfrm>
            <a:off x="7546926" y="2275541"/>
            <a:ext cx="1739121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Booked same day, cost to the promo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struct.outcome.2"/>
          <p:cNvSpPr/>
          <p:nvPr/>
        </p:nvSpPr>
        <p:spPr>
          <a:xfrm>
            <a:off x="7436239" y="2823853"/>
            <a:ext cx="1955830" cy="793180"/>
          </a:xfrm>
          <a:prstGeom prst="roundRect">
            <a:avLst>
              <a:gd fmla="val 6356" name="adj"/>
            </a:avLst>
          </a:prstGeom>
          <a:solidFill>
            <a:schemeClr val="bg1"/>
          </a:solidFill>
          <a:ln cap="flat" cmpd="sng" w="9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112" name="slot.outcome.2.head"/>
          <p:cNvSpPr/>
          <p:nvPr/>
        </p:nvSpPr>
        <p:spPr>
          <a:xfrm>
            <a:off x="7546926" y="2897005"/>
            <a:ext cx="1739121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Hold and transfer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slot.outcome.2.body"/>
          <p:cNvSpPr/>
          <p:nvPr/>
        </p:nvSpPr>
        <p:spPr>
          <a:xfrm>
            <a:off x="7546926" y="3153036"/>
            <a:ext cx="1739121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Like item moved in, planner alerted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struct.record"/>
          <p:cNvSpPr/>
          <p:nvPr/>
        </p:nvSpPr>
        <p:spPr>
          <a:xfrm>
            <a:off x="9732707" y="1946357"/>
            <a:ext cx="1955830" cy="1680758"/>
          </a:xfrm>
          <a:prstGeom prst="roundRect">
            <a:avLst>
              <a:gd fmla="val 4000" name="adj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115" name="slot.record.head"/>
          <p:cNvSpPr/>
          <p:nvPr/>
        </p:nvSpPr>
        <p:spPr>
          <a:xfrm>
            <a:off x="9876124" y="2080839"/>
            <a:ext cx="1686850" cy="41999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Each decision logs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slot.record.body"/>
          <p:cNvSpPr/>
          <p:nvPr/>
        </p:nvSpPr>
        <p:spPr>
          <a:xfrm>
            <a:off x="9898289" y="2523744"/>
            <a:ext cx="1650390" cy="1042415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164592" indent="-164592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·"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Rule that fired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164592" indent="-164592"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Char char="·"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Inputs it read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164592" indent="-164592"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Char char="·"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Cost and owner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164592" indent="-164592"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Char char="·"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Decision time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struct.example"/>
          <p:cNvSpPr/>
          <p:nvPr/>
        </p:nvSpPr>
        <p:spPr>
          <a:xfrm>
            <a:off x="9732707" y="3745056"/>
            <a:ext cx="1955830" cy="1429164"/>
          </a:xfrm>
          <a:prstGeom prst="roundRect">
            <a:avLst>
              <a:gd fmla="val 3199" name="adj"/>
            </a:avLst>
          </a:prstGeom>
          <a:solidFill>
            <a:schemeClr val="bg1">
              <a:lumMod val="95000"/>
            </a:schemeClr>
          </a:solidFill>
          <a:ln cap="flat" cmpd="sng" w="9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/>
          </a:p>
        </p:txBody>
      </p:sp>
      <p:sp>
        <p:nvSpPr>
          <p:cNvPr id="118" name="slot.example.label"/>
          <p:cNvSpPr/>
          <p:nvPr/>
        </p:nvSpPr>
        <p:spPr>
          <a:xfrm>
            <a:off x="9853924" y="3822191"/>
            <a:ext cx="1703629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Sample late order</a:t>
            </a:r>
            <a:endParaRPr lang="en-US" sz="1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slot.example.body"/>
          <p:cNvSpPr/>
          <p:nvPr/>
        </p:nvSpPr>
        <p:spPr>
          <a:xfrm>
            <a:off x="9853924" y="4078224"/>
            <a:ext cx="1703629" cy="102412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18288" lIns="36576" spcFirstLastPara="1" rIns="36576" wrap="square" tIns="18288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Cover  </a:t>
            </a: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2 days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Promo  </a:t>
            </a: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in 5 days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Rule fired  </a:t>
            </a: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1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Route  </a:t>
            </a: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expedite by air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Owner  </a:t>
            </a: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store planner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struct.arrow.1"/>
          <p:cNvSpPr/>
          <p:nvPr/>
        </p:nvSpPr>
        <p:spPr>
          <a:xfrm>
            <a:off x="2574486" y="3346704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19685" cap="rnd">
            <a:solidFill>
              <a:schemeClr val="tx1">
                <a:lumMod val="65000"/>
                <a:lumOff val="35000"/>
              </a:schemeClr>
            </a:solidFill>
            <a:round/>
          </a:ln>
          <a:effectLst/>
        </p:spPr>
      </p:sp>
      <p:sp>
        <p:nvSpPr>
          <p:cNvPr id="121" name="struct.arrow.2"/>
          <p:cNvSpPr/>
          <p:nvPr/>
        </p:nvSpPr>
        <p:spPr>
          <a:xfrm>
            <a:off x="4863738" y="3346704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19685" cap="rnd">
            <a:solidFill>
              <a:schemeClr val="tx1">
                <a:lumMod val="65000"/>
                <a:lumOff val="35000"/>
              </a:schemeClr>
            </a:solidFill>
            <a:round/>
          </a:ln>
          <a:effectLst/>
        </p:spPr>
      </p:sp>
      <p:sp>
        <p:nvSpPr>
          <p:cNvPr id="122" name="struct.arrow.3"/>
          <p:cNvSpPr/>
          <p:nvPr/>
        </p:nvSpPr>
        <p:spPr>
          <a:xfrm>
            <a:off x="7161862" y="3346704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19685" cap="rnd">
            <a:solidFill>
              <a:schemeClr val="tx1">
                <a:lumMod val="65000"/>
                <a:lumOff val="35000"/>
              </a:schemeClr>
            </a:solidFill>
            <a:round/>
          </a:ln>
          <a:effectLst/>
        </p:spPr>
      </p:sp>
      <p:sp>
        <p:nvSpPr>
          <p:cNvPr id="123" name="struct.arrow.4"/>
          <p:cNvSpPr/>
          <p:nvPr/>
        </p:nvSpPr>
        <p:spPr>
          <a:xfrm>
            <a:off x="9459987" y="3346704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19685" cap="rnd">
            <a:solidFill>
              <a:schemeClr val="tx1">
                <a:lumMod val="65000"/>
                <a:lumOff val="35000"/>
              </a:schemeClr>
            </a:solidFill>
            <a:round/>
          </a:ln>
          <a:effectLst/>
        </p:spPr>
      </p:sp>
      <p:sp>
        <p:nvSpPr>
          <p:cNvPr id="124" name="slot.input.1.icon"/>
          <p:cNvSpPr/>
          <p:nvPr/>
        </p:nvSpPr>
        <p:spPr>
          <a:xfrm>
            <a:off x="714963" y="2159813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21730"/>
                </a:moveTo>
                <a:cubicBezTo>
                  <a:pt x="11619" y="22087"/>
                  <a:pt x="12381" y="22087"/>
                  <a:pt x="13000" y="21730"/>
                </a:cubicBezTo>
                <a:lnTo>
                  <a:pt x="20000" y="17730"/>
                </a:lnTo>
                <a:cubicBezTo>
                  <a:pt x="20618" y="17373"/>
                  <a:pt x="20999" y="16714"/>
                  <a:pt x="21000" y="16000"/>
                </a:cubicBezTo>
                <a:lnTo>
                  <a:pt x="21000" y="8000"/>
                </a:lnTo>
                <a:cubicBezTo>
                  <a:pt x="20999" y="7286"/>
                  <a:pt x="20618" y="6627"/>
                  <a:pt x="20000" y="6270"/>
                </a:cubicBezTo>
                <a:lnTo>
                  <a:pt x="13000" y="2270"/>
                </a:lnTo>
                <a:cubicBezTo>
                  <a:pt x="12381" y="1913"/>
                  <a:pt x="11619" y="1913"/>
                  <a:pt x="11000" y="2270"/>
                </a:cubicBezTo>
                <a:lnTo>
                  <a:pt x="4000" y="6270"/>
                </a:lnTo>
                <a:cubicBezTo>
                  <a:pt x="3382" y="6627"/>
                  <a:pt x="3001" y="7286"/>
                  <a:pt x="3000" y="8000"/>
                </a:cubicBezTo>
                <a:lnTo>
                  <a:pt x="3000" y="16000"/>
                </a:lnTo>
                <a:cubicBezTo>
                  <a:pt x="3001" y="16714"/>
                  <a:pt x="3382" y="17373"/>
                  <a:pt x="4000" y="17730"/>
                </a:cubicBezTo>
                <a:close/>
                <a:moveTo>
                  <a:pt x="12000" y="22000"/>
                </a:moveTo>
                <a:lnTo>
                  <a:pt x="12000" y="12000"/>
                </a:lnTo>
                <a:moveTo>
                  <a:pt x="3290" y="7000"/>
                </a:moveTo>
                <a:lnTo>
                  <a:pt x="12000" y="12000"/>
                </a:lnTo>
                <a:lnTo>
                  <a:pt x="20710" y="7000"/>
                </a:lnTo>
                <a:moveTo>
                  <a:pt x="7500" y="4270"/>
                </a:moveTo>
                <a:lnTo>
                  <a:pt x="16500" y="9420"/>
                </a:lnTo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</p:sp>
      <p:sp>
        <p:nvSpPr>
          <p:cNvPr id="125" name="slot.input.2.icon"/>
          <p:cNvSpPr/>
          <p:nvPr/>
        </p:nvSpPr>
        <p:spPr>
          <a:xfrm>
            <a:off x="714963" y="2891333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5000" y="21000"/>
                </a:moveTo>
                <a:lnTo>
                  <a:pt x="15000" y="16000"/>
                </a:lnTo>
                <a:cubicBezTo>
                  <a:pt x="15000" y="15448"/>
                  <a:pt x="14552" y="15000"/>
                  <a:pt x="14000" y="15000"/>
                </a:cubicBezTo>
                <a:lnTo>
                  <a:pt x="10000" y="15000"/>
                </a:lnTo>
                <a:cubicBezTo>
                  <a:pt x="9448" y="15000"/>
                  <a:pt x="9000" y="15448"/>
                  <a:pt x="9000" y="16000"/>
                </a:cubicBezTo>
                <a:lnTo>
                  <a:pt x="9000" y="21000"/>
                </a:lnTo>
                <a:moveTo>
                  <a:pt x="17774" y="10310"/>
                </a:moveTo>
                <a:cubicBezTo>
                  <a:pt x="17341" y="9895"/>
                  <a:pt x="16658" y="9895"/>
                  <a:pt x="16225" y="10310"/>
                </a:cubicBezTo>
                <a:cubicBezTo>
                  <a:pt x="15259" y="11231"/>
                  <a:pt x="13740" y="11231"/>
                  <a:pt x="12774" y="10310"/>
                </a:cubicBezTo>
                <a:cubicBezTo>
                  <a:pt x="12341" y="9896"/>
                  <a:pt x="11659" y="9896"/>
                  <a:pt x="11226" y="10310"/>
                </a:cubicBezTo>
                <a:cubicBezTo>
                  <a:pt x="10260" y="11232"/>
                  <a:pt x="8740" y="11232"/>
                  <a:pt x="7774" y="10310"/>
                </a:cubicBezTo>
                <a:cubicBezTo>
                  <a:pt x="7341" y="9895"/>
                  <a:pt x="6658" y="9895"/>
                  <a:pt x="6225" y="10310"/>
                </a:cubicBezTo>
                <a:cubicBezTo>
                  <a:pt x="5294" y="11198"/>
                  <a:pt x="3842" y="11235"/>
                  <a:pt x="2867" y="10395"/>
                </a:cubicBezTo>
                <a:cubicBezTo>
                  <a:pt x="1893" y="9556"/>
                  <a:pt x="1714" y="8114"/>
                  <a:pt x="2455" y="7062"/>
                </a:cubicBezTo>
                <a:lnTo>
                  <a:pt x="5344" y="2878"/>
                </a:lnTo>
                <a:cubicBezTo>
                  <a:pt x="5716" y="2329"/>
                  <a:pt x="6337" y="2000"/>
                  <a:pt x="7000" y="2000"/>
                </a:cubicBezTo>
                <a:lnTo>
                  <a:pt x="17000" y="2000"/>
                </a:lnTo>
                <a:cubicBezTo>
                  <a:pt x="17661" y="2000"/>
                  <a:pt x="18280" y="2327"/>
                  <a:pt x="18653" y="2873"/>
                </a:cubicBezTo>
                <a:lnTo>
                  <a:pt x="21548" y="7065"/>
                </a:lnTo>
                <a:cubicBezTo>
                  <a:pt x="22289" y="8118"/>
                  <a:pt x="22109" y="9561"/>
                  <a:pt x="21133" y="10400"/>
                </a:cubicBezTo>
                <a:cubicBezTo>
                  <a:pt x="20157" y="11239"/>
                  <a:pt x="18703" y="11199"/>
                  <a:pt x="17774" y="10309"/>
                </a:cubicBezTo>
                <a:moveTo>
                  <a:pt x="4000" y="10950"/>
                </a:moveTo>
                <a:lnTo>
                  <a:pt x="4000" y="19000"/>
                </a:lnTo>
                <a:cubicBezTo>
                  <a:pt x="4000" y="20105"/>
                  <a:pt x="4895" y="21000"/>
                  <a:pt x="6000" y="21000"/>
                </a:cubicBezTo>
                <a:lnTo>
                  <a:pt x="18000" y="21000"/>
                </a:lnTo>
                <a:cubicBezTo>
                  <a:pt x="19105" y="21000"/>
                  <a:pt x="20000" y="20105"/>
                  <a:pt x="20000" y="19000"/>
                </a:cubicBezTo>
                <a:lnTo>
                  <a:pt x="20000" y="10950"/>
                </a:lnTo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</p:sp>
      <p:sp>
        <p:nvSpPr>
          <p:cNvPr id="126" name="slot.input.3.icon"/>
          <p:cNvSpPr/>
          <p:nvPr/>
        </p:nvSpPr>
        <p:spPr>
          <a:xfrm>
            <a:off x="714963" y="3622853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000" y="18000"/>
                </a:moveTo>
                <a:lnTo>
                  <a:pt x="14000" y="6000"/>
                </a:lnTo>
                <a:cubicBezTo>
                  <a:pt x="14000" y="4895"/>
                  <a:pt x="13105" y="4000"/>
                  <a:pt x="12000" y="4000"/>
                </a:cubicBezTo>
                <a:lnTo>
                  <a:pt x="4000" y="4000"/>
                </a:lnTo>
                <a:cubicBezTo>
                  <a:pt x="2895" y="4000"/>
                  <a:pt x="2000" y="4895"/>
                  <a:pt x="2000" y="6000"/>
                </a:cubicBezTo>
                <a:lnTo>
                  <a:pt x="2000" y="17000"/>
                </a:lnTo>
                <a:cubicBezTo>
                  <a:pt x="2000" y="17552"/>
                  <a:pt x="2448" y="18000"/>
                  <a:pt x="3000" y="18000"/>
                </a:cubicBezTo>
                <a:lnTo>
                  <a:pt x="5000" y="18000"/>
                </a:lnTo>
                <a:moveTo>
                  <a:pt x="15000" y="18000"/>
                </a:moveTo>
                <a:lnTo>
                  <a:pt x="9000" y="18000"/>
                </a:lnTo>
                <a:moveTo>
                  <a:pt x="19000" y="18000"/>
                </a:moveTo>
                <a:lnTo>
                  <a:pt x="21000" y="18000"/>
                </a:lnTo>
                <a:cubicBezTo>
                  <a:pt x="21552" y="18000"/>
                  <a:pt x="22000" y="17552"/>
                  <a:pt x="22000" y="17000"/>
                </a:cubicBezTo>
                <a:lnTo>
                  <a:pt x="22000" y="13350"/>
                </a:lnTo>
                <a:cubicBezTo>
                  <a:pt x="22000" y="13123"/>
                  <a:pt x="21922" y="12903"/>
                  <a:pt x="21780" y="12726"/>
                </a:cubicBezTo>
                <a:lnTo>
                  <a:pt x="18300" y="8376"/>
                </a:lnTo>
                <a:cubicBezTo>
                  <a:pt x="18111" y="8139"/>
                  <a:pt x="17824" y="8000"/>
                  <a:pt x="17520" y="8000"/>
                </a:cubicBezTo>
                <a:lnTo>
                  <a:pt x="14000" y="8000"/>
                </a:lnTo>
                <a:moveTo>
                  <a:pt x="19000" y="18000"/>
                </a:moveTo>
                <a:cubicBezTo>
                  <a:pt x="19000" y="19105"/>
                  <a:pt x="18105" y="20000"/>
                  <a:pt x="17000" y="20000"/>
                </a:cubicBezTo>
                <a:cubicBezTo>
                  <a:pt x="15895" y="20000"/>
                  <a:pt x="15000" y="19105"/>
                  <a:pt x="15000" y="18000"/>
                </a:cubicBezTo>
                <a:cubicBezTo>
                  <a:pt x="15000" y="16895"/>
                  <a:pt x="15895" y="16000"/>
                  <a:pt x="17000" y="16000"/>
                </a:cubicBezTo>
                <a:cubicBezTo>
                  <a:pt x="18105" y="16000"/>
                  <a:pt x="19000" y="16895"/>
                  <a:pt x="19000" y="18000"/>
                </a:cubicBezTo>
                <a:close/>
                <a:moveTo>
                  <a:pt x="9000" y="18000"/>
                </a:moveTo>
                <a:cubicBezTo>
                  <a:pt x="9000" y="19105"/>
                  <a:pt x="8105" y="20000"/>
                  <a:pt x="7000" y="20000"/>
                </a:cubicBezTo>
                <a:cubicBezTo>
                  <a:pt x="5895" y="20000"/>
                  <a:pt x="5000" y="19105"/>
                  <a:pt x="5000" y="18000"/>
                </a:cubicBezTo>
                <a:cubicBezTo>
                  <a:pt x="5000" y="16895"/>
                  <a:pt x="5895" y="16000"/>
                  <a:pt x="7000" y="16000"/>
                </a:cubicBezTo>
                <a:cubicBezTo>
                  <a:pt x="8105" y="16000"/>
                  <a:pt x="9000" y="16895"/>
                  <a:pt x="9000" y="18000"/>
                </a:cubicBezTo>
                <a:close/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</p:sp>
      <p:sp>
        <p:nvSpPr>
          <p:cNvPr id="127" name="slot.input.4.icon"/>
          <p:cNvSpPr/>
          <p:nvPr/>
        </p:nvSpPr>
        <p:spPr>
          <a:xfrm>
            <a:off x="714963" y="4353458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0000"/>
                </a:moveTo>
                <a:cubicBezTo>
                  <a:pt x="20000" y="14993"/>
                  <a:pt x="14461" y="20193"/>
                  <a:pt x="12601" y="21799"/>
                </a:cubicBezTo>
                <a:cubicBezTo>
                  <a:pt x="12245" y="22067"/>
                  <a:pt x="11755" y="22067"/>
                  <a:pt x="11399" y="21799"/>
                </a:cubicBezTo>
                <a:cubicBezTo>
                  <a:pt x="9539" y="20193"/>
                  <a:pt x="4000" y="14993"/>
                  <a:pt x="4000" y="10000"/>
                </a:cubicBezTo>
                <a:cubicBezTo>
                  <a:pt x="4000" y="5582"/>
                  <a:pt x="7582" y="2000"/>
                  <a:pt x="12000" y="2000"/>
                </a:cubicBezTo>
                <a:cubicBezTo>
                  <a:pt x="16418" y="2000"/>
                  <a:pt x="20000" y="5582"/>
                  <a:pt x="20000" y="10000"/>
                </a:cubicBezTo>
                <a:moveTo>
                  <a:pt x="15000" y="10000"/>
                </a:moveTo>
                <a:cubicBezTo>
                  <a:pt x="15000" y="11657"/>
                  <a:pt x="13657" y="13000"/>
                  <a:pt x="12000" y="13000"/>
                </a:cubicBezTo>
                <a:cubicBezTo>
                  <a:pt x="10343" y="13000"/>
                  <a:pt x="9000" y="11657"/>
                  <a:pt x="9000" y="10000"/>
                </a:cubicBezTo>
                <a:cubicBezTo>
                  <a:pt x="9000" y="8343"/>
                  <a:pt x="10343" y="7000"/>
                  <a:pt x="12000" y="7000"/>
                </a:cubicBezTo>
                <a:cubicBezTo>
                  <a:pt x="13657" y="7000"/>
                  <a:pt x="15000" y="8343"/>
                  <a:pt x="15000" y="10000"/>
                </a:cubicBezTo>
                <a:close/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</p:sp>
      <p:sp>
        <p:nvSpPr>
          <p:cNvPr id="128" name="slot.input.5.icon"/>
          <p:cNvSpPr/>
          <p:nvPr/>
        </p:nvSpPr>
        <p:spPr>
          <a:xfrm>
            <a:off x="714963" y="5084978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8000" y="2000"/>
                </a:moveTo>
                <a:lnTo>
                  <a:pt x="8000" y="5000"/>
                </a:lnTo>
                <a:moveTo>
                  <a:pt x="16000" y="2000"/>
                </a:moveTo>
                <a:lnTo>
                  <a:pt x="16000" y="5000"/>
                </a:lnTo>
                <a:moveTo>
                  <a:pt x="5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  <a:moveTo>
                  <a:pt x="3000" y="9000"/>
                </a:moveTo>
                <a:lnTo>
                  <a:pt x="21000" y="9000"/>
                </a:lnTo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</p:sp>
      <p:sp>
        <p:nvSpPr>
          <p:cNvPr id="129" name="slot.input.6.icon"/>
          <p:cNvSpPr/>
          <p:nvPr/>
        </p:nvSpPr>
        <p:spPr>
          <a:xfrm>
            <a:off x="714963" y="5816498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586" y="2586"/>
                </a:moveTo>
                <a:cubicBezTo>
                  <a:pt x="12211" y="2211"/>
                  <a:pt x="11702" y="2000"/>
                  <a:pt x="11172" y="2000"/>
                </a:cubicBezTo>
                <a:lnTo>
                  <a:pt x="4000" y="2000"/>
                </a:lnTo>
                <a:cubicBezTo>
                  <a:pt x="2895" y="2000"/>
                  <a:pt x="2000" y="2895"/>
                  <a:pt x="2000" y="4000"/>
                </a:cubicBezTo>
                <a:lnTo>
                  <a:pt x="2000" y="11172"/>
                </a:lnTo>
                <a:cubicBezTo>
                  <a:pt x="2000" y="11702"/>
                  <a:pt x="2211" y="12211"/>
                  <a:pt x="2586" y="12586"/>
                </a:cubicBezTo>
                <a:lnTo>
                  <a:pt x="11290" y="21290"/>
                </a:lnTo>
                <a:cubicBezTo>
                  <a:pt x="12236" y="22230"/>
                  <a:pt x="13764" y="22230"/>
                  <a:pt x="14710" y="21290"/>
                </a:cubicBezTo>
                <a:lnTo>
                  <a:pt x="21290" y="14710"/>
                </a:lnTo>
                <a:cubicBezTo>
                  <a:pt x="22230" y="13764"/>
                  <a:pt x="22230" y="12236"/>
                  <a:pt x="21290" y="11290"/>
                </a:cubicBezTo>
                <a:close/>
              </a:path>
              <a:path w="24000" h="24000">
                <a:moveTo>
                  <a:pt x="8000" y="7500"/>
                </a:moveTo>
                <a:cubicBezTo>
                  <a:pt x="8000" y="7776"/>
                  <a:pt x="7776" y="8000"/>
                  <a:pt x="7500" y="8000"/>
                </a:cubicBezTo>
                <a:cubicBezTo>
                  <a:pt x="7224" y="8000"/>
                  <a:pt x="7000" y="7776"/>
                  <a:pt x="7000" y="7500"/>
                </a:cubicBezTo>
                <a:cubicBezTo>
                  <a:pt x="7000" y="7224"/>
                  <a:pt x="7224" y="7000"/>
                  <a:pt x="7500" y="7000"/>
                </a:cubicBezTo>
                <a:cubicBezTo>
                  <a:pt x="7776" y="7000"/>
                  <a:pt x="8000" y="7224"/>
                  <a:pt x="8000" y="7500"/>
                </a:cubicBezTo>
                <a:close/>
              </a:path>
            </a:pathLst>
          </a:custGeom>
          <a:solidFill>
            <a:schemeClr val="accent1"/>
          </a:solidFill>
          <a:ln w="18415" cap="rnd">
            <a:solidFill>
              <a:schemeClr val="accent1"/>
            </a:solidFill>
            <a:round/>
          </a:ln>
          <a:effectLst/>
        </p:spPr>
      </p:sp>
      <p:sp>
        <p:nvSpPr>
          <p:cNvPr id="130" name="slot.rules.icon"/>
          <p:cNvSpPr/>
          <p:nvPr/>
        </p:nvSpPr>
        <p:spPr>
          <a:xfrm>
            <a:off x="5218931" y="2093976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000" y="20000"/>
                </a:moveTo>
                <a:cubicBezTo>
                  <a:pt x="10000" y="20379"/>
                  <a:pt x="10214" y="20726"/>
                  <a:pt x="10553" y="20895"/>
                </a:cubicBezTo>
                <a:lnTo>
                  <a:pt x="12553" y="21895"/>
                </a:lnTo>
                <a:cubicBezTo>
                  <a:pt x="12863" y="22050"/>
                  <a:pt x="13231" y="22033"/>
                  <a:pt x="13526" y="21851"/>
                </a:cubicBezTo>
                <a:cubicBezTo>
                  <a:pt x="13821" y="21669"/>
                  <a:pt x="14000" y="21347"/>
                  <a:pt x="14000" y="21000"/>
                </a:cubicBezTo>
                <a:lnTo>
                  <a:pt x="14000" y="14000"/>
                </a:lnTo>
                <a:cubicBezTo>
                  <a:pt x="14000" y="13504"/>
                  <a:pt x="14184" y="13027"/>
                  <a:pt x="14517" y="12659"/>
                </a:cubicBezTo>
                <a:lnTo>
                  <a:pt x="21740" y="4670"/>
                </a:lnTo>
                <a:cubicBezTo>
                  <a:pt x="22004" y="4377"/>
                  <a:pt x="22072" y="3956"/>
                  <a:pt x="21912" y="3595"/>
                </a:cubicBezTo>
                <a:cubicBezTo>
                  <a:pt x="21752" y="3234"/>
                  <a:pt x="21395" y="3001"/>
                  <a:pt x="21000" y="3000"/>
                </a:cubicBezTo>
                <a:lnTo>
                  <a:pt x="3000" y="3000"/>
                </a:lnTo>
                <a:cubicBezTo>
                  <a:pt x="2605" y="3000"/>
                  <a:pt x="2247" y="3233"/>
                  <a:pt x="2087" y="3594"/>
                </a:cubicBezTo>
                <a:cubicBezTo>
                  <a:pt x="1926" y="3955"/>
                  <a:pt x="1993" y="4377"/>
                  <a:pt x="2258" y="4670"/>
                </a:cubicBezTo>
                <a:lnTo>
                  <a:pt x="9483" y="12659"/>
                </a:lnTo>
                <a:cubicBezTo>
                  <a:pt x="9816" y="13027"/>
                  <a:pt x="10000" y="13504"/>
                  <a:pt x="10000" y="14000"/>
                </a:cubicBezTo>
                <a:close/>
              </a:path>
            </a:pathLst>
          </a:custGeom>
          <a:noFill/>
          <a:ln w="18415" cap="rnd">
            <a:solidFill>
              <a:schemeClr val="bg1"/>
            </a:solidFill>
            <a:round/>
          </a:ln>
          <a:effectLst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ioritization-matrix:value-effort-waves">
    <p:spTree>
      <p:nvGrpSpPr>
        <p:cNvPr id="1" name=""/>
        <p:cNvGrpSpPr/>
        <p:nvPr/>
      </p:nvGrpSpPr>
      <p:grpSpPr/>
      <p:sp>
        <p:nvSpPr>
          <p:cNvPr id="2" name="slot.title"/>
          <p:cNvSpPr/>
          <p:nvPr/>
        </p:nvSpPr>
        <p:spPr>
          <a:xfrm>
            <a:off x="457200" y="256032"/>
            <a:ext cx="1133856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Three quick wins</a:t>
            </a:r>
            <a:r>
              <a:rPr lang="en-US" sz="2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start next quarter while four bets wait for the platform</a:t>
            </a:r>
            <a:endParaRPr lang="en-US" sz="2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ot.axis.x"/>
          <p:cNvSpPr/>
          <p:nvPr/>
        </p:nvSpPr>
        <p:spPr>
          <a:xfrm>
            <a:off x="868680" y="6153912"/>
            <a:ext cx="7498079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Effort to deliver</a:t>
            </a:r>
            <a:endParaRPr lang="en-US" sz="1100" b="1" i="0" kern="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ot.axis.y"/>
          <p:cNvSpPr/>
          <p:nvPr/>
        </p:nvSpPr>
        <p:spPr>
          <a:xfrm rot="-5400000">
            <a:off x="0" y="3406140"/>
            <a:ext cx="1426464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34275" lIns="68575" spcFirstLastPara="1" rIns="68575" wrap="square" tIns="34275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Business value</a:t>
            </a:r>
            <a:endParaRPr lang="en-US" sz="1100" b="1" i="0" kern="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truct.field"/>
          <p:cNvSpPr/>
          <p:nvPr/>
        </p:nvSpPr>
        <p:spPr>
          <a:xfrm>
            <a:off x="868680" y="1005840"/>
            <a:ext cx="7498079" cy="50749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sz="14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slot.quadrant.1.label"/>
          <p:cNvSpPr/>
          <p:nvPr/>
        </p:nvSpPr>
        <p:spPr>
          <a:xfrm>
            <a:off x="1252728" y="1078992"/>
            <a:ext cx="164592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Quick wins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lot.quadrant.2.label"/>
          <p:cNvSpPr/>
          <p:nvPr/>
        </p:nvSpPr>
        <p:spPr>
          <a:xfrm>
            <a:off x="5001768" y="1078992"/>
            <a:ext cx="164592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Strategic bets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lot.quadrant.3.label"/>
          <p:cNvSpPr/>
          <p:nvPr/>
        </p:nvSpPr>
        <p:spPr>
          <a:xfrm>
            <a:off x="1252728" y="3611880"/>
            <a:ext cx="164592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Fill-ins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slot.quadrant.4.label"/>
          <p:cNvSpPr/>
          <p:nvPr/>
        </p:nvSpPr>
        <p:spPr>
          <a:xfrm>
            <a:off x="5001768" y="3611880"/>
            <a:ext cx="164592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Deprioritize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0" name="struct.grid.1"/>
          <p:cNvCxnSpPr/>
          <p:nvPr/>
        </p:nvCxnSpPr>
        <p:spPr>
          <a:xfrm>
            <a:off x="2743131" y="1005815"/>
            <a:ext cx="800" cy="5074673"/>
          </a:xfrm>
          <a:prstGeom prst="straightConnector1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  <a:effectLst/>
        </p:spPr>
      </p:cxnSp>
      <p:cxnSp>
        <p:nvCxnSpPr>
          <p:cNvPr id="11" name="struct.grid.2"/>
          <p:cNvCxnSpPr/>
          <p:nvPr/>
        </p:nvCxnSpPr>
        <p:spPr>
          <a:xfrm>
            <a:off x="868658" y="2274514"/>
            <a:ext cx="7497813" cy="0"/>
          </a:xfrm>
          <a:prstGeom prst="straightConnector1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  <a:effectLst/>
        </p:spPr>
      </p:cxnSp>
      <p:cxnSp>
        <p:nvCxnSpPr>
          <p:cNvPr id="12" name="struct.grid.5"/>
          <p:cNvCxnSpPr/>
          <p:nvPr/>
        </p:nvCxnSpPr>
        <p:spPr>
          <a:xfrm>
            <a:off x="6492078" y="1005815"/>
            <a:ext cx="800" cy="5074673"/>
          </a:xfrm>
          <a:prstGeom prst="straightConnector1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  <a:effectLst/>
        </p:spPr>
      </p:cxnSp>
      <p:cxnSp>
        <p:nvCxnSpPr>
          <p:cNvPr id="13" name="struct.grid.6"/>
          <p:cNvCxnSpPr/>
          <p:nvPr/>
        </p:nvCxnSpPr>
        <p:spPr>
          <a:xfrm>
            <a:off x="868658" y="4811910"/>
            <a:ext cx="7497813" cy="0"/>
          </a:xfrm>
          <a:prstGeom prst="straightConnector1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  <a:effectLst/>
        </p:spPr>
      </p:cxnSp>
      <p:cxnSp>
        <p:nvCxnSpPr>
          <p:cNvPr id="14" name="struct.grid.7"/>
          <p:cNvCxnSpPr/>
          <p:nvPr/>
        </p:nvCxnSpPr>
        <p:spPr>
          <a:xfrm>
            <a:off x="4617605" y="1005815"/>
            <a:ext cx="800" cy="5074673"/>
          </a:xfrm>
          <a:prstGeom prst="straightConnector1">
            <a:avLst/>
          </a:prstGeom>
          <a:noFill/>
          <a:ln w="12700"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cxnSp>
        <p:nvCxnSpPr>
          <p:cNvPr id="15" name="struct.grid.8"/>
          <p:cNvCxnSpPr/>
          <p:nvPr/>
        </p:nvCxnSpPr>
        <p:spPr>
          <a:xfrm>
            <a:off x="868658" y="3543211"/>
            <a:ext cx="7497813" cy="0"/>
          </a:xfrm>
          <a:prstGeom prst="straightConnector1">
            <a:avLst/>
          </a:prstGeom>
          <a:noFill/>
          <a:ln w="12700"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sp>
        <p:nvSpPr>
          <p:cNvPr id="16" name="struct.field.frame"/>
          <p:cNvSpPr/>
          <p:nvPr/>
        </p:nvSpPr>
        <p:spPr>
          <a:xfrm>
            <a:off x="868658" y="1005815"/>
            <a:ext cx="7497813" cy="5074673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sz="14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struct.disc.1"/>
          <p:cNvSpPr/>
          <p:nvPr/>
        </p:nvSpPr>
        <p:spPr>
          <a:xfrm>
            <a:off x="1618488" y="1472184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sz="14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slot.disc.1.num"/>
          <p:cNvSpPr/>
          <p:nvPr/>
        </p:nvSpPr>
        <p:spPr>
          <a:xfrm>
            <a:off x="1618488" y="1472184"/>
            <a:ext cx="310896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truct.disc.2"/>
          <p:cNvSpPr/>
          <p:nvPr/>
        </p:nvSpPr>
        <p:spPr>
          <a:xfrm>
            <a:off x="2057400" y="181051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sz="14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slot.disc.2.num"/>
          <p:cNvSpPr/>
          <p:nvPr/>
        </p:nvSpPr>
        <p:spPr>
          <a:xfrm>
            <a:off x="2057400" y="1810512"/>
            <a:ext cx="310896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truct.disc.3"/>
          <p:cNvSpPr/>
          <p:nvPr/>
        </p:nvSpPr>
        <p:spPr>
          <a:xfrm>
            <a:off x="2487168" y="210312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sz="14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slot.disc.3.num"/>
          <p:cNvSpPr/>
          <p:nvPr/>
        </p:nvSpPr>
        <p:spPr>
          <a:xfrm>
            <a:off x="2487168" y="2103120"/>
            <a:ext cx="310896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struct.disc.4"/>
          <p:cNvSpPr/>
          <p:nvPr/>
        </p:nvSpPr>
        <p:spPr>
          <a:xfrm>
            <a:off x="3703320" y="1362456"/>
            <a:ext cx="310896" cy="310896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19050">
            <a:solidFill>
              <a:schemeClr val="bg1"/>
            </a:solidFill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sz="14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slot.disc.4.num"/>
          <p:cNvSpPr/>
          <p:nvPr/>
        </p:nvSpPr>
        <p:spPr>
          <a:xfrm>
            <a:off x="3703320" y="1362456"/>
            <a:ext cx="310896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struct.disc.5"/>
          <p:cNvSpPr/>
          <p:nvPr/>
        </p:nvSpPr>
        <p:spPr>
          <a:xfrm>
            <a:off x="3273552" y="1874519"/>
            <a:ext cx="310896" cy="310896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19050">
            <a:solidFill>
              <a:schemeClr val="bg1"/>
            </a:solidFill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sz="14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slot.disc.5.num"/>
          <p:cNvSpPr/>
          <p:nvPr/>
        </p:nvSpPr>
        <p:spPr>
          <a:xfrm>
            <a:off x="3273552" y="1874519"/>
            <a:ext cx="310896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5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truct.disc.6"/>
          <p:cNvSpPr/>
          <p:nvPr/>
        </p:nvSpPr>
        <p:spPr>
          <a:xfrm>
            <a:off x="4032504" y="2523744"/>
            <a:ext cx="310896" cy="310896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19050">
            <a:solidFill>
              <a:schemeClr val="bg1"/>
            </a:solidFill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sz="14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slot.disc.6.num"/>
          <p:cNvSpPr/>
          <p:nvPr/>
        </p:nvSpPr>
        <p:spPr>
          <a:xfrm>
            <a:off x="4032504" y="2523744"/>
            <a:ext cx="310896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6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truct.disc.7"/>
          <p:cNvSpPr/>
          <p:nvPr/>
        </p:nvSpPr>
        <p:spPr>
          <a:xfrm>
            <a:off x="3886200" y="3108960"/>
            <a:ext cx="310896" cy="310896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19050">
            <a:solidFill>
              <a:schemeClr val="bg1"/>
            </a:solidFill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sz="14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slot.disc.7.num"/>
          <p:cNvSpPr/>
          <p:nvPr/>
        </p:nvSpPr>
        <p:spPr>
          <a:xfrm>
            <a:off x="3886200" y="3108960"/>
            <a:ext cx="310896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7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truct.disc.8"/>
          <p:cNvSpPr/>
          <p:nvPr/>
        </p:nvSpPr>
        <p:spPr>
          <a:xfrm>
            <a:off x="6574536" y="1261872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sz="14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slot.disc.8.num"/>
          <p:cNvSpPr/>
          <p:nvPr/>
        </p:nvSpPr>
        <p:spPr>
          <a:xfrm>
            <a:off x="6574536" y="1261872"/>
            <a:ext cx="310896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8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struct.disc.9"/>
          <p:cNvSpPr/>
          <p:nvPr/>
        </p:nvSpPr>
        <p:spPr>
          <a:xfrm>
            <a:off x="6108192" y="2679192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sz="14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slot.disc.9.num"/>
          <p:cNvSpPr/>
          <p:nvPr/>
        </p:nvSpPr>
        <p:spPr>
          <a:xfrm>
            <a:off x="6108192" y="2679192"/>
            <a:ext cx="310896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9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truct.disc.11"/>
          <p:cNvSpPr/>
          <p:nvPr/>
        </p:nvSpPr>
        <p:spPr>
          <a:xfrm>
            <a:off x="6867144" y="3904487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sz="14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slot.disc.11.num"/>
          <p:cNvSpPr/>
          <p:nvPr/>
        </p:nvSpPr>
        <p:spPr>
          <a:xfrm>
            <a:off x="6867144" y="3904487"/>
            <a:ext cx="310896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11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struct.disc.10"/>
          <p:cNvSpPr/>
          <p:nvPr/>
        </p:nvSpPr>
        <p:spPr>
          <a:xfrm>
            <a:off x="3419856" y="3794760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sz="14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slot.disc.10.num"/>
          <p:cNvSpPr/>
          <p:nvPr/>
        </p:nvSpPr>
        <p:spPr>
          <a:xfrm>
            <a:off x="3419856" y="3794760"/>
            <a:ext cx="310896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10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struct.disc.12"/>
          <p:cNvSpPr/>
          <p:nvPr/>
        </p:nvSpPr>
        <p:spPr>
          <a:xfrm>
            <a:off x="7470648" y="5138928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55000"/>
              </a:schemeClr>
            </a:solidFill>
            <a:prstDash val="dash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sz="14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slot.disc.12.num"/>
          <p:cNvSpPr/>
          <p:nvPr/>
        </p:nvSpPr>
        <p:spPr>
          <a:xfrm>
            <a:off x="7470648" y="5138928"/>
            <a:ext cx="310896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12</a:t>
            </a:r>
            <a:endParaRPr lang="en-US" sz="10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lot.key.head"/>
          <p:cNvSpPr/>
          <p:nvPr/>
        </p:nvSpPr>
        <p:spPr>
          <a:xfrm>
            <a:off x="8732520" y="1005840"/>
            <a:ext cx="30175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Candidates by delivery wave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struct.key.1.dot"/>
          <p:cNvSpPr/>
          <p:nvPr/>
        </p:nvSpPr>
        <p:spPr>
          <a:xfrm>
            <a:off x="8732520" y="1463040"/>
            <a:ext cx="137160" cy="13716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sz="14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slot.key.1.head"/>
          <p:cNvSpPr/>
          <p:nvPr/>
        </p:nvSpPr>
        <p:spPr>
          <a:xfrm>
            <a:off x="8961120" y="1389888"/>
            <a:ext cx="27889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Wave 1, next quarter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slot.key.1.item.1"/>
          <p:cNvSpPr/>
          <p:nvPr/>
        </p:nvSpPr>
        <p:spPr>
          <a:xfrm>
            <a:off x="8961120" y="1682496"/>
            <a:ext cx="2788920" cy="24688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 1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  Invoice matching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lot.key.1.item.2"/>
          <p:cNvSpPr/>
          <p:nvPr/>
        </p:nvSpPr>
        <p:spPr>
          <a:xfrm>
            <a:off x="8961120" y="1929384"/>
            <a:ext cx="2788920" cy="24688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 2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  Contract clause search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slot.key.1.item.3"/>
          <p:cNvSpPr/>
          <p:nvPr/>
        </p:nvSpPr>
        <p:spPr>
          <a:xfrm>
            <a:off x="8961120" y="2176272"/>
            <a:ext cx="2788920" cy="24688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 3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  Service ticket triage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struct.key.2.dot"/>
          <p:cNvSpPr/>
          <p:nvPr/>
        </p:nvSpPr>
        <p:spPr>
          <a:xfrm>
            <a:off x="8732520" y="2679192"/>
            <a:ext cx="137160" cy="13716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sz="14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slot.key.2.head"/>
          <p:cNvSpPr/>
          <p:nvPr/>
        </p:nvSpPr>
        <p:spPr>
          <a:xfrm>
            <a:off x="8961120" y="2606040"/>
            <a:ext cx="27889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Wave 2, within two quarters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slot.key.2.item.1"/>
          <p:cNvSpPr/>
          <p:nvPr/>
        </p:nvSpPr>
        <p:spPr>
          <a:xfrm>
            <a:off x="8961120" y="2898648"/>
            <a:ext cx="2788920" cy="24688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 4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  Supplier risk alerts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slot.key.2.item.2"/>
          <p:cNvSpPr/>
          <p:nvPr/>
        </p:nvSpPr>
        <p:spPr>
          <a:xfrm>
            <a:off x="8961120" y="3145536"/>
            <a:ext cx="2788920" cy="24688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 5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  Demand forecast refresh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slot.key.2.item.3"/>
          <p:cNvSpPr/>
          <p:nvPr/>
        </p:nvSpPr>
        <p:spPr>
          <a:xfrm>
            <a:off x="8961120" y="3392424"/>
            <a:ext cx="2788920" cy="24688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 6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  Sales call summaries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slot.key.2.item.4"/>
          <p:cNvSpPr/>
          <p:nvPr/>
        </p:nvSpPr>
        <p:spPr>
          <a:xfrm>
            <a:off x="8961120" y="3639312"/>
            <a:ext cx="2788920" cy="24688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 7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  Field visit planning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struct.key.3.dot"/>
          <p:cNvSpPr/>
          <p:nvPr/>
        </p:nvSpPr>
        <p:spPr>
          <a:xfrm>
            <a:off x="8732520" y="4142232"/>
            <a:ext cx="137160" cy="13716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sz="14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slot.key.3.head"/>
          <p:cNvSpPr/>
          <p:nvPr/>
        </p:nvSpPr>
        <p:spPr>
          <a:xfrm>
            <a:off x="8961120" y="4069080"/>
            <a:ext cx="27889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Wave 3, after the platform build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slot.key.3.item.1"/>
          <p:cNvSpPr/>
          <p:nvPr/>
        </p:nvSpPr>
        <p:spPr>
          <a:xfrm>
            <a:off x="8961120" y="4361688"/>
            <a:ext cx="2788920" cy="24688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 8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  Dynamic pricing engine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lot.key.3.item.2"/>
          <p:cNvSpPr/>
          <p:nvPr/>
        </p:nvSpPr>
        <p:spPr>
          <a:xfrm>
            <a:off x="8961120" y="4608576"/>
            <a:ext cx="2788920" cy="24688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 9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  Inventory rebalancing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slot.key.3.item.3"/>
          <p:cNvSpPr/>
          <p:nvPr/>
        </p:nvSpPr>
        <p:spPr>
          <a:xfrm>
            <a:off x="8961120" y="4855464"/>
            <a:ext cx="2788920" cy="24688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10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  Warranty claim screening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slot.key.3.item.4"/>
          <p:cNvSpPr/>
          <p:nvPr/>
        </p:nvSpPr>
        <p:spPr>
          <a:xfrm>
            <a:off x="8961120" y="5102352"/>
            <a:ext cx="2788920" cy="24688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11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  Customer churn model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struct.key.4.dot"/>
          <p:cNvSpPr/>
          <p:nvPr/>
        </p:nvSpPr>
        <p:spPr>
          <a:xfrm>
            <a:off x="8732520" y="5605272"/>
            <a:ext cx="137160" cy="13716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bg1">
                <a:lumMod val="55000"/>
              </a:schemeClr>
            </a:solidFill>
            <a:prstDash val="dash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sz="14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slot.key.4.head"/>
          <p:cNvSpPr/>
          <p:nvPr/>
        </p:nvSpPr>
        <p:spPr>
          <a:xfrm>
            <a:off x="8961120" y="5532120"/>
            <a:ext cx="27889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Parked for review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slot.key.4.item.1"/>
          <p:cNvSpPr/>
          <p:nvPr/>
        </p:nvSpPr>
        <p:spPr>
          <a:xfrm>
            <a:off x="8961120" y="5824728"/>
            <a:ext cx="2788920" cy="24688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12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  Autonomous purchasing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slot.quadrant.1.icon"/>
          <p:cNvSpPr/>
          <p:nvPr/>
        </p:nvSpPr>
        <p:spPr>
          <a:xfrm>
            <a:off x="996696" y="1106424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5914" y="4000"/>
                </a:moveTo>
                <a:cubicBezTo>
                  <a:pt x="16147" y="3340"/>
                  <a:pt x="15892" y="2606"/>
                  <a:pt x="15300" y="2232"/>
                </a:cubicBezTo>
                <a:cubicBezTo>
                  <a:pt x="14708" y="1859"/>
                  <a:pt x="13936" y="1944"/>
                  <a:pt x="13440" y="2439"/>
                </a:cubicBezTo>
                <a:lnTo>
                  <a:pt x="4440" y="11439"/>
                </a:lnTo>
                <a:cubicBezTo>
                  <a:pt x="4011" y="11868"/>
                  <a:pt x="3882" y="12513"/>
                  <a:pt x="4114" y="13074"/>
                </a:cubicBezTo>
                <a:cubicBezTo>
                  <a:pt x="4346" y="13634"/>
                  <a:pt x="4893" y="14000"/>
                  <a:pt x="5500" y="14000"/>
                </a:cubicBezTo>
                <a:lnTo>
                  <a:pt x="9502" y="14000"/>
                </a:lnTo>
                <a:cubicBezTo>
                  <a:pt x="9664" y="14000"/>
                  <a:pt x="9816" y="14079"/>
                  <a:pt x="9910" y="14211"/>
                </a:cubicBezTo>
                <a:cubicBezTo>
                  <a:pt x="10003" y="14344"/>
                  <a:pt x="10027" y="14513"/>
                  <a:pt x="9973" y="14666"/>
                </a:cubicBezTo>
                <a:lnTo>
                  <a:pt x="8086" y="20000"/>
                </a:lnTo>
                <a:cubicBezTo>
                  <a:pt x="7853" y="20661"/>
                  <a:pt x="8108" y="21395"/>
                  <a:pt x="8701" y="21768"/>
                </a:cubicBezTo>
                <a:cubicBezTo>
                  <a:pt x="9293" y="22142"/>
                  <a:pt x="10066" y="22055"/>
                  <a:pt x="10561" y="21560"/>
                </a:cubicBezTo>
                <a:lnTo>
                  <a:pt x="19561" y="12560"/>
                </a:lnTo>
                <a:cubicBezTo>
                  <a:pt x="19990" y="12131"/>
                  <a:pt x="20118" y="11486"/>
                  <a:pt x="19885" y="10926"/>
                </a:cubicBezTo>
                <a:cubicBezTo>
                  <a:pt x="19653" y="10365"/>
                  <a:pt x="19106" y="10000"/>
                  <a:pt x="18500" y="10000"/>
                </a:cubicBezTo>
                <a:lnTo>
                  <a:pt x="14503" y="10000"/>
                </a:lnTo>
                <a:cubicBezTo>
                  <a:pt x="14340" y="10000"/>
                  <a:pt x="14188" y="9921"/>
                  <a:pt x="14094" y="9789"/>
                </a:cubicBezTo>
                <a:cubicBezTo>
                  <a:pt x="14000" y="9656"/>
                  <a:pt x="13977" y="9486"/>
                  <a:pt x="14031" y="9333"/>
                </a:cubicBezTo>
                <a:close/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</p:sp>
      <p:sp>
        <p:nvSpPr>
          <p:cNvPr id="63" name="slot.quadrant.2.icon"/>
          <p:cNvSpPr/>
          <p:nvPr/>
        </p:nvSpPr>
        <p:spPr>
          <a:xfrm>
            <a:off x="4745736" y="1106424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8000" y="12000"/>
                </a:moveTo>
                <a:cubicBezTo>
                  <a:pt x="18000" y="15314"/>
                  <a:pt x="15314" y="18000"/>
                  <a:pt x="12000" y="18000"/>
                </a:cubicBezTo>
                <a:cubicBezTo>
                  <a:pt x="8686" y="18000"/>
                  <a:pt x="6000" y="15314"/>
                  <a:pt x="6000" y="12000"/>
                </a:cubicBezTo>
                <a:cubicBezTo>
                  <a:pt x="6000" y="8686"/>
                  <a:pt x="8686" y="6000"/>
                  <a:pt x="12000" y="6000"/>
                </a:cubicBezTo>
                <a:cubicBezTo>
                  <a:pt x="15314" y="6000"/>
                  <a:pt x="18000" y="8686"/>
                  <a:pt x="18000" y="12000"/>
                </a:cubicBezTo>
                <a:close/>
                <a:moveTo>
                  <a:pt x="14000" y="12000"/>
                </a:moveTo>
                <a:cubicBezTo>
                  <a:pt x="14000" y="13105"/>
                  <a:pt x="13105" y="14000"/>
                  <a:pt x="12000" y="14000"/>
                </a:cubicBezTo>
                <a:cubicBezTo>
                  <a:pt x="10895" y="14000"/>
                  <a:pt x="10000" y="13105"/>
                  <a:pt x="10000" y="12000"/>
                </a:cubicBezTo>
                <a:cubicBezTo>
                  <a:pt x="10000" y="10895"/>
                  <a:pt x="10895" y="10000"/>
                  <a:pt x="12000" y="10000"/>
                </a:cubicBezTo>
                <a:cubicBezTo>
                  <a:pt x="13105" y="10000"/>
                  <a:pt x="14000" y="10895"/>
                  <a:pt x="14000" y="12000"/>
                </a:cubicBezTo>
                <a:close/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</p:sp>
      <p:sp>
        <p:nvSpPr>
          <p:cNvPr id="64" name="slot.quadrant.3.icon"/>
          <p:cNvSpPr/>
          <p:nvPr/>
        </p:nvSpPr>
        <p:spPr>
          <a:xfrm>
            <a:off x="996696" y="3639312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000" y="5000"/>
                </a:moveTo>
                <a:lnTo>
                  <a:pt x="21000" y="5000"/>
                </a:lnTo>
                <a:moveTo>
                  <a:pt x="13000" y="12000"/>
                </a:moveTo>
                <a:lnTo>
                  <a:pt x="21000" y="12000"/>
                </a:lnTo>
                <a:moveTo>
                  <a:pt x="13000" y="19000"/>
                </a:moveTo>
                <a:lnTo>
                  <a:pt x="21000" y="19000"/>
                </a:lnTo>
                <a:moveTo>
                  <a:pt x="3000" y="17000"/>
                </a:moveTo>
                <a:lnTo>
                  <a:pt x="5000" y="19000"/>
                </a:lnTo>
                <a:lnTo>
                  <a:pt x="9000" y="15000"/>
                </a:lnTo>
                <a:moveTo>
                  <a:pt x="3000" y="7000"/>
                </a:moveTo>
                <a:lnTo>
                  <a:pt x="5000" y="9000"/>
                </a:lnTo>
                <a:lnTo>
                  <a:pt x="9000" y="5000"/>
                </a:ln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</p:sp>
      <p:sp>
        <p:nvSpPr>
          <p:cNvPr id="65" name="slot.quadrant.4.icon"/>
          <p:cNvSpPr/>
          <p:nvPr/>
        </p:nvSpPr>
        <p:spPr>
          <a:xfrm>
            <a:off x="4745736" y="3639312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22000"/>
                </a:moveTo>
                <a:lnTo>
                  <a:pt x="19000" y="22000"/>
                </a:lnTo>
                <a:moveTo>
                  <a:pt x="5000" y="2000"/>
                </a:moveTo>
                <a:lnTo>
                  <a:pt x="19000" y="2000"/>
                </a:lnTo>
                <a:moveTo>
                  <a:pt x="17000" y="22000"/>
                </a:moveTo>
                <a:lnTo>
                  <a:pt x="17000" y="17828"/>
                </a:lnTo>
                <a:cubicBezTo>
                  <a:pt x="17000" y="17298"/>
                  <a:pt x="16789" y="16789"/>
                  <a:pt x="16414" y="16414"/>
                </a:cubicBezTo>
                <a:lnTo>
                  <a:pt x="12000" y="12000"/>
                </a:lnTo>
                <a:lnTo>
                  <a:pt x="7586" y="16414"/>
                </a:lnTo>
                <a:cubicBezTo>
                  <a:pt x="7211" y="16789"/>
                  <a:pt x="7000" y="17298"/>
                  <a:pt x="7000" y="17828"/>
                </a:cubicBezTo>
                <a:lnTo>
                  <a:pt x="7000" y="22000"/>
                </a:lnTo>
                <a:moveTo>
                  <a:pt x="7000" y="2000"/>
                </a:moveTo>
                <a:lnTo>
                  <a:pt x="7000" y="6172"/>
                </a:lnTo>
                <a:cubicBezTo>
                  <a:pt x="7000" y="6702"/>
                  <a:pt x="7211" y="7211"/>
                  <a:pt x="7586" y="7586"/>
                </a:cubicBezTo>
                <a:lnTo>
                  <a:pt x="12000" y="12000"/>
                </a:lnTo>
                <a:lnTo>
                  <a:pt x="16414" y="7586"/>
                </a:lnTo>
                <a:cubicBezTo>
                  <a:pt x="16789" y="7211"/>
                  <a:pt x="17000" y="6702"/>
                  <a:pt x="17000" y="6172"/>
                </a:cubicBezTo>
                <a:lnTo>
                  <a:pt x="17000" y="2000"/>
                </a:ln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</p:sp>
      <p:sp>
        <p:nvSpPr>
          <p:cNvPr id="66" name="slot.axis.x.low"/>
          <p:cNvSpPr txBox="1"/>
          <p:nvPr/>
        </p:nvSpPr>
        <p:spPr>
          <a:xfrm>
            <a:off x="978407" y="5751576"/>
            <a:ext cx="1371600" cy="256032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Low effort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slot.axis.x.high"/>
          <p:cNvSpPr txBox="1"/>
          <p:nvPr/>
        </p:nvSpPr>
        <p:spPr>
          <a:xfrm>
            <a:off x="6885431" y="5751576"/>
            <a:ext cx="1371600" cy="256032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ctr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High effort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value-horizons:winding-road-growing-cards">
    <p:spTree>
      <p:nvGrpSpPr>
        <p:cNvPr id="1" name=""/>
        <p:cNvGrpSpPr/>
        <p:nvPr/>
      </p:nvGrpSpPr>
      <p:grpSpPr/>
      <p:sp>
        <p:nvSpPr>
          <p:cNvPr id="2" name="bleed.road"/>
          <p:cNvSpPr/>
          <p:nvPr/>
        </p:nvSpPr>
        <p:spPr>
          <a:xfrm>
            <a:off x="14750" y="1629896"/>
            <a:ext cx="12166475" cy="4615210"/>
          </a:xfrm>
          <a:custGeom>
            <a:rect b="b" l="l" r="r" t="t"/>
            <a:pathLst>
              <a:path extrusionOk="0" h="3284847" w="8179143">
                <a:moveTo>
                  <a:pt x="1780" y="0"/>
                </a:moveTo>
                <a:cubicBezTo>
                  <a:pt x="790066" y="17014"/>
                  <a:pt x="1648607" y="1173"/>
                  <a:pt x="1761119" y="167134"/>
                </a:cubicBezTo>
                <a:cubicBezTo>
                  <a:pt x="1873631" y="333095"/>
                  <a:pt x="612804" y="818104"/>
                  <a:pt x="676850" y="995768"/>
                </a:cubicBezTo>
                <a:cubicBezTo>
                  <a:pt x="1053531" y="1137766"/>
                  <a:pt x="4959523" y="990631"/>
                  <a:pt x="5375629" y="1227042"/>
                </a:cubicBezTo>
                <a:cubicBezTo>
                  <a:pt x="5821031" y="1492971"/>
                  <a:pt x="2890600" y="2332884"/>
                  <a:pt x="3308249" y="2609055"/>
                </a:cubicBezTo>
                <a:cubicBezTo>
                  <a:pt x="3725898" y="2885226"/>
                  <a:pt x="6039616" y="2884942"/>
                  <a:pt x="7881524" y="2884066"/>
                </a:cubicBezTo>
                <a:lnTo>
                  <a:pt x="8179143" y="2884701"/>
                </a:lnTo>
                <a:lnTo>
                  <a:pt x="8179143" y="3284847"/>
                </a:lnTo>
                <a:lnTo>
                  <a:pt x="8164626" y="3284577"/>
                </a:lnTo>
                <a:cubicBezTo>
                  <a:pt x="6536830" y="3257193"/>
                  <a:pt x="3519012" y="3286701"/>
                  <a:pt x="2616956" y="2827153"/>
                </a:cubicBezTo>
                <a:cubicBezTo>
                  <a:pt x="1847444" y="2285014"/>
                  <a:pt x="4527120" y="1585777"/>
                  <a:pt x="4793683" y="1357886"/>
                </a:cubicBezTo>
                <a:cubicBezTo>
                  <a:pt x="4536465" y="1207898"/>
                  <a:pt x="1231411" y="1456314"/>
                  <a:pt x="416251" y="1147303"/>
                </a:cubicBezTo>
                <a:cubicBezTo>
                  <a:pt x="66344" y="841407"/>
                  <a:pt x="1490151" y="386828"/>
                  <a:pt x="1559908" y="172718"/>
                </a:cubicBezTo>
                <a:cubicBezTo>
                  <a:pt x="1424603" y="78200"/>
                  <a:pt x="638309" y="84887"/>
                  <a:pt x="0" y="42274"/>
                </a:cubicBezTo>
                <a:cubicBezTo>
                  <a:pt x="594" y="28183"/>
                  <a:pt x="1186" y="14091"/>
                  <a:pt x="1780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67"/>
              <a:buFont typeface="Arial"/>
              <a:buNone/>
            </a:pPr>
            <a:r>
              <a:rPr sz="1400"/>
              <a:t/>
            </a:r>
            <a:endParaRPr b="0" i="0" sz="1867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bleed.road.line"/>
          <p:cNvSpPr/>
          <p:nvPr/>
        </p:nvSpPr>
        <p:spPr>
          <a:xfrm>
            <a:off x="21099" y="1659392"/>
            <a:ext cx="12164203" cy="4354746"/>
          </a:xfrm>
          <a:custGeom>
            <a:rect b="b" l="l" r="r" t="t"/>
            <a:pathLst>
              <a:path extrusionOk="0" h="2903164" w="6427584">
                <a:moveTo>
                  <a:pt x="0" y="0"/>
                </a:moveTo>
                <a:cubicBezTo>
                  <a:pt x="662178" y="13716"/>
                  <a:pt x="1214830" y="45194"/>
                  <a:pt x="1298872" y="139983"/>
                </a:cubicBezTo>
                <a:cubicBezTo>
                  <a:pt x="1373652" y="305328"/>
                  <a:pt x="187259" y="820590"/>
                  <a:pt x="448678" y="992068"/>
                </a:cubicBezTo>
                <a:cubicBezTo>
                  <a:pt x="890154" y="1171674"/>
                  <a:pt x="3892332" y="994608"/>
                  <a:pt x="3996054" y="1217620"/>
                </a:cubicBezTo>
                <a:cubicBezTo>
                  <a:pt x="4013864" y="1399992"/>
                  <a:pt x="2399303" y="2006996"/>
                  <a:pt x="2231373" y="2330140"/>
                </a:cubicBezTo>
                <a:cubicBezTo>
                  <a:pt x="2149356" y="2592324"/>
                  <a:pt x="2881613" y="2712833"/>
                  <a:pt x="3503953" y="2790727"/>
                </a:cubicBezTo>
                <a:cubicBezTo>
                  <a:pt x="4173829" y="2876410"/>
                  <a:pt x="6085830" y="2869636"/>
                  <a:pt x="6427584" y="2903164"/>
                </a:cubicBezTo>
              </a:path>
            </a:pathLst>
          </a:custGeom>
          <a:noFill/>
          <a:ln cap="flat" cmpd="sng" w="9525">
            <a:solidFill>
              <a:schemeClr val="bg1">
                <a:lumMod val="75000"/>
              </a:schemeClr>
            </a:solidFill>
            <a:prstDash val="lgDash"/>
            <a:miter lim="80000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67"/>
              <a:buFont typeface="Arial"/>
              <a:buNone/>
            </a:pPr>
            <a:r>
              <a:rPr sz="1400"/>
              <a:t/>
            </a:r>
            <a:endParaRPr b="0" i="0" sz="1867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slot.horizon.1.year"/>
          <p:cNvSpPr/>
          <p:nvPr/>
        </p:nvSpPr>
        <p:spPr>
          <a:xfrm>
            <a:off x="929549" y="1351540"/>
            <a:ext cx="585446" cy="246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2027</a:t>
            </a:r>
            <a:endParaRPr lang="en-US" sz="16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5" name="struct.pin.1"/>
          <p:cNvGrpSpPr/>
          <p:nvPr/>
        </p:nvGrpSpPr>
        <p:grpSpPr>
          <a:xfrm>
            <a:off x="595101" y="1255984"/>
            <a:ext cx="289316" cy="403486"/>
            <a:chOff x="478196" y="1255984"/>
            <a:chExt cx="298240" cy="403486"/>
          </a:xfrm>
          <a:effectLst/>
        </p:grpSpPr>
        <p:sp>
          <p:nvSpPr>
            <p:cNvPr id="6" name="struct.pin.1.body"/>
            <p:cNvSpPr/>
            <p:nvPr/>
          </p:nvSpPr>
          <p:spPr>
            <a:xfrm>
              <a:off x="478196" y="1255984"/>
              <a:ext cx="298240" cy="403486"/>
            </a:xfrm>
            <a:custGeom>
              <a:rect b="b" l="l" r="r" t="t"/>
              <a:pathLst>
                <a:path extrusionOk="0" h="3628470" w="2682012">
                  <a:moveTo>
                    <a:pt x="2682013" y="1341401"/>
                  </a:moveTo>
                  <a:cubicBezTo>
                    <a:pt x="2682013" y="1615580"/>
                    <a:pt x="2598222" y="1891092"/>
                    <a:pt x="2427388" y="2127146"/>
                  </a:cubicBezTo>
                  <a:lnTo>
                    <a:pt x="1341004" y="3628470"/>
                  </a:lnTo>
                  <a:lnTo>
                    <a:pt x="254617" y="2127146"/>
                  </a:lnTo>
                  <a:cubicBezTo>
                    <a:pt x="-131503" y="1593552"/>
                    <a:pt x="-72961" y="858539"/>
                    <a:pt x="392785" y="392793"/>
                  </a:cubicBezTo>
                  <a:cubicBezTo>
                    <a:pt x="654634" y="130944"/>
                    <a:pt x="997839" y="0"/>
                    <a:pt x="1341002" y="0"/>
                  </a:cubicBezTo>
                  <a:cubicBezTo>
                    <a:pt x="1684164" y="0"/>
                    <a:pt x="2027369" y="130944"/>
                    <a:pt x="2289217" y="392793"/>
                  </a:cubicBezTo>
                  <a:cubicBezTo>
                    <a:pt x="2548908" y="652481"/>
                    <a:pt x="2682013" y="995882"/>
                    <a:pt x="2682013" y="13414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1867"/>
                <a:buFont typeface="Arial"/>
                <a:buNone/>
              </a:pPr>
              <a:r>
                <a:rPr sz="1400"/>
                <a:t/>
              </a:r>
              <a:endParaRPr b="0" i="0" sz="1867" u="none" cap="none" strike="noStrike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struct.pin.1.eye"/>
            <p:cNvSpPr/>
            <p:nvPr/>
          </p:nvSpPr>
          <p:spPr>
            <a:xfrm>
              <a:off x="539777" y="1317564"/>
              <a:ext cx="175079" cy="175079"/>
            </a:xfrm>
            <a:custGeom>
              <a:rect b="b" l="l" r="r" t="t"/>
              <a:pathLst>
                <a:path extrusionOk="0" h="1574448" w="1574448">
                  <a:moveTo>
                    <a:pt x="1574449" y="787224"/>
                  </a:moveTo>
                  <a:cubicBezTo>
                    <a:pt x="1574449" y="1221996"/>
                    <a:pt x="1221996" y="1574449"/>
                    <a:pt x="787224" y="1574449"/>
                  </a:cubicBezTo>
                  <a:cubicBezTo>
                    <a:pt x="352452" y="1574449"/>
                    <a:pt x="0" y="1221996"/>
                    <a:pt x="0" y="787224"/>
                  </a:cubicBezTo>
                  <a:cubicBezTo>
                    <a:pt x="0" y="352452"/>
                    <a:pt x="352452" y="0"/>
                    <a:pt x="787224" y="0"/>
                  </a:cubicBezTo>
                  <a:cubicBezTo>
                    <a:pt x="1221996" y="0"/>
                    <a:pt x="1574449" y="352452"/>
                    <a:pt x="1574449" y="7872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1867"/>
                <a:buFont typeface="Arial"/>
                <a:buNone/>
              </a:pPr>
              <a:r>
                <a:rPr sz="1400"/>
                <a:t/>
              </a:r>
              <a:endParaRPr b="0" i="0" sz="1867" u="none" cap="none" strike="noStrike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" name="struct.pin.2"/>
          <p:cNvGrpSpPr/>
          <p:nvPr/>
        </p:nvGrpSpPr>
        <p:grpSpPr>
          <a:xfrm>
            <a:off x="787705" y="2512491"/>
            <a:ext cx="397550" cy="554430"/>
            <a:chOff x="676740" y="2512491"/>
            <a:chExt cx="409812" cy="554430"/>
          </a:xfrm>
          <a:effectLst/>
        </p:grpSpPr>
        <p:sp>
          <p:nvSpPr>
            <p:cNvPr id="9" name="struct.pin.2.body"/>
            <p:cNvSpPr/>
            <p:nvPr/>
          </p:nvSpPr>
          <p:spPr>
            <a:xfrm>
              <a:off x="676740" y="2512491"/>
              <a:ext cx="409812" cy="554430"/>
            </a:xfrm>
            <a:custGeom>
              <a:rect b="b" l="l" r="r" t="t"/>
              <a:pathLst>
                <a:path extrusionOk="0" h="3628470" w="2682012">
                  <a:moveTo>
                    <a:pt x="2682013" y="1341401"/>
                  </a:moveTo>
                  <a:cubicBezTo>
                    <a:pt x="2682013" y="1615580"/>
                    <a:pt x="2598222" y="1891092"/>
                    <a:pt x="2427388" y="2127146"/>
                  </a:cubicBezTo>
                  <a:lnTo>
                    <a:pt x="1341004" y="3628470"/>
                  </a:lnTo>
                  <a:lnTo>
                    <a:pt x="254617" y="2127146"/>
                  </a:lnTo>
                  <a:cubicBezTo>
                    <a:pt x="-131503" y="1593552"/>
                    <a:pt x="-72961" y="858539"/>
                    <a:pt x="392785" y="392793"/>
                  </a:cubicBezTo>
                  <a:cubicBezTo>
                    <a:pt x="654634" y="130944"/>
                    <a:pt x="997839" y="0"/>
                    <a:pt x="1341002" y="0"/>
                  </a:cubicBezTo>
                  <a:cubicBezTo>
                    <a:pt x="1684164" y="0"/>
                    <a:pt x="2027369" y="130944"/>
                    <a:pt x="2289217" y="392793"/>
                  </a:cubicBezTo>
                  <a:cubicBezTo>
                    <a:pt x="2548908" y="652481"/>
                    <a:pt x="2682013" y="995882"/>
                    <a:pt x="2682013" y="13414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1867"/>
                <a:buFont typeface="Arial"/>
                <a:buNone/>
              </a:pPr>
              <a:r>
                <a:rPr sz="1400"/>
                <a:t/>
              </a:r>
              <a:endParaRPr b="0" i="0" sz="1867" u="none" cap="none" strike="noStrike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struct.pin.2.eye"/>
            <p:cNvSpPr/>
            <p:nvPr/>
          </p:nvSpPr>
          <p:spPr>
            <a:xfrm>
              <a:off x="761358" y="2597108"/>
              <a:ext cx="240576" cy="240576"/>
            </a:xfrm>
            <a:custGeom>
              <a:rect b="b" l="l" r="r" t="t"/>
              <a:pathLst>
                <a:path extrusionOk="0" h="1574448" w="1574448">
                  <a:moveTo>
                    <a:pt x="1574449" y="787224"/>
                  </a:moveTo>
                  <a:cubicBezTo>
                    <a:pt x="1574449" y="1221996"/>
                    <a:pt x="1221996" y="1574449"/>
                    <a:pt x="787224" y="1574449"/>
                  </a:cubicBezTo>
                  <a:cubicBezTo>
                    <a:pt x="352452" y="1574449"/>
                    <a:pt x="0" y="1221996"/>
                    <a:pt x="0" y="787224"/>
                  </a:cubicBezTo>
                  <a:cubicBezTo>
                    <a:pt x="0" y="352452"/>
                    <a:pt x="352452" y="0"/>
                    <a:pt x="787224" y="0"/>
                  </a:cubicBezTo>
                  <a:cubicBezTo>
                    <a:pt x="1221996" y="0"/>
                    <a:pt x="1574449" y="352452"/>
                    <a:pt x="1574449" y="7872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1867"/>
                <a:buFont typeface="Arial"/>
                <a:buNone/>
              </a:pPr>
              <a:r>
                <a:rPr sz="1400"/>
                <a:t/>
              </a:r>
              <a:endParaRPr b="0" i="0" sz="1867" u="none" cap="none" strike="noStrike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" name="slot.horizon.2.year"/>
          <p:cNvSpPr/>
          <p:nvPr/>
        </p:nvSpPr>
        <p:spPr>
          <a:xfrm>
            <a:off x="1231143" y="2788687"/>
            <a:ext cx="585446" cy="246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2028</a:t>
            </a:r>
            <a:endParaRPr lang="en-US" sz="16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12" name="struct.pin.3"/>
          <p:cNvGrpSpPr/>
          <p:nvPr/>
        </p:nvGrpSpPr>
        <p:grpSpPr>
          <a:xfrm>
            <a:off x="4397761" y="2731889"/>
            <a:ext cx="423827" cy="591078"/>
            <a:chOff x="4398148" y="2731889"/>
            <a:chExt cx="436900" cy="591078"/>
          </a:xfrm>
          <a:effectLst/>
        </p:grpSpPr>
        <p:sp>
          <p:nvSpPr>
            <p:cNvPr id="13" name="struct.pin.3.body"/>
            <p:cNvSpPr/>
            <p:nvPr/>
          </p:nvSpPr>
          <p:spPr>
            <a:xfrm>
              <a:off x="4398148" y="2731889"/>
              <a:ext cx="436900" cy="591078"/>
            </a:xfrm>
            <a:custGeom>
              <a:rect b="b" l="l" r="r" t="t"/>
              <a:pathLst>
                <a:path extrusionOk="0" h="3628470" w="2682012">
                  <a:moveTo>
                    <a:pt x="2682013" y="1341401"/>
                  </a:moveTo>
                  <a:cubicBezTo>
                    <a:pt x="2682013" y="1615580"/>
                    <a:pt x="2598222" y="1891092"/>
                    <a:pt x="2427388" y="2127146"/>
                  </a:cubicBezTo>
                  <a:lnTo>
                    <a:pt x="1341004" y="3628470"/>
                  </a:lnTo>
                  <a:lnTo>
                    <a:pt x="254617" y="2127146"/>
                  </a:lnTo>
                  <a:cubicBezTo>
                    <a:pt x="-131503" y="1593552"/>
                    <a:pt x="-72961" y="858539"/>
                    <a:pt x="392785" y="392793"/>
                  </a:cubicBezTo>
                  <a:cubicBezTo>
                    <a:pt x="654634" y="130944"/>
                    <a:pt x="997839" y="0"/>
                    <a:pt x="1341002" y="0"/>
                  </a:cubicBezTo>
                  <a:cubicBezTo>
                    <a:pt x="1684164" y="0"/>
                    <a:pt x="2027369" y="130944"/>
                    <a:pt x="2289217" y="392793"/>
                  </a:cubicBezTo>
                  <a:cubicBezTo>
                    <a:pt x="2548908" y="652481"/>
                    <a:pt x="2682013" y="995882"/>
                    <a:pt x="2682013" y="13414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1867"/>
                <a:buFont typeface="Arial"/>
                <a:buNone/>
              </a:pPr>
              <a:r>
                <a:rPr sz="1400"/>
                <a:t/>
              </a:r>
              <a:endParaRPr b="0" i="0" sz="1867" u="none" cap="none" strike="noStrike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struct.pin.3.eye"/>
            <p:cNvSpPr/>
            <p:nvPr/>
          </p:nvSpPr>
          <p:spPr>
            <a:xfrm>
              <a:off x="4488359" y="2822100"/>
              <a:ext cx="256478" cy="256478"/>
            </a:xfrm>
            <a:custGeom>
              <a:rect b="b" l="l" r="r" t="t"/>
              <a:pathLst>
                <a:path extrusionOk="0" h="1574448" w="1574448">
                  <a:moveTo>
                    <a:pt x="1574449" y="787224"/>
                  </a:moveTo>
                  <a:cubicBezTo>
                    <a:pt x="1574449" y="1221996"/>
                    <a:pt x="1221996" y="1574449"/>
                    <a:pt x="787224" y="1574449"/>
                  </a:cubicBezTo>
                  <a:cubicBezTo>
                    <a:pt x="352452" y="1574449"/>
                    <a:pt x="0" y="1221996"/>
                    <a:pt x="0" y="787224"/>
                  </a:cubicBezTo>
                  <a:cubicBezTo>
                    <a:pt x="0" y="352452"/>
                    <a:pt x="352452" y="0"/>
                    <a:pt x="787224" y="0"/>
                  </a:cubicBezTo>
                  <a:cubicBezTo>
                    <a:pt x="1221996" y="0"/>
                    <a:pt x="1574449" y="352452"/>
                    <a:pt x="1574449" y="7872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1867"/>
                <a:buFont typeface="Arial"/>
                <a:buNone/>
              </a:pPr>
              <a:r>
                <a:rPr sz="1400"/>
                <a:t/>
              </a:r>
              <a:endParaRPr b="0" i="0" sz="1867" u="none" cap="none" strike="noStrike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" name="slot.horizon.3.year"/>
          <p:cNvSpPr/>
          <p:nvPr/>
        </p:nvSpPr>
        <p:spPr>
          <a:xfrm>
            <a:off x="4850263" y="2809238"/>
            <a:ext cx="585446" cy="246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2029</a:t>
            </a:r>
            <a:endParaRPr lang="en-US" sz="16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16" name="struct.pin.4"/>
          <p:cNvGrpSpPr/>
          <p:nvPr/>
        </p:nvGrpSpPr>
        <p:grpSpPr>
          <a:xfrm>
            <a:off x="7468658" y="2815835"/>
            <a:ext cx="481587" cy="671630"/>
            <a:chOff x="7563767" y="2815835"/>
            <a:chExt cx="496441" cy="671630"/>
          </a:xfrm>
          <a:effectLst/>
        </p:grpSpPr>
        <p:sp>
          <p:nvSpPr>
            <p:cNvPr id="17" name="struct.pin.4.body"/>
            <p:cNvSpPr/>
            <p:nvPr/>
          </p:nvSpPr>
          <p:spPr>
            <a:xfrm>
              <a:off x="7563767" y="2815835"/>
              <a:ext cx="496441" cy="671630"/>
            </a:xfrm>
            <a:custGeom>
              <a:rect b="b" l="l" r="r" t="t"/>
              <a:pathLst>
                <a:path extrusionOk="0" h="3628470" w="2682012">
                  <a:moveTo>
                    <a:pt x="2682013" y="1341401"/>
                  </a:moveTo>
                  <a:cubicBezTo>
                    <a:pt x="2682013" y="1615580"/>
                    <a:pt x="2598222" y="1891092"/>
                    <a:pt x="2427388" y="2127146"/>
                  </a:cubicBezTo>
                  <a:lnTo>
                    <a:pt x="1341004" y="3628470"/>
                  </a:lnTo>
                  <a:lnTo>
                    <a:pt x="254617" y="2127146"/>
                  </a:lnTo>
                  <a:cubicBezTo>
                    <a:pt x="-131503" y="1593552"/>
                    <a:pt x="-72961" y="858539"/>
                    <a:pt x="392785" y="392793"/>
                  </a:cubicBezTo>
                  <a:cubicBezTo>
                    <a:pt x="654634" y="130944"/>
                    <a:pt x="997839" y="0"/>
                    <a:pt x="1341002" y="0"/>
                  </a:cubicBezTo>
                  <a:cubicBezTo>
                    <a:pt x="1684164" y="0"/>
                    <a:pt x="2027369" y="130944"/>
                    <a:pt x="2289217" y="392793"/>
                  </a:cubicBezTo>
                  <a:cubicBezTo>
                    <a:pt x="2548908" y="652481"/>
                    <a:pt x="2682013" y="995882"/>
                    <a:pt x="2682013" y="13414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1867"/>
                <a:buFont typeface="Arial"/>
                <a:buNone/>
              </a:pPr>
              <a:r>
                <a:rPr sz="1400"/>
                <a:t/>
              </a:r>
              <a:endParaRPr b="0" i="0" sz="1867" u="none" cap="none" strike="noStrike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struct.pin.4.eye"/>
            <p:cNvSpPr/>
            <p:nvPr/>
          </p:nvSpPr>
          <p:spPr>
            <a:xfrm>
              <a:off x="7666272" y="2918340"/>
              <a:ext cx="291431" cy="291430"/>
            </a:xfrm>
            <a:custGeom>
              <a:rect b="b" l="l" r="r" t="t"/>
              <a:pathLst>
                <a:path extrusionOk="0" h="1574448" w="1574448">
                  <a:moveTo>
                    <a:pt x="1574449" y="787224"/>
                  </a:moveTo>
                  <a:cubicBezTo>
                    <a:pt x="1574449" y="1221996"/>
                    <a:pt x="1221996" y="1574449"/>
                    <a:pt x="787224" y="1574449"/>
                  </a:cubicBezTo>
                  <a:cubicBezTo>
                    <a:pt x="352452" y="1574449"/>
                    <a:pt x="0" y="1221996"/>
                    <a:pt x="0" y="787224"/>
                  </a:cubicBezTo>
                  <a:cubicBezTo>
                    <a:pt x="0" y="352452"/>
                    <a:pt x="352452" y="0"/>
                    <a:pt x="787224" y="0"/>
                  </a:cubicBezTo>
                  <a:cubicBezTo>
                    <a:pt x="1221996" y="0"/>
                    <a:pt x="1574449" y="352452"/>
                    <a:pt x="1574449" y="7872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1867"/>
                <a:buFont typeface="Arial"/>
                <a:buNone/>
              </a:pPr>
              <a:r>
                <a:rPr sz="1400"/>
                <a:t/>
              </a:r>
              <a:endParaRPr b="0" i="0" sz="1867" u="none" cap="none" strike="noStrike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" name="slot.horizon.5.year"/>
          <p:cNvSpPr/>
          <p:nvPr/>
        </p:nvSpPr>
        <p:spPr>
          <a:xfrm>
            <a:off x="3768074" y="4013571"/>
            <a:ext cx="585446" cy="246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2031</a:t>
            </a:r>
            <a:endParaRPr lang="en-US" sz="16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20" name="struct.pin.5"/>
          <p:cNvGrpSpPr/>
          <p:nvPr/>
        </p:nvGrpSpPr>
        <p:grpSpPr>
          <a:xfrm>
            <a:off x="3889505" y="4352923"/>
            <a:ext cx="594503" cy="829105"/>
            <a:chOff x="3874215" y="4352923"/>
            <a:chExt cx="612840" cy="829105"/>
          </a:xfrm>
          <a:effectLst/>
        </p:grpSpPr>
        <p:sp>
          <p:nvSpPr>
            <p:cNvPr id="21" name="struct.pin.5.body"/>
            <p:cNvSpPr/>
            <p:nvPr/>
          </p:nvSpPr>
          <p:spPr>
            <a:xfrm>
              <a:off x="3874215" y="4352923"/>
              <a:ext cx="612840" cy="829105"/>
            </a:xfrm>
            <a:custGeom>
              <a:rect b="b" l="l" r="r" t="t"/>
              <a:pathLst>
                <a:path extrusionOk="0" h="3628470" w="2682012">
                  <a:moveTo>
                    <a:pt x="2682013" y="1341401"/>
                  </a:moveTo>
                  <a:cubicBezTo>
                    <a:pt x="2682013" y="1615580"/>
                    <a:pt x="2598222" y="1891092"/>
                    <a:pt x="2427388" y="2127146"/>
                  </a:cubicBezTo>
                  <a:lnTo>
                    <a:pt x="1341004" y="3628470"/>
                  </a:lnTo>
                  <a:lnTo>
                    <a:pt x="254617" y="2127146"/>
                  </a:lnTo>
                  <a:cubicBezTo>
                    <a:pt x="-131503" y="1593552"/>
                    <a:pt x="-72961" y="858539"/>
                    <a:pt x="392785" y="392793"/>
                  </a:cubicBezTo>
                  <a:cubicBezTo>
                    <a:pt x="654634" y="130944"/>
                    <a:pt x="997839" y="0"/>
                    <a:pt x="1341002" y="0"/>
                  </a:cubicBezTo>
                  <a:cubicBezTo>
                    <a:pt x="1684164" y="0"/>
                    <a:pt x="2027369" y="130944"/>
                    <a:pt x="2289217" y="392793"/>
                  </a:cubicBezTo>
                  <a:cubicBezTo>
                    <a:pt x="2548908" y="652481"/>
                    <a:pt x="2682013" y="995882"/>
                    <a:pt x="2682013" y="13414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1867"/>
                <a:buFont typeface="Arial"/>
                <a:buNone/>
              </a:pPr>
              <a:r>
                <a:rPr sz="1400"/>
                <a:t/>
              </a:r>
              <a:endParaRPr b="0" i="0" sz="1867" u="none" cap="none" strike="noStrike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struct.pin.5.eye"/>
            <p:cNvSpPr/>
            <p:nvPr/>
          </p:nvSpPr>
          <p:spPr>
            <a:xfrm>
              <a:off x="4000754" y="4479461"/>
              <a:ext cx="359761" cy="359761"/>
            </a:xfrm>
            <a:custGeom>
              <a:rect b="b" l="l" r="r" t="t"/>
              <a:pathLst>
                <a:path extrusionOk="0" h="1574448" w="1574448">
                  <a:moveTo>
                    <a:pt x="1574449" y="787224"/>
                  </a:moveTo>
                  <a:cubicBezTo>
                    <a:pt x="1574449" y="1221996"/>
                    <a:pt x="1221996" y="1574449"/>
                    <a:pt x="787224" y="1574449"/>
                  </a:cubicBezTo>
                  <a:cubicBezTo>
                    <a:pt x="352452" y="1574449"/>
                    <a:pt x="0" y="1221996"/>
                    <a:pt x="0" y="787224"/>
                  </a:cubicBezTo>
                  <a:cubicBezTo>
                    <a:pt x="0" y="352452"/>
                    <a:pt x="352452" y="0"/>
                    <a:pt x="787224" y="0"/>
                  </a:cubicBezTo>
                  <a:cubicBezTo>
                    <a:pt x="1221996" y="0"/>
                    <a:pt x="1574449" y="352452"/>
                    <a:pt x="1574449" y="7872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1867"/>
                <a:buFont typeface="Arial"/>
                <a:buNone/>
              </a:pPr>
              <a:r>
                <a:rPr sz="1400"/>
                <a:t/>
              </a:r>
              <a:endParaRPr b="0" i="0" sz="1867" u="none" cap="none" strike="noStrike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" name="slot.horizon.4.year"/>
          <p:cNvSpPr/>
          <p:nvPr/>
        </p:nvSpPr>
        <p:spPr>
          <a:xfrm>
            <a:off x="7963771" y="2905410"/>
            <a:ext cx="585446" cy="246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2030</a:t>
            </a:r>
            <a:endParaRPr lang="en-US" sz="16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24" name="struct.pin.6"/>
          <p:cNvGrpSpPr/>
          <p:nvPr/>
        </p:nvGrpSpPr>
        <p:grpSpPr>
          <a:xfrm>
            <a:off x="7646490" y="4893124"/>
            <a:ext cx="730315" cy="1018512"/>
            <a:chOff x="7747084" y="4893124"/>
            <a:chExt cx="752841" cy="1018512"/>
          </a:xfrm>
          <a:effectLst/>
        </p:grpSpPr>
        <p:sp>
          <p:nvSpPr>
            <p:cNvPr id="25" name="struct.pin.6.body"/>
            <p:cNvSpPr/>
            <p:nvPr/>
          </p:nvSpPr>
          <p:spPr>
            <a:xfrm>
              <a:off x="7747084" y="4893124"/>
              <a:ext cx="752841" cy="1018512"/>
            </a:xfrm>
            <a:custGeom>
              <a:rect b="b" l="l" r="r" t="t"/>
              <a:pathLst>
                <a:path extrusionOk="0" h="3628470" w="2682012">
                  <a:moveTo>
                    <a:pt x="2682013" y="1341401"/>
                  </a:moveTo>
                  <a:cubicBezTo>
                    <a:pt x="2682013" y="1615580"/>
                    <a:pt x="2598222" y="1891092"/>
                    <a:pt x="2427388" y="2127146"/>
                  </a:cubicBezTo>
                  <a:lnTo>
                    <a:pt x="1341004" y="3628470"/>
                  </a:lnTo>
                  <a:lnTo>
                    <a:pt x="254617" y="2127146"/>
                  </a:lnTo>
                  <a:cubicBezTo>
                    <a:pt x="-131503" y="1593552"/>
                    <a:pt x="-72961" y="858539"/>
                    <a:pt x="392785" y="392793"/>
                  </a:cubicBezTo>
                  <a:cubicBezTo>
                    <a:pt x="654634" y="130944"/>
                    <a:pt x="997839" y="0"/>
                    <a:pt x="1341002" y="0"/>
                  </a:cubicBezTo>
                  <a:cubicBezTo>
                    <a:pt x="1684164" y="0"/>
                    <a:pt x="2027369" y="130944"/>
                    <a:pt x="2289217" y="392793"/>
                  </a:cubicBezTo>
                  <a:cubicBezTo>
                    <a:pt x="2548908" y="652481"/>
                    <a:pt x="2682013" y="995882"/>
                    <a:pt x="2682013" y="13414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1867"/>
                <a:buFont typeface="Arial"/>
                <a:buNone/>
              </a:pPr>
              <a:r>
                <a:rPr sz="1400"/>
                <a:t/>
              </a:r>
              <a:endParaRPr b="0" i="0" sz="1867" u="none" cap="none" strike="noStrike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struct.pin.6.eye"/>
            <p:cNvSpPr/>
            <p:nvPr/>
          </p:nvSpPr>
          <p:spPr>
            <a:xfrm>
              <a:off x="7902531" y="5048570"/>
              <a:ext cx="441948" cy="441948"/>
            </a:xfrm>
            <a:custGeom>
              <a:rect b="b" l="l" r="r" t="t"/>
              <a:pathLst>
                <a:path extrusionOk="0" h="1574448" w="1574448">
                  <a:moveTo>
                    <a:pt x="1574449" y="787224"/>
                  </a:moveTo>
                  <a:cubicBezTo>
                    <a:pt x="1574449" y="1221996"/>
                    <a:pt x="1221996" y="1574449"/>
                    <a:pt x="787224" y="1574449"/>
                  </a:cubicBezTo>
                  <a:cubicBezTo>
                    <a:pt x="352452" y="1574449"/>
                    <a:pt x="0" y="1221996"/>
                    <a:pt x="0" y="787224"/>
                  </a:cubicBezTo>
                  <a:cubicBezTo>
                    <a:pt x="0" y="352452"/>
                    <a:pt x="352452" y="0"/>
                    <a:pt x="787224" y="0"/>
                  </a:cubicBezTo>
                  <a:cubicBezTo>
                    <a:pt x="1221996" y="0"/>
                    <a:pt x="1574449" y="352452"/>
                    <a:pt x="1574449" y="7872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1867"/>
                <a:buFont typeface="Arial"/>
                <a:buNone/>
              </a:pPr>
              <a:r>
                <a:rPr sz="1400"/>
                <a:t/>
              </a:r>
              <a:endParaRPr b="0" i="0" sz="1867" u="none" cap="none" strike="noStrike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" name="slot.horizon.6.year"/>
          <p:cNvSpPr/>
          <p:nvPr/>
        </p:nvSpPr>
        <p:spPr>
          <a:xfrm>
            <a:off x="7608956" y="4572284"/>
            <a:ext cx="585446" cy="246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2032</a:t>
            </a:r>
            <a:endParaRPr lang="en-US" sz="16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truct.card.1.body"/>
          <p:cNvSpPr/>
          <p:nvPr/>
        </p:nvSpPr>
        <p:spPr>
          <a:xfrm>
            <a:off x="1538015" y="1060623"/>
            <a:ext cx="1691137" cy="661500"/>
          </a:xfrm>
          <a:prstGeom prst="roundRect">
            <a:avLst>
              <a:gd fmla="val 6912" name="adj"/>
            </a:avLst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96000" lIns="144000" spcFirstLastPara="1" rIns="144000" wrap="square" tIns="9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67"/>
              <a:buFont typeface="Arial"/>
              <a:buNone/>
            </a:pPr>
            <a:r>
              <a:rPr sz="1400"/>
              <a:t/>
            </a:r>
            <a:endParaRPr b="1" i="0" sz="1467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struct.card.1.panel"/>
          <p:cNvSpPr/>
          <p:nvPr/>
        </p:nvSpPr>
        <p:spPr>
          <a:xfrm rot="5400000">
            <a:off x="2388482" y="877862"/>
            <a:ext cx="661500" cy="1027022"/>
          </a:xfrm>
          <a:prstGeom prst="round2SameRect">
            <a:avLst>
              <a:gd fmla="val 6912" name="adj1"/>
              <a:gd fmla="val 0" name="adj2"/>
            </a:avLst>
          </a:prstGeom>
          <a:solidFill>
            <a:schemeClr val="bg1">
              <a:lumMod val="9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24000" lIns="0" spcFirstLastPara="1" rIns="0" wrap="square" tIns="2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067"/>
              <a:buFont typeface="Arial"/>
              <a:buNone/>
            </a:pPr>
            <a:r>
              <a:rPr sz="1400"/>
              <a:t/>
            </a:r>
            <a:endParaRPr b="0" i="0" sz="1067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slot.card.1.count"/>
          <p:cNvSpPr/>
          <p:nvPr/>
        </p:nvSpPr>
        <p:spPr>
          <a:xfrm>
            <a:off x="1976256" y="1106424"/>
            <a:ext cx="23063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2</a:t>
            </a:r>
            <a:endParaRPr lang="en-US" sz="13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lot.card.1.item.1"/>
          <p:cNvSpPr/>
          <p:nvPr/>
        </p:nvSpPr>
        <p:spPr>
          <a:xfrm>
            <a:off x="2260108" y="1115568"/>
            <a:ext cx="922521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Campaign drafts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32" name="struct.card.1.area.1"/>
          <p:cNvGrpSpPr/>
          <p:nvPr/>
        </p:nvGrpSpPr>
        <p:grpSpPr>
          <a:xfrm>
            <a:off x="1647774" y="1416312"/>
            <a:ext cx="264651" cy="264651"/>
            <a:chOff x="1567420" y="1416312"/>
            <a:chExt cx="264651" cy="264651"/>
          </a:xfrm>
          <a:effectLst/>
        </p:grpSpPr>
        <p:sp>
          <p:nvSpPr>
            <p:cNvPr id="33" name="struct.card.1.area.1.disc"/>
            <p:cNvSpPr/>
            <p:nvPr/>
          </p:nvSpPr>
          <p:spPr>
            <a:xfrm>
              <a:off x="1567420" y="1416312"/>
              <a:ext cx="264651" cy="26465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1867"/>
                <a:buFont typeface="Arial"/>
                <a:buNone/>
              </a:pPr>
              <a:r>
                <a:rPr sz="1400"/>
                <a:t/>
              </a:r>
              <a:endParaRPr b="0" i="0" sz="1867" u="none" cap="none" strike="noStrik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struct.card.2.body"/>
          <p:cNvSpPr/>
          <p:nvPr/>
        </p:nvSpPr>
        <p:spPr>
          <a:xfrm>
            <a:off x="1930242" y="2427441"/>
            <a:ext cx="1691137" cy="661500"/>
          </a:xfrm>
          <a:prstGeom prst="roundRect">
            <a:avLst>
              <a:gd fmla="val 6912" name="adj"/>
            </a:avLst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96000" lIns="144000" spcFirstLastPara="1" rIns="144000" wrap="square" tIns="9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67"/>
              <a:buFont typeface="Arial"/>
              <a:buNone/>
            </a:pPr>
            <a:r>
              <a:rPr sz="1400"/>
              <a:t/>
            </a:r>
            <a:endParaRPr b="1" i="0" sz="1467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struct.card.2.panel"/>
          <p:cNvSpPr/>
          <p:nvPr/>
        </p:nvSpPr>
        <p:spPr>
          <a:xfrm rot="5400000">
            <a:off x="2780709" y="2244680"/>
            <a:ext cx="661500" cy="1027022"/>
          </a:xfrm>
          <a:prstGeom prst="round2SameRect">
            <a:avLst>
              <a:gd fmla="val 6912" name="adj1"/>
              <a:gd fmla="val 0" name="adj2"/>
            </a:avLst>
          </a:prstGeom>
          <a:solidFill>
            <a:schemeClr val="bg1">
              <a:lumMod val="9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24000" lIns="0" spcFirstLastPara="1" rIns="0" wrap="square" tIns="2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067"/>
              <a:buFont typeface="Arial"/>
              <a:buNone/>
            </a:pPr>
            <a:r>
              <a:rPr sz="1400"/>
              <a:t/>
            </a:r>
            <a:endParaRPr b="0" i="0" sz="1067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slot.card.2.count"/>
          <p:cNvSpPr/>
          <p:nvPr/>
        </p:nvSpPr>
        <p:spPr>
          <a:xfrm>
            <a:off x="2375424" y="2478024"/>
            <a:ext cx="23063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4</a:t>
            </a:r>
            <a:endParaRPr lang="en-US" sz="13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slot.card.2.item.1"/>
          <p:cNvSpPr/>
          <p:nvPr/>
        </p:nvSpPr>
        <p:spPr>
          <a:xfrm>
            <a:off x="2659276" y="2487168"/>
            <a:ext cx="922521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Brief summaries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38" name="struct.card.2.area.1"/>
          <p:cNvGrpSpPr/>
          <p:nvPr/>
        </p:nvGrpSpPr>
        <p:grpSpPr>
          <a:xfrm>
            <a:off x="2040001" y="2783130"/>
            <a:ext cx="264651" cy="264651"/>
            <a:chOff x="1971745" y="2783130"/>
            <a:chExt cx="264651" cy="264651"/>
          </a:xfrm>
          <a:effectLst/>
        </p:grpSpPr>
        <p:sp>
          <p:nvSpPr>
            <p:cNvPr id="39" name="struct.card.2.area.1.disc"/>
            <p:cNvSpPr/>
            <p:nvPr/>
          </p:nvSpPr>
          <p:spPr>
            <a:xfrm>
              <a:off x="1971745" y="2783130"/>
              <a:ext cx="264651" cy="26465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1867"/>
                <a:buFont typeface="Arial"/>
                <a:buNone/>
              </a:pPr>
              <a:r>
                <a:rPr sz="1400"/>
                <a:t/>
              </a:r>
              <a:endParaRPr b="0" i="0" sz="1867" u="none" cap="none" strike="noStrik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" name="struct.card.5.body"/>
          <p:cNvSpPr/>
          <p:nvPr/>
        </p:nvSpPr>
        <p:spPr>
          <a:xfrm>
            <a:off x="461413" y="3952034"/>
            <a:ext cx="3288856" cy="2355300"/>
          </a:xfrm>
          <a:prstGeom prst="roundRect">
            <a:avLst>
              <a:gd fmla="val 1941" name="adj"/>
            </a:avLst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96000" lIns="144000" spcFirstLastPara="1" rIns="144000" wrap="square" tIns="9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67"/>
              <a:buFont typeface="Arial"/>
              <a:buNone/>
            </a:pPr>
            <a:r>
              <a:rPr sz="1400"/>
              <a:t/>
            </a:r>
            <a:endParaRPr b="1" i="0" sz="1467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struct.card.5.panel"/>
          <p:cNvSpPr/>
          <p:nvPr/>
        </p:nvSpPr>
        <p:spPr>
          <a:xfrm flipH="1" rot="-5400000">
            <a:off x="376854" y="4032386"/>
            <a:ext cx="2355300" cy="2194608"/>
          </a:xfrm>
          <a:prstGeom prst="round2SameRect">
            <a:avLst>
              <a:gd fmla="val 2021" name="adj1"/>
              <a:gd fmla="val 0" name="adj2"/>
            </a:avLst>
          </a:prstGeom>
          <a:solidFill>
            <a:schemeClr val="bg1">
              <a:lumMod val="9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24000" lIns="0" spcFirstLastPara="1" rIns="0" wrap="square" tIns="2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067"/>
              <a:buFont typeface="Arial"/>
              <a:buNone/>
            </a:pPr>
            <a:r>
              <a:rPr sz="1400"/>
              <a:t/>
            </a:r>
            <a:endParaRPr b="0" i="0" sz="1067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slot.card.5.item.1"/>
          <p:cNvSpPr/>
          <p:nvPr/>
        </p:nvSpPr>
        <p:spPr>
          <a:xfrm flipH="1">
            <a:off x="652042" y="4108783"/>
            <a:ext cx="1920754" cy="20250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0" lIns="146304" spcFirstLastPara="1" rIns="27432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Demand sensing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slot.card.5.item.2"/>
          <p:cNvSpPr/>
          <p:nvPr/>
        </p:nvSpPr>
        <p:spPr>
          <a:xfrm flipH="1">
            <a:off x="652042" y="4343588"/>
            <a:ext cx="1920754" cy="20250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0" lIns="146304" spcFirstLastPara="1" rIns="27432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Supplier risk alerts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slot.card.5.item.3"/>
          <p:cNvSpPr/>
          <p:nvPr/>
        </p:nvSpPr>
        <p:spPr>
          <a:xfrm flipH="1">
            <a:off x="652042" y="4578393"/>
            <a:ext cx="1920754" cy="20250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0" lIns="146304" spcFirstLastPara="1" rIns="27432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Price scenario testing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lot.card.5.item.4"/>
          <p:cNvSpPr/>
          <p:nvPr/>
        </p:nvSpPr>
        <p:spPr>
          <a:xfrm flipH="1">
            <a:off x="652042" y="4813198"/>
            <a:ext cx="1920754" cy="20250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0" lIns="146304" spcFirstLastPara="1" rIns="27432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Order status assistant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slot.card.5.item.5"/>
          <p:cNvSpPr/>
          <p:nvPr/>
        </p:nvSpPr>
        <p:spPr>
          <a:xfrm flipH="1">
            <a:off x="652042" y="5048003"/>
            <a:ext cx="1920754" cy="20250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0" lIns="146304" spcFirstLastPara="1" rIns="27432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Inventory rebalancing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slot.card.5.item.6"/>
          <p:cNvSpPr/>
          <p:nvPr/>
        </p:nvSpPr>
        <p:spPr>
          <a:xfrm flipH="1">
            <a:off x="652042" y="5282808"/>
            <a:ext cx="1920754" cy="20250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0" lIns="146304" spcFirstLastPara="1" rIns="27432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Weekly sales forecast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slot.card.5.item.7"/>
          <p:cNvSpPr/>
          <p:nvPr/>
        </p:nvSpPr>
        <p:spPr>
          <a:xfrm flipH="1">
            <a:off x="652042" y="5517613"/>
            <a:ext cx="1920754" cy="20250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0" lIns="146304" spcFirstLastPara="1" rIns="27432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Verbatim coding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slot.card.5.item.8"/>
          <p:cNvSpPr/>
          <p:nvPr/>
        </p:nvSpPr>
        <p:spPr>
          <a:xfrm flipH="1">
            <a:off x="652042" y="5752418"/>
            <a:ext cx="1920754" cy="20250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0" lIns="146304" spcFirstLastPara="1" rIns="27432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Campaign variants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slot.card.5.item.9"/>
          <p:cNvSpPr/>
          <p:nvPr/>
        </p:nvSpPr>
        <p:spPr>
          <a:xfrm flipH="1">
            <a:off x="652042" y="5987224"/>
            <a:ext cx="1920754" cy="20250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0" lIns="146304" spcFirstLastPara="1" rIns="27432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Data quality alerts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slot.card.5.count"/>
          <p:cNvSpPr/>
          <p:nvPr/>
        </p:nvSpPr>
        <p:spPr>
          <a:xfrm>
            <a:off x="3058444" y="4059936"/>
            <a:ext cx="408038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22</a:t>
            </a:r>
            <a:endParaRPr lang="en-US" sz="13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52" name="struct.card.5.areas"/>
          <p:cNvGrpSpPr/>
          <p:nvPr/>
        </p:nvGrpSpPr>
        <p:grpSpPr>
          <a:xfrm>
            <a:off x="2748152" y="4427997"/>
            <a:ext cx="916143" cy="880790"/>
            <a:chOff x="2697657" y="4427997"/>
            <a:chExt cx="944401" cy="880790"/>
          </a:xfrm>
          <a:effectLst/>
        </p:grpSpPr>
        <p:grpSp>
          <p:nvGrpSpPr>
            <p:cNvPr id="53" name="struct.card.5.area.3"/>
            <p:cNvGrpSpPr/>
            <p:nvPr/>
          </p:nvGrpSpPr>
          <p:grpSpPr>
            <a:xfrm>
              <a:off x="3377394" y="4427997"/>
              <a:ext cx="264664" cy="264664"/>
              <a:chOff x="3377394" y="4427997"/>
              <a:chExt cx="264664" cy="264664"/>
            </a:xfrm>
          </p:grpSpPr>
          <p:sp>
            <p:nvSpPr>
              <p:cNvPr id="54" name="struct.card.5.area.3.disc"/>
              <p:cNvSpPr/>
              <p:nvPr/>
            </p:nvSpPr>
            <p:spPr>
              <a:xfrm>
                <a:off x="3377394" y="4427997"/>
                <a:ext cx="264664" cy="264664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1867"/>
                  <a:buFont typeface="Arial"/>
                  <a:buNone/>
                </a:pPr>
                <a:r>
                  <a:rPr sz="1400"/>
                  <a:t/>
                </a:r>
                <a:endParaRPr b="0" i="0" sz="1867" u="none" cap="none" strike="noStrik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" name="struct.card.5.area.2"/>
            <p:cNvGrpSpPr/>
            <p:nvPr/>
          </p:nvGrpSpPr>
          <p:grpSpPr>
            <a:xfrm>
              <a:off x="3037695" y="4427997"/>
              <a:ext cx="264664" cy="264664"/>
              <a:chOff x="3037695" y="4427997"/>
              <a:chExt cx="264664" cy="264664"/>
            </a:xfrm>
          </p:grpSpPr>
          <p:sp>
            <p:nvSpPr>
              <p:cNvPr id="56" name="struct.card.5.area.2.disc"/>
              <p:cNvSpPr/>
              <p:nvPr/>
            </p:nvSpPr>
            <p:spPr>
              <a:xfrm>
                <a:off x="3037695" y="4427997"/>
                <a:ext cx="264664" cy="26466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1867"/>
                  <a:buFont typeface="Arial"/>
                  <a:buNone/>
                </a:pPr>
                <a:r>
                  <a:rPr sz="1400"/>
                  <a:t/>
                </a:r>
                <a:endParaRPr b="0" i="0" sz="1867" u="none" cap="none" strike="noStrik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" name="struct.card.5.area.1"/>
            <p:cNvGrpSpPr/>
            <p:nvPr/>
          </p:nvGrpSpPr>
          <p:grpSpPr>
            <a:xfrm>
              <a:off x="2697998" y="4427997"/>
              <a:ext cx="264663" cy="264664"/>
              <a:chOff x="2697998" y="4427997"/>
              <a:chExt cx="264663" cy="264664"/>
            </a:xfrm>
          </p:grpSpPr>
          <p:sp>
            <p:nvSpPr>
              <p:cNvPr id="58" name="struct.card.5.area.1.disc"/>
              <p:cNvSpPr/>
              <p:nvPr/>
            </p:nvSpPr>
            <p:spPr>
              <a:xfrm>
                <a:off x="2697998" y="4427997"/>
                <a:ext cx="264663" cy="26466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1867"/>
                  <a:buFont typeface="Arial"/>
                  <a:buNone/>
                </a:pPr>
                <a:r>
                  <a:rPr sz="1400"/>
                  <a:t/>
                </a:r>
                <a:endParaRPr b="0" i="0" sz="1867" u="none" cap="none" strike="noStrik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9" name="struct.card.5.area.4"/>
            <p:cNvGrpSpPr/>
            <p:nvPr/>
          </p:nvGrpSpPr>
          <p:grpSpPr>
            <a:xfrm>
              <a:off x="2697932" y="4733617"/>
              <a:ext cx="264664" cy="264664"/>
              <a:chOff x="2697932" y="4733617"/>
              <a:chExt cx="264664" cy="264664"/>
            </a:xfrm>
          </p:grpSpPr>
          <p:sp>
            <p:nvSpPr>
              <p:cNvPr id="60" name="struct.card.5.area.4.disc"/>
              <p:cNvSpPr/>
              <p:nvPr/>
            </p:nvSpPr>
            <p:spPr>
              <a:xfrm>
                <a:off x="2697932" y="4733617"/>
                <a:ext cx="264664" cy="26466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1867"/>
                  <a:buFont typeface="Arial"/>
                  <a:buNone/>
                </a:pPr>
                <a:r>
                  <a:rPr sz="1400"/>
                  <a:t/>
                </a:r>
                <a:endParaRPr b="0" i="0" sz="1867" u="none" cap="none" strike="noStrik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" name="struct.card.5.area.5"/>
            <p:cNvGrpSpPr/>
            <p:nvPr/>
          </p:nvGrpSpPr>
          <p:grpSpPr>
            <a:xfrm>
              <a:off x="3037631" y="4733617"/>
              <a:ext cx="264664" cy="264664"/>
              <a:chOff x="3037631" y="4733617"/>
              <a:chExt cx="264664" cy="264664"/>
            </a:xfrm>
          </p:grpSpPr>
          <p:sp>
            <p:nvSpPr>
              <p:cNvPr id="62" name="struct.card.5.area.5.disc"/>
              <p:cNvSpPr/>
              <p:nvPr/>
            </p:nvSpPr>
            <p:spPr>
              <a:xfrm>
                <a:off x="3037631" y="4733617"/>
                <a:ext cx="264664" cy="26466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1867"/>
                  <a:buFont typeface="Arial"/>
                  <a:buNone/>
                </a:pPr>
                <a:r>
                  <a:rPr sz="1400"/>
                  <a:t/>
                </a:r>
                <a:endParaRPr b="0" i="0" sz="1867" u="none" cap="none" strike="noStrik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3" name="struct.card.5.area.6"/>
            <p:cNvGrpSpPr/>
            <p:nvPr/>
          </p:nvGrpSpPr>
          <p:grpSpPr>
            <a:xfrm>
              <a:off x="3377308" y="4733617"/>
              <a:ext cx="264664" cy="264664"/>
              <a:chOff x="3377308" y="4733617"/>
              <a:chExt cx="264664" cy="264664"/>
            </a:xfrm>
          </p:grpSpPr>
          <p:sp>
            <p:nvSpPr>
              <p:cNvPr id="64" name="struct.card.5.area.6.disc"/>
              <p:cNvSpPr/>
              <p:nvPr/>
            </p:nvSpPr>
            <p:spPr>
              <a:xfrm>
                <a:off x="3377308" y="4733617"/>
                <a:ext cx="264664" cy="26466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1867"/>
                  <a:buFont typeface="Arial"/>
                  <a:buNone/>
                </a:pPr>
                <a:r>
                  <a:rPr sz="1400"/>
                  <a:t/>
                </a:r>
                <a:endParaRPr b="0" i="0" sz="1867" u="none" cap="none" strike="noStrik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" name="struct.card.5.area.7"/>
            <p:cNvGrpSpPr/>
            <p:nvPr/>
          </p:nvGrpSpPr>
          <p:grpSpPr>
            <a:xfrm>
              <a:off x="2697657" y="5043994"/>
              <a:ext cx="264794" cy="264793"/>
              <a:chOff x="2697657" y="5043994"/>
              <a:chExt cx="264794" cy="264793"/>
            </a:xfrm>
          </p:grpSpPr>
          <p:sp>
            <p:nvSpPr>
              <p:cNvPr id="66" name="struct.card.5.area.7.disc"/>
              <p:cNvSpPr/>
              <p:nvPr/>
            </p:nvSpPr>
            <p:spPr>
              <a:xfrm>
                <a:off x="2697657" y="5043994"/>
                <a:ext cx="264794" cy="26479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1867"/>
                  <a:buFont typeface="Arial"/>
                  <a:buNone/>
                </a:pPr>
                <a:r>
                  <a:rPr sz="1400"/>
                  <a:t/>
                </a:r>
                <a:endParaRPr b="0" i="0" sz="1867" u="none" cap="none" strike="noStrik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7" name="struct.card.5.dot.1"/>
          <p:cNvSpPr/>
          <p:nvPr/>
        </p:nvSpPr>
        <p:spPr>
          <a:xfrm>
            <a:off x="677043" y="4173961"/>
            <a:ext cx="72000" cy="72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struct.card.5.dot.2"/>
          <p:cNvSpPr/>
          <p:nvPr/>
        </p:nvSpPr>
        <p:spPr>
          <a:xfrm>
            <a:off x="677043" y="4408766"/>
            <a:ext cx="72000" cy="7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struct.card.5.dot.3"/>
          <p:cNvSpPr/>
          <p:nvPr/>
        </p:nvSpPr>
        <p:spPr>
          <a:xfrm>
            <a:off x="677043" y="4643571"/>
            <a:ext cx="72000" cy="7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struct.card.5.dot.4"/>
          <p:cNvSpPr/>
          <p:nvPr/>
        </p:nvSpPr>
        <p:spPr>
          <a:xfrm>
            <a:off x="677043" y="4878376"/>
            <a:ext cx="72000" cy="7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struct.card.5.dot.5"/>
          <p:cNvSpPr/>
          <p:nvPr/>
        </p:nvSpPr>
        <p:spPr>
          <a:xfrm>
            <a:off x="677043" y="5113181"/>
            <a:ext cx="72000" cy="72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struct.card.5.dot.6"/>
          <p:cNvSpPr/>
          <p:nvPr/>
        </p:nvSpPr>
        <p:spPr>
          <a:xfrm>
            <a:off x="677043" y="5347986"/>
            <a:ext cx="72000" cy="7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struct.card.5.dot.7"/>
          <p:cNvSpPr/>
          <p:nvPr/>
        </p:nvSpPr>
        <p:spPr>
          <a:xfrm>
            <a:off x="677043" y="5582791"/>
            <a:ext cx="72000" cy="7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struct.card.5.dot.8"/>
          <p:cNvSpPr/>
          <p:nvPr/>
        </p:nvSpPr>
        <p:spPr>
          <a:xfrm>
            <a:off x="677043" y="5817596"/>
            <a:ext cx="72000" cy="7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struct.card.5.dot.9"/>
          <p:cNvSpPr/>
          <p:nvPr/>
        </p:nvSpPr>
        <p:spPr>
          <a:xfrm>
            <a:off x="677043" y="6052402"/>
            <a:ext cx="72000" cy="7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slot.key.label"/>
          <p:cNvSpPr txBox="1"/>
          <p:nvPr/>
        </p:nvSpPr>
        <p:spPr>
          <a:xfrm>
            <a:off x="5257924" y="6358740"/>
            <a:ext cx="1861095" cy="24630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36576" spcFirstLastPara="1" rIns="36576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New in this horizon</a:t>
            </a:r>
            <a:endParaRPr lang="en-US" sz="1000" b="1" i="0" kern="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struct.card.6.body"/>
          <p:cNvSpPr/>
          <p:nvPr/>
        </p:nvSpPr>
        <p:spPr>
          <a:xfrm>
            <a:off x="8500453" y="3219949"/>
            <a:ext cx="3288856" cy="2355300"/>
          </a:xfrm>
          <a:prstGeom prst="roundRect">
            <a:avLst>
              <a:gd fmla="val 1941" name="adj"/>
            </a:avLst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96000" lIns="144000" spcFirstLastPara="1" rIns="144000" wrap="square" tIns="9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67"/>
              <a:buFont typeface="Arial"/>
              <a:buNone/>
            </a:pPr>
            <a:r>
              <a:rPr sz="1400"/>
              <a:t/>
            </a:r>
            <a:endParaRPr b="1" i="0" sz="1467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struct.card.6.panel"/>
          <p:cNvSpPr/>
          <p:nvPr/>
        </p:nvSpPr>
        <p:spPr>
          <a:xfrm rot="5400000">
            <a:off x="9520806" y="3300303"/>
            <a:ext cx="2355300" cy="2194608"/>
          </a:xfrm>
          <a:prstGeom prst="round2SameRect">
            <a:avLst>
              <a:gd fmla="val 2021" name="adj1"/>
              <a:gd fmla="val 0" name="adj2"/>
            </a:avLst>
          </a:prstGeom>
          <a:solidFill>
            <a:schemeClr val="bg1">
              <a:lumMod val="9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24000" lIns="0" spcFirstLastPara="1" rIns="0" wrap="square" tIns="2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067"/>
              <a:buFont typeface="Arial"/>
              <a:buNone/>
            </a:pPr>
            <a:r>
              <a:rPr sz="1400"/>
              <a:t/>
            </a:r>
            <a:endParaRPr b="0" i="0" sz="1067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slot.card.6.item.1"/>
          <p:cNvSpPr/>
          <p:nvPr/>
        </p:nvSpPr>
        <p:spPr>
          <a:xfrm flipH="1">
            <a:off x="9678289" y="3376699"/>
            <a:ext cx="1920754" cy="20250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0" lIns="146304" spcFirstLastPara="1" rIns="27432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Contract clause review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slot.card.6.item.2"/>
          <p:cNvSpPr/>
          <p:nvPr/>
        </p:nvSpPr>
        <p:spPr>
          <a:xfrm flipH="1">
            <a:off x="9678289" y="3611504"/>
            <a:ext cx="1920754" cy="20250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0" lIns="146304" spcFirstLastPara="1" rIns="27432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Fraud pattern alerts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slot.card.6.item.3"/>
          <p:cNvSpPr/>
          <p:nvPr/>
        </p:nvSpPr>
        <p:spPr>
          <a:xfrm flipH="1">
            <a:off x="9678289" y="3846309"/>
            <a:ext cx="1920754" cy="20250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0" lIns="146304" spcFirstLastPara="1" rIns="27432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Service chat assistant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slot.card.6.item.4"/>
          <p:cNvSpPr/>
          <p:nvPr/>
        </p:nvSpPr>
        <p:spPr>
          <a:xfrm flipH="1">
            <a:off x="9678289" y="4081114"/>
            <a:ext cx="1920754" cy="20250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0" lIns="146304" spcFirstLastPara="1" rIns="27432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Next best offer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slot.card.6.item.5"/>
          <p:cNvSpPr/>
          <p:nvPr/>
        </p:nvSpPr>
        <p:spPr>
          <a:xfrm flipH="1">
            <a:off x="9678289" y="4315919"/>
            <a:ext cx="1920754" cy="20250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0" lIns="146304" spcFirstLastPara="1" rIns="27432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Output policy checks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slot.card.6.item.6"/>
          <p:cNvSpPr/>
          <p:nvPr/>
        </p:nvSpPr>
        <p:spPr>
          <a:xfrm flipH="1">
            <a:off x="9678289" y="4550724"/>
            <a:ext cx="1920754" cy="20250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0" lIns="146304" spcFirstLastPara="1" rIns="27432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Demand sensing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slot.card.6.item.7"/>
          <p:cNvSpPr/>
          <p:nvPr/>
        </p:nvSpPr>
        <p:spPr>
          <a:xfrm flipH="1">
            <a:off x="9678289" y="4785529"/>
            <a:ext cx="1920754" cy="20250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0" lIns="146304" spcFirstLastPara="1" rIns="27432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Supplier risk alerts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slot.card.6.item.8"/>
          <p:cNvSpPr/>
          <p:nvPr/>
        </p:nvSpPr>
        <p:spPr>
          <a:xfrm flipH="1">
            <a:off x="9678289" y="5020334"/>
            <a:ext cx="1920754" cy="20250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0" lIns="146304" spcFirstLastPara="1" rIns="27432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Order status assistant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slot.card.6.item.9"/>
          <p:cNvSpPr/>
          <p:nvPr/>
        </p:nvSpPr>
        <p:spPr>
          <a:xfrm flipH="1">
            <a:off x="9678289" y="5255140"/>
            <a:ext cx="1920754" cy="20250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0" lIns="146304" spcFirstLastPara="1" rIns="27432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Self-serve models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struct.card.6.dot.1"/>
          <p:cNvSpPr/>
          <p:nvPr/>
        </p:nvSpPr>
        <p:spPr>
          <a:xfrm>
            <a:off x="9703290" y="3441877"/>
            <a:ext cx="72000" cy="7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struct.card.6.dot.2"/>
          <p:cNvSpPr/>
          <p:nvPr/>
        </p:nvSpPr>
        <p:spPr>
          <a:xfrm>
            <a:off x="9703290" y="3676682"/>
            <a:ext cx="72000" cy="7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struct.card.6.dot.3"/>
          <p:cNvSpPr/>
          <p:nvPr/>
        </p:nvSpPr>
        <p:spPr>
          <a:xfrm>
            <a:off x="9703290" y="3911487"/>
            <a:ext cx="72000" cy="7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struct.card.6.dot.4"/>
          <p:cNvSpPr/>
          <p:nvPr/>
        </p:nvSpPr>
        <p:spPr>
          <a:xfrm>
            <a:off x="9703290" y="4146292"/>
            <a:ext cx="72000" cy="72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struct.card.6.dot.5"/>
          <p:cNvSpPr/>
          <p:nvPr/>
        </p:nvSpPr>
        <p:spPr>
          <a:xfrm>
            <a:off x="9703290" y="4381097"/>
            <a:ext cx="72000" cy="72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struct.card.6.dot.6"/>
          <p:cNvSpPr/>
          <p:nvPr/>
        </p:nvSpPr>
        <p:spPr>
          <a:xfrm>
            <a:off x="9703290" y="4615902"/>
            <a:ext cx="72000" cy="7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struct.card.6.dot.7"/>
          <p:cNvSpPr/>
          <p:nvPr/>
        </p:nvSpPr>
        <p:spPr>
          <a:xfrm>
            <a:off x="9703290" y="4850707"/>
            <a:ext cx="72000" cy="7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struct.card.6.dot.8"/>
          <p:cNvSpPr/>
          <p:nvPr/>
        </p:nvSpPr>
        <p:spPr>
          <a:xfrm>
            <a:off x="9703290" y="5085512"/>
            <a:ext cx="72000" cy="7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struct.card.6.dot.9"/>
          <p:cNvSpPr/>
          <p:nvPr/>
        </p:nvSpPr>
        <p:spPr>
          <a:xfrm>
            <a:off x="9703290" y="5320318"/>
            <a:ext cx="72000" cy="7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slot.card.6.count"/>
          <p:cNvSpPr/>
          <p:nvPr/>
        </p:nvSpPr>
        <p:spPr>
          <a:xfrm>
            <a:off x="8939515" y="3392424"/>
            <a:ext cx="408038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30</a:t>
            </a:r>
            <a:endParaRPr lang="en-US" sz="13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98" name="struct.card.6.areas"/>
          <p:cNvGrpSpPr/>
          <p:nvPr/>
        </p:nvGrpSpPr>
        <p:grpSpPr>
          <a:xfrm>
            <a:off x="8627181" y="3761671"/>
            <a:ext cx="916143" cy="879574"/>
            <a:chOff x="8758024" y="3761671"/>
            <a:chExt cx="944401" cy="879574"/>
          </a:xfrm>
          <a:effectLst/>
        </p:grpSpPr>
        <p:grpSp>
          <p:nvGrpSpPr>
            <p:cNvPr id="99" name="struct.card.6.area.3"/>
            <p:cNvGrpSpPr/>
            <p:nvPr/>
          </p:nvGrpSpPr>
          <p:grpSpPr>
            <a:xfrm>
              <a:off x="9437762" y="3761671"/>
              <a:ext cx="264663" cy="264664"/>
              <a:chOff x="9437762" y="3761671"/>
              <a:chExt cx="264663" cy="264664"/>
            </a:xfrm>
          </p:grpSpPr>
          <p:sp>
            <p:nvSpPr>
              <p:cNvPr id="100" name="struct.card.6.area.3.disc"/>
              <p:cNvSpPr/>
              <p:nvPr/>
            </p:nvSpPr>
            <p:spPr>
              <a:xfrm>
                <a:off x="9437762" y="3761671"/>
                <a:ext cx="264663" cy="264664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1867"/>
                  <a:buFont typeface="Arial"/>
                  <a:buNone/>
                </a:pPr>
                <a:r>
                  <a:rPr sz="1400"/>
                  <a:t/>
                </a:r>
                <a:endParaRPr b="0" i="0" sz="1867" u="none" cap="none" strike="noStrik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" name="struct.card.6.area.2"/>
            <p:cNvGrpSpPr/>
            <p:nvPr/>
          </p:nvGrpSpPr>
          <p:grpSpPr>
            <a:xfrm>
              <a:off x="9098064" y="3761671"/>
              <a:ext cx="264664" cy="264664"/>
              <a:chOff x="9098064" y="3761671"/>
              <a:chExt cx="264664" cy="264664"/>
            </a:xfrm>
          </p:grpSpPr>
          <p:sp>
            <p:nvSpPr>
              <p:cNvPr id="102" name="struct.card.6.area.2.disc"/>
              <p:cNvSpPr/>
              <p:nvPr/>
            </p:nvSpPr>
            <p:spPr>
              <a:xfrm>
                <a:off x="9098064" y="3761671"/>
                <a:ext cx="264664" cy="26466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1867"/>
                  <a:buFont typeface="Arial"/>
                  <a:buNone/>
                </a:pPr>
                <a:r>
                  <a:rPr sz="1400"/>
                  <a:t/>
                </a:r>
                <a:endParaRPr b="0" i="0" sz="1867" u="none" cap="none" strike="noStrik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3" name="struct.card.6.area.1"/>
            <p:cNvGrpSpPr/>
            <p:nvPr/>
          </p:nvGrpSpPr>
          <p:grpSpPr>
            <a:xfrm>
              <a:off x="8758364" y="3761671"/>
              <a:ext cx="264663" cy="264664"/>
              <a:chOff x="8758364" y="3761671"/>
              <a:chExt cx="264663" cy="264664"/>
            </a:xfrm>
          </p:grpSpPr>
          <p:sp>
            <p:nvSpPr>
              <p:cNvPr id="104" name="struct.card.6.area.1.disc"/>
              <p:cNvSpPr/>
              <p:nvPr/>
            </p:nvSpPr>
            <p:spPr>
              <a:xfrm>
                <a:off x="8758364" y="3761671"/>
                <a:ext cx="264663" cy="26466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1867"/>
                  <a:buFont typeface="Arial"/>
                  <a:buNone/>
                </a:pPr>
                <a:r>
                  <a:rPr sz="1400"/>
                  <a:t/>
                </a:r>
                <a:endParaRPr b="0" i="0" sz="1867" u="none" cap="none" strike="noStrik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5" name="struct.card.6.area.4"/>
            <p:cNvGrpSpPr/>
            <p:nvPr/>
          </p:nvGrpSpPr>
          <p:grpSpPr>
            <a:xfrm>
              <a:off x="8758300" y="4067291"/>
              <a:ext cx="264663" cy="264664"/>
              <a:chOff x="8758300" y="4067291"/>
              <a:chExt cx="264663" cy="264664"/>
            </a:xfrm>
          </p:grpSpPr>
          <p:sp>
            <p:nvSpPr>
              <p:cNvPr id="106" name="struct.card.6.area.4.disc"/>
              <p:cNvSpPr/>
              <p:nvPr/>
            </p:nvSpPr>
            <p:spPr>
              <a:xfrm>
                <a:off x="8758300" y="4067291"/>
                <a:ext cx="264663" cy="26466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1867"/>
                  <a:buFont typeface="Arial"/>
                  <a:buNone/>
                </a:pPr>
                <a:r>
                  <a:rPr sz="1400"/>
                  <a:t/>
                </a:r>
                <a:endParaRPr b="0" i="0" sz="1867" u="none" cap="none" strike="noStrik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7" name="struct.card.6.area.5"/>
            <p:cNvGrpSpPr/>
            <p:nvPr/>
          </p:nvGrpSpPr>
          <p:grpSpPr>
            <a:xfrm>
              <a:off x="9098000" y="4067291"/>
              <a:ext cx="264664" cy="264664"/>
              <a:chOff x="9098000" y="4067291"/>
              <a:chExt cx="264664" cy="264664"/>
            </a:xfrm>
          </p:grpSpPr>
          <p:sp>
            <p:nvSpPr>
              <p:cNvPr id="108" name="struct.card.6.area.5.disc"/>
              <p:cNvSpPr/>
              <p:nvPr/>
            </p:nvSpPr>
            <p:spPr>
              <a:xfrm>
                <a:off x="9098000" y="4067291"/>
                <a:ext cx="264664" cy="26466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1867"/>
                  <a:buFont typeface="Arial"/>
                  <a:buNone/>
                </a:pPr>
                <a:r>
                  <a:rPr sz="1400"/>
                  <a:t/>
                </a:r>
                <a:endParaRPr b="0" i="0" sz="1867" u="none" cap="none" strike="noStrik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9" name="struct.card.6.area.6"/>
            <p:cNvGrpSpPr/>
            <p:nvPr/>
          </p:nvGrpSpPr>
          <p:grpSpPr>
            <a:xfrm>
              <a:off x="9437675" y="4067291"/>
              <a:ext cx="264664" cy="264664"/>
              <a:chOff x="9437675" y="4067291"/>
              <a:chExt cx="264664" cy="264664"/>
            </a:xfrm>
          </p:grpSpPr>
          <p:sp>
            <p:nvSpPr>
              <p:cNvPr id="110" name="struct.card.6.area.6.disc"/>
              <p:cNvSpPr/>
              <p:nvPr/>
            </p:nvSpPr>
            <p:spPr>
              <a:xfrm>
                <a:off x="9437675" y="4067291"/>
                <a:ext cx="264664" cy="26466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1867"/>
                  <a:buFont typeface="Arial"/>
                  <a:buNone/>
                </a:pPr>
                <a:r>
                  <a:rPr sz="1400"/>
                  <a:t/>
                </a:r>
                <a:endParaRPr b="0" i="0" sz="1867" u="none" cap="none" strike="noStrik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1" name="struct.card.6.area.7"/>
            <p:cNvGrpSpPr/>
            <p:nvPr/>
          </p:nvGrpSpPr>
          <p:grpSpPr>
            <a:xfrm>
              <a:off x="8758024" y="4376452"/>
              <a:ext cx="264794" cy="264793"/>
              <a:chOff x="8758024" y="4376452"/>
              <a:chExt cx="264794" cy="264793"/>
            </a:xfrm>
          </p:grpSpPr>
          <p:sp>
            <p:nvSpPr>
              <p:cNvPr id="112" name="struct.card.6.area.7.disc"/>
              <p:cNvSpPr/>
              <p:nvPr/>
            </p:nvSpPr>
            <p:spPr>
              <a:xfrm>
                <a:off x="8758024" y="4376452"/>
                <a:ext cx="264794" cy="26479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1867"/>
                  <a:buFont typeface="Arial"/>
                  <a:buNone/>
                </a:pPr>
                <a:r>
                  <a:rPr sz="1400"/>
                  <a:t/>
                </a:r>
                <a:endParaRPr b="0" i="0" sz="1867" u="none" cap="none" strike="noStrik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3" name="struct.card.6.area.8"/>
            <p:cNvGrpSpPr/>
            <p:nvPr/>
          </p:nvGrpSpPr>
          <p:grpSpPr>
            <a:xfrm>
              <a:off x="9097977" y="4376482"/>
              <a:ext cx="264664" cy="264664"/>
              <a:chOff x="9097977" y="4376482"/>
              <a:chExt cx="264664" cy="264664"/>
            </a:xfrm>
          </p:grpSpPr>
          <p:sp>
            <p:nvSpPr>
              <p:cNvPr id="114" name="struct.card.6.area.8.disc"/>
              <p:cNvSpPr/>
              <p:nvPr/>
            </p:nvSpPr>
            <p:spPr>
              <a:xfrm>
                <a:off x="9097977" y="4376482"/>
                <a:ext cx="264664" cy="26466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1867"/>
                  <a:buFont typeface="Arial"/>
                  <a:buNone/>
                </a:pPr>
                <a:r>
                  <a:rPr sz="1400"/>
                  <a:t/>
                </a:r>
                <a:endParaRPr b="0" i="0" sz="1867" u="none" cap="none" strike="noStrik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15" name="struct.card.3.body"/>
          <p:cNvSpPr/>
          <p:nvPr/>
        </p:nvSpPr>
        <p:spPr>
          <a:xfrm>
            <a:off x="4627770" y="967404"/>
            <a:ext cx="3288856" cy="1661700"/>
          </a:xfrm>
          <a:prstGeom prst="roundRect">
            <a:avLst>
              <a:gd fmla="val 2751" name="adj"/>
            </a:avLst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96000" lIns="144000" spcFirstLastPara="1" rIns="144000" wrap="square" tIns="9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67"/>
              <a:buFont typeface="Arial"/>
              <a:buNone/>
            </a:pPr>
            <a:r>
              <a:rPr sz="1400"/>
              <a:t/>
            </a:r>
            <a:endParaRPr b="1" i="0" sz="1467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struct.card.3.panel"/>
          <p:cNvSpPr/>
          <p:nvPr/>
        </p:nvSpPr>
        <p:spPr>
          <a:xfrm rot="5400000">
            <a:off x="5994923" y="700957"/>
            <a:ext cx="1661700" cy="2194608"/>
          </a:xfrm>
          <a:prstGeom prst="round2SameRect">
            <a:avLst>
              <a:gd fmla="val 2751" name="adj1"/>
              <a:gd fmla="val 0" name="adj2"/>
            </a:avLst>
          </a:prstGeom>
          <a:solidFill>
            <a:schemeClr val="bg1">
              <a:lumMod val="9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24000" lIns="0" spcFirstLastPara="1" rIns="0" wrap="square" tIns="2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067"/>
              <a:buFont typeface="Arial"/>
              <a:buNone/>
            </a:pPr>
            <a:r>
              <a:rPr sz="1400"/>
              <a:t/>
            </a:r>
            <a:endParaRPr b="0" i="0" sz="1067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slot.card.3.item.1"/>
          <p:cNvSpPr/>
          <p:nvPr/>
        </p:nvSpPr>
        <p:spPr>
          <a:xfrm flipH="1">
            <a:off x="5805606" y="1124153"/>
            <a:ext cx="1920754" cy="20250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0" lIns="146304" spcFirstLastPara="1" rIns="27432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Campaign variants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slot.card.3.item.2"/>
          <p:cNvSpPr/>
          <p:nvPr/>
        </p:nvSpPr>
        <p:spPr>
          <a:xfrm flipH="1">
            <a:off x="5805606" y="1358958"/>
            <a:ext cx="1920754" cy="20250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0" lIns="146304" spcFirstLastPara="1" rIns="27432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Verbatim coding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slot.card.3.item.3"/>
          <p:cNvSpPr/>
          <p:nvPr/>
        </p:nvSpPr>
        <p:spPr>
          <a:xfrm flipH="1">
            <a:off x="5805606" y="1593763"/>
            <a:ext cx="1920754" cy="20250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0" lIns="146304" spcFirstLastPara="1" rIns="27432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Weekly sales forecast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slot.card.3.item.4"/>
          <p:cNvSpPr/>
          <p:nvPr/>
        </p:nvSpPr>
        <p:spPr>
          <a:xfrm flipH="1">
            <a:off x="5805606" y="1828568"/>
            <a:ext cx="1920754" cy="20250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0" lIns="146304" spcFirstLastPara="1" rIns="27432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Competitor digest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slot.card.3.item.5"/>
          <p:cNvSpPr/>
          <p:nvPr/>
        </p:nvSpPr>
        <p:spPr>
          <a:xfrm flipH="1">
            <a:off x="5805606" y="2063373"/>
            <a:ext cx="1920754" cy="20250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0" lIns="146304" spcFirstLastPara="1" rIns="27432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Field call summaries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slot.card.3.item.6"/>
          <p:cNvSpPr/>
          <p:nvPr/>
        </p:nvSpPr>
        <p:spPr>
          <a:xfrm flipH="1">
            <a:off x="5805606" y="2298178"/>
            <a:ext cx="1920754" cy="20250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0" lIns="146304" spcFirstLastPara="1" rIns="27432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Brief summaries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struct.card.3.dot.1"/>
          <p:cNvSpPr/>
          <p:nvPr/>
        </p:nvSpPr>
        <p:spPr>
          <a:xfrm>
            <a:off x="5830606" y="1189331"/>
            <a:ext cx="72000" cy="7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struct.card.3.dot.2"/>
          <p:cNvSpPr/>
          <p:nvPr/>
        </p:nvSpPr>
        <p:spPr>
          <a:xfrm>
            <a:off x="5830606" y="1424136"/>
            <a:ext cx="72000" cy="7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struct.card.3.dot.3"/>
          <p:cNvSpPr/>
          <p:nvPr/>
        </p:nvSpPr>
        <p:spPr>
          <a:xfrm>
            <a:off x="5830606" y="1658941"/>
            <a:ext cx="72000" cy="7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struct.card.3.dot.4"/>
          <p:cNvSpPr/>
          <p:nvPr/>
        </p:nvSpPr>
        <p:spPr>
          <a:xfrm>
            <a:off x="5830606" y="1893746"/>
            <a:ext cx="72000" cy="72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struct.card.3.dot.5"/>
          <p:cNvSpPr/>
          <p:nvPr/>
        </p:nvSpPr>
        <p:spPr>
          <a:xfrm>
            <a:off x="5830606" y="2128551"/>
            <a:ext cx="72000" cy="72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struct.card.3.dot.6"/>
          <p:cNvSpPr/>
          <p:nvPr/>
        </p:nvSpPr>
        <p:spPr>
          <a:xfrm>
            <a:off x="5830606" y="2363356"/>
            <a:ext cx="72000" cy="7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slot.card.3.count"/>
          <p:cNvSpPr/>
          <p:nvPr/>
        </p:nvSpPr>
        <p:spPr>
          <a:xfrm>
            <a:off x="5129191" y="1133856"/>
            <a:ext cx="329184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8</a:t>
            </a:r>
            <a:endParaRPr lang="en-US" sz="13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130" name="struct.card.3.area.3"/>
          <p:cNvGrpSpPr/>
          <p:nvPr/>
        </p:nvGrpSpPr>
        <p:grpSpPr>
          <a:xfrm>
            <a:off x="5409716" y="1509175"/>
            <a:ext cx="264651" cy="264651"/>
            <a:chOff x="5445399" y="1509175"/>
            <a:chExt cx="264651" cy="264651"/>
          </a:xfrm>
          <a:effectLst/>
        </p:grpSpPr>
        <p:sp>
          <p:nvSpPr>
            <p:cNvPr id="131" name="struct.card.3.area.3.disc"/>
            <p:cNvSpPr/>
            <p:nvPr/>
          </p:nvSpPr>
          <p:spPr>
            <a:xfrm>
              <a:off x="5445399" y="1509175"/>
              <a:ext cx="264651" cy="264651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1867"/>
                <a:buFont typeface="Arial"/>
                <a:buNone/>
              </a:pPr>
              <a:r>
                <a:rPr sz="1400"/>
                <a:t/>
              </a:r>
              <a:endParaRPr b="0" i="0" sz="1867" u="none" cap="none" strike="noStrik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" name="struct.card.3.area.2"/>
          <p:cNvGrpSpPr/>
          <p:nvPr/>
        </p:nvGrpSpPr>
        <p:grpSpPr>
          <a:xfrm>
            <a:off x="5080142" y="1509175"/>
            <a:ext cx="264651" cy="264651"/>
            <a:chOff x="5105659" y="1509175"/>
            <a:chExt cx="264651" cy="264651"/>
          </a:xfrm>
          <a:effectLst/>
        </p:grpSpPr>
        <p:sp>
          <p:nvSpPr>
            <p:cNvPr id="133" name="struct.card.3.area.2.disc"/>
            <p:cNvSpPr/>
            <p:nvPr/>
          </p:nvSpPr>
          <p:spPr>
            <a:xfrm>
              <a:off x="5105659" y="1509175"/>
              <a:ext cx="264651" cy="26465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1867"/>
                <a:buFont typeface="Arial"/>
                <a:buNone/>
              </a:pPr>
              <a:r>
                <a:rPr sz="1400"/>
                <a:t/>
              </a:r>
              <a:endParaRPr b="0" i="0" sz="1867" u="none" cap="none" strike="noStrik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" name="struct.card.3.area.1"/>
          <p:cNvGrpSpPr/>
          <p:nvPr/>
        </p:nvGrpSpPr>
        <p:grpSpPr>
          <a:xfrm>
            <a:off x="4750567" y="1509175"/>
            <a:ext cx="264651" cy="264651"/>
            <a:chOff x="4765918" y="1509175"/>
            <a:chExt cx="264651" cy="264651"/>
          </a:xfrm>
          <a:effectLst/>
        </p:grpSpPr>
        <p:sp>
          <p:nvSpPr>
            <p:cNvPr id="135" name="struct.card.3.area.1.disc"/>
            <p:cNvSpPr/>
            <p:nvPr/>
          </p:nvSpPr>
          <p:spPr>
            <a:xfrm>
              <a:off x="4765918" y="1509175"/>
              <a:ext cx="264651" cy="26465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1867"/>
                <a:buFont typeface="Arial"/>
                <a:buNone/>
              </a:pPr>
              <a:r>
                <a:rPr sz="1400"/>
                <a:t/>
              </a:r>
              <a:endParaRPr b="0" i="0" sz="1867" u="none" cap="none" strike="noStrik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" name="struct.card.4.body"/>
          <p:cNvSpPr/>
          <p:nvPr/>
        </p:nvSpPr>
        <p:spPr>
          <a:xfrm>
            <a:off x="8500453" y="1000958"/>
            <a:ext cx="3288856" cy="1938600"/>
          </a:xfrm>
          <a:prstGeom prst="roundRect">
            <a:avLst>
              <a:gd fmla="val 2358" name="adj"/>
            </a:avLst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96000" lIns="144000" spcFirstLastPara="1" rIns="144000" wrap="square" tIns="9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67"/>
              <a:buFont typeface="Arial"/>
              <a:buNone/>
            </a:pPr>
            <a:r>
              <a:rPr sz="1400"/>
              <a:t/>
            </a:r>
            <a:endParaRPr b="1" i="0" sz="1467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struct.card.4.panel"/>
          <p:cNvSpPr/>
          <p:nvPr/>
        </p:nvSpPr>
        <p:spPr>
          <a:xfrm rot="5400000">
            <a:off x="9729156" y="872963"/>
            <a:ext cx="1938600" cy="2194608"/>
          </a:xfrm>
          <a:prstGeom prst="round2SameRect">
            <a:avLst>
              <a:gd fmla="val 2358" name="adj1"/>
              <a:gd fmla="val 0" name="adj2"/>
            </a:avLst>
          </a:prstGeom>
          <a:solidFill>
            <a:schemeClr val="bg1">
              <a:lumMod val="9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24000" lIns="0" spcFirstLastPara="1" rIns="0" wrap="square" tIns="2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067"/>
              <a:buFont typeface="Arial"/>
              <a:buNone/>
            </a:pPr>
            <a:r>
              <a:rPr sz="1400"/>
              <a:t/>
            </a:r>
            <a:endParaRPr b="0" i="0" sz="1067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slot.card.4.item.1"/>
          <p:cNvSpPr/>
          <p:nvPr/>
        </p:nvSpPr>
        <p:spPr>
          <a:xfrm flipH="1">
            <a:off x="9678289" y="1157707"/>
            <a:ext cx="1920754" cy="20250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0" lIns="146304" spcFirstLastPara="1" rIns="36576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Shared prompt library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slot.card.4.item.2"/>
          <p:cNvSpPr/>
          <p:nvPr/>
        </p:nvSpPr>
        <p:spPr>
          <a:xfrm flipH="1">
            <a:off x="9678289" y="1392512"/>
            <a:ext cx="1920754" cy="20250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0" lIns="146304" spcFirstLastPara="1" rIns="36576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Model review board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slot.card.4.item.3"/>
          <p:cNvSpPr/>
          <p:nvPr/>
        </p:nvSpPr>
        <p:spPr>
          <a:xfrm flipH="1">
            <a:off x="9678289" y="1627317"/>
            <a:ext cx="1920754" cy="20250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0" lIns="146304" spcFirstLastPara="1" rIns="36576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Usage and cost tracking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slot.card.4.item.4"/>
          <p:cNvSpPr/>
          <p:nvPr/>
        </p:nvSpPr>
        <p:spPr>
          <a:xfrm flipH="1">
            <a:off x="9678289" y="1862122"/>
            <a:ext cx="1920754" cy="20250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0" lIns="146304" spcFirstLastPara="1" rIns="36576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Price scenario testing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slot.card.4.item.5"/>
          <p:cNvSpPr/>
          <p:nvPr/>
        </p:nvSpPr>
        <p:spPr>
          <a:xfrm flipH="1">
            <a:off x="9678289" y="2096927"/>
            <a:ext cx="1920754" cy="20250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0" lIns="146304" spcFirstLastPara="1" rIns="36576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Forecast accuracy checks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slot.card.4.item.6"/>
          <p:cNvSpPr/>
          <p:nvPr/>
        </p:nvSpPr>
        <p:spPr>
          <a:xfrm flipH="1">
            <a:off x="9678289" y="2331732"/>
            <a:ext cx="1920754" cy="20250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0" lIns="146304" spcFirstLastPara="1" rIns="36576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data request queue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slot.card.4.item.7"/>
          <p:cNvSpPr/>
          <p:nvPr/>
        </p:nvSpPr>
        <p:spPr>
          <a:xfrm flipH="1">
            <a:off x="9678289" y="2566537"/>
            <a:ext cx="1920754" cy="20250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0" lIns="146304" spcFirstLastPara="1" rIns="36576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Analyst training plan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struct.card.4.dot.1"/>
          <p:cNvSpPr/>
          <p:nvPr/>
        </p:nvSpPr>
        <p:spPr>
          <a:xfrm>
            <a:off x="9703290" y="1222885"/>
            <a:ext cx="72000" cy="7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struct.card.4.dot.2"/>
          <p:cNvSpPr/>
          <p:nvPr/>
        </p:nvSpPr>
        <p:spPr>
          <a:xfrm>
            <a:off x="9703290" y="1457690"/>
            <a:ext cx="72000" cy="7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struct.card.4.dot.3"/>
          <p:cNvSpPr/>
          <p:nvPr/>
        </p:nvSpPr>
        <p:spPr>
          <a:xfrm>
            <a:off x="9703290" y="1692495"/>
            <a:ext cx="72000" cy="7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struct.card.4.dot.4"/>
          <p:cNvSpPr/>
          <p:nvPr/>
        </p:nvSpPr>
        <p:spPr>
          <a:xfrm>
            <a:off x="9703290" y="1927300"/>
            <a:ext cx="72000" cy="7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struct.card.4.dot.5"/>
          <p:cNvSpPr/>
          <p:nvPr/>
        </p:nvSpPr>
        <p:spPr>
          <a:xfrm>
            <a:off x="9703290" y="2162105"/>
            <a:ext cx="72000" cy="7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struct.card.4.dot.6"/>
          <p:cNvSpPr/>
          <p:nvPr/>
        </p:nvSpPr>
        <p:spPr>
          <a:xfrm>
            <a:off x="9703290" y="2396910"/>
            <a:ext cx="72000" cy="7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struct.card.4.dot.7"/>
          <p:cNvSpPr/>
          <p:nvPr/>
        </p:nvSpPr>
        <p:spPr>
          <a:xfrm>
            <a:off x="9703290" y="2631715"/>
            <a:ext cx="72000" cy="7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18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slot.card.4.count"/>
          <p:cNvSpPr/>
          <p:nvPr/>
        </p:nvSpPr>
        <p:spPr>
          <a:xfrm>
            <a:off x="9001607" y="1170432"/>
            <a:ext cx="354816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14</a:t>
            </a:r>
            <a:endParaRPr lang="en-US" sz="13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153" name="struct.card.4.area.3"/>
          <p:cNvGrpSpPr/>
          <p:nvPr/>
        </p:nvGrpSpPr>
        <p:grpSpPr>
          <a:xfrm>
            <a:off x="9282400" y="1542729"/>
            <a:ext cx="264651" cy="264651"/>
            <a:chOff x="9437535" y="1542729"/>
            <a:chExt cx="264651" cy="264651"/>
          </a:xfrm>
          <a:effectLst/>
        </p:grpSpPr>
        <p:sp>
          <p:nvSpPr>
            <p:cNvPr id="154" name="struct.card.4.area.3.disc"/>
            <p:cNvSpPr/>
            <p:nvPr/>
          </p:nvSpPr>
          <p:spPr>
            <a:xfrm>
              <a:off x="9437535" y="1542729"/>
              <a:ext cx="264651" cy="264651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1867"/>
                <a:buFont typeface="Arial"/>
                <a:buNone/>
              </a:pPr>
              <a:r>
                <a:rPr sz="1400"/>
                <a:t/>
              </a:r>
              <a:endParaRPr b="0" i="0" sz="1867" u="none" cap="none" strike="noStrik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5" name="struct.card.4.area.2"/>
          <p:cNvGrpSpPr/>
          <p:nvPr/>
        </p:nvGrpSpPr>
        <p:grpSpPr>
          <a:xfrm>
            <a:off x="8952826" y="1542729"/>
            <a:ext cx="264651" cy="264651"/>
            <a:chOff x="9097795" y="1542729"/>
            <a:chExt cx="264651" cy="264651"/>
          </a:xfrm>
          <a:effectLst/>
        </p:grpSpPr>
        <p:sp>
          <p:nvSpPr>
            <p:cNvPr id="156" name="struct.card.4.area.2.disc"/>
            <p:cNvSpPr/>
            <p:nvPr/>
          </p:nvSpPr>
          <p:spPr>
            <a:xfrm>
              <a:off x="9097795" y="1542729"/>
              <a:ext cx="264651" cy="26465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1867"/>
                <a:buFont typeface="Arial"/>
                <a:buNone/>
              </a:pPr>
              <a:r>
                <a:rPr sz="1400"/>
                <a:t/>
              </a:r>
              <a:endParaRPr b="0" i="0" sz="1867" u="none" cap="none" strike="noStrik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" name="struct.card.4.area.1"/>
          <p:cNvGrpSpPr/>
          <p:nvPr/>
        </p:nvGrpSpPr>
        <p:grpSpPr>
          <a:xfrm>
            <a:off x="8623250" y="1542729"/>
            <a:ext cx="264651" cy="264651"/>
            <a:chOff x="8758054" y="1542729"/>
            <a:chExt cx="264651" cy="264651"/>
          </a:xfrm>
          <a:effectLst/>
        </p:grpSpPr>
        <p:sp>
          <p:nvSpPr>
            <p:cNvPr id="158" name="struct.card.4.area.1.disc"/>
            <p:cNvSpPr/>
            <p:nvPr/>
          </p:nvSpPr>
          <p:spPr>
            <a:xfrm>
              <a:off x="8758054" y="1542729"/>
              <a:ext cx="264651" cy="26465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1867"/>
                <a:buFont typeface="Arial"/>
                <a:buNone/>
              </a:pPr>
              <a:r>
                <a:rPr sz="1400"/>
                <a:t/>
              </a:r>
              <a:endParaRPr b="0" i="0" sz="1867" u="none" cap="none" strike="noStrik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" name="struct.card.4.area.4"/>
          <p:cNvGrpSpPr/>
          <p:nvPr/>
        </p:nvGrpSpPr>
        <p:grpSpPr>
          <a:xfrm>
            <a:off x="8623285" y="1848357"/>
            <a:ext cx="264651" cy="264651"/>
            <a:chOff x="8758090" y="1848357"/>
            <a:chExt cx="264651" cy="264651"/>
          </a:xfrm>
          <a:effectLst/>
        </p:grpSpPr>
        <p:sp>
          <p:nvSpPr>
            <p:cNvPr id="160" name="struct.card.4.area.4.disc"/>
            <p:cNvSpPr/>
            <p:nvPr/>
          </p:nvSpPr>
          <p:spPr>
            <a:xfrm>
              <a:off x="8758090" y="1848357"/>
              <a:ext cx="264651" cy="26465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Pts val="1867"/>
                <a:buFont typeface="Arial"/>
                <a:buNone/>
              </a:pPr>
              <a:r>
                <a:rPr sz="1400"/>
                <a:t/>
              </a:r>
              <a:endParaRPr b="0" i="0" sz="1867" u="none" cap="none" strike="noStrik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" name="struct.legend.1"/>
          <p:cNvGrpSpPr/>
          <p:nvPr/>
        </p:nvGrpSpPr>
        <p:grpSpPr>
          <a:xfrm>
            <a:off x="7435212" y="188572"/>
            <a:ext cx="1449261" cy="534027"/>
            <a:chOff x="7529289" y="188572"/>
            <a:chExt cx="1493963" cy="534027"/>
          </a:xfrm>
          <a:effectLst/>
        </p:grpSpPr>
        <p:grpSp>
          <p:nvGrpSpPr>
            <p:cNvPr id="162" name="struct.legend.1.disc"/>
            <p:cNvGrpSpPr/>
            <p:nvPr/>
          </p:nvGrpSpPr>
          <p:grpSpPr>
            <a:xfrm>
              <a:off x="8213000" y="188572"/>
              <a:ext cx="234237" cy="234237"/>
              <a:chOff x="8213000" y="188572"/>
              <a:chExt cx="234237" cy="234237"/>
            </a:xfrm>
          </p:grpSpPr>
          <p:sp>
            <p:nvSpPr>
              <p:cNvPr id="163" name="struct.legend.1.disc.fill"/>
              <p:cNvSpPr/>
              <p:nvPr/>
            </p:nvSpPr>
            <p:spPr>
              <a:xfrm>
                <a:off x="8213000" y="188572"/>
                <a:ext cx="234237" cy="23423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933"/>
                  <a:buFont typeface="Arial"/>
                  <a:buNone/>
                </a:pPr>
                <a:r>
                  <a:rPr sz="1400"/>
                  <a:t/>
                </a:r>
                <a:endParaRPr b="0" i="0" sz="933" u="none" cap="none" strike="noStrik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4" name="struct.legend.2.disc"/>
            <p:cNvGrpSpPr/>
            <p:nvPr/>
          </p:nvGrpSpPr>
          <p:grpSpPr>
            <a:xfrm>
              <a:off x="8213041" y="488487"/>
              <a:ext cx="234112" cy="234112"/>
              <a:chOff x="8213041" y="488487"/>
              <a:chExt cx="234112" cy="234112"/>
            </a:xfrm>
          </p:grpSpPr>
          <p:sp>
            <p:nvSpPr>
              <p:cNvPr id="165" name="struct.legend.2.disc.fill"/>
              <p:cNvSpPr/>
              <p:nvPr/>
            </p:nvSpPr>
            <p:spPr>
              <a:xfrm>
                <a:off x="8213041" y="488487"/>
                <a:ext cx="234112" cy="23411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933"/>
                  <a:buFont typeface="Arial"/>
                  <a:buNone/>
                </a:pPr>
                <a:r>
                  <a:rPr sz="1400"/>
                  <a:t/>
                </a:r>
                <a:endParaRPr b="0" i="0" sz="933" u="none" cap="none" strike="noStrik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6" name="slot.legend.1.label"/>
            <p:cNvSpPr/>
            <p:nvPr/>
          </p:nvSpPr>
          <p:spPr>
            <a:xfrm>
              <a:off x="8494465" y="206446"/>
              <a:ext cx="667823" cy="1984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Marketing</a:t>
              </a:r>
              <a:endPara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67" name="slot.legend.2.label"/>
            <p:cNvSpPr/>
            <p:nvPr/>
          </p:nvSpPr>
          <p:spPr>
            <a:xfrm>
              <a:off x="8494465" y="506347"/>
              <a:ext cx="667823" cy="1984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Supply</a:t>
              </a:r>
              <a:endPara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68" name="slot.legend.head"/>
            <p:cNvSpPr/>
            <p:nvPr/>
          </p:nvSpPr>
          <p:spPr>
            <a:xfrm>
              <a:off x="7529289" y="223555"/>
              <a:ext cx="501588" cy="164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rPr>
                <a:t>Areas</a:t>
              </a:r>
              <a:endPara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169" name="struct.legend.2"/>
          <p:cNvGrpSpPr/>
          <p:nvPr/>
        </p:nvGrpSpPr>
        <p:grpSpPr>
          <a:xfrm>
            <a:off x="9045097" y="192031"/>
            <a:ext cx="733219" cy="530567"/>
            <a:chOff x="9188831" y="192031"/>
            <a:chExt cx="755835" cy="530567"/>
          </a:xfrm>
          <a:effectLst/>
        </p:grpSpPr>
        <p:grpSp>
          <p:nvGrpSpPr>
            <p:cNvPr id="170" name="struct.legend.3.disc"/>
            <p:cNvGrpSpPr/>
            <p:nvPr/>
          </p:nvGrpSpPr>
          <p:grpSpPr>
            <a:xfrm>
              <a:off x="9188884" y="192031"/>
              <a:ext cx="234113" cy="234112"/>
              <a:chOff x="9188884" y="192031"/>
              <a:chExt cx="234113" cy="234112"/>
            </a:xfrm>
          </p:grpSpPr>
          <p:sp>
            <p:nvSpPr>
              <p:cNvPr id="171" name="struct.legend.3.disc.fill"/>
              <p:cNvSpPr/>
              <p:nvPr/>
            </p:nvSpPr>
            <p:spPr>
              <a:xfrm>
                <a:off x="9188884" y="192031"/>
                <a:ext cx="234113" cy="23411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933"/>
                  <a:buFont typeface="Arial"/>
                  <a:buNone/>
                </a:pPr>
                <a:r>
                  <a:rPr sz="1400"/>
                  <a:t/>
                </a:r>
                <a:endParaRPr b="0" i="0" sz="933" u="none" cap="none" strike="noStrik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2" name="struct.legend.4.disc"/>
            <p:cNvGrpSpPr/>
            <p:nvPr/>
          </p:nvGrpSpPr>
          <p:grpSpPr>
            <a:xfrm>
              <a:off x="9188831" y="488486"/>
              <a:ext cx="234112" cy="234112"/>
              <a:chOff x="9188831" y="488486"/>
              <a:chExt cx="234112" cy="234112"/>
            </a:xfrm>
          </p:grpSpPr>
          <p:sp>
            <p:nvSpPr>
              <p:cNvPr id="173" name="struct.legend.4.disc.fill"/>
              <p:cNvSpPr/>
              <p:nvPr/>
            </p:nvSpPr>
            <p:spPr>
              <a:xfrm>
                <a:off x="9188831" y="488486"/>
                <a:ext cx="234112" cy="23411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933"/>
                  <a:buFont typeface="Arial"/>
                  <a:buNone/>
                </a:pPr>
                <a:r>
                  <a:rPr sz="1400"/>
                  <a:t/>
                </a:r>
                <a:endParaRPr b="0" i="0" sz="933" u="none" cap="none" strike="noStrik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4" name="slot.legend.3.label"/>
            <p:cNvSpPr/>
            <p:nvPr/>
          </p:nvSpPr>
          <p:spPr>
            <a:xfrm>
              <a:off x="9470278" y="206446"/>
              <a:ext cx="615553" cy="198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Insight</a:t>
              </a:r>
              <a:endPara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75" name="slot.legend.4.label"/>
            <p:cNvSpPr/>
            <p:nvPr/>
          </p:nvSpPr>
          <p:spPr>
            <a:xfrm>
              <a:off x="9470278" y="506347"/>
              <a:ext cx="615553" cy="198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Data</a:t>
              </a:r>
              <a:endPara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176" name="struct.legend.3"/>
          <p:cNvGrpSpPr/>
          <p:nvPr/>
        </p:nvGrpSpPr>
        <p:grpSpPr>
          <a:xfrm>
            <a:off x="9939786" y="192031"/>
            <a:ext cx="565300" cy="530762"/>
            <a:chOff x="10111117" y="192031"/>
            <a:chExt cx="582737" cy="530762"/>
          </a:xfrm>
          <a:effectLst/>
        </p:grpSpPr>
        <p:grpSp>
          <p:nvGrpSpPr>
            <p:cNvPr id="177" name="struct.legend.5.disc"/>
            <p:cNvGrpSpPr/>
            <p:nvPr/>
          </p:nvGrpSpPr>
          <p:grpSpPr>
            <a:xfrm>
              <a:off x="10111257" y="192031"/>
              <a:ext cx="234112" cy="234112"/>
              <a:chOff x="10111257" y="192031"/>
              <a:chExt cx="234112" cy="234112"/>
            </a:xfrm>
          </p:grpSpPr>
          <p:sp>
            <p:nvSpPr>
              <p:cNvPr id="178" name="struct.legend.5.disc.fill"/>
              <p:cNvSpPr/>
              <p:nvPr/>
            </p:nvSpPr>
            <p:spPr>
              <a:xfrm>
                <a:off x="10111257" y="192031"/>
                <a:ext cx="234112" cy="234112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933"/>
                  <a:buFont typeface="Arial"/>
                  <a:buNone/>
                </a:pPr>
                <a:r>
                  <a:rPr sz="1400"/>
                  <a:t/>
                </a:r>
                <a:endParaRPr b="0" i="0" sz="933" u="none" cap="none" strike="noStrik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9" name="struct.legend.6.disc"/>
            <p:cNvGrpSpPr/>
            <p:nvPr/>
          </p:nvGrpSpPr>
          <p:grpSpPr>
            <a:xfrm>
              <a:off x="10111117" y="488556"/>
              <a:ext cx="234237" cy="234237"/>
              <a:chOff x="10111117" y="488556"/>
              <a:chExt cx="234237" cy="234237"/>
            </a:xfrm>
          </p:grpSpPr>
          <p:sp>
            <p:nvSpPr>
              <p:cNvPr id="180" name="struct.legend.6.disc.fill"/>
              <p:cNvSpPr/>
              <p:nvPr/>
            </p:nvSpPr>
            <p:spPr>
              <a:xfrm>
                <a:off x="10111117" y="488556"/>
                <a:ext cx="234237" cy="23423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933"/>
                  <a:buFont typeface="Arial"/>
                  <a:buNone/>
                </a:pPr>
                <a:r>
                  <a:rPr sz="1400"/>
                  <a:t/>
                </a:r>
                <a:endParaRPr b="0" i="0" sz="933" u="none" cap="none" strike="noStrik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1" name="slot.legend.5.label"/>
            <p:cNvSpPr/>
            <p:nvPr/>
          </p:nvSpPr>
          <p:spPr>
            <a:xfrm>
              <a:off x="10392661" y="206446"/>
              <a:ext cx="433834" cy="1984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Sales</a:t>
              </a:r>
              <a:endPara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82" name="slot.legend.6.label"/>
            <p:cNvSpPr/>
            <p:nvPr/>
          </p:nvSpPr>
          <p:spPr>
            <a:xfrm>
              <a:off x="10392661" y="506347"/>
              <a:ext cx="433834" cy="1984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Care</a:t>
              </a:r>
              <a:endPara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183" name="struct.legend.4"/>
          <p:cNvGrpSpPr/>
          <p:nvPr/>
        </p:nvGrpSpPr>
        <p:grpSpPr>
          <a:xfrm>
            <a:off x="10664668" y="192031"/>
            <a:ext cx="907428" cy="530567"/>
            <a:chOff x="10858358" y="192031"/>
            <a:chExt cx="935418" cy="530567"/>
          </a:xfrm>
          <a:effectLst/>
        </p:grpSpPr>
        <p:grpSp>
          <p:nvGrpSpPr>
            <p:cNvPr id="184" name="struct.legend.7.disc"/>
            <p:cNvGrpSpPr/>
            <p:nvPr/>
          </p:nvGrpSpPr>
          <p:grpSpPr>
            <a:xfrm>
              <a:off x="10858379" y="192031"/>
              <a:ext cx="234113" cy="234112"/>
              <a:chOff x="10858379" y="192031"/>
              <a:chExt cx="234113" cy="234112"/>
            </a:xfrm>
          </p:grpSpPr>
          <p:sp>
            <p:nvSpPr>
              <p:cNvPr id="185" name="struct.legend.7.disc.fill"/>
              <p:cNvSpPr/>
              <p:nvPr/>
            </p:nvSpPr>
            <p:spPr>
              <a:xfrm>
                <a:off x="10858379" y="192031"/>
                <a:ext cx="234113" cy="23411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933"/>
                  <a:buFont typeface="Arial"/>
                  <a:buNone/>
                </a:pPr>
                <a:r>
                  <a:rPr sz="1400"/>
                  <a:t/>
                </a:r>
                <a:endParaRPr b="0" i="0" sz="933" u="none" cap="none" strike="noStrik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6" name="struct.legend.8.disc"/>
            <p:cNvGrpSpPr/>
            <p:nvPr/>
          </p:nvGrpSpPr>
          <p:grpSpPr>
            <a:xfrm>
              <a:off x="10858358" y="488486"/>
              <a:ext cx="234111" cy="234112"/>
              <a:chOff x="10858358" y="488486"/>
              <a:chExt cx="234111" cy="234112"/>
            </a:xfrm>
          </p:grpSpPr>
          <p:sp>
            <p:nvSpPr>
              <p:cNvPr id="187" name="struct.legend.8.disc.fill"/>
              <p:cNvSpPr/>
              <p:nvPr/>
            </p:nvSpPr>
            <p:spPr>
              <a:xfrm>
                <a:off x="10858358" y="488486"/>
                <a:ext cx="234111" cy="23411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ts val="933"/>
                  <a:buFont typeface="Arial"/>
                  <a:buNone/>
                </a:pPr>
                <a:r>
                  <a:rPr sz="1400"/>
                  <a:t/>
                </a:r>
                <a:endParaRPr b="0" i="0" sz="933" u="none" cap="none" strike="noStrik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8" name="slot.legend.7.label"/>
            <p:cNvSpPr/>
            <p:nvPr/>
          </p:nvSpPr>
          <p:spPr>
            <a:xfrm>
              <a:off x="11139792" y="206446"/>
              <a:ext cx="838848" cy="198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Pricing</a:t>
              </a:r>
              <a:endPara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89" name="slot.legend.8.label"/>
            <p:cNvSpPr/>
            <p:nvPr/>
          </p:nvSpPr>
          <p:spPr>
            <a:xfrm>
              <a:off x="11139792" y="506347"/>
              <a:ext cx="838848" cy="198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Risk</a:t>
              </a:r>
              <a:endPara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90" name="slot.callout"/>
          <p:cNvSpPr/>
          <p:nvPr/>
        </p:nvSpPr>
        <p:spPr>
          <a:xfrm>
            <a:off x="5222820" y="5084064"/>
            <a:ext cx="2377265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27432" lIns="73152" spcFirstLastPara="1" rIns="73152" wrap="square" tIns="27432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30 people, eight areas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1" name="slot.title"/>
          <p:cNvSpPr txBox="1"/>
          <p:nvPr/>
        </p:nvSpPr>
        <p:spPr>
          <a:xfrm>
            <a:off x="457200" y="128016"/>
            <a:ext cx="1133856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45700" lIns="91425" spcFirstLastPara="1" rIns="91425" wrap="square" tIns="4570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One AI team scales from a pilot to </a:t>
            </a:r>
            <a:r>
              <a:rPr lang="en-US" sz="2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every area</a:t>
            </a:r>
            <a:endParaRPr lang="en-US" sz="2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2" name="slot.card.1.icon"/>
          <p:cNvSpPr/>
          <p:nvPr/>
        </p:nvSpPr>
        <p:spPr>
          <a:xfrm>
            <a:off x="1585879" y="1101771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2540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93" name="slot.card.1.area.1"/>
          <p:cNvSpPr/>
          <p:nvPr/>
        </p:nvSpPr>
        <p:spPr>
          <a:xfrm>
            <a:off x="1703351" y="1471889"/>
            <a:ext cx="153498" cy="15349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6000"/>
                </a:moveTo>
                <a:cubicBezTo>
                  <a:pt x="14041" y="6078"/>
                  <a:pt x="17014" y="5088"/>
                  <a:pt x="19400" y="3200"/>
                </a:cubicBezTo>
                <a:cubicBezTo>
                  <a:pt x="19703" y="2973"/>
                  <a:pt x="20108" y="2936"/>
                  <a:pt x="20447" y="3106"/>
                </a:cubicBezTo>
                <a:cubicBezTo>
                  <a:pt x="20786" y="3275"/>
                  <a:pt x="21000" y="3621"/>
                  <a:pt x="21000" y="4000"/>
                </a:cubicBezTo>
                <a:lnTo>
                  <a:pt x="21000" y="16000"/>
                </a:lnTo>
                <a:cubicBezTo>
                  <a:pt x="21000" y="16379"/>
                  <a:pt x="20786" y="16725"/>
                  <a:pt x="20447" y="16894"/>
                </a:cubicBezTo>
                <a:cubicBezTo>
                  <a:pt x="20108" y="17064"/>
                  <a:pt x="19703" y="17027"/>
                  <a:pt x="19400" y="16800"/>
                </a:cubicBezTo>
                <a:cubicBezTo>
                  <a:pt x="17014" y="14912"/>
                  <a:pt x="14041" y="13922"/>
                  <a:pt x="11000" y="14000"/>
                </a:cubicBezTo>
                <a:lnTo>
                  <a:pt x="5000" y="14000"/>
                </a:lnTo>
                <a:cubicBezTo>
                  <a:pt x="3895" y="14000"/>
                  <a:pt x="3000" y="13105"/>
                  <a:pt x="3000" y="12000"/>
                </a:cubicBezTo>
                <a:lnTo>
                  <a:pt x="3000" y="8000"/>
                </a:lnTo>
                <a:cubicBezTo>
                  <a:pt x="3000" y="6895"/>
                  <a:pt x="3895" y="6000"/>
                  <a:pt x="5000" y="6000"/>
                </a:cubicBezTo>
                <a:close/>
                <a:moveTo>
                  <a:pt x="6000" y="14000"/>
                </a:moveTo>
                <a:cubicBezTo>
                  <a:pt x="6000" y="16596"/>
                  <a:pt x="6842" y="19123"/>
                  <a:pt x="8400" y="21200"/>
                </a:cubicBezTo>
                <a:cubicBezTo>
                  <a:pt x="9063" y="22084"/>
                  <a:pt x="10316" y="22263"/>
                  <a:pt x="11200" y="21600"/>
                </a:cubicBezTo>
                <a:cubicBezTo>
                  <a:pt x="12084" y="20937"/>
                  <a:pt x="12263" y="19684"/>
                  <a:pt x="11600" y="18800"/>
                </a:cubicBezTo>
                <a:cubicBezTo>
                  <a:pt x="10561" y="17415"/>
                  <a:pt x="10000" y="15731"/>
                  <a:pt x="10000" y="14000"/>
                </a:cubicBezTo>
                <a:moveTo>
                  <a:pt x="8000" y="6000"/>
                </a:moveTo>
                <a:lnTo>
                  <a:pt x="8000" y="14000"/>
                </a:lnTo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</p:sp>
      <p:sp>
        <p:nvSpPr>
          <p:cNvPr id="194" name="slot.card.2.icon"/>
          <p:cNvSpPr/>
          <p:nvPr/>
        </p:nvSpPr>
        <p:spPr>
          <a:xfrm>
            <a:off x="1977951" y="2468589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2540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95" name="slot.card.2.area.1"/>
          <p:cNvSpPr/>
          <p:nvPr/>
        </p:nvSpPr>
        <p:spPr>
          <a:xfrm>
            <a:off x="2095578" y="2838707"/>
            <a:ext cx="153498" cy="15349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6000"/>
                </a:moveTo>
                <a:cubicBezTo>
                  <a:pt x="14041" y="6078"/>
                  <a:pt x="17014" y="5088"/>
                  <a:pt x="19400" y="3200"/>
                </a:cubicBezTo>
                <a:cubicBezTo>
                  <a:pt x="19703" y="2973"/>
                  <a:pt x="20108" y="2936"/>
                  <a:pt x="20447" y="3106"/>
                </a:cubicBezTo>
                <a:cubicBezTo>
                  <a:pt x="20786" y="3275"/>
                  <a:pt x="21000" y="3621"/>
                  <a:pt x="21000" y="4000"/>
                </a:cubicBezTo>
                <a:lnTo>
                  <a:pt x="21000" y="16000"/>
                </a:lnTo>
                <a:cubicBezTo>
                  <a:pt x="21000" y="16379"/>
                  <a:pt x="20786" y="16725"/>
                  <a:pt x="20447" y="16894"/>
                </a:cubicBezTo>
                <a:cubicBezTo>
                  <a:pt x="20108" y="17064"/>
                  <a:pt x="19703" y="17027"/>
                  <a:pt x="19400" y="16800"/>
                </a:cubicBezTo>
                <a:cubicBezTo>
                  <a:pt x="17014" y="14912"/>
                  <a:pt x="14041" y="13922"/>
                  <a:pt x="11000" y="14000"/>
                </a:cubicBezTo>
                <a:lnTo>
                  <a:pt x="5000" y="14000"/>
                </a:lnTo>
                <a:cubicBezTo>
                  <a:pt x="3895" y="14000"/>
                  <a:pt x="3000" y="13105"/>
                  <a:pt x="3000" y="12000"/>
                </a:cubicBezTo>
                <a:lnTo>
                  <a:pt x="3000" y="8000"/>
                </a:lnTo>
                <a:cubicBezTo>
                  <a:pt x="3000" y="6895"/>
                  <a:pt x="3895" y="6000"/>
                  <a:pt x="5000" y="6000"/>
                </a:cubicBezTo>
                <a:close/>
                <a:moveTo>
                  <a:pt x="6000" y="14000"/>
                </a:moveTo>
                <a:cubicBezTo>
                  <a:pt x="6000" y="16596"/>
                  <a:pt x="6842" y="19123"/>
                  <a:pt x="8400" y="21200"/>
                </a:cubicBezTo>
                <a:cubicBezTo>
                  <a:pt x="9063" y="22084"/>
                  <a:pt x="10316" y="22263"/>
                  <a:pt x="11200" y="21600"/>
                </a:cubicBezTo>
                <a:cubicBezTo>
                  <a:pt x="12084" y="20937"/>
                  <a:pt x="12263" y="19684"/>
                  <a:pt x="11600" y="18800"/>
                </a:cubicBezTo>
                <a:cubicBezTo>
                  <a:pt x="10561" y="17415"/>
                  <a:pt x="10000" y="15731"/>
                  <a:pt x="10000" y="14000"/>
                </a:cubicBezTo>
                <a:moveTo>
                  <a:pt x="8000" y="6000"/>
                </a:moveTo>
                <a:lnTo>
                  <a:pt x="8000" y="14000"/>
                </a:lnTo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</p:sp>
      <p:sp>
        <p:nvSpPr>
          <p:cNvPr id="196" name="slot.card.3.icon"/>
          <p:cNvSpPr/>
          <p:nvPr/>
        </p:nvSpPr>
        <p:spPr>
          <a:xfrm>
            <a:off x="4690446" y="1100023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3048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97" name="slot.card.3.area.1"/>
          <p:cNvSpPr/>
          <p:nvPr/>
        </p:nvSpPr>
        <p:spPr>
          <a:xfrm>
            <a:off x="4806144" y="1564752"/>
            <a:ext cx="153498" cy="15349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6000"/>
                </a:moveTo>
                <a:cubicBezTo>
                  <a:pt x="14041" y="6078"/>
                  <a:pt x="17014" y="5088"/>
                  <a:pt x="19400" y="3200"/>
                </a:cubicBezTo>
                <a:cubicBezTo>
                  <a:pt x="19703" y="2973"/>
                  <a:pt x="20108" y="2936"/>
                  <a:pt x="20447" y="3106"/>
                </a:cubicBezTo>
                <a:cubicBezTo>
                  <a:pt x="20786" y="3275"/>
                  <a:pt x="21000" y="3621"/>
                  <a:pt x="21000" y="4000"/>
                </a:cubicBezTo>
                <a:lnTo>
                  <a:pt x="21000" y="16000"/>
                </a:lnTo>
                <a:cubicBezTo>
                  <a:pt x="21000" y="16379"/>
                  <a:pt x="20786" y="16725"/>
                  <a:pt x="20447" y="16894"/>
                </a:cubicBezTo>
                <a:cubicBezTo>
                  <a:pt x="20108" y="17064"/>
                  <a:pt x="19703" y="17027"/>
                  <a:pt x="19400" y="16800"/>
                </a:cubicBezTo>
                <a:cubicBezTo>
                  <a:pt x="17014" y="14912"/>
                  <a:pt x="14041" y="13922"/>
                  <a:pt x="11000" y="14000"/>
                </a:cubicBezTo>
                <a:lnTo>
                  <a:pt x="5000" y="14000"/>
                </a:lnTo>
                <a:cubicBezTo>
                  <a:pt x="3895" y="14000"/>
                  <a:pt x="3000" y="13105"/>
                  <a:pt x="3000" y="12000"/>
                </a:cubicBezTo>
                <a:lnTo>
                  <a:pt x="3000" y="8000"/>
                </a:lnTo>
                <a:cubicBezTo>
                  <a:pt x="3000" y="6895"/>
                  <a:pt x="3895" y="6000"/>
                  <a:pt x="5000" y="6000"/>
                </a:cubicBezTo>
                <a:close/>
                <a:moveTo>
                  <a:pt x="6000" y="14000"/>
                </a:moveTo>
                <a:cubicBezTo>
                  <a:pt x="6000" y="16596"/>
                  <a:pt x="6842" y="19123"/>
                  <a:pt x="8400" y="21200"/>
                </a:cubicBezTo>
                <a:cubicBezTo>
                  <a:pt x="9063" y="22084"/>
                  <a:pt x="10316" y="22263"/>
                  <a:pt x="11200" y="21600"/>
                </a:cubicBezTo>
                <a:cubicBezTo>
                  <a:pt x="12084" y="20937"/>
                  <a:pt x="12263" y="19684"/>
                  <a:pt x="11600" y="18800"/>
                </a:cubicBezTo>
                <a:cubicBezTo>
                  <a:pt x="10561" y="17415"/>
                  <a:pt x="10000" y="15731"/>
                  <a:pt x="10000" y="14000"/>
                </a:cubicBezTo>
                <a:moveTo>
                  <a:pt x="8000" y="6000"/>
                </a:moveTo>
                <a:lnTo>
                  <a:pt x="8000" y="14000"/>
                </a:lnTo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</p:sp>
      <p:sp>
        <p:nvSpPr>
          <p:cNvPr id="198" name="slot.card.3.area.2"/>
          <p:cNvSpPr/>
          <p:nvPr/>
        </p:nvSpPr>
        <p:spPr>
          <a:xfrm>
            <a:off x="5135719" y="1564752"/>
            <a:ext cx="153498" cy="15349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21000"/>
                </a:moveTo>
                <a:lnTo>
                  <a:pt x="16660" y="16660"/>
                </a:lnTo>
                <a:moveTo>
                  <a:pt x="19000" y="11000"/>
                </a:moveTo>
                <a:cubicBezTo>
                  <a:pt x="19000" y="15418"/>
                  <a:pt x="15418" y="19000"/>
                  <a:pt x="11000" y="19000"/>
                </a:cubicBezTo>
                <a:cubicBezTo>
                  <a:pt x="6582" y="19000"/>
                  <a:pt x="3000" y="15418"/>
                  <a:pt x="3000" y="11000"/>
                </a:cubicBezTo>
                <a:cubicBezTo>
                  <a:pt x="3000" y="6582"/>
                  <a:pt x="6582" y="3000"/>
                  <a:pt x="11000" y="3000"/>
                </a:cubicBezTo>
                <a:cubicBezTo>
                  <a:pt x="15418" y="3000"/>
                  <a:pt x="19000" y="6582"/>
                  <a:pt x="19000" y="11000"/>
                </a:cubicBezTo>
                <a:close/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</p:sp>
      <p:sp>
        <p:nvSpPr>
          <p:cNvPr id="199" name="slot.card.3.area.3"/>
          <p:cNvSpPr/>
          <p:nvPr/>
        </p:nvSpPr>
        <p:spPr>
          <a:xfrm>
            <a:off x="5465293" y="1564752"/>
            <a:ext cx="153498" cy="15349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3000"/>
                </a:moveTo>
                <a:lnTo>
                  <a:pt x="3000" y="19000"/>
                </a:lnTo>
                <a:cubicBezTo>
                  <a:pt x="3000" y="20105"/>
                  <a:pt x="3895" y="21000"/>
                  <a:pt x="5000" y="21000"/>
                </a:cubicBezTo>
                <a:lnTo>
                  <a:pt x="21000" y="21000"/>
                </a:lnTo>
                <a:moveTo>
                  <a:pt x="18000" y="17000"/>
                </a:moveTo>
                <a:lnTo>
                  <a:pt x="18000" y="9000"/>
                </a:lnTo>
                <a:moveTo>
                  <a:pt x="13000" y="17000"/>
                </a:moveTo>
                <a:lnTo>
                  <a:pt x="13000" y="5000"/>
                </a:lnTo>
                <a:moveTo>
                  <a:pt x="8000" y="17000"/>
                </a:moveTo>
                <a:lnTo>
                  <a:pt x="8000" y="14000"/>
                </a:lnTo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</p:sp>
      <p:sp>
        <p:nvSpPr>
          <p:cNvPr id="200" name="slot.card.3.star.1"/>
          <p:cNvSpPr/>
          <p:nvPr/>
        </p:nvSpPr>
        <p:spPr>
          <a:xfrm>
            <a:off x="7529047" y="1133963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17" y="2814"/>
                </a:moveTo>
                <a:cubicBezTo>
                  <a:pt x="11105" y="2341"/>
                  <a:pt x="11519" y="1998"/>
                  <a:pt x="12000" y="1998"/>
                </a:cubicBezTo>
                <a:cubicBezTo>
                  <a:pt x="12481" y="1998"/>
                  <a:pt x="12895" y="2341"/>
                  <a:pt x="12983" y="2814"/>
                </a:cubicBezTo>
                <a:lnTo>
                  <a:pt x="14034" y="8372"/>
                </a:lnTo>
                <a:cubicBezTo>
                  <a:pt x="14187" y="9181"/>
                  <a:pt x="14819" y="9813"/>
                  <a:pt x="15628" y="9966"/>
                </a:cubicBezTo>
                <a:lnTo>
                  <a:pt x="21186" y="11017"/>
                </a:lnTo>
                <a:cubicBezTo>
                  <a:pt x="21659" y="11105"/>
                  <a:pt x="22002" y="11519"/>
                  <a:pt x="22002" y="12000"/>
                </a:cubicBezTo>
                <a:cubicBezTo>
                  <a:pt x="22002" y="12481"/>
                  <a:pt x="21659" y="12895"/>
                  <a:pt x="21186" y="12983"/>
                </a:cubicBezTo>
                <a:lnTo>
                  <a:pt x="15628" y="14034"/>
                </a:lnTo>
                <a:cubicBezTo>
                  <a:pt x="14819" y="14187"/>
                  <a:pt x="14187" y="14819"/>
                  <a:pt x="14034" y="15628"/>
                </a:cubicBezTo>
                <a:lnTo>
                  <a:pt x="12983" y="21186"/>
                </a:lnTo>
                <a:cubicBezTo>
                  <a:pt x="12895" y="21659"/>
                  <a:pt x="12481" y="22002"/>
                  <a:pt x="12000" y="22002"/>
                </a:cubicBezTo>
                <a:cubicBezTo>
                  <a:pt x="11519" y="22002"/>
                  <a:pt x="11105" y="21659"/>
                  <a:pt x="11017" y="21186"/>
                </a:cubicBezTo>
                <a:lnTo>
                  <a:pt x="9966" y="15628"/>
                </a:lnTo>
                <a:cubicBezTo>
                  <a:pt x="9813" y="14819"/>
                  <a:pt x="9181" y="14187"/>
                  <a:pt x="8372" y="14034"/>
                </a:cubicBezTo>
                <a:lnTo>
                  <a:pt x="2814" y="12983"/>
                </a:lnTo>
                <a:cubicBezTo>
                  <a:pt x="2341" y="12895"/>
                  <a:pt x="1998" y="12481"/>
                  <a:pt x="1998" y="12000"/>
                </a:cubicBezTo>
                <a:cubicBezTo>
                  <a:pt x="1998" y="11519"/>
                  <a:pt x="2341" y="11105"/>
                  <a:pt x="2814" y="11017"/>
                </a:cubicBezTo>
                <a:lnTo>
                  <a:pt x="8372" y="9966"/>
                </a:lnTo>
                <a:cubicBezTo>
                  <a:pt x="9181" y="9813"/>
                  <a:pt x="9813" y="9181"/>
                  <a:pt x="9966" y="8372"/>
                </a:cubicBezTo>
                <a:close/>
                <a:moveTo>
                  <a:pt x="20000" y="2000"/>
                </a:moveTo>
                <a:lnTo>
                  <a:pt x="20000" y="6000"/>
                </a:lnTo>
                <a:moveTo>
                  <a:pt x="22000" y="4000"/>
                </a:moveTo>
                <a:lnTo>
                  <a:pt x="18000" y="4000"/>
                </a:lnTo>
                <a:moveTo>
                  <a:pt x="6000" y="20000"/>
                </a:moveTo>
                <a:cubicBezTo>
                  <a:pt x="6000" y="21105"/>
                  <a:pt x="5105" y="22000"/>
                  <a:pt x="4000" y="22000"/>
                </a:cubicBezTo>
                <a:cubicBezTo>
                  <a:pt x="2895" y="22000"/>
                  <a:pt x="2000" y="21105"/>
                  <a:pt x="2000" y="20000"/>
                </a:cubicBezTo>
                <a:cubicBezTo>
                  <a:pt x="2000" y="18895"/>
                  <a:pt x="2895" y="18000"/>
                  <a:pt x="4000" y="18000"/>
                </a:cubicBezTo>
                <a:cubicBezTo>
                  <a:pt x="5105" y="18000"/>
                  <a:pt x="6000" y="18895"/>
                  <a:pt x="6000" y="20000"/>
                </a:cubicBezTo>
                <a:close/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</p:sp>
      <p:sp>
        <p:nvSpPr>
          <p:cNvPr id="201" name="slot.card.3.star.2"/>
          <p:cNvSpPr/>
          <p:nvPr/>
        </p:nvSpPr>
        <p:spPr>
          <a:xfrm>
            <a:off x="7529047" y="1368768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17" y="2814"/>
                </a:moveTo>
                <a:cubicBezTo>
                  <a:pt x="11105" y="2341"/>
                  <a:pt x="11519" y="1998"/>
                  <a:pt x="12000" y="1998"/>
                </a:cubicBezTo>
                <a:cubicBezTo>
                  <a:pt x="12481" y="1998"/>
                  <a:pt x="12895" y="2341"/>
                  <a:pt x="12983" y="2814"/>
                </a:cubicBezTo>
                <a:lnTo>
                  <a:pt x="14034" y="8372"/>
                </a:lnTo>
                <a:cubicBezTo>
                  <a:pt x="14187" y="9181"/>
                  <a:pt x="14819" y="9813"/>
                  <a:pt x="15628" y="9966"/>
                </a:cubicBezTo>
                <a:lnTo>
                  <a:pt x="21186" y="11017"/>
                </a:lnTo>
                <a:cubicBezTo>
                  <a:pt x="21659" y="11105"/>
                  <a:pt x="22002" y="11519"/>
                  <a:pt x="22002" y="12000"/>
                </a:cubicBezTo>
                <a:cubicBezTo>
                  <a:pt x="22002" y="12481"/>
                  <a:pt x="21659" y="12895"/>
                  <a:pt x="21186" y="12983"/>
                </a:cubicBezTo>
                <a:lnTo>
                  <a:pt x="15628" y="14034"/>
                </a:lnTo>
                <a:cubicBezTo>
                  <a:pt x="14819" y="14187"/>
                  <a:pt x="14187" y="14819"/>
                  <a:pt x="14034" y="15628"/>
                </a:cubicBezTo>
                <a:lnTo>
                  <a:pt x="12983" y="21186"/>
                </a:lnTo>
                <a:cubicBezTo>
                  <a:pt x="12895" y="21659"/>
                  <a:pt x="12481" y="22002"/>
                  <a:pt x="12000" y="22002"/>
                </a:cubicBezTo>
                <a:cubicBezTo>
                  <a:pt x="11519" y="22002"/>
                  <a:pt x="11105" y="21659"/>
                  <a:pt x="11017" y="21186"/>
                </a:cubicBezTo>
                <a:lnTo>
                  <a:pt x="9966" y="15628"/>
                </a:lnTo>
                <a:cubicBezTo>
                  <a:pt x="9813" y="14819"/>
                  <a:pt x="9181" y="14187"/>
                  <a:pt x="8372" y="14034"/>
                </a:cubicBezTo>
                <a:lnTo>
                  <a:pt x="2814" y="12983"/>
                </a:lnTo>
                <a:cubicBezTo>
                  <a:pt x="2341" y="12895"/>
                  <a:pt x="1998" y="12481"/>
                  <a:pt x="1998" y="12000"/>
                </a:cubicBezTo>
                <a:cubicBezTo>
                  <a:pt x="1998" y="11519"/>
                  <a:pt x="2341" y="11105"/>
                  <a:pt x="2814" y="11017"/>
                </a:cubicBezTo>
                <a:lnTo>
                  <a:pt x="8372" y="9966"/>
                </a:lnTo>
                <a:cubicBezTo>
                  <a:pt x="9181" y="9813"/>
                  <a:pt x="9813" y="9181"/>
                  <a:pt x="9966" y="8372"/>
                </a:cubicBezTo>
                <a:close/>
                <a:moveTo>
                  <a:pt x="20000" y="2000"/>
                </a:moveTo>
                <a:lnTo>
                  <a:pt x="20000" y="6000"/>
                </a:lnTo>
                <a:moveTo>
                  <a:pt x="22000" y="4000"/>
                </a:moveTo>
                <a:lnTo>
                  <a:pt x="18000" y="4000"/>
                </a:lnTo>
                <a:moveTo>
                  <a:pt x="6000" y="20000"/>
                </a:moveTo>
                <a:cubicBezTo>
                  <a:pt x="6000" y="21105"/>
                  <a:pt x="5105" y="22000"/>
                  <a:pt x="4000" y="22000"/>
                </a:cubicBezTo>
                <a:cubicBezTo>
                  <a:pt x="2895" y="22000"/>
                  <a:pt x="2000" y="21105"/>
                  <a:pt x="2000" y="20000"/>
                </a:cubicBezTo>
                <a:cubicBezTo>
                  <a:pt x="2000" y="18895"/>
                  <a:pt x="2895" y="18000"/>
                  <a:pt x="4000" y="18000"/>
                </a:cubicBezTo>
                <a:cubicBezTo>
                  <a:pt x="5105" y="18000"/>
                  <a:pt x="6000" y="18895"/>
                  <a:pt x="6000" y="20000"/>
                </a:cubicBezTo>
                <a:close/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</p:sp>
      <p:sp>
        <p:nvSpPr>
          <p:cNvPr id="202" name="slot.card.3.star.3"/>
          <p:cNvSpPr/>
          <p:nvPr/>
        </p:nvSpPr>
        <p:spPr>
          <a:xfrm>
            <a:off x="7529047" y="1603573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17" y="2814"/>
                </a:moveTo>
                <a:cubicBezTo>
                  <a:pt x="11105" y="2341"/>
                  <a:pt x="11519" y="1998"/>
                  <a:pt x="12000" y="1998"/>
                </a:cubicBezTo>
                <a:cubicBezTo>
                  <a:pt x="12481" y="1998"/>
                  <a:pt x="12895" y="2341"/>
                  <a:pt x="12983" y="2814"/>
                </a:cubicBezTo>
                <a:lnTo>
                  <a:pt x="14034" y="8372"/>
                </a:lnTo>
                <a:cubicBezTo>
                  <a:pt x="14187" y="9181"/>
                  <a:pt x="14819" y="9813"/>
                  <a:pt x="15628" y="9966"/>
                </a:cubicBezTo>
                <a:lnTo>
                  <a:pt x="21186" y="11017"/>
                </a:lnTo>
                <a:cubicBezTo>
                  <a:pt x="21659" y="11105"/>
                  <a:pt x="22002" y="11519"/>
                  <a:pt x="22002" y="12000"/>
                </a:cubicBezTo>
                <a:cubicBezTo>
                  <a:pt x="22002" y="12481"/>
                  <a:pt x="21659" y="12895"/>
                  <a:pt x="21186" y="12983"/>
                </a:cubicBezTo>
                <a:lnTo>
                  <a:pt x="15628" y="14034"/>
                </a:lnTo>
                <a:cubicBezTo>
                  <a:pt x="14819" y="14187"/>
                  <a:pt x="14187" y="14819"/>
                  <a:pt x="14034" y="15628"/>
                </a:cubicBezTo>
                <a:lnTo>
                  <a:pt x="12983" y="21186"/>
                </a:lnTo>
                <a:cubicBezTo>
                  <a:pt x="12895" y="21659"/>
                  <a:pt x="12481" y="22002"/>
                  <a:pt x="12000" y="22002"/>
                </a:cubicBezTo>
                <a:cubicBezTo>
                  <a:pt x="11519" y="22002"/>
                  <a:pt x="11105" y="21659"/>
                  <a:pt x="11017" y="21186"/>
                </a:cubicBezTo>
                <a:lnTo>
                  <a:pt x="9966" y="15628"/>
                </a:lnTo>
                <a:cubicBezTo>
                  <a:pt x="9813" y="14819"/>
                  <a:pt x="9181" y="14187"/>
                  <a:pt x="8372" y="14034"/>
                </a:cubicBezTo>
                <a:lnTo>
                  <a:pt x="2814" y="12983"/>
                </a:lnTo>
                <a:cubicBezTo>
                  <a:pt x="2341" y="12895"/>
                  <a:pt x="1998" y="12481"/>
                  <a:pt x="1998" y="12000"/>
                </a:cubicBezTo>
                <a:cubicBezTo>
                  <a:pt x="1998" y="11519"/>
                  <a:pt x="2341" y="11105"/>
                  <a:pt x="2814" y="11017"/>
                </a:cubicBezTo>
                <a:lnTo>
                  <a:pt x="8372" y="9966"/>
                </a:lnTo>
                <a:cubicBezTo>
                  <a:pt x="9181" y="9813"/>
                  <a:pt x="9813" y="9181"/>
                  <a:pt x="9966" y="8372"/>
                </a:cubicBezTo>
                <a:close/>
                <a:moveTo>
                  <a:pt x="20000" y="2000"/>
                </a:moveTo>
                <a:lnTo>
                  <a:pt x="20000" y="6000"/>
                </a:lnTo>
                <a:moveTo>
                  <a:pt x="22000" y="4000"/>
                </a:moveTo>
                <a:lnTo>
                  <a:pt x="18000" y="4000"/>
                </a:lnTo>
                <a:moveTo>
                  <a:pt x="6000" y="20000"/>
                </a:moveTo>
                <a:cubicBezTo>
                  <a:pt x="6000" y="21105"/>
                  <a:pt x="5105" y="22000"/>
                  <a:pt x="4000" y="22000"/>
                </a:cubicBezTo>
                <a:cubicBezTo>
                  <a:pt x="2895" y="22000"/>
                  <a:pt x="2000" y="21105"/>
                  <a:pt x="2000" y="20000"/>
                </a:cubicBezTo>
                <a:cubicBezTo>
                  <a:pt x="2000" y="18895"/>
                  <a:pt x="2895" y="18000"/>
                  <a:pt x="4000" y="18000"/>
                </a:cubicBezTo>
                <a:cubicBezTo>
                  <a:pt x="5105" y="18000"/>
                  <a:pt x="6000" y="18895"/>
                  <a:pt x="6000" y="20000"/>
                </a:cubicBezTo>
                <a:close/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</p:sp>
      <p:sp>
        <p:nvSpPr>
          <p:cNvPr id="203" name="slot.card.3.star.4"/>
          <p:cNvSpPr/>
          <p:nvPr/>
        </p:nvSpPr>
        <p:spPr>
          <a:xfrm>
            <a:off x="7529047" y="1838378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17" y="2814"/>
                </a:moveTo>
                <a:cubicBezTo>
                  <a:pt x="11105" y="2341"/>
                  <a:pt x="11519" y="1998"/>
                  <a:pt x="12000" y="1998"/>
                </a:cubicBezTo>
                <a:cubicBezTo>
                  <a:pt x="12481" y="1998"/>
                  <a:pt x="12895" y="2341"/>
                  <a:pt x="12983" y="2814"/>
                </a:cubicBezTo>
                <a:lnTo>
                  <a:pt x="14034" y="8372"/>
                </a:lnTo>
                <a:cubicBezTo>
                  <a:pt x="14187" y="9181"/>
                  <a:pt x="14819" y="9813"/>
                  <a:pt x="15628" y="9966"/>
                </a:cubicBezTo>
                <a:lnTo>
                  <a:pt x="21186" y="11017"/>
                </a:lnTo>
                <a:cubicBezTo>
                  <a:pt x="21659" y="11105"/>
                  <a:pt x="22002" y="11519"/>
                  <a:pt x="22002" y="12000"/>
                </a:cubicBezTo>
                <a:cubicBezTo>
                  <a:pt x="22002" y="12481"/>
                  <a:pt x="21659" y="12895"/>
                  <a:pt x="21186" y="12983"/>
                </a:cubicBezTo>
                <a:lnTo>
                  <a:pt x="15628" y="14034"/>
                </a:lnTo>
                <a:cubicBezTo>
                  <a:pt x="14819" y="14187"/>
                  <a:pt x="14187" y="14819"/>
                  <a:pt x="14034" y="15628"/>
                </a:cubicBezTo>
                <a:lnTo>
                  <a:pt x="12983" y="21186"/>
                </a:lnTo>
                <a:cubicBezTo>
                  <a:pt x="12895" y="21659"/>
                  <a:pt x="12481" y="22002"/>
                  <a:pt x="12000" y="22002"/>
                </a:cubicBezTo>
                <a:cubicBezTo>
                  <a:pt x="11519" y="22002"/>
                  <a:pt x="11105" y="21659"/>
                  <a:pt x="11017" y="21186"/>
                </a:cubicBezTo>
                <a:lnTo>
                  <a:pt x="9966" y="15628"/>
                </a:lnTo>
                <a:cubicBezTo>
                  <a:pt x="9813" y="14819"/>
                  <a:pt x="9181" y="14187"/>
                  <a:pt x="8372" y="14034"/>
                </a:cubicBezTo>
                <a:lnTo>
                  <a:pt x="2814" y="12983"/>
                </a:lnTo>
                <a:cubicBezTo>
                  <a:pt x="2341" y="12895"/>
                  <a:pt x="1998" y="12481"/>
                  <a:pt x="1998" y="12000"/>
                </a:cubicBezTo>
                <a:cubicBezTo>
                  <a:pt x="1998" y="11519"/>
                  <a:pt x="2341" y="11105"/>
                  <a:pt x="2814" y="11017"/>
                </a:cubicBezTo>
                <a:lnTo>
                  <a:pt x="8372" y="9966"/>
                </a:lnTo>
                <a:cubicBezTo>
                  <a:pt x="9181" y="9813"/>
                  <a:pt x="9813" y="9181"/>
                  <a:pt x="9966" y="8372"/>
                </a:cubicBezTo>
                <a:close/>
                <a:moveTo>
                  <a:pt x="20000" y="2000"/>
                </a:moveTo>
                <a:lnTo>
                  <a:pt x="20000" y="6000"/>
                </a:lnTo>
                <a:moveTo>
                  <a:pt x="22000" y="4000"/>
                </a:moveTo>
                <a:lnTo>
                  <a:pt x="18000" y="4000"/>
                </a:lnTo>
                <a:moveTo>
                  <a:pt x="6000" y="20000"/>
                </a:moveTo>
                <a:cubicBezTo>
                  <a:pt x="6000" y="21105"/>
                  <a:pt x="5105" y="22000"/>
                  <a:pt x="4000" y="22000"/>
                </a:cubicBezTo>
                <a:cubicBezTo>
                  <a:pt x="2895" y="22000"/>
                  <a:pt x="2000" y="21105"/>
                  <a:pt x="2000" y="20000"/>
                </a:cubicBezTo>
                <a:cubicBezTo>
                  <a:pt x="2000" y="18895"/>
                  <a:pt x="2895" y="18000"/>
                  <a:pt x="4000" y="18000"/>
                </a:cubicBezTo>
                <a:cubicBezTo>
                  <a:pt x="5105" y="18000"/>
                  <a:pt x="6000" y="18895"/>
                  <a:pt x="6000" y="20000"/>
                </a:cubicBezTo>
                <a:close/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</p:sp>
      <p:sp>
        <p:nvSpPr>
          <p:cNvPr id="204" name="slot.card.3.star.5"/>
          <p:cNvSpPr/>
          <p:nvPr/>
        </p:nvSpPr>
        <p:spPr>
          <a:xfrm>
            <a:off x="7529047" y="2073183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17" y="2814"/>
                </a:moveTo>
                <a:cubicBezTo>
                  <a:pt x="11105" y="2341"/>
                  <a:pt x="11519" y="1998"/>
                  <a:pt x="12000" y="1998"/>
                </a:cubicBezTo>
                <a:cubicBezTo>
                  <a:pt x="12481" y="1998"/>
                  <a:pt x="12895" y="2341"/>
                  <a:pt x="12983" y="2814"/>
                </a:cubicBezTo>
                <a:lnTo>
                  <a:pt x="14034" y="8372"/>
                </a:lnTo>
                <a:cubicBezTo>
                  <a:pt x="14187" y="9181"/>
                  <a:pt x="14819" y="9813"/>
                  <a:pt x="15628" y="9966"/>
                </a:cubicBezTo>
                <a:lnTo>
                  <a:pt x="21186" y="11017"/>
                </a:lnTo>
                <a:cubicBezTo>
                  <a:pt x="21659" y="11105"/>
                  <a:pt x="22002" y="11519"/>
                  <a:pt x="22002" y="12000"/>
                </a:cubicBezTo>
                <a:cubicBezTo>
                  <a:pt x="22002" y="12481"/>
                  <a:pt x="21659" y="12895"/>
                  <a:pt x="21186" y="12983"/>
                </a:cubicBezTo>
                <a:lnTo>
                  <a:pt x="15628" y="14034"/>
                </a:lnTo>
                <a:cubicBezTo>
                  <a:pt x="14819" y="14187"/>
                  <a:pt x="14187" y="14819"/>
                  <a:pt x="14034" y="15628"/>
                </a:cubicBezTo>
                <a:lnTo>
                  <a:pt x="12983" y="21186"/>
                </a:lnTo>
                <a:cubicBezTo>
                  <a:pt x="12895" y="21659"/>
                  <a:pt x="12481" y="22002"/>
                  <a:pt x="12000" y="22002"/>
                </a:cubicBezTo>
                <a:cubicBezTo>
                  <a:pt x="11519" y="22002"/>
                  <a:pt x="11105" y="21659"/>
                  <a:pt x="11017" y="21186"/>
                </a:cubicBezTo>
                <a:lnTo>
                  <a:pt x="9966" y="15628"/>
                </a:lnTo>
                <a:cubicBezTo>
                  <a:pt x="9813" y="14819"/>
                  <a:pt x="9181" y="14187"/>
                  <a:pt x="8372" y="14034"/>
                </a:cubicBezTo>
                <a:lnTo>
                  <a:pt x="2814" y="12983"/>
                </a:lnTo>
                <a:cubicBezTo>
                  <a:pt x="2341" y="12895"/>
                  <a:pt x="1998" y="12481"/>
                  <a:pt x="1998" y="12000"/>
                </a:cubicBezTo>
                <a:cubicBezTo>
                  <a:pt x="1998" y="11519"/>
                  <a:pt x="2341" y="11105"/>
                  <a:pt x="2814" y="11017"/>
                </a:cubicBezTo>
                <a:lnTo>
                  <a:pt x="8372" y="9966"/>
                </a:lnTo>
                <a:cubicBezTo>
                  <a:pt x="9181" y="9813"/>
                  <a:pt x="9813" y="9181"/>
                  <a:pt x="9966" y="8372"/>
                </a:cubicBezTo>
                <a:close/>
                <a:moveTo>
                  <a:pt x="20000" y="2000"/>
                </a:moveTo>
                <a:lnTo>
                  <a:pt x="20000" y="6000"/>
                </a:lnTo>
                <a:moveTo>
                  <a:pt x="22000" y="4000"/>
                </a:moveTo>
                <a:lnTo>
                  <a:pt x="18000" y="4000"/>
                </a:lnTo>
                <a:moveTo>
                  <a:pt x="6000" y="20000"/>
                </a:moveTo>
                <a:cubicBezTo>
                  <a:pt x="6000" y="21105"/>
                  <a:pt x="5105" y="22000"/>
                  <a:pt x="4000" y="22000"/>
                </a:cubicBezTo>
                <a:cubicBezTo>
                  <a:pt x="2895" y="22000"/>
                  <a:pt x="2000" y="21105"/>
                  <a:pt x="2000" y="20000"/>
                </a:cubicBezTo>
                <a:cubicBezTo>
                  <a:pt x="2000" y="18895"/>
                  <a:pt x="2895" y="18000"/>
                  <a:pt x="4000" y="18000"/>
                </a:cubicBezTo>
                <a:cubicBezTo>
                  <a:pt x="5105" y="18000"/>
                  <a:pt x="6000" y="18895"/>
                  <a:pt x="6000" y="20000"/>
                </a:cubicBezTo>
                <a:close/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</p:sp>
      <p:sp>
        <p:nvSpPr>
          <p:cNvPr id="205" name="slot.card.4.icon"/>
          <p:cNvSpPr/>
          <p:nvPr/>
        </p:nvSpPr>
        <p:spPr>
          <a:xfrm>
            <a:off x="8563260" y="113294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3048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206" name="slot.card.4.area.1"/>
          <p:cNvSpPr/>
          <p:nvPr/>
        </p:nvSpPr>
        <p:spPr>
          <a:xfrm>
            <a:off x="8678827" y="1598306"/>
            <a:ext cx="153498" cy="15349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6000"/>
                </a:moveTo>
                <a:cubicBezTo>
                  <a:pt x="14041" y="6078"/>
                  <a:pt x="17014" y="5088"/>
                  <a:pt x="19400" y="3200"/>
                </a:cubicBezTo>
                <a:cubicBezTo>
                  <a:pt x="19703" y="2973"/>
                  <a:pt x="20108" y="2936"/>
                  <a:pt x="20447" y="3106"/>
                </a:cubicBezTo>
                <a:cubicBezTo>
                  <a:pt x="20786" y="3275"/>
                  <a:pt x="21000" y="3621"/>
                  <a:pt x="21000" y="4000"/>
                </a:cubicBezTo>
                <a:lnTo>
                  <a:pt x="21000" y="16000"/>
                </a:lnTo>
                <a:cubicBezTo>
                  <a:pt x="21000" y="16379"/>
                  <a:pt x="20786" y="16725"/>
                  <a:pt x="20447" y="16894"/>
                </a:cubicBezTo>
                <a:cubicBezTo>
                  <a:pt x="20108" y="17064"/>
                  <a:pt x="19703" y="17027"/>
                  <a:pt x="19400" y="16800"/>
                </a:cubicBezTo>
                <a:cubicBezTo>
                  <a:pt x="17014" y="14912"/>
                  <a:pt x="14041" y="13922"/>
                  <a:pt x="11000" y="14000"/>
                </a:cubicBezTo>
                <a:lnTo>
                  <a:pt x="5000" y="14000"/>
                </a:lnTo>
                <a:cubicBezTo>
                  <a:pt x="3895" y="14000"/>
                  <a:pt x="3000" y="13105"/>
                  <a:pt x="3000" y="12000"/>
                </a:cubicBezTo>
                <a:lnTo>
                  <a:pt x="3000" y="8000"/>
                </a:lnTo>
                <a:cubicBezTo>
                  <a:pt x="3000" y="6895"/>
                  <a:pt x="3895" y="6000"/>
                  <a:pt x="5000" y="6000"/>
                </a:cubicBezTo>
                <a:close/>
                <a:moveTo>
                  <a:pt x="6000" y="14000"/>
                </a:moveTo>
                <a:cubicBezTo>
                  <a:pt x="6000" y="16596"/>
                  <a:pt x="6842" y="19123"/>
                  <a:pt x="8400" y="21200"/>
                </a:cubicBezTo>
                <a:cubicBezTo>
                  <a:pt x="9063" y="22084"/>
                  <a:pt x="10316" y="22263"/>
                  <a:pt x="11200" y="21600"/>
                </a:cubicBezTo>
                <a:cubicBezTo>
                  <a:pt x="12084" y="20937"/>
                  <a:pt x="12263" y="19684"/>
                  <a:pt x="11600" y="18800"/>
                </a:cubicBezTo>
                <a:cubicBezTo>
                  <a:pt x="10561" y="17415"/>
                  <a:pt x="10000" y="15731"/>
                  <a:pt x="10000" y="14000"/>
                </a:cubicBezTo>
                <a:moveTo>
                  <a:pt x="8000" y="6000"/>
                </a:moveTo>
                <a:lnTo>
                  <a:pt x="8000" y="14000"/>
                </a:lnTo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</p:sp>
      <p:sp>
        <p:nvSpPr>
          <p:cNvPr id="207" name="slot.card.4.area.2"/>
          <p:cNvSpPr/>
          <p:nvPr/>
        </p:nvSpPr>
        <p:spPr>
          <a:xfrm>
            <a:off x="9008403" y="1598306"/>
            <a:ext cx="153498" cy="15349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21000"/>
                </a:moveTo>
                <a:lnTo>
                  <a:pt x="16660" y="16660"/>
                </a:lnTo>
                <a:moveTo>
                  <a:pt x="19000" y="11000"/>
                </a:moveTo>
                <a:cubicBezTo>
                  <a:pt x="19000" y="15418"/>
                  <a:pt x="15418" y="19000"/>
                  <a:pt x="11000" y="19000"/>
                </a:cubicBezTo>
                <a:cubicBezTo>
                  <a:pt x="6582" y="19000"/>
                  <a:pt x="3000" y="15418"/>
                  <a:pt x="3000" y="11000"/>
                </a:cubicBezTo>
                <a:cubicBezTo>
                  <a:pt x="3000" y="6582"/>
                  <a:pt x="6582" y="3000"/>
                  <a:pt x="11000" y="3000"/>
                </a:cubicBezTo>
                <a:cubicBezTo>
                  <a:pt x="15418" y="3000"/>
                  <a:pt x="19000" y="6582"/>
                  <a:pt x="19000" y="11000"/>
                </a:cubicBezTo>
                <a:close/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</p:sp>
      <p:sp>
        <p:nvSpPr>
          <p:cNvPr id="208" name="slot.card.4.area.3"/>
          <p:cNvSpPr/>
          <p:nvPr/>
        </p:nvSpPr>
        <p:spPr>
          <a:xfrm>
            <a:off x="9337977" y="1598306"/>
            <a:ext cx="153498" cy="15349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3000"/>
                </a:moveTo>
                <a:lnTo>
                  <a:pt x="3000" y="19000"/>
                </a:lnTo>
                <a:cubicBezTo>
                  <a:pt x="3000" y="20105"/>
                  <a:pt x="3895" y="21000"/>
                  <a:pt x="5000" y="21000"/>
                </a:cubicBezTo>
                <a:lnTo>
                  <a:pt x="21000" y="21000"/>
                </a:lnTo>
                <a:moveTo>
                  <a:pt x="18000" y="17000"/>
                </a:moveTo>
                <a:lnTo>
                  <a:pt x="18000" y="9000"/>
                </a:lnTo>
                <a:moveTo>
                  <a:pt x="13000" y="17000"/>
                </a:moveTo>
                <a:lnTo>
                  <a:pt x="13000" y="5000"/>
                </a:lnTo>
                <a:moveTo>
                  <a:pt x="8000" y="17000"/>
                </a:moveTo>
                <a:lnTo>
                  <a:pt x="8000" y="14000"/>
                </a:lnTo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</p:sp>
      <p:sp>
        <p:nvSpPr>
          <p:cNvPr id="209" name="slot.card.4.area.4"/>
          <p:cNvSpPr/>
          <p:nvPr/>
        </p:nvSpPr>
        <p:spPr>
          <a:xfrm>
            <a:off x="8678862" y="1903934"/>
            <a:ext cx="153498" cy="15349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744" y="17736"/>
                </a:moveTo>
                <a:cubicBezTo>
                  <a:pt x="12915" y="20477"/>
                  <a:pt x="10264" y="22250"/>
                  <a:pt x="7414" y="21970"/>
                </a:cubicBezTo>
                <a:cubicBezTo>
                  <a:pt x="4564" y="21690"/>
                  <a:pt x="2310" y="19436"/>
                  <a:pt x="2030" y="16586"/>
                </a:cubicBezTo>
                <a:cubicBezTo>
                  <a:pt x="1750" y="13736"/>
                  <a:pt x="3523" y="11085"/>
                  <a:pt x="6264" y="10256"/>
                </a:cubicBezTo>
                <a:moveTo>
                  <a:pt x="15000" y="6000"/>
                </a:moveTo>
                <a:lnTo>
                  <a:pt x="16000" y="6000"/>
                </a:lnTo>
                <a:lnTo>
                  <a:pt x="16000" y="10000"/>
                </a:lnTo>
                <a:moveTo>
                  <a:pt x="6134" y="14768"/>
                </a:moveTo>
                <a:lnTo>
                  <a:pt x="7000" y="14268"/>
                </a:lnTo>
                <a:lnTo>
                  <a:pt x="9000" y="17732"/>
                </a:lnTo>
                <a:moveTo>
                  <a:pt x="22000" y="8000"/>
                </a:moveTo>
                <a:cubicBezTo>
                  <a:pt x="22000" y="11314"/>
                  <a:pt x="19314" y="14000"/>
                  <a:pt x="16000" y="14000"/>
                </a:cubicBezTo>
                <a:cubicBezTo>
                  <a:pt x="12686" y="14000"/>
                  <a:pt x="10000" y="11314"/>
                  <a:pt x="10000" y="8000"/>
                </a:cubicBezTo>
                <a:cubicBezTo>
                  <a:pt x="10000" y="4686"/>
                  <a:pt x="12686" y="2000"/>
                  <a:pt x="16000" y="2000"/>
                </a:cubicBezTo>
                <a:cubicBezTo>
                  <a:pt x="19314" y="2000"/>
                  <a:pt x="22000" y="4686"/>
                  <a:pt x="22000" y="8000"/>
                </a:cubicBezTo>
                <a:close/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</p:sp>
      <p:sp>
        <p:nvSpPr>
          <p:cNvPr id="210" name="slot.card.5.icon"/>
          <p:cNvSpPr/>
          <p:nvPr/>
        </p:nvSpPr>
        <p:spPr>
          <a:xfrm>
            <a:off x="2678641" y="402244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3048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211" name="slot.card.5.area.1"/>
          <p:cNvSpPr/>
          <p:nvPr/>
        </p:nvSpPr>
        <p:spPr>
          <a:xfrm>
            <a:off x="2800102" y="4483576"/>
            <a:ext cx="153505" cy="153505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6000"/>
                </a:moveTo>
                <a:cubicBezTo>
                  <a:pt x="14041" y="6078"/>
                  <a:pt x="17014" y="5088"/>
                  <a:pt x="19400" y="3200"/>
                </a:cubicBezTo>
                <a:cubicBezTo>
                  <a:pt x="19703" y="2973"/>
                  <a:pt x="20108" y="2936"/>
                  <a:pt x="20447" y="3106"/>
                </a:cubicBezTo>
                <a:cubicBezTo>
                  <a:pt x="20786" y="3275"/>
                  <a:pt x="21000" y="3621"/>
                  <a:pt x="21000" y="4000"/>
                </a:cubicBezTo>
                <a:lnTo>
                  <a:pt x="21000" y="16000"/>
                </a:lnTo>
                <a:cubicBezTo>
                  <a:pt x="21000" y="16379"/>
                  <a:pt x="20786" y="16725"/>
                  <a:pt x="20447" y="16894"/>
                </a:cubicBezTo>
                <a:cubicBezTo>
                  <a:pt x="20108" y="17064"/>
                  <a:pt x="19703" y="17027"/>
                  <a:pt x="19400" y="16800"/>
                </a:cubicBezTo>
                <a:cubicBezTo>
                  <a:pt x="17014" y="14912"/>
                  <a:pt x="14041" y="13922"/>
                  <a:pt x="11000" y="14000"/>
                </a:cubicBezTo>
                <a:lnTo>
                  <a:pt x="5000" y="14000"/>
                </a:lnTo>
                <a:cubicBezTo>
                  <a:pt x="3895" y="14000"/>
                  <a:pt x="3000" y="13105"/>
                  <a:pt x="3000" y="12000"/>
                </a:cubicBezTo>
                <a:lnTo>
                  <a:pt x="3000" y="8000"/>
                </a:lnTo>
                <a:cubicBezTo>
                  <a:pt x="3000" y="6895"/>
                  <a:pt x="3895" y="6000"/>
                  <a:pt x="5000" y="6000"/>
                </a:cubicBezTo>
                <a:close/>
                <a:moveTo>
                  <a:pt x="6000" y="14000"/>
                </a:moveTo>
                <a:cubicBezTo>
                  <a:pt x="6000" y="16596"/>
                  <a:pt x="6842" y="19123"/>
                  <a:pt x="8400" y="21200"/>
                </a:cubicBezTo>
                <a:cubicBezTo>
                  <a:pt x="9063" y="22084"/>
                  <a:pt x="10316" y="22263"/>
                  <a:pt x="11200" y="21600"/>
                </a:cubicBezTo>
                <a:cubicBezTo>
                  <a:pt x="12084" y="20937"/>
                  <a:pt x="12263" y="19684"/>
                  <a:pt x="11600" y="18800"/>
                </a:cubicBezTo>
                <a:cubicBezTo>
                  <a:pt x="10561" y="17415"/>
                  <a:pt x="10000" y="15731"/>
                  <a:pt x="10000" y="14000"/>
                </a:cubicBezTo>
                <a:moveTo>
                  <a:pt x="8000" y="6000"/>
                </a:moveTo>
                <a:lnTo>
                  <a:pt x="8000" y="14000"/>
                </a:lnTo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</p:sp>
      <p:sp>
        <p:nvSpPr>
          <p:cNvPr id="212" name="slot.card.5.area.2"/>
          <p:cNvSpPr/>
          <p:nvPr/>
        </p:nvSpPr>
        <p:spPr>
          <a:xfrm>
            <a:off x="3129635" y="4483576"/>
            <a:ext cx="153505" cy="153505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21000"/>
                </a:moveTo>
                <a:lnTo>
                  <a:pt x="16660" y="16660"/>
                </a:lnTo>
                <a:moveTo>
                  <a:pt x="19000" y="11000"/>
                </a:moveTo>
                <a:cubicBezTo>
                  <a:pt x="19000" y="15418"/>
                  <a:pt x="15418" y="19000"/>
                  <a:pt x="11000" y="19000"/>
                </a:cubicBezTo>
                <a:cubicBezTo>
                  <a:pt x="6582" y="19000"/>
                  <a:pt x="3000" y="15418"/>
                  <a:pt x="3000" y="11000"/>
                </a:cubicBezTo>
                <a:cubicBezTo>
                  <a:pt x="3000" y="6582"/>
                  <a:pt x="6582" y="3000"/>
                  <a:pt x="11000" y="3000"/>
                </a:cubicBezTo>
                <a:cubicBezTo>
                  <a:pt x="15418" y="3000"/>
                  <a:pt x="19000" y="6582"/>
                  <a:pt x="19000" y="11000"/>
                </a:cubicBezTo>
                <a:close/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</p:sp>
      <p:sp>
        <p:nvSpPr>
          <p:cNvPr id="213" name="slot.card.5.area.3"/>
          <p:cNvSpPr/>
          <p:nvPr/>
        </p:nvSpPr>
        <p:spPr>
          <a:xfrm>
            <a:off x="3459169" y="4483576"/>
            <a:ext cx="153505" cy="153505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3000"/>
                </a:moveTo>
                <a:lnTo>
                  <a:pt x="3000" y="19000"/>
                </a:lnTo>
                <a:cubicBezTo>
                  <a:pt x="3000" y="20105"/>
                  <a:pt x="3895" y="21000"/>
                  <a:pt x="5000" y="21000"/>
                </a:cubicBezTo>
                <a:lnTo>
                  <a:pt x="21000" y="21000"/>
                </a:lnTo>
                <a:moveTo>
                  <a:pt x="18000" y="17000"/>
                </a:moveTo>
                <a:lnTo>
                  <a:pt x="18000" y="9000"/>
                </a:lnTo>
                <a:moveTo>
                  <a:pt x="13000" y="17000"/>
                </a:moveTo>
                <a:lnTo>
                  <a:pt x="13000" y="5000"/>
                </a:lnTo>
                <a:moveTo>
                  <a:pt x="8000" y="17000"/>
                </a:moveTo>
                <a:lnTo>
                  <a:pt x="8000" y="14000"/>
                </a:lnTo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</p:sp>
      <p:sp>
        <p:nvSpPr>
          <p:cNvPr id="214" name="slot.card.5.area.4"/>
          <p:cNvSpPr/>
          <p:nvPr/>
        </p:nvSpPr>
        <p:spPr>
          <a:xfrm>
            <a:off x="2800038" y="4789196"/>
            <a:ext cx="153505" cy="153505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744" y="17736"/>
                </a:moveTo>
                <a:cubicBezTo>
                  <a:pt x="12915" y="20477"/>
                  <a:pt x="10264" y="22250"/>
                  <a:pt x="7414" y="21970"/>
                </a:cubicBezTo>
                <a:cubicBezTo>
                  <a:pt x="4564" y="21690"/>
                  <a:pt x="2310" y="19436"/>
                  <a:pt x="2030" y="16586"/>
                </a:cubicBezTo>
                <a:cubicBezTo>
                  <a:pt x="1750" y="13736"/>
                  <a:pt x="3523" y="11085"/>
                  <a:pt x="6264" y="10256"/>
                </a:cubicBezTo>
                <a:moveTo>
                  <a:pt x="15000" y="6000"/>
                </a:moveTo>
                <a:lnTo>
                  <a:pt x="16000" y="6000"/>
                </a:lnTo>
                <a:lnTo>
                  <a:pt x="16000" y="10000"/>
                </a:lnTo>
                <a:moveTo>
                  <a:pt x="6134" y="14768"/>
                </a:moveTo>
                <a:lnTo>
                  <a:pt x="7000" y="14268"/>
                </a:lnTo>
                <a:lnTo>
                  <a:pt x="9000" y="17732"/>
                </a:lnTo>
                <a:moveTo>
                  <a:pt x="22000" y="8000"/>
                </a:moveTo>
                <a:cubicBezTo>
                  <a:pt x="22000" y="11314"/>
                  <a:pt x="19314" y="14000"/>
                  <a:pt x="16000" y="14000"/>
                </a:cubicBezTo>
                <a:cubicBezTo>
                  <a:pt x="12686" y="14000"/>
                  <a:pt x="10000" y="11314"/>
                  <a:pt x="10000" y="8000"/>
                </a:cubicBezTo>
                <a:cubicBezTo>
                  <a:pt x="10000" y="4686"/>
                  <a:pt x="12686" y="2000"/>
                  <a:pt x="16000" y="2000"/>
                </a:cubicBezTo>
                <a:cubicBezTo>
                  <a:pt x="19314" y="2000"/>
                  <a:pt x="22000" y="4686"/>
                  <a:pt x="22000" y="8000"/>
                </a:cubicBezTo>
                <a:close/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</p:sp>
      <p:sp>
        <p:nvSpPr>
          <p:cNvPr id="215" name="slot.card.5.area.5"/>
          <p:cNvSpPr/>
          <p:nvPr/>
        </p:nvSpPr>
        <p:spPr>
          <a:xfrm>
            <a:off x="3129572" y="4789196"/>
            <a:ext cx="153505" cy="153505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000" y="18000"/>
                </a:moveTo>
                <a:lnTo>
                  <a:pt x="14000" y="6000"/>
                </a:lnTo>
                <a:cubicBezTo>
                  <a:pt x="14000" y="4895"/>
                  <a:pt x="13105" y="4000"/>
                  <a:pt x="12000" y="4000"/>
                </a:cubicBezTo>
                <a:lnTo>
                  <a:pt x="4000" y="4000"/>
                </a:lnTo>
                <a:cubicBezTo>
                  <a:pt x="2895" y="4000"/>
                  <a:pt x="2000" y="4895"/>
                  <a:pt x="2000" y="6000"/>
                </a:cubicBezTo>
                <a:lnTo>
                  <a:pt x="2000" y="17000"/>
                </a:lnTo>
                <a:cubicBezTo>
                  <a:pt x="2000" y="17552"/>
                  <a:pt x="2448" y="18000"/>
                  <a:pt x="3000" y="18000"/>
                </a:cubicBezTo>
                <a:lnTo>
                  <a:pt x="5000" y="18000"/>
                </a:lnTo>
                <a:moveTo>
                  <a:pt x="15000" y="18000"/>
                </a:moveTo>
                <a:lnTo>
                  <a:pt x="9000" y="18000"/>
                </a:lnTo>
                <a:moveTo>
                  <a:pt x="19000" y="18000"/>
                </a:moveTo>
                <a:lnTo>
                  <a:pt x="21000" y="18000"/>
                </a:lnTo>
                <a:cubicBezTo>
                  <a:pt x="21552" y="18000"/>
                  <a:pt x="22000" y="17552"/>
                  <a:pt x="22000" y="17000"/>
                </a:cubicBezTo>
                <a:lnTo>
                  <a:pt x="22000" y="13350"/>
                </a:lnTo>
                <a:cubicBezTo>
                  <a:pt x="22000" y="13123"/>
                  <a:pt x="21922" y="12903"/>
                  <a:pt x="21780" y="12726"/>
                </a:cubicBezTo>
                <a:lnTo>
                  <a:pt x="18300" y="8376"/>
                </a:lnTo>
                <a:cubicBezTo>
                  <a:pt x="18111" y="8139"/>
                  <a:pt x="17824" y="8000"/>
                  <a:pt x="17520" y="8000"/>
                </a:cubicBezTo>
                <a:lnTo>
                  <a:pt x="14000" y="8000"/>
                </a:lnTo>
                <a:moveTo>
                  <a:pt x="19000" y="18000"/>
                </a:moveTo>
                <a:cubicBezTo>
                  <a:pt x="19000" y="19105"/>
                  <a:pt x="18105" y="20000"/>
                  <a:pt x="17000" y="20000"/>
                </a:cubicBezTo>
                <a:cubicBezTo>
                  <a:pt x="15895" y="20000"/>
                  <a:pt x="15000" y="19105"/>
                  <a:pt x="15000" y="18000"/>
                </a:cubicBezTo>
                <a:cubicBezTo>
                  <a:pt x="15000" y="16895"/>
                  <a:pt x="15895" y="16000"/>
                  <a:pt x="17000" y="16000"/>
                </a:cubicBezTo>
                <a:cubicBezTo>
                  <a:pt x="18105" y="16000"/>
                  <a:pt x="19000" y="16895"/>
                  <a:pt x="19000" y="18000"/>
                </a:cubicBezTo>
                <a:close/>
                <a:moveTo>
                  <a:pt x="9000" y="18000"/>
                </a:moveTo>
                <a:cubicBezTo>
                  <a:pt x="9000" y="19105"/>
                  <a:pt x="8105" y="20000"/>
                  <a:pt x="7000" y="20000"/>
                </a:cubicBezTo>
                <a:cubicBezTo>
                  <a:pt x="5895" y="20000"/>
                  <a:pt x="5000" y="19105"/>
                  <a:pt x="5000" y="18000"/>
                </a:cubicBezTo>
                <a:cubicBezTo>
                  <a:pt x="5000" y="16895"/>
                  <a:pt x="5895" y="16000"/>
                  <a:pt x="7000" y="16000"/>
                </a:cubicBezTo>
                <a:cubicBezTo>
                  <a:pt x="8105" y="16000"/>
                  <a:pt x="9000" y="16895"/>
                  <a:pt x="9000" y="18000"/>
                </a:cubicBezTo>
                <a:close/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</p:sp>
      <p:sp>
        <p:nvSpPr>
          <p:cNvPr id="216" name="slot.card.5.area.6"/>
          <p:cNvSpPr/>
          <p:nvPr/>
        </p:nvSpPr>
        <p:spPr>
          <a:xfrm>
            <a:off x="3459086" y="4789196"/>
            <a:ext cx="153505" cy="153505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</p:sp>
      <p:sp>
        <p:nvSpPr>
          <p:cNvPr id="217" name="slot.card.5.area.7"/>
          <p:cNvSpPr/>
          <p:nvPr/>
        </p:nvSpPr>
        <p:spPr>
          <a:xfrm>
            <a:off x="2799797" y="5099601"/>
            <a:ext cx="153581" cy="153581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14000"/>
                </a:moveTo>
                <a:lnTo>
                  <a:pt x="6000" y="14000"/>
                </a:lnTo>
                <a:cubicBezTo>
                  <a:pt x="7105" y="14000"/>
                  <a:pt x="8000" y="14895"/>
                  <a:pt x="8000" y="16000"/>
                </a:cubicBezTo>
                <a:lnTo>
                  <a:pt x="8000" y="19000"/>
                </a:lnTo>
                <a:cubicBezTo>
                  <a:pt x="8000" y="20105"/>
                  <a:pt x="7105" y="21000"/>
                  <a:pt x="6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12000"/>
                </a:lnTo>
                <a:cubicBezTo>
                  <a:pt x="3000" y="7029"/>
                  <a:pt x="7029" y="3000"/>
                  <a:pt x="12000" y="3000"/>
                </a:cubicBezTo>
                <a:cubicBezTo>
                  <a:pt x="16971" y="3000"/>
                  <a:pt x="21000" y="7029"/>
                  <a:pt x="21000" y="12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8000" y="21000"/>
                </a:lnTo>
                <a:cubicBezTo>
                  <a:pt x="16895" y="21000"/>
                  <a:pt x="16000" y="20105"/>
                  <a:pt x="16000" y="19000"/>
                </a:cubicBezTo>
                <a:lnTo>
                  <a:pt x="16000" y="16000"/>
                </a:lnTo>
                <a:cubicBezTo>
                  <a:pt x="16000" y="14895"/>
                  <a:pt x="16895" y="14000"/>
                  <a:pt x="18000" y="14000"/>
                </a:cubicBezTo>
                <a:lnTo>
                  <a:pt x="21000" y="14000"/>
                </a:lnTo>
              </a:path>
            </a:pathLst>
          </a:custGeom>
          <a:noFill/>
          <a:ln w="1270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218" name="slot.card.5.star.1"/>
          <p:cNvSpPr/>
          <p:nvPr/>
        </p:nvSpPr>
        <p:spPr>
          <a:xfrm>
            <a:off x="2375348" y="4118593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17" y="2814"/>
                </a:moveTo>
                <a:cubicBezTo>
                  <a:pt x="11105" y="2341"/>
                  <a:pt x="11519" y="1998"/>
                  <a:pt x="12000" y="1998"/>
                </a:cubicBezTo>
                <a:cubicBezTo>
                  <a:pt x="12481" y="1998"/>
                  <a:pt x="12895" y="2341"/>
                  <a:pt x="12983" y="2814"/>
                </a:cubicBezTo>
                <a:lnTo>
                  <a:pt x="14034" y="8372"/>
                </a:lnTo>
                <a:cubicBezTo>
                  <a:pt x="14187" y="9181"/>
                  <a:pt x="14819" y="9813"/>
                  <a:pt x="15628" y="9966"/>
                </a:cubicBezTo>
                <a:lnTo>
                  <a:pt x="21186" y="11017"/>
                </a:lnTo>
                <a:cubicBezTo>
                  <a:pt x="21659" y="11105"/>
                  <a:pt x="22002" y="11519"/>
                  <a:pt x="22002" y="12000"/>
                </a:cubicBezTo>
                <a:cubicBezTo>
                  <a:pt x="22002" y="12481"/>
                  <a:pt x="21659" y="12895"/>
                  <a:pt x="21186" y="12983"/>
                </a:cubicBezTo>
                <a:lnTo>
                  <a:pt x="15628" y="14034"/>
                </a:lnTo>
                <a:cubicBezTo>
                  <a:pt x="14819" y="14187"/>
                  <a:pt x="14187" y="14819"/>
                  <a:pt x="14034" y="15628"/>
                </a:cubicBezTo>
                <a:lnTo>
                  <a:pt x="12983" y="21186"/>
                </a:lnTo>
                <a:cubicBezTo>
                  <a:pt x="12895" y="21659"/>
                  <a:pt x="12481" y="22002"/>
                  <a:pt x="12000" y="22002"/>
                </a:cubicBezTo>
                <a:cubicBezTo>
                  <a:pt x="11519" y="22002"/>
                  <a:pt x="11105" y="21659"/>
                  <a:pt x="11017" y="21186"/>
                </a:cubicBezTo>
                <a:lnTo>
                  <a:pt x="9966" y="15628"/>
                </a:lnTo>
                <a:cubicBezTo>
                  <a:pt x="9813" y="14819"/>
                  <a:pt x="9181" y="14187"/>
                  <a:pt x="8372" y="14034"/>
                </a:cubicBezTo>
                <a:lnTo>
                  <a:pt x="2814" y="12983"/>
                </a:lnTo>
                <a:cubicBezTo>
                  <a:pt x="2341" y="12895"/>
                  <a:pt x="1998" y="12481"/>
                  <a:pt x="1998" y="12000"/>
                </a:cubicBezTo>
                <a:cubicBezTo>
                  <a:pt x="1998" y="11519"/>
                  <a:pt x="2341" y="11105"/>
                  <a:pt x="2814" y="11017"/>
                </a:cubicBezTo>
                <a:lnTo>
                  <a:pt x="8372" y="9966"/>
                </a:lnTo>
                <a:cubicBezTo>
                  <a:pt x="9181" y="9813"/>
                  <a:pt x="9813" y="9181"/>
                  <a:pt x="9966" y="8372"/>
                </a:cubicBezTo>
                <a:close/>
                <a:moveTo>
                  <a:pt x="20000" y="2000"/>
                </a:moveTo>
                <a:lnTo>
                  <a:pt x="20000" y="6000"/>
                </a:lnTo>
                <a:moveTo>
                  <a:pt x="22000" y="4000"/>
                </a:moveTo>
                <a:lnTo>
                  <a:pt x="18000" y="4000"/>
                </a:lnTo>
                <a:moveTo>
                  <a:pt x="6000" y="20000"/>
                </a:moveTo>
                <a:cubicBezTo>
                  <a:pt x="6000" y="21105"/>
                  <a:pt x="5105" y="22000"/>
                  <a:pt x="4000" y="22000"/>
                </a:cubicBezTo>
                <a:cubicBezTo>
                  <a:pt x="2895" y="22000"/>
                  <a:pt x="2000" y="21105"/>
                  <a:pt x="2000" y="20000"/>
                </a:cubicBezTo>
                <a:cubicBezTo>
                  <a:pt x="2000" y="18895"/>
                  <a:pt x="2895" y="18000"/>
                  <a:pt x="4000" y="18000"/>
                </a:cubicBezTo>
                <a:cubicBezTo>
                  <a:pt x="5105" y="18000"/>
                  <a:pt x="6000" y="18895"/>
                  <a:pt x="6000" y="20000"/>
                </a:cubicBezTo>
                <a:close/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</p:sp>
      <p:sp>
        <p:nvSpPr>
          <p:cNvPr id="219" name="slot.card.5.star.2"/>
          <p:cNvSpPr/>
          <p:nvPr/>
        </p:nvSpPr>
        <p:spPr>
          <a:xfrm>
            <a:off x="2375348" y="4353398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17" y="2814"/>
                </a:moveTo>
                <a:cubicBezTo>
                  <a:pt x="11105" y="2341"/>
                  <a:pt x="11519" y="1998"/>
                  <a:pt x="12000" y="1998"/>
                </a:cubicBezTo>
                <a:cubicBezTo>
                  <a:pt x="12481" y="1998"/>
                  <a:pt x="12895" y="2341"/>
                  <a:pt x="12983" y="2814"/>
                </a:cubicBezTo>
                <a:lnTo>
                  <a:pt x="14034" y="8372"/>
                </a:lnTo>
                <a:cubicBezTo>
                  <a:pt x="14187" y="9181"/>
                  <a:pt x="14819" y="9813"/>
                  <a:pt x="15628" y="9966"/>
                </a:cubicBezTo>
                <a:lnTo>
                  <a:pt x="21186" y="11017"/>
                </a:lnTo>
                <a:cubicBezTo>
                  <a:pt x="21659" y="11105"/>
                  <a:pt x="22002" y="11519"/>
                  <a:pt x="22002" y="12000"/>
                </a:cubicBezTo>
                <a:cubicBezTo>
                  <a:pt x="22002" y="12481"/>
                  <a:pt x="21659" y="12895"/>
                  <a:pt x="21186" y="12983"/>
                </a:cubicBezTo>
                <a:lnTo>
                  <a:pt x="15628" y="14034"/>
                </a:lnTo>
                <a:cubicBezTo>
                  <a:pt x="14819" y="14187"/>
                  <a:pt x="14187" y="14819"/>
                  <a:pt x="14034" y="15628"/>
                </a:cubicBezTo>
                <a:lnTo>
                  <a:pt x="12983" y="21186"/>
                </a:lnTo>
                <a:cubicBezTo>
                  <a:pt x="12895" y="21659"/>
                  <a:pt x="12481" y="22002"/>
                  <a:pt x="12000" y="22002"/>
                </a:cubicBezTo>
                <a:cubicBezTo>
                  <a:pt x="11519" y="22002"/>
                  <a:pt x="11105" y="21659"/>
                  <a:pt x="11017" y="21186"/>
                </a:cubicBezTo>
                <a:lnTo>
                  <a:pt x="9966" y="15628"/>
                </a:lnTo>
                <a:cubicBezTo>
                  <a:pt x="9813" y="14819"/>
                  <a:pt x="9181" y="14187"/>
                  <a:pt x="8372" y="14034"/>
                </a:cubicBezTo>
                <a:lnTo>
                  <a:pt x="2814" y="12983"/>
                </a:lnTo>
                <a:cubicBezTo>
                  <a:pt x="2341" y="12895"/>
                  <a:pt x="1998" y="12481"/>
                  <a:pt x="1998" y="12000"/>
                </a:cubicBezTo>
                <a:cubicBezTo>
                  <a:pt x="1998" y="11519"/>
                  <a:pt x="2341" y="11105"/>
                  <a:pt x="2814" y="11017"/>
                </a:cubicBezTo>
                <a:lnTo>
                  <a:pt x="8372" y="9966"/>
                </a:lnTo>
                <a:cubicBezTo>
                  <a:pt x="9181" y="9813"/>
                  <a:pt x="9813" y="9181"/>
                  <a:pt x="9966" y="8372"/>
                </a:cubicBezTo>
                <a:close/>
                <a:moveTo>
                  <a:pt x="20000" y="2000"/>
                </a:moveTo>
                <a:lnTo>
                  <a:pt x="20000" y="6000"/>
                </a:lnTo>
                <a:moveTo>
                  <a:pt x="22000" y="4000"/>
                </a:moveTo>
                <a:lnTo>
                  <a:pt x="18000" y="4000"/>
                </a:lnTo>
                <a:moveTo>
                  <a:pt x="6000" y="20000"/>
                </a:moveTo>
                <a:cubicBezTo>
                  <a:pt x="6000" y="21105"/>
                  <a:pt x="5105" y="22000"/>
                  <a:pt x="4000" y="22000"/>
                </a:cubicBezTo>
                <a:cubicBezTo>
                  <a:pt x="2895" y="22000"/>
                  <a:pt x="2000" y="21105"/>
                  <a:pt x="2000" y="20000"/>
                </a:cubicBezTo>
                <a:cubicBezTo>
                  <a:pt x="2000" y="18895"/>
                  <a:pt x="2895" y="18000"/>
                  <a:pt x="4000" y="18000"/>
                </a:cubicBezTo>
                <a:cubicBezTo>
                  <a:pt x="5105" y="18000"/>
                  <a:pt x="6000" y="18895"/>
                  <a:pt x="6000" y="20000"/>
                </a:cubicBezTo>
                <a:close/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</p:sp>
      <p:sp>
        <p:nvSpPr>
          <p:cNvPr id="220" name="slot.card.5.star.4"/>
          <p:cNvSpPr/>
          <p:nvPr/>
        </p:nvSpPr>
        <p:spPr>
          <a:xfrm>
            <a:off x="2375348" y="4823008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17" y="2814"/>
                </a:moveTo>
                <a:cubicBezTo>
                  <a:pt x="11105" y="2341"/>
                  <a:pt x="11519" y="1998"/>
                  <a:pt x="12000" y="1998"/>
                </a:cubicBezTo>
                <a:cubicBezTo>
                  <a:pt x="12481" y="1998"/>
                  <a:pt x="12895" y="2341"/>
                  <a:pt x="12983" y="2814"/>
                </a:cubicBezTo>
                <a:lnTo>
                  <a:pt x="14034" y="8372"/>
                </a:lnTo>
                <a:cubicBezTo>
                  <a:pt x="14187" y="9181"/>
                  <a:pt x="14819" y="9813"/>
                  <a:pt x="15628" y="9966"/>
                </a:cubicBezTo>
                <a:lnTo>
                  <a:pt x="21186" y="11017"/>
                </a:lnTo>
                <a:cubicBezTo>
                  <a:pt x="21659" y="11105"/>
                  <a:pt x="22002" y="11519"/>
                  <a:pt x="22002" y="12000"/>
                </a:cubicBezTo>
                <a:cubicBezTo>
                  <a:pt x="22002" y="12481"/>
                  <a:pt x="21659" y="12895"/>
                  <a:pt x="21186" y="12983"/>
                </a:cubicBezTo>
                <a:lnTo>
                  <a:pt x="15628" y="14034"/>
                </a:lnTo>
                <a:cubicBezTo>
                  <a:pt x="14819" y="14187"/>
                  <a:pt x="14187" y="14819"/>
                  <a:pt x="14034" y="15628"/>
                </a:cubicBezTo>
                <a:lnTo>
                  <a:pt x="12983" y="21186"/>
                </a:lnTo>
                <a:cubicBezTo>
                  <a:pt x="12895" y="21659"/>
                  <a:pt x="12481" y="22002"/>
                  <a:pt x="12000" y="22002"/>
                </a:cubicBezTo>
                <a:cubicBezTo>
                  <a:pt x="11519" y="22002"/>
                  <a:pt x="11105" y="21659"/>
                  <a:pt x="11017" y="21186"/>
                </a:cubicBezTo>
                <a:lnTo>
                  <a:pt x="9966" y="15628"/>
                </a:lnTo>
                <a:cubicBezTo>
                  <a:pt x="9813" y="14819"/>
                  <a:pt x="9181" y="14187"/>
                  <a:pt x="8372" y="14034"/>
                </a:cubicBezTo>
                <a:lnTo>
                  <a:pt x="2814" y="12983"/>
                </a:lnTo>
                <a:cubicBezTo>
                  <a:pt x="2341" y="12895"/>
                  <a:pt x="1998" y="12481"/>
                  <a:pt x="1998" y="12000"/>
                </a:cubicBezTo>
                <a:cubicBezTo>
                  <a:pt x="1998" y="11519"/>
                  <a:pt x="2341" y="11105"/>
                  <a:pt x="2814" y="11017"/>
                </a:cubicBezTo>
                <a:lnTo>
                  <a:pt x="8372" y="9966"/>
                </a:lnTo>
                <a:cubicBezTo>
                  <a:pt x="9181" y="9813"/>
                  <a:pt x="9813" y="9181"/>
                  <a:pt x="9966" y="8372"/>
                </a:cubicBezTo>
                <a:close/>
                <a:moveTo>
                  <a:pt x="20000" y="2000"/>
                </a:moveTo>
                <a:lnTo>
                  <a:pt x="20000" y="6000"/>
                </a:lnTo>
                <a:moveTo>
                  <a:pt x="22000" y="4000"/>
                </a:moveTo>
                <a:lnTo>
                  <a:pt x="18000" y="4000"/>
                </a:lnTo>
                <a:moveTo>
                  <a:pt x="6000" y="20000"/>
                </a:moveTo>
                <a:cubicBezTo>
                  <a:pt x="6000" y="21105"/>
                  <a:pt x="5105" y="22000"/>
                  <a:pt x="4000" y="22000"/>
                </a:cubicBezTo>
                <a:cubicBezTo>
                  <a:pt x="2895" y="22000"/>
                  <a:pt x="2000" y="21105"/>
                  <a:pt x="2000" y="20000"/>
                </a:cubicBezTo>
                <a:cubicBezTo>
                  <a:pt x="2000" y="18895"/>
                  <a:pt x="2895" y="18000"/>
                  <a:pt x="4000" y="18000"/>
                </a:cubicBezTo>
                <a:cubicBezTo>
                  <a:pt x="5105" y="18000"/>
                  <a:pt x="6000" y="18895"/>
                  <a:pt x="6000" y="20000"/>
                </a:cubicBezTo>
                <a:close/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</p:sp>
      <p:sp>
        <p:nvSpPr>
          <p:cNvPr id="221" name="slot.card.5.star.5"/>
          <p:cNvSpPr/>
          <p:nvPr/>
        </p:nvSpPr>
        <p:spPr>
          <a:xfrm>
            <a:off x="2375348" y="5057813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17" y="2814"/>
                </a:moveTo>
                <a:cubicBezTo>
                  <a:pt x="11105" y="2341"/>
                  <a:pt x="11519" y="1998"/>
                  <a:pt x="12000" y="1998"/>
                </a:cubicBezTo>
                <a:cubicBezTo>
                  <a:pt x="12481" y="1998"/>
                  <a:pt x="12895" y="2341"/>
                  <a:pt x="12983" y="2814"/>
                </a:cubicBezTo>
                <a:lnTo>
                  <a:pt x="14034" y="8372"/>
                </a:lnTo>
                <a:cubicBezTo>
                  <a:pt x="14187" y="9181"/>
                  <a:pt x="14819" y="9813"/>
                  <a:pt x="15628" y="9966"/>
                </a:cubicBezTo>
                <a:lnTo>
                  <a:pt x="21186" y="11017"/>
                </a:lnTo>
                <a:cubicBezTo>
                  <a:pt x="21659" y="11105"/>
                  <a:pt x="22002" y="11519"/>
                  <a:pt x="22002" y="12000"/>
                </a:cubicBezTo>
                <a:cubicBezTo>
                  <a:pt x="22002" y="12481"/>
                  <a:pt x="21659" y="12895"/>
                  <a:pt x="21186" y="12983"/>
                </a:cubicBezTo>
                <a:lnTo>
                  <a:pt x="15628" y="14034"/>
                </a:lnTo>
                <a:cubicBezTo>
                  <a:pt x="14819" y="14187"/>
                  <a:pt x="14187" y="14819"/>
                  <a:pt x="14034" y="15628"/>
                </a:cubicBezTo>
                <a:lnTo>
                  <a:pt x="12983" y="21186"/>
                </a:lnTo>
                <a:cubicBezTo>
                  <a:pt x="12895" y="21659"/>
                  <a:pt x="12481" y="22002"/>
                  <a:pt x="12000" y="22002"/>
                </a:cubicBezTo>
                <a:cubicBezTo>
                  <a:pt x="11519" y="22002"/>
                  <a:pt x="11105" y="21659"/>
                  <a:pt x="11017" y="21186"/>
                </a:cubicBezTo>
                <a:lnTo>
                  <a:pt x="9966" y="15628"/>
                </a:lnTo>
                <a:cubicBezTo>
                  <a:pt x="9813" y="14819"/>
                  <a:pt x="9181" y="14187"/>
                  <a:pt x="8372" y="14034"/>
                </a:cubicBezTo>
                <a:lnTo>
                  <a:pt x="2814" y="12983"/>
                </a:lnTo>
                <a:cubicBezTo>
                  <a:pt x="2341" y="12895"/>
                  <a:pt x="1998" y="12481"/>
                  <a:pt x="1998" y="12000"/>
                </a:cubicBezTo>
                <a:cubicBezTo>
                  <a:pt x="1998" y="11519"/>
                  <a:pt x="2341" y="11105"/>
                  <a:pt x="2814" y="11017"/>
                </a:cubicBezTo>
                <a:lnTo>
                  <a:pt x="8372" y="9966"/>
                </a:lnTo>
                <a:cubicBezTo>
                  <a:pt x="9181" y="9813"/>
                  <a:pt x="9813" y="9181"/>
                  <a:pt x="9966" y="8372"/>
                </a:cubicBezTo>
                <a:close/>
                <a:moveTo>
                  <a:pt x="20000" y="2000"/>
                </a:moveTo>
                <a:lnTo>
                  <a:pt x="20000" y="6000"/>
                </a:lnTo>
                <a:moveTo>
                  <a:pt x="22000" y="4000"/>
                </a:moveTo>
                <a:lnTo>
                  <a:pt x="18000" y="4000"/>
                </a:lnTo>
                <a:moveTo>
                  <a:pt x="6000" y="20000"/>
                </a:moveTo>
                <a:cubicBezTo>
                  <a:pt x="6000" y="21105"/>
                  <a:pt x="5105" y="22000"/>
                  <a:pt x="4000" y="22000"/>
                </a:cubicBezTo>
                <a:cubicBezTo>
                  <a:pt x="2895" y="22000"/>
                  <a:pt x="2000" y="21105"/>
                  <a:pt x="2000" y="20000"/>
                </a:cubicBezTo>
                <a:cubicBezTo>
                  <a:pt x="2000" y="18895"/>
                  <a:pt x="2895" y="18000"/>
                  <a:pt x="4000" y="18000"/>
                </a:cubicBezTo>
                <a:cubicBezTo>
                  <a:pt x="5105" y="18000"/>
                  <a:pt x="6000" y="18895"/>
                  <a:pt x="6000" y="20000"/>
                </a:cubicBezTo>
                <a:close/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</p:sp>
      <p:sp>
        <p:nvSpPr>
          <p:cNvPr id="222" name="slot.card.5.star.9"/>
          <p:cNvSpPr/>
          <p:nvPr/>
        </p:nvSpPr>
        <p:spPr>
          <a:xfrm>
            <a:off x="2375348" y="599703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17" y="2814"/>
                </a:moveTo>
                <a:cubicBezTo>
                  <a:pt x="11105" y="2341"/>
                  <a:pt x="11519" y="1998"/>
                  <a:pt x="12000" y="1998"/>
                </a:cubicBezTo>
                <a:cubicBezTo>
                  <a:pt x="12481" y="1998"/>
                  <a:pt x="12895" y="2341"/>
                  <a:pt x="12983" y="2814"/>
                </a:cubicBezTo>
                <a:lnTo>
                  <a:pt x="14034" y="8372"/>
                </a:lnTo>
                <a:cubicBezTo>
                  <a:pt x="14187" y="9181"/>
                  <a:pt x="14819" y="9813"/>
                  <a:pt x="15628" y="9966"/>
                </a:cubicBezTo>
                <a:lnTo>
                  <a:pt x="21186" y="11017"/>
                </a:lnTo>
                <a:cubicBezTo>
                  <a:pt x="21659" y="11105"/>
                  <a:pt x="22002" y="11519"/>
                  <a:pt x="22002" y="12000"/>
                </a:cubicBezTo>
                <a:cubicBezTo>
                  <a:pt x="22002" y="12481"/>
                  <a:pt x="21659" y="12895"/>
                  <a:pt x="21186" y="12983"/>
                </a:cubicBezTo>
                <a:lnTo>
                  <a:pt x="15628" y="14034"/>
                </a:lnTo>
                <a:cubicBezTo>
                  <a:pt x="14819" y="14187"/>
                  <a:pt x="14187" y="14819"/>
                  <a:pt x="14034" y="15628"/>
                </a:cubicBezTo>
                <a:lnTo>
                  <a:pt x="12983" y="21186"/>
                </a:lnTo>
                <a:cubicBezTo>
                  <a:pt x="12895" y="21659"/>
                  <a:pt x="12481" y="22002"/>
                  <a:pt x="12000" y="22002"/>
                </a:cubicBezTo>
                <a:cubicBezTo>
                  <a:pt x="11519" y="22002"/>
                  <a:pt x="11105" y="21659"/>
                  <a:pt x="11017" y="21186"/>
                </a:cubicBezTo>
                <a:lnTo>
                  <a:pt x="9966" y="15628"/>
                </a:lnTo>
                <a:cubicBezTo>
                  <a:pt x="9813" y="14819"/>
                  <a:pt x="9181" y="14187"/>
                  <a:pt x="8372" y="14034"/>
                </a:cubicBezTo>
                <a:lnTo>
                  <a:pt x="2814" y="12983"/>
                </a:lnTo>
                <a:cubicBezTo>
                  <a:pt x="2341" y="12895"/>
                  <a:pt x="1998" y="12481"/>
                  <a:pt x="1998" y="12000"/>
                </a:cubicBezTo>
                <a:cubicBezTo>
                  <a:pt x="1998" y="11519"/>
                  <a:pt x="2341" y="11105"/>
                  <a:pt x="2814" y="11017"/>
                </a:cubicBezTo>
                <a:lnTo>
                  <a:pt x="8372" y="9966"/>
                </a:lnTo>
                <a:cubicBezTo>
                  <a:pt x="9181" y="9813"/>
                  <a:pt x="9813" y="9181"/>
                  <a:pt x="9966" y="8372"/>
                </a:cubicBezTo>
                <a:close/>
                <a:moveTo>
                  <a:pt x="20000" y="2000"/>
                </a:moveTo>
                <a:lnTo>
                  <a:pt x="20000" y="6000"/>
                </a:lnTo>
                <a:moveTo>
                  <a:pt x="22000" y="4000"/>
                </a:moveTo>
                <a:lnTo>
                  <a:pt x="18000" y="4000"/>
                </a:lnTo>
                <a:moveTo>
                  <a:pt x="6000" y="20000"/>
                </a:moveTo>
                <a:cubicBezTo>
                  <a:pt x="6000" y="21105"/>
                  <a:pt x="5105" y="22000"/>
                  <a:pt x="4000" y="22000"/>
                </a:cubicBezTo>
                <a:cubicBezTo>
                  <a:pt x="2895" y="22000"/>
                  <a:pt x="2000" y="21105"/>
                  <a:pt x="2000" y="20000"/>
                </a:cubicBezTo>
                <a:cubicBezTo>
                  <a:pt x="2000" y="18895"/>
                  <a:pt x="2895" y="18000"/>
                  <a:pt x="4000" y="18000"/>
                </a:cubicBezTo>
                <a:cubicBezTo>
                  <a:pt x="5105" y="18000"/>
                  <a:pt x="6000" y="18895"/>
                  <a:pt x="6000" y="20000"/>
                </a:cubicBezTo>
                <a:close/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</p:sp>
      <p:sp>
        <p:nvSpPr>
          <p:cNvPr id="223" name="slot.card.6.icon"/>
          <p:cNvSpPr/>
          <p:nvPr/>
        </p:nvSpPr>
        <p:spPr>
          <a:xfrm>
            <a:off x="8563260" y="335219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3048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224" name="slot.card.6.area.1"/>
          <p:cNvSpPr/>
          <p:nvPr/>
        </p:nvSpPr>
        <p:spPr>
          <a:xfrm>
            <a:off x="8679130" y="3817250"/>
            <a:ext cx="153505" cy="153505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6000"/>
                </a:moveTo>
                <a:cubicBezTo>
                  <a:pt x="14041" y="6078"/>
                  <a:pt x="17014" y="5088"/>
                  <a:pt x="19400" y="3200"/>
                </a:cubicBezTo>
                <a:cubicBezTo>
                  <a:pt x="19703" y="2973"/>
                  <a:pt x="20108" y="2936"/>
                  <a:pt x="20447" y="3106"/>
                </a:cubicBezTo>
                <a:cubicBezTo>
                  <a:pt x="20786" y="3275"/>
                  <a:pt x="21000" y="3621"/>
                  <a:pt x="21000" y="4000"/>
                </a:cubicBezTo>
                <a:lnTo>
                  <a:pt x="21000" y="16000"/>
                </a:lnTo>
                <a:cubicBezTo>
                  <a:pt x="21000" y="16379"/>
                  <a:pt x="20786" y="16725"/>
                  <a:pt x="20447" y="16894"/>
                </a:cubicBezTo>
                <a:cubicBezTo>
                  <a:pt x="20108" y="17064"/>
                  <a:pt x="19703" y="17027"/>
                  <a:pt x="19400" y="16800"/>
                </a:cubicBezTo>
                <a:cubicBezTo>
                  <a:pt x="17014" y="14912"/>
                  <a:pt x="14041" y="13922"/>
                  <a:pt x="11000" y="14000"/>
                </a:cubicBezTo>
                <a:lnTo>
                  <a:pt x="5000" y="14000"/>
                </a:lnTo>
                <a:cubicBezTo>
                  <a:pt x="3895" y="14000"/>
                  <a:pt x="3000" y="13105"/>
                  <a:pt x="3000" y="12000"/>
                </a:cubicBezTo>
                <a:lnTo>
                  <a:pt x="3000" y="8000"/>
                </a:lnTo>
                <a:cubicBezTo>
                  <a:pt x="3000" y="6895"/>
                  <a:pt x="3895" y="6000"/>
                  <a:pt x="5000" y="6000"/>
                </a:cubicBezTo>
                <a:close/>
                <a:moveTo>
                  <a:pt x="6000" y="14000"/>
                </a:moveTo>
                <a:cubicBezTo>
                  <a:pt x="6000" y="16596"/>
                  <a:pt x="6842" y="19123"/>
                  <a:pt x="8400" y="21200"/>
                </a:cubicBezTo>
                <a:cubicBezTo>
                  <a:pt x="9063" y="22084"/>
                  <a:pt x="10316" y="22263"/>
                  <a:pt x="11200" y="21600"/>
                </a:cubicBezTo>
                <a:cubicBezTo>
                  <a:pt x="12084" y="20937"/>
                  <a:pt x="12263" y="19684"/>
                  <a:pt x="11600" y="18800"/>
                </a:cubicBezTo>
                <a:cubicBezTo>
                  <a:pt x="10561" y="17415"/>
                  <a:pt x="10000" y="15731"/>
                  <a:pt x="10000" y="14000"/>
                </a:cubicBezTo>
                <a:moveTo>
                  <a:pt x="8000" y="6000"/>
                </a:moveTo>
                <a:lnTo>
                  <a:pt x="8000" y="14000"/>
                </a:lnTo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</p:sp>
      <p:sp>
        <p:nvSpPr>
          <p:cNvPr id="225" name="slot.card.6.area.2"/>
          <p:cNvSpPr/>
          <p:nvPr/>
        </p:nvSpPr>
        <p:spPr>
          <a:xfrm>
            <a:off x="9008665" y="3817250"/>
            <a:ext cx="153505" cy="153505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21000"/>
                </a:moveTo>
                <a:lnTo>
                  <a:pt x="16660" y="16660"/>
                </a:lnTo>
                <a:moveTo>
                  <a:pt x="19000" y="11000"/>
                </a:moveTo>
                <a:cubicBezTo>
                  <a:pt x="19000" y="15418"/>
                  <a:pt x="15418" y="19000"/>
                  <a:pt x="11000" y="19000"/>
                </a:cubicBezTo>
                <a:cubicBezTo>
                  <a:pt x="6582" y="19000"/>
                  <a:pt x="3000" y="15418"/>
                  <a:pt x="3000" y="11000"/>
                </a:cubicBezTo>
                <a:cubicBezTo>
                  <a:pt x="3000" y="6582"/>
                  <a:pt x="6582" y="3000"/>
                  <a:pt x="11000" y="3000"/>
                </a:cubicBezTo>
                <a:cubicBezTo>
                  <a:pt x="15418" y="3000"/>
                  <a:pt x="19000" y="6582"/>
                  <a:pt x="19000" y="11000"/>
                </a:cubicBezTo>
                <a:close/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</p:sp>
      <p:sp>
        <p:nvSpPr>
          <p:cNvPr id="226" name="slot.card.6.area.3"/>
          <p:cNvSpPr/>
          <p:nvPr/>
        </p:nvSpPr>
        <p:spPr>
          <a:xfrm>
            <a:off x="9338199" y="3817250"/>
            <a:ext cx="153505" cy="153505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3000"/>
                </a:moveTo>
                <a:lnTo>
                  <a:pt x="3000" y="19000"/>
                </a:lnTo>
                <a:cubicBezTo>
                  <a:pt x="3000" y="20105"/>
                  <a:pt x="3895" y="21000"/>
                  <a:pt x="5000" y="21000"/>
                </a:cubicBezTo>
                <a:lnTo>
                  <a:pt x="21000" y="21000"/>
                </a:lnTo>
                <a:moveTo>
                  <a:pt x="18000" y="17000"/>
                </a:moveTo>
                <a:lnTo>
                  <a:pt x="18000" y="9000"/>
                </a:lnTo>
                <a:moveTo>
                  <a:pt x="13000" y="17000"/>
                </a:moveTo>
                <a:lnTo>
                  <a:pt x="13000" y="5000"/>
                </a:lnTo>
                <a:moveTo>
                  <a:pt x="8000" y="17000"/>
                </a:moveTo>
                <a:lnTo>
                  <a:pt x="8000" y="14000"/>
                </a:lnTo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</p:sp>
      <p:sp>
        <p:nvSpPr>
          <p:cNvPr id="227" name="slot.card.6.area.4"/>
          <p:cNvSpPr/>
          <p:nvPr/>
        </p:nvSpPr>
        <p:spPr>
          <a:xfrm>
            <a:off x="8679068" y="4122870"/>
            <a:ext cx="153505" cy="153505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744" y="17736"/>
                </a:moveTo>
                <a:cubicBezTo>
                  <a:pt x="12915" y="20477"/>
                  <a:pt x="10264" y="22250"/>
                  <a:pt x="7414" y="21970"/>
                </a:cubicBezTo>
                <a:cubicBezTo>
                  <a:pt x="4564" y="21690"/>
                  <a:pt x="2310" y="19436"/>
                  <a:pt x="2030" y="16586"/>
                </a:cubicBezTo>
                <a:cubicBezTo>
                  <a:pt x="1750" y="13736"/>
                  <a:pt x="3523" y="11085"/>
                  <a:pt x="6264" y="10256"/>
                </a:cubicBezTo>
                <a:moveTo>
                  <a:pt x="15000" y="6000"/>
                </a:moveTo>
                <a:lnTo>
                  <a:pt x="16000" y="6000"/>
                </a:lnTo>
                <a:lnTo>
                  <a:pt x="16000" y="10000"/>
                </a:lnTo>
                <a:moveTo>
                  <a:pt x="6134" y="14768"/>
                </a:moveTo>
                <a:lnTo>
                  <a:pt x="7000" y="14268"/>
                </a:lnTo>
                <a:lnTo>
                  <a:pt x="9000" y="17732"/>
                </a:lnTo>
                <a:moveTo>
                  <a:pt x="22000" y="8000"/>
                </a:moveTo>
                <a:cubicBezTo>
                  <a:pt x="22000" y="11314"/>
                  <a:pt x="19314" y="14000"/>
                  <a:pt x="16000" y="14000"/>
                </a:cubicBezTo>
                <a:cubicBezTo>
                  <a:pt x="12686" y="14000"/>
                  <a:pt x="10000" y="11314"/>
                  <a:pt x="10000" y="8000"/>
                </a:cubicBezTo>
                <a:cubicBezTo>
                  <a:pt x="10000" y="4686"/>
                  <a:pt x="12686" y="2000"/>
                  <a:pt x="16000" y="2000"/>
                </a:cubicBezTo>
                <a:cubicBezTo>
                  <a:pt x="19314" y="2000"/>
                  <a:pt x="22000" y="4686"/>
                  <a:pt x="22000" y="8000"/>
                </a:cubicBezTo>
                <a:close/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</p:sp>
      <p:sp>
        <p:nvSpPr>
          <p:cNvPr id="228" name="slot.card.6.area.5"/>
          <p:cNvSpPr/>
          <p:nvPr/>
        </p:nvSpPr>
        <p:spPr>
          <a:xfrm>
            <a:off x="9008603" y="4122870"/>
            <a:ext cx="153505" cy="153505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000" y="18000"/>
                </a:moveTo>
                <a:lnTo>
                  <a:pt x="14000" y="6000"/>
                </a:lnTo>
                <a:cubicBezTo>
                  <a:pt x="14000" y="4895"/>
                  <a:pt x="13105" y="4000"/>
                  <a:pt x="12000" y="4000"/>
                </a:cubicBezTo>
                <a:lnTo>
                  <a:pt x="4000" y="4000"/>
                </a:lnTo>
                <a:cubicBezTo>
                  <a:pt x="2895" y="4000"/>
                  <a:pt x="2000" y="4895"/>
                  <a:pt x="2000" y="6000"/>
                </a:cubicBezTo>
                <a:lnTo>
                  <a:pt x="2000" y="17000"/>
                </a:lnTo>
                <a:cubicBezTo>
                  <a:pt x="2000" y="17552"/>
                  <a:pt x="2448" y="18000"/>
                  <a:pt x="3000" y="18000"/>
                </a:cubicBezTo>
                <a:lnTo>
                  <a:pt x="5000" y="18000"/>
                </a:lnTo>
                <a:moveTo>
                  <a:pt x="15000" y="18000"/>
                </a:moveTo>
                <a:lnTo>
                  <a:pt x="9000" y="18000"/>
                </a:lnTo>
                <a:moveTo>
                  <a:pt x="19000" y="18000"/>
                </a:moveTo>
                <a:lnTo>
                  <a:pt x="21000" y="18000"/>
                </a:lnTo>
                <a:cubicBezTo>
                  <a:pt x="21552" y="18000"/>
                  <a:pt x="22000" y="17552"/>
                  <a:pt x="22000" y="17000"/>
                </a:cubicBezTo>
                <a:lnTo>
                  <a:pt x="22000" y="13350"/>
                </a:lnTo>
                <a:cubicBezTo>
                  <a:pt x="22000" y="13123"/>
                  <a:pt x="21922" y="12903"/>
                  <a:pt x="21780" y="12726"/>
                </a:cubicBezTo>
                <a:lnTo>
                  <a:pt x="18300" y="8376"/>
                </a:lnTo>
                <a:cubicBezTo>
                  <a:pt x="18111" y="8139"/>
                  <a:pt x="17824" y="8000"/>
                  <a:pt x="17520" y="8000"/>
                </a:cubicBezTo>
                <a:lnTo>
                  <a:pt x="14000" y="8000"/>
                </a:lnTo>
                <a:moveTo>
                  <a:pt x="19000" y="18000"/>
                </a:moveTo>
                <a:cubicBezTo>
                  <a:pt x="19000" y="19105"/>
                  <a:pt x="18105" y="20000"/>
                  <a:pt x="17000" y="20000"/>
                </a:cubicBezTo>
                <a:cubicBezTo>
                  <a:pt x="15895" y="20000"/>
                  <a:pt x="15000" y="19105"/>
                  <a:pt x="15000" y="18000"/>
                </a:cubicBezTo>
                <a:cubicBezTo>
                  <a:pt x="15000" y="16895"/>
                  <a:pt x="15895" y="16000"/>
                  <a:pt x="17000" y="16000"/>
                </a:cubicBezTo>
                <a:cubicBezTo>
                  <a:pt x="18105" y="16000"/>
                  <a:pt x="19000" y="16895"/>
                  <a:pt x="19000" y="18000"/>
                </a:cubicBezTo>
                <a:close/>
                <a:moveTo>
                  <a:pt x="9000" y="18000"/>
                </a:moveTo>
                <a:cubicBezTo>
                  <a:pt x="9000" y="19105"/>
                  <a:pt x="8105" y="20000"/>
                  <a:pt x="7000" y="20000"/>
                </a:cubicBezTo>
                <a:cubicBezTo>
                  <a:pt x="5895" y="20000"/>
                  <a:pt x="5000" y="19105"/>
                  <a:pt x="5000" y="18000"/>
                </a:cubicBezTo>
                <a:cubicBezTo>
                  <a:pt x="5000" y="16895"/>
                  <a:pt x="5895" y="16000"/>
                  <a:pt x="7000" y="16000"/>
                </a:cubicBezTo>
                <a:cubicBezTo>
                  <a:pt x="8105" y="16000"/>
                  <a:pt x="9000" y="16895"/>
                  <a:pt x="9000" y="18000"/>
                </a:cubicBezTo>
                <a:close/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</p:sp>
      <p:sp>
        <p:nvSpPr>
          <p:cNvPr id="229" name="slot.card.6.area.6"/>
          <p:cNvSpPr/>
          <p:nvPr/>
        </p:nvSpPr>
        <p:spPr>
          <a:xfrm>
            <a:off x="9338114" y="4122870"/>
            <a:ext cx="153505" cy="153505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</p:sp>
      <p:sp>
        <p:nvSpPr>
          <p:cNvPr id="230" name="slot.card.6.area.7"/>
          <p:cNvSpPr/>
          <p:nvPr/>
        </p:nvSpPr>
        <p:spPr>
          <a:xfrm>
            <a:off x="8678826" y="4432059"/>
            <a:ext cx="153581" cy="153581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14000"/>
                </a:moveTo>
                <a:lnTo>
                  <a:pt x="6000" y="14000"/>
                </a:lnTo>
                <a:cubicBezTo>
                  <a:pt x="7105" y="14000"/>
                  <a:pt x="8000" y="14895"/>
                  <a:pt x="8000" y="16000"/>
                </a:cubicBezTo>
                <a:lnTo>
                  <a:pt x="8000" y="19000"/>
                </a:lnTo>
                <a:cubicBezTo>
                  <a:pt x="8000" y="20105"/>
                  <a:pt x="7105" y="21000"/>
                  <a:pt x="6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12000"/>
                </a:lnTo>
                <a:cubicBezTo>
                  <a:pt x="3000" y="7029"/>
                  <a:pt x="7029" y="3000"/>
                  <a:pt x="12000" y="3000"/>
                </a:cubicBezTo>
                <a:cubicBezTo>
                  <a:pt x="16971" y="3000"/>
                  <a:pt x="21000" y="7029"/>
                  <a:pt x="21000" y="12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8000" y="21000"/>
                </a:lnTo>
                <a:cubicBezTo>
                  <a:pt x="16895" y="21000"/>
                  <a:pt x="16000" y="20105"/>
                  <a:pt x="16000" y="19000"/>
                </a:cubicBezTo>
                <a:lnTo>
                  <a:pt x="16000" y="16000"/>
                </a:lnTo>
                <a:cubicBezTo>
                  <a:pt x="16000" y="14895"/>
                  <a:pt x="16895" y="14000"/>
                  <a:pt x="18000" y="14000"/>
                </a:cubicBezTo>
                <a:lnTo>
                  <a:pt x="21000" y="14000"/>
                </a:lnTo>
              </a:path>
            </a:pathLst>
          </a:custGeom>
          <a:noFill/>
          <a:ln w="1270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231" name="slot.card.6.area.8"/>
          <p:cNvSpPr/>
          <p:nvPr/>
        </p:nvSpPr>
        <p:spPr>
          <a:xfrm>
            <a:off x="9008581" y="4432061"/>
            <a:ext cx="153505" cy="153505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</p:sp>
      <p:sp>
        <p:nvSpPr>
          <p:cNvPr id="232" name="slot.card.6.star.1"/>
          <p:cNvSpPr/>
          <p:nvPr/>
        </p:nvSpPr>
        <p:spPr>
          <a:xfrm>
            <a:off x="11401861" y="338650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17" y="2814"/>
                </a:moveTo>
                <a:cubicBezTo>
                  <a:pt x="11105" y="2341"/>
                  <a:pt x="11519" y="1998"/>
                  <a:pt x="12000" y="1998"/>
                </a:cubicBezTo>
                <a:cubicBezTo>
                  <a:pt x="12481" y="1998"/>
                  <a:pt x="12895" y="2341"/>
                  <a:pt x="12983" y="2814"/>
                </a:cubicBezTo>
                <a:lnTo>
                  <a:pt x="14034" y="8372"/>
                </a:lnTo>
                <a:cubicBezTo>
                  <a:pt x="14187" y="9181"/>
                  <a:pt x="14819" y="9813"/>
                  <a:pt x="15628" y="9966"/>
                </a:cubicBezTo>
                <a:lnTo>
                  <a:pt x="21186" y="11017"/>
                </a:lnTo>
                <a:cubicBezTo>
                  <a:pt x="21659" y="11105"/>
                  <a:pt x="22002" y="11519"/>
                  <a:pt x="22002" y="12000"/>
                </a:cubicBezTo>
                <a:cubicBezTo>
                  <a:pt x="22002" y="12481"/>
                  <a:pt x="21659" y="12895"/>
                  <a:pt x="21186" y="12983"/>
                </a:cubicBezTo>
                <a:lnTo>
                  <a:pt x="15628" y="14034"/>
                </a:lnTo>
                <a:cubicBezTo>
                  <a:pt x="14819" y="14187"/>
                  <a:pt x="14187" y="14819"/>
                  <a:pt x="14034" y="15628"/>
                </a:cubicBezTo>
                <a:lnTo>
                  <a:pt x="12983" y="21186"/>
                </a:lnTo>
                <a:cubicBezTo>
                  <a:pt x="12895" y="21659"/>
                  <a:pt x="12481" y="22002"/>
                  <a:pt x="12000" y="22002"/>
                </a:cubicBezTo>
                <a:cubicBezTo>
                  <a:pt x="11519" y="22002"/>
                  <a:pt x="11105" y="21659"/>
                  <a:pt x="11017" y="21186"/>
                </a:cubicBezTo>
                <a:lnTo>
                  <a:pt x="9966" y="15628"/>
                </a:lnTo>
                <a:cubicBezTo>
                  <a:pt x="9813" y="14819"/>
                  <a:pt x="9181" y="14187"/>
                  <a:pt x="8372" y="14034"/>
                </a:cubicBezTo>
                <a:lnTo>
                  <a:pt x="2814" y="12983"/>
                </a:lnTo>
                <a:cubicBezTo>
                  <a:pt x="2341" y="12895"/>
                  <a:pt x="1998" y="12481"/>
                  <a:pt x="1998" y="12000"/>
                </a:cubicBezTo>
                <a:cubicBezTo>
                  <a:pt x="1998" y="11519"/>
                  <a:pt x="2341" y="11105"/>
                  <a:pt x="2814" y="11017"/>
                </a:cubicBezTo>
                <a:lnTo>
                  <a:pt x="8372" y="9966"/>
                </a:lnTo>
                <a:cubicBezTo>
                  <a:pt x="9181" y="9813"/>
                  <a:pt x="9813" y="9181"/>
                  <a:pt x="9966" y="8372"/>
                </a:cubicBezTo>
                <a:close/>
                <a:moveTo>
                  <a:pt x="20000" y="2000"/>
                </a:moveTo>
                <a:lnTo>
                  <a:pt x="20000" y="6000"/>
                </a:lnTo>
                <a:moveTo>
                  <a:pt x="22000" y="4000"/>
                </a:moveTo>
                <a:lnTo>
                  <a:pt x="18000" y="4000"/>
                </a:lnTo>
                <a:moveTo>
                  <a:pt x="6000" y="20000"/>
                </a:moveTo>
                <a:cubicBezTo>
                  <a:pt x="6000" y="21105"/>
                  <a:pt x="5105" y="22000"/>
                  <a:pt x="4000" y="22000"/>
                </a:cubicBezTo>
                <a:cubicBezTo>
                  <a:pt x="2895" y="22000"/>
                  <a:pt x="2000" y="21105"/>
                  <a:pt x="2000" y="20000"/>
                </a:cubicBezTo>
                <a:cubicBezTo>
                  <a:pt x="2000" y="18895"/>
                  <a:pt x="2895" y="18000"/>
                  <a:pt x="4000" y="18000"/>
                </a:cubicBezTo>
                <a:cubicBezTo>
                  <a:pt x="5105" y="18000"/>
                  <a:pt x="6000" y="18895"/>
                  <a:pt x="6000" y="20000"/>
                </a:cubicBezTo>
                <a:close/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</p:sp>
      <p:sp>
        <p:nvSpPr>
          <p:cNvPr id="233" name="slot.card.6.star.2"/>
          <p:cNvSpPr/>
          <p:nvPr/>
        </p:nvSpPr>
        <p:spPr>
          <a:xfrm>
            <a:off x="11401861" y="362131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17" y="2814"/>
                </a:moveTo>
                <a:cubicBezTo>
                  <a:pt x="11105" y="2341"/>
                  <a:pt x="11519" y="1998"/>
                  <a:pt x="12000" y="1998"/>
                </a:cubicBezTo>
                <a:cubicBezTo>
                  <a:pt x="12481" y="1998"/>
                  <a:pt x="12895" y="2341"/>
                  <a:pt x="12983" y="2814"/>
                </a:cubicBezTo>
                <a:lnTo>
                  <a:pt x="14034" y="8372"/>
                </a:lnTo>
                <a:cubicBezTo>
                  <a:pt x="14187" y="9181"/>
                  <a:pt x="14819" y="9813"/>
                  <a:pt x="15628" y="9966"/>
                </a:cubicBezTo>
                <a:lnTo>
                  <a:pt x="21186" y="11017"/>
                </a:lnTo>
                <a:cubicBezTo>
                  <a:pt x="21659" y="11105"/>
                  <a:pt x="22002" y="11519"/>
                  <a:pt x="22002" y="12000"/>
                </a:cubicBezTo>
                <a:cubicBezTo>
                  <a:pt x="22002" y="12481"/>
                  <a:pt x="21659" y="12895"/>
                  <a:pt x="21186" y="12983"/>
                </a:cubicBezTo>
                <a:lnTo>
                  <a:pt x="15628" y="14034"/>
                </a:lnTo>
                <a:cubicBezTo>
                  <a:pt x="14819" y="14187"/>
                  <a:pt x="14187" y="14819"/>
                  <a:pt x="14034" y="15628"/>
                </a:cubicBezTo>
                <a:lnTo>
                  <a:pt x="12983" y="21186"/>
                </a:lnTo>
                <a:cubicBezTo>
                  <a:pt x="12895" y="21659"/>
                  <a:pt x="12481" y="22002"/>
                  <a:pt x="12000" y="22002"/>
                </a:cubicBezTo>
                <a:cubicBezTo>
                  <a:pt x="11519" y="22002"/>
                  <a:pt x="11105" y="21659"/>
                  <a:pt x="11017" y="21186"/>
                </a:cubicBezTo>
                <a:lnTo>
                  <a:pt x="9966" y="15628"/>
                </a:lnTo>
                <a:cubicBezTo>
                  <a:pt x="9813" y="14819"/>
                  <a:pt x="9181" y="14187"/>
                  <a:pt x="8372" y="14034"/>
                </a:cubicBezTo>
                <a:lnTo>
                  <a:pt x="2814" y="12983"/>
                </a:lnTo>
                <a:cubicBezTo>
                  <a:pt x="2341" y="12895"/>
                  <a:pt x="1998" y="12481"/>
                  <a:pt x="1998" y="12000"/>
                </a:cubicBezTo>
                <a:cubicBezTo>
                  <a:pt x="1998" y="11519"/>
                  <a:pt x="2341" y="11105"/>
                  <a:pt x="2814" y="11017"/>
                </a:cubicBezTo>
                <a:lnTo>
                  <a:pt x="8372" y="9966"/>
                </a:lnTo>
                <a:cubicBezTo>
                  <a:pt x="9181" y="9813"/>
                  <a:pt x="9813" y="9181"/>
                  <a:pt x="9966" y="8372"/>
                </a:cubicBezTo>
                <a:close/>
                <a:moveTo>
                  <a:pt x="20000" y="2000"/>
                </a:moveTo>
                <a:lnTo>
                  <a:pt x="20000" y="6000"/>
                </a:lnTo>
                <a:moveTo>
                  <a:pt x="22000" y="4000"/>
                </a:moveTo>
                <a:lnTo>
                  <a:pt x="18000" y="4000"/>
                </a:lnTo>
                <a:moveTo>
                  <a:pt x="6000" y="20000"/>
                </a:moveTo>
                <a:cubicBezTo>
                  <a:pt x="6000" y="21105"/>
                  <a:pt x="5105" y="22000"/>
                  <a:pt x="4000" y="22000"/>
                </a:cubicBezTo>
                <a:cubicBezTo>
                  <a:pt x="2895" y="22000"/>
                  <a:pt x="2000" y="21105"/>
                  <a:pt x="2000" y="20000"/>
                </a:cubicBezTo>
                <a:cubicBezTo>
                  <a:pt x="2000" y="18895"/>
                  <a:pt x="2895" y="18000"/>
                  <a:pt x="4000" y="18000"/>
                </a:cubicBezTo>
                <a:cubicBezTo>
                  <a:pt x="5105" y="18000"/>
                  <a:pt x="6000" y="18895"/>
                  <a:pt x="6000" y="20000"/>
                </a:cubicBezTo>
                <a:close/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</p:sp>
      <p:sp>
        <p:nvSpPr>
          <p:cNvPr id="234" name="slot.card.6.star.3"/>
          <p:cNvSpPr/>
          <p:nvPr/>
        </p:nvSpPr>
        <p:spPr>
          <a:xfrm>
            <a:off x="11401861" y="385611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17" y="2814"/>
                </a:moveTo>
                <a:cubicBezTo>
                  <a:pt x="11105" y="2341"/>
                  <a:pt x="11519" y="1998"/>
                  <a:pt x="12000" y="1998"/>
                </a:cubicBezTo>
                <a:cubicBezTo>
                  <a:pt x="12481" y="1998"/>
                  <a:pt x="12895" y="2341"/>
                  <a:pt x="12983" y="2814"/>
                </a:cubicBezTo>
                <a:lnTo>
                  <a:pt x="14034" y="8372"/>
                </a:lnTo>
                <a:cubicBezTo>
                  <a:pt x="14187" y="9181"/>
                  <a:pt x="14819" y="9813"/>
                  <a:pt x="15628" y="9966"/>
                </a:cubicBezTo>
                <a:lnTo>
                  <a:pt x="21186" y="11017"/>
                </a:lnTo>
                <a:cubicBezTo>
                  <a:pt x="21659" y="11105"/>
                  <a:pt x="22002" y="11519"/>
                  <a:pt x="22002" y="12000"/>
                </a:cubicBezTo>
                <a:cubicBezTo>
                  <a:pt x="22002" y="12481"/>
                  <a:pt x="21659" y="12895"/>
                  <a:pt x="21186" y="12983"/>
                </a:cubicBezTo>
                <a:lnTo>
                  <a:pt x="15628" y="14034"/>
                </a:lnTo>
                <a:cubicBezTo>
                  <a:pt x="14819" y="14187"/>
                  <a:pt x="14187" y="14819"/>
                  <a:pt x="14034" y="15628"/>
                </a:cubicBezTo>
                <a:lnTo>
                  <a:pt x="12983" y="21186"/>
                </a:lnTo>
                <a:cubicBezTo>
                  <a:pt x="12895" y="21659"/>
                  <a:pt x="12481" y="22002"/>
                  <a:pt x="12000" y="22002"/>
                </a:cubicBezTo>
                <a:cubicBezTo>
                  <a:pt x="11519" y="22002"/>
                  <a:pt x="11105" y="21659"/>
                  <a:pt x="11017" y="21186"/>
                </a:cubicBezTo>
                <a:lnTo>
                  <a:pt x="9966" y="15628"/>
                </a:lnTo>
                <a:cubicBezTo>
                  <a:pt x="9813" y="14819"/>
                  <a:pt x="9181" y="14187"/>
                  <a:pt x="8372" y="14034"/>
                </a:cubicBezTo>
                <a:lnTo>
                  <a:pt x="2814" y="12983"/>
                </a:lnTo>
                <a:cubicBezTo>
                  <a:pt x="2341" y="12895"/>
                  <a:pt x="1998" y="12481"/>
                  <a:pt x="1998" y="12000"/>
                </a:cubicBezTo>
                <a:cubicBezTo>
                  <a:pt x="1998" y="11519"/>
                  <a:pt x="2341" y="11105"/>
                  <a:pt x="2814" y="11017"/>
                </a:cubicBezTo>
                <a:lnTo>
                  <a:pt x="8372" y="9966"/>
                </a:lnTo>
                <a:cubicBezTo>
                  <a:pt x="9181" y="9813"/>
                  <a:pt x="9813" y="9181"/>
                  <a:pt x="9966" y="8372"/>
                </a:cubicBezTo>
                <a:close/>
                <a:moveTo>
                  <a:pt x="20000" y="2000"/>
                </a:moveTo>
                <a:lnTo>
                  <a:pt x="20000" y="6000"/>
                </a:lnTo>
                <a:moveTo>
                  <a:pt x="22000" y="4000"/>
                </a:moveTo>
                <a:lnTo>
                  <a:pt x="18000" y="4000"/>
                </a:lnTo>
                <a:moveTo>
                  <a:pt x="6000" y="20000"/>
                </a:moveTo>
                <a:cubicBezTo>
                  <a:pt x="6000" y="21105"/>
                  <a:pt x="5105" y="22000"/>
                  <a:pt x="4000" y="22000"/>
                </a:cubicBezTo>
                <a:cubicBezTo>
                  <a:pt x="2895" y="22000"/>
                  <a:pt x="2000" y="21105"/>
                  <a:pt x="2000" y="20000"/>
                </a:cubicBezTo>
                <a:cubicBezTo>
                  <a:pt x="2000" y="18895"/>
                  <a:pt x="2895" y="18000"/>
                  <a:pt x="4000" y="18000"/>
                </a:cubicBezTo>
                <a:cubicBezTo>
                  <a:pt x="5105" y="18000"/>
                  <a:pt x="6000" y="18895"/>
                  <a:pt x="6000" y="20000"/>
                </a:cubicBezTo>
                <a:close/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</p:sp>
      <p:sp>
        <p:nvSpPr>
          <p:cNvPr id="235" name="slot.card.6.star.4"/>
          <p:cNvSpPr/>
          <p:nvPr/>
        </p:nvSpPr>
        <p:spPr>
          <a:xfrm>
            <a:off x="11401861" y="409092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17" y="2814"/>
                </a:moveTo>
                <a:cubicBezTo>
                  <a:pt x="11105" y="2341"/>
                  <a:pt x="11519" y="1998"/>
                  <a:pt x="12000" y="1998"/>
                </a:cubicBezTo>
                <a:cubicBezTo>
                  <a:pt x="12481" y="1998"/>
                  <a:pt x="12895" y="2341"/>
                  <a:pt x="12983" y="2814"/>
                </a:cubicBezTo>
                <a:lnTo>
                  <a:pt x="14034" y="8372"/>
                </a:lnTo>
                <a:cubicBezTo>
                  <a:pt x="14187" y="9181"/>
                  <a:pt x="14819" y="9813"/>
                  <a:pt x="15628" y="9966"/>
                </a:cubicBezTo>
                <a:lnTo>
                  <a:pt x="21186" y="11017"/>
                </a:lnTo>
                <a:cubicBezTo>
                  <a:pt x="21659" y="11105"/>
                  <a:pt x="22002" y="11519"/>
                  <a:pt x="22002" y="12000"/>
                </a:cubicBezTo>
                <a:cubicBezTo>
                  <a:pt x="22002" y="12481"/>
                  <a:pt x="21659" y="12895"/>
                  <a:pt x="21186" y="12983"/>
                </a:cubicBezTo>
                <a:lnTo>
                  <a:pt x="15628" y="14034"/>
                </a:lnTo>
                <a:cubicBezTo>
                  <a:pt x="14819" y="14187"/>
                  <a:pt x="14187" y="14819"/>
                  <a:pt x="14034" y="15628"/>
                </a:cubicBezTo>
                <a:lnTo>
                  <a:pt x="12983" y="21186"/>
                </a:lnTo>
                <a:cubicBezTo>
                  <a:pt x="12895" y="21659"/>
                  <a:pt x="12481" y="22002"/>
                  <a:pt x="12000" y="22002"/>
                </a:cubicBezTo>
                <a:cubicBezTo>
                  <a:pt x="11519" y="22002"/>
                  <a:pt x="11105" y="21659"/>
                  <a:pt x="11017" y="21186"/>
                </a:cubicBezTo>
                <a:lnTo>
                  <a:pt x="9966" y="15628"/>
                </a:lnTo>
                <a:cubicBezTo>
                  <a:pt x="9813" y="14819"/>
                  <a:pt x="9181" y="14187"/>
                  <a:pt x="8372" y="14034"/>
                </a:cubicBezTo>
                <a:lnTo>
                  <a:pt x="2814" y="12983"/>
                </a:lnTo>
                <a:cubicBezTo>
                  <a:pt x="2341" y="12895"/>
                  <a:pt x="1998" y="12481"/>
                  <a:pt x="1998" y="12000"/>
                </a:cubicBezTo>
                <a:cubicBezTo>
                  <a:pt x="1998" y="11519"/>
                  <a:pt x="2341" y="11105"/>
                  <a:pt x="2814" y="11017"/>
                </a:cubicBezTo>
                <a:lnTo>
                  <a:pt x="8372" y="9966"/>
                </a:lnTo>
                <a:cubicBezTo>
                  <a:pt x="9181" y="9813"/>
                  <a:pt x="9813" y="9181"/>
                  <a:pt x="9966" y="8372"/>
                </a:cubicBezTo>
                <a:close/>
                <a:moveTo>
                  <a:pt x="20000" y="2000"/>
                </a:moveTo>
                <a:lnTo>
                  <a:pt x="20000" y="6000"/>
                </a:lnTo>
                <a:moveTo>
                  <a:pt x="22000" y="4000"/>
                </a:moveTo>
                <a:lnTo>
                  <a:pt x="18000" y="4000"/>
                </a:lnTo>
                <a:moveTo>
                  <a:pt x="6000" y="20000"/>
                </a:moveTo>
                <a:cubicBezTo>
                  <a:pt x="6000" y="21105"/>
                  <a:pt x="5105" y="22000"/>
                  <a:pt x="4000" y="22000"/>
                </a:cubicBezTo>
                <a:cubicBezTo>
                  <a:pt x="2895" y="22000"/>
                  <a:pt x="2000" y="21105"/>
                  <a:pt x="2000" y="20000"/>
                </a:cubicBezTo>
                <a:cubicBezTo>
                  <a:pt x="2000" y="18895"/>
                  <a:pt x="2895" y="18000"/>
                  <a:pt x="4000" y="18000"/>
                </a:cubicBezTo>
                <a:cubicBezTo>
                  <a:pt x="5105" y="18000"/>
                  <a:pt x="6000" y="18895"/>
                  <a:pt x="6000" y="20000"/>
                </a:cubicBezTo>
                <a:close/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</p:sp>
      <p:sp>
        <p:nvSpPr>
          <p:cNvPr id="236" name="slot.card.6.star.5"/>
          <p:cNvSpPr/>
          <p:nvPr/>
        </p:nvSpPr>
        <p:spPr>
          <a:xfrm>
            <a:off x="11401861" y="432572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17" y="2814"/>
                </a:moveTo>
                <a:cubicBezTo>
                  <a:pt x="11105" y="2341"/>
                  <a:pt x="11519" y="1998"/>
                  <a:pt x="12000" y="1998"/>
                </a:cubicBezTo>
                <a:cubicBezTo>
                  <a:pt x="12481" y="1998"/>
                  <a:pt x="12895" y="2341"/>
                  <a:pt x="12983" y="2814"/>
                </a:cubicBezTo>
                <a:lnTo>
                  <a:pt x="14034" y="8372"/>
                </a:lnTo>
                <a:cubicBezTo>
                  <a:pt x="14187" y="9181"/>
                  <a:pt x="14819" y="9813"/>
                  <a:pt x="15628" y="9966"/>
                </a:cubicBezTo>
                <a:lnTo>
                  <a:pt x="21186" y="11017"/>
                </a:lnTo>
                <a:cubicBezTo>
                  <a:pt x="21659" y="11105"/>
                  <a:pt x="22002" y="11519"/>
                  <a:pt x="22002" y="12000"/>
                </a:cubicBezTo>
                <a:cubicBezTo>
                  <a:pt x="22002" y="12481"/>
                  <a:pt x="21659" y="12895"/>
                  <a:pt x="21186" y="12983"/>
                </a:cubicBezTo>
                <a:lnTo>
                  <a:pt x="15628" y="14034"/>
                </a:lnTo>
                <a:cubicBezTo>
                  <a:pt x="14819" y="14187"/>
                  <a:pt x="14187" y="14819"/>
                  <a:pt x="14034" y="15628"/>
                </a:cubicBezTo>
                <a:lnTo>
                  <a:pt x="12983" y="21186"/>
                </a:lnTo>
                <a:cubicBezTo>
                  <a:pt x="12895" y="21659"/>
                  <a:pt x="12481" y="22002"/>
                  <a:pt x="12000" y="22002"/>
                </a:cubicBezTo>
                <a:cubicBezTo>
                  <a:pt x="11519" y="22002"/>
                  <a:pt x="11105" y="21659"/>
                  <a:pt x="11017" y="21186"/>
                </a:cubicBezTo>
                <a:lnTo>
                  <a:pt x="9966" y="15628"/>
                </a:lnTo>
                <a:cubicBezTo>
                  <a:pt x="9813" y="14819"/>
                  <a:pt x="9181" y="14187"/>
                  <a:pt x="8372" y="14034"/>
                </a:cubicBezTo>
                <a:lnTo>
                  <a:pt x="2814" y="12983"/>
                </a:lnTo>
                <a:cubicBezTo>
                  <a:pt x="2341" y="12895"/>
                  <a:pt x="1998" y="12481"/>
                  <a:pt x="1998" y="12000"/>
                </a:cubicBezTo>
                <a:cubicBezTo>
                  <a:pt x="1998" y="11519"/>
                  <a:pt x="2341" y="11105"/>
                  <a:pt x="2814" y="11017"/>
                </a:cubicBezTo>
                <a:lnTo>
                  <a:pt x="8372" y="9966"/>
                </a:lnTo>
                <a:cubicBezTo>
                  <a:pt x="9181" y="9813"/>
                  <a:pt x="9813" y="9181"/>
                  <a:pt x="9966" y="8372"/>
                </a:cubicBezTo>
                <a:close/>
                <a:moveTo>
                  <a:pt x="20000" y="2000"/>
                </a:moveTo>
                <a:lnTo>
                  <a:pt x="20000" y="6000"/>
                </a:lnTo>
                <a:moveTo>
                  <a:pt x="22000" y="4000"/>
                </a:moveTo>
                <a:lnTo>
                  <a:pt x="18000" y="4000"/>
                </a:lnTo>
                <a:moveTo>
                  <a:pt x="6000" y="20000"/>
                </a:moveTo>
                <a:cubicBezTo>
                  <a:pt x="6000" y="21105"/>
                  <a:pt x="5105" y="22000"/>
                  <a:pt x="4000" y="22000"/>
                </a:cubicBezTo>
                <a:cubicBezTo>
                  <a:pt x="2895" y="22000"/>
                  <a:pt x="2000" y="21105"/>
                  <a:pt x="2000" y="20000"/>
                </a:cubicBezTo>
                <a:cubicBezTo>
                  <a:pt x="2000" y="18895"/>
                  <a:pt x="2895" y="18000"/>
                  <a:pt x="4000" y="18000"/>
                </a:cubicBezTo>
                <a:cubicBezTo>
                  <a:pt x="5105" y="18000"/>
                  <a:pt x="6000" y="18895"/>
                  <a:pt x="6000" y="20000"/>
                </a:cubicBezTo>
                <a:close/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</p:sp>
      <p:sp>
        <p:nvSpPr>
          <p:cNvPr id="237" name="slot.card.6.star.9"/>
          <p:cNvSpPr/>
          <p:nvPr/>
        </p:nvSpPr>
        <p:spPr>
          <a:xfrm>
            <a:off x="11401861" y="526495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17" y="2814"/>
                </a:moveTo>
                <a:cubicBezTo>
                  <a:pt x="11105" y="2341"/>
                  <a:pt x="11519" y="1998"/>
                  <a:pt x="12000" y="1998"/>
                </a:cubicBezTo>
                <a:cubicBezTo>
                  <a:pt x="12481" y="1998"/>
                  <a:pt x="12895" y="2341"/>
                  <a:pt x="12983" y="2814"/>
                </a:cubicBezTo>
                <a:lnTo>
                  <a:pt x="14034" y="8372"/>
                </a:lnTo>
                <a:cubicBezTo>
                  <a:pt x="14187" y="9181"/>
                  <a:pt x="14819" y="9813"/>
                  <a:pt x="15628" y="9966"/>
                </a:cubicBezTo>
                <a:lnTo>
                  <a:pt x="21186" y="11017"/>
                </a:lnTo>
                <a:cubicBezTo>
                  <a:pt x="21659" y="11105"/>
                  <a:pt x="22002" y="11519"/>
                  <a:pt x="22002" y="12000"/>
                </a:cubicBezTo>
                <a:cubicBezTo>
                  <a:pt x="22002" y="12481"/>
                  <a:pt x="21659" y="12895"/>
                  <a:pt x="21186" y="12983"/>
                </a:cubicBezTo>
                <a:lnTo>
                  <a:pt x="15628" y="14034"/>
                </a:lnTo>
                <a:cubicBezTo>
                  <a:pt x="14819" y="14187"/>
                  <a:pt x="14187" y="14819"/>
                  <a:pt x="14034" y="15628"/>
                </a:cubicBezTo>
                <a:lnTo>
                  <a:pt x="12983" y="21186"/>
                </a:lnTo>
                <a:cubicBezTo>
                  <a:pt x="12895" y="21659"/>
                  <a:pt x="12481" y="22002"/>
                  <a:pt x="12000" y="22002"/>
                </a:cubicBezTo>
                <a:cubicBezTo>
                  <a:pt x="11519" y="22002"/>
                  <a:pt x="11105" y="21659"/>
                  <a:pt x="11017" y="21186"/>
                </a:cubicBezTo>
                <a:lnTo>
                  <a:pt x="9966" y="15628"/>
                </a:lnTo>
                <a:cubicBezTo>
                  <a:pt x="9813" y="14819"/>
                  <a:pt x="9181" y="14187"/>
                  <a:pt x="8372" y="14034"/>
                </a:cubicBezTo>
                <a:lnTo>
                  <a:pt x="2814" y="12983"/>
                </a:lnTo>
                <a:cubicBezTo>
                  <a:pt x="2341" y="12895"/>
                  <a:pt x="1998" y="12481"/>
                  <a:pt x="1998" y="12000"/>
                </a:cubicBezTo>
                <a:cubicBezTo>
                  <a:pt x="1998" y="11519"/>
                  <a:pt x="2341" y="11105"/>
                  <a:pt x="2814" y="11017"/>
                </a:cubicBezTo>
                <a:lnTo>
                  <a:pt x="8372" y="9966"/>
                </a:lnTo>
                <a:cubicBezTo>
                  <a:pt x="9181" y="9813"/>
                  <a:pt x="9813" y="9181"/>
                  <a:pt x="9966" y="8372"/>
                </a:cubicBezTo>
                <a:close/>
                <a:moveTo>
                  <a:pt x="20000" y="2000"/>
                </a:moveTo>
                <a:lnTo>
                  <a:pt x="20000" y="6000"/>
                </a:lnTo>
                <a:moveTo>
                  <a:pt x="22000" y="4000"/>
                </a:moveTo>
                <a:lnTo>
                  <a:pt x="18000" y="4000"/>
                </a:lnTo>
                <a:moveTo>
                  <a:pt x="6000" y="20000"/>
                </a:moveTo>
                <a:cubicBezTo>
                  <a:pt x="6000" y="21105"/>
                  <a:pt x="5105" y="22000"/>
                  <a:pt x="4000" y="22000"/>
                </a:cubicBezTo>
                <a:cubicBezTo>
                  <a:pt x="2895" y="22000"/>
                  <a:pt x="2000" y="21105"/>
                  <a:pt x="2000" y="20000"/>
                </a:cubicBezTo>
                <a:cubicBezTo>
                  <a:pt x="2000" y="18895"/>
                  <a:pt x="2895" y="18000"/>
                  <a:pt x="4000" y="18000"/>
                </a:cubicBezTo>
                <a:cubicBezTo>
                  <a:pt x="5105" y="18000"/>
                  <a:pt x="6000" y="18895"/>
                  <a:pt x="6000" y="20000"/>
                </a:cubicBezTo>
                <a:close/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</p:sp>
      <p:sp>
        <p:nvSpPr>
          <p:cNvPr id="238" name="slot.key.icon"/>
          <p:cNvSpPr/>
          <p:nvPr/>
        </p:nvSpPr>
        <p:spPr>
          <a:xfrm>
            <a:off x="5074568" y="6388913"/>
            <a:ext cx="185623" cy="185623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17" y="2814"/>
                </a:moveTo>
                <a:cubicBezTo>
                  <a:pt x="11105" y="2341"/>
                  <a:pt x="11519" y="1998"/>
                  <a:pt x="12000" y="1998"/>
                </a:cubicBezTo>
                <a:cubicBezTo>
                  <a:pt x="12481" y="1998"/>
                  <a:pt x="12895" y="2341"/>
                  <a:pt x="12983" y="2814"/>
                </a:cubicBezTo>
                <a:lnTo>
                  <a:pt x="14034" y="8372"/>
                </a:lnTo>
                <a:cubicBezTo>
                  <a:pt x="14187" y="9181"/>
                  <a:pt x="14819" y="9813"/>
                  <a:pt x="15628" y="9966"/>
                </a:cubicBezTo>
                <a:lnTo>
                  <a:pt x="21186" y="11017"/>
                </a:lnTo>
                <a:cubicBezTo>
                  <a:pt x="21659" y="11105"/>
                  <a:pt x="22002" y="11519"/>
                  <a:pt x="22002" y="12000"/>
                </a:cubicBezTo>
                <a:cubicBezTo>
                  <a:pt x="22002" y="12481"/>
                  <a:pt x="21659" y="12895"/>
                  <a:pt x="21186" y="12983"/>
                </a:cubicBezTo>
                <a:lnTo>
                  <a:pt x="15628" y="14034"/>
                </a:lnTo>
                <a:cubicBezTo>
                  <a:pt x="14819" y="14187"/>
                  <a:pt x="14187" y="14819"/>
                  <a:pt x="14034" y="15628"/>
                </a:cubicBezTo>
                <a:lnTo>
                  <a:pt x="12983" y="21186"/>
                </a:lnTo>
                <a:cubicBezTo>
                  <a:pt x="12895" y="21659"/>
                  <a:pt x="12481" y="22002"/>
                  <a:pt x="12000" y="22002"/>
                </a:cubicBezTo>
                <a:cubicBezTo>
                  <a:pt x="11519" y="22002"/>
                  <a:pt x="11105" y="21659"/>
                  <a:pt x="11017" y="21186"/>
                </a:cubicBezTo>
                <a:lnTo>
                  <a:pt x="9966" y="15628"/>
                </a:lnTo>
                <a:cubicBezTo>
                  <a:pt x="9813" y="14819"/>
                  <a:pt x="9181" y="14187"/>
                  <a:pt x="8372" y="14034"/>
                </a:cubicBezTo>
                <a:lnTo>
                  <a:pt x="2814" y="12983"/>
                </a:lnTo>
                <a:cubicBezTo>
                  <a:pt x="2341" y="12895"/>
                  <a:pt x="1998" y="12481"/>
                  <a:pt x="1998" y="12000"/>
                </a:cubicBezTo>
                <a:cubicBezTo>
                  <a:pt x="1998" y="11519"/>
                  <a:pt x="2341" y="11105"/>
                  <a:pt x="2814" y="11017"/>
                </a:cubicBezTo>
                <a:lnTo>
                  <a:pt x="8372" y="9966"/>
                </a:lnTo>
                <a:cubicBezTo>
                  <a:pt x="9181" y="9813"/>
                  <a:pt x="9813" y="9181"/>
                  <a:pt x="9966" y="8372"/>
                </a:cubicBezTo>
                <a:close/>
                <a:moveTo>
                  <a:pt x="20000" y="2000"/>
                </a:moveTo>
                <a:lnTo>
                  <a:pt x="20000" y="6000"/>
                </a:lnTo>
                <a:moveTo>
                  <a:pt x="22000" y="4000"/>
                </a:moveTo>
                <a:lnTo>
                  <a:pt x="18000" y="4000"/>
                </a:lnTo>
                <a:moveTo>
                  <a:pt x="6000" y="20000"/>
                </a:moveTo>
                <a:cubicBezTo>
                  <a:pt x="6000" y="21105"/>
                  <a:pt x="5105" y="22000"/>
                  <a:pt x="4000" y="22000"/>
                </a:cubicBezTo>
                <a:cubicBezTo>
                  <a:pt x="2895" y="22000"/>
                  <a:pt x="2000" y="21105"/>
                  <a:pt x="2000" y="20000"/>
                </a:cubicBezTo>
                <a:cubicBezTo>
                  <a:pt x="2000" y="18895"/>
                  <a:pt x="2895" y="18000"/>
                  <a:pt x="4000" y="18000"/>
                </a:cubicBezTo>
                <a:cubicBezTo>
                  <a:pt x="5105" y="18000"/>
                  <a:pt x="6000" y="18895"/>
                  <a:pt x="6000" y="20000"/>
                </a:cubicBezTo>
                <a:close/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</p:sp>
      <p:sp>
        <p:nvSpPr>
          <p:cNvPr id="239" name="slot.legend.1.icon"/>
          <p:cNvSpPr/>
          <p:nvPr/>
        </p:nvSpPr>
        <p:spPr>
          <a:xfrm>
            <a:off x="8141807" y="235419"/>
            <a:ext cx="140542" cy="14054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6000"/>
                </a:moveTo>
                <a:cubicBezTo>
                  <a:pt x="14041" y="6078"/>
                  <a:pt x="17014" y="5088"/>
                  <a:pt x="19400" y="3200"/>
                </a:cubicBezTo>
                <a:cubicBezTo>
                  <a:pt x="19703" y="2973"/>
                  <a:pt x="20108" y="2936"/>
                  <a:pt x="20447" y="3106"/>
                </a:cubicBezTo>
                <a:cubicBezTo>
                  <a:pt x="20786" y="3275"/>
                  <a:pt x="21000" y="3621"/>
                  <a:pt x="21000" y="4000"/>
                </a:cubicBezTo>
                <a:lnTo>
                  <a:pt x="21000" y="16000"/>
                </a:lnTo>
                <a:cubicBezTo>
                  <a:pt x="21000" y="16379"/>
                  <a:pt x="20786" y="16725"/>
                  <a:pt x="20447" y="16894"/>
                </a:cubicBezTo>
                <a:cubicBezTo>
                  <a:pt x="20108" y="17064"/>
                  <a:pt x="19703" y="17027"/>
                  <a:pt x="19400" y="16800"/>
                </a:cubicBezTo>
                <a:cubicBezTo>
                  <a:pt x="17014" y="14912"/>
                  <a:pt x="14041" y="13922"/>
                  <a:pt x="11000" y="14000"/>
                </a:cubicBezTo>
                <a:lnTo>
                  <a:pt x="5000" y="14000"/>
                </a:lnTo>
                <a:cubicBezTo>
                  <a:pt x="3895" y="14000"/>
                  <a:pt x="3000" y="13105"/>
                  <a:pt x="3000" y="12000"/>
                </a:cubicBezTo>
                <a:lnTo>
                  <a:pt x="3000" y="8000"/>
                </a:lnTo>
                <a:cubicBezTo>
                  <a:pt x="3000" y="6895"/>
                  <a:pt x="3895" y="6000"/>
                  <a:pt x="5000" y="6000"/>
                </a:cubicBezTo>
                <a:close/>
                <a:moveTo>
                  <a:pt x="6000" y="14000"/>
                </a:moveTo>
                <a:cubicBezTo>
                  <a:pt x="6000" y="16596"/>
                  <a:pt x="6842" y="19123"/>
                  <a:pt x="8400" y="21200"/>
                </a:cubicBezTo>
                <a:cubicBezTo>
                  <a:pt x="9063" y="22084"/>
                  <a:pt x="10316" y="22263"/>
                  <a:pt x="11200" y="21600"/>
                </a:cubicBezTo>
                <a:cubicBezTo>
                  <a:pt x="12084" y="20937"/>
                  <a:pt x="12263" y="19684"/>
                  <a:pt x="11600" y="18800"/>
                </a:cubicBezTo>
                <a:cubicBezTo>
                  <a:pt x="10561" y="17415"/>
                  <a:pt x="10000" y="15731"/>
                  <a:pt x="10000" y="14000"/>
                </a:cubicBezTo>
                <a:moveTo>
                  <a:pt x="8000" y="6000"/>
                </a:moveTo>
                <a:lnTo>
                  <a:pt x="8000" y="14000"/>
                </a:lnTo>
              </a:path>
            </a:pathLst>
          </a:custGeom>
          <a:noFill/>
          <a:ln w="11430" cap="rnd">
            <a:solidFill>
              <a:schemeClr val="bg1"/>
            </a:solidFill>
            <a:round/>
          </a:ln>
          <a:effectLst/>
        </p:spPr>
      </p:sp>
      <p:sp>
        <p:nvSpPr>
          <p:cNvPr id="240" name="slot.legend.2.icon"/>
          <p:cNvSpPr/>
          <p:nvPr/>
        </p:nvSpPr>
        <p:spPr>
          <a:xfrm>
            <a:off x="8141824" y="535309"/>
            <a:ext cx="140467" cy="140467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000" y="18000"/>
                </a:moveTo>
                <a:lnTo>
                  <a:pt x="14000" y="6000"/>
                </a:lnTo>
                <a:cubicBezTo>
                  <a:pt x="14000" y="4895"/>
                  <a:pt x="13105" y="4000"/>
                  <a:pt x="12000" y="4000"/>
                </a:cubicBezTo>
                <a:lnTo>
                  <a:pt x="4000" y="4000"/>
                </a:lnTo>
                <a:cubicBezTo>
                  <a:pt x="2895" y="4000"/>
                  <a:pt x="2000" y="4895"/>
                  <a:pt x="2000" y="6000"/>
                </a:cubicBezTo>
                <a:lnTo>
                  <a:pt x="2000" y="17000"/>
                </a:lnTo>
                <a:cubicBezTo>
                  <a:pt x="2000" y="17552"/>
                  <a:pt x="2448" y="18000"/>
                  <a:pt x="3000" y="18000"/>
                </a:cubicBezTo>
                <a:lnTo>
                  <a:pt x="5000" y="18000"/>
                </a:lnTo>
                <a:moveTo>
                  <a:pt x="15000" y="18000"/>
                </a:moveTo>
                <a:lnTo>
                  <a:pt x="9000" y="18000"/>
                </a:lnTo>
                <a:moveTo>
                  <a:pt x="19000" y="18000"/>
                </a:moveTo>
                <a:lnTo>
                  <a:pt x="21000" y="18000"/>
                </a:lnTo>
                <a:cubicBezTo>
                  <a:pt x="21552" y="18000"/>
                  <a:pt x="22000" y="17552"/>
                  <a:pt x="22000" y="17000"/>
                </a:cubicBezTo>
                <a:lnTo>
                  <a:pt x="22000" y="13350"/>
                </a:lnTo>
                <a:cubicBezTo>
                  <a:pt x="22000" y="13123"/>
                  <a:pt x="21922" y="12903"/>
                  <a:pt x="21780" y="12726"/>
                </a:cubicBezTo>
                <a:lnTo>
                  <a:pt x="18300" y="8376"/>
                </a:lnTo>
                <a:cubicBezTo>
                  <a:pt x="18111" y="8139"/>
                  <a:pt x="17824" y="8000"/>
                  <a:pt x="17520" y="8000"/>
                </a:cubicBezTo>
                <a:lnTo>
                  <a:pt x="14000" y="8000"/>
                </a:lnTo>
                <a:moveTo>
                  <a:pt x="19000" y="18000"/>
                </a:moveTo>
                <a:cubicBezTo>
                  <a:pt x="19000" y="19105"/>
                  <a:pt x="18105" y="20000"/>
                  <a:pt x="17000" y="20000"/>
                </a:cubicBezTo>
                <a:cubicBezTo>
                  <a:pt x="15895" y="20000"/>
                  <a:pt x="15000" y="19105"/>
                  <a:pt x="15000" y="18000"/>
                </a:cubicBezTo>
                <a:cubicBezTo>
                  <a:pt x="15000" y="16895"/>
                  <a:pt x="15895" y="16000"/>
                  <a:pt x="17000" y="16000"/>
                </a:cubicBezTo>
                <a:cubicBezTo>
                  <a:pt x="18105" y="16000"/>
                  <a:pt x="19000" y="16895"/>
                  <a:pt x="19000" y="18000"/>
                </a:cubicBezTo>
                <a:close/>
                <a:moveTo>
                  <a:pt x="9000" y="18000"/>
                </a:moveTo>
                <a:cubicBezTo>
                  <a:pt x="9000" y="19105"/>
                  <a:pt x="8105" y="20000"/>
                  <a:pt x="7000" y="20000"/>
                </a:cubicBezTo>
                <a:cubicBezTo>
                  <a:pt x="5895" y="20000"/>
                  <a:pt x="5000" y="19105"/>
                  <a:pt x="5000" y="18000"/>
                </a:cubicBezTo>
                <a:cubicBezTo>
                  <a:pt x="5000" y="16895"/>
                  <a:pt x="5895" y="16000"/>
                  <a:pt x="7000" y="16000"/>
                </a:cubicBezTo>
                <a:cubicBezTo>
                  <a:pt x="8105" y="16000"/>
                  <a:pt x="9000" y="16895"/>
                  <a:pt x="9000" y="18000"/>
                </a:cubicBezTo>
                <a:close/>
              </a:path>
            </a:pathLst>
          </a:custGeom>
          <a:noFill/>
          <a:ln w="11430" cap="rnd">
            <a:solidFill>
              <a:schemeClr val="bg1"/>
            </a:solidFill>
            <a:round/>
          </a:ln>
          <a:effectLst/>
        </p:spPr>
      </p:sp>
      <p:sp>
        <p:nvSpPr>
          <p:cNvPr id="241" name="slot.legend.3.icon"/>
          <p:cNvSpPr/>
          <p:nvPr/>
        </p:nvSpPr>
        <p:spPr>
          <a:xfrm>
            <a:off x="9088469" y="238854"/>
            <a:ext cx="140468" cy="1404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21000"/>
                </a:moveTo>
                <a:lnTo>
                  <a:pt x="16660" y="16660"/>
                </a:lnTo>
                <a:moveTo>
                  <a:pt x="19000" y="11000"/>
                </a:moveTo>
                <a:cubicBezTo>
                  <a:pt x="19000" y="15418"/>
                  <a:pt x="15418" y="19000"/>
                  <a:pt x="11000" y="19000"/>
                </a:cubicBezTo>
                <a:cubicBezTo>
                  <a:pt x="6582" y="19000"/>
                  <a:pt x="3000" y="15418"/>
                  <a:pt x="3000" y="11000"/>
                </a:cubicBezTo>
                <a:cubicBezTo>
                  <a:pt x="3000" y="6582"/>
                  <a:pt x="6582" y="3000"/>
                  <a:pt x="11000" y="3000"/>
                </a:cubicBezTo>
                <a:cubicBezTo>
                  <a:pt x="15418" y="3000"/>
                  <a:pt x="19000" y="6582"/>
                  <a:pt x="19000" y="11000"/>
                </a:cubicBezTo>
                <a:close/>
              </a:path>
            </a:pathLst>
          </a:custGeom>
          <a:noFill/>
          <a:ln w="11430" cap="rnd">
            <a:solidFill>
              <a:schemeClr val="bg1"/>
            </a:solidFill>
            <a:round/>
          </a:ln>
          <a:effectLst/>
        </p:spPr>
      </p:sp>
      <p:sp>
        <p:nvSpPr>
          <p:cNvPr id="242" name="slot.legend.4.icon"/>
          <p:cNvSpPr/>
          <p:nvPr/>
        </p:nvSpPr>
        <p:spPr>
          <a:xfrm>
            <a:off x="9088416" y="535308"/>
            <a:ext cx="140467" cy="140467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11430" cap="rnd">
            <a:solidFill>
              <a:schemeClr val="bg1"/>
            </a:solidFill>
            <a:round/>
          </a:ln>
          <a:effectLst/>
        </p:spPr>
      </p:sp>
      <p:sp>
        <p:nvSpPr>
          <p:cNvPr id="243" name="slot.legend.5.icon"/>
          <p:cNvSpPr/>
          <p:nvPr/>
        </p:nvSpPr>
        <p:spPr>
          <a:xfrm>
            <a:off x="9983242" y="238853"/>
            <a:ext cx="140467" cy="140467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3000"/>
                </a:moveTo>
                <a:lnTo>
                  <a:pt x="3000" y="19000"/>
                </a:lnTo>
                <a:cubicBezTo>
                  <a:pt x="3000" y="20105"/>
                  <a:pt x="3895" y="21000"/>
                  <a:pt x="5000" y="21000"/>
                </a:cubicBezTo>
                <a:lnTo>
                  <a:pt x="21000" y="21000"/>
                </a:lnTo>
                <a:moveTo>
                  <a:pt x="18000" y="17000"/>
                </a:moveTo>
                <a:lnTo>
                  <a:pt x="18000" y="9000"/>
                </a:lnTo>
                <a:moveTo>
                  <a:pt x="13000" y="17000"/>
                </a:moveTo>
                <a:lnTo>
                  <a:pt x="13000" y="5000"/>
                </a:lnTo>
                <a:moveTo>
                  <a:pt x="8000" y="17000"/>
                </a:moveTo>
                <a:lnTo>
                  <a:pt x="8000" y="14000"/>
                </a:lnTo>
              </a:path>
            </a:pathLst>
          </a:custGeom>
          <a:noFill/>
          <a:ln w="11430" cap="rnd">
            <a:solidFill>
              <a:schemeClr val="bg1"/>
            </a:solidFill>
            <a:round/>
          </a:ln>
          <a:effectLst/>
        </p:spPr>
      </p:sp>
      <p:sp>
        <p:nvSpPr>
          <p:cNvPr id="244" name="slot.legend.6.icon"/>
          <p:cNvSpPr/>
          <p:nvPr/>
        </p:nvSpPr>
        <p:spPr>
          <a:xfrm>
            <a:off x="9983129" y="535403"/>
            <a:ext cx="140542" cy="14054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14000"/>
                </a:moveTo>
                <a:lnTo>
                  <a:pt x="6000" y="14000"/>
                </a:lnTo>
                <a:cubicBezTo>
                  <a:pt x="7105" y="14000"/>
                  <a:pt x="8000" y="14895"/>
                  <a:pt x="8000" y="16000"/>
                </a:cubicBezTo>
                <a:lnTo>
                  <a:pt x="8000" y="19000"/>
                </a:lnTo>
                <a:cubicBezTo>
                  <a:pt x="8000" y="20105"/>
                  <a:pt x="7105" y="21000"/>
                  <a:pt x="6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12000"/>
                </a:lnTo>
                <a:cubicBezTo>
                  <a:pt x="3000" y="7029"/>
                  <a:pt x="7029" y="3000"/>
                  <a:pt x="12000" y="3000"/>
                </a:cubicBezTo>
                <a:cubicBezTo>
                  <a:pt x="16971" y="3000"/>
                  <a:pt x="21000" y="7029"/>
                  <a:pt x="21000" y="12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8000" y="21000"/>
                </a:lnTo>
                <a:cubicBezTo>
                  <a:pt x="16895" y="21000"/>
                  <a:pt x="16000" y="20105"/>
                  <a:pt x="16000" y="19000"/>
                </a:cubicBezTo>
                <a:lnTo>
                  <a:pt x="16000" y="16000"/>
                </a:lnTo>
                <a:cubicBezTo>
                  <a:pt x="16000" y="14895"/>
                  <a:pt x="16895" y="14000"/>
                  <a:pt x="18000" y="14000"/>
                </a:cubicBezTo>
                <a:lnTo>
                  <a:pt x="21000" y="14000"/>
                </a:lnTo>
              </a:path>
            </a:pathLst>
          </a:custGeom>
          <a:noFill/>
          <a:ln w="1143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</p:sp>
      <p:sp>
        <p:nvSpPr>
          <p:cNvPr id="245" name="slot.legend.7.icon"/>
          <p:cNvSpPr/>
          <p:nvPr/>
        </p:nvSpPr>
        <p:spPr>
          <a:xfrm>
            <a:off x="10708009" y="238854"/>
            <a:ext cx="140468" cy="1404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744" y="17736"/>
                </a:moveTo>
                <a:cubicBezTo>
                  <a:pt x="12915" y="20477"/>
                  <a:pt x="10264" y="22250"/>
                  <a:pt x="7414" y="21970"/>
                </a:cubicBezTo>
                <a:cubicBezTo>
                  <a:pt x="4564" y="21690"/>
                  <a:pt x="2310" y="19436"/>
                  <a:pt x="2030" y="16586"/>
                </a:cubicBezTo>
                <a:cubicBezTo>
                  <a:pt x="1750" y="13736"/>
                  <a:pt x="3523" y="11085"/>
                  <a:pt x="6264" y="10256"/>
                </a:cubicBezTo>
                <a:moveTo>
                  <a:pt x="15000" y="6000"/>
                </a:moveTo>
                <a:lnTo>
                  <a:pt x="16000" y="6000"/>
                </a:lnTo>
                <a:lnTo>
                  <a:pt x="16000" y="10000"/>
                </a:lnTo>
                <a:moveTo>
                  <a:pt x="6134" y="14768"/>
                </a:moveTo>
                <a:lnTo>
                  <a:pt x="7000" y="14268"/>
                </a:lnTo>
                <a:lnTo>
                  <a:pt x="9000" y="17732"/>
                </a:lnTo>
                <a:moveTo>
                  <a:pt x="22000" y="8000"/>
                </a:moveTo>
                <a:cubicBezTo>
                  <a:pt x="22000" y="11314"/>
                  <a:pt x="19314" y="14000"/>
                  <a:pt x="16000" y="14000"/>
                </a:cubicBezTo>
                <a:cubicBezTo>
                  <a:pt x="12686" y="14000"/>
                  <a:pt x="10000" y="11314"/>
                  <a:pt x="10000" y="8000"/>
                </a:cubicBezTo>
                <a:cubicBezTo>
                  <a:pt x="10000" y="4686"/>
                  <a:pt x="12686" y="2000"/>
                  <a:pt x="16000" y="2000"/>
                </a:cubicBezTo>
                <a:cubicBezTo>
                  <a:pt x="19314" y="2000"/>
                  <a:pt x="22000" y="4686"/>
                  <a:pt x="22000" y="8000"/>
                </a:cubicBezTo>
                <a:close/>
              </a:path>
            </a:pathLst>
          </a:custGeom>
          <a:noFill/>
          <a:ln w="11430" cap="rnd">
            <a:solidFill>
              <a:schemeClr val="bg1"/>
            </a:solidFill>
            <a:round/>
          </a:ln>
          <a:effectLst/>
        </p:spPr>
      </p:sp>
      <p:sp>
        <p:nvSpPr>
          <p:cNvPr id="246" name="slot.legend.8.icon"/>
          <p:cNvSpPr/>
          <p:nvPr/>
        </p:nvSpPr>
        <p:spPr>
          <a:xfrm>
            <a:off x="10707988" y="535308"/>
            <a:ext cx="140467" cy="140467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11430" cap="rnd">
            <a:solidFill>
              <a:schemeClr val="bg1"/>
            </a:solidFill>
            <a:round/>
          </a:ln>
          <a:effectLst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hub-and-spoke:half-wheel-layered-base">
    <p:spTree>
      <p:nvGrpSpPr>
        <p:cNvPr id="1" name=""/>
        <p:cNvGrpSpPr/>
        <p:nvPr/>
      </p:nvGrpSpPr>
      <p:grpSpPr/>
      <p:sp>
        <p:nvSpPr>
          <p:cNvPr id="2" name="slot.title"/>
          <p:cNvSpPr txBox="1"/>
          <p:nvPr/>
        </p:nvSpPr>
        <p:spPr>
          <a:xfrm>
            <a:off x="457200" y="329184"/>
            <a:ext cx="11338560" cy="502920"/>
          </a:xfrm>
          <a:prstGeom prst="rect">
            <a:avLst/>
          </a:prstGeom>
          <a:effectLst/>
        </p:spPr>
        <p:txBody>
          <a:bodyPr anchorCtr="0" anchor="ctr" bIns="45700" lIns="91425" spcFirstLastPara="1" rIns="91425" wrap="square" tIns="4570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One governed data core</a:t>
            </a:r>
            <a:r>
              <a:rPr lang="en-US" sz="2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now serves all five planning teams</a:t>
            </a:r>
            <a:endParaRPr lang="en-US" sz="2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truct.fan"/>
          <p:cNvSpPr/>
          <p:nvPr/>
        </p:nvSpPr>
        <p:spPr>
          <a:xfrm>
            <a:off x="1805939" y="1161288"/>
            <a:ext cx="8540496" cy="2450592"/>
          </a:xfrm>
          <a:custGeom>
            <a:avLst/>
            <a:gdLst/>
            <a:ahLst/>
            <a:cxnLst/>
            <a:rect l="l" t="t" r="r" b="b"/>
            <a:pathLst>
              <a:path w="8540496" h="2450592">
                <a:moveTo>
                  <a:pt x="0" y="2450592"/>
                </a:moveTo>
                <a:arcTo wR="4270248" hR="2450592" stAng="10800000" swAng="10800000"/>
                <a:close/>
              </a:path>
            </a:pathLst>
          </a:custGeom>
          <a:solidFill>
            <a:schemeClr val="accent1">
              <a:lumMod val="10000"/>
              <a:lumOff val="90000"/>
            </a:schemeClr>
          </a:solidFill>
          <a:ln>
            <a:noFill/>
          </a:ln>
          <a:effectLst/>
        </p:spPr>
        <p:txBody>
          <a:bodyPr anchorCtr="0" anchor="ctr" bIns="40775" lIns="81600" spcFirstLastPara="1" rIns="81600" wrap="square" tIns="40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b="0" i="0" sz="11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struct.ring.outer"/>
          <p:cNvSpPr/>
          <p:nvPr/>
        </p:nvSpPr>
        <p:spPr>
          <a:xfrm>
            <a:off x="4658868" y="2194560"/>
            <a:ext cx="2834640" cy="1417320"/>
          </a:xfrm>
          <a:custGeom>
            <a:avLst/>
            <a:gdLst/>
            <a:ahLst/>
            <a:cxnLst/>
            <a:rect l="l" t="t" r="r" b="b"/>
            <a:pathLst>
              <a:path w="2834640" h="1417320">
                <a:moveTo>
                  <a:pt x="0" y="1417320"/>
                </a:moveTo>
                <a:arcTo wR="1417320" hR="1417320" stAng="10800000" swAng="10800000"/>
                <a:lnTo>
                  <a:pt x="2514600" y="1417320"/>
                </a:lnTo>
                <a:arcTo wR="1097280" hR="1097280" stAng="0" swAng="-10800000"/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anchorCtr="0" anchor="ctr" bIns="40775" lIns="81600" spcFirstLastPara="1" rIns="81600" wrap="square" tIns="40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b="0" i="0" sz="13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struct.base.1"/>
          <p:cNvSpPr/>
          <p:nvPr/>
        </p:nvSpPr>
        <p:spPr>
          <a:xfrm>
            <a:off x="1700784" y="5358384"/>
            <a:ext cx="4197096" cy="932688"/>
          </a:xfrm>
          <a:prstGeom prst="roundRect">
            <a:avLst>
              <a:gd fmla="val 16667" name="adj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anchorCtr="0" anchor="ctr" bIns="40775" lIns="81600" spcFirstLastPara="1" rIns="81600" wrap="square" tIns="40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b="0" i="0" sz="11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struct.base.2"/>
          <p:cNvSpPr/>
          <p:nvPr/>
        </p:nvSpPr>
        <p:spPr>
          <a:xfrm>
            <a:off x="6236208" y="5358384"/>
            <a:ext cx="4197096" cy="932688"/>
          </a:xfrm>
          <a:prstGeom prst="roundRect">
            <a:avLst>
              <a:gd fmla="val 16667" name="adj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anchorCtr="0" anchor="ctr" bIns="40775" lIns="81600" spcFirstLastPara="1" rIns="81600" wrap="square" tIns="40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b="0" i="0" sz="11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truct.ring.inner"/>
          <p:cNvSpPr/>
          <p:nvPr/>
        </p:nvSpPr>
        <p:spPr>
          <a:xfrm>
            <a:off x="4978907" y="2514600"/>
            <a:ext cx="2194560" cy="1097280"/>
          </a:xfrm>
          <a:custGeom>
            <a:avLst/>
            <a:gdLst/>
            <a:ahLst/>
            <a:cxnLst/>
            <a:rect l="l" t="t" r="r" b="b"/>
            <a:pathLst>
              <a:path w="2194560" h="1097280">
                <a:moveTo>
                  <a:pt x="0" y="1097280"/>
                </a:moveTo>
                <a:arcTo wR="1097280" hR="1097280" stAng="10800000" swAng="10800000"/>
                <a:lnTo>
                  <a:pt x="1993393" y="1097280"/>
                </a:lnTo>
                <a:arcTo wR="896113" hR="896113" stAng="0" swAng="-10800000"/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anchorCtr="0" anchor="ctr" bIns="40775" lIns="81600" spcFirstLastPara="1" rIns="81600" wrap="square" tIns="40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b="0" i="0" sz="11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struct.hub"/>
          <p:cNvSpPr/>
          <p:nvPr/>
        </p:nvSpPr>
        <p:spPr>
          <a:xfrm>
            <a:off x="5180075" y="2715768"/>
            <a:ext cx="1792224" cy="896112"/>
          </a:xfrm>
          <a:custGeom>
            <a:avLst/>
            <a:gdLst/>
            <a:ahLst/>
            <a:cxnLst/>
            <a:rect l="l" t="t" r="r" b="b"/>
            <a:pathLst>
              <a:path w="1792224" h="896112">
                <a:moveTo>
                  <a:pt x="0" y="896112"/>
                </a:moveTo>
                <a:arcTo wR="896112" hR="896112" stAng="10800000" swAng="10800000"/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Ctr="0" anchor="ctr" bIns="40775" lIns="81600" spcFirstLastPara="1" rIns="81600" wrap="square" tIns="40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b="0" i="0" sz="11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slot.hub"/>
          <p:cNvSpPr txBox="1"/>
          <p:nvPr/>
        </p:nvSpPr>
        <p:spPr>
          <a:xfrm>
            <a:off x="5390388" y="2971800"/>
            <a:ext cx="1371600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b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Shared data core</a:t>
            </a:r>
            <a:endParaRPr lang="en-US" sz="16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0" name="struct.spoke.1"/>
          <p:cNvCxnSpPr/>
          <p:nvPr/>
        </p:nvCxnSpPr>
        <p:spPr>
          <a:xfrm flipH="1" flipV="1">
            <a:off x="2621485" y="2171458"/>
            <a:ext cx="2146537" cy="894988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  <a:effectLst/>
        </p:spPr>
      </p:cxnSp>
      <p:cxnSp>
        <p:nvCxnSpPr>
          <p:cNvPr id="11" name="struct.spoke.2"/>
          <p:cNvCxnSpPr/>
          <p:nvPr/>
        </p:nvCxnSpPr>
        <p:spPr>
          <a:xfrm flipH="1" flipV="1">
            <a:off x="4756609" y="1281229"/>
            <a:ext cx="621272" cy="1097296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  <a:effectLst/>
        </p:spPr>
      </p:cxnSp>
      <p:cxnSp>
        <p:nvCxnSpPr>
          <p:cNvPr id="12" name="struct.spoke.3"/>
          <p:cNvCxnSpPr/>
          <p:nvPr/>
        </p:nvCxnSpPr>
        <p:spPr>
          <a:xfrm flipV="1">
            <a:off x="6774495" y="1281229"/>
            <a:ext cx="621272" cy="1097296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  <a:effectLst/>
        </p:spPr>
      </p:cxnSp>
      <p:cxnSp>
        <p:nvCxnSpPr>
          <p:cNvPr id="13" name="struct.spoke.4"/>
          <p:cNvCxnSpPr/>
          <p:nvPr/>
        </p:nvCxnSpPr>
        <p:spPr>
          <a:xfrm flipV="1">
            <a:off x="7384354" y="2171458"/>
            <a:ext cx="2146537" cy="894988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14" name="slot.sector.1.icon"/>
          <p:cNvSpPr/>
          <p:nvPr/>
        </p:nvSpPr>
        <p:spPr>
          <a:xfrm>
            <a:off x="3059579" y="2716028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3000"/>
                </a:moveTo>
                <a:lnTo>
                  <a:pt x="3000" y="19000"/>
                </a:lnTo>
                <a:cubicBezTo>
                  <a:pt x="3000" y="20105"/>
                  <a:pt x="3895" y="21000"/>
                  <a:pt x="5000" y="21000"/>
                </a:cubicBezTo>
                <a:lnTo>
                  <a:pt x="21000" y="21000"/>
                </a:lnTo>
                <a:moveTo>
                  <a:pt x="19000" y="9000"/>
                </a:moveTo>
                <a:lnTo>
                  <a:pt x="14000" y="14000"/>
                </a:lnTo>
                <a:lnTo>
                  <a:pt x="10000" y="10000"/>
                </a:lnTo>
                <a:lnTo>
                  <a:pt x="7000" y="13000"/>
                </a:lnTo>
              </a:path>
            </a:pathLst>
          </a:custGeom>
          <a:noFill/>
          <a:ln w="29210" cap="rnd">
            <a:solidFill>
              <a:schemeClr val="accent1"/>
            </a:solidFill>
            <a:round/>
          </a:ln>
          <a:effectLst/>
        </p:spPr>
      </p:sp>
      <p:sp>
        <p:nvSpPr>
          <p:cNvPr id="15" name="slot.sector.1.label"/>
          <p:cNvSpPr txBox="1"/>
          <p:nvPr/>
        </p:nvSpPr>
        <p:spPr>
          <a:xfrm>
            <a:off x="2666387" y="3109220"/>
            <a:ext cx="1133856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Demand planning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lot.sector.2.icon"/>
          <p:cNvSpPr/>
          <p:nvPr/>
        </p:nvSpPr>
        <p:spPr>
          <a:xfrm>
            <a:off x="3894461" y="1660064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586" y="2586"/>
                </a:moveTo>
                <a:cubicBezTo>
                  <a:pt x="12211" y="2211"/>
                  <a:pt x="11702" y="2000"/>
                  <a:pt x="11172" y="2000"/>
                </a:cubicBezTo>
                <a:lnTo>
                  <a:pt x="4000" y="2000"/>
                </a:lnTo>
                <a:cubicBezTo>
                  <a:pt x="2895" y="2000"/>
                  <a:pt x="2000" y="2895"/>
                  <a:pt x="2000" y="4000"/>
                </a:cubicBezTo>
                <a:lnTo>
                  <a:pt x="2000" y="11172"/>
                </a:lnTo>
                <a:cubicBezTo>
                  <a:pt x="2000" y="11702"/>
                  <a:pt x="2211" y="12211"/>
                  <a:pt x="2586" y="12586"/>
                </a:cubicBezTo>
                <a:lnTo>
                  <a:pt x="11290" y="21290"/>
                </a:lnTo>
                <a:cubicBezTo>
                  <a:pt x="12236" y="22230"/>
                  <a:pt x="13764" y="22230"/>
                  <a:pt x="14710" y="21290"/>
                </a:cubicBezTo>
                <a:lnTo>
                  <a:pt x="21290" y="14710"/>
                </a:lnTo>
                <a:cubicBezTo>
                  <a:pt x="22230" y="13764"/>
                  <a:pt x="22230" y="12236"/>
                  <a:pt x="21290" y="11290"/>
                </a:cubicBezTo>
                <a:close/>
              </a:path>
              <a:path w="24000" h="24000">
                <a:moveTo>
                  <a:pt x="8000" y="7500"/>
                </a:moveTo>
                <a:cubicBezTo>
                  <a:pt x="8000" y="7776"/>
                  <a:pt x="7776" y="8000"/>
                  <a:pt x="7500" y="8000"/>
                </a:cubicBezTo>
                <a:cubicBezTo>
                  <a:pt x="7224" y="8000"/>
                  <a:pt x="7000" y="7776"/>
                  <a:pt x="7000" y="7500"/>
                </a:cubicBezTo>
                <a:cubicBezTo>
                  <a:pt x="7000" y="7224"/>
                  <a:pt x="7224" y="7000"/>
                  <a:pt x="7500" y="7000"/>
                </a:cubicBezTo>
                <a:cubicBezTo>
                  <a:pt x="7776" y="7000"/>
                  <a:pt x="8000" y="7224"/>
                  <a:pt x="8000" y="7500"/>
                </a:cubicBezTo>
                <a:close/>
              </a:path>
            </a:pathLst>
          </a:custGeom>
          <a:solidFill>
            <a:schemeClr val="accent1"/>
          </a:solidFill>
          <a:ln w="29210" cap="rnd">
            <a:solidFill>
              <a:schemeClr val="accent1"/>
            </a:solidFill>
            <a:round/>
          </a:ln>
          <a:effectLst/>
        </p:spPr>
      </p:sp>
      <p:sp>
        <p:nvSpPr>
          <p:cNvPr id="17" name="slot.sector.2.label"/>
          <p:cNvSpPr txBox="1"/>
          <p:nvPr/>
        </p:nvSpPr>
        <p:spPr>
          <a:xfrm>
            <a:off x="3501269" y="2053256"/>
            <a:ext cx="1133856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Pricing analytics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lot.sector.3.icon"/>
          <p:cNvSpPr/>
          <p:nvPr/>
        </p:nvSpPr>
        <p:spPr>
          <a:xfrm>
            <a:off x="5902452" y="1334658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000" y="18000"/>
                </a:moveTo>
                <a:lnTo>
                  <a:pt x="14000" y="6000"/>
                </a:lnTo>
                <a:cubicBezTo>
                  <a:pt x="14000" y="4895"/>
                  <a:pt x="13105" y="4000"/>
                  <a:pt x="12000" y="4000"/>
                </a:cubicBezTo>
                <a:lnTo>
                  <a:pt x="4000" y="4000"/>
                </a:lnTo>
                <a:cubicBezTo>
                  <a:pt x="2895" y="4000"/>
                  <a:pt x="2000" y="4895"/>
                  <a:pt x="2000" y="6000"/>
                </a:cubicBezTo>
                <a:lnTo>
                  <a:pt x="2000" y="17000"/>
                </a:lnTo>
                <a:cubicBezTo>
                  <a:pt x="2000" y="17552"/>
                  <a:pt x="2448" y="18000"/>
                  <a:pt x="3000" y="18000"/>
                </a:cubicBezTo>
                <a:lnTo>
                  <a:pt x="5000" y="18000"/>
                </a:lnTo>
                <a:moveTo>
                  <a:pt x="15000" y="18000"/>
                </a:moveTo>
                <a:lnTo>
                  <a:pt x="9000" y="18000"/>
                </a:lnTo>
                <a:moveTo>
                  <a:pt x="19000" y="18000"/>
                </a:moveTo>
                <a:lnTo>
                  <a:pt x="21000" y="18000"/>
                </a:lnTo>
                <a:cubicBezTo>
                  <a:pt x="21552" y="18000"/>
                  <a:pt x="22000" y="17552"/>
                  <a:pt x="22000" y="17000"/>
                </a:cubicBezTo>
                <a:lnTo>
                  <a:pt x="22000" y="13350"/>
                </a:lnTo>
                <a:cubicBezTo>
                  <a:pt x="22000" y="13123"/>
                  <a:pt x="21922" y="12903"/>
                  <a:pt x="21780" y="12726"/>
                </a:cubicBezTo>
                <a:lnTo>
                  <a:pt x="18300" y="8376"/>
                </a:lnTo>
                <a:cubicBezTo>
                  <a:pt x="18111" y="8139"/>
                  <a:pt x="17824" y="8000"/>
                  <a:pt x="17520" y="8000"/>
                </a:cubicBezTo>
                <a:lnTo>
                  <a:pt x="14000" y="8000"/>
                </a:lnTo>
                <a:moveTo>
                  <a:pt x="19000" y="18000"/>
                </a:moveTo>
                <a:cubicBezTo>
                  <a:pt x="19000" y="19105"/>
                  <a:pt x="18105" y="20000"/>
                  <a:pt x="17000" y="20000"/>
                </a:cubicBezTo>
                <a:cubicBezTo>
                  <a:pt x="15895" y="20000"/>
                  <a:pt x="15000" y="19105"/>
                  <a:pt x="15000" y="18000"/>
                </a:cubicBezTo>
                <a:cubicBezTo>
                  <a:pt x="15000" y="16895"/>
                  <a:pt x="15895" y="16000"/>
                  <a:pt x="17000" y="16000"/>
                </a:cubicBezTo>
                <a:cubicBezTo>
                  <a:pt x="18105" y="16000"/>
                  <a:pt x="19000" y="16895"/>
                  <a:pt x="19000" y="18000"/>
                </a:cubicBezTo>
                <a:close/>
                <a:moveTo>
                  <a:pt x="9000" y="18000"/>
                </a:moveTo>
                <a:cubicBezTo>
                  <a:pt x="9000" y="19105"/>
                  <a:pt x="8105" y="20000"/>
                  <a:pt x="7000" y="20000"/>
                </a:cubicBezTo>
                <a:cubicBezTo>
                  <a:pt x="5895" y="20000"/>
                  <a:pt x="5000" y="19105"/>
                  <a:pt x="5000" y="18000"/>
                </a:cubicBezTo>
                <a:cubicBezTo>
                  <a:pt x="5000" y="16895"/>
                  <a:pt x="5895" y="16000"/>
                  <a:pt x="7000" y="16000"/>
                </a:cubicBezTo>
                <a:cubicBezTo>
                  <a:pt x="8105" y="16000"/>
                  <a:pt x="9000" y="16895"/>
                  <a:pt x="9000" y="18000"/>
                </a:cubicBezTo>
                <a:close/>
              </a:path>
            </a:pathLst>
          </a:custGeom>
          <a:noFill/>
          <a:ln w="29210" cap="rnd">
            <a:solidFill>
              <a:schemeClr val="accent1"/>
            </a:solidFill>
            <a:round/>
          </a:ln>
          <a:effectLst/>
        </p:spPr>
      </p:sp>
      <p:sp>
        <p:nvSpPr>
          <p:cNvPr id="19" name="slot.sector.3.label"/>
          <p:cNvSpPr txBox="1"/>
          <p:nvPr/>
        </p:nvSpPr>
        <p:spPr>
          <a:xfrm>
            <a:off x="5509260" y="1727850"/>
            <a:ext cx="1133856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Supply planning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lot.sector.4.icon"/>
          <p:cNvSpPr/>
          <p:nvPr/>
        </p:nvSpPr>
        <p:spPr>
          <a:xfrm>
            <a:off x="7910443" y="1660064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000"/>
                </a:moveTo>
                <a:lnTo>
                  <a:pt x="18000" y="2000"/>
                </a:lnTo>
                <a:cubicBezTo>
                  <a:pt x="19105" y="2000"/>
                  <a:pt x="20000" y="2895"/>
                  <a:pt x="20000" y="4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lnTo>
                  <a:pt x="6000" y="22000"/>
                </a:ln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close/>
                <a:moveTo>
                  <a:pt x="8000" y="6000"/>
                </a:moveTo>
                <a:lnTo>
                  <a:pt x="16000" y="6000"/>
                </a:lnTo>
                <a:moveTo>
                  <a:pt x="16000" y="14000"/>
                </a:moveTo>
                <a:lnTo>
                  <a:pt x="16000" y="18000"/>
                </a:lnTo>
                <a:moveTo>
                  <a:pt x="16000" y="10000"/>
                </a:moveTo>
                <a:lnTo>
                  <a:pt x="16010" y="10000"/>
                </a:lnTo>
                <a:moveTo>
                  <a:pt x="12000" y="10000"/>
                </a:moveTo>
                <a:lnTo>
                  <a:pt x="12010" y="10000"/>
                </a:lnTo>
                <a:moveTo>
                  <a:pt x="8000" y="10000"/>
                </a:moveTo>
                <a:lnTo>
                  <a:pt x="8010" y="10000"/>
                </a:lnTo>
                <a:moveTo>
                  <a:pt x="12000" y="14000"/>
                </a:moveTo>
                <a:lnTo>
                  <a:pt x="12010" y="14000"/>
                </a:lnTo>
                <a:moveTo>
                  <a:pt x="8000" y="14000"/>
                </a:moveTo>
                <a:lnTo>
                  <a:pt x="8010" y="14000"/>
                </a:lnTo>
                <a:moveTo>
                  <a:pt x="12000" y="18000"/>
                </a:moveTo>
                <a:lnTo>
                  <a:pt x="12010" y="18000"/>
                </a:lnTo>
                <a:moveTo>
                  <a:pt x="8000" y="18000"/>
                </a:moveTo>
                <a:lnTo>
                  <a:pt x="8010" y="18000"/>
                </a:lnTo>
              </a:path>
            </a:pathLst>
          </a:custGeom>
          <a:noFill/>
          <a:ln w="29210" cap="rnd">
            <a:solidFill>
              <a:schemeClr val="accent1"/>
            </a:solidFill>
            <a:round/>
          </a:ln>
          <a:effectLst/>
        </p:spPr>
      </p:sp>
      <p:sp>
        <p:nvSpPr>
          <p:cNvPr id="21" name="slot.sector.4.label"/>
          <p:cNvSpPr txBox="1"/>
          <p:nvPr/>
        </p:nvSpPr>
        <p:spPr>
          <a:xfrm>
            <a:off x="7517251" y="2053256"/>
            <a:ext cx="1133856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Finance reporting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lot.sector.5.icon"/>
          <p:cNvSpPr/>
          <p:nvPr/>
        </p:nvSpPr>
        <p:spPr>
          <a:xfrm>
            <a:off x="8745325" y="2716028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29210" cap="rnd">
            <a:solidFill>
              <a:schemeClr val="accent1"/>
            </a:solidFill>
            <a:round/>
          </a:ln>
          <a:effectLst/>
        </p:spPr>
      </p:sp>
      <p:sp>
        <p:nvSpPr>
          <p:cNvPr id="23" name="slot.sector.5.label"/>
          <p:cNvSpPr txBox="1"/>
          <p:nvPr/>
        </p:nvSpPr>
        <p:spPr>
          <a:xfrm>
            <a:off x="8352133" y="3109220"/>
            <a:ext cx="1133856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Customer insight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truct.card.1.tab"/>
          <p:cNvSpPr/>
          <p:nvPr/>
        </p:nvSpPr>
        <p:spPr>
          <a:xfrm>
            <a:off x="1700784" y="3822192"/>
            <a:ext cx="365760" cy="987552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25" name="struct.card.1"/>
          <p:cNvSpPr/>
          <p:nvPr/>
        </p:nvSpPr>
        <p:spPr>
          <a:xfrm>
            <a:off x="2103120" y="3822192"/>
            <a:ext cx="3794760" cy="987552"/>
          </a:xfrm>
          <a:prstGeom prst="roundRect">
            <a:avLst>
              <a:gd name="adj" fmla="val 46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26" name="slot.card.1.tab"/>
          <p:cNvSpPr/>
          <p:nvPr/>
        </p:nvSpPr>
        <p:spPr>
          <a:xfrm rot="-5400000">
            <a:off x="1453896" y="4178807"/>
            <a:ext cx="859536" cy="27432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Ingest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lot.card.1.item.1.icon"/>
          <p:cNvSpPr/>
          <p:nvPr/>
        </p:nvSpPr>
        <p:spPr>
          <a:xfrm>
            <a:off x="2476881" y="39502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sp>
        <p:nvSpPr>
          <p:cNvPr id="28" name="slot.card.1.item.1.label"/>
          <p:cNvSpPr txBox="1"/>
          <p:nvPr/>
        </p:nvSpPr>
        <p:spPr>
          <a:xfrm>
            <a:off x="2231136" y="4315968"/>
            <a:ext cx="802386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Batch loads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lot.card.1.item.2.icon"/>
          <p:cNvSpPr/>
          <p:nvPr/>
        </p:nvSpPr>
        <p:spPr>
          <a:xfrm>
            <a:off x="3388995" y="39502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lnTo>
                  <a:pt x="19520" y="12000"/>
                </a:lnTo>
                <a:cubicBezTo>
                  <a:pt x="18622" y="11998"/>
                  <a:pt x="17833" y="12595"/>
                  <a:pt x="17590" y="13460"/>
                </a:cubicBezTo>
                <a:lnTo>
                  <a:pt x="15240" y="21820"/>
                </a:lnTo>
                <a:cubicBezTo>
                  <a:pt x="15209" y="21927"/>
                  <a:pt x="15111" y="22000"/>
                  <a:pt x="15000" y="22000"/>
                </a:cubicBezTo>
                <a:cubicBezTo>
                  <a:pt x="14889" y="22000"/>
                  <a:pt x="14791" y="21927"/>
                  <a:pt x="14760" y="21820"/>
                </a:cubicBezTo>
                <a:lnTo>
                  <a:pt x="9240" y="2180"/>
                </a:lnTo>
                <a:cubicBezTo>
                  <a:pt x="9209" y="2073"/>
                  <a:pt x="9111" y="2000"/>
                  <a:pt x="9000" y="2000"/>
                </a:cubicBezTo>
                <a:cubicBezTo>
                  <a:pt x="8889" y="2000"/>
                  <a:pt x="8791" y="2073"/>
                  <a:pt x="8760" y="2180"/>
                </a:cubicBezTo>
                <a:lnTo>
                  <a:pt x="6410" y="10540"/>
                </a:lnTo>
                <a:cubicBezTo>
                  <a:pt x="6168" y="11401"/>
                  <a:pt x="5384" y="11997"/>
                  <a:pt x="4490" y="12000"/>
                </a:cubicBezTo>
                <a:lnTo>
                  <a:pt x="2000" y="12000"/>
                </a:ln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sp>
        <p:nvSpPr>
          <p:cNvPr id="30" name="slot.card.1.item.2.label"/>
          <p:cNvSpPr txBox="1"/>
          <p:nvPr/>
        </p:nvSpPr>
        <p:spPr>
          <a:xfrm>
            <a:off x="3143250" y="4315968"/>
            <a:ext cx="802386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Event streams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1" name="struct.card.1.rule.1"/>
          <p:cNvCxnSpPr/>
          <p:nvPr/>
        </p:nvCxnSpPr>
        <p:spPr>
          <a:xfrm>
            <a:off x="3088386" y="3968496"/>
            <a:ext cx="0" cy="694944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32" name="slot.card.1.item.3.icon"/>
          <p:cNvSpPr/>
          <p:nvPr/>
        </p:nvSpPr>
        <p:spPr>
          <a:xfrm>
            <a:off x="4301109" y="39502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000" y="5000"/>
                </a:moveTo>
                <a:lnTo>
                  <a:pt x="21000" y="5000"/>
                </a:lnTo>
                <a:moveTo>
                  <a:pt x="13000" y="12000"/>
                </a:moveTo>
                <a:lnTo>
                  <a:pt x="21000" y="12000"/>
                </a:lnTo>
                <a:moveTo>
                  <a:pt x="13000" y="19000"/>
                </a:moveTo>
                <a:lnTo>
                  <a:pt x="21000" y="19000"/>
                </a:lnTo>
                <a:moveTo>
                  <a:pt x="3000" y="17000"/>
                </a:moveTo>
                <a:lnTo>
                  <a:pt x="5000" y="19000"/>
                </a:lnTo>
                <a:lnTo>
                  <a:pt x="9000" y="15000"/>
                </a:lnTo>
                <a:moveTo>
                  <a:pt x="3000" y="7000"/>
                </a:moveTo>
                <a:lnTo>
                  <a:pt x="5000" y="9000"/>
                </a:lnTo>
                <a:lnTo>
                  <a:pt x="9000" y="5000"/>
                </a:ln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sp>
        <p:nvSpPr>
          <p:cNvPr id="33" name="slot.card.1.item.3.label"/>
          <p:cNvSpPr txBox="1"/>
          <p:nvPr/>
        </p:nvSpPr>
        <p:spPr>
          <a:xfrm>
            <a:off x="4055364" y="4315968"/>
            <a:ext cx="802386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Quality checks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4" name="struct.card.1.rule.2"/>
          <p:cNvCxnSpPr/>
          <p:nvPr/>
        </p:nvCxnSpPr>
        <p:spPr>
          <a:xfrm>
            <a:off x="4000500" y="3968496"/>
            <a:ext cx="0" cy="694944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35" name="slot.card.1.item.4.icon"/>
          <p:cNvSpPr/>
          <p:nvPr/>
        </p:nvSpPr>
        <p:spPr>
          <a:xfrm>
            <a:off x="5213223" y="39502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5000" y="6000"/>
                </a:moveTo>
                <a:cubicBezTo>
                  <a:pt x="10029" y="6000"/>
                  <a:pt x="6000" y="10029"/>
                  <a:pt x="6000" y="15000"/>
                </a:cubicBezTo>
                <a:lnTo>
                  <a:pt x="6000" y="3000"/>
                </a:lnTo>
                <a:moveTo>
                  <a:pt x="21000" y="6000"/>
                </a:moveTo>
                <a:cubicBezTo>
                  <a:pt x="21000" y="7657"/>
                  <a:pt x="19657" y="9000"/>
                  <a:pt x="18000" y="9000"/>
                </a:cubicBezTo>
                <a:cubicBezTo>
                  <a:pt x="16343" y="9000"/>
                  <a:pt x="15000" y="7657"/>
                  <a:pt x="15000" y="6000"/>
                </a:cubicBezTo>
                <a:cubicBezTo>
                  <a:pt x="15000" y="4343"/>
                  <a:pt x="16343" y="3000"/>
                  <a:pt x="18000" y="3000"/>
                </a:cubicBezTo>
                <a:cubicBezTo>
                  <a:pt x="19657" y="3000"/>
                  <a:pt x="21000" y="4343"/>
                  <a:pt x="21000" y="6000"/>
                </a:cubicBezTo>
                <a:close/>
                <a:moveTo>
                  <a:pt x="9000" y="18000"/>
                </a:moveTo>
                <a:cubicBezTo>
                  <a:pt x="9000" y="19657"/>
                  <a:pt x="7657" y="21000"/>
                  <a:pt x="6000" y="21000"/>
                </a:cubicBezTo>
                <a:cubicBezTo>
                  <a:pt x="4343" y="21000"/>
                  <a:pt x="3000" y="19657"/>
                  <a:pt x="3000" y="18000"/>
                </a:cubicBezTo>
                <a:cubicBezTo>
                  <a:pt x="3000" y="16343"/>
                  <a:pt x="4343" y="15000"/>
                  <a:pt x="6000" y="15000"/>
                </a:cubicBezTo>
                <a:cubicBezTo>
                  <a:pt x="7657" y="15000"/>
                  <a:pt x="9000" y="16343"/>
                  <a:pt x="9000" y="18000"/>
                </a:cubicBezTo>
                <a:close/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sp>
        <p:nvSpPr>
          <p:cNvPr id="36" name="slot.card.1.item.4.label"/>
          <p:cNvSpPr txBox="1"/>
          <p:nvPr/>
        </p:nvSpPr>
        <p:spPr>
          <a:xfrm>
            <a:off x="4967478" y="4315968"/>
            <a:ext cx="802386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Lineage tracking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7" name="struct.card.1.rule.3"/>
          <p:cNvCxnSpPr/>
          <p:nvPr/>
        </p:nvCxnSpPr>
        <p:spPr>
          <a:xfrm>
            <a:off x="4912614" y="3968496"/>
            <a:ext cx="0" cy="694944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38" name="struct.card.2.tab"/>
          <p:cNvSpPr/>
          <p:nvPr/>
        </p:nvSpPr>
        <p:spPr>
          <a:xfrm>
            <a:off x="10067544" y="3822192"/>
            <a:ext cx="365760" cy="987552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39" name="struct.card.2"/>
          <p:cNvSpPr/>
          <p:nvPr/>
        </p:nvSpPr>
        <p:spPr>
          <a:xfrm>
            <a:off x="6236208" y="3822192"/>
            <a:ext cx="3794760" cy="987552"/>
          </a:xfrm>
          <a:prstGeom prst="roundRect">
            <a:avLst>
              <a:gd name="adj" fmla="val 46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40" name="slot.card.2.tab"/>
          <p:cNvSpPr/>
          <p:nvPr/>
        </p:nvSpPr>
        <p:spPr>
          <a:xfrm flipH="1" rot="5400000">
            <a:off x="9820655" y="4178807"/>
            <a:ext cx="859536" cy="27432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Govern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lot.card.2.item.1.icon"/>
          <p:cNvSpPr/>
          <p:nvPr/>
        </p:nvSpPr>
        <p:spPr>
          <a:xfrm>
            <a:off x="6609969" y="39502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11000"/>
                </a:moveTo>
                <a:lnTo>
                  <a:pt x="19000" y="11000"/>
                </a:lnTo>
                <a:cubicBezTo>
                  <a:pt x="20105" y="11000"/>
                  <a:pt x="21000" y="11895"/>
                  <a:pt x="21000" y="13000"/>
                </a:cubicBezTo>
                <a:lnTo>
                  <a:pt x="21000" y="20000"/>
                </a:lnTo>
                <a:cubicBezTo>
                  <a:pt x="21000" y="21105"/>
                  <a:pt x="20105" y="22000"/>
                  <a:pt x="19000" y="22000"/>
                </a:cubicBezTo>
                <a:lnTo>
                  <a:pt x="5000" y="22000"/>
                </a:lnTo>
                <a:cubicBezTo>
                  <a:pt x="3895" y="22000"/>
                  <a:pt x="3000" y="21105"/>
                  <a:pt x="3000" y="20000"/>
                </a:cubicBezTo>
                <a:lnTo>
                  <a:pt x="3000" y="13000"/>
                </a:lnTo>
                <a:cubicBezTo>
                  <a:pt x="3000" y="11895"/>
                  <a:pt x="3895" y="11000"/>
                  <a:pt x="5000" y="11000"/>
                </a:cubicBezTo>
                <a:close/>
                <a:moveTo>
                  <a:pt x="7000" y="11000"/>
                </a:moveTo>
                <a:lnTo>
                  <a:pt x="7000" y="7000"/>
                </a:lnTo>
                <a:cubicBezTo>
                  <a:pt x="7000" y="4239"/>
                  <a:pt x="9239" y="2000"/>
                  <a:pt x="12000" y="2000"/>
                </a:cubicBezTo>
                <a:cubicBezTo>
                  <a:pt x="14761" y="2000"/>
                  <a:pt x="17000" y="4239"/>
                  <a:pt x="17000" y="7000"/>
                </a:cubicBezTo>
                <a:lnTo>
                  <a:pt x="17000" y="11000"/>
                </a:ln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sp>
        <p:nvSpPr>
          <p:cNvPr id="42" name="slot.card.2.item.1.label"/>
          <p:cNvSpPr txBox="1"/>
          <p:nvPr/>
        </p:nvSpPr>
        <p:spPr>
          <a:xfrm>
            <a:off x="6364224" y="4315968"/>
            <a:ext cx="802386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Access control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slot.card.2.item.2.icon"/>
          <p:cNvSpPr/>
          <p:nvPr/>
        </p:nvSpPr>
        <p:spPr>
          <a:xfrm>
            <a:off x="7522083" y="39502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sp>
        <p:nvSpPr>
          <p:cNvPr id="44" name="slot.card.2.item.2.label"/>
          <p:cNvSpPr txBox="1"/>
          <p:nvPr/>
        </p:nvSpPr>
        <p:spPr>
          <a:xfrm>
            <a:off x="7276338" y="4315968"/>
            <a:ext cx="802386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Privacy rules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5" name="struct.card.2.rule.1"/>
          <p:cNvCxnSpPr/>
          <p:nvPr/>
        </p:nvCxnSpPr>
        <p:spPr>
          <a:xfrm>
            <a:off x="7221474" y="3968496"/>
            <a:ext cx="0" cy="694944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46" name="slot.card.2.item.3.icon"/>
          <p:cNvSpPr/>
          <p:nvPr/>
        </p:nvSpPr>
        <p:spPr>
          <a:xfrm>
            <a:off x="8434197" y="39502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4000" y="3000"/>
                </a:moveTo>
                <a:lnTo>
                  <a:pt x="20000" y="3000"/>
                </a:lnTo>
                <a:cubicBezTo>
                  <a:pt x="21105" y="3000"/>
                  <a:pt x="22000" y="3895"/>
                  <a:pt x="22000" y="5000"/>
                </a:cubicBezTo>
                <a:lnTo>
                  <a:pt x="22000" y="15000"/>
                </a:lnTo>
                <a:cubicBezTo>
                  <a:pt x="22000" y="16105"/>
                  <a:pt x="21105" y="17000"/>
                  <a:pt x="20000" y="17000"/>
                </a:cubicBezTo>
                <a:lnTo>
                  <a:pt x="4000" y="17000"/>
                </a:lnTo>
                <a:cubicBezTo>
                  <a:pt x="2895" y="17000"/>
                  <a:pt x="2000" y="16105"/>
                  <a:pt x="2000" y="15000"/>
                </a:cubicBezTo>
                <a:lnTo>
                  <a:pt x="2000" y="5000"/>
                </a:lnTo>
                <a:cubicBezTo>
                  <a:pt x="2000" y="3895"/>
                  <a:pt x="2895" y="3000"/>
                  <a:pt x="4000" y="3000"/>
                </a:cubicBezTo>
                <a:close/>
                <a:moveTo>
                  <a:pt x="8000" y="21000"/>
                </a:moveTo>
                <a:lnTo>
                  <a:pt x="16000" y="21000"/>
                </a:lnTo>
                <a:moveTo>
                  <a:pt x="12000" y="17000"/>
                </a:moveTo>
                <a:lnTo>
                  <a:pt x="12000" y="21000"/>
                </a:ln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sp>
        <p:nvSpPr>
          <p:cNvPr id="47" name="slot.card.2.item.3.label"/>
          <p:cNvSpPr txBox="1"/>
          <p:nvPr/>
        </p:nvSpPr>
        <p:spPr>
          <a:xfrm>
            <a:off x="8188452" y="4315968"/>
            <a:ext cx="802386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Usage monitoring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8" name="struct.card.2.rule.2"/>
          <p:cNvCxnSpPr/>
          <p:nvPr/>
        </p:nvCxnSpPr>
        <p:spPr>
          <a:xfrm>
            <a:off x="8133588" y="3968496"/>
            <a:ext cx="0" cy="694944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49" name="slot.card.2.item.4.icon"/>
          <p:cNvSpPr/>
          <p:nvPr/>
        </p:nvSpPr>
        <p:spPr>
          <a:xfrm>
            <a:off x="9346311" y="39502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5000"/>
                </a:moveTo>
                <a:lnTo>
                  <a:pt x="12000" y="21000"/>
                </a:lnTo>
                <a:moveTo>
                  <a:pt x="20001" y="19000"/>
                </a:moveTo>
                <a:cubicBezTo>
                  <a:pt x="21105" y="18999"/>
                  <a:pt x="22000" y="18104"/>
                  <a:pt x="22000" y="17000"/>
                </a:cubicBezTo>
                <a:lnTo>
                  <a:pt x="22000" y="5000"/>
                </a:lnTo>
                <a:cubicBezTo>
                  <a:pt x="22000" y="3896"/>
                  <a:pt x="21105" y="3001"/>
                  <a:pt x="20001" y="3000"/>
                </a:cubicBezTo>
                <a:lnTo>
                  <a:pt x="16000" y="3002"/>
                </a:lnTo>
                <a:cubicBezTo>
                  <a:pt x="14427" y="3002"/>
                  <a:pt x="12945" y="3742"/>
                  <a:pt x="12000" y="5000"/>
                </a:cubicBezTo>
                <a:cubicBezTo>
                  <a:pt x="11056" y="3741"/>
                  <a:pt x="9574" y="3000"/>
                  <a:pt x="8000" y="3000"/>
                </a:cubicBezTo>
                <a:lnTo>
                  <a:pt x="4000" y="3000"/>
                </a:lnTo>
                <a:cubicBezTo>
                  <a:pt x="2895" y="3000"/>
                  <a:pt x="2000" y="3895"/>
                  <a:pt x="2000" y="5000"/>
                </a:cubicBezTo>
                <a:lnTo>
                  <a:pt x="2000" y="17000"/>
                </a:lnTo>
                <a:cubicBezTo>
                  <a:pt x="2000" y="18104"/>
                  <a:pt x="2895" y="18999"/>
                  <a:pt x="3999" y="19000"/>
                </a:cubicBezTo>
                <a:lnTo>
                  <a:pt x="8000" y="19000"/>
                </a:lnTo>
                <a:cubicBezTo>
                  <a:pt x="9574" y="19000"/>
                  <a:pt x="11056" y="19741"/>
                  <a:pt x="12000" y="21000"/>
                </a:cubicBezTo>
                <a:cubicBezTo>
                  <a:pt x="12944" y="19741"/>
                  <a:pt x="14426" y="19000"/>
                  <a:pt x="16000" y="19000"/>
                </a:cubicBezTo>
                <a:close/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sp>
        <p:nvSpPr>
          <p:cNvPr id="50" name="slot.card.2.item.4.label"/>
          <p:cNvSpPr txBox="1"/>
          <p:nvPr/>
        </p:nvSpPr>
        <p:spPr>
          <a:xfrm>
            <a:off x="9100566" y="4315968"/>
            <a:ext cx="802386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Data catalog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1" name="struct.card.2.rule.3"/>
          <p:cNvCxnSpPr/>
          <p:nvPr/>
        </p:nvCxnSpPr>
        <p:spPr>
          <a:xfrm>
            <a:off x="9045702" y="3968496"/>
            <a:ext cx="0" cy="694944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52" name="slot.base.1.head"/>
          <p:cNvSpPr txBox="1"/>
          <p:nvPr/>
        </p:nvSpPr>
        <p:spPr>
          <a:xfrm>
            <a:off x="1901952" y="5449824"/>
            <a:ext cx="274320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Source systems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slot.base.1.item.1.icon"/>
          <p:cNvSpPr/>
          <p:nvPr/>
        </p:nvSpPr>
        <p:spPr>
          <a:xfrm>
            <a:off x="1901952" y="585216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50" y="2050"/>
                </a:moveTo>
                <a:lnTo>
                  <a:pt x="3149" y="2022"/>
                </a:lnTo>
                <a:cubicBezTo>
                  <a:pt x="3639" y="2010"/>
                  <a:pt x="4066" y="2355"/>
                  <a:pt x="4157" y="2837"/>
                </a:cubicBezTo>
                <a:lnTo>
                  <a:pt x="6847" y="17184"/>
                </a:lnTo>
                <a:cubicBezTo>
                  <a:pt x="6936" y="17657"/>
                  <a:pt x="7349" y="18000"/>
                  <a:pt x="7830" y="18000"/>
                </a:cubicBezTo>
                <a:lnTo>
                  <a:pt x="18000" y="18000"/>
                </a:lnTo>
                <a:moveTo>
                  <a:pt x="4563" y="5000"/>
                </a:moveTo>
                <a:lnTo>
                  <a:pt x="20998" y="5000"/>
                </a:lnTo>
                <a:cubicBezTo>
                  <a:pt x="21299" y="4999"/>
                  <a:pt x="21585" y="5135"/>
                  <a:pt x="21775" y="5368"/>
                </a:cubicBezTo>
                <a:cubicBezTo>
                  <a:pt x="21966" y="5602"/>
                  <a:pt x="22040" y="5909"/>
                  <a:pt x="21979" y="6204"/>
                </a:cubicBezTo>
                <a:lnTo>
                  <a:pt x="20953" y="12430"/>
                </a:lnTo>
                <a:cubicBezTo>
                  <a:pt x="20748" y="13361"/>
                  <a:pt x="19915" y="14018"/>
                  <a:pt x="18962" y="14000"/>
                </a:cubicBezTo>
                <a:lnTo>
                  <a:pt x="6250" y="14000"/>
                </a:lnTo>
                <a:moveTo>
                  <a:pt x="20000" y="20000"/>
                </a:moveTo>
                <a:cubicBezTo>
                  <a:pt x="20000" y="21105"/>
                  <a:pt x="19105" y="22000"/>
                  <a:pt x="18000" y="22000"/>
                </a:cubicBezTo>
                <a:cubicBezTo>
                  <a:pt x="16895" y="22000"/>
                  <a:pt x="16000" y="21105"/>
                  <a:pt x="16000" y="20000"/>
                </a:cubicBezTo>
                <a:cubicBezTo>
                  <a:pt x="16000" y="18895"/>
                  <a:pt x="16895" y="18000"/>
                  <a:pt x="18000" y="18000"/>
                </a:cubicBezTo>
                <a:cubicBezTo>
                  <a:pt x="19105" y="18000"/>
                  <a:pt x="20000" y="18895"/>
                  <a:pt x="20000" y="20000"/>
                </a:cubicBezTo>
                <a:close/>
                <a:moveTo>
                  <a:pt x="10000" y="20000"/>
                </a:moveTo>
                <a:cubicBezTo>
                  <a:pt x="10000" y="21105"/>
                  <a:pt x="9105" y="22000"/>
                  <a:pt x="8000" y="22000"/>
                </a:cubicBezTo>
                <a:cubicBezTo>
                  <a:pt x="6895" y="22000"/>
                  <a:pt x="6000" y="21105"/>
                  <a:pt x="6000" y="20000"/>
                </a:cubicBezTo>
                <a:cubicBezTo>
                  <a:pt x="6000" y="18895"/>
                  <a:pt x="6895" y="18000"/>
                  <a:pt x="8000" y="18000"/>
                </a:cubicBezTo>
                <a:cubicBezTo>
                  <a:pt x="9105" y="18000"/>
                  <a:pt x="10000" y="18895"/>
                  <a:pt x="10000" y="20000"/>
                </a:cubicBezTo>
                <a:close/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</p:sp>
      <p:sp>
        <p:nvSpPr>
          <p:cNvPr id="54" name="slot.base.1.item.1.label"/>
          <p:cNvSpPr txBox="1"/>
          <p:nvPr/>
        </p:nvSpPr>
        <p:spPr>
          <a:xfrm>
            <a:off x="2185416" y="5824728"/>
            <a:ext cx="665226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Orders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slot.base.1.item.2.icon"/>
          <p:cNvSpPr/>
          <p:nvPr/>
        </p:nvSpPr>
        <p:spPr>
          <a:xfrm>
            <a:off x="2850642" y="585216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8000" y="21000"/>
                </a:moveTo>
                <a:lnTo>
                  <a:pt x="18000" y="10000"/>
                </a:lnTo>
                <a:cubicBezTo>
                  <a:pt x="18000" y="9448"/>
                  <a:pt x="17552" y="9000"/>
                  <a:pt x="17000" y="9000"/>
                </a:cubicBezTo>
                <a:lnTo>
                  <a:pt x="7000" y="9000"/>
                </a:lnTo>
                <a:cubicBezTo>
                  <a:pt x="6448" y="9000"/>
                  <a:pt x="6000" y="9448"/>
                  <a:pt x="6000" y="10000"/>
                </a:cubicBezTo>
                <a:lnTo>
                  <a:pt x="6000" y="21000"/>
                </a:lnTo>
                <a:moveTo>
                  <a:pt x="22000" y="19000"/>
                </a:moveTo>
                <a:cubicBezTo>
                  <a:pt x="22000" y="20105"/>
                  <a:pt x="21105" y="21000"/>
                  <a:pt x="20000" y="21000"/>
                </a:cubicBezTo>
                <a:lnTo>
                  <a:pt x="4000" y="21000"/>
                </a:lnTo>
                <a:cubicBezTo>
                  <a:pt x="2895" y="21000"/>
                  <a:pt x="2000" y="20105"/>
                  <a:pt x="2000" y="19000"/>
                </a:cubicBezTo>
                <a:lnTo>
                  <a:pt x="2000" y="8000"/>
                </a:lnTo>
                <a:cubicBezTo>
                  <a:pt x="2000" y="7231"/>
                  <a:pt x="2440" y="6531"/>
                  <a:pt x="3132" y="6197"/>
                </a:cubicBezTo>
                <a:lnTo>
                  <a:pt x="11082" y="2223"/>
                </a:lnTo>
                <a:cubicBezTo>
                  <a:pt x="11658" y="1925"/>
                  <a:pt x="12343" y="1925"/>
                  <a:pt x="12919" y="2223"/>
                </a:cubicBezTo>
                <a:lnTo>
                  <a:pt x="20867" y="6197"/>
                </a:lnTo>
                <a:cubicBezTo>
                  <a:pt x="21560" y="6530"/>
                  <a:pt x="22000" y="7231"/>
                  <a:pt x="22000" y="8000"/>
                </a:cubicBezTo>
                <a:close/>
                <a:moveTo>
                  <a:pt x="6000" y="13000"/>
                </a:moveTo>
                <a:lnTo>
                  <a:pt x="18000" y="13000"/>
                </a:lnTo>
                <a:moveTo>
                  <a:pt x="6000" y="17000"/>
                </a:moveTo>
                <a:lnTo>
                  <a:pt x="18000" y="17000"/>
                </a:lnTo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</p:sp>
      <p:sp>
        <p:nvSpPr>
          <p:cNvPr id="56" name="slot.base.1.item.2.label"/>
          <p:cNvSpPr txBox="1"/>
          <p:nvPr/>
        </p:nvSpPr>
        <p:spPr>
          <a:xfrm>
            <a:off x="3134106" y="5824728"/>
            <a:ext cx="665226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Inventory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slot.base.1.item.3.icon"/>
          <p:cNvSpPr/>
          <p:nvPr/>
        </p:nvSpPr>
        <p:spPr>
          <a:xfrm>
            <a:off x="3799332" y="585216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</p:sp>
      <p:sp>
        <p:nvSpPr>
          <p:cNvPr id="58" name="slot.base.1.item.3.label"/>
          <p:cNvSpPr txBox="1"/>
          <p:nvPr/>
        </p:nvSpPr>
        <p:spPr>
          <a:xfrm>
            <a:off x="4082796" y="5824728"/>
            <a:ext cx="665226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Contracts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slot.base.1.item.4.icon"/>
          <p:cNvSpPr/>
          <p:nvPr/>
        </p:nvSpPr>
        <p:spPr>
          <a:xfrm>
            <a:off x="4748022" y="585216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000"/>
                </a:moveTo>
                <a:lnTo>
                  <a:pt x="16000" y="4000"/>
                </a:lnTo>
                <a:moveTo>
                  <a:pt x="7000" y="21000"/>
                </a:moveTo>
                <a:lnTo>
                  <a:pt x="7000" y="19000"/>
                </a:lnTo>
                <a:cubicBezTo>
                  <a:pt x="7000" y="17895"/>
                  <a:pt x="7895" y="17000"/>
                  <a:pt x="9000" y="17000"/>
                </a:cubicBezTo>
                <a:lnTo>
                  <a:pt x="15000" y="17000"/>
                </a:lnTo>
                <a:cubicBezTo>
                  <a:pt x="16105" y="17000"/>
                  <a:pt x="17000" y="17895"/>
                  <a:pt x="17000" y="19000"/>
                </a:cubicBezTo>
                <a:lnTo>
                  <a:pt x="17000" y="21000"/>
                </a:lnTo>
                <a:moveTo>
                  <a:pt x="8000" y="2000"/>
                </a:moveTo>
                <a:lnTo>
                  <a:pt x="8000" y="4000"/>
                </a:lnTo>
                <a:moveTo>
                  <a:pt x="15000" y="10000"/>
                </a:moveTo>
                <a:cubicBezTo>
                  <a:pt x="15000" y="11657"/>
                  <a:pt x="13657" y="13000"/>
                  <a:pt x="12000" y="13000"/>
                </a:cubicBezTo>
                <a:cubicBezTo>
                  <a:pt x="10343" y="13000"/>
                  <a:pt x="9000" y="11657"/>
                  <a:pt x="9000" y="10000"/>
                </a:cubicBezTo>
                <a:cubicBezTo>
                  <a:pt x="9000" y="8343"/>
                  <a:pt x="10343" y="7000"/>
                  <a:pt x="12000" y="7000"/>
                </a:cubicBezTo>
                <a:cubicBezTo>
                  <a:pt x="13657" y="7000"/>
                  <a:pt x="15000" y="8343"/>
                  <a:pt x="15000" y="10000"/>
                </a:cubicBezTo>
                <a:close/>
                <a:moveTo>
                  <a:pt x="5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</p:sp>
      <p:sp>
        <p:nvSpPr>
          <p:cNvPr id="60" name="slot.base.1.item.4.label"/>
          <p:cNvSpPr txBox="1"/>
          <p:nvPr/>
        </p:nvSpPr>
        <p:spPr>
          <a:xfrm>
            <a:off x="5031486" y="5824728"/>
            <a:ext cx="665226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Accounts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struct.funnel.1.top"/>
          <p:cNvSpPr/>
          <p:nvPr/>
        </p:nvSpPr>
        <p:spPr>
          <a:xfrm flipV="1">
            <a:off x="3387852" y="4809744"/>
            <a:ext cx="822960" cy="274320"/>
          </a:xfrm>
          <a:prstGeom prst="trapezoid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62" name="struct.funnel.1.stem"/>
          <p:cNvSpPr/>
          <p:nvPr/>
        </p:nvSpPr>
        <p:spPr>
          <a:xfrm>
            <a:off x="3671316" y="5084064"/>
            <a:ext cx="256032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63" name="slot.base.2.head"/>
          <p:cNvSpPr txBox="1"/>
          <p:nvPr/>
        </p:nvSpPr>
        <p:spPr>
          <a:xfrm>
            <a:off x="6437376" y="5449824"/>
            <a:ext cx="274320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Model services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slot.base.2.item.1.icon"/>
          <p:cNvSpPr/>
          <p:nvPr/>
        </p:nvSpPr>
        <p:spPr>
          <a:xfrm>
            <a:off x="6437376" y="585216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7000"/>
                </a:moveTo>
                <a:lnTo>
                  <a:pt x="22000" y="7000"/>
                </a:lnTo>
                <a:lnTo>
                  <a:pt x="22000" y="13000"/>
                </a:lnTo>
                <a:moveTo>
                  <a:pt x="22000" y="7000"/>
                </a:moveTo>
                <a:lnTo>
                  <a:pt x="13500" y="15500"/>
                </a:lnTo>
                <a:lnTo>
                  <a:pt x="8500" y="10500"/>
                </a:lnTo>
                <a:lnTo>
                  <a:pt x="2000" y="17000"/>
                </a:lnTo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</p:sp>
      <p:sp>
        <p:nvSpPr>
          <p:cNvPr id="65" name="slot.base.2.item.1.label"/>
          <p:cNvSpPr txBox="1"/>
          <p:nvPr/>
        </p:nvSpPr>
        <p:spPr>
          <a:xfrm>
            <a:off x="6720840" y="5824728"/>
            <a:ext cx="665226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Forecasts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slot.base.2.item.2.icon"/>
          <p:cNvSpPr/>
          <p:nvPr/>
        </p:nvSpPr>
        <p:spPr>
          <a:xfrm>
            <a:off x="7386066" y="585216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000" y="5000"/>
                </a:moveTo>
                <a:lnTo>
                  <a:pt x="3000" y="5000"/>
                </a:lnTo>
                <a:moveTo>
                  <a:pt x="12000" y="19000"/>
                </a:moveTo>
                <a:lnTo>
                  <a:pt x="3000" y="19000"/>
                </a:lnTo>
                <a:moveTo>
                  <a:pt x="14000" y="3000"/>
                </a:moveTo>
                <a:lnTo>
                  <a:pt x="14000" y="7000"/>
                </a:lnTo>
                <a:moveTo>
                  <a:pt x="16000" y="17000"/>
                </a:moveTo>
                <a:lnTo>
                  <a:pt x="16000" y="21000"/>
                </a:lnTo>
                <a:moveTo>
                  <a:pt x="21000" y="12000"/>
                </a:moveTo>
                <a:lnTo>
                  <a:pt x="12000" y="12000"/>
                </a:lnTo>
                <a:moveTo>
                  <a:pt x="21000" y="19000"/>
                </a:moveTo>
                <a:lnTo>
                  <a:pt x="16000" y="19000"/>
                </a:lnTo>
                <a:moveTo>
                  <a:pt x="21000" y="5000"/>
                </a:moveTo>
                <a:lnTo>
                  <a:pt x="14000" y="5000"/>
                </a:lnTo>
                <a:moveTo>
                  <a:pt x="8000" y="10000"/>
                </a:moveTo>
                <a:lnTo>
                  <a:pt x="8000" y="14000"/>
                </a:lnTo>
                <a:moveTo>
                  <a:pt x="8000" y="12000"/>
                </a:moveTo>
                <a:lnTo>
                  <a:pt x="3000" y="12000"/>
                </a:lnTo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</p:sp>
      <p:sp>
        <p:nvSpPr>
          <p:cNvPr id="67" name="slot.base.2.item.2.label"/>
          <p:cNvSpPr txBox="1"/>
          <p:nvPr/>
        </p:nvSpPr>
        <p:spPr>
          <a:xfrm>
            <a:off x="7669530" y="5824728"/>
            <a:ext cx="665226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Solvers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slot.base.2.item.3.icon"/>
          <p:cNvSpPr/>
          <p:nvPr/>
        </p:nvSpPr>
        <p:spPr>
          <a:xfrm>
            <a:off x="8334756" y="585216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830" y="2180"/>
                </a:moveTo>
                <a:cubicBezTo>
                  <a:pt x="12303" y="1940"/>
                  <a:pt x="11697" y="1940"/>
                  <a:pt x="11170" y="2180"/>
                </a:cubicBezTo>
                <a:lnTo>
                  <a:pt x="2600" y="6080"/>
                </a:lnTo>
                <a:cubicBezTo>
                  <a:pt x="2237" y="6240"/>
                  <a:pt x="2003" y="6599"/>
                  <a:pt x="2003" y="6995"/>
                </a:cubicBezTo>
                <a:cubicBezTo>
                  <a:pt x="2003" y="7391"/>
                  <a:pt x="2237" y="7750"/>
                  <a:pt x="2600" y="7910"/>
                </a:cubicBezTo>
                <a:lnTo>
                  <a:pt x="11180" y="11820"/>
                </a:lnTo>
                <a:cubicBezTo>
                  <a:pt x="11707" y="12060"/>
                  <a:pt x="12313" y="12060"/>
                  <a:pt x="12840" y="11820"/>
                </a:cubicBezTo>
                <a:lnTo>
                  <a:pt x="21420" y="7920"/>
                </a:lnTo>
                <a:cubicBezTo>
                  <a:pt x="21783" y="7760"/>
                  <a:pt x="22017" y="7401"/>
                  <a:pt x="22017" y="7005"/>
                </a:cubicBezTo>
                <a:cubicBezTo>
                  <a:pt x="22017" y="6609"/>
                  <a:pt x="21783" y="6250"/>
                  <a:pt x="21420" y="6090"/>
                </a:cubicBezTo>
                <a:close/>
                <a:moveTo>
                  <a:pt x="2000" y="12000"/>
                </a:moveTo>
                <a:cubicBezTo>
                  <a:pt x="1999" y="12391"/>
                  <a:pt x="2226" y="12746"/>
                  <a:pt x="2580" y="12910"/>
                </a:cubicBezTo>
                <a:lnTo>
                  <a:pt x="11180" y="16820"/>
                </a:lnTo>
                <a:cubicBezTo>
                  <a:pt x="11704" y="17057"/>
                  <a:pt x="12306" y="17057"/>
                  <a:pt x="12830" y="16820"/>
                </a:cubicBezTo>
                <a:lnTo>
                  <a:pt x="21410" y="12920"/>
                </a:lnTo>
                <a:cubicBezTo>
                  <a:pt x="21772" y="12757"/>
                  <a:pt x="22003" y="12397"/>
                  <a:pt x="22000" y="12000"/>
                </a:cubicBezTo>
                <a:moveTo>
                  <a:pt x="2000" y="17000"/>
                </a:moveTo>
                <a:cubicBezTo>
                  <a:pt x="1999" y="17391"/>
                  <a:pt x="2226" y="17746"/>
                  <a:pt x="2580" y="17910"/>
                </a:cubicBezTo>
                <a:lnTo>
                  <a:pt x="11180" y="21820"/>
                </a:lnTo>
                <a:cubicBezTo>
                  <a:pt x="11704" y="22057"/>
                  <a:pt x="12306" y="22057"/>
                  <a:pt x="12830" y="21820"/>
                </a:cubicBezTo>
                <a:lnTo>
                  <a:pt x="21410" y="17920"/>
                </a:lnTo>
                <a:cubicBezTo>
                  <a:pt x="21772" y="17757"/>
                  <a:pt x="22003" y="17397"/>
                  <a:pt x="22000" y="17000"/>
                </a:cubicBezTo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</p:sp>
      <p:sp>
        <p:nvSpPr>
          <p:cNvPr id="69" name="slot.base.2.item.3.label"/>
          <p:cNvSpPr txBox="1"/>
          <p:nvPr/>
        </p:nvSpPr>
        <p:spPr>
          <a:xfrm>
            <a:off x="8618220" y="5824728"/>
            <a:ext cx="665226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Scenarios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slot.base.2.item.4.icon"/>
          <p:cNvSpPr/>
          <p:nvPr/>
        </p:nvSpPr>
        <p:spPr>
          <a:xfrm>
            <a:off x="9283446" y="585216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268" y="21000"/>
                </a:moveTo>
                <a:cubicBezTo>
                  <a:pt x="10625" y="21619"/>
                  <a:pt x="11286" y="22000"/>
                  <a:pt x="12000" y="22000"/>
                </a:cubicBezTo>
                <a:cubicBezTo>
                  <a:pt x="12714" y="22000"/>
                  <a:pt x="13375" y="21619"/>
                  <a:pt x="13732" y="21000"/>
                </a:cubicBezTo>
                <a:moveTo>
                  <a:pt x="3262" y="15326"/>
                </a:moveTo>
                <a:cubicBezTo>
                  <a:pt x="2995" y="15619"/>
                  <a:pt x="2926" y="16041"/>
                  <a:pt x="3086" y="16403"/>
                </a:cubicBezTo>
                <a:cubicBezTo>
                  <a:pt x="3245" y="16766"/>
                  <a:pt x="3604" y="17000"/>
                  <a:pt x="4000" y="17000"/>
                </a:cubicBezTo>
                <a:lnTo>
                  <a:pt x="20000" y="17000"/>
                </a:lnTo>
                <a:cubicBezTo>
                  <a:pt x="20396" y="17000"/>
                  <a:pt x="20755" y="16767"/>
                  <a:pt x="20915" y="16405"/>
                </a:cubicBezTo>
                <a:cubicBezTo>
                  <a:pt x="21075" y="16042"/>
                  <a:pt x="21006" y="15620"/>
                  <a:pt x="20740" y="15327"/>
                </a:cubicBezTo>
                <a:cubicBezTo>
                  <a:pt x="19410" y="13956"/>
                  <a:pt x="18000" y="12499"/>
                  <a:pt x="18000" y="8000"/>
                </a:cubicBezTo>
                <a:cubicBezTo>
                  <a:pt x="18000" y="4686"/>
                  <a:pt x="15314" y="2000"/>
                  <a:pt x="12000" y="2000"/>
                </a:cubicBezTo>
                <a:cubicBezTo>
                  <a:pt x="8686" y="2000"/>
                  <a:pt x="6000" y="4686"/>
                  <a:pt x="6000" y="8000"/>
                </a:cubicBezTo>
                <a:cubicBezTo>
                  <a:pt x="6000" y="12499"/>
                  <a:pt x="4589" y="13956"/>
                  <a:pt x="3262" y="15326"/>
                </a:cubicBezTo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</p:sp>
      <p:sp>
        <p:nvSpPr>
          <p:cNvPr id="71" name="slot.base.2.item.4.label"/>
          <p:cNvSpPr txBox="1"/>
          <p:nvPr/>
        </p:nvSpPr>
        <p:spPr>
          <a:xfrm>
            <a:off x="9566910" y="5824728"/>
            <a:ext cx="665226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Alerts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struct.funnel.2.top"/>
          <p:cNvSpPr/>
          <p:nvPr/>
        </p:nvSpPr>
        <p:spPr>
          <a:xfrm flipV="1">
            <a:off x="7923276" y="4809744"/>
            <a:ext cx="822960" cy="274320"/>
          </a:xfrm>
          <a:prstGeom prst="trapezoid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73" name="struct.funnel.2.stem"/>
          <p:cNvSpPr/>
          <p:nvPr/>
        </p:nvSpPr>
        <p:spPr>
          <a:xfrm>
            <a:off x="8206740" y="5084064"/>
            <a:ext cx="256032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onvergence-hub:lanes-into-ring-mosaic-readout">
    <p:spTree>
      <p:nvGrpSpPr>
        <p:cNvPr id="1" name=""/>
        <p:cNvGrpSpPr/>
        <p:nvPr/>
      </p:nvGrpSpPr>
      <p:grpSpPr/>
      <p:sp>
        <p:nvSpPr>
          <p:cNvPr id="2" name="slot.title"/>
          <p:cNvSpPr txBox="1"/>
          <p:nvPr/>
        </p:nvSpPr>
        <p:spPr>
          <a:xfrm>
            <a:off x="457200" y="256032"/>
            <a:ext cx="1133856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Sources land once in </a:t>
            </a:r>
            <a:r>
              <a:rPr lang="en-US" sz="2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one governed platform</a:t>
            </a:r>
            <a:r>
              <a:rPr lang="en-US" sz="2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that serves </a:t>
            </a:r>
            <a:r>
              <a:rPr lang="en-US" sz="2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ten use cases</a:t>
            </a:r>
            <a:endParaRPr lang="en-US" sz="2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truct.base"/>
          <p:cNvSpPr/>
          <p:nvPr/>
        </p:nvSpPr>
        <p:spPr>
          <a:xfrm>
            <a:off x="3978803" y="5879592"/>
            <a:ext cx="3611669" cy="402336"/>
          </a:xfrm>
          <a:prstGeom prst="roundRect">
            <a:avLst>
              <a:gd fmla="val 11364" name="adj"/>
            </a:avLst>
          </a:prstGeom>
          <a:solidFill>
            <a:schemeClr val="bg1"/>
          </a:solidFill>
          <a:ln cap="flat" cmpd="sng" w="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800"/>
              <a:buFont typeface="Arial"/>
              <a:buNone/>
            </a:pPr>
            <a:r>
              <a:rPr sz="1850"/>
              <a:t/>
            </a:r>
            <a:endParaRPr b="0" i="0" sz="8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struct.source.1"/>
          <p:cNvSpPr/>
          <p:nvPr/>
        </p:nvSpPr>
        <p:spPr>
          <a:xfrm>
            <a:off x="457200" y="1773936"/>
            <a:ext cx="1621198" cy="1243584"/>
          </a:xfrm>
          <a:prstGeom prst="roundRect">
            <a:avLst>
              <a:gd fmla="val 3676" name="adj"/>
            </a:avLst>
          </a:prstGeom>
          <a:solidFill>
            <a:schemeClr val="bg1"/>
          </a:solidFill>
          <a:ln cap="flat" cmpd="sng" w="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800"/>
              <a:buFont typeface="Arial"/>
              <a:buNone/>
            </a:pPr>
            <a:r>
              <a:rPr sz="1850"/>
              <a:t/>
            </a:r>
            <a:endParaRPr b="0" i="0" sz="8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slot.lane.1.head"/>
          <p:cNvSpPr txBox="1"/>
          <p:nvPr/>
        </p:nvSpPr>
        <p:spPr>
          <a:xfrm>
            <a:off x="2537737" y="1828800"/>
            <a:ext cx="1134839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Batch loads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truct.lane.1"/>
          <p:cNvSpPr/>
          <p:nvPr/>
        </p:nvSpPr>
        <p:spPr>
          <a:xfrm>
            <a:off x="2303565" y="2057400"/>
            <a:ext cx="1369012" cy="566928"/>
          </a:xfrm>
          <a:prstGeom prst="roundRect">
            <a:avLst>
              <a:gd fmla="val 8065" name="adj"/>
            </a:avLst>
          </a:prstGeom>
          <a:solidFill>
            <a:schemeClr val="bg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19275" lIns="38575" spcFirstLastPara="1" rIns="38575" wrap="square" tIns="19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800"/>
              <a:buFont typeface="Arial"/>
              <a:buNone/>
            </a:pPr>
            <a:r>
              <a:rPr sz="1850"/>
              <a:t/>
            </a:r>
            <a:endParaRPr b="0" i="0" sz="8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lot.sources.label"/>
          <p:cNvSpPr/>
          <p:nvPr/>
        </p:nvSpPr>
        <p:spPr>
          <a:xfrm>
            <a:off x="457200" y="1243584"/>
            <a:ext cx="1621198" cy="301752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25700" lIns="51425" spcFirstLastPara="1" rIns="51425" wrap="square" tIns="2570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Source systems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truct.source.2"/>
          <p:cNvSpPr/>
          <p:nvPr/>
        </p:nvSpPr>
        <p:spPr>
          <a:xfrm>
            <a:off x="457200" y="3127248"/>
            <a:ext cx="1621198" cy="1700784"/>
          </a:xfrm>
          <a:prstGeom prst="roundRect">
            <a:avLst>
              <a:gd fmla="val 2778" name="adj"/>
            </a:avLst>
          </a:prstGeom>
          <a:solidFill>
            <a:schemeClr val="bg1"/>
          </a:solidFill>
          <a:ln cap="flat" cmpd="sng" w="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800"/>
              <a:buFont typeface="Arial"/>
              <a:buNone/>
            </a:pPr>
            <a:r>
              <a:rPr sz="1850"/>
              <a:t/>
            </a:r>
            <a:endParaRPr b="0" i="0" sz="8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" name="struct.feed.3"/>
          <p:cNvCxnSpPr/>
          <p:nvPr/>
        </p:nvCxnSpPr>
        <p:spPr>
          <a:xfrm>
            <a:off x="2078398" y="4544568"/>
            <a:ext cx="225165" cy="0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55000"/>
              </a:schemeClr>
            </a:solidFill>
            <a:prstDash val="solid"/>
            <a:round/>
            <a:headEnd len="sm" w="sm" type="none"/>
            <a:tailEnd len="med" w="med" type="triangle"/>
          </a:ln>
          <a:effectLst/>
        </p:spPr>
      </p:cxnSp>
      <p:cxnSp>
        <p:nvCxnSpPr>
          <p:cNvPr id="10" name="struct.feed.1"/>
          <p:cNvCxnSpPr/>
          <p:nvPr/>
        </p:nvCxnSpPr>
        <p:spPr>
          <a:xfrm>
            <a:off x="2078398" y="2340864"/>
            <a:ext cx="225165" cy="0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55000"/>
              </a:schemeClr>
            </a:solidFill>
            <a:prstDash val="solid"/>
            <a:round/>
            <a:headEnd len="sm" w="sm" type="none"/>
            <a:tailEnd len="med" w="med" type="triangle"/>
          </a:ln>
          <a:effectLst/>
        </p:spPr>
      </p:cxnSp>
      <p:sp>
        <p:nvSpPr>
          <p:cNvPr id="11" name="slot.lanes.label"/>
          <p:cNvSpPr/>
          <p:nvPr/>
        </p:nvSpPr>
        <p:spPr>
          <a:xfrm>
            <a:off x="2303565" y="1243584"/>
            <a:ext cx="1369012" cy="301752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25700" lIns="51425" spcFirstLastPara="1" rIns="51425" wrap="square" tIns="2570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Ingestion lanes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lot.lane.3.head"/>
          <p:cNvSpPr txBox="1"/>
          <p:nvPr/>
        </p:nvSpPr>
        <p:spPr>
          <a:xfrm>
            <a:off x="2537737" y="4032504"/>
            <a:ext cx="1134839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Event streams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struct.lane.3"/>
          <p:cNvSpPr/>
          <p:nvPr/>
        </p:nvSpPr>
        <p:spPr>
          <a:xfrm>
            <a:off x="2303565" y="4261104"/>
            <a:ext cx="1369012" cy="566928"/>
          </a:xfrm>
          <a:prstGeom prst="roundRect">
            <a:avLst>
              <a:gd fmla="val 8065" name="adj"/>
            </a:avLst>
          </a:prstGeom>
          <a:solidFill>
            <a:schemeClr val="bg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19275" lIns="38575" spcFirstLastPara="1" rIns="38575" wrap="square" tIns="19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800"/>
              <a:buFont typeface="Arial"/>
              <a:buNone/>
            </a:pPr>
            <a:r>
              <a:rPr sz="1850"/>
              <a:t/>
            </a:r>
            <a:endParaRPr b="0" i="0" sz="8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slot.platform.label"/>
          <p:cNvSpPr/>
          <p:nvPr/>
        </p:nvSpPr>
        <p:spPr>
          <a:xfrm>
            <a:off x="4397612" y="1243584"/>
            <a:ext cx="2774050" cy="301752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25700" lIns="51425" spcFirstLastPara="1" rIns="51425" wrap="square" tIns="2570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Governed data platform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truct.mosaic"/>
          <p:cNvSpPr/>
          <p:nvPr/>
        </p:nvSpPr>
        <p:spPr>
          <a:xfrm>
            <a:off x="7625924" y="1469182"/>
            <a:ext cx="4169836" cy="4378773"/>
          </a:xfrm>
          <a:custGeom>
            <a:rect b="b" l="l" r="r" t="t"/>
            <a:pathLst>
              <a:path extrusionOk="0" h="4378773" w="4846034">
                <a:moveTo>
                  <a:pt x="1186203" y="0"/>
                </a:moveTo>
                <a:lnTo>
                  <a:pt x="4769757" y="0"/>
                </a:lnTo>
                <a:lnTo>
                  <a:pt x="4769757" y="0"/>
                </a:lnTo>
                <a:lnTo>
                  <a:pt x="732677" y="1653317"/>
                </a:lnTo>
                <a:lnTo>
                  <a:pt x="648949" y="1557135"/>
                </a:lnTo>
                <a:lnTo>
                  <a:pt x="548476" y="1468040"/>
                </a:lnTo>
                <a:lnTo>
                  <a:pt x="438234" y="1386032"/>
                </a:lnTo>
                <a:lnTo>
                  <a:pt x="315433" y="1313137"/>
                </a:lnTo>
                <a:lnTo>
                  <a:pt x="182864" y="1249353"/>
                </a:lnTo>
                <a:lnTo>
                  <a:pt x="1186203" y="0"/>
                </a:lnTo>
                <a:close/>
              </a:path>
              <a:path extrusionOk="0" h="4378773" w="4846034">
                <a:moveTo>
                  <a:pt x="4769759" y="0"/>
                </a:moveTo>
                <a:lnTo>
                  <a:pt x="4769759" y="2188884"/>
                </a:lnTo>
                <a:lnTo>
                  <a:pt x="591379" y="2188884"/>
                </a:lnTo>
                <a:lnTo>
                  <a:pt x="580754" y="2074479"/>
                </a:lnTo>
                <a:lnTo>
                  <a:pt x="554953" y="1964123"/>
                </a:lnTo>
                <a:lnTo>
                  <a:pt x="509420" y="1855793"/>
                </a:lnTo>
                <a:lnTo>
                  <a:pt x="453263" y="1752525"/>
                </a:lnTo>
                <a:lnTo>
                  <a:pt x="378893" y="1653306"/>
                </a:lnTo>
                <a:lnTo>
                  <a:pt x="4769759" y="0"/>
                </a:lnTo>
                <a:close/>
              </a:path>
              <a:path extrusionOk="0" h="4378773" w="4846034">
                <a:moveTo>
                  <a:pt x="589939" y="2724454"/>
                </a:moveTo>
                <a:lnTo>
                  <a:pt x="4846034" y="4376748"/>
                </a:lnTo>
                <a:lnTo>
                  <a:pt x="4846034" y="4378773"/>
                </a:lnTo>
                <a:lnTo>
                  <a:pt x="1034233" y="4378773"/>
                </a:lnTo>
                <a:lnTo>
                  <a:pt x="0" y="3133478"/>
                </a:lnTo>
                <a:lnTo>
                  <a:pt x="142703" y="3069694"/>
                </a:lnTo>
                <a:lnTo>
                  <a:pt x="272166" y="2997811"/>
                </a:lnTo>
                <a:lnTo>
                  <a:pt x="392802" y="2912767"/>
                </a:lnTo>
                <a:lnTo>
                  <a:pt x="498727" y="2823673"/>
                </a:lnTo>
                <a:lnTo>
                  <a:pt x="589939" y="2724454"/>
                </a:lnTo>
                <a:close/>
              </a:path>
              <a:path extrusionOk="0" h="4378773" w="4846034">
                <a:moveTo>
                  <a:pt x="508335" y="2188880"/>
                </a:moveTo>
                <a:lnTo>
                  <a:pt x="4769762" y="2188880"/>
                </a:lnTo>
                <a:lnTo>
                  <a:pt x="4769762" y="4376752"/>
                </a:lnTo>
                <a:lnTo>
                  <a:pt x="291626" y="2724458"/>
                </a:lnTo>
                <a:lnTo>
                  <a:pt x="367474" y="2626252"/>
                </a:lnTo>
                <a:lnTo>
                  <a:pt x="424747" y="2522984"/>
                </a:lnTo>
                <a:lnTo>
                  <a:pt x="471185" y="2416678"/>
                </a:lnTo>
                <a:lnTo>
                  <a:pt x="497500" y="2304298"/>
                </a:lnTo>
                <a:lnTo>
                  <a:pt x="508335" y="2188880"/>
                </a:lnTo>
                <a:close/>
              </a:path>
              <a:path extrusionOk="0" h="4378773" w="4846034">
                <a:moveTo>
                  <a:pt x="497249" y="2049567"/>
                </a:moveTo>
                <a:lnTo>
                  <a:pt x="497249" y="2362487"/>
                </a:lnTo>
                <a:lnTo>
                  <a:pt x="4774249" y="2675407"/>
                </a:lnTo>
                <a:lnTo>
                  <a:pt x="4774249" y="1674063"/>
                </a:lnTo>
                <a:close/>
              </a:path>
            </a:pathLst>
          </a:custGeom>
          <a:solidFill>
            <a:schemeClr val="accent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25700" lIns="51425" spcFirstLastPara="1" rIns="51425" wrap="square" tIns="2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600"/>
              <a:buFont typeface="Arial"/>
              <a:buNone/>
            </a:pPr>
            <a:r>
              <a:rPr sz="1850"/>
              <a:t/>
            </a:r>
            <a:endParaRPr b="0" i="0" sz="6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slot.lane.2.head"/>
          <p:cNvSpPr txBox="1"/>
          <p:nvPr/>
        </p:nvSpPr>
        <p:spPr>
          <a:xfrm>
            <a:off x="2537737" y="2935224"/>
            <a:ext cx="1134839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Change capture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truct.lane.2"/>
          <p:cNvSpPr/>
          <p:nvPr/>
        </p:nvSpPr>
        <p:spPr>
          <a:xfrm>
            <a:off x="2303565" y="3163824"/>
            <a:ext cx="1369012" cy="566928"/>
          </a:xfrm>
          <a:prstGeom prst="roundRect">
            <a:avLst>
              <a:gd fmla="val 8065" name="adj"/>
            </a:avLst>
          </a:prstGeom>
          <a:solidFill>
            <a:schemeClr val="bg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/>
        </p:spPr>
        <p:txBody>
          <a:bodyPr anchorCtr="0" anchor="ctr" bIns="19275" lIns="38575" spcFirstLastPara="1" rIns="38575" wrap="square" tIns="19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800"/>
              <a:buFont typeface="Arial"/>
              <a:buNone/>
            </a:pPr>
            <a:r>
              <a:rPr sz="1850"/>
              <a:t/>
            </a:r>
            <a:endParaRPr b="0" i="0" sz="8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struct.feed.2"/>
          <p:cNvCxnSpPr/>
          <p:nvPr/>
        </p:nvCxnSpPr>
        <p:spPr>
          <a:xfrm>
            <a:off x="2078398" y="3447288"/>
            <a:ext cx="225165" cy="0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55000"/>
              </a:schemeClr>
            </a:solidFill>
            <a:prstDash val="solid"/>
            <a:round/>
            <a:headEnd len="sm" w="sm" type="none"/>
            <a:tailEnd len="med" w="med" type="triangle"/>
          </a:ln>
          <a:effectLst/>
        </p:spPr>
      </p:cxnSp>
      <p:sp>
        <p:nvSpPr>
          <p:cNvPr id="19" name="struct.mosaic.lines.1"/>
          <p:cNvSpPr/>
          <p:nvPr/>
        </p:nvSpPr>
        <p:spPr>
          <a:xfrm>
            <a:off x="8342388" y="1731847"/>
            <a:ext cx="1592088" cy="3834067"/>
          </a:xfrm>
          <a:custGeom>
            <a:rect b="b" l="l" r="r" t="t"/>
            <a:pathLst>
              <a:path extrusionOk="0" h="158962" w="62943">
                <a:moveTo>
                  <a:pt x="1656" y="0"/>
                </a:moveTo>
                <a:lnTo>
                  <a:pt x="41882" y="31703"/>
                </a:lnTo>
                <a:lnTo>
                  <a:pt x="62943" y="66530"/>
                </a:lnTo>
                <a:lnTo>
                  <a:pt x="60038" y="92868"/>
                </a:lnTo>
                <a:lnTo>
                  <a:pt x="43604" y="130381"/>
                </a:lnTo>
                <a:lnTo>
                  <a:pt x="0" y="158962"/>
                </a:lnTo>
              </a:path>
            </a:pathLst>
          </a:custGeom>
          <a:noFill/>
          <a:ln cap="flat" cmpd="sng" w="107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25700" lIns="51425" spcFirstLastPara="1" rIns="51425" wrap="square" tIns="2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800"/>
              <a:buFont typeface="Arial"/>
              <a:buNone/>
            </a:pPr>
            <a:r>
              <a:rPr sz="1850"/>
              <a:t/>
            </a:r>
            <a:endParaRPr b="0" i="0" sz="8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slot.base.label"/>
          <p:cNvSpPr/>
          <p:nvPr/>
        </p:nvSpPr>
        <p:spPr>
          <a:xfrm>
            <a:off x="4865958" y="5650992"/>
            <a:ext cx="1837358" cy="2286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Platform foundations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lot.source.1.body"/>
          <p:cNvSpPr txBox="1"/>
          <p:nvPr/>
        </p:nvSpPr>
        <p:spPr>
          <a:xfrm>
            <a:off x="583293" y="1865376"/>
            <a:ext cx="1405038" cy="107899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27000" lIns="27000" spcFirstLastPara="1" rIns="27000" wrap="square" tIns="2700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Internal systems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Order management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Billing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Service desk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Web store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lot.source.2.body"/>
          <p:cNvSpPr txBox="1"/>
          <p:nvPr/>
        </p:nvSpPr>
        <p:spPr>
          <a:xfrm>
            <a:off x="583293" y="3218688"/>
            <a:ext cx="1405038" cy="153619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27000" lIns="27000" spcFirstLastPara="1" rIns="27000" wrap="square" tIns="2700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External feeds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Partner sales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Market panels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Weather data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Social listening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Credit scores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Supplier portals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struct.store.6"/>
          <p:cNvSpPr/>
          <p:nvPr/>
        </p:nvSpPr>
        <p:spPr>
          <a:xfrm>
            <a:off x="4523705" y="2674620"/>
            <a:ext cx="720533" cy="603504"/>
          </a:xfrm>
          <a:prstGeom prst="can">
            <a:avLst>
              <a:gd fmla="val 25000" name="adj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anchorCtr="0" anchor="b" bIns="34250" lIns="68575" spcFirstLastPara="1" rIns="68575" wrap="square" tIns="3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600"/>
              <a:buFont typeface="Arial"/>
              <a:buNone/>
            </a:pPr>
            <a:r>
              <a:rPr sz="1850"/>
              <a:t/>
            </a:r>
            <a:endParaRPr b="0" i="0" sz="6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struct.store.2"/>
          <p:cNvSpPr/>
          <p:nvPr/>
        </p:nvSpPr>
        <p:spPr>
          <a:xfrm>
            <a:off x="6325037" y="2674620"/>
            <a:ext cx="720533" cy="603504"/>
          </a:xfrm>
          <a:prstGeom prst="can">
            <a:avLst>
              <a:gd fmla="val 25000" name="adj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anchorCtr="0" anchor="b" bIns="34250" lIns="68575" spcFirstLastPara="1" rIns="68575" wrap="square" tIns="3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600"/>
              <a:buFont typeface="Arial"/>
              <a:buNone/>
            </a:pPr>
            <a:r>
              <a:rPr sz="1850"/>
              <a:t/>
            </a:r>
            <a:endParaRPr b="0" i="0" sz="6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struct.store.1"/>
          <p:cNvSpPr/>
          <p:nvPr/>
        </p:nvSpPr>
        <p:spPr>
          <a:xfrm>
            <a:off x="5424371" y="2144268"/>
            <a:ext cx="720533" cy="603504"/>
          </a:xfrm>
          <a:prstGeom prst="can">
            <a:avLst>
              <a:gd fmla="val 25000" name="adj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anchorCtr="0" anchor="b" bIns="34250" lIns="68575" spcFirstLastPara="1" rIns="68575" wrap="square" tIns="3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600"/>
              <a:buFont typeface="Arial"/>
              <a:buNone/>
            </a:pPr>
            <a:r>
              <a:rPr sz="1850"/>
              <a:t/>
            </a:r>
            <a:endParaRPr b="0" i="0" sz="6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slot.store.1"/>
          <p:cNvSpPr txBox="1"/>
          <p:nvPr/>
        </p:nvSpPr>
        <p:spPr>
          <a:xfrm>
            <a:off x="5370331" y="2382011"/>
            <a:ext cx="828612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Customers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truct.store.5"/>
          <p:cNvSpPr/>
          <p:nvPr/>
        </p:nvSpPr>
        <p:spPr>
          <a:xfrm>
            <a:off x="4523705" y="3698748"/>
            <a:ext cx="720533" cy="603504"/>
          </a:xfrm>
          <a:prstGeom prst="can">
            <a:avLst>
              <a:gd fmla="val 25000" name="adj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anchorCtr="0" anchor="b" bIns="34250" lIns="68575" spcFirstLastPara="1" rIns="68575" wrap="square" tIns="3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600"/>
              <a:buFont typeface="Arial"/>
              <a:buNone/>
            </a:pPr>
            <a:r>
              <a:rPr sz="1850"/>
              <a:t/>
            </a:r>
            <a:endParaRPr b="0" i="0" sz="6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struct.store.3"/>
          <p:cNvSpPr/>
          <p:nvPr/>
        </p:nvSpPr>
        <p:spPr>
          <a:xfrm>
            <a:off x="6325037" y="3698748"/>
            <a:ext cx="720533" cy="603504"/>
          </a:xfrm>
          <a:prstGeom prst="can">
            <a:avLst>
              <a:gd fmla="val 25000" name="adj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anchorCtr="0" anchor="b" bIns="34250" lIns="68575" spcFirstLastPara="1" rIns="68575" wrap="square" tIns="3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600"/>
              <a:buFont typeface="Arial"/>
              <a:buNone/>
            </a:pPr>
            <a:r>
              <a:rPr sz="1850"/>
              <a:t/>
            </a:r>
            <a:endParaRPr b="0" i="0" sz="6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struct.store.4"/>
          <p:cNvSpPr/>
          <p:nvPr/>
        </p:nvSpPr>
        <p:spPr>
          <a:xfrm>
            <a:off x="5424371" y="4229100"/>
            <a:ext cx="720533" cy="603504"/>
          </a:xfrm>
          <a:prstGeom prst="can">
            <a:avLst>
              <a:gd fmla="val 25000" name="adj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anchorCtr="0" anchor="b" bIns="34250" lIns="68575" spcFirstLastPara="1" rIns="68575" wrap="square" tIns="3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600"/>
              <a:buFont typeface="Arial"/>
              <a:buNone/>
            </a:pPr>
            <a:r>
              <a:rPr sz="1850"/>
              <a:t/>
            </a:r>
            <a:endParaRPr b="0" i="0" sz="6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slot.store.4"/>
          <p:cNvSpPr txBox="1"/>
          <p:nvPr/>
        </p:nvSpPr>
        <p:spPr>
          <a:xfrm>
            <a:off x="5370331" y="4466844"/>
            <a:ext cx="828612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Events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truct.core"/>
          <p:cNvSpPr/>
          <p:nvPr/>
        </p:nvSpPr>
        <p:spPr>
          <a:xfrm>
            <a:off x="5370331" y="3195828"/>
            <a:ext cx="828612" cy="694944"/>
          </a:xfrm>
          <a:prstGeom prst="can">
            <a:avLst>
              <a:gd fmla="val 25000" name="adj"/>
            </a:avLst>
          </a:prstGeom>
          <a:solidFill>
            <a:schemeClr val="accent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b" bIns="34250" lIns="68575" spcFirstLastPara="1" rIns="68575" wrap="square" tIns="3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600"/>
              <a:buFont typeface="Arial"/>
              <a:buNone/>
            </a:pPr>
            <a:r>
              <a:rPr sz="1850"/>
              <a:t/>
            </a:r>
            <a:endParaRPr b="0" i="0" sz="6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slot.core"/>
          <p:cNvSpPr txBox="1"/>
          <p:nvPr/>
        </p:nvSpPr>
        <p:spPr>
          <a:xfrm>
            <a:off x="5370331" y="3378708"/>
            <a:ext cx="828612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Shared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model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struct.ring"/>
          <p:cNvSpPr/>
          <p:nvPr/>
        </p:nvSpPr>
        <p:spPr>
          <a:xfrm>
            <a:off x="3978803" y="1709928"/>
            <a:ext cx="3611669" cy="3666744"/>
          </a:xfrm>
          <a:prstGeom prst="donut">
            <a:avLst>
              <a:gd fmla="val 9348" name="adj"/>
            </a:avLst>
          </a:prstGeom>
          <a:solidFill>
            <a:schemeClr val="bg1">
              <a:lumMod val="85000"/>
            </a:schemeClr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800"/>
              <a:buFont typeface="Arial"/>
              <a:buNone/>
            </a:pPr>
            <a:r>
              <a:rPr sz="1850"/>
              <a:t/>
            </a:r>
            <a:endParaRPr b="0" i="0" sz="8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slot.ring.top"/>
          <p:cNvSpPr txBox="1"/>
          <p:nvPr/>
        </p:nvSpPr>
        <p:spPr>
          <a:xfrm>
            <a:off x="4974038" y="1773936"/>
            <a:ext cx="1621198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Single governed copy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lot.ring.right"/>
          <p:cNvSpPr txBox="1"/>
          <p:nvPr/>
        </p:nvSpPr>
        <p:spPr>
          <a:xfrm rot="5400000">
            <a:off x="6735862" y="3435220"/>
            <a:ext cx="1371600" cy="21616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Serve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slot.ring.left"/>
          <p:cNvSpPr txBox="1"/>
          <p:nvPr/>
        </p:nvSpPr>
        <p:spPr>
          <a:xfrm rot="-5400000">
            <a:off x="3461811" y="3435220"/>
            <a:ext cx="1371600" cy="21616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Ingest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slot.ring.bottom"/>
          <p:cNvSpPr txBox="1"/>
          <p:nvPr/>
        </p:nvSpPr>
        <p:spPr>
          <a:xfrm>
            <a:off x="4974038" y="5088768"/>
            <a:ext cx="1621198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Versioned and audited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lot.store.2"/>
          <p:cNvSpPr txBox="1"/>
          <p:nvPr/>
        </p:nvSpPr>
        <p:spPr>
          <a:xfrm>
            <a:off x="6270997" y="2912363"/>
            <a:ext cx="828612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Orders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slot.store.3"/>
          <p:cNvSpPr txBox="1"/>
          <p:nvPr/>
        </p:nvSpPr>
        <p:spPr>
          <a:xfrm>
            <a:off x="6270997" y="3936491"/>
            <a:ext cx="828612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Products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slot.store.5"/>
          <p:cNvSpPr txBox="1"/>
          <p:nvPr/>
        </p:nvSpPr>
        <p:spPr>
          <a:xfrm>
            <a:off x="4469665" y="3936491"/>
            <a:ext cx="828612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Documents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lot.store.6"/>
          <p:cNvSpPr txBox="1"/>
          <p:nvPr/>
        </p:nvSpPr>
        <p:spPr>
          <a:xfrm>
            <a:off x="4469665" y="2912363"/>
            <a:ext cx="828612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Features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slot.base.1"/>
          <p:cNvSpPr txBox="1"/>
          <p:nvPr/>
        </p:nvSpPr>
        <p:spPr>
          <a:xfrm>
            <a:off x="4032843" y="5916168"/>
            <a:ext cx="824109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Access rules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slot.base.2"/>
          <p:cNvSpPr txBox="1"/>
          <p:nvPr/>
        </p:nvSpPr>
        <p:spPr>
          <a:xfrm>
            <a:off x="4910992" y="5916168"/>
            <a:ext cx="824109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Data quality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slot.base.3"/>
          <p:cNvSpPr txBox="1"/>
          <p:nvPr/>
        </p:nvSpPr>
        <p:spPr>
          <a:xfrm>
            <a:off x="5789141" y="5916168"/>
            <a:ext cx="824109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Lineage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lot.base.4"/>
          <p:cNvSpPr txBox="1"/>
          <p:nvPr/>
        </p:nvSpPr>
        <p:spPr>
          <a:xfrm>
            <a:off x="6667290" y="5916168"/>
            <a:ext cx="824109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Cost tracking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struct.mosaic.lines.2"/>
          <p:cNvSpPr/>
          <p:nvPr/>
        </p:nvSpPr>
        <p:spPr>
          <a:xfrm>
            <a:off x="9399633" y="1457289"/>
            <a:ext cx="1561356" cy="4393070"/>
          </a:xfrm>
          <a:custGeom>
            <a:rect b="b" l="l" r="r" t="t"/>
            <a:pathLst>
              <a:path extrusionOk="0" h="158962" w="61728">
                <a:moveTo>
                  <a:pt x="1656" y="0"/>
                </a:moveTo>
                <a:lnTo>
                  <a:pt x="35564" y="23690"/>
                </a:lnTo>
                <a:lnTo>
                  <a:pt x="61728" y="63945"/>
                </a:lnTo>
                <a:cubicBezTo>
                  <a:pt x="61165" y="73586"/>
                  <a:pt x="60601" y="85295"/>
                  <a:pt x="60038" y="94936"/>
                </a:cubicBezTo>
                <a:lnTo>
                  <a:pt x="36557" y="137360"/>
                </a:lnTo>
                <a:lnTo>
                  <a:pt x="0" y="158962"/>
                </a:lnTo>
              </a:path>
            </a:pathLst>
          </a:custGeom>
          <a:noFill/>
          <a:ln cap="flat" cmpd="sng" w="107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25700" lIns="51425" spcFirstLastPara="1" rIns="51425" wrap="square" tIns="2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800"/>
              <a:buFont typeface="Arial"/>
              <a:buNone/>
            </a:pPr>
            <a:r>
              <a:rPr sz="1850"/>
              <a:t/>
            </a:r>
            <a:endParaRPr b="0" i="0" sz="8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slot.lane.1.icon"/>
          <p:cNvSpPr/>
          <p:nvPr/>
        </p:nvSpPr>
        <p:spPr>
          <a:xfrm>
            <a:off x="2302191" y="183794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2000" y="6000"/>
                </a:moveTo>
                <a:lnTo>
                  <a:pt x="12000" y="12000"/>
                </a:lnTo>
                <a:lnTo>
                  <a:pt x="16000" y="14000"/>
                </a:lnTo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</p:sp>
      <p:sp>
        <p:nvSpPr>
          <p:cNvPr id="48" name="slot.lane.1.item.1.icon"/>
          <p:cNvSpPr/>
          <p:nvPr/>
        </p:nvSpPr>
        <p:spPr>
          <a:xfrm>
            <a:off x="2536090" y="2121408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8000" y="13000"/>
                </a:moveTo>
                <a:lnTo>
                  <a:pt x="10000" y="13000"/>
                </a:lnTo>
                <a:moveTo>
                  <a:pt x="14000" y="13000"/>
                </a:moveTo>
                <a:lnTo>
                  <a:pt x="16000" y="13000"/>
                </a:lnTo>
                <a:moveTo>
                  <a:pt x="8000" y="17000"/>
                </a:moveTo>
                <a:lnTo>
                  <a:pt x="10000" y="17000"/>
                </a:lnTo>
                <a:moveTo>
                  <a:pt x="14000" y="17000"/>
                </a:moveTo>
                <a:lnTo>
                  <a:pt x="16000" y="17000"/>
                </a:lnTo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</p:sp>
      <p:sp>
        <p:nvSpPr>
          <p:cNvPr id="49" name="slot.lane.1.item.1"/>
          <p:cNvSpPr txBox="1"/>
          <p:nvPr/>
        </p:nvSpPr>
        <p:spPr>
          <a:xfrm>
            <a:off x="2321578" y="2368296"/>
            <a:ext cx="648479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Files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slot.lane.1.item.2.icon"/>
          <p:cNvSpPr/>
          <p:nvPr/>
        </p:nvSpPr>
        <p:spPr>
          <a:xfrm>
            <a:off x="3220595" y="2121408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3000"/>
                </a:moveTo>
                <a:lnTo>
                  <a:pt x="12000" y="21000"/>
                </a:lnTo>
                <a:moveTo>
                  <a:pt x="5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  <a:moveTo>
                  <a:pt x="3000" y="9000"/>
                </a:moveTo>
                <a:lnTo>
                  <a:pt x="21000" y="9000"/>
                </a:lnTo>
                <a:moveTo>
                  <a:pt x="3000" y="15000"/>
                </a:moveTo>
                <a:lnTo>
                  <a:pt x="21000" y="15000"/>
                </a:lnTo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</p:sp>
      <p:sp>
        <p:nvSpPr>
          <p:cNvPr id="51" name="slot.lane.1.item.2"/>
          <p:cNvSpPr txBox="1"/>
          <p:nvPr/>
        </p:nvSpPr>
        <p:spPr>
          <a:xfrm>
            <a:off x="3006084" y="2368296"/>
            <a:ext cx="648479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Tables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slot.lane.2.icon"/>
          <p:cNvSpPr/>
          <p:nvPr/>
        </p:nvSpPr>
        <p:spPr>
          <a:xfrm>
            <a:off x="2302191" y="2944368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12000"/>
                </a:moveTo>
                <a:cubicBezTo>
                  <a:pt x="3000" y="7029"/>
                  <a:pt x="7029" y="3000"/>
                  <a:pt x="12000" y="3000"/>
                </a:cubicBezTo>
                <a:cubicBezTo>
                  <a:pt x="14516" y="3009"/>
                  <a:pt x="16931" y="3991"/>
                  <a:pt x="18740" y="5740"/>
                </a:cubicBezTo>
                <a:lnTo>
                  <a:pt x="21000" y="8000"/>
                </a:lnTo>
                <a:moveTo>
                  <a:pt x="21000" y="3000"/>
                </a:moveTo>
                <a:lnTo>
                  <a:pt x="21000" y="8000"/>
                </a:lnTo>
                <a:lnTo>
                  <a:pt x="16000" y="8000"/>
                </a:lnTo>
                <a:moveTo>
                  <a:pt x="21000" y="12000"/>
                </a:moveTo>
                <a:cubicBezTo>
                  <a:pt x="21000" y="16971"/>
                  <a:pt x="16971" y="21000"/>
                  <a:pt x="12000" y="21000"/>
                </a:cubicBezTo>
                <a:cubicBezTo>
                  <a:pt x="9484" y="20991"/>
                  <a:pt x="7069" y="20009"/>
                  <a:pt x="5260" y="18260"/>
                </a:cubicBezTo>
                <a:lnTo>
                  <a:pt x="3000" y="16000"/>
                </a:lnTo>
                <a:moveTo>
                  <a:pt x="8000" y="16000"/>
                </a:moveTo>
                <a:lnTo>
                  <a:pt x="3000" y="16000"/>
                </a:lnTo>
                <a:lnTo>
                  <a:pt x="3000" y="21000"/>
                </a:lnTo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</p:sp>
      <p:sp>
        <p:nvSpPr>
          <p:cNvPr id="53" name="slot.lane.2.item.1.icon"/>
          <p:cNvSpPr/>
          <p:nvPr/>
        </p:nvSpPr>
        <p:spPr>
          <a:xfrm>
            <a:off x="2536090" y="3227832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</p:sp>
      <p:sp>
        <p:nvSpPr>
          <p:cNvPr id="54" name="slot.lane.2.item.1"/>
          <p:cNvSpPr txBox="1"/>
          <p:nvPr/>
        </p:nvSpPr>
        <p:spPr>
          <a:xfrm>
            <a:off x="2321578" y="3474720"/>
            <a:ext cx="648479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Logs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slot.lane.2.item.2.icon"/>
          <p:cNvSpPr/>
          <p:nvPr/>
        </p:nvSpPr>
        <p:spPr>
          <a:xfrm>
            <a:off x="3220595" y="3227832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830" y="2180"/>
                </a:moveTo>
                <a:cubicBezTo>
                  <a:pt x="12303" y="1940"/>
                  <a:pt x="11697" y="1940"/>
                  <a:pt x="11170" y="2180"/>
                </a:cubicBezTo>
                <a:lnTo>
                  <a:pt x="2600" y="6080"/>
                </a:lnTo>
                <a:cubicBezTo>
                  <a:pt x="2237" y="6240"/>
                  <a:pt x="2003" y="6599"/>
                  <a:pt x="2003" y="6995"/>
                </a:cubicBezTo>
                <a:cubicBezTo>
                  <a:pt x="2003" y="7391"/>
                  <a:pt x="2237" y="7750"/>
                  <a:pt x="2600" y="7910"/>
                </a:cubicBezTo>
                <a:lnTo>
                  <a:pt x="11180" y="11820"/>
                </a:lnTo>
                <a:cubicBezTo>
                  <a:pt x="11707" y="12060"/>
                  <a:pt x="12313" y="12060"/>
                  <a:pt x="12840" y="11820"/>
                </a:cubicBezTo>
                <a:lnTo>
                  <a:pt x="21420" y="7920"/>
                </a:lnTo>
                <a:cubicBezTo>
                  <a:pt x="21783" y="7760"/>
                  <a:pt x="22017" y="7401"/>
                  <a:pt x="22017" y="7005"/>
                </a:cubicBezTo>
                <a:cubicBezTo>
                  <a:pt x="22017" y="6609"/>
                  <a:pt x="21783" y="6250"/>
                  <a:pt x="21420" y="6090"/>
                </a:cubicBezTo>
                <a:close/>
                <a:moveTo>
                  <a:pt x="2000" y="12000"/>
                </a:moveTo>
                <a:cubicBezTo>
                  <a:pt x="1999" y="12391"/>
                  <a:pt x="2226" y="12746"/>
                  <a:pt x="2580" y="12910"/>
                </a:cubicBezTo>
                <a:lnTo>
                  <a:pt x="11180" y="16820"/>
                </a:lnTo>
                <a:cubicBezTo>
                  <a:pt x="11704" y="17057"/>
                  <a:pt x="12306" y="17057"/>
                  <a:pt x="12830" y="16820"/>
                </a:cubicBezTo>
                <a:lnTo>
                  <a:pt x="21410" y="12920"/>
                </a:lnTo>
                <a:cubicBezTo>
                  <a:pt x="21772" y="12757"/>
                  <a:pt x="22003" y="12397"/>
                  <a:pt x="22000" y="12000"/>
                </a:cubicBezTo>
                <a:moveTo>
                  <a:pt x="2000" y="17000"/>
                </a:moveTo>
                <a:cubicBezTo>
                  <a:pt x="1999" y="17391"/>
                  <a:pt x="2226" y="17746"/>
                  <a:pt x="2580" y="17910"/>
                </a:cubicBezTo>
                <a:lnTo>
                  <a:pt x="11180" y="21820"/>
                </a:lnTo>
                <a:cubicBezTo>
                  <a:pt x="11704" y="22057"/>
                  <a:pt x="12306" y="22057"/>
                  <a:pt x="12830" y="21820"/>
                </a:cubicBezTo>
                <a:lnTo>
                  <a:pt x="21410" y="17920"/>
                </a:lnTo>
                <a:cubicBezTo>
                  <a:pt x="21772" y="17757"/>
                  <a:pt x="22003" y="17397"/>
                  <a:pt x="22000" y="17000"/>
                </a:cubicBezTo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</p:sp>
      <p:sp>
        <p:nvSpPr>
          <p:cNvPr id="56" name="slot.lane.2.item.2"/>
          <p:cNvSpPr txBox="1"/>
          <p:nvPr/>
        </p:nvSpPr>
        <p:spPr>
          <a:xfrm>
            <a:off x="3006084" y="3474720"/>
            <a:ext cx="648479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Replicas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slot.lane.3.icon"/>
          <p:cNvSpPr/>
          <p:nvPr/>
        </p:nvSpPr>
        <p:spPr>
          <a:xfrm>
            <a:off x="2302191" y="4041648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lnTo>
                  <a:pt x="19520" y="12000"/>
                </a:lnTo>
                <a:cubicBezTo>
                  <a:pt x="18622" y="11998"/>
                  <a:pt x="17833" y="12595"/>
                  <a:pt x="17590" y="13460"/>
                </a:cubicBezTo>
                <a:lnTo>
                  <a:pt x="15240" y="21820"/>
                </a:lnTo>
                <a:cubicBezTo>
                  <a:pt x="15209" y="21927"/>
                  <a:pt x="15111" y="22000"/>
                  <a:pt x="15000" y="22000"/>
                </a:cubicBezTo>
                <a:cubicBezTo>
                  <a:pt x="14889" y="22000"/>
                  <a:pt x="14791" y="21927"/>
                  <a:pt x="14760" y="21820"/>
                </a:cubicBezTo>
                <a:lnTo>
                  <a:pt x="9240" y="2180"/>
                </a:lnTo>
                <a:cubicBezTo>
                  <a:pt x="9209" y="2073"/>
                  <a:pt x="9111" y="2000"/>
                  <a:pt x="9000" y="2000"/>
                </a:cubicBezTo>
                <a:cubicBezTo>
                  <a:pt x="8889" y="2000"/>
                  <a:pt x="8791" y="2073"/>
                  <a:pt x="8760" y="2180"/>
                </a:cubicBezTo>
                <a:lnTo>
                  <a:pt x="6410" y="10540"/>
                </a:lnTo>
                <a:cubicBezTo>
                  <a:pt x="6168" y="11401"/>
                  <a:pt x="5384" y="11997"/>
                  <a:pt x="4490" y="12000"/>
                </a:cubicBezTo>
                <a:lnTo>
                  <a:pt x="2000" y="12000"/>
                </a:lnTo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</p:sp>
      <p:sp>
        <p:nvSpPr>
          <p:cNvPr id="58" name="slot.lane.3.item.1.icon"/>
          <p:cNvSpPr/>
          <p:nvPr/>
        </p:nvSpPr>
        <p:spPr>
          <a:xfrm>
            <a:off x="2536090" y="4325112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7000" y="2000"/>
                </a:moveTo>
                <a:lnTo>
                  <a:pt x="17000" y="2000"/>
                </a:lnTo>
                <a:cubicBezTo>
                  <a:pt x="18105" y="2000"/>
                  <a:pt x="19000" y="2895"/>
                  <a:pt x="19000" y="4000"/>
                </a:cubicBezTo>
                <a:lnTo>
                  <a:pt x="19000" y="20000"/>
                </a:lnTo>
                <a:cubicBezTo>
                  <a:pt x="19000" y="21105"/>
                  <a:pt x="18105" y="22000"/>
                  <a:pt x="17000" y="22000"/>
                </a:cubicBezTo>
                <a:lnTo>
                  <a:pt x="7000" y="22000"/>
                </a:lnTo>
                <a:cubicBezTo>
                  <a:pt x="5895" y="22000"/>
                  <a:pt x="5000" y="21105"/>
                  <a:pt x="5000" y="20000"/>
                </a:cubicBezTo>
                <a:lnTo>
                  <a:pt x="5000" y="4000"/>
                </a:lnTo>
                <a:cubicBezTo>
                  <a:pt x="5000" y="2895"/>
                  <a:pt x="5895" y="2000"/>
                  <a:pt x="7000" y="2000"/>
                </a:cubicBezTo>
                <a:close/>
                <a:moveTo>
                  <a:pt x="12000" y="18000"/>
                </a:moveTo>
                <a:lnTo>
                  <a:pt x="12010" y="18000"/>
                </a:lnTo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</p:sp>
      <p:sp>
        <p:nvSpPr>
          <p:cNvPr id="59" name="slot.lane.3.item.1"/>
          <p:cNvSpPr txBox="1"/>
          <p:nvPr/>
        </p:nvSpPr>
        <p:spPr>
          <a:xfrm>
            <a:off x="2321578" y="4572000"/>
            <a:ext cx="648479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Apps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slot.lane.3.item.2.icon"/>
          <p:cNvSpPr/>
          <p:nvPr/>
        </p:nvSpPr>
        <p:spPr>
          <a:xfrm>
            <a:off x="3220595" y="4325112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20000"/>
                </a:moveTo>
                <a:lnTo>
                  <a:pt x="12000" y="22000"/>
                </a:lnTo>
                <a:moveTo>
                  <a:pt x="12000" y="2000"/>
                </a:moveTo>
                <a:lnTo>
                  <a:pt x="12000" y="4000"/>
                </a:lnTo>
                <a:moveTo>
                  <a:pt x="17000" y="20000"/>
                </a:moveTo>
                <a:lnTo>
                  <a:pt x="17000" y="22000"/>
                </a:lnTo>
                <a:moveTo>
                  <a:pt x="17000" y="2000"/>
                </a:moveTo>
                <a:lnTo>
                  <a:pt x="17000" y="4000"/>
                </a:lnTo>
                <a:moveTo>
                  <a:pt x="2000" y="12000"/>
                </a:moveTo>
                <a:lnTo>
                  <a:pt x="4000" y="12000"/>
                </a:lnTo>
                <a:moveTo>
                  <a:pt x="2000" y="17000"/>
                </a:moveTo>
                <a:lnTo>
                  <a:pt x="4000" y="17000"/>
                </a:lnTo>
                <a:moveTo>
                  <a:pt x="2000" y="7000"/>
                </a:moveTo>
                <a:lnTo>
                  <a:pt x="4000" y="7000"/>
                </a:lnTo>
                <a:moveTo>
                  <a:pt x="20000" y="12000"/>
                </a:moveTo>
                <a:lnTo>
                  <a:pt x="22000" y="12000"/>
                </a:lnTo>
                <a:moveTo>
                  <a:pt x="20000" y="17000"/>
                </a:moveTo>
                <a:lnTo>
                  <a:pt x="22000" y="17000"/>
                </a:lnTo>
                <a:moveTo>
                  <a:pt x="20000" y="7000"/>
                </a:moveTo>
                <a:lnTo>
                  <a:pt x="22000" y="7000"/>
                </a:lnTo>
                <a:moveTo>
                  <a:pt x="7000" y="20000"/>
                </a:moveTo>
                <a:lnTo>
                  <a:pt x="7000" y="22000"/>
                </a:lnTo>
                <a:moveTo>
                  <a:pt x="7000" y="2000"/>
                </a:moveTo>
                <a:lnTo>
                  <a:pt x="7000" y="4000"/>
                </a:lnTo>
                <a:moveTo>
                  <a:pt x="6000" y="4000"/>
                </a:moveTo>
                <a:lnTo>
                  <a:pt x="18000" y="4000"/>
                </a:lnTo>
                <a:cubicBezTo>
                  <a:pt x="19105" y="4000"/>
                  <a:pt x="20000" y="4895"/>
                  <a:pt x="20000" y="6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6000"/>
                </a:lnTo>
                <a:cubicBezTo>
                  <a:pt x="4000" y="4895"/>
                  <a:pt x="4895" y="4000"/>
                  <a:pt x="6000" y="4000"/>
                </a:cubicBezTo>
                <a:close/>
                <a:moveTo>
                  <a:pt x="9000" y="8000"/>
                </a:moveTo>
                <a:lnTo>
                  <a:pt x="15000" y="8000"/>
                </a:lnTo>
                <a:cubicBezTo>
                  <a:pt x="15552" y="8000"/>
                  <a:pt x="16000" y="8448"/>
                  <a:pt x="16000" y="9000"/>
                </a:cubicBezTo>
                <a:lnTo>
                  <a:pt x="16000" y="15000"/>
                </a:lnTo>
                <a:cubicBezTo>
                  <a:pt x="16000" y="15552"/>
                  <a:pt x="15552" y="16000"/>
                  <a:pt x="15000" y="16000"/>
                </a:cubicBezTo>
                <a:lnTo>
                  <a:pt x="9000" y="16000"/>
                </a:lnTo>
                <a:cubicBezTo>
                  <a:pt x="8448" y="16000"/>
                  <a:pt x="8000" y="15552"/>
                  <a:pt x="8000" y="15000"/>
                </a:cubicBezTo>
                <a:lnTo>
                  <a:pt x="8000" y="9000"/>
                </a:lnTo>
                <a:cubicBezTo>
                  <a:pt x="8000" y="8448"/>
                  <a:pt x="8448" y="8000"/>
                  <a:pt x="9000" y="8000"/>
                </a:cubicBezTo>
                <a:close/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</p:sp>
      <p:sp>
        <p:nvSpPr>
          <p:cNvPr id="61" name="slot.lane.3.item.2"/>
          <p:cNvSpPr txBox="1"/>
          <p:nvPr/>
        </p:nvSpPr>
        <p:spPr>
          <a:xfrm>
            <a:off x="3006084" y="4572000"/>
            <a:ext cx="648479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Sensors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struct.lane.1.out"/>
          <p:cNvSpPr/>
          <p:nvPr/>
        </p:nvSpPr>
        <p:spPr>
          <a:xfrm>
            <a:off x="3672576" y="2340864"/>
            <a:ext cx="326555" cy="928116"/>
          </a:xfrm>
          <a:custGeom>
            <a:avLst/>
            <a:gdLst/>
            <a:ahLst/>
            <a:cxnLst/>
            <a:rect l="l" t="t" r="r" b="b"/>
            <a:pathLst>
              <a:path w="331535" h="928116" fill="none">
                <a:moveTo>
                  <a:pt x="0" y="0"/>
                </a:moveTo>
                <a:lnTo>
                  <a:pt x="146304" y="0"/>
                </a:lnTo>
                <a:lnTo>
                  <a:pt x="146304" y="928116"/>
                </a:lnTo>
                <a:lnTo>
                  <a:pt x="331535" y="928116"/>
                </a:lnTo>
              </a:path>
            </a:pathLst>
          </a:custGeom>
          <a:noFill/>
          <a:ln w="9525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</p:sp>
      <p:cxnSp>
        <p:nvCxnSpPr>
          <p:cNvPr id="63" name="struct.lane.2.out"/>
          <p:cNvCxnSpPr/>
          <p:nvPr/>
        </p:nvCxnSpPr>
        <p:spPr>
          <a:xfrm>
            <a:off x="3672576" y="3447288"/>
            <a:ext cx="308705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64" name="struct.lane.3.out"/>
          <p:cNvSpPr/>
          <p:nvPr/>
        </p:nvSpPr>
        <p:spPr>
          <a:xfrm>
            <a:off x="3672576" y="3817620"/>
            <a:ext cx="326555" cy="726948"/>
          </a:xfrm>
          <a:custGeom>
            <a:avLst/>
            <a:gdLst/>
            <a:ahLst/>
            <a:cxnLst/>
            <a:rect l="l" t="t" r="r" b="b"/>
            <a:pathLst>
              <a:path w="331535" h="726948" fill="none">
                <a:moveTo>
                  <a:pt x="0" y="726948"/>
                </a:moveTo>
                <a:lnTo>
                  <a:pt x="146304" y="726948"/>
                </a:lnTo>
                <a:lnTo>
                  <a:pt x="146304" y="0"/>
                </a:lnTo>
                <a:lnTo>
                  <a:pt x="331535" y="0"/>
                </a:lnTo>
              </a:path>
            </a:pathLst>
          </a:custGeom>
          <a:noFill/>
          <a:ln w="9525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</p:sp>
      <p:cxnSp>
        <p:nvCxnSpPr>
          <p:cNvPr id="65" name="struct.spoke.1"/>
          <p:cNvCxnSpPr/>
          <p:nvPr/>
        </p:nvCxnSpPr>
        <p:spPr>
          <a:xfrm>
            <a:off x="5784637" y="2747772"/>
            <a:ext cx="0" cy="448056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66" name="struct.spoke.2"/>
          <p:cNvCxnSpPr/>
          <p:nvPr/>
        </p:nvCxnSpPr>
        <p:spPr>
          <a:xfrm flipH="1">
            <a:off x="6198943" y="3305556"/>
            <a:ext cx="126093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67" name="struct.spoke.3"/>
          <p:cNvCxnSpPr/>
          <p:nvPr/>
        </p:nvCxnSpPr>
        <p:spPr>
          <a:xfrm flipH="1">
            <a:off x="6198943" y="3781044"/>
            <a:ext cx="126093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68" name="struct.spoke.4"/>
          <p:cNvCxnSpPr/>
          <p:nvPr/>
        </p:nvCxnSpPr>
        <p:spPr>
          <a:xfrm flipV="1">
            <a:off x="5784637" y="3890772"/>
            <a:ext cx="0" cy="338328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69" name="struct.spoke.5"/>
          <p:cNvCxnSpPr/>
          <p:nvPr/>
        </p:nvCxnSpPr>
        <p:spPr>
          <a:xfrm>
            <a:off x="5244238" y="3781044"/>
            <a:ext cx="126093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70" name="struct.spoke.6"/>
          <p:cNvCxnSpPr/>
          <p:nvPr/>
        </p:nvCxnSpPr>
        <p:spPr>
          <a:xfrm>
            <a:off x="5244238" y="3305556"/>
            <a:ext cx="126093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71" name="slot.domain.1.head"/>
          <p:cNvSpPr txBox="1"/>
          <p:nvPr/>
        </p:nvSpPr>
        <p:spPr>
          <a:xfrm>
            <a:off x="8153660" y="2432304"/>
            <a:ext cx="882652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b" bIns="34250" lIns="68575" spcFirstLastPara="1" rIns="68575" wrap="square" tIns="3425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Marketing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slot.domain.1.icon"/>
          <p:cNvSpPr/>
          <p:nvPr/>
        </p:nvSpPr>
        <p:spPr>
          <a:xfrm>
            <a:off x="8545004" y="2157984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6000"/>
                </a:moveTo>
                <a:cubicBezTo>
                  <a:pt x="14041" y="6078"/>
                  <a:pt x="17014" y="5088"/>
                  <a:pt x="19400" y="3200"/>
                </a:cubicBezTo>
                <a:cubicBezTo>
                  <a:pt x="19703" y="2973"/>
                  <a:pt x="20108" y="2936"/>
                  <a:pt x="20447" y="3106"/>
                </a:cubicBezTo>
                <a:cubicBezTo>
                  <a:pt x="20786" y="3275"/>
                  <a:pt x="21000" y="3621"/>
                  <a:pt x="21000" y="4000"/>
                </a:cubicBezTo>
                <a:lnTo>
                  <a:pt x="21000" y="16000"/>
                </a:lnTo>
                <a:cubicBezTo>
                  <a:pt x="21000" y="16379"/>
                  <a:pt x="20786" y="16725"/>
                  <a:pt x="20447" y="16894"/>
                </a:cubicBezTo>
                <a:cubicBezTo>
                  <a:pt x="20108" y="17064"/>
                  <a:pt x="19703" y="17027"/>
                  <a:pt x="19400" y="16800"/>
                </a:cubicBezTo>
                <a:cubicBezTo>
                  <a:pt x="17014" y="14912"/>
                  <a:pt x="14041" y="13922"/>
                  <a:pt x="11000" y="14000"/>
                </a:cubicBezTo>
                <a:lnTo>
                  <a:pt x="5000" y="14000"/>
                </a:lnTo>
                <a:cubicBezTo>
                  <a:pt x="3895" y="14000"/>
                  <a:pt x="3000" y="13105"/>
                  <a:pt x="3000" y="12000"/>
                </a:cubicBezTo>
                <a:lnTo>
                  <a:pt x="3000" y="8000"/>
                </a:lnTo>
                <a:cubicBezTo>
                  <a:pt x="3000" y="6895"/>
                  <a:pt x="3895" y="6000"/>
                  <a:pt x="5000" y="6000"/>
                </a:cubicBezTo>
                <a:close/>
                <a:moveTo>
                  <a:pt x="6000" y="14000"/>
                </a:moveTo>
                <a:cubicBezTo>
                  <a:pt x="6000" y="16596"/>
                  <a:pt x="6842" y="19123"/>
                  <a:pt x="8400" y="21200"/>
                </a:cubicBezTo>
                <a:cubicBezTo>
                  <a:pt x="9063" y="22084"/>
                  <a:pt x="10316" y="22263"/>
                  <a:pt x="11200" y="21600"/>
                </a:cubicBezTo>
                <a:cubicBezTo>
                  <a:pt x="12084" y="20937"/>
                  <a:pt x="12263" y="19684"/>
                  <a:pt x="11600" y="18800"/>
                </a:cubicBezTo>
                <a:cubicBezTo>
                  <a:pt x="10561" y="17415"/>
                  <a:pt x="10000" y="15731"/>
                  <a:pt x="10000" y="14000"/>
                </a:cubicBezTo>
                <a:moveTo>
                  <a:pt x="8000" y="6000"/>
                </a:moveTo>
                <a:lnTo>
                  <a:pt x="8000" y="14000"/>
                </a:lnTo>
              </a:path>
            </a:pathLst>
          </a:custGeom>
          <a:noFill/>
          <a:ln w="22860" cap="rnd">
            <a:solidFill>
              <a:schemeClr val="bg1"/>
            </a:solidFill>
            <a:round/>
          </a:ln>
          <a:effectLst/>
        </p:spPr>
      </p:sp>
      <p:sp>
        <p:nvSpPr>
          <p:cNvPr id="73" name="slot.domain.1.use.1"/>
          <p:cNvSpPr txBox="1"/>
          <p:nvPr/>
        </p:nvSpPr>
        <p:spPr>
          <a:xfrm>
            <a:off x="9086333" y="1778608"/>
            <a:ext cx="900666" cy="4297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51425" lIns="51425" spcFirstLastPara="1" rIns="51425" wrap="square" tIns="51425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Audience segments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slot.domain.1.use.2"/>
          <p:cNvSpPr txBox="1"/>
          <p:nvPr/>
        </p:nvSpPr>
        <p:spPr>
          <a:xfrm rot="-1501">
            <a:off x="10066272" y="1507670"/>
            <a:ext cx="916377" cy="4297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51425" lIns="51425" spcFirstLastPara="1" rIns="51425" wrap="square" tIns="51425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Campaign lift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slot.domain.2.head"/>
          <p:cNvSpPr txBox="1"/>
          <p:nvPr/>
        </p:nvSpPr>
        <p:spPr>
          <a:xfrm>
            <a:off x="8570668" y="2953512"/>
            <a:ext cx="720533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34250" lIns="68575" spcFirstLastPara="1" rIns="68575" wrap="square" tIns="3425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Sales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slot.domain.2.icon"/>
          <p:cNvSpPr/>
          <p:nvPr/>
        </p:nvSpPr>
        <p:spPr>
          <a:xfrm>
            <a:off x="9190186" y="2889504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17000"/>
                </a:moveTo>
                <a:lnTo>
                  <a:pt x="13000" y="19000"/>
                </a:lnTo>
                <a:cubicBezTo>
                  <a:pt x="13828" y="19828"/>
                  <a:pt x="15172" y="19828"/>
                  <a:pt x="16000" y="19000"/>
                </a:cubicBezTo>
                <a:cubicBezTo>
                  <a:pt x="16828" y="18172"/>
                  <a:pt x="16828" y="16828"/>
                  <a:pt x="16000" y="16000"/>
                </a:cubicBezTo>
                <a:moveTo>
                  <a:pt x="14000" y="14000"/>
                </a:moveTo>
                <a:lnTo>
                  <a:pt x="16500" y="16500"/>
                </a:lnTo>
                <a:cubicBezTo>
                  <a:pt x="17328" y="17328"/>
                  <a:pt x="18672" y="17328"/>
                  <a:pt x="19500" y="16500"/>
                </a:cubicBezTo>
                <a:cubicBezTo>
                  <a:pt x="20328" y="15672"/>
                  <a:pt x="20328" y="14328"/>
                  <a:pt x="19500" y="13500"/>
                </a:cubicBezTo>
                <a:lnTo>
                  <a:pt x="15620" y="9620"/>
                </a:lnTo>
                <a:cubicBezTo>
                  <a:pt x="14449" y="8450"/>
                  <a:pt x="12551" y="8450"/>
                  <a:pt x="11380" y="9620"/>
                </a:cubicBezTo>
                <a:lnTo>
                  <a:pt x="10500" y="10500"/>
                </a:lnTo>
                <a:cubicBezTo>
                  <a:pt x="9672" y="11328"/>
                  <a:pt x="8328" y="11328"/>
                  <a:pt x="7500" y="10500"/>
                </a:cubicBezTo>
                <a:cubicBezTo>
                  <a:pt x="6672" y="9672"/>
                  <a:pt x="6672" y="8328"/>
                  <a:pt x="7500" y="7500"/>
                </a:cubicBezTo>
                <a:lnTo>
                  <a:pt x="10310" y="4690"/>
                </a:lnTo>
                <a:cubicBezTo>
                  <a:pt x="12187" y="2818"/>
                  <a:pt x="15095" y="2460"/>
                  <a:pt x="17370" y="3820"/>
                </a:cubicBezTo>
                <a:lnTo>
                  <a:pt x="17840" y="4100"/>
                </a:lnTo>
                <a:cubicBezTo>
                  <a:pt x="18266" y="4357"/>
                  <a:pt x="18772" y="4446"/>
                  <a:pt x="19260" y="4350"/>
                </a:cubicBezTo>
                <a:lnTo>
                  <a:pt x="21000" y="4000"/>
                </a:lnTo>
                <a:moveTo>
                  <a:pt x="21000" y="3000"/>
                </a:moveTo>
                <a:lnTo>
                  <a:pt x="22000" y="14000"/>
                </a:lnTo>
                <a:lnTo>
                  <a:pt x="20000" y="14000"/>
                </a:lnTo>
                <a:moveTo>
                  <a:pt x="3000" y="3000"/>
                </a:moveTo>
                <a:lnTo>
                  <a:pt x="2000" y="14000"/>
                </a:lnTo>
                <a:lnTo>
                  <a:pt x="8500" y="20500"/>
                </a:lnTo>
                <a:cubicBezTo>
                  <a:pt x="9328" y="21328"/>
                  <a:pt x="10672" y="21328"/>
                  <a:pt x="11500" y="20500"/>
                </a:cubicBezTo>
                <a:cubicBezTo>
                  <a:pt x="12328" y="19672"/>
                  <a:pt x="12328" y="18328"/>
                  <a:pt x="11500" y="17500"/>
                </a:cubicBezTo>
                <a:moveTo>
                  <a:pt x="3000" y="4000"/>
                </a:moveTo>
                <a:lnTo>
                  <a:pt x="11000" y="4000"/>
                </a:lnTo>
              </a:path>
            </a:pathLst>
          </a:custGeom>
          <a:noFill/>
          <a:ln w="22860" cap="rnd">
            <a:solidFill>
              <a:schemeClr val="bg1"/>
            </a:solidFill>
            <a:round/>
          </a:ln>
          <a:effectLst/>
        </p:spPr>
      </p:sp>
      <p:sp>
        <p:nvSpPr>
          <p:cNvPr id="77" name="slot.domain.2.use.1"/>
          <p:cNvSpPr txBox="1"/>
          <p:nvPr/>
        </p:nvSpPr>
        <p:spPr>
          <a:xfrm>
            <a:off x="9726805" y="2596762"/>
            <a:ext cx="1254833" cy="4297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51425" lIns="51425" spcFirstLastPara="1" rIns="51425" wrap="square" tIns="51425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Lead scoring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slot.domain.2.use.2"/>
          <p:cNvSpPr txBox="1"/>
          <p:nvPr/>
        </p:nvSpPr>
        <p:spPr>
          <a:xfrm rot="-1501">
            <a:off x="10811815" y="2361054"/>
            <a:ext cx="916377" cy="4297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51425" lIns="51425" spcFirstLastPara="1" rIns="51425" wrap="square" tIns="51425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Price guidance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slot.domain.3.head"/>
          <p:cNvSpPr txBox="1"/>
          <p:nvPr/>
        </p:nvSpPr>
        <p:spPr>
          <a:xfrm>
            <a:off x="8672953" y="3465576"/>
            <a:ext cx="828612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34250" lIns="68575" spcFirstLastPara="1" rIns="68575" wrap="square" tIns="3425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Service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slot.domain.3.icon"/>
          <p:cNvSpPr/>
          <p:nvPr/>
        </p:nvSpPr>
        <p:spPr>
          <a:xfrm>
            <a:off x="9426229" y="3529584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14000"/>
                </a:moveTo>
                <a:lnTo>
                  <a:pt x="6000" y="14000"/>
                </a:lnTo>
                <a:cubicBezTo>
                  <a:pt x="7105" y="14000"/>
                  <a:pt x="8000" y="14895"/>
                  <a:pt x="8000" y="16000"/>
                </a:cubicBezTo>
                <a:lnTo>
                  <a:pt x="8000" y="19000"/>
                </a:lnTo>
                <a:cubicBezTo>
                  <a:pt x="8000" y="20105"/>
                  <a:pt x="7105" y="21000"/>
                  <a:pt x="6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12000"/>
                </a:lnTo>
                <a:cubicBezTo>
                  <a:pt x="3000" y="7029"/>
                  <a:pt x="7029" y="3000"/>
                  <a:pt x="12000" y="3000"/>
                </a:cubicBezTo>
                <a:cubicBezTo>
                  <a:pt x="16971" y="3000"/>
                  <a:pt x="21000" y="7029"/>
                  <a:pt x="21000" y="12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8000" y="21000"/>
                </a:lnTo>
                <a:cubicBezTo>
                  <a:pt x="16895" y="21000"/>
                  <a:pt x="16000" y="20105"/>
                  <a:pt x="16000" y="19000"/>
                </a:cubicBezTo>
                <a:lnTo>
                  <a:pt x="16000" y="16000"/>
                </a:lnTo>
                <a:cubicBezTo>
                  <a:pt x="16000" y="14895"/>
                  <a:pt x="16895" y="14000"/>
                  <a:pt x="18000" y="14000"/>
                </a:cubicBezTo>
                <a:lnTo>
                  <a:pt x="21000" y="14000"/>
                </a:lnTo>
              </a:path>
            </a:pathLst>
          </a:custGeom>
          <a:noFill/>
          <a:ln w="22860" cap="rnd">
            <a:solidFill>
              <a:schemeClr val="bg1"/>
            </a:solidFill>
            <a:round/>
          </a:ln>
          <a:effectLst/>
        </p:spPr>
      </p:sp>
      <p:sp>
        <p:nvSpPr>
          <p:cNvPr id="81" name="slot.domain.3.use.1"/>
          <p:cNvSpPr txBox="1"/>
          <p:nvPr/>
        </p:nvSpPr>
        <p:spPr>
          <a:xfrm>
            <a:off x="10026293" y="3386971"/>
            <a:ext cx="935707" cy="56958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51425" lIns="51425" spcFirstLastPara="1" rIns="51425" wrap="square" tIns="51425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Churn alerts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slot.domain.3.use.2"/>
          <p:cNvSpPr txBox="1"/>
          <p:nvPr/>
        </p:nvSpPr>
        <p:spPr>
          <a:xfrm rot="-1707">
            <a:off x="10962062" y="3376754"/>
            <a:ext cx="786384" cy="56958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51425" lIns="51425" spcFirstLastPara="1" rIns="51425" wrap="square" tIns="51425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Case routing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slot.domain.4.head"/>
          <p:cNvSpPr txBox="1"/>
          <p:nvPr/>
        </p:nvSpPr>
        <p:spPr>
          <a:xfrm>
            <a:off x="8491987" y="4014215"/>
            <a:ext cx="783579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34250" lIns="68575" spcFirstLastPara="1" rIns="68575" wrap="square" tIns="3425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Supply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slot.domain.4.icon"/>
          <p:cNvSpPr/>
          <p:nvPr/>
        </p:nvSpPr>
        <p:spPr>
          <a:xfrm>
            <a:off x="9174450" y="415137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000" y="18000"/>
                </a:moveTo>
                <a:lnTo>
                  <a:pt x="14000" y="6000"/>
                </a:lnTo>
                <a:cubicBezTo>
                  <a:pt x="14000" y="4895"/>
                  <a:pt x="13105" y="4000"/>
                  <a:pt x="12000" y="4000"/>
                </a:cubicBezTo>
                <a:lnTo>
                  <a:pt x="4000" y="4000"/>
                </a:lnTo>
                <a:cubicBezTo>
                  <a:pt x="2895" y="4000"/>
                  <a:pt x="2000" y="4895"/>
                  <a:pt x="2000" y="6000"/>
                </a:cubicBezTo>
                <a:lnTo>
                  <a:pt x="2000" y="17000"/>
                </a:lnTo>
                <a:cubicBezTo>
                  <a:pt x="2000" y="17552"/>
                  <a:pt x="2448" y="18000"/>
                  <a:pt x="3000" y="18000"/>
                </a:cubicBezTo>
                <a:lnTo>
                  <a:pt x="5000" y="18000"/>
                </a:lnTo>
                <a:moveTo>
                  <a:pt x="15000" y="18000"/>
                </a:moveTo>
                <a:lnTo>
                  <a:pt x="9000" y="18000"/>
                </a:lnTo>
                <a:moveTo>
                  <a:pt x="19000" y="18000"/>
                </a:moveTo>
                <a:lnTo>
                  <a:pt x="21000" y="18000"/>
                </a:lnTo>
                <a:cubicBezTo>
                  <a:pt x="21552" y="18000"/>
                  <a:pt x="22000" y="17552"/>
                  <a:pt x="22000" y="17000"/>
                </a:cubicBezTo>
                <a:lnTo>
                  <a:pt x="22000" y="13350"/>
                </a:lnTo>
                <a:cubicBezTo>
                  <a:pt x="22000" y="13123"/>
                  <a:pt x="21922" y="12903"/>
                  <a:pt x="21780" y="12726"/>
                </a:cubicBezTo>
                <a:lnTo>
                  <a:pt x="18300" y="8376"/>
                </a:lnTo>
                <a:cubicBezTo>
                  <a:pt x="18111" y="8139"/>
                  <a:pt x="17824" y="8000"/>
                  <a:pt x="17520" y="8000"/>
                </a:cubicBezTo>
                <a:lnTo>
                  <a:pt x="14000" y="8000"/>
                </a:lnTo>
                <a:moveTo>
                  <a:pt x="19000" y="18000"/>
                </a:moveTo>
                <a:cubicBezTo>
                  <a:pt x="19000" y="19105"/>
                  <a:pt x="18105" y="20000"/>
                  <a:pt x="17000" y="20000"/>
                </a:cubicBezTo>
                <a:cubicBezTo>
                  <a:pt x="15895" y="20000"/>
                  <a:pt x="15000" y="19105"/>
                  <a:pt x="15000" y="18000"/>
                </a:cubicBezTo>
                <a:cubicBezTo>
                  <a:pt x="15000" y="16895"/>
                  <a:pt x="15895" y="16000"/>
                  <a:pt x="17000" y="16000"/>
                </a:cubicBezTo>
                <a:cubicBezTo>
                  <a:pt x="18105" y="16000"/>
                  <a:pt x="19000" y="16895"/>
                  <a:pt x="19000" y="18000"/>
                </a:cubicBezTo>
                <a:close/>
                <a:moveTo>
                  <a:pt x="9000" y="18000"/>
                </a:moveTo>
                <a:cubicBezTo>
                  <a:pt x="9000" y="19105"/>
                  <a:pt x="8105" y="20000"/>
                  <a:pt x="7000" y="20000"/>
                </a:cubicBezTo>
                <a:cubicBezTo>
                  <a:pt x="5895" y="20000"/>
                  <a:pt x="5000" y="19105"/>
                  <a:pt x="5000" y="18000"/>
                </a:cubicBezTo>
                <a:cubicBezTo>
                  <a:pt x="5000" y="16895"/>
                  <a:pt x="5895" y="16000"/>
                  <a:pt x="7000" y="16000"/>
                </a:cubicBezTo>
                <a:cubicBezTo>
                  <a:pt x="8105" y="16000"/>
                  <a:pt x="9000" y="16895"/>
                  <a:pt x="9000" y="18000"/>
                </a:cubicBezTo>
                <a:close/>
              </a:path>
            </a:pathLst>
          </a:custGeom>
          <a:noFill/>
          <a:ln w="22860" cap="rnd">
            <a:solidFill>
              <a:schemeClr val="bg1"/>
            </a:solidFill>
            <a:round/>
          </a:ln>
          <a:effectLst/>
        </p:spPr>
      </p:sp>
      <p:sp>
        <p:nvSpPr>
          <p:cNvPr id="85" name="slot.domain.4.use.1"/>
          <p:cNvSpPr txBox="1"/>
          <p:nvPr/>
        </p:nvSpPr>
        <p:spPr>
          <a:xfrm rot="-1870">
            <a:off x="9827988" y="4336369"/>
            <a:ext cx="914400" cy="4297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51425" lIns="51425" spcFirstLastPara="1" rIns="51425" wrap="square" tIns="51425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Demand forecast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slot.domain.4.use.2"/>
          <p:cNvSpPr txBox="1"/>
          <p:nvPr/>
        </p:nvSpPr>
        <p:spPr>
          <a:xfrm rot="-1917">
            <a:off x="10835008" y="4520827"/>
            <a:ext cx="914400" cy="4297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51425" lIns="51425" spcFirstLastPara="1" rIns="51425" wrap="square" tIns="51425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Stock balancing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slot.domain.5.head"/>
          <p:cNvSpPr txBox="1"/>
          <p:nvPr/>
        </p:nvSpPr>
        <p:spPr>
          <a:xfrm>
            <a:off x="8027771" y="4882896"/>
            <a:ext cx="819606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b" bIns="34250" lIns="68575" spcFirstLastPara="1" rIns="68575" wrap="square" tIns="3425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Finance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slot.domain.5.icon"/>
          <p:cNvSpPr/>
          <p:nvPr/>
        </p:nvSpPr>
        <p:spPr>
          <a:xfrm>
            <a:off x="8371906" y="4590288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744" y="17736"/>
                </a:moveTo>
                <a:cubicBezTo>
                  <a:pt x="12915" y="20477"/>
                  <a:pt x="10264" y="22250"/>
                  <a:pt x="7414" y="21970"/>
                </a:cubicBezTo>
                <a:cubicBezTo>
                  <a:pt x="4564" y="21690"/>
                  <a:pt x="2310" y="19436"/>
                  <a:pt x="2030" y="16586"/>
                </a:cubicBezTo>
                <a:cubicBezTo>
                  <a:pt x="1750" y="13736"/>
                  <a:pt x="3523" y="11085"/>
                  <a:pt x="6264" y="10256"/>
                </a:cubicBezTo>
                <a:moveTo>
                  <a:pt x="15000" y="6000"/>
                </a:moveTo>
                <a:lnTo>
                  <a:pt x="16000" y="6000"/>
                </a:lnTo>
                <a:lnTo>
                  <a:pt x="16000" y="10000"/>
                </a:lnTo>
                <a:moveTo>
                  <a:pt x="6134" y="14768"/>
                </a:moveTo>
                <a:lnTo>
                  <a:pt x="7000" y="14268"/>
                </a:lnTo>
                <a:lnTo>
                  <a:pt x="9000" y="17732"/>
                </a:lnTo>
                <a:moveTo>
                  <a:pt x="22000" y="8000"/>
                </a:moveTo>
                <a:cubicBezTo>
                  <a:pt x="22000" y="11314"/>
                  <a:pt x="19314" y="14000"/>
                  <a:pt x="16000" y="14000"/>
                </a:cubicBezTo>
                <a:cubicBezTo>
                  <a:pt x="12686" y="14000"/>
                  <a:pt x="10000" y="11314"/>
                  <a:pt x="10000" y="8000"/>
                </a:cubicBezTo>
                <a:cubicBezTo>
                  <a:pt x="10000" y="4686"/>
                  <a:pt x="12686" y="2000"/>
                  <a:pt x="16000" y="2000"/>
                </a:cubicBezTo>
                <a:cubicBezTo>
                  <a:pt x="19314" y="2000"/>
                  <a:pt x="22000" y="4686"/>
                  <a:pt x="22000" y="8000"/>
                </a:cubicBezTo>
                <a:close/>
              </a:path>
            </a:pathLst>
          </a:custGeom>
          <a:noFill/>
          <a:ln w="22860" cap="rnd">
            <a:solidFill>
              <a:schemeClr val="bg1"/>
            </a:solidFill>
            <a:round/>
          </a:ln>
          <a:effectLst/>
        </p:spPr>
      </p:sp>
      <p:sp>
        <p:nvSpPr>
          <p:cNvPr id="89" name="slot.domain.5.use.1"/>
          <p:cNvSpPr txBox="1"/>
          <p:nvPr/>
        </p:nvSpPr>
        <p:spPr>
          <a:xfrm rot="-1447">
            <a:off x="9036373" y="5209676"/>
            <a:ext cx="950376" cy="4297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51425" lIns="51425" spcFirstLastPara="1" rIns="51425" wrap="square" tIns="51425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Margin by account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slot.domain.5.use.2"/>
          <p:cNvSpPr txBox="1"/>
          <p:nvPr/>
        </p:nvSpPr>
        <p:spPr>
          <a:xfrm rot="-1287">
            <a:off x="10053737" y="5431318"/>
            <a:ext cx="1068373" cy="4297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51425" lIns="51425" spcFirstLastPara="1" rIns="51425" wrap="square" tIns="51425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Cash forecast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over:stack-brand-field-motif">
    <p:spTree>
      <p:nvGrpSpPr>
        <p:cNvPr id="1" name=""/>
        <p:cNvGrpSpPr/>
        <p:nvPr/>
      </p:nvGrpSpPr>
      <p:grpSpPr/>
      <p:sp>
        <p:nvSpPr>
          <p:cNvPr id="2" name="bleed.field"/>
          <p:cNvSpPr/>
          <p:nvPr/>
        </p:nvSpPr>
        <p:spPr>
          <a:xfrm>
            <a:off x="5394960" y="2331720"/>
            <a:ext cx="6796735" cy="4526280"/>
          </a:xfrm>
          <a:custGeom>
            <a:avLst/>
            <a:gdLst/>
            <a:ahLst/>
            <a:cxnLst/>
            <a:rect l="l" t="t" r="r" b="b"/>
            <a:pathLst>
              <a:path w="6796735" h="4526280">
                <a:moveTo>
                  <a:pt x="6796735" y="0"/>
                </a:moveTo>
                <a:lnTo>
                  <a:pt x="4251960" y="0"/>
                </a:lnTo>
                <a:cubicBezTo>
                  <a:pt x="3474720" y="0"/>
                  <a:pt x="3154680" y="274320"/>
                  <a:pt x="2788920" y="868680"/>
                </a:cubicBezTo>
                <a:lnTo>
                  <a:pt x="1508760" y="3246120"/>
                </a:lnTo>
                <a:cubicBezTo>
                  <a:pt x="1051560" y="4069080"/>
                  <a:pt x="594360" y="4526280"/>
                  <a:pt x="0" y="4526280"/>
                </a:cubicBezTo>
                <a:lnTo>
                  <a:pt x="6796735" y="452628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</p:sp>
      <p:sp>
        <p:nvSpPr>
          <p:cNvPr id="3" name="slot.kicker"/>
          <p:cNvSpPr txBox="1"/>
          <p:nvPr/>
        </p:nvSpPr>
        <p:spPr>
          <a:xfrm>
            <a:off x="457200" y="1847088"/>
            <a:ext cx="676656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PROPOSAL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ot.headline"/>
          <p:cNvSpPr txBox="1"/>
          <p:nvPr/>
        </p:nvSpPr>
        <p:spPr>
          <a:xfrm>
            <a:off x="457200" y="2176272"/>
            <a:ext cx="6766560" cy="11338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One demand forecast</a:t>
            </a:r>
            <a:r>
              <a:rPr lang="en-US" sz="36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for every planning region</a:t>
            </a:r>
            <a:endParaRPr lang="en-US" sz="36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lot.label"/>
          <p:cNvSpPr txBox="1"/>
          <p:nvPr/>
        </p:nvSpPr>
        <p:spPr>
          <a:xfrm>
            <a:off x="457200" y="3584448"/>
            <a:ext cx="676656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Prepared for the group supply planning office</a:t>
            </a:r>
            <a:endParaRPr lang="en-US" sz="16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ot.date"/>
          <p:cNvSpPr txBox="1"/>
          <p:nvPr/>
        </p:nvSpPr>
        <p:spPr>
          <a:xfrm>
            <a:off x="457200" y="4078224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October 2026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truct.motif.hub"/>
          <p:cNvSpPr/>
          <p:nvPr/>
        </p:nvSpPr>
        <p:spPr>
          <a:xfrm>
            <a:off x="10058400" y="4023360"/>
            <a:ext cx="1005840" cy="1005840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</p:sp>
      <p:sp>
        <p:nvSpPr>
          <p:cNvPr id="8" name="slot.motif.hub.icon"/>
          <p:cNvSpPr/>
          <p:nvPr/>
        </p:nvSpPr>
        <p:spPr>
          <a:xfrm>
            <a:off x="10296144" y="4261104"/>
            <a:ext cx="530352" cy="53035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3000"/>
                </a:moveTo>
                <a:lnTo>
                  <a:pt x="3000" y="19000"/>
                </a:lnTo>
                <a:cubicBezTo>
                  <a:pt x="3000" y="20105"/>
                  <a:pt x="3895" y="21000"/>
                  <a:pt x="5000" y="21000"/>
                </a:cubicBezTo>
                <a:lnTo>
                  <a:pt x="21000" y="21000"/>
                </a:lnTo>
                <a:moveTo>
                  <a:pt x="19000" y="9000"/>
                </a:moveTo>
                <a:lnTo>
                  <a:pt x="14000" y="14000"/>
                </a:lnTo>
                <a:lnTo>
                  <a:pt x="10000" y="10000"/>
                </a:lnTo>
                <a:lnTo>
                  <a:pt x="7000" y="13000"/>
                </a:lnTo>
              </a:path>
            </a:pathLst>
          </a:custGeom>
          <a:noFill/>
          <a:ln w="44450" cap="rnd">
            <a:solidFill>
              <a:schemeClr val="accent1">
                <a:lumMod val="50000"/>
                <a:lumOff val="50000"/>
              </a:schemeClr>
            </a:solidFill>
            <a:round/>
          </a:ln>
          <a:effectLst/>
        </p:spPr>
      </p:sp>
      <p:sp>
        <p:nvSpPr>
          <p:cNvPr id="9" name="slot.motif.hub.label"/>
          <p:cNvSpPr txBox="1"/>
          <p:nvPr/>
        </p:nvSpPr>
        <p:spPr>
          <a:xfrm>
            <a:off x="9646920" y="5120640"/>
            <a:ext cx="1828800" cy="31089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One forecast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truct.motif.1.disc"/>
          <p:cNvSpPr/>
          <p:nvPr/>
        </p:nvSpPr>
        <p:spPr>
          <a:xfrm>
            <a:off x="8796528" y="2761488"/>
            <a:ext cx="603504" cy="603504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11" name="slot.motif.1.icon"/>
          <p:cNvSpPr/>
          <p:nvPr/>
        </p:nvSpPr>
        <p:spPr>
          <a:xfrm>
            <a:off x="8924544" y="2889504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50" y="2050"/>
                </a:moveTo>
                <a:lnTo>
                  <a:pt x="3149" y="2022"/>
                </a:lnTo>
                <a:cubicBezTo>
                  <a:pt x="3639" y="2010"/>
                  <a:pt x="4066" y="2355"/>
                  <a:pt x="4157" y="2837"/>
                </a:cubicBezTo>
                <a:lnTo>
                  <a:pt x="6847" y="17184"/>
                </a:lnTo>
                <a:cubicBezTo>
                  <a:pt x="6936" y="17657"/>
                  <a:pt x="7349" y="18000"/>
                  <a:pt x="7830" y="18000"/>
                </a:cubicBezTo>
                <a:lnTo>
                  <a:pt x="18000" y="18000"/>
                </a:lnTo>
                <a:moveTo>
                  <a:pt x="4563" y="5000"/>
                </a:moveTo>
                <a:lnTo>
                  <a:pt x="20998" y="5000"/>
                </a:lnTo>
                <a:cubicBezTo>
                  <a:pt x="21299" y="4999"/>
                  <a:pt x="21585" y="5135"/>
                  <a:pt x="21775" y="5368"/>
                </a:cubicBezTo>
                <a:cubicBezTo>
                  <a:pt x="21966" y="5602"/>
                  <a:pt x="22040" y="5909"/>
                  <a:pt x="21979" y="6204"/>
                </a:cubicBezTo>
                <a:lnTo>
                  <a:pt x="20953" y="12430"/>
                </a:lnTo>
                <a:cubicBezTo>
                  <a:pt x="20748" y="13361"/>
                  <a:pt x="19915" y="14018"/>
                  <a:pt x="18962" y="14000"/>
                </a:cubicBezTo>
                <a:lnTo>
                  <a:pt x="6250" y="14000"/>
                </a:lnTo>
                <a:moveTo>
                  <a:pt x="20000" y="20000"/>
                </a:moveTo>
                <a:cubicBezTo>
                  <a:pt x="20000" y="21105"/>
                  <a:pt x="19105" y="22000"/>
                  <a:pt x="18000" y="22000"/>
                </a:cubicBezTo>
                <a:cubicBezTo>
                  <a:pt x="16895" y="22000"/>
                  <a:pt x="16000" y="21105"/>
                  <a:pt x="16000" y="20000"/>
                </a:cubicBezTo>
                <a:cubicBezTo>
                  <a:pt x="16000" y="18895"/>
                  <a:pt x="16895" y="18000"/>
                  <a:pt x="18000" y="18000"/>
                </a:cubicBezTo>
                <a:cubicBezTo>
                  <a:pt x="19105" y="18000"/>
                  <a:pt x="20000" y="18895"/>
                  <a:pt x="20000" y="20000"/>
                </a:cubicBezTo>
                <a:close/>
                <a:moveTo>
                  <a:pt x="10000" y="20000"/>
                </a:moveTo>
                <a:cubicBezTo>
                  <a:pt x="10000" y="21105"/>
                  <a:pt x="9105" y="22000"/>
                  <a:pt x="8000" y="22000"/>
                </a:cubicBezTo>
                <a:cubicBezTo>
                  <a:pt x="6895" y="22000"/>
                  <a:pt x="6000" y="21105"/>
                  <a:pt x="6000" y="20000"/>
                </a:cubicBezTo>
                <a:cubicBezTo>
                  <a:pt x="6000" y="18895"/>
                  <a:pt x="6895" y="18000"/>
                  <a:pt x="8000" y="18000"/>
                </a:cubicBezTo>
                <a:cubicBezTo>
                  <a:pt x="9105" y="18000"/>
                  <a:pt x="10000" y="18895"/>
                  <a:pt x="10000" y="20000"/>
                </a:cubicBezTo>
                <a:close/>
              </a:path>
            </a:pathLst>
          </a:custGeom>
          <a:noFill/>
          <a:ln w="29210" cap="rnd">
            <a:solidFill>
              <a:schemeClr val="accent1"/>
            </a:solidFill>
            <a:round/>
          </a:ln>
          <a:effectLst/>
        </p:spPr>
      </p:sp>
      <p:sp>
        <p:nvSpPr>
          <p:cNvPr id="12" name="slot.motif.1.label"/>
          <p:cNvSpPr txBox="1"/>
          <p:nvPr/>
        </p:nvSpPr>
        <p:spPr>
          <a:xfrm>
            <a:off x="8321040" y="3419856"/>
            <a:ext cx="155448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Orders</a:t>
            </a:r>
            <a:endParaRPr lang="en-US" sz="12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3" name="struct.motif.1.arrow"/>
          <p:cNvCxnSpPr/>
          <p:nvPr/>
        </p:nvCxnSpPr>
        <p:spPr>
          <a:xfrm>
            <a:off x="9311651" y="3276611"/>
            <a:ext cx="894051" cy="894051"/>
          </a:xfrm>
          <a:prstGeom prst="line">
            <a:avLst/>
          </a:prstGeom>
          <a:ln w="19050">
            <a:solidFill>
              <a:schemeClr val="bg1"/>
            </a:solidFill>
            <a:tailEnd type="triangle" w="med" len="med"/>
          </a:ln>
          <a:effectLst/>
        </p:spPr>
      </p:cxnSp>
      <p:sp>
        <p:nvSpPr>
          <p:cNvPr id="14" name="struct.motif.2.disc"/>
          <p:cNvSpPr/>
          <p:nvPr/>
        </p:nvSpPr>
        <p:spPr>
          <a:xfrm>
            <a:off x="8019288" y="4224528"/>
            <a:ext cx="603504" cy="603504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15" name="slot.motif.2.icon"/>
          <p:cNvSpPr/>
          <p:nvPr/>
        </p:nvSpPr>
        <p:spPr>
          <a:xfrm>
            <a:off x="8147304" y="4352544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000" y="18000"/>
                </a:moveTo>
                <a:lnTo>
                  <a:pt x="14000" y="6000"/>
                </a:lnTo>
                <a:cubicBezTo>
                  <a:pt x="14000" y="4895"/>
                  <a:pt x="13105" y="4000"/>
                  <a:pt x="12000" y="4000"/>
                </a:cubicBezTo>
                <a:lnTo>
                  <a:pt x="4000" y="4000"/>
                </a:lnTo>
                <a:cubicBezTo>
                  <a:pt x="2895" y="4000"/>
                  <a:pt x="2000" y="4895"/>
                  <a:pt x="2000" y="6000"/>
                </a:cubicBezTo>
                <a:lnTo>
                  <a:pt x="2000" y="17000"/>
                </a:lnTo>
                <a:cubicBezTo>
                  <a:pt x="2000" y="17552"/>
                  <a:pt x="2448" y="18000"/>
                  <a:pt x="3000" y="18000"/>
                </a:cubicBezTo>
                <a:lnTo>
                  <a:pt x="5000" y="18000"/>
                </a:lnTo>
                <a:moveTo>
                  <a:pt x="15000" y="18000"/>
                </a:moveTo>
                <a:lnTo>
                  <a:pt x="9000" y="18000"/>
                </a:lnTo>
                <a:moveTo>
                  <a:pt x="19000" y="18000"/>
                </a:moveTo>
                <a:lnTo>
                  <a:pt x="21000" y="18000"/>
                </a:lnTo>
                <a:cubicBezTo>
                  <a:pt x="21552" y="18000"/>
                  <a:pt x="22000" y="17552"/>
                  <a:pt x="22000" y="17000"/>
                </a:cubicBezTo>
                <a:lnTo>
                  <a:pt x="22000" y="13350"/>
                </a:lnTo>
                <a:cubicBezTo>
                  <a:pt x="22000" y="13123"/>
                  <a:pt x="21922" y="12903"/>
                  <a:pt x="21780" y="12726"/>
                </a:cubicBezTo>
                <a:lnTo>
                  <a:pt x="18300" y="8376"/>
                </a:lnTo>
                <a:cubicBezTo>
                  <a:pt x="18111" y="8139"/>
                  <a:pt x="17824" y="8000"/>
                  <a:pt x="17520" y="8000"/>
                </a:cubicBezTo>
                <a:lnTo>
                  <a:pt x="14000" y="8000"/>
                </a:lnTo>
                <a:moveTo>
                  <a:pt x="19000" y="18000"/>
                </a:moveTo>
                <a:cubicBezTo>
                  <a:pt x="19000" y="19105"/>
                  <a:pt x="18105" y="20000"/>
                  <a:pt x="17000" y="20000"/>
                </a:cubicBezTo>
                <a:cubicBezTo>
                  <a:pt x="15895" y="20000"/>
                  <a:pt x="15000" y="19105"/>
                  <a:pt x="15000" y="18000"/>
                </a:cubicBezTo>
                <a:cubicBezTo>
                  <a:pt x="15000" y="16895"/>
                  <a:pt x="15895" y="16000"/>
                  <a:pt x="17000" y="16000"/>
                </a:cubicBezTo>
                <a:cubicBezTo>
                  <a:pt x="18105" y="16000"/>
                  <a:pt x="19000" y="16895"/>
                  <a:pt x="19000" y="18000"/>
                </a:cubicBezTo>
                <a:close/>
                <a:moveTo>
                  <a:pt x="9000" y="18000"/>
                </a:moveTo>
                <a:cubicBezTo>
                  <a:pt x="9000" y="19105"/>
                  <a:pt x="8105" y="20000"/>
                  <a:pt x="7000" y="20000"/>
                </a:cubicBezTo>
                <a:cubicBezTo>
                  <a:pt x="5895" y="20000"/>
                  <a:pt x="5000" y="19105"/>
                  <a:pt x="5000" y="18000"/>
                </a:cubicBezTo>
                <a:cubicBezTo>
                  <a:pt x="5000" y="16895"/>
                  <a:pt x="5895" y="16000"/>
                  <a:pt x="7000" y="16000"/>
                </a:cubicBezTo>
                <a:cubicBezTo>
                  <a:pt x="8105" y="16000"/>
                  <a:pt x="9000" y="16895"/>
                  <a:pt x="9000" y="18000"/>
                </a:cubicBezTo>
                <a:close/>
              </a:path>
            </a:pathLst>
          </a:custGeom>
          <a:noFill/>
          <a:ln w="29210" cap="rnd">
            <a:solidFill>
              <a:schemeClr val="accent1"/>
            </a:solidFill>
            <a:round/>
          </a:ln>
          <a:effectLst/>
        </p:spPr>
      </p:sp>
      <p:sp>
        <p:nvSpPr>
          <p:cNvPr id="16" name="slot.motif.2.label"/>
          <p:cNvSpPr txBox="1"/>
          <p:nvPr/>
        </p:nvSpPr>
        <p:spPr>
          <a:xfrm>
            <a:off x="7543800" y="4882896"/>
            <a:ext cx="155448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Shipments</a:t>
            </a:r>
            <a:endParaRPr lang="en-US" sz="12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7" name="struct.motif.2.arrow"/>
          <p:cNvCxnSpPr/>
          <p:nvPr/>
        </p:nvCxnSpPr>
        <p:spPr>
          <a:xfrm>
            <a:off x="8622792" y="4526280"/>
            <a:ext cx="1435608" cy="0"/>
          </a:xfrm>
          <a:prstGeom prst="line">
            <a:avLst/>
          </a:prstGeom>
          <a:ln w="19050">
            <a:solidFill>
              <a:schemeClr val="bg1"/>
            </a:solidFill>
            <a:tailEnd type="triangle" w="med" len="med"/>
          </a:ln>
          <a:effectLst/>
        </p:spPr>
      </p:cxnSp>
      <p:sp>
        <p:nvSpPr>
          <p:cNvPr id="18" name="struct.motif.3.disc"/>
          <p:cNvSpPr/>
          <p:nvPr/>
        </p:nvSpPr>
        <p:spPr>
          <a:xfrm>
            <a:off x="8796528" y="5303520"/>
            <a:ext cx="603504" cy="603504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19" name="slot.motif.3.icon"/>
          <p:cNvSpPr/>
          <p:nvPr/>
        </p:nvSpPr>
        <p:spPr>
          <a:xfrm>
            <a:off x="8924544" y="5431536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8000" y="2000"/>
                </a:moveTo>
                <a:lnTo>
                  <a:pt x="8000" y="5000"/>
                </a:lnTo>
                <a:moveTo>
                  <a:pt x="16000" y="2000"/>
                </a:moveTo>
                <a:lnTo>
                  <a:pt x="16000" y="5000"/>
                </a:lnTo>
                <a:moveTo>
                  <a:pt x="5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  <a:moveTo>
                  <a:pt x="3000" y="9000"/>
                </a:moveTo>
                <a:lnTo>
                  <a:pt x="21000" y="9000"/>
                </a:lnTo>
              </a:path>
            </a:pathLst>
          </a:custGeom>
          <a:noFill/>
          <a:ln w="29210" cap="rnd">
            <a:solidFill>
              <a:schemeClr val="accent1"/>
            </a:solidFill>
            <a:round/>
          </a:ln>
          <a:effectLst/>
        </p:spPr>
      </p:sp>
      <p:sp>
        <p:nvSpPr>
          <p:cNvPr id="20" name="slot.motif.3.label"/>
          <p:cNvSpPr txBox="1"/>
          <p:nvPr/>
        </p:nvSpPr>
        <p:spPr>
          <a:xfrm>
            <a:off x="8321040" y="5961888"/>
            <a:ext cx="155448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Promotions</a:t>
            </a:r>
            <a:endParaRPr lang="en-US" sz="12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1" name="struct.motif.3.arrow"/>
          <p:cNvCxnSpPr/>
          <p:nvPr/>
        </p:nvCxnSpPr>
        <p:spPr>
          <a:xfrm flipV="1">
            <a:off x="9341131" y="4824784"/>
            <a:ext cx="815438" cy="601385"/>
          </a:xfrm>
          <a:prstGeom prst="line">
            <a:avLst/>
          </a:prstGeom>
          <a:ln w="19050">
            <a:solidFill>
              <a:schemeClr val="bg1"/>
            </a:solidFill>
            <a:tailEnd type="triangle" w="med" len="med"/>
          </a:ln>
          <a:effectLst/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genda:lit-quadrant-grid">
    <p:spTree>
      <p:nvGrpSpPr>
        <p:cNvPr id="1" name=""/>
        <p:cNvGrpSpPr/>
        <p:nvPr/>
      </p:nvGrpSpPr>
      <p:grpSpPr/>
      <p:sp>
        <p:nvSpPr>
          <p:cNvPr id="2" name="slot.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Four parts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from planning baseline to gated pilot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truct.part.1.tile"/>
          <p:cNvSpPr/>
          <p:nvPr/>
        </p:nvSpPr>
        <p:spPr>
          <a:xfrm>
            <a:off x="457200" y="841248"/>
            <a:ext cx="5532120" cy="2670048"/>
          </a:xfrm>
          <a:prstGeom prst="roundRect">
            <a:avLst>
              <a:gd name="adj" fmla="val 1712"/>
            </a:avLst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4" name="slot.part.1.num"/>
          <p:cNvSpPr txBox="1"/>
          <p:nvPr/>
        </p:nvSpPr>
        <p:spPr>
          <a:xfrm>
            <a:off x="731520" y="1042416"/>
            <a:ext cx="1481328" cy="226771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12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lot.part.1.head"/>
          <p:cNvSpPr txBox="1"/>
          <p:nvPr/>
        </p:nvSpPr>
        <p:spPr>
          <a:xfrm>
            <a:off x="2359152" y="1152144"/>
            <a:ext cx="3355848" cy="640080"/>
          </a:xfrm>
          <a:prstGeom prst="rect">
            <a:avLst/>
          </a:prstGeom>
          <a:noFill/>
          <a:effectLst/>
        </p:spPr>
        <p:txBody>
          <a:bodyPr wrap="square" lIns="0" tIns="0" rIns="0" bIns="0" anchor="b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Planning today</a:t>
            </a:r>
            <a:endParaRPr lang="en-US" sz="16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" name="struct.part.1.rule"/>
          <p:cNvCxnSpPr/>
          <p:nvPr/>
        </p:nvCxnSpPr>
        <p:spPr>
          <a:xfrm>
            <a:off x="2359152" y="1901952"/>
            <a:ext cx="3355848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</p:cxnSp>
      <p:sp>
        <p:nvSpPr>
          <p:cNvPr id="7" name="slot.part.1.scope"/>
          <p:cNvSpPr txBox="1"/>
          <p:nvPr/>
        </p:nvSpPr>
        <p:spPr>
          <a:xfrm>
            <a:off x="2359152" y="2048256"/>
            <a:ext cx="3355848" cy="124358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Accuracy by region</a:t>
            </a:r>
            <a:endParaRPr lang="en-US" sz="13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3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Hours per monthly cycle</a:t>
            </a:r>
            <a:endParaRPr lang="en-US" sz="13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3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Where overrides cluster</a:t>
            </a:r>
            <a:endParaRPr lang="en-US" sz="13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truct.part.2.tile"/>
          <p:cNvSpPr/>
          <p:nvPr/>
        </p:nvSpPr>
        <p:spPr>
          <a:xfrm>
            <a:off x="6263640" y="841248"/>
            <a:ext cx="5532120" cy="2670048"/>
          </a:xfrm>
          <a:prstGeom prst="roundRect">
            <a:avLst>
              <a:gd name="adj" fmla="val 171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9" name="slot.part.2.num"/>
          <p:cNvSpPr txBox="1"/>
          <p:nvPr/>
        </p:nvSpPr>
        <p:spPr>
          <a:xfrm>
            <a:off x="6537960" y="1042416"/>
            <a:ext cx="1481328" cy="226771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2</a:t>
            </a:r>
            <a:endParaRPr lang="en-US" sz="12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lot.part.2.head"/>
          <p:cNvSpPr txBox="1"/>
          <p:nvPr/>
        </p:nvSpPr>
        <p:spPr>
          <a:xfrm>
            <a:off x="8165592" y="1152144"/>
            <a:ext cx="3355848" cy="640080"/>
          </a:xfrm>
          <a:prstGeom prst="rect">
            <a:avLst/>
          </a:prstGeom>
          <a:noFill/>
          <a:effectLst/>
        </p:spPr>
        <p:txBody>
          <a:bodyPr wrap="square" lIns="0" tIns="0" rIns="0" bIns="0" anchor="b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The forecasting approach</a:t>
            </a:r>
            <a:endParaRPr lang="en-US" sz="16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1" name="struct.part.2.rule"/>
          <p:cNvCxnSpPr/>
          <p:nvPr/>
        </p:nvCxnSpPr>
        <p:spPr>
          <a:xfrm>
            <a:off x="8165592" y="1901952"/>
            <a:ext cx="33558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12" name="slot.part.2.scope"/>
          <p:cNvSpPr txBox="1"/>
          <p:nvPr/>
        </p:nvSpPr>
        <p:spPr>
          <a:xfrm>
            <a:off x="8165592" y="2048256"/>
            <a:ext cx="3355848" cy="124358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model, every region</a:t>
            </a:r>
            <a:endParaRPr lang="en-US" sz="13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3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Planner review and override</a:t>
            </a:r>
            <a:endParaRPr lang="en-US" sz="13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3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Data needed first</a:t>
            </a:r>
            <a:endParaRPr lang="en-US" sz="13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struct.part.3.tile"/>
          <p:cNvSpPr/>
          <p:nvPr/>
        </p:nvSpPr>
        <p:spPr>
          <a:xfrm>
            <a:off x="457200" y="3749040"/>
            <a:ext cx="5532120" cy="2670048"/>
          </a:xfrm>
          <a:prstGeom prst="roundRect">
            <a:avLst>
              <a:gd name="adj" fmla="val 171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14" name="slot.part.3.num"/>
          <p:cNvSpPr txBox="1"/>
          <p:nvPr/>
        </p:nvSpPr>
        <p:spPr>
          <a:xfrm>
            <a:off x="731520" y="3950208"/>
            <a:ext cx="1481328" cy="226771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3</a:t>
            </a:r>
            <a:endParaRPr lang="en-US" sz="12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lot.part.3.head"/>
          <p:cNvSpPr txBox="1"/>
          <p:nvPr/>
        </p:nvSpPr>
        <p:spPr>
          <a:xfrm>
            <a:off x="2359152" y="4059936"/>
            <a:ext cx="3355848" cy="640080"/>
          </a:xfrm>
          <a:prstGeom prst="rect">
            <a:avLst/>
          </a:prstGeom>
          <a:noFill/>
          <a:effectLst/>
        </p:spPr>
        <p:txBody>
          <a:bodyPr wrap="square" lIns="0" tIns="0" rIns="0" bIns="0" anchor="b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Pilot plan and gates</a:t>
            </a:r>
            <a:endParaRPr lang="en-US" sz="16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6" name="struct.part.3.rule"/>
          <p:cNvCxnSpPr/>
          <p:nvPr/>
        </p:nvCxnSpPr>
        <p:spPr>
          <a:xfrm>
            <a:off x="2359152" y="4809744"/>
            <a:ext cx="33558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17" name="slot.part.3.scope"/>
          <p:cNvSpPr txBox="1"/>
          <p:nvPr/>
        </p:nvSpPr>
        <p:spPr>
          <a:xfrm>
            <a:off x="2359152" y="4956048"/>
            <a:ext cx="3355848" cy="124358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Wave one: three regions</a:t>
            </a:r>
            <a:endParaRPr lang="en-US" sz="13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3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Accuracy gate before rollout</a:t>
            </a:r>
            <a:endParaRPr lang="en-US" sz="13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3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Owners and weekly review</a:t>
            </a:r>
            <a:endParaRPr lang="en-US" sz="13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truct.part.4.tile"/>
          <p:cNvSpPr/>
          <p:nvPr/>
        </p:nvSpPr>
        <p:spPr>
          <a:xfrm>
            <a:off x="6263640" y="3749040"/>
            <a:ext cx="5532120" cy="2670048"/>
          </a:xfrm>
          <a:prstGeom prst="roundRect">
            <a:avLst>
              <a:gd name="adj" fmla="val 171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19" name="slot.part.4.num"/>
          <p:cNvSpPr txBox="1"/>
          <p:nvPr/>
        </p:nvSpPr>
        <p:spPr>
          <a:xfrm>
            <a:off x="6537960" y="3950208"/>
            <a:ext cx="1481328" cy="226771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4</a:t>
            </a:r>
            <a:endParaRPr lang="en-US" sz="12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lot.part.4.head"/>
          <p:cNvSpPr txBox="1"/>
          <p:nvPr/>
        </p:nvSpPr>
        <p:spPr>
          <a:xfrm>
            <a:off x="8165592" y="4059936"/>
            <a:ext cx="3355848" cy="640080"/>
          </a:xfrm>
          <a:prstGeom prst="rect">
            <a:avLst/>
          </a:prstGeom>
          <a:noFill/>
          <a:effectLst/>
        </p:spPr>
        <p:txBody>
          <a:bodyPr wrap="square" lIns="0" tIns="0" rIns="0" bIns="0" anchor="b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Commercials and next steps</a:t>
            </a:r>
            <a:endParaRPr lang="en-US" sz="16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1" name="struct.part.4.rule"/>
          <p:cNvCxnSpPr/>
          <p:nvPr/>
        </p:nvCxnSpPr>
        <p:spPr>
          <a:xfrm>
            <a:off x="8165592" y="4809744"/>
            <a:ext cx="33558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22" name="slot.part.4.scope"/>
          <p:cNvSpPr txBox="1"/>
          <p:nvPr/>
        </p:nvSpPr>
        <p:spPr>
          <a:xfrm>
            <a:off x="8165592" y="4956048"/>
            <a:ext cx="3355848" cy="124358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Fee phased by gate</a:t>
            </a:r>
            <a:endParaRPr lang="en-US" sz="13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3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Decisions this month</a:t>
            </a:r>
            <a:endParaRPr lang="en-US" sz="13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3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The first ninety days</a:t>
            </a:r>
            <a:endParaRPr lang="en-US" sz="13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ection-divider:ghost-numeral">
    <p:spTree>
      <p:nvGrpSpPr>
        <p:cNvPr id="1" name=""/>
        <p:cNvGrpSpPr/>
        <p:nvPr/>
      </p:nvGrpSpPr>
      <p:grpSpPr/>
      <p:sp>
        <p:nvSpPr>
          <p:cNvPr id="2" name="slot.headline"/>
          <p:cNvSpPr txBox="1"/>
          <p:nvPr/>
        </p:nvSpPr>
        <p:spPr>
          <a:xfrm>
            <a:off x="457200" y="2761488"/>
            <a:ext cx="6126480" cy="21031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Where </a:t>
            </a:r>
            <a:r>
              <a:rPr lang="en-US" sz="4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demand planning</a:t>
            </a:r>
            <a:r>
              <a:rPr lang="en-US" sz="4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stands today</a:t>
            </a:r>
            <a:endParaRPr lang="en-US" sz="4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ot.numeral"/>
          <p:cNvSpPr txBox="1"/>
          <p:nvPr/>
        </p:nvSpPr>
        <p:spPr>
          <a:xfrm>
            <a:off x="6766560" y="1481328"/>
            <a:ext cx="5029200" cy="466344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01</a:t>
            </a:r>
            <a:endParaRPr lang="en-US" sz="28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losing:promise-panel-close">
    <p:spTree>
      <p:nvGrpSpPr>
        <p:cNvPr id="1" name=""/>
        <p:cNvGrpSpPr/>
        <p:nvPr/>
      </p:nvGrpSpPr>
      <p:grpSpPr/>
      <p:sp>
        <p:nvSpPr>
          <p:cNvPr id="2" name="bleed.panel"/>
          <p:cNvSpPr/>
          <p:nvPr/>
        </p:nvSpPr>
        <p:spPr>
          <a:xfrm>
            <a:off x="7680960" y="0"/>
            <a:ext cx="4510735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slot.headline"/>
          <p:cNvSpPr txBox="1"/>
          <p:nvPr/>
        </p:nvSpPr>
        <p:spPr>
          <a:xfrm>
            <a:off x="457200" y="1188720"/>
            <a:ext cx="6675120" cy="1700784"/>
          </a:xfrm>
          <a:prstGeom prst="rect">
            <a:avLst/>
          </a:prstGeom>
          <a:noFill/>
          <a:effectLst/>
        </p:spPr>
        <p:txBody>
          <a:bodyPr wrap="square" lIns="0" rIns="0" t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Approve the pilot scope</a:t>
            </a:r>
            <a:r>
              <a:rPr lang="en-US" sz="3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and forecasts reach planners in fourteen weeks</a:t>
            </a:r>
            <a:endParaRPr lang="en-US" sz="3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ot.contact.1.label"/>
          <p:cNvSpPr txBox="1"/>
          <p:nvPr/>
        </p:nvSpPr>
        <p:spPr>
          <a:xfrm>
            <a:off x="457200" y="3383280"/>
            <a:ext cx="5486400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Engagement lead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lot.contact.1.line"/>
          <p:cNvSpPr txBox="1"/>
          <p:nvPr/>
        </p:nvSpPr>
        <p:spPr>
          <a:xfrm>
            <a:off x="457200" y="3712464"/>
            <a:ext cx="54864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Director, data and AI platforms</a:t>
            </a:r>
            <a:endParaRPr lang="en-US" sz="13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ot.contact.2.label"/>
          <p:cNvSpPr txBox="1"/>
          <p:nvPr/>
        </p:nvSpPr>
        <p:spPr>
          <a:xfrm>
            <a:off x="457200" y="4279392"/>
            <a:ext cx="5486400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Pilot team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lot.contact.2.line.1"/>
          <p:cNvSpPr txBox="1"/>
          <p:nvPr/>
        </p:nvSpPr>
        <p:spPr>
          <a:xfrm>
            <a:off x="457200" y="4608576"/>
            <a:ext cx="603504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Planning analytics lead, accuracy and targets</a:t>
            </a:r>
            <a:endParaRPr lang="en-US" sz="13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lot.contact.2.line.2"/>
          <p:cNvSpPr txBox="1"/>
          <p:nvPr/>
        </p:nvSpPr>
        <p:spPr>
          <a:xfrm>
            <a:off x="457200" y="4937760"/>
            <a:ext cx="603504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Forecast engineering lead, models and runs</a:t>
            </a:r>
            <a:endParaRPr lang="en-US" sz="13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slot.promise"/>
          <p:cNvSpPr txBox="1"/>
          <p:nvPr/>
        </p:nvSpPr>
        <p:spPr>
          <a:xfrm>
            <a:off x="8183879" y="2724912"/>
            <a:ext cx="3520440" cy="1920240"/>
          </a:xfrm>
          <a:prstGeom prst="rect">
            <a:avLst/>
          </a:prstGeom>
          <a:noFill/>
          <a:effectLst/>
        </p:spPr>
        <p:txBody>
          <a:bodyPr wrap="square" lIns="0" rIns="0" t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One weekly forecast that every planner trusts, owned by the planning office from week fourteen</a:t>
            </a:r>
            <a:endParaRPr lang="en-US" sz="2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lot.contact.2.line.3"/>
          <p:cNvSpPr txBox="1"/>
          <p:nvPr/>
        </p:nvSpPr>
        <p:spPr>
          <a:xfrm>
            <a:off x="457200" y="5266944"/>
            <a:ext cx="603504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Data integration lead, order history feeds</a:t>
            </a:r>
            <a:endParaRPr lang="en-US" sz="13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ot.promise.icon"/>
          <p:cNvSpPr/>
          <p:nvPr/>
        </p:nvSpPr>
        <p:spPr>
          <a:xfrm>
            <a:off x="8183880" y="1956816"/>
            <a:ext cx="512064" cy="51206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8000" y="12000"/>
                </a:moveTo>
                <a:cubicBezTo>
                  <a:pt x="18000" y="15314"/>
                  <a:pt x="15314" y="18000"/>
                  <a:pt x="12000" y="18000"/>
                </a:cubicBezTo>
                <a:cubicBezTo>
                  <a:pt x="8686" y="18000"/>
                  <a:pt x="6000" y="15314"/>
                  <a:pt x="6000" y="12000"/>
                </a:cubicBezTo>
                <a:cubicBezTo>
                  <a:pt x="6000" y="8686"/>
                  <a:pt x="8686" y="6000"/>
                  <a:pt x="12000" y="6000"/>
                </a:cubicBezTo>
                <a:cubicBezTo>
                  <a:pt x="15314" y="6000"/>
                  <a:pt x="18000" y="8686"/>
                  <a:pt x="18000" y="12000"/>
                </a:cubicBezTo>
                <a:close/>
                <a:moveTo>
                  <a:pt x="14000" y="12000"/>
                </a:moveTo>
                <a:cubicBezTo>
                  <a:pt x="14000" y="13105"/>
                  <a:pt x="13105" y="14000"/>
                  <a:pt x="12000" y="14000"/>
                </a:cubicBezTo>
                <a:cubicBezTo>
                  <a:pt x="10895" y="14000"/>
                  <a:pt x="10000" y="13105"/>
                  <a:pt x="10000" y="12000"/>
                </a:cubicBezTo>
                <a:cubicBezTo>
                  <a:pt x="10000" y="10895"/>
                  <a:pt x="10895" y="10000"/>
                  <a:pt x="12000" y="10000"/>
                </a:cubicBezTo>
                <a:cubicBezTo>
                  <a:pt x="13105" y="10000"/>
                  <a:pt x="14000" y="10895"/>
                  <a:pt x="14000" y="12000"/>
                </a:cubicBezTo>
                <a:close/>
              </a:path>
            </a:pathLst>
          </a:custGeom>
          <a:noFill/>
          <a:ln w="42545" cap="rnd">
            <a:solidFill>
              <a:schemeClr val="bg1"/>
            </a:solidFill>
            <a:round/>
          </a:ln>
          <a:effectLst/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ifecycle-loop:wedge-ring-panels">
    <p:spTree>
      <p:nvGrpSpPr>
        <p:cNvPr id="1" name=""/>
        <p:cNvGrpSpPr/>
        <p:nvPr/>
      </p:nvGrpSpPr>
      <p:grpSpPr/>
      <p:sp>
        <p:nvSpPr>
          <p:cNvPr id="2" name="slot.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Six controls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keep every production model accurate, safe and affordable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3" name="struct.stage.1"/>
          <p:cNvGrpSpPr/>
          <p:nvPr/>
        </p:nvGrpSpPr>
        <p:grpSpPr>
          <a:xfrm>
            <a:off x="6173071" y="1387589"/>
            <a:ext cx="1745936" cy="1581575"/>
            <a:chOff x="6134990" y="1141200"/>
            <a:chExt cx="1518206" cy="1375283"/>
          </a:xfrm>
          <a:noFill/>
          <a:effectLst/>
        </p:grpSpPr>
        <p:sp>
          <p:nvSpPr>
            <p:cNvPr id="4" name="struct.stage.1.wedge"/>
            <p:cNvSpPr/>
            <p:nvPr/>
          </p:nvSpPr>
          <p:spPr>
            <a:xfrm>
              <a:off x="6134990" y="1141200"/>
              <a:ext cx="1518194" cy="1375283"/>
            </a:xfrm>
            <a:custGeom>
              <a:avLst/>
              <a:gdLst>
                <a:gd name="csX0" fmla="*/ 126311 w 1286970"/>
                <a:gd name="csY0" fmla="*/ 111544 h 1165825"/>
                <a:gd name="csX1" fmla="*/ 683409 w 1286970"/>
                <a:gd name="csY1" fmla="*/ 287343 h 1165825"/>
                <a:gd name="csX2" fmla="*/ 1199731 w 1286970"/>
                <a:gd name="csY2" fmla="*/ 762098 h 1165825"/>
                <a:gd name="csX3" fmla="*/ 499977 w 1286970"/>
                <a:gd name="csY3" fmla="*/ 1165826 h 1165825"/>
                <a:gd name="csX4" fmla="*/ 0 w 1286970"/>
                <a:gd name="csY4" fmla="*/ 907139 h 1165825"/>
                <a:gd name="csX5" fmla="*/ 0 w 1286970"/>
                <a:gd name="csY5" fmla="*/ 0 h 1165825"/>
                <a:gd name="csX6" fmla="*/ 1286971 w 1286970"/>
                <a:gd name="csY6" fmla="*/ 706906 h 11658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86970" h="1165825">
                  <a:moveTo>
                    <a:pt x="126311" y="111544"/>
                  </a:moveTo>
                  <a:cubicBezTo>
                    <a:pt x="321097" y="133038"/>
                    <a:pt x="512636" y="190931"/>
                    <a:pt x="683409" y="287343"/>
                  </a:cubicBezTo>
                  <a:cubicBezTo>
                    <a:pt x="890626" y="404327"/>
                    <a:pt x="1056837" y="551327"/>
                    <a:pt x="1199731" y="762098"/>
                  </a:cubicBezTo>
                  <a:lnTo>
                    <a:pt x="499977" y="1165826"/>
                  </a:lnTo>
                  <a:cubicBezTo>
                    <a:pt x="371027" y="1003770"/>
                    <a:pt x="196329" y="918838"/>
                    <a:pt x="0" y="907139"/>
                  </a:cubicBezTo>
                  <a:lnTo>
                    <a:pt x="0" y="0"/>
                  </a:lnTo>
                  <a:cubicBezTo>
                    <a:pt x="482803" y="5174"/>
                    <a:pt x="975741" y="243365"/>
                    <a:pt x="1286971" y="706906"/>
                  </a:cubicBezTo>
                </a:path>
              </a:pathLst>
            </a:custGeom>
            <a:noFill/>
            <a:ln w="15875" cap="rnd">
              <a:solidFill>
                <a:schemeClr val="accent1"/>
              </a:solidFill>
              <a:prstDash val="solid"/>
              <a:round/>
            </a:ln>
          </p:spPr>
          <p:txBody>
            <a:bodyPr>
              <a:noAutofit/>
            </a:bodyPr>
            <a:lstStyle/>
            <a:p>
              <a:endParaRPr lang="en-US"/>
            </a:p>
          </p:txBody>
        </p:sp>
        <p:sp>
          <p:nvSpPr>
            <p:cNvPr id="5" name="struct.stage.1.arrowhead"/>
            <p:cNvSpPr/>
            <p:nvPr/>
          </p:nvSpPr>
          <p:spPr>
            <a:xfrm>
              <a:off x="7567576" y="1878288"/>
              <a:ext cx="85620" cy="96825"/>
            </a:xfrm>
            <a:custGeom>
              <a:avLst/>
              <a:gdLst>
                <a:gd name="csX0" fmla="*/ 58417 w 72580"/>
                <a:gd name="csY0" fmla="*/ 0 h 82078"/>
                <a:gd name="csX1" fmla="*/ 72580 w 72580"/>
                <a:gd name="csY1" fmla="*/ 82079 h 82078"/>
                <a:gd name="csX2" fmla="*/ 0 w 72580"/>
                <a:gd name="csY2" fmla="*/ 41020 h 820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2580" h="82078">
                  <a:moveTo>
                    <a:pt x="58417" y="0"/>
                  </a:moveTo>
                  <a:lnTo>
                    <a:pt x="72580" y="82079"/>
                  </a:lnTo>
                  <a:lnTo>
                    <a:pt x="0" y="41020"/>
                  </a:lnTo>
                </a:path>
              </a:pathLst>
            </a:custGeom>
            <a:noFill/>
            <a:ln w="15875" cap="rnd">
              <a:solidFill>
                <a:schemeClr val="accent1"/>
              </a:solidFill>
              <a:prstDash val="solid"/>
              <a:round/>
            </a:ln>
          </p:spPr>
          <p:txBody>
            <a:bodyPr>
              <a:noAutofit/>
            </a:bodyPr>
            <a:lstStyle/>
            <a:p>
              <a:endParaRPr lang="en-US"/>
            </a:p>
          </p:txBody>
        </p:sp>
      </p:grpSp>
      <p:grpSp>
        <p:nvGrpSpPr>
          <p:cNvPr id="6" name="struct.stage.6"/>
          <p:cNvGrpSpPr/>
          <p:nvPr/>
        </p:nvGrpSpPr>
        <p:grpSpPr>
          <a:xfrm>
            <a:off x="4289390" y="1352481"/>
            <a:ext cx="1710853" cy="1684643"/>
            <a:chOff x="4497007" y="1110671"/>
            <a:chExt cx="1487699" cy="1464907"/>
          </a:xfrm>
          <a:noFill/>
          <a:effectLst/>
        </p:grpSpPr>
        <p:sp>
          <p:nvSpPr>
            <p:cNvPr id="7" name="struct.stage.6.wedge"/>
            <p:cNvSpPr/>
            <p:nvPr/>
          </p:nvSpPr>
          <p:spPr>
            <a:xfrm>
              <a:off x="4497007" y="1144622"/>
              <a:ext cx="1487699" cy="1430956"/>
            </a:xfrm>
            <a:custGeom>
              <a:avLst/>
              <a:gdLst>
                <a:gd name="csX0" fmla="*/ 159896 w 1261119"/>
                <a:gd name="csY0" fmla="*/ 706003 h 1213018"/>
                <a:gd name="csX1" fmla="*/ 590922 w 1261119"/>
                <a:gd name="csY1" fmla="*/ 312157 h 1213018"/>
                <a:gd name="csX2" fmla="*/ 1260843 w 1261119"/>
                <a:gd name="csY2" fmla="*/ 103041 h 1213018"/>
                <a:gd name="csX3" fmla="*/ 1261120 w 1261119"/>
                <a:gd name="csY3" fmla="*/ 910011 h 1213018"/>
                <a:gd name="csX4" fmla="*/ 786775 w 1261119"/>
                <a:gd name="csY4" fmla="*/ 1213019 h 1213018"/>
                <a:gd name="csX5" fmla="*/ 0 w 1261119"/>
                <a:gd name="csY5" fmla="*/ 759444 h 1213018"/>
                <a:gd name="csX6" fmla="*/ 1256595 w 1261119"/>
                <a:gd name="csY6" fmla="*/ 0 h 12130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61119" h="1213018">
                  <a:moveTo>
                    <a:pt x="159896" y="706003"/>
                  </a:moveTo>
                  <a:cubicBezTo>
                    <a:pt x="275930" y="548312"/>
                    <a:pt x="421919" y="411622"/>
                    <a:pt x="590922" y="312157"/>
                  </a:cubicBezTo>
                  <a:cubicBezTo>
                    <a:pt x="795985" y="191464"/>
                    <a:pt x="1006592" y="121226"/>
                    <a:pt x="1260843" y="103041"/>
                  </a:cubicBezTo>
                  <a:lnTo>
                    <a:pt x="1261120" y="910011"/>
                  </a:lnTo>
                  <a:cubicBezTo>
                    <a:pt x="1056094" y="940484"/>
                    <a:pt x="895083" y="1049089"/>
                    <a:pt x="786775" y="1213019"/>
                  </a:cubicBezTo>
                  <a:lnTo>
                    <a:pt x="0" y="759444"/>
                  </a:lnTo>
                  <a:cubicBezTo>
                    <a:pt x="245888" y="344532"/>
                    <a:pt x="698935" y="37359"/>
                    <a:pt x="1256595" y="0"/>
                  </a:cubicBezTo>
                </a:path>
              </a:pathLst>
            </a:custGeom>
            <a:noFill/>
            <a:ln w="15875" cap="rnd">
              <a:solidFill>
                <a:schemeClr val="accent1"/>
              </a:solidFill>
              <a:prstDash val="solid"/>
              <a:round/>
            </a:ln>
          </p:spPr>
          <p:txBody>
            <a:bodyPr>
              <a:noAutofit/>
            </a:bodyPr>
            <a:lstStyle/>
            <a:p>
              <a:endParaRPr lang="en-US"/>
            </a:p>
          </p:txBody>
        </p:sp>
        <p:sp>
          <p:nvSpPr>
            <p:cNvPr id="8" name="struct.stage.6.arrowhead"/>
            <p:cNvSpPr/>
            <p:nvPr/>
          </p:nvSpPr>
          <p:spPr>
            <a:xfrm>
              <a:off x="5887040" y="1110671"/>
              <a:ext cx="92328" cy="83788"/>
            </a:xfrm>
            <a:custGeom>
              <a:avLst/>
              <a:gdLst>
                <a:gd name="csX0" fmla="*/ 0 w 78266"/>
                <a:gd name="csY0" fmla="*/ 0 h 71027"/>
                <a:gd name="csX1" fmla="*/ 78267 w 78266"/>
                <a:gd name="csY1" fmla="*/ 28789 h 71027"/>
                <a:gd name="csX2" fmla="*/ 6372 w 78266"/>
                <a:gd name="csY2" fmla="*/ 71027 h 710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8266" h="71027">
                  <a:moveTo>
                    <a:pt x="0" y="0"/>
                  </a:moveTo>
                  <a:lnTo>
                    <a:pt x="78267" y="28789"/>
                  </a:lnTo>
                  <a:lnTo>
                    <a:pt x="6372" y="71027"/>
                  </a:lnTo>
                </a:path>
              </a:pathLst>
            </a:custGeom>
            <a:noFill/>
            <a:ln w="15875" cap="rnd">
              <a:solidFill>
                <a:schemeClr val="accent1"/>
              </a:solidFill>
              <a:prstDash val="solid"/>
              <a:round/>
            </a:ln>
          </p:spPr>
          <p:txBody>
            <a:bodyPr>
              <a:noAutofit/>
            </a:bodyPr>
            <a:lstStyle/>
            <a:p>
              <a:endParaRPr lang="en-US"/>
            </a:p>
          </p:txBody>
        </p:sp>
      </p:grpSp>
      <p:grpSp>
        <p:nvGrpSpPr>
          <p:cNvPr id="9" name="struct.stage.5"/>
          <p:cNvGrpSpPr/>
          <p:nvPr/>
        </p:nvGrpSpPr>
        <p:grpSpPr>
          <a:xfrm>
            <a:off x="3976766" y="2578539"/>
            <a:ext cx="1335135" cy="1989273"/>
            <a:chOff x="4225160" y="2176809"/>
            <a:chExt cx="1160987" cy="1729803"/>
          </a:xfrm>
          <a:noFill/>
          <a:effectLst/>
        </p:grpSpPr>
        <p:sp>
          <p:nvSpPr>
            <p:cNvPr id="10" name="struct.stage.5.wedge"/>
            <p:cNvSpPr/>
            <p:nvPr/>
          </p:nvSpPr>
          <p:spPr>
            <a:xfrm>
              <a:off x="4225160" y="2176809"/>
              <a:ext cx="1160987" cy="1729803"/>
            </a:xfrm>
            <a:custGeom>
              <a:avLst/>
              <a:gdLst>
                <a:gd name="csX0" fmla="*/ 230977 w 984166"/>
                <a:gd name="csY0" fmla="*/ 1301366 h 1466350"/>
                <a:gd name="csX1" fmla="*/ 104895 w 984166"/>
                <a:gd name="csY1" fmla="*/ 731711 h 1466350"/>
                <a:gd name="csX2" fmla="*/ 258495 w 984166"/>
                <a:gd name="csY2" fmla="*/ 47840 h 1466350"/>
                <a:gd name="csX3" fmla="*/ 958535 w 984166"/>
                <a:gd name="csY3" fmla="*/ 451082 h 1466350"/>
                <a:gd name="csX4" fmla="*/ 984167 w 984166"/>
                <a:gd name="csY4" fmla="*/ 1012776 h 1466350"/>
                <a:gd name="csX5" fmla="*/ 197392 w 984166"/>
                <a:gd name="csY5" fmla="*/ 1466351 h 1466350"/>
                <a:gd name="csX6" fmla="*/ 167017 w 984166"/>
                <a:gd name="csY6" fmla="*/ 0 h 1466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984166" h="1466350">
                  <a:moveTo>
                    <a:pt x="230977" y="1301366"/>
                  </a:moveTo>
                  <a:cubicBezTo>
                    <a:pt x="152224" y="1122180"/>
                    <a:pt x="106666" y="927597"/>
                    <a:pt x="104895" y="731711"/>
                  </a:cubicBezTo>
                  <a:cubicBezTo>
                    <a:pt x="102752" y="494034"/>
                    <a:pt x="147138" y="276795"/>
                    <a:pt x="258495" y="47840"/>
                  </a:cubicBezTo>
                  <a:lnTo>
                    <a:pt x="958535" y="451082"/>
                  </a:lnTo>
                  <a:cubicBezTo>
                    <a:pt x="882459" y="643611"/>
                    <a:pt x="896137" y="837148"/>
                    <a:pt x="984167" y="1012776"/>
                  </a:cubicBezTo>
                  <a:lnTo>
                    <a:pt x="197392" y="1466351"/>
                  </a:lnTo>
                  <a:cubicBezTo>
                    <a:pt x="-39523" y="1046264"/>
                    <a:pt x="-79404" y="500910"/>
                    <a:pt x="167017" y="0"/>
                  </a:cubicBezTo>
                </a:path>
              </a:pathLst>
            </a:custGeom>
            <a:noFill/>
            <a:ln w="15875" cap="rnd">
              <a:solidFill>
                <a:schemeClr val="accent1"/>
              </a:solidFill>
              <a:prstDash val="solid"/>
              <a:round/>
            </a:ln>
          </p:spPr>
          <p:txBody>
            <a:bodyPr>
              <a:noAutofit/>
            </a:bodyPr>
            <a:lstStyle/>
            <a:p>
              <a:endParaRPr lang="en-US"/>
            </a:p>
          </p:txBody>
        </p:sp>
        <p:sp>
          <p:nvSpPr>
            <p:cNvPr id="11" name="struct.stage.5.arrowhead"/>
            <p:cNvSpPr/>
            <p:nvPr/>
          </p:nvSpPr>
          <p:spPr>
            <a:xfrm>
              <a:off x="4346552" y="2176820"/>
              <a:ext cx="76429" cy="98250"/>
            </a:xfrm>
            <a:custGeom>
              <a:avLst/>
              <a:gdLst>
                <a:gd name="csX0" fmla="*/ 0 w 64789"/>
                <a:gd name="csY0" fmla="*/ 53289 h 83286"/>
                <a:gd name="csX1" fmla="*/ 64113 w 64789"/>
                <a:gd name="csY1" fmla="*/ 0 h 83286"/>
                <a:gd name="csX2" fmla="*/ 64789 w 64789"/>
                <a:gd name="csY2" fmla="*/ 83287 h 832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4789" h="83286">
                  <a:moveTo>
                    <a:pt x="0" y="53289"/>
                  </a:moveTo>
                  <a:lnTo>
                    <a:pt x="64113" y="0"/>
                  </a:lnTo>
                  <a:lnTo>
                    <a:pt x="64789" y="83287"/>
                  </a:lnTo>
                </a:path>
              </a:pathLst>
            </a:custGeom>
            <a:noFill/>
            <a:ln w="15875" cap="rnd">
              <a:solidFill>
                <a:schemeClr val="accent1"/>
              </a:solidFill>
              <a:prstDash val="solid"/>
              <a:round/>
            </a:ln>
          </p:spPr>
          <p:txBody>
            <a:bodyPr>
              <a:noAutofit/>
            </a:bodyPr>
            <a:lstStyle/>
            <a:p>
              <a:endParaRPr lang="en-US"/>
            </a:p>
          </p:txBody>
        </p:sp>
      </p:grpSp>
      <p:grpSp>
        <p:nvGrpSpPr>
          <p:cNvPr id="12" name="struct.stage.4"/>
          <p:cNvGrpSpPr/>
          <p:nvPr/>
        </p:nvGrpSpPr>
        <p:grpSpPr>
          <a:xfrm>
            <a:off x="4337459" y="4098042"/>
            <a:ext cx="1745923" cy="1581575"/>
            <a:chOff x="4538806" y="3498116"/>
            <a:chExt cx="1518194" cy="1375283"/>
          </a:xfrm>
          <a:noFill/>
          <a:effectLst/>
        </p:grpSpPr>
        <p:sp>
          <p:nvSpPr>
            <p:cNvPr id="13" name="struct.stage.4.wedge"/>
            <p:cNvSpPr/>
            <p:nvPr/>
          </p:nvSpPr>
          <p:spPr>
            <a:xfrm>
              <a:off x="4538806" y="3498116"/>
              <a:ext cx="1518194" cy="1375283"/>
            </a:xfrm>
            <a:custGeom>
              <a:avLst/>
              <a:gdLst>
                <a:gd name="csX0" fmla="*/ 1160669 w 1286970"/>
                <a:gd name="csY0" fmla="*/ 1054282 h 1165825"/>
                <a:gd name="csX1" fmla="*/ 603561 w 1286970"/>
                <a:gd name="csY1" fmla="*/ 878483 h 1165825"/>
                <a:gd name="csX2" fmla="*/ 87239 w 1286970"/>
                <a:gd name="csY2" fmla="*/ 403728 h 1165825"/>
                <a:gd name="csX3" fmla="*/ 786994 w 1286970"/>
                <a:gd name="csY3" fmla="*/ 0 h 1165825"/>
                <a:gd name="csX4" fmla="*/ 1286970 w 1286970"/>
                <a:gd name="csY4" fmla="*/ 258687 h 1165825"/>
                <a:gd name="csX5" fmla="*/ 1286970 w 1286970"/>
                <a:gd name="csY5" fmla="*/ 1165826 h 1165825"/>
                <a:gd name="csX6" fmla="*/ 0 w 1286970"/>
                <a:gd name="csY6" fmla="*/ 458919 h 11658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86970" h="1165825">
                  <a:moveTo>
                    <a:pt x="1160669" y="1054282"/>
                  </a:moveTo>
                  <a:cubicBezTo>
                    <a:pt x="965883" y="1032787"/>
                    <a:pt x="774344" y="974895"/>
                    <a:pt x="603561" y="878483"/>
                  </a:cubicBezTo>
                  <a:cubicBezTo>
                    <a:pt x="396345" y="761499"/>
                    <a:pt x="230134" y="614498"/>
                    <a:pt x="87239" y="403728"/>
                  </a:cubicBezTo>
                  <a:lnTo>
                    <a:pt x="786994" y="0"/>
                  </a:lnTo>
                  <a:cubicBezTo>
                    <a:pt x="915934" y="162056"/>
                    <a:pt x="1090641" y="246988"/>
                    <a:pt x="1286970" y="258687"/>
                  </a:cubicBezTo>
                  <a:lnTo>
                    <a:pt x="1286970" y="1165826"/>
                  </a:lnTo>
                  <a:cubicBezTo>
                    <a:pt x="804167" y="1160652"/>
                    <a:pt x="311229" y="922461"/>
                    <a:pt x="0" y="458919"/>
                  </a:cubicBezTo>
                </a:path>
              </a:pathLst>
            </a:custGeom>
            <a:noFill/>
            <a:ln w="15875" cap="rnd">
              <a:solidFill>
                <a:schemeClr val="accent1"/>
              </a:solidFill>
              <a:prstDash val="solid"/>
              <a:round/>
            </a:ln>
          </p:spPr>
          <p:txBody>
            <a:bodyPr>
              <a:noAutofit/>
            </a:bodyPr>
            <a:lstStyle/>
            <a:p>
              <a:endParaRPr lang="en-US"/>
            </a:p>
          </p:txBody>
        </p:sp>
        <p:sp>
          <p:nvSpPr>
            <p:cNvPr id="14" name="struct.stage.4.arrowhead"/>
            <p:cNvSpPr/>
            <p:nvPr/>
          </p:nvSpPr>
          <p:spPr>
            <a:xfrm>
              <a:off x="4538806" y="4039487"/>
              <a:ext cx="85620" cy="96826"/>
            </a:xfrm>
            <a:custGeom>
              <a:avLst/>
              <a:gdLst>
                <a:gd name="csX0" fmla="*/ 14164 w 72580"/>
                <a:gd name="csY0" fmla="*/ 82079 h 82079"/>
                <a:gd name="csX1" fmla="*/ 0 w 72580"/>
                <a:gd name="csY1" fmla="*/ 0 h 82079"/>
                <a:gd name="csX2" fmla="*/ 72580 w 72580"/>
                <a:gd name="csY2" fmla="*/ 41059 h 820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2580" h="82079">
                  <a:moveTo>
                    <a:pt x="14164" y="82079"/>
                  </a:moveTo>
                  <a:lnTo>
                    <a:pt x="0" y="0"/>
                  </a:lnTo>
                  <a:lnTo>
                    <a:pt x="72580" y="41059"/>
                  </a:lnTo>
                </a:path>
              </a:pathLst>
            </a:custGeom>
            <a:noFill/>
            <a:ln w="15875" cap="rnd">
              <a:solidFill>
                <a:schemeClr val="accent1"/>
              </a:solidFill>
              <a:prstDash val="solid"/>
              <a:round/>
            </a:ln>
          </p:spPr>
          <p:txBody>
            <a:bodyPr>
              <a:noAutofit/>
            </a:bodyPr>
            <a:lstStyle/>
            <a:p>
              <a:endParaRPr lang="en-US"/>
            </a:p>
          </p:txBody>
        </p:sp>
      </p:grpSp>
      <p:grpSp>
        <p:nvGrpSpPr>
          <p:cNvPr id="15" name="struct.stage.3"/>
          <p:cNvGrpSpPr/>
          <p:nvPr/>
        </p:nvGrpSpPr>
        <p:grpSpPr>
          <a:xfrm>
            <a:off x="6256225" y="4030082"/>
            <a:ext cx="1710853" cy="1684643"/>
            <a:chOff x="6207298" y="3439020"/>
            <a:chExt cx="1487699" cy="1464907"/>
          </a:xfrm>
          <a:noFill/>
          <a:effectLst/>
        </p:grpSpPr>
        <p:sp>
          <p:nvSpPr>
            <p:cNvPr id="16" name="struct.stage.3.wedge"/>
            <p:cNvSpPr/>
            <p:nvPr/>
          </p:nvSpPr>
          <p:spPr>
            <a:xfrm>
              <a:off x="6207298" y="3439020"/>
              <a:ext cx="1487699" cy="1430956"/>
            </a:xfrm>
            <a:custGeom>
              <a:avLst/>
              <a:gdLst>
                <a:gd name="csX0" fmla="*/ 1101223 w 1261119"/>
                <a:gd name="csY0" fmla="*/ 507016 h 1213018"/>
                <a:gd name="csX1" fmla="*/ 670198 w 1261119"/>
                <a:gd name="csY1" fmla="*/ 900862 h 1213018"/>
                <a:gd name="csX2" fmla="*/ 276 w 1261119"/>
                <a:gd name="csY2" fmla="*/ 1109978 h 1213018"/>
                <a:gd name="csX3" fmla="*/ 0 w 1261119"/>
                <a:gd name="csY3" fmla="*/ 303008 h 1213018"/>
                <a:gd name="csX4" fmla="*/ 474345 w 1261119"/>
                <a:gd name="csY4" fmla="*/ 0 h 1213018"/>
                <a:gd name="csX5" fmla="*/ 1261120 w 1261119"/>
                <a:gd name="csY5" fmla="*/ 453574 h 1213018"/>
                <a:gd name="csX6" fmla="*/ 4524 w 1261119"/>
                <a:gd name="csY6" fmla="*/ 1213019 h 12130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61119" h="1213018">
                  <a:moveTo>
                    <a:pt x="1101223" y="507016"/>
                  </a:moveTo>
                  <a:cubicBezTo>
                    <a:pt x="985190" y="664707"/>
                    <a:pt x="839200" y="801397"/>
                    <a:pt x="670198" y="900862"/>
                  </a:cubicBezTo>
                  <a:cubicBezTo>
                    <a:pt x="465134" y="1021555"/>
                    <a:pt x="254527" y="1091793"/>
                    <a:pt x="276" y="1109978"/>
                  </a:cubicBezTo>
                  <a:lnTo>
                    <a:pt x="0" y="303008"/>
                  </a:lnTo>
                  <a:cubicBezTo>
                    <a:pt x="205026" y="272525"/>
                    <a:pt x="366036" y="163930"/>
                    <a:pt x="474345" y="0"/>
                  </a:cubicBezTo>
                  <a:lnTo>
                    <a:pt x="1261120" y="453574"/>
                  </a:lnTo>
                  <a:cubicBezTo>
                    <a:pt x="1015232" y="868487"/>
                    <a:pt x="562185" y="1175660"/>
                    <a:pt x="4524" y="1213019"/>
                  </a:cubicBezTo>
                </a:path>
              </a:pathLst>
            </a:custGeom>
            <a:noFill/>
            <a:ln w="15875" cap="rnd">
              <a:solidFill>
                <a:schemeClr val="accent1"/>
              </a:solidFill>
              <a:prstDash val="solid"/>
              <a:round/>
            </a:ln>
          </p:spPr>
          <p:txBody>
            <a:bodyPr>
              <a:noAutofit/>
            </a:bodyPr>
            <a:lstStyle/>
            <a:p>
              <a:endParaRPr lang="en-US"/>
            </a:p>
          </p:txBody>
        </p:sp>
        <p:sp>
          <p:nvSpPr>
            <p:cNvPr id="17" name="struct.stage.3.arrowhead"/>
            <p:cNvSpPr/>
            <p:nvPr/>
          </p:nvSpPr>
          <p:spPr>
            <a:xfrm>
              <a:off x="6212623" y="4820139"/>
              <a:ext cx="92340" cy="83788"/>
            </a:xfrm>
            <a:custGeom>
              <a:avLst/>
              <a:gdLst>
                <a:gd name="csX0" fmla="*/ 78276 w 78276"/>
                <a:gd name="csY0" fmla="*/ 71027 h 71027"/>
                <a:gd name="csX1" fmla="*/ 0 w 78276"/>
                <a:gd name="csY1" fmla="*/ 42238 h 71027"/>
                <a:gd name="csX2" fmla="*/ 71904 w 78276"/>
                <a:gd name="csY2" fmla="*/ 0 h 710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8276" h="71027">
                  <a:moveTo>
                    <a:pt x="78276" y="71027"/>
                  </a:moveTo>
                  <a:lnTo>
                    <a:pt x="0" y="42238"/>
                  </a:lnTo>
                  <a:lnTo>
                    <a:pt x="71904" y="0"/>
                  </a:lnTo>
                </a:path>
              </a:pathLst>
            </a:custGeom>
            <a:noFill/>
            <a:ln w="15875" cap="rnd">
              <a:solidFill>
                <a:schemeClr val="accent1"/>
              </a:solidFill>
              <a:prstDash val="solid"/>
              <a:round/>
            </a:ln>
          </p:spPr>
          <p:txBody>
            <a:bodyPr>
              <a:noAutofit/>
            </a:bodyPr>
            <a:lstStyle/>
            <a:p>
              <a:endParaRPr lang="en-US"/>
            </a:p>
          </p:txBody>
        </p:sp>
      </p:grpSp>
      <p:grpSp>
        <p:nvGrpSpPr>
          <p:cNvPr id="18" name="struct.stage.2"/>
          <p:cNvGrpSpPr/>
          <p:nvPr/>
        </p:nvGrpSpPr>
        <p:grpSpPr>
          <a:xfrm>
            <a:off x="6944565" y="2499394"/>
            <a:ext cx="1335135" cy="1989273"/>
            <a:chOff x="6805855" y="2107987"/>
            <a:chExt cx="1160987" cy="1729803"/>
          </a:xfrm>
          <a:noFill/>
          <a:effectLst/>
        </p:grpSpPr>
        <p:sp>
          <p:nvSpPr>
            <p:cNvPr id="19" name="struct.stage.2.wedge"/>
            <p:cNvSpPr/>
            <p:nvPr/>
          </p:nvSpPr>
          <p:spPr>
            <a:xfrm>
              <a:off x="6805855" y="2107987"/>
              <a:ext cx="1160987" cy="1729803"/>
            </a:xfrm>
            <a:custGeom>
              <a:avLst/>
              <a:gdLst>
                <a:gd name="csX0" fmla="*/ 753190 w 984166"/>
                <a:gd name="csY0" fmla="*/ 164976 h 1466350"/>
                <a:gd name="csX1" fmla="*/ 879272 w 984166"/>
                <a:gd name="csY1" fmla="*/ 734631 h 1466350"/>
                <a:gd name="csX2" fmla="*/ 725672 w 984166"/>
                <a:gd name="csY2" fmla="*/ 1418501 h 1466350"/>
                <a:gd name="csX3" fmla="*/ 25632 w 984166"/>
                <a:gd name="csY3" fmla="*/ 1015259 h 1466350"/>
                <a:gd name="csX4" fmla="*/ 0 w 984166"/>
                <a:gd name="csY4" fmla="*/ 453565 h 1466350"/>
                <a:gd name="csX5" fmla="*/ 786775 w 984166"/>
                <a:gd name="csY5" fmla="*/ 0 h 1466350"/>
                <a:gd name="csX6" fmla="*/ 817150 w 984166"/>
                <a:gd name="csY6" fmla="*/ 1466351 h 1466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984166" h="1466350">
                  <a:moveTo>
                    <a:pt x="753190" y="164976"/>
                  </a:moveTo>
                  <a:cubicBezTo>
                    <a:pt x="831942" y="344161"/>
                    <a:pt x="877501" y="538744"/>
                    <a:pt x="879272" y="734631"/>
                  </a:cubicBezTo>
                  <a:cubicBezTo>
                    <a:pt x="881415" y="972308"/>
                    <a:pt x="837029" y="1189546"/>
                    <a:pt x="725672" y="1418501"/>
                  </a:cubicBezTo>
                  <a:lnTo>
                    <a:pt x="25632" y="1015259"/>
                  </a:lnTo>
                  <a:cubicBezTo>
                    <a:pt x="101708" y="822730"/>
                    <a:pt x="88030" y="629193"/>
                    <a:pt x="0" y="453565"/>
                  </a:cubicBezTo>
                  <a:lnTo>
                    <a:pt x="786775" y="0"/>
                  </a:lnTo>
                  <a:cubicBezTo>
                    <a:pt x="1023690" y="420087"/>
                    <a:pt x="1063571" y="965441"/>
                    <a:pt x="817150" y="1466351"/>
                  </a:cubicBezTo>
                </a:path>
              </a:pathLst>
            </a:custGeom>
            <a:noFill/>
            <a:ln w="15875" cap="rnd">
              <a:solidFill>
                <a:schemeClr val="accent1"/>
              </a:solidFill>
              <a:prstDash val="solid"/>
              <a:round/>
            </a:ln>
          </p:spPr>
          <p:txBody>
            <a:bodyPr>
              <a:noAutofit/>
            </a:bodyPr>
            <a:lstStyle/>
            <a:p>
              <a:endParaRPr lang="en-US"/>
            </a:p>
          </p:txBody>
        </p:sp>
        <p:sp>
          <p:nvSpPr>
            <p:cNvPr id="20" name="struct.stage.2.arrowhead"/>
            <p:cNvSpPr/>
            <p:nvPr/>
          </p:nvSpPr>
          <p:spPr>
            <a:xfrm>
              <a:off x="7769021" y="3739530"/>
              <a:ext cx="76429" cy="98250"/>
            </a:xfrm>
            <a:custGeom>
              <a:avLst/>
              <a:gdLst>
                <a:gd name="csX0" fmla="*/ 64789 w 64789"/>
                <a:gd name="csY0" fmla="*/ 29997 h 83286"/>
                <a:gd name="csX1" fmla="*/ 677 w 64789"/>
                <a:gd name="csY1" fmla="*/ 83287 h 83286"/>
                <a:gd name="csX2" fmla="*/ 0 w 64789"/>
                <a:gd name="csY2" fmla="*/ 0 h 832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4789" h="83286">
                  <a:moveTo>
                    <a:pt x="64789" y="29997"/>
                  </a:moveTo>
                  <a:lnTo>
                    <a:pt x="677" y="83287"/>
                  </a:lnTo>
                  <a:lnTo>
                    <a:pt x="0" y="0"/>
                  </a:lnTo>
                </a:path>
              </a:pathLst>
            </a:custGeom>
            <a:noFill/>
            <a:ln w="15875" cap="rnd">
              <a:solidFill>
                <a:schemeClr val="accent1"/>
              </a:solidFill>
              <a:prstDash val="solid"/>
              <a:round/>
            </a:ln>
          </p:spPr>
          <p:txBody>
            <a:bodyPr>
              <a:noAutofit/>
            </a:bodyPr>
            <a:lstStyle/>
            <a:p>
              <a:endParaRPr lang="en-US"/>
            </a:p>
          </p:txBody>
        </p:sp>
      </p:grpSp>
      <p:sp>
        <p:nvSpPr>
          <p:cNvPr id="21" name="slot.hub"/>
          <p:cNvSpPr/>
          <p:nvPr/>
        </p:nvSpPr>
        <p:spPr>
          <a:xfrm>
            <a:off x="5311910" y="2717283"/>
            <a:ext cx="1632641" cy="163264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lIns="36000" tIns="36000" rIns="36000" bIns="36000" rtlCol="0" anchor="ctr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Production models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Decisions the business runs on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lot.stage.1.label"/>
          <p:cNvSpPr txBox="1"/>
          <p:nvPr/>
        </p:nvSpPr>
        <p:spPr>
          <a:xfrm>
            <a:off x="7699248" y="1078992"/>
            <a:ext cx="2057400" cy="6035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Assess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Readiness, standards and gaps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slot.stage.2.label"/>
          <p:cNvSpPr txBox="1"/>
          <p:nvPr/>
        </p:nvSpPr>
        <p:spPr>
          <a:xfrm>
            <a:off x="8467344" y="3127248"/>
            <a:ext cx="1298448" cy="8229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Deploy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Automated release and scaling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lot.stage.3.label"/>
          <p:cNvSpPr txBox="1"/>
          <p:nvPr/>
        </p:nvSpPr>
        <p:spPr>
          <a:xfrm>
            <a:off x="7699248" y="5212080"/>
            <a:ext cx="2057400" cy="6035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Monitor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Drift, health and spend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slot.stage.4.label"/>
          <p:cNvSpPr txBox="1"/>
          <p:nvPr/>
        </p:nvSpPr>
        <p:spPr>
          <a:xfrm>
            <a:off x="2487168" y="5212080"/>
            <a:ext cx="2011680" cy="6035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Evaluate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Accuracy against agreed tests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slot.stage.5.label"/>
          <p:cNvSpPr txBox="1"/>
          <p:nvPr/>
        </p:nvSpPr>
        <p:spPr>
          <a:xfrm>
            <a:off x="2560320" y="3127248"/>
            <a:ext cx="1261872" cy="8229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Govern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Policy, access and audit trail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lot.stage.6.label"/>
          <p:cNvSpPr txBox="1"/>
          <p:nvPr/>
        </p:nvSpPr>
        <p:spPr>
          <a:xfrm>
            <a:off x="2487168" y="1078992"/>
            <a:ext cx="2011680" cy="6035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Improve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Retrain and tune on evidence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lot.stage.1.icon"/>
          <p:cNvSpPr/>
          <p:nvPr/>
        </p:nvSpPr>
        <p:spPr>
          <a:xfrm>
            <a:off x="6539446" y="1963514"/>
            <a:ext cx="493776" cy="49377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4000" y="14500"/>
                </a:moveTo>
                <a:cubicBezTo>
                  <a:pt x="14000" y="15881"/>
                  <a:pt x="12881" y="17000"/>
                  <a:pt x="11500" y="17000"/>
                </a:cubicBezTo>
                <a:cubicBezTo>
                  <a:pt x="10119" y="17000"/>
                  <a:pt x="9000" y="15881"/>
                  <a:pt x="9000" y="14500"/>
                </a:cubicBezTo>
                <a:cubicBezTo>
                  <a:pt x="9000" y="13119"/>
                  <a:pt x="10119" y="12000"/>
                  <a:pt x="11500" y="12000"/>
                </a:cubicBezTo>
                <a:cubicBezTo>
                  <a:pt x="12881" y="12000"/>
                  <a:pt x="14000" y="13119"/>
                  <a:pt x="14000" y="14500"/>
                </a:cubicBezTo>
                <a:close/>
                <a:moveTo>
                  <a:pt x="13300" y="16300"/>
                </a:moveTo>
                <a:lnTo>
                  <a:pt x="15000" y="18000"/>
                </a:lnTo>
              </a:path>
            </a:pathLst>
          </a:custGeom>
          <a:noFill/>
          <a:ln w="41275" cap="rnd">
            <a:solidFill>
              <a:schemeClr val="accent1"/>
            </a:solidFill>
            <a:round/>
          </a:ln>
          <a:effectLst/>
        </p:spPr>
      </p:sp>
      <p:sp>
        <p:nvSpPr>
          <p:cNvPr id="29" name="slot.stage.2.icon"/>
          <p:cNvSpPr/>
          <p:nvPr/>
        </p:nvSpPr>
        <p:spPr>
          <a:xfrm>
            <a:off x="7334425" y="3211716"/>
            <a:ext cx="493776" cy="49377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5000"/>
                </a:moveTo>
                <a:lnTo>
                  <a:pt x="12000" y="20000"/>
                </a:lnTo>
                <a:cubicBezTo>
                  <a:pt x="12000" y="20000"/>
                  <a:pt x="15030" y="19450"/>
                  <a:pt x="16000" y="18000"/>
                </a:cubicBezTo>
                <a:cubicBezTo>
                  <a:pt x="17080" y="16380"/>
                  <a:pt x="16000" y="13000"/>
                  <a:pt x="16000" y="13000"/>
                </a:cubicBezTo>
                <a:moveTo>
                  <a:pt x="4500" y="16500"/>
                </a:moveTo>
                <a:cubicBezTo>
                  <a:pt x="3000" y="17760"/>
                  <a:pt x="2500" y="21500"/>
                  <a:pt x="2500" y="21500"/>
                </a:cubicBezTo>
                <a:cubicBezTo>
                  <a:pt x="2500" y="21500"/>
                  <a:pt x="6240" y="21000"/>
                  <a:pt x="7500" y="19500"/>
                </a:cubicBezTo>
                <a:cubicBezTo>
                  <a:pt x="8210" y="18660"/>
                  <a:pt x="8200" y="17370"/>
                  <a:pt x="7410" y="16590"/>
                </a:cubicBezTo>
                <a:cubicBezTo>
                  <a:pt x="6605" y="15822"/>
                  <a:pt x="5351" y="15783"/>
                  <a:pt x="4500" y="16500"/>
                </a:cubicBezTo>
                <a:moveTo>
                  <a:pt x="9000" y="12000"/>
                </a:moveTo>
                <a:cubicBezTo>
                  <a:pt x="9532" y="10619"/>
                  <a:pt x="10202" y="9296"/>
                  <a:pt x="11000" y="8050"/>
                </a:cubicBezTo>
                <a:cubicBezTo>
                  <a:pt x="13369" y="4262"/>
                  <a:pt x="17532" y="1972"/>
                  <a:pt x="22000" y="2000"/>
                </a:cubicBezTo>
                <a:cubicBezTo>
                  <a:pt x="22000" y="4720"/>
                  <a:pt x="21220" y="9500"/>
                  <a:pt x="16000" y="13000"/>
                </a:cubicBezTo>
                <a:cubicBezTo>
                  <a:pt x="14737" y="13798"/>
                  <a:pt x="13397" y="14468"/>
                  <a:pt x="12000" y="15000"/>
                </a:cubicBezTo>
                <a:close/>
                <a:moveTo>
                  <a:pt x="9000" y="12000"/>
                </a:moveTo>
                <a:lnTo>
                  <a:pt x="4000" y="12000"/>
                </a:lnTo>
                <a:cubicBezTo>
                  <a:pt x="4000" y="12000"/>
                  <a:pt x="4550" y="8970"/>
                  <a:pt x="6000" y="8000"/>
                </a:cubicBezTo>
                <a:cubicBezTo>
                  <a:pt x="7620" y="6920"/>
                  <a:pt x="11000" y="8050"/>
                  <a:pt x="11000" y="8050"/>
                </a:cubicBezTo>
              </a:path>
            </a:pathLst>
          </a:custGeom>
          <a:noFill/>
          <a:ln w="41275" cap="rnd">
            <a:solidFill>
              <a:schemeClr val="accent1"/>
            </a:solidFill>
            <a:round/>
          </a:ln>
          <a:effectLst/>
        </p:spPr>
      </p:sp>
      <p:sp>
        <p:nvSpPr>
          <p:cNvPr id="30" name="slot.stage.3.icon"/>
          <p:cNvSpPr/>
          <p:nvPr/>
        </p:nvSpPr>
        <p:spPr>
          <a:xfrm>
            <a:off x="6792872" y="4547197"/>
            <a:ext cx="493776" cy="49377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lnTo>
                  <a:pt x="19520" y="12000"/>
                </a:lnTo>
                <a:cubicBezTo>
                  <a:pt x="18622" y="11998"/>
                  <a:pt x="17833" y="12595"/>
                  <a:pt x="17590" y="13460"/>
                </a:cubicBezTo>
                <a:lnTo>
                  <a:pt x="15240" y="21820"/>
                </a:lnTo>
                <a:cubicBezTo>
                  <a:pt x="15209" y="21927"/>
                  <a:pt x="15111" y="22000"/>
                  <a:pt x="15000" y="22000"/>
                </a:cubicBezTo>
                <a:cubicBezTo>
                  <a:pt x="14889" y="22000"/>
                  <a:pt x="14791" y="21927"/>
                  <a:pt x="14760" y="21820"/>
                </a:cubicBezTo>
                <a:lnTo>
                  <a:pt x="9240" y="2180"/>
                </a:lnTo>
                <a:cubicBezTo>
                  <a:pt x="9209" y="2073"/>
                  <a:pt x="9111" y="2000"/>
                  <a:pt x="9000" y="2000"/>
                </a:cubicBezTo>
                <a:cubicBezTo>
                  <a:pt x="8889" y="2000"/>
                  <a:pt x="8791" y="2073"/>
                  <a:pt x="8760" y="2180"/>
                </a:cubicBezTo>
                <a:lnTo>
                  <a:pt x="6410" y="10540"/>
                </a:lnTo>
                <a:cubicBezTo>
                  <a:pt x="6168" y="11401"/>
                  <a:pt x="5384" y="11997"/>
                  <a:pt x="4490" y="12000"/>
                </a:cubicBezTo>
                <a:lnTo>
                  <a:pt x="2000" y="12000"/>
                </a:lnTo>
              </a:path>
            </a:pathLst>
          </a:custGeom>
          <a:noFill/>
          <a:ln w="41275" cap="rnd">
            <a:solidFill>
              <a:schemeClr val="accent1"/>
            </a:solidFill>
            <a:round/>
          </a:ln>
          <a:effectLst/>
        </p:spPr>
      </p:sp>
      <p:sp>
        <p:nvSpPr>
          <p:cNvPr id="31" name="slot.stage.4.icon"/>
          <p:cNvSpPr/>
          <p:nvPr/>
        </p:nvSpPr>
        <p:spPr>
          <a:xfrm>
            <a:off x="5152438" y="4570331"/>
            <a:ext cx="493776" cy="49377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2000"/>
                </a:moveTo>
                <a:lnTo>
                  <a:pt x="15000" y="2000"/>
                </a:lnTo>
                <a:cubicBezTo>
                  <a:pt x="15552" y="2000"/>
                  <a:pt x="16000" y="2448"/>
                  <a:pt x="16000" y="3000"/>
                </a:cubicBezTo>
                <a:lnTo>
                  <a:pt x="16000" y="5000"/>
                </a:lnTo>
                <a:cubicBezTo>
                  <a:pt x="16000" y="5552"/>
                  <a:pt x="15552" y="6000"/>
                  <a:pt x="15000" y="6000"/>
                </a:cubicBezTo>
                <a:lnTo>
                  <a:pt x="9000" y="6000"/>
                </a:lnTo>
                <a:cubicBezTo>
                  <a:pt x="8448" y="6000"/>
                  <a:pt x="8000" y="5552"/>
                  <a:pt x="8000" y="5000"/>
                </a:cubicBezTo>
                <a:lnTo>
                  <a:pt x="8000" y="3000"/>
                </a:lnTo>
                <a:cubicBezTo>
                  <a:pt x="8000" y="2448"/>
                  <a:pt x="8448" y="2000"/>
                  <a:pt x="9000" y="2000"/>
                </a:cubicBezTo>
                <a:close/>
                <a:moveTo>
                  <a:pt x="16000" y="4000"/>
                </a:moveTo>
                <a:lnTo>
                  <a:pt x="18000" y="4000"/>
                </a:lnTo>
                <a:cubicBezTo>
                  <a:pt x="19105" y="4000"/>
                  <a:pt x="20000" y="4895"/>
                  <a:pt x="20000" y="6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lnTo>
                  <a:pt x="6000" y="22000"/>
                </a:lnTo>
                <a:cubicBezTo>
                  <a:pt x="4895" y="22000"/>
                  <a:pt x="4000" y="21105"/>
                  <a:pt x="4000" y="20000"/>
                </a:cubicBezTo>
                <a:lnTo>
                  <a:pt x="4000" y="6000"/>
                </a:lnTo>
                <a:cubicBezTo>
                  <a:pt x="4000" y="4895"/>
                  <a:pt x="4895" y="4000"/>
                  <a:pt x="6000" y="4000"/>
                </a:cubicBezTo>
                <a:lnTo>
                  <a:pt x="8000" y="4000"/>
                </a:lnTo>
                <a:moveTo>
                  <a:pt x="9000" y="14000"/>
                </a:moveTo>
                <a:lnTo>
                  <a:pt x="11000" y="16000"/>
                </a:lnTo>
                <a:lnTo>
                  <a:pt x="15000" y="12000"/>
                </a:lnTo>
              </a:path>
            </a:pathLst>
          </a:custGeom>
          <a:noFill/>
          <a:ln w="41275" cap="rnd">
            <a:solidFill>
              <a:schemeClr val="accent1"/>
            </a:solidFill>
            <a:round/>
          </a:ln>
          <a:effectLst/>
        </p:spPr>
      </p:sp>
      <p:sp>
        <p:nvSpPr>
          <p:cNvPr id="32" name="slot.stage.5.icon"/>
          <p:cNvSpPr/>
          <p:nvPr/>
        </p:nvSpPr>
        <p:spPr>
          <a:xfrm>
            <a:off x="4342737" y="3293737"/>
            <a:ext cx="493776" cy="49377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41275" cap="rnd">
            <a:solidFill>
              <a:schemeClr val="accent1"/>
            </a:solidFill>
            <a:round/>
          </a:ln>
          <a:effectLst/>
        </p:spPr>
      </p:sp>
      <p:sp>
        <p:nvSpPr>
          <p:cNvPr id="33" name="slot.stage.6.icon"/>
          <p:cNvSpPr/>
          <p:nvPr/>
        </p:nvSpPr>
        <p:spPr>
          <a:xfrm>
            <a:off x="5116159" y="2013463"/>
            <a:ext cx="493776" cy="49377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12000"/>
                </a:moveTo>
                <a:cubicBezTo>
                  <a:pt x="3000" y="7029"/>
                  <a:pt x="7029" y="3000"/>
                  <a:pt x="12000" y="3000"/>
                </a:cubicBezTo>
                <a:cubicBezTo>
                  <a:pt x="14516" y="3009"/>
                  <a:pt x="16931" y="3991"/>
                  <a:pt x="18740" y="5740"/>
                </a:cubicBezTo>
                <a:lnTo>
                  <a:pt x="21000" y="8000"/>
                </a:lnTo>
                <a:moveTo>
                  <a:pt x="21000" y="3000"/>
                </a:moveTo>
                <a:lnTo>
                  <a:pt x="21000" y="8000"/>
                </a:lnTo>
                <a:lnTo>
                  <a:pt x="16000" y="8000"/>
                </a:lnTo>
                <a:moveTo>
                  <a:pt x="21000" y="12000"/>
                </a:moveTo>
                <a:cubicBezTo>
                  <a:pt x="21000" y="16971"/>
                  <a:pt x="16971" y="21000"/>
                  <a:pt x="12000" y="21000"/>
                </a:cubicBezTo>
                <a:cubicBezTo>
                  <a:pt x="9484" y="20991"/>
                  <a:pt x="7069" y="20009"/>
                  <a:pt x="5260" y="18260"/>
                </a:cubicBezTo>
                <a:lnTo>
                  <a:pt x="3000" y="16000"/>
                </a:lnTo>
                <a:moveTo>
                  <a:pt x="8000" y="16000"/>
                </a:moveTo>
                <a:lnTo>
                  <a:pt x="3000" y="16000"/>
                </a:lnTo>
                <a:lnTo>
                  <a:pt x="3000" y="21000"/>
                </a:lnTo>
              </a:path>
            </a:pathLst>
          </a:custGeom>
          <a:noFill/>
          <a:ln w="41275" cap="rnd">
            <a:solidFill>
              <a:schemeClr val="accent1"/>
            </a:solidFill>
            <a:round/>
          </a:ln>
          <a:effectLst/>
        </p:spPr>
      </p:sp>
      <p:sp>
        <p:nvSpPr>
          <p:cNvPr id="34" name="struct.panel.1"/>
          <p:cNvSpPr/>
          <p:nvPr/>
        </p:nvSpPr>
        <p:spPr>
          <a:xfrm>
            <a:off x="457200" y="868680"/>
            <a:ext cx="1920240" cy="2551176"/>
          </a:xfrm>
          <a:prstGeom prst="roundRect">
            <a:avLst>
              <a:gd name="adj" fmla="val 238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35" name="slot.panel.1.head"/>
          <p:cNvSpPr txBox="1"/>
          <p:nvPr/>
        </p:nvSpPr>
        <p:spPr>
          <a:xfrm>
            <a:off x="621792" y="1051560"/>
            <a:ext cx="1645920" cy="31089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Build and change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struct.panel.1.item.1.ring"/>
          <p:cNvSpPr/>
          <p:nvPr/>
        </p:nvSpPr>
        <p:spPr>
          <a:xfrm>
            <a:off x="621792" y="1508760"/>
            <a:ext cx="420624" cy="42062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  <a:effectLst/>
        </p:spPr>
      </p:sp>
      <p:sp>
        <p:nvSpPr>
          <p:cNvPr id="37" name="slot.panel.1.item.1.icon"/>
          <p:cNvSpPr/>
          <p:nvPr/>
        </p:nvSpPr>
        <p:spPr>
          <a:xfrm>
            <a:off x="713232" y="160020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</p:sp>
      <p:sp>
        <p:nvSpPr>
          <p:cNvPr id="38" name="slot.panel.1.item.1"/>
          <p:cNvSpPr txBox="1"/>
          <p:nvPr/>
        </p:nvSpPr>
        <p:spPr>
          <a:xfrm>
            <a:off x="1152144" y="1490472"/>
            <a:ext cx="1115568" cy="45720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Prompt and config versions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struct.panel.1.item.2.ring"/>
          <p:cNvSpPr/>
          <p:nvPr/>
        </p:nvSpPr>
        <p:spPr>
          <a:xfrm>
            <a:off x="621792" y="2130552"/>
            <a:ext cx="420624" cy="42062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  <a:effectLst/>
        </p:spPr>
      </p:sp>
      <p:sp>
        <p:nvSpPr>
          <p:cNvPr id="40" name="slot.panel.1.item.2.icon"/>
          <p:cNvSpPr/>
          <p:nvPr/>
        </p:nvSpPr>
        <p:spPr>
          <a:xfrm>
            <a:off x="713232" y="2221992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5000" y="6000"/>
                </a:moveTo>
                <a:cubicBezTo>
                  <a:pt x="10029" y="6000"/>
                  <a:pt x="6000" y="10029"/>
                  <a:pt x="6000" y="15000"/>
                </a:cubicBezTo>
                <a:lnTo>
                  <a:pt x="6000" y="3000"/>
                </a:lnTo>
                <a:moveTo>
                  <a:pt x="21000" y="6000"/>
                </a:moveTo>
                <a:cubicBezTo>
                  <a:pt x="21000" y="7657"/>
                  <a:pt x="19657" y="9000"/>
                  <a:pt x="18000" y="9000"/>
                </a:cubicBezTo>
                <a:cubicBezTo>
                  <a:pt x="16343" y="9000"/>
                  <a:pt x="15000" y="7657"/>
                  <a:pt x="15000" y="6000"/>
                </a:cubicBezTo>
                <a:cubicBezTo>
                  <a:pt x="15000" y="4343"/>
                  <a:pt x="16343" y="3000"/>
                  <a:pt x="18000" y="3000"/>
                </a:cubicBezTo>
                <a:cubicBezTo>
                  <a:pt x="19657" y="3000"/>
                  <a:pt x="21000" y="4343"/>
                  <a:pt x="21000" y="6000"/>
                </a:cubicBezTo>
                <a:close/>
                <a:moveTo>
                  <a:pt x="9000" y="18000"/>
                </a:moveTo>
                <a:cubicBezTo>
                  <a:pt x="9000" y="19657"/>
                  <a:pt x="7657" y="21000"/>
                  <a:pt x="6000" y="21000"/>
                </a:cubicBezTo>
                <a:cubicBezTo>
                  <a:pt x="4343" y="21000"/>
                  <a:pt x="3000" y="19657"/>
                  <a:pt x="3000" y="18000"/>
                </a:cubicBezTo>
                <a:cubicBezTo>
                  <a:pt x="3000" y="16343"/>
                  <a:pt x="4343" y="15000"/>
                  <a:pt x="6000" y="15000"/>
                </a:cubicBezTo>
                <a:cubicBezTo>
                  <a:pt x="7657" y="15000"/>
                  <a:pt x="9000" y="16343"/>
                  <a:pt x="9000" y="18000"/>
                </a:cubicBezTo>
                <a:close/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</p:sp>
      <p:sp>
        <p:nvSpPr>
          <p:cNvPr id="41" name="slot.panel.1.item.2"/>
          <p:cNvSpPr txBox="1"/>
          <p:nvPr/>
        </p:nvSpPr>
        <p:spPr>
          <a:xfrm>
            <a:off x="1152144" y="2112264"/>
            <a:ext cx="1115568" cy="45720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Release pipelines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struct.panel.1.item.3.ring"/>
          <p:cNvSpPr/>
          <p:nvPr/>
        </p:nvSpPr>
        <p:spPr>
          <a:xfrm>
            <a:off x="621792" y="2752344"/>
            <a:ext cx="420624" cy="42062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  <a:effectLst/>
        </p:spPr>
      </p:sp>
      <p:sp>
        <p:nvSpPr>
          <p:cNvPr id="43" name="slot.panel.1.item.3.icon"/>
          <p:cNvSpPr/>
          <p:nvPr/>
        </p:nvSpPr>
        <p:spPr>
          <a:xfrm>
            <a:off x="713232" y="2843784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000" y="2000"/>
                </a:moveTo>
                <a:lnTo>
                  <a:pt x="14000" y="8000"/>
                </a:lnTo>
                <a:cubicBezTo>
                  <a:pt x="14000" y="8335"/>
                  <a:pt x="14084" y="8666"/>
                  <a:pt x="14245" y="8960"/>
                </a:cubicBezTo>
                <a:lnTo>
                  <a:pt x="19755" y="19040"/>
                </a:lnTo>
                <a:cubicBezTo>
                  <a:pt x="20094" y="19660"/>
                  <a:pt x="20081" y="20412"/>
                  <a:pt x="19721" y="21020"/>
                </a:cubicBezTo>
                <a:cubicBezTo>
                  <a:pt x="19361" y="21628"/>
                  <a:pt x="18706" y="22000"/>
                  <a:pt x="18000" y="22000"/>
                </a:cubicBezTo>
                <a:lnTo>
                  <a:pt x="6000" y="22000"/>
                </a:lnTo>
                <a:cubicBezTo>
                  <a:pt x="5294" y="22000"/>
                  <a:pt x="4639" y="21628"/>
                  <a:pt x="4279" y="21020"/>
                </a:cubicBezTo>
                <a:cubicBezTo>
                  <a:pt x="3919" y="20412"/>
                  <a:pt x="3906" y="19660"/>
                  <a:pt x="4245" y="19040"/>
                </a:cubicBezTo>
                <a:lnTo>
                  <a:pt x="9755" y="8960"/>
                </a:lnTo>
                <a:cubicBezTo>
                  <a:pt x="9916" y="8666"/>
                  <a:pt x="10000" y="8335"/>
                  <a:pt x="10000" y="8000"/>
                </a:cubicBezTo>
                <a:lnTo>
                  <a:pt x="10000" y="2000"/>
                </a:lnTo>
                <a:moveTo>
                  <a:pt x="6453" y="15000"/>
                </a:moveTo>
                <a:lnTo>
                  <a:pt x="17547" y="15000"/>
                </a:lnTo>
                <a:moveTo>
                  <a:pt x="8500" y="2000"/>
                </a:moveTo>
                <a:lnTo>
                  <a:pt x="15500" y="2000"/>
                </a:lnTo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</p:sp>
      <p:sp>
        <p:nvSpPr>
          <p:cNvPr id="44" name="slot.panel.1.item.3"/>
          <p:cNvSpPr txBox="1"/>
          <p:nvPr/>
        </p:nvSpPr>
        <p:spPr>
          <a:xfrm>
            <a:off x="1152144" y="2734056"/>
            <a:ext cx="1115568" cy="45720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Controlled experiments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truct.panel.2"/>
          <p:cNvSpPr/>
          <p:nvPr/>
        </p:nvSpPr>
        <p:spPr>
          <a:xfrm>
            <a:off x="457200" y="3602736"/>
            <a:ext cx="1920240" cy="2551176"/>
          </a:xfrm>
          <a:prstGeom prst="roundRect">
            <a:avLst>
              <a:gd name="adj" fmla="val 238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46" name="slot.panel.2.head"/>
          <p:cNvSpPr txBox="1"/>
          <p:nvPr/>
        </p:nvSpPr>
        <p:spPr>
          <a:xfrm>
            <a:off x="621792" y="3785616"/>
            <a:ext cx="1645920" cy="31089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Data foundations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struct.panel.2.item.1.ring"/>
          <p:cNvSpPr/>
          <p:nvPr/>
        </p:nvSpPr>
        <p:spPr>
          <a:xfrm>
            <a:off x="621792" y="4242816"/>
            <a:ext cx="420624" cy="42062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  <a:effectLst/>
        </p:spPr>
      </p:sp>
      <p:sp>
        <p:nvSpPr>
          <p:cNvPr id="48" name="slot.panel.2.item.1.icon"/>
          <p:cNvSpPr/>
          <p:nvPr/>
        </p:nvSpPr>
        <p:spPr>
          <a:xfrm>
            <a:off x="713232" y="4334256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</p:sp>
      <p:sp>
        <p:nvSpPr>
          <p:cNvPr id="49" name="slot.panel.2.item.1"/>
          <p:cNvSpPr txBox="1"/>
          <p:nvPr/>
        </p:nvSpPr>
        <p:spPr>
          <a:xfrm>
            <a:off x="1152144" y="4224528"/>
            <a:ext cx="1115568" cy="45720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Source data contracts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struct.panel.2.item.2.ring"/>
          <p:cNvSpPr/>
          <p:nvPr/>
        </p:nvSpPr>
        <p:spPr>
          <a:xfrm>
            <a:off x="621792" y="4864608"/>
            <a:ext cx="420624" cy="42062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  <a:effectLst/>
        </p:spPr>
      </p:sp>
      <p:sp>
        <p:nvSpPr>
          <p:cNvPr id="51" name="slot.panel.2.item.2.icon"/>
          <p:cNvSpPr/>
          <p:nvPr/>
        </p:nvSpPr>
        <p:spPr>
          <a:xfrm>
            <a:off x="713232" y="4956048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3000"/>
                </a:moveTo>
                <a:lnTo>
                  <a:pt x="9000" y="3000"/>
                </a:lnTo>
                <a:cubicBezTo>
                  <a:pt x="10105" y="3000"/>
                  <a:pt x="11000" y="3895"/>
                  <a:pt x="11000" y="5000"/>
                </a:cubicBezTo>
                <a:lnTo>
                  <a:pt x="11000" y="9000"/>
                </a:lnTo>
                <a:cubicBezTo>
                  <a:pt x="11000" y="10105"/>
                  <a:pt x="10105" y="11000"/>
                  <a:pt x="9000" y="11000"/>
                </a:cubicBezTo>
                <a:lnTo>
                  <a:pt x="5000" y="11000"/>
                </a:lnTo>
                <a:cubicBezTo>
                  <a:pt x="3895" y="11000"/>
                  <a:pt x="3000" y="10105"/>
                  <a:pt x="3000" y="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  <a:moveTo>
                  <a:pt x="7000" y="11000"/>
                </a:moveTo>
                <a:lnTo>
                  <a:pt x="7000" y="15000"/>
                </a:lnTo>
                <a:cubicBezTo>
                  <a:pt x="7000" y="16105"/>
                  <a:pt x="7895" y="17000"/>
                  <a:pt x="9000" y="17000"/>
                </a:cubicBezTo>
                <a:lnTo>
                  <a:pt x="13000" y="17000"/>
                </a:lnTo>
                <a:moveTo>
                  <a:pt x="15000" y="13000"/>
                </a:moveTo>
                <a:lnTo>
                  <a:pt x="19000" y="13000"/>
                </a:lnTo>
                <a:cubicBezTo>
                  <a:pt x="20105" y="13000"/>
                  <a:pt x="21000" y="13895"/>
                  <a:pt x="21000" y="1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5000" y="21000"/>
                </a:lnTo>
                <a:cubicBezTo>
                  <a:pt x="13895" y="21000"/>
                  <a:pt x="13000" y="20105"/>
                  <a:pt x="13000" y="19000"/>
                </a:cubicBezTo>
                <a:lnTo>
                  <a:pt x="13000" y="15000"/>
                </a:lnTo>
                <a:cubicBezTo>
                  <a:pt x="13000" y="13895"/>
                  <a:pt x="13895" y="13000"/>
                  <a:pt x="15000" y="13000"/>
                </a:cubicBezTo>
                <a:close/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</p:sp>
      <p:sp>
        <p:nvSpPr>
          <p:cNvPr id="52" name="slot.panel.2.item.2"/>
          <p:cNvSpPr txBox="1"/>
          <p:nvPr/>
        </p:nvSpPr>
        <p:spPr>
          <a:xfrm>
            <a:off x="1152144" y="4846320"/>
            <a:ext cx="1115568" cy="45720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Lineage and catalog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struct.panel.2.item.3.ring"/>
          <p:cNvSpPr/>
          <p:nvPr/>
        </p:nvSpPr>
        <p:spPr>
          <a:xfrm>
            <a:off x="621792" y="5486400"/>
            <a:ext cx="420624" cy="42062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  <a:effectLst/>
        </p:spPr>
      </p:sp>
      <p:sp>
        <p:nvSpPr>
          <p:cNvPr id="54" name="slot.panel.2.item.3.icon"/>
          <p:cNvSpPr/>
          <p:nvPr/>
        </p:nvSpPr>
        <p:spPr>
          <a:xfrm>
            <a:off x="713232" y="557784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3000"/>
                </a:moveTo>
                <a:lnTo>
                  <a:pt x="12000" y="21000"/>
                </a:lnTo>
                <a:moveTo>
                  <a:pt x="5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  <a:moveTo>
                  <a:pt x="3000" y="9000"/>
                </a:moveTo>
                <a:lnTo>
                  <a:pt x="21000" y="9000"/>
                </a:lnTo>
                <a:moveTo>
                  <a:pt x="3000" y="15000"/>
                </a:moveTo>
                <a:lnTo>
                  <a:pt x="21000" y="15000"/>
                </a:lnTo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</p:sp>
      <p:sp>
        <p:nvSpPr>
          <p:cNvPr id="55" name="slot.panel.2.item.3"/>
          <p:cNvSpPr txBox="1"/>
          <p:nvPr/>
        </p:nvSpPr>
        <p:spPr>
          <a:xfrm>
            <a:off x="1152144" y="5468112"/>
            <a:ext cx="1115568" cy="45720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Benchmark sets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truct.panel.3"/>
          <p:cNvSpPr/>
          <p:nvPr/>
        </p:nvSpPr>
        <p:spPr>
          <a:xfrm>
            <a:off x="9875520" y="868680"/>
            <a:ext cx="1920240" cy="2551176"/>
          </a:xfrm>
          <a:prstGeom prst="roundRect">
            <a:avLst>
              <a:gd name="adj" fmla="val 238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57" name="slot.panel.3.head"/>
          <p:cNvSpPr txBox="1"/>
          <p:nvPr/>
        </p:nvSpPr>
        <p:spPr>
          <a:xfrm>
            <a:off x="10040112" y="1051560"/>
            <a:ext cx="1645920" cy="31089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Quality and safety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struct.panel.3.item.1.ring"/>
          <p:cNvSpPr/>
          <p:nvPr/>
        </p:nvSpPr>
        <p:spPr>
          <a:xfrm>
            <a:off x="10040112" y="1508760"/>
            <a:ext cx="420624" cy="42062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  <a:effectLst/>
        </p:spPr>
      </p:sp>
      <p:sp>
        <p:nvSpPr>
          <p:cNvPr id="59" name="slot.panel.3.item.1.icon"/>
          <p:cNvSpPr/>
          <p:nvPr/>
        </p:nvSpPr>
        <p:spPr>
          <a:xfrm>
            <a:off x="10131552" y="160020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000" y="5000"/>
                </a:moveTo>
                <a:lnTo>
                  <a:pt x="21000" y="5000"/>
                </a:lnTo>
                <a:moveTo>
                  <a:pt x="13000" y="12000"/>
                </a:moveTo>
                <a:lnTo>
                  <a:pt x="21000" y="12000"/>
                </a:lnTo>
                <a:moveTo>
                  <a:pt x="13000" y="19000"/>
                </a:moveTo>
                <a:lnTo>
                  <a:pt x="21000" y="19000"/>
                </a:lnTo>
                <a:moveTo>
                  <a:pt x="3000" y="17000"/>
                </a:moveTo>
                <a:lnTo>
                  <a:pt x="5000" y="19000"/>
                </a:lnTo>
                <a:lnTo>
                  <a:pt x="9000" y="15000"/>
                </a:lnTo>
                <a:moveTo>
                  <a:pt x="3000" y="7000"/>
                </a:moveTo>
                <a:lnTo>
                  <a:pt x="5000" y="9000"/>
                </a:lnTo>
                <a:lnTo>
                  <a:pt x="9000" y="5000"/>
                </a:lnTo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</p:sp>
      <p:sp>
        <p:nvSpPr>
          <p:cNvPr id="60" name="slot.panel.3.item.1"/>
          <p:cNvSpPr txBox="1"/>
          <p:nvPr/>
        </p:nvSpPr>
        <p:spPr>
          <a:xfrm>
            <a:off x="10570464" y="1490472"/>
            <a:ext cx="1115568" cy="45720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Evaluation suites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struct.panel.3.item.2.ring"/>
          <p:cNvSpPr/>
          <p:nvPr/>
        </p:nvSpPr>
        <p:spPr>
          <a:xfrm>
            <a:off x="10040112" y="2130552"/>
            <a:ext cx="420624" cy="42062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  <a:effectLst/>
        </p:spPr>
      </p:sp>
      <p:sp>
        <p:nvSpPr>
          <p:cNvPr id="62" name="slot.panel.3.item.2.icon"/>
          <p:cNvSpPr/>
          <p:nvPr/>
        </p:nvSpPr>
        <p:spPr>
          <a:xfrm>
            <a:off x="10131552" y="2221992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21000"/>
                </a:moveTo>
                <a:lnTo>
                  <a:pt x="16660" y="16660"/>
                </a:lnTo>
                <a:moveTo>
                  <a:pt x="19000" y="11000"/>
                </a:moveTo>
                <a:cubicBezTo>
                  <a:pt x="19000" y="15418"/>
                  <a:pt x="15418" y="19000"/>
                  <a:pt x="11000" y="19000"/>
                </a:cubicBezTo>
                <a:cubicBezTo>
                  <a:pt x="6582" y="19000"/>
                  <a:pt x="3000" y="15418"/>
                  <a:pt x="3000" y="11000"/>
                </a:cubicBezTo>
                <a:cubicBezTo>
                  <a:pt x="3000" y="6582"/>
                  <a:pt x="6582" y="3000"/>
                  <a:pt x="11000" y="3000"/>
                </a:cubicBezTo>
                <a:cubicBezTo>
                  <a:pt x="15418" y="3000"/>
                  <a:pt x="19000" y="6582"/>
                  <a:pt x="19000" y="11000"/>
                </a:cubicBezTo>
                <a:close/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</p:sp>
      <p:sp>
        <p:nvSpPr>
          <p:cNvPr id="63" name="slot.panel.3.item.2"/>
          <p:cNvSpPr txBox="1"/>
          <p:nvPr/>
        </p:nvSpPr>
        <p:spPr>
          <a:xfrm>
            <a:off x="10570464" y="2112264"/>
            <a:ext cx="1115568" cy="45720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Data quality checks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struct.panel.3.item.3.ring"/>
          <p:cNvSpPr/>
          <p:nvPr/>
        </p:nvSpPr>
        <p:spPr>
          <a:xfrm>
            <a:off x="10040112" y="2752344"/>
            <a:ext cx="420624" cy="42062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  <a:effectLst/>
        </p:spPr>
      </p:sp>
      <p:sp>
        <p:nvSpPr>
          <p:cNvPr id="65" name="slot.panel.3.item.3.icon"/>
          <p:cNvSpPr/>
          <p:nvPr/>
        </p:nvSpPr>
        <p:spPr>
          <a:xfrm>
            <a:off x="10131552" y="2843784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3000"/>
                </a:moveTo>
                <a:lnTo>
                  <a:pt x="12000" y="21000"/>
                </a:lnTo>
                <a:moveTo>
                  <a:pt x="19000" y="8000"/>
                </a:moveTo>
                <a:lnTo>
                  <a:pt x="22000" y="16000"/>
                </a:lnTo>
                <a:cubicBezTo>
                  <a:pt x="20222" y="17333"/>
                  <a:pt x="17778" y="17333"/>
                  <a:pt x="16000" y="16000"/>
                </a:cubicBezTo>
                <a:close/>
                <a:moveTo>
                  <a:pt x="19000" y="8000"/>
                </a:moveTo>
                <a:lnTo>
                  <a:pt x="19000" y="7000"/>
                </a:lnTo>
                <a:moveTo>
                  <a:pt x="3000" y="7000"/>
                </a:moveTo>
                <a:lnTo>
                  <a:pt x="4000" y="7000"/>
                </a:lnTo>
                <a:cubicBezTo>
                  <a:pt x="6790" y="7000"/>
                  <a:pt x="9538" y="6313"/>
                  <a:pt x="12000" y="5000"/>
                </a:cubicBezTo>
                <a:cubicBezTo>
                  <a:pt x="14462" y="6313"/>
                  <a:pt x="17210" y="7000"/>
                  <a:pt x="20000" y="7000"/>
                </a:cubicBezTo>
                <a:lnTo>
                  <a:pt x="21000" y="7000"/>
                </a:lnTo>
                <a:moveTo>
                  <a:pt x="5000" y="8000"/>
                </a:moveTo>
                <a:lnTo>
                  <a:pt x="8000" y="16000"/>
                </a:lnTo>
                <a:cubicBezTo>
                  <a:pt x="6222" y="17333"/>
                  <a:pt x="3778" y="17333"/>
                  <a:pt x="2000" y="16000"/>
                </a:cubicBezTo>
                <a:close/>
                <a:moveTo>
                  <a:pt x="5000" y="8000"/>
                </a:moveTo>
                <a:lnTo>
                  <a:pt x="5000" y="7000"/>
                </a:lnTo>
                <a:moveTo>
                  <a:pt x="7000" y="21000"/>
                </a:moveTo>
                <a:lnTo>
                  <a:pt x="17000" y="21000"/>
                </a:lnTo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</p:sp>
      <p:sp>
        <p:nvSpPr>
          <p:cNvPr id="66" name="slot.panel.3.item.3"/>
          <p:cNvSpPr txBox="1"/>
          <p:nvPr/>
        </p:nvSpPr>
        <p:spPr>
          <a:xfrm>
            <a:off x="10570464" y="2734056"/>
            <a:ext cx="1115568" cy="45720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Policy and compliance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struct.panel.4"/>
          <p:cNvSpPr/>
          <p:nvPr/>
        </p:nvSpPr>
        <p:spPr>
          <a:xfrm>
            <a:off x="9875520" y="3602736"/>
            <a:ext cx="1920240" cy="2551176"/>
          </a:xfrm>
          <a:prstGeom prst="roundRect">
            <a:avLst>
              <a:gd name="adj" fmla="val 238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68" name="slot.panel.4.head"/>
          <p:cNvSpPr txBox="1"/>
          <p:nvPr/>
        </p:nvSpPr>
        <p:spPr>
          <a:xfrm>
            <a:off x="10040112" y="3785616"/>
            <a:ext cx="1645920" cy="31089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Run and optimize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struct.panel.4.item.1.ring"/>
          <p:cNvSpPr/>
          <p:nvPr/>
        </p:nvSpPr>
        <p:spPr>
          <a:xfrm>
            <a:off x="10040112" y="4242816"/>
            <a:ext cx="420624" cy="42062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  <a:effectLst/>
        </p:spPr>
      </p:sp>
      <p:sp>
        <p:nvSpPr>
          <p:cNvPr id="70" name="slot.panel.4.item.1.icon"/>
          <p:cNvSpPr/>
          <p:nvPr/>
        </p:nvSpPr>
        <p:spPr>
          <a:xfrm>
            <a:off x="10131552" y="4334256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268" y="21000"/>
                </a:moveTo>
                <a:cubicBezTo>
                  <a:pt x="10625" y="21619"/>
                  <a:pt x="11286" y="22000"/>
                  <a:pt x="12000" y="22000"/>
                </a:cubicBezTo>
                <a:cubicBezTo>
                  <a:pt x="12714" y="22000"/>
                  <a:pt x="13375" y="21619"/>
                  <a:pt x="13732" y="21000"/>
                </a:cubicBezTo>
                <a:moveTo>
                  <a:pt x="3262" y="15326"/>
                </a:moveTo>
                <a:cubicBezTo>
                  <a:pt x="2995" y="15619"/>
                  <a:pt x="2926" y="16041"/>
                  <a:pt x="3086" y="16403"/>
                </a:cubicBezTo>
                <a:cubicBezTo>
                  <a:pt x="3245" y="16766"/>
                  <a:pt x="3604" y="17000"/>
                  <a:pt x="4000" y="17000"/>
                </a:cubicBezTo>
                <a:lnTo>
                  <a:pt x="20000" y="17000"/>
                </a:lnTo>
                <a:cubicBezTo>
                  <a:pt x="20396" y="17000"/>
                  <a:pt x="20755" y="16767"/>
                  <a:pt x="20915" y="16405"/>
                </a:cubicBezTo>
                <a:cubicBezTo>
                  <a:pt x="21075" y="16042"/>
                  <a:pt x="21006" y="15620"/>
                  <a:pt x="20740" y="15327"/>
                </a:cubicBezTo>
                <a:cubicBezTo>
                  <a:pt x="19410" y="13956"/>
                  <a:pt x="18000" y="12499"/>
                  <a:pt x="18000" y="8000"/>
                </a:cubicBezTo>
                <a:cubicBezTo>
                  <a:pt x="18000" y="4686"/>
                  <a:pt x="15314" y="2000"/>
                  <a:pt x="12000" y="2000"/>
                </a:cubicBezTo>
                <a:cubicBezTo>
                  <a:pt x="8686" y="2000"/>
                  <a:pt x="6000" y="4686"/>
                  <a:pt x="6000" y="8000"/>
                </a:cubicBezTo>
                <a:cubicBezTo>
                  <a:pt x="6000" y="12499"/>
                  <a:pt x="4589" y="13956"/>
                  <a:pt x="3262" y="15326"/>
                </a:cubicBezTo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</p:sp>
      <p:sp>
        <p:nvSpPr>
          <p:cNvPr id="71" name="slot.panel.4.item.1"/>
          <p:cNvSpPr txBox="1"/>
          <p:nvPr/>
        </p:nvSpPr>
        <p:spPr>
          <a:xfrm>
            <a:off x="10570464" y="4224528"/>
            <a:ext cx="1115568" cy="45720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Monitoring and alerts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struct.panel.4.item.2.ring"/>
          <p:cNvSpPr/>
          <p:nvPr/>
        </p:nvSpPr>
        <p:spPr>
          <a:xfrm>
            <a:off x="10040112" y="4864608"/>
            <a:ext cx="420624" cy="42062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  <a:effectLst/>
        </p:spPr>
      </p:sp>
      <p:sp>
        <p:nvSpPr>
          <p:cNvPr id="73" name="slot.panel.4.item.2.icon"/>
          <p:cNvSpPr/>
          <p:nvPr/>
        </p:nvSpPr>
        <p:spPr>
          <a:xfrm>
            <a:off x="10131552" y="4956048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14000"/>
                </a:moveTo>
                <a:lnTo>
                  <a:pt x="6000" y="14000"/>
                </a:lnTo>
                <a:cubicBezTo>
                  <a:pt x="7105" y="14000"/>
                  <a:pt x="8000" y="14895"/>
                  <a:pt x="8000" y="16000"/>
                </a:cubicBezTo>
                <a:lnTo>
                  <a:pt x="8000" y="19000"/>
                </a:lnTo>
                <a:cubicBezTo>
                  <a:pt x="8000" y="20105"/>
                  <a:pt x="7105" y="21000"/>
                  <a:pt x="6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12000"/>
                </a:lnTo>
                <a:cubicBezTo>
                  <a:pt x="3000" y="7029"/>
                  <a:pt x="7029" y="3000"/>
                  <a:pt x="12000" y="3000"/>
                </a:cubicBezTo>
                <a:cubicBezTo>
                  <a:pt x="16971" y="3000"/>
                  <a:pt x="21000" y="7029"/>
                  <a:pt x="21000" y="12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8000" y="21000"/>
                </a:lnTo>
                <a:cubicBezTo>
                  <a:pt x="16895" y="21000"/>
                  <a:pt x="16000" y="20105"/>
                  <a:pt x="16000" y="19000"/>
                </a:cubicBezTo>
                <a:lnTo>
                  <a:pt x="16000" y="16000"/>
                </a:lnTo>
                <a:cubicBezTo>
                  <a:pt x="16000" y="14895"/>
                  <a:pt x="16895" y="14000"/>
                  <a:pt x="18000" y="14000"/>
                </a:cubicBezTo>
                <a:lnTo>
                  <a:pt x="21000" y="14000"/>
                </a:lnTo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</p:sp>
      <p:sp>
        <p:nvSpPr>
          <p:cNvPr id="74" name="slot.panel.4.item.2"/>
          <p:cNvSpPr txBox="1"/>
          <p:nvPr/>
        </p:nvSpPr>
        <p:spPr>
          <a:xfrm>
            <a:off x="10570464" y="4846320"/>
            <a:ext cx="1115568" cy="45720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Incident response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struct.panel.4.item.3.ring"/>
          <p:cNvSpPr/>
          <p:nvPr/>
        </p:nvSpPr>
        <p:spPr>
          <a:xfrm>
            <a:off x="10040112" y="5486400"/>
            <a:ext cx="420624" cy="42062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  <a:effectLst/>
        </p:spPr>
      </p:sp>
      <p:sp>
        <p:nvSpPr>
          <p:cNvPr id="76" name="slot.panel.4.item.3.icon"/>
          <p:cNvSpPr/>
          <p:nvPr/>
        </p:nvSpPr>
        <p:spPr>
          <a:xfrm>
            <a:off x="10131552" y="557784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4000"/>
                </a:moveTo>
                <a:lnTo>
                  <a:pt x="16000" y="10000"/>
                </a:lnTo>
                <a:moveTo>
                  <a:pt x="3340" y="19000"/>
                </a:moveTo>
                <a:cubicBezTo>
                  <a:pt x="913" y="14797"/>
                  <a:pt x="1854" y="9459"/>
                  <a:pt x="5572" y="6339"/>
                </a:cubicBezTo>
                <a:cubicBezTo>
                  <a:pt x="9290" y="3220"/>
                  <a:pt x="14710" y="3220"/>
                  <a:pt x="18428" y="6339"/>
                </a:cubicBezTo>
                <a:cubicBezTo>
                  <a:pt x="22146" y="9459"/>
                  <a:pt x="23087" y="14797"/>
                  <a:pt x="20660" y="19000"/>
                </a:cubicBezTo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</p:sp>
      <p:sp>
        <p:nvSpPr>
          <p:cNvPr id="77" name="slot.panel.4.item.3"/>
          <p:cNvSpPr txBox="1"/>
          <p:nvPr/>
        </p:nvSpPr>
        <p:spPr>
          <a:xfrm>
            <a:off x="10570464" y="5468112"/>
            <a:ext cx="1115568" cy="45720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Cost and performance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engagement-model:queue-gated-tracks-stack">
    <p:spTree>
      <p:nvGrpSpPr>
        <p:cNvPr id="1" name=""/>
        <p:cNvGrpSpPr/>
        <p:nvPr/>
      </p:nvGrpSpPr>
      <p:grpSpPr/>
      <p:sp>
        <p:nvSpPr>
          <p:cNvPr id="2" name="slot.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Requests enter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one queue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, pass a value gate and build a shared base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ot.queue.label"/>
          <p:cNvSpPr/>
          <p:nvPr/>
        </p:nvSpPr>
        <p:spPr>
          <a:xfrm>
            <a:off x="459539" y="785524"/>
            <a:ext cx="2364731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Intake queue, by rank</a:t>
            </a:r>
            <a:endParaRPr lang="en-US" sz="13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4" name="struct.queue"/>
          <p:cNvGrpSpPr/>
          <p:nvPr/>
        </p:nvGrpSpPr>
        <p:grpSpPr>
          <a:xfrm>
            <a:off x="457200" y="1204662"/>
            <a:ext cx="2230062" cy="4639894"/>
            <a:chOff x="454848" y="1451867"/>
            <a:chExt cx="2242048" cy="3826717"/>
          </a:xfrm>
          <a:effectLst/>
        </p:grpSpPr>
        <p:sp>
          <p:nvSpPr>
            <p:cNvPr id="5" name="slot.queue.live.1"/>
            <p:cNvSpPr/>
            <p:nvPr/>
          </p:nvSpPr>
          <p:spPr>
            <a:xfrm>
              <a:off x="454848" y="1451867"/>
              <a:ext cx="2242048" cy="685499"/>
            </a:xfrm>
            <a:prstGeom prst="roundRect">
              <a:avLst>
                <a:gd name="adj" fmla="val 550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8000" tIns="27425" rIns="54850" bIns="27425" anchor="ctr" anchorCtr="0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In discovery</a:t>
              </a:r>
              <a:endPara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  <a:p>
              <a:pPr marL="0" indent="0" lv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-US" sz="1100" b="0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Weekly forecast by region for the planning office</a:t>
              </a:r>
              <a:endPara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" name="slot.queue.live.2"/>
            <p:cNvSpPr/>
            <p:nvPr/>
          </p:nvSpPr>
          <p:spPr>
            <a:xfrm>
              <a:off x="454848" y="2236797"/>
              <a:ext cx="2242048" cy="685499"/>
            </a:xfrm>
            <a:prstGeom prst="roundRect">
              <a:avLst>
                <a:gd name="adj" fmla="val 550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8000" tIns="27425" rIns="54850" bIns="27425" anchor="ctr" anchorCtr="0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In delivery</a:t>
              </a:r>
              <a:endPara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  <a:p>
              <a:pPr marL="0" indent="0" lv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-US" sz="1100" b="0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Planner override log with reasons captured</a:t>
              </a:r>
              <a:endPara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7" name="slot.queue.next.1"/>
            <p:cNvSpPr/>
            <p:nvPr/>
          </p:nvSpPr>
          <p:spPr>
            <a:xfrm>
              <a:off x="454848" y="3021728"/>
              <a:ext cx="2242048" cy="489641"/>
            </a:xfrm>
            <a:prstGeom prst="roundRect">
              <a:avLst>
                <a:gd name="adj" fmla="val 7701"/>
              </a:avLst>
            </a:prstGeom>
            <a:solidFill>
              <a:schemeClr val="bg1"/>
            </a:solidFill>
            <a:ln w="9525" cap="flat" cmpd="sng">
              <a:solidFill>
                <a:schemeClr val="bg1">
                  <a:lumMod val="7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28000" tIns="27425" rIns="54850" bIns="27425" anchor="ctr" anchorCtr="0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rPr>
                <a:t>Promotion uplift model</a:t>
              </a:r>
              <a:endPara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8" name="slot.queue.next.2"/>
            <p:cNvSpPr/>
            <p:nvPr/>
          </p:nvSpPr>
          <p:spPr>
            <a:xfrm>
              <a:off x="454848" y="3610800"/>
              <a:ext cx="2242048" cy="489641"/>
            </a:xfrm>
            <a:prstGeom prst="roundRect">
              <a:avLst>
                <a:gd name="adj" fmla="val 7701"/>
              </a:avLst>
            </a:prstGeom>
            <a:solidFill>
              <a:schemeClr val="bg1"/>
            </a:solidFill>
            <a:ln w="9525" cap="flat" cmpd="sng">
              <a:solidFill>
                <a:schemeClr val="bg1">
                  <a:lumMod val="7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28000" tIns="27425" rIns="54850" bIns="27425" anchor="ctr" anchorCtr="0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rPr>
                <a:t>Supplier lead-time feed</a:t>
              </a:r>
              <a:endPara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9" name="slot.queue.next.3"/>
            <p:cNvSpPr/>
            <p:nvPr/>
          </p:nvSpPr>
          <p:spPr>
            <a:xfrm>
              <a:off x="454848" y="4199873"/>
              <a:ext cx="2242048" cy="489641"/>
            </a:xfrm>
            <a:prstGeom prst="roundRect">
              <a:avLst>
                <a:gd name="adj" fmla="val 7701"/>
              </a:avLst>
            </a:prstGeom>
            <a:solidFill>
              <a:schemeClr val="bg1"/>
            </a:solidFill>
            <a:ln w="9525" cap="flat" cmpd="sng">
              <a:solidFill>
                <a:schemeClr val="bg1">
                  <a:lumMod val="7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28000" tIns="27425" rIns="54850" bIns="27425" anchor="ctr" anchorCtr="0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rPr>
                <a:t>Stock-out early warning</a:t>
              </a:r>
              <a:endPara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0" name="slot.queue.next.4"/>
            <p:cNvSpPr/>
            <p:nvPr/>
          </p:nvSpPr>
          <p:spPr>
            <a:xfrm>
              <a:off x="454848" y="4788943"/>
              <a:ext cx="2242048" cy="489641"/>
            </a:xfrm>
            <a:prstGeom prst="roundRect">
              <a:avLst>
                <a:gd name="adj" fmla="val 7701"/>
              </a:avLst>
            </a:prstGeom>
            <a:solidFill>
              <a:schemeClr val="bg1"/>
            </a:solidFill>
            <a:ln w="9525" cap="flat" cmpd="sng">
              <a:solidFill>
                <a:schemeClr val="bg1">
                  <a:lumMod val="7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28000" tIns="27425" rIns="54850" bIns="27425" anchor="ctr" anchorCtr="0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rPr>
                <a:t>New-region onboarding</a:t>
              </a:r>
              <a:endPara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1" name="slot.pull.label"/>
          <p:cNvSpPr/>
          <p:nvPr/>
        </p:nvSpPr>
        <p:spPr>
          <a:xfrm>
            <a:off x="2715129" y="3822368"/>
            <a:ext cx="673039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Pull</a:t>
            </a:r>
            <a:endParaRPr lang="en-US" sz="1100" b="0" i="1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truct.track.1"/>
          <p:cNvSpPr/>
          <p:nvPr/>
        </p:nvSpPr>
        <p:spPr>
          <a:xfrm>
            <a:off x="3460928" y="1097280"/>
            <a:ext cx="4929554" cy="1645920"/>
          </a:xfrm>
          <a:prstGeom prst="roundRect">
            <a:avLst>
              <a:gd name="adj" fmla="val 2778"/>
            </a:avLst>
          </a:prstGeom>
          <a:solidFill>
            <a:schemeClr val="bg1"/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Arial"/>
              <a:buNone/>
            </a:pPr>
            <a:endParaRPr sz="1000" b="0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slot.gate.label"/>
          <p:cNvSpPr/>
          <p:nvPr/>
        </p:nvSpPr>
        <p:spPr>
          <a:xfrm>
            <a:off x="6362271" y="2926080"/>
            <a:ext cx="218282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Value gate, go or stop</a:t>
            </a:r>
            <a:endParaRPr lang="en-US" sz="13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struct.track.2"/>
          <p:cNvSpPr/>
          <p:nvPr/>
        </p:nvSpPr>
        <p:spPr>
          <a:xfrm>
            <a:off x="3460928" y="3383280"/>
            <a:ext cx="4929554" cy="1645920"/>
          </a:xfrm>
          <a:prstGeom prst="roundRect">
            <a:avLst>
              <a:gd name="adj" fmla="val 2778"/>
            </a:avLst>
          </a:prstGeom>
          <a:solidFill>
            <a:schemeClr val="bg1"/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>
              <a:buSzPts val="1400"/>
            </a:pPr>
            <a:endParaRPr lang="en-I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ot.track.2.head"/>
          <p:cNvSpPr/>
          <p:nvPr/>
        </p:nvSpPr>
        <p:spPr>
          <a:xfrm>
            <a:off x="3970254" y="3547872"/>
            <a:ext cx="4001852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Delivery track, four weeks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lot.track.2.step.1"/>
          <p:cNvSpPr/>
          <p:nvPr/>
        </p:nvSpPr>
        <p:spPr>
          <a:xfrm>
            <a:off x="3606450" y="3986784"/>
            <a:ext cx="1327887" cy="841248"/>
          </a:xfrm>
          <a:prstGeom prst="roundRect">
            <a:avLst>
              <a:gd name="adj" fmla="val 5435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  <a:effectLst/>
        </p:spPr>
        <p:txBody>
          <a:bodyPr spcFirstLastPara="1" wrap="square" lIns="54850" tIns="27425" rIns="54850" bIns="27425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Build and wire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Weeks 1 and 2</a:t>
            </a:r>
            <a:endParaRPr lang="en-US" sz="1100" b="0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lot.track.2.step.2"/>
          <p:cNvSpPr/>
          <p:nvPr/>
        </p:nvSpPr>
        <p:spPr>
          <a:xfrm>
            <a:off x="5261761" y="3986784"/>
            <a:ext cx="1327887" cy="841248"/>
          </a:xfrm>
          <a:prstGeom prst="roundRect">
            <a:avLst>
              <a:gd name="adj" fmla="val 5435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  <a:effectLst/>
        </p:spPr>
        <p:txBody>
          <a:bodyPr spcFirstLastPara="1" wrap="square" lIns="54850" tIns="27425" rIns="54850" bIns="27425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Run beside plan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Week 3</a:t>
            </a:r>
            <a:endParaRPr lang="en-US" sz="1100" b="0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lot.track.2.step.3"/>
          <p:cNvSpPr/>
          <p:nvPr/>
        </p:nvSpPr>
        <p:spPr>
          <a:xfrm>
            <a:off x="6917073" y="3986784"/>
            <a:ext cx="1327887" cy="841248"/>
          </a:xfrm>
          <a:prstGeom prst="roundRect">
            <a:avLst>
              <a:gd name="adj" fmla="val 5435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  <a:effectLst/>
        </p:spPr>
        <p:txBody>
          <a:bodyPr spcFirstLastPara="1" wrap="square" lIns="54850" tIns="27425" rIns="54850" bIns="27425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Hand to planners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Week 4</a:t>
            </a:r>
            <a:endParaRPr lang="en-US" sz="1100" b="0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lot.squad.note"/>
          <p:cNvSpPr/>
          <p:nvPr/>
        </p:nvSpPr>
        <p:spPr>
          <a:xfrm>
            <a:off x="3733781" y="5230368"/>
            <a:ext cx="4383847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One squad runs both tracks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1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Discovery on the next request while delivery ships</a:t>
            </a:r>
            <a:endParaRPr lang="en-US" sz="1200" b="0" i="1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lot.stack.label"/>
          <p:cNvSpPr/>
          <p:nvPr/>
        </p:nvSpPr>
        <p:spPr>
          <a:xfrm>
            <a:off x="9463706" y="1313140"/>
            <a:ext cx="218282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Shared base grows</a:t>
            </a:r>
            <a:endParaRPr lang="en-US" sz="13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lot.stack.layer.1"/>
          <p:cNvSpPr/>
          <p:nvPr/>
        </p:nvSpPr>
        <p:spPr>
          <a:xfrm>
            <a:off x="9758523" y="1739421"/>
            <a:ext cx="1253446" cy="525561"/>
          </a:xfrm>
          <a:prstGeom prst="roundRect">
            <a:avLst>
              <a:gd name="adj" fmla="val 8699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54850" tIns="27425" rIns="54850" bIns="27425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Faster starts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lot.stack.layer.2"/>
          <p:cNvSpPr/>
          <p:nvPr/>
        </p:nvSpPr>
        <p:spPr>
          <a:xfrm>
            <a:off x="9625327" y="2361585"/>
            <a:ext cx="1519838" cy="525561"/>
          </a:xfrm>
          <a:prstGeom prst="roundRect">
            <a:avLst>
              <a:gd name="adj" fmla="val 8699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54850" tIns="27425" rIns="54850" bIns="27425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Review screens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slot.stack.layer.3"/>
          <p:cNvSpPr/>
          <p:nvPr/>
        </p:nvSpPr>
        <p:spPr>
          <a:xfrm>
            <a:off x="9522184" y="2983750"/>
            <a:ext cx="1726125" cy="525561"/>
          </a:xfrm>
          <a:prstGeom prst="roundRect">
            <a:avLst>
              <a:gd name="adj" fmla="val 8699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54850" tIns="27425" rIns="54850" bIns="27425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Accuracy monitors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lot.stack.layer.4"/>
          <p:cNvSpPr/>
          <p:nvPr/>
        </p:nvSpPr>
        <p:spPr>
          <a:xfrm>
            <a:off x="9376969" y="3605914"/>
            <a:ext cx="2016554" cy="525561"/>
          </a:xfrm>
          <a:prstGeom prst="roundRect">
            <a:avLst>
              <a:gd name="adj" fmla="val 8699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54850" tIns="27425" rIns="54850" bIns="27425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Tested forecast models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slot.stack.layer.5"/>
          <p:cNvSpPr/>
          <p:nvPr/>
        </p:nvSpPr>
        <p:spPr>
          <a:xfrm>
            <a:off x="9196980" y="4228078"/>
            <a:ext cx="2376532" cy="525561"/>
          </a:xfrm>
          <a:prstGeom prst="roundRect">
            <a:avLst>
              <a:gd name="adj" fmla="val 8699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54850" tIns="27425" rIns="54850" bIns="27425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Shared feature store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slot.stack.layer.6"/>
          <p:cNvSpPr/>
          <p:nvPr/>
        </p:nvSpPr>
        <p:spPr>
          <a:xfrm>
            <a:off x="9033917" y="4850244"/>
            <a:ext cx="2702659" cy="525561"/>
          </a:xfrm>
          <a:prstGeom prst="roundRect">
            <a:avLst>
              <a:gd name="adj" fmla="val 8699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54850" tIns="27425" rIns="54850" bIns="27425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Clean order history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lot.stack.note"/>
          <p:cNvSpPr/>
          <p:nvPr/>
        </p:nvSpPr>
        <p:spPr>
          <a:xfrm>
            <a:off x="9033917" y="5537482"/>
            <a:ext cx="2761843" cy="626398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Each release adds a layer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1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The next request starts higher up the stack</a:t>
            </a:r>
            <a:endParaRPr lang="en-US" sz="1100" b="0" i="1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28" name="struct.pull.chevron.1"/>
          <p:cNvGrpSpPr/>
          <p:nvPr/>
        </p:nvGrpSpPr>
        <p:grpSpPr>
          <a:xfrm>
            <a:off x="2896332" y="3389709"/>
            <a:ext cx="311054" cy="269799"/>
            <a:chOff x="2907089" y="3230326"/>
            <a:chExt cx="312726" cy="269799"/>
          </a:xfrm>
          <a:solidFill>
            <a:schemeClr val="tx1">
              <a:lumMod val="90000"/>
              <a:lumOff val="10000"/>
            </a:schemeClr>
          </a:solidFill>
          <a:effectLst/>
        </p:grpSpPr>
        <p:sp>
          <p:nvSpPr>
            <p:cNvPr id="29" name="struct.pull.chevron.2"/>
            <p:cNvSpPr/>
            <p:nvPr/>
          </p:nvSpPr>
          <p:spPr>
            <a:xfrm>
              <a:off x="3020846" y="3230326"/>
              <a:ext cx="198969" cy="269799"/>
            </a:xfrm>
            <a:prstGeom prst="chevron">
              <a:avLst>
                <a:gd name="adj" fmla="val 53074"/>
              </a:avLst>
            </a:prstGeom>
            <a:grpFill/>
            <a:ln w="15225" cap="rnd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tx1">
                    <a:lumMod val="90000"/>
                    <a:lumOff val="10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30" name="struct.pull.chevron.3"/>
            <p:cNvSpPr/>
            <p:nvPr/>
          </p:nvSpPr>
          <p:spPr>
            <a:xfrm>
              <a:off x="2907089" y="3230326"/>
              <a:ext cx="198969" cy="269799"/>
            </a:xfrm>
            <a:prstGeom prst="chevron">
              <a:avLst>
                <a:gd name="adj" fmla="val 53074"/>
              </a:avLst>
            </a:prstGeom>
            <a:grpFill/>
            <a:ln w="15225" cap="rnd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tx1">
                    <a:lumMod val="90000"/>
                    <a:lumOff val="10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</p:grpSp>
      <p:cxnSp>
        <p:nvCxnSpPr>
          <p:cNvPr id="31" name="struct.queue.rule.1"/>
          <p:cNvCxnSpPr>
            <a:cxnSpLocks/>
          </p:cNvCxnSpPr>
          <p:nvPr/>
        </p:nvCxnSpPr>
        <p:spPr>
          <a:xfrm>
            <a:off x="3051859" y="840388"/>
            <a:ext cx="0" cy="24152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32" name="struct.queue.rule.2"/>
          <p:cNvCxnSpPr>
            <a:cxnSpLocks/>
          </p:cNvCxnSpPr>
          <p:nvPr/>
        </p:nvCxnSpPr>
        <p:spPr>
          <a:xfrm>
            <a:off x="3051859" y="4172830"/>
            <a:ext cx="0" cy="167172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33" name="slot.track.1.head"/>
          <p:cNvSpPr/>
          <p:nvPr/>
        </p:nvSpPr>
        <p:spPr>
          <a:xfrm>
            <a:off x="3970254" y="1261872"/>
            <a:ext cx="4001852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Discovery track, two weeks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4" name="struct.track.1.arrow.2"/>
          <p:cNvCxnSpPr>
            <a:cxnSpLocks/>
          </p:cNvCxnSpPr>
          <p:nvPr/>
        </p:nvCxnSpPr>
        <p:spPr>
          <a:xfrm>
            <a:off x="6589648" y="2121408"/>
            <a:ext cx="327424" cy="0"/>
          </a:xfrm>
          <a:prstGeom prst="straightConnector1">
            <a:avLst/>
          </a:prstGeom>
          <a:noFill/>
          <a:ln w="9525" cap="rnd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35" name="slot.track.1.step.1"/>
          <p:cNvSpPr/>
          <p:nvPr/>
        </p:nvSpPr>
        <p:spPr>
          <a:xfrm>
            <a:off x="3606450" y="1700784"/>
            <a:ext cx="1327887" cy="841248"/>
          </a:xfrm>
          <a:prstGeom prst="roundRect">
            <a:avLst>
              <a:gd name="adj" fmla="val 5435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  <a:effectLst/>
        </p:spPr>
        <p:txBody>
          <a:bodyPr spcFirstLastPara="1" wrap="square" lIns="54850" tIns="27425" rIns="54850" bIns="27425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Frame the question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Days 1 to 3</a:t>
            </a:r>
            <a:endParaRPr lang="en-US" sz="1100" b="0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slot.track.1.step.2"/>
          <p:cNvSpPr/>
          <p:nvPr/>
        </p:nvSpPr>
        <p:spPr>
          <a:xfrm>
            <a:off x="5261761" y="1700784"/>
            <a:ext cx="1327887" cy="841248"/>
          </a:xfrm>
          <a:prstGeom prst="roundRect">
            <a:avLst>
              <a:gd name="adj" fmla="val 5435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  <a:effectLst/>
        </p:spPr>
        <p:txBody>
          <a:bodyPr spcFirstLastPara="1" wrap="square" lIns="54850" tIns="27425" rIns="54850" bIns="27425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Test on history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Days 4 to 7</a:t>
            </a:r>
            <a:endParaRPr lang="en-US" sz="1100" b="0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slot.track.1.step.3"/>
          <p:cNvSpPr/>
          <p:nvPr/>
        </p:nvSpPr>
        <p:spPr>
          <a:xfrm>
            <a:off x="6917073" y="1700784"/>
            <a:ext cx="1327887" cy="841248"/>
          </a:xfrm>
          <a:prstGeom prst="roundRect">
            <a:avLst>
              <a:gd name="adj" fmla="val 5435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  <a:effectLst/>
        </p:spPr>
        <p:txBody>
          <a:bodyPr spcFirstLastPara="1" wrap="square" lIns="54850" tIns="27425" rIns="54850" bIns="27425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Size the value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Days 8 to 10</a:t>
            </a:r>
            <a:endParaRPr lang="en-US" sz="1100" b="0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8" name="struct.track.1.arrow.1"/>
          <p:cNvCxnSpPr>
            <a:cxnSpLocks/>
          </p:cNvCxnSpPr>
          <p:nvPr/>
        </p:nvCxnSpPr>
        <p:spPr>
          <a:xfrm>
            <a:off x="4934337" y="2121408"/>
            <a:ext cx="327423" cy="0"/>
          </a:xfrm>
          <a:prstGeom prst="straightConnector1">
            <a:avLst/>
          </a:prstGeom>
          <a:noFill/>
          <a:ln w="9525" cap="rnd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39" name="struct.track.2.arrow.1"/>
          <p:cNvCxnSpPr>
            <a:cxnSpLocks/>
          </p:cNvCxnSpPr>
          <p:nvPr/>
        </p:nvCxnSpPr>
        <p:spPr>
          <a:xfrm>
            <a:off x="4934337" y="4407408"/>
            <a:ext cx="327423" cy="0"/>
          </a:xfrm>
          <a:prstGeom prst="straightConnector1">
            <a:avLst/>
          </a:prstGeom>
          <a:noFill/>
          <a:ln w="9525" cap="rnd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40" name="struct.track.2.arrow.2"/>
          <p:cNvCxnSpPr>
            <a:cxnSpLocks/>
          </p:cNvCxnSpPr>
          <p:nvPr/>
        </p:nvCxnSpPr>
        <p:spPr>
          <a:xfrm>
            <a:off x="6589648" y="4407408"/>
            <a:ext cx="327424" cy="0"/>
          </a:xfrm>
          <a:prstGeom prst="straightConnector1">
            <a:avLst/>
          </a:prstGeom>
          <a:noFill/>
          <a:ln w="9525" cap="rnd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41" name="struct.gate.arrow"/>
          <p:cNvCxnSpPr>
            <a:cxnSpLocks/>
          </p:cNvCxnSpPr>
          <p:nvPr/>
        </p:nvCxnSpPr>
        <p:spPr>
          <a:xfrm>
            <a:off x="5925705" y="2743200"/>
            <a:ext cx="0" cy="640080"/>
          </a:xfrm>
          <a:prstGeom prst="straightConnector1">
            <a:avLst/>
          </a:prstGeom>
          <a:noFill/>
          <a:ln w="9525" cap="rnd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42" name="struct.release.arrow"/>
          <p:cNvCxnSpPr>
            <a:cxnSpLocks/>
          </p:cNvCxnSpPr>
          <p:nvPr/>
        </p:nvCxnSpPr>
        <p:spPr>
          <a:xfrm>
            <a:off x="8390481" y="4490858"/>
            <a:ext cx="806498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43" name="slot.track.1.icon"/>
          <p:cNvSpPr/>
          <p:nvPr/>
        </p:nvSpPr>
        <p:spPr>
          <a:xfrm>
            <a:off x="3623907" y="126187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21000"/>
                </a:moveTo>
                <a:lnTo>
                  <a:pt x="16660" y="16660"/>
                </a:lnTo>
                <a:moveTo>
                  <a:pt x="19000" y="11000"/>
                </a:moveTo>
                <a:cubicBezTo>
                  <a:pt x="19000" y="15418"/>
                  <a:pt x="15418" y="19000"/>
                  <a:pt x="11000" y="19000"/>
                </a:cubicBezTo>
                <a:cubicBezTo>
                  <a:pt x="6582" y="19000"/>
                  <a:pt x="3000" y="15418"/>
                  <a:pt x="3000" y="11000"/>
                </a:cubicBezTo>
                <a:cubicBezTo>
                  <a:pt x="3000" y="6582"/>
                  <a:pt x="6582" y="3000"/>
                  <a:pt x="11000" y="3000"/>
                </a:cubicBezTo>
                <a:cubicBezTo>
                  <a:pt x="15418" y="3000"/>
                  <a:pt x="19000" y="6582"/>
                  <a:pt x="19000" y="11000"/>
                </a:cubicBezTo>
                <a:close/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44" name="slot.track.2.icon"/>
          <p:cNvSpPr/>
          <p:nvPr/>
        </p:nvSpPr>
        <p:spPr>
          <a:xfrm>
            <a:off x="3623907" y="354787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5000"/>
                </a:moveTo>
                <a:lnTo>
                  <a:pt x="12000" y="20000"/>
                </a:lnTo>
                <a:cubicBezTo>
                  <a:pt x="12000" y="20000"/>
                  <a:pt x="15030" y="19450"/>
                  <a:pt x="16000" y="18000"/>
                </a:cubicBezTo>
                <a:cubicBezTo>
                  <a:pt x="17080" y="16380"/>
                  <a:pt x="16000" y="13000"/>
                  <a:pt x="16000" y="13000"/>
                </a:cubicBezTo>
                <a:moveTo>
                  <a:pt x="4500" y="16500"/>
                </a:moveTo>
                <a:cubicBezTo>
                  <a:pt x="3000" y="17760"/>
                  <a:pt x="2500" y="21500"/>
                  <a:pt x="2500" y="21500"/>
                </a:cubicBezTo>
                <a:cubicBezTo>
                  <a:pt x="2500" y="21500"/>
                  <a:pt x="6240" y="21000"/>
                  <a:pt x="7500" y="19500"/>
                </a:cubicBezTo>
                <a:cubicBezTo>
                  <a:pt x="8210" y="18660"/>
                  <a:pt x="8200" y="17370"/>
                  <a:pt x="7410" y="16590"/>
                </a:cubicBezTo>
                <a:cubicBezTo>
                  <a:pt x="6605" y="15822"/>
                  <a:pt x="5351" y="15783"/>
                  <a:pt x="4500" y="16500"/>
                </a:cubicBezTo>
                <a:moveTo>
                  <a:pt x="9000" y="12000"/>
                </a:moveTo>
                <a:cubicBezTo>
                  <a:pt x="9532" y="10619"/>
                  <a:pt x="10202" y="9296"/>
                  <a:pt x="11000" y="8050"/>
                </a:cubicBezTo>
                <a:cubicBezTo>
                  <a:pt x="13369" y="4262"/>
                  <a:pt x="17532" y="1972"/>
                  <a:pt x="22000" y="2000"/>
                </a:cubicBezTo>
                <a:cubicBezTo>
                  <a:pt x="22000" y="4720"/>
                  <a:pt x="21220" y="9500"/>
                  <a:pt x="16000" y="13000"/>
                </a:cubicBezTo>
                <a:cubicBezTo>
                  <a:pt x="14737" y="13798"/>
                  <a:pt x="13397" y="14468"/>
                  <a:pt x="12000" y="15000"/>
                </a:cubicBezTo>
                <a:close/>
                <a:moveTo>
                  <a:pt x="9000" y="12000"/>
                </a:moveTo>
                <a:lnTo>
                  <a:pt x="4000" y="12000"/>
                </a:lnTo>
                <a:cubicBezTo>
                  <a:pt x="4000" y="12000"/>
                  <a:pt x="4550" y="8970"/>
                  <a:pt x="6000" y="8000"/>
                </a:cubicBezTo>
                <a:cubicBezTo>
                  <a:pt x="7620" y="6920"/>
                  <a:pt x="11000" y="8050"/>
                  <a:pt x="11000" y="8050"/>
                </a:cubicBez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45" name="slot.gate.icon"/>
          <p:cNvSpPr/>
          <p:nvPr/>
        </p:nvSpPr>
        <p:spPr>
          <a:xfrm>
            <a:off x="6052401" y="2944368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</p:sp>
      <p:sp>
        <p:nvSpPr>
          <p:cNvPr id="46" name="slot.stack.icon"/>
          <p:cNvSpPr/>
          <p:nvPr/>
        </p:nvSpPr>
        <p:spPr>
          <a:xfrm>
            <a:off x="9153836" y="1340573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830" y="2180"/>
                </a:moveTo>
                <a:cubicBezTo>
                  <a:pt x="12303" y="1940"/>
                  <a:pt x="11697" y="1940"/>
                  <a:pt x="11170" y="2180"/>
                </a:cubicBezTo>
                <a:lnTo>
                  <a:pt x="2600" y="6080"/>
                </a:lnTo>
                <a:cubicBezTo>
                  <a:pt x="2237" y="6240"/>
                  <a:pt x="2003" y="6599"/>
                  <a:pt x="2003" y="6995"/>
                </a:cubicBezTo>
                <a:cubicBezTo>
                  <a:pt x="2003" y="7391"/>
                  <a:pt x="2237" y="7750"/>
                  <a:pt x="2600" y="7910"/>
                </a:cubicBezTo>
                <a:lnTo>
                  <a:pt x="11180" y="11820"/>
                </a:lnTo>
                <a:cubicBezTo>
                  <a:pt x="11707" y="12060"/>
                  <a:pt x="12313" y="12060"/>
                  <a:pt x="12840" y="11820"/>
                </a:cubicBezTo>
                <a:lnTo>
                  <a:pt x="21420" y="7920"/>
                </a:lnTo>
                <a:cubicBezTo>
                  <a:pt x="21783" y="7760"/>
                  <a:pt x="22017" y="7401"/>
                  <a:pt x="22017" y="7005"/>
                </a:cubicBezTo>
                <a:cubicBezTo>
                  <a:pt x="22017" y="6609"/>
                  <a:pt x="21783" y="6250"/>
                  <a:pt x="21420" y="6090"/>
                </a:cubicBezTo>
                <a:close/>
                <a:moveTo>
                  <a:pt x="2000" y="12000"/>
                </a:moveTo>
                <a:cubicBezTo>
                  <a:pt x="1999" y="12391"/>
                  <a:pt x="2226" y="12746"/>
                  <a:pt x="2580" y="12910"/>
                </a:cubicBezTo>
                <a:lnTo>
                  <a:pt x="11180" y="16820"/>
                </a:lnTo>
                <a:cubicBezTo>
                  <a:pt x="11704" y="17057"/>
                  <a:pt x="12306" y="17057"/>
                  <a:pt x="12830" y="16820"/>
                </a:cubicBezTo>
                <a:lnTo>
                  <a:pt x="21410" y="12920"/>
                </a:lnTo>
                <a:cubicBezTo>
                  <a:pt x="21772" y="12757"/>
                  <a:pt x="22003" y="12397"/>
                  <a:pt x="22000" y="12000"/>
                </a:cubicBezTo>
                <a:moveTo>
                  <a:pt x="2000" y="17000"/>
                </a:moveTo>
                <a:cubicBezTo>
                  <a:pt x="1999" y="17391"/>
                  <a:pt x="2226" y="17746"/>
                  <a:pt x="2580" y="17910"/>
                </a:cubicBezTo>
                <a:lnTo>
                  <a:pt x="11180" y="21820"/>
                </a:lnTo>
                <a:cubicBezTo>
                  <a:pt x="11704" y="22057"/>
                  <a:pt x="12306" y="22057"/>
                  <a:pt x="12830" y="21820"/>
                </a:cubicBezTo>
                <a:lnTo>
                  <a:pt x="21410" y="17920"/>
                </a:lnTo>
                <a:cubicBezTo>
                  <a:pt x="21772" y="17757"/>
                  <a:pt x="22003" y="17397"/>
                  <a:pt x="22000" y="17000"/>
                </a:cubicBezTo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offering-pillars:pillar-artifact-wells">
    <p:spTree>
      <p:nvGrpSpPr>
        <p:cNvPr id="1" name=""/>
        <p:cNvGrpSpPr/>
        <p:nvPr/>
      </p:nvGrpSpPr>
      <p:grpSpPr/>
      <p:sp>
        <p:nvSpPr>
          <p:cNvPr id="2" name="slot.title"/>
          <p:cNvSpPr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Three services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turn order history into a plan planners trust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truct.pillar.1"/>
          <p:cNvSpPr/>
          <p:nvPr/>
        </p:nvSpPr>
        <p:spPr>
          <a:xfrm>
            <a:off x="457200" y="777240"/>
            <a:ext cx="3608832" cy="5477256"/>
          </a:xfrm>
          <a:prstGeom prst="roundRect">
            <a:avLst>
              <a:gd name="adj" fmla="val 1266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4" name="struct.pillar.1.head"/>
          <p:cNvSpPr/>
          <p:nvPr/>
        </p:nvSpPr>
        <p:spPr>
          <a:xfrm>
            <a:off x="457200" y="777240"/>
            <a:ext cx="3608832" cy="512064"/>
          </a:xfrm>
          <a:prstGeom prst="roundRect">
            <a:avLst>
              <a:gd name="adj" fmla="val 8928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</p:sp>
      <p:sp>
        <p:nvSpPr>
          <p:cNvPr id="5" name="slot.pillar.1.icon"/>
          <p:cNvSpPr/>
          <p:nvPr/>
        </p:nvSpPr>
        <p:spPr>
          <a:xfrm>
            <a:off x="658368" y="89611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3000"/>
                </a:moveTo>
                <a:lnTo>
                  <a:pt x="3000" y="19000"/>
                </a:lnTo>
                <a:cubicBezTo>
                  <a:pt x="3000" y="20105"/>
                  <a:pt x="3895" y="21000"/>
                  <a:pt x="5000" y="21000"/>
                </a:cubicBezTo>
                <a:lnTo>
                  <a:pt x="21000" y="21000"/>
                </a:lnTo>
                <a:moveTo>
                  <a:pt x="19000" y="9000"/>
                </a:moveTo>
                <a:lnTo>
                  <a:pt x="14000" y="14000"/>
                </a:lnTo>
                <a:lnTo>
                  <a:pt x="10000" y="10000"/>
                </a:lnTo>
                <a:lnTo>
                  <a:pt x="7000" y="13000"/>
                </a:lnTo>
              </a:path>
            </a:pathLst>
          </a:custGeom>
          <a:noFill/>
          <a:ln w="22860" cap="rnd">
            <a:solidFill>
              <a:schemeClr val="accent1">
                <a:lumMod val="50000"/>
                <a:lumOff val="50000"/>
              </a:schemeClr>
            </a:solidFill>
            <a:round/>
          </a:ln>
          <a:effectLst/>
        </p:spPr>
      </p:sp>
      <p:sp>
        <p:nvSpPr>
          <p:cNvPr id="6" name="slot.pillar.1.name"/>
          <p:cNvSpPr txBox="1"/>
          <p:nvPr/>
        </p:nvSpPr>
        <p:spPr>
          <a:xfrm>
            <a:off x="1060704" y="850392"/>
            <a:ext cx="28041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Forecasting service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lot.pillar.1.head"/>
          <p:cNvSpPr txBox="1"/>
          <p:nvPr/>
        </p:nvSpPr>
        <p:spPr>
          <a:xfrm>
            <a:off x="658368" y="1453896"/>
            <a:ext cx="3206496" cy="58521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Weekly demand forecasts by region and product line</a:t>
            </a:r>
            <a:endParaRPr lang="en-US" sz="15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" name="struct.pillar.1.rule"/>
          <p:cNvCxnSpPr/>
          <p:nvPr/>
        </p:nvCxnSpPr>
        <p:spPr>
          <a:xfrm>
            <a:off x="658368" y="2148840"/>
            <a:ext cx="3206496" cy="0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9" name="struct.pillar.1.dot.1"/>
          <p:cNvSpPr/>
          <p:nvPr/>
        </p:nvSpPr>
        <p:spPr>
          <a:xfrm>
            <a:off x="676656" y="2368296"/>
            <a:ext cx="73152" cy="7315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10" name="slot.pillar.1.lead.1"/>
          <p:cNvSpPr txBox="1"/>
          <p:nvPr/>
        </p:nvSpPr>
        <p:spPr>
          <a:xfrm>
            <a:off x="841248" y="2276856"/>
            <a:ext cx="3023616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Trained on three years of orders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truct.pillar.1.dot.2"/>
          <p:cNvSpPr/>
          <p:nvPr/>
        </p:nvSpPr>
        <p:spPr>
          <a:xfrm>
            <a:off x="676656" y="2670048"/>
            <a:ext cx="73152" cy="7315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12" name="slot.pillar.1.lead.2"/>
          <p:cNvSpPr txBox="1"/>
          <p:nvPr/>
        </p:nvSpPr>
        <p:spPr>
          <a:xfrm>
            <a:off x="841248" y="2578608"/>
            <a:ext cx="3023616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Accuracy tracked against the plan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struct.pillar.1.dot.3"/>
          <p:cNvSpPr/>
          <p:nvPr/>
        </p:nvSpPr>
        <p:spPr>
          <a:xfrm>
            <a:off x="676656" y="2971800"/>
            <a:ext cx="73152" cy="7315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14" name="slot.pillar.1.lead.3"/>
          <p:cNvSpPr txBox="1"/>
          <p:nvPr/>
        </p:nvSpPr>
        <p:spPr>
          <a:xfrm>
            <a:off x="841248" y="2880360"/>
            <a:ext cx="3023616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 named driver behind each swing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truct.pillar.1.well"/>
          <p:cNvSpPr/>
          <p:nvPr/>
        </p:nvSpPr>
        <p:spPr>
          <a:xfrm>
            <a:off x="658368" y="3328416"/>
            <a:ext cx="3206496" cy="2724912"/>
          </a:xfrm>
          <a:prstGeom prst="roundRect">
            <a:avLst>
              <a:gd name="adj" fmla="val 1677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</p:sp>
      <p:sp>
        <p:nvSpPr>
          <p:cNvPr id="16" name="struct.pillar.2"/>
          <p:cNvSpPr/>
          <p:nvPr/>
        </p:nvSpPr>
        <p:spPr>
          <a:xfrm>
            <a:off x="4322064" y="777240"/>
            <a:ext cx="3608832" cy="5477256"/>
          </a:xfrm>
          <a:prstGeom prst="roundRect">
            <a:avLst>
              <a:gd name="adj" fmla="val 1266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17" name="struct.pillar.2.head"/>
          <p:cNvSpPr/>
          <p:nvPr/>
        </p:nvSpPr>
        <p:spPr>
          <a:xfrm>
            <a:off x="4322064" y="777240"/>
            <a:ext cx="3608832" cy="512064"/>
          </a:xfrm>
          <a:prstGeom prst="roundRect">
            <a:avLst>
              <a:gd name="adj" fmla="val 8928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</p:sp>
      <p:sp>
        <p:nvSpPr>
          <p:cNvPr id="18" name="slot.pillar.2.icon"/>
          <p:cNvSpPr/>
          <p:nvPr/>
        </p:nvSpPr>
        <p:spPr>
          <a:xfrm>
            <a:off x="4523232" y="89611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8000" y="2000"/>
                </a:moveTo>
                <a:lnTo>
                  <a:pt x="8000" y="5000"/>
                </a:lnTo>
                <a:moveTo>
                  <a:pt x="16000" y="2000"/>
                </a:moveTo>
                <a:lnTo>
                  <a:pt x="16000" y="5000"/>
                </a:lnTo>
                <a:moveTo>
                  <a:pt x="5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  <a:moveTo>
                  <a:pt x="3000" y="9000"/>
                </a:moveTo>
                <a:lnTo>
                  <a:pt x="21000" y="9000"/>
                </a:lnTo>
                <a:moveTo>
                  <a:pt x="8000" y="13000"/>
                </a:moveTo>
                <a:lnTo>
                  <a:pt x="8010" y="13000"/>
                </a:lnTo>
                <a:moveTo>
                  <a:pt x="12000" y="13000"/>
                </a:moveTo>
                <a:lnTo>
                  <a:pt x="12010" y="13000"/>
                </a:lnTo>
                <a:moveTo>
                  <a:pt x="16000" y="13000"/>
                </a:moveTo>
                <a:lnTo>
                  <a:pt x="16010" y="13000"/>
                </a:lnTo>
                <a:moveTo>
                  <a:pt x="8000" y="17000"/>
                </a:moveTo>
                <a:lnTo>
                  <a:pt x="8010" y="17000"/>
                </a:lnTo>
                <a:moveTo>
                  <a:pt x="12000" y="17000"/>
                </a:moveTo>
                <a:lnTo>
                  <a:pt x="12010" y="17000"/>
                </a:lnTo>
                <a:moveTo>
                  <a:pt x="16000" y="17000"/>
                </a:moveTo>
                <a:lnTo>
                  <a:pt x="16010" y="17000"/>
                </a:lnTo>
              </a:path>
            </a:pathLst>
          </a:custGeom>
          <a:noFill/>
          <a:ln w="22860" cap="rnd">
            <a:solidFill>
              <a:schemeClr val="accent1">
                <a:lumMod val="50000"/>
                <a:lumOff val="50000"/>
              </a:schemeClr>
            </a:solidFill>
            <a:round/>
          </a:ln>
          <a:effectLst/>
        </p:spPr>
      </p:sp>
      <p:sp>
        <p:nvSpPr>
          <p:cNvPr id="19" name="slot.pillar.2.name"/>
          <p:cNvSpPr txBox="1"/>
          <p:nvPr/>
        </p:nvSpPr>
        <p:spPr>
          <a:xfrm>
            <a:off x="4925568" y="850392"/>
            <a:ext cx="28041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Planning service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lot.pillar.2.head"/>
          <p:cNvSpPr txBox="1"/>
          <p:nvPr/>
        </p:nvSpPr>
        <p:spPr>
          <a:xfrm>
            <a:off x="4523232" y="1453896"/>
            <a:ext cx="3206496" cy="58521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 monthly plan redrafted from the forecast each week</a:t>
            </a:r>
            <a:endParaRPr lang="en-US" sz="15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1" name="struct.pillar.2.rule"/>
          <p:cNvCxnSpPr/>
          <p:nvPr/>
        </p:nvCxnSpPr>
        <p:spPr>
          <a:xfrm>
            <a:off x="4523232" y="2148840"/>
            <a:ext cx="3206496" cy="0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22" name="struct.pillar.2.dot.1"/>
          <p:cNvSpPr/>
          <p:nvPr/>
        </p:nvSpPr>
        <p:spPr>
          <a:xfrm>
            <a:off x="4541520" y="2368296"/>
            <a:ext cx="73152" cy="7315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23" name="slot.pillar.2.lead.1"/>
          <p:cNvSpPr txBox="1"/>
          <p:nvPr/>
        </p:nvSpPr>
        <p:spPr>
          <a:xfrm>
            <a:off x="4706112" y="2276856"/>
            <a:ext cx="3023616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Draft ready for the Monday meeting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truct.pillar.2.dot.2"/>
          <p:cNvSpPr/>
          <p:nvPr/>
        </p:nvSpPr>
        <p:spPr>
          <a:xfrm>
            <a:off x="4541520" y="2670048"/>
            <a:ext cx="73152" cy="7315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25" name="slot.pillar.2.lead.2"/>
          <p:cNvSpPr txBox="1"/>
          <p:nvPr/>
        </p:nvSpPr>
        <p:spPr>
          <a:xfrm>
            <a:off x="4706112" y="2578608"/>
            <a:ext cx="3023616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Supply constraints applied first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struct.pillar.2.dot.3"/>
          <p:cNvSpPr/>
          <p:nvPr/>
        </p:nvSpPr>
        <p:spPr>
          <a:xfrm>
            <a:off x="4541520" y="2971800"/>
            <a:ext cx="73152" cy="7315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27" name="slot.pillar.2.lead.3"/>
          <p:cNvSpPr txBox="1"/>
          <p:nvPr/>
        </p:nvSpPr>
        <p:spPr>
          <a:xfrm>
            <a:off x="4706112" y="2880360"/>
            <a:ext cx="3023616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version shared by every region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truct.pillar.2.well"/>
          <p:cNvSpPr/>
          <p:nvPr/>
        </p:nvSpPr>
        <p:spPr>
          <a:xfrm>
            <a:off x="4523232" y="3328416"/>
            <a:ext cx="3206496" cy="2724912"/>
          </a:xfrm>
          <a:prstGeom prst="roundRect">
            <a:avLst>
              <a:gd name="adj" fmla="val 1677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</p:sp>
      <p:sp>
        <p:nvSpPr>
          <p:cNvPr id="29" name="struct.pillar.3"/>
          <p:cNvSpPr/>
          <p:nvPr/>
        </p:nvSpPr>
        <p:spPr>
          <a:xfrm>
            <a:off x="8186928" y="777240"/>
            <a:ext cx="3608832" cy="5477256"/>
          </a:xfrm>
          <a:prstGeom prst="roundRect">
            <a:avLst>
              <a:gd name="adj" fmla="val 1266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30" name="struct.pillar.3.head"/>
          <p:cNvSpPr/>
          <p:nvPr/>
        </p:nvSpPr>
        <p:spPr>
          <a:xfrm>
            <a:off x="8186928" y="777240"/>
            <a:ext cx="3608832" cy="512064"/>
          </a:xfrm>
          <a:prstGeom prst="roundRect">
            <a:avLst>
              <a:gd name="adj" fmla="val 8928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</p:sp>
      <p:sp>
        <p:nvSpPr>
          <p:cNvPr id="31" name="slot.pillar.3.icon"/>
          <p:cNvSpPr/>
          <p:nvPr/>
        </p:nvSpPr>
        <p:spPr>
          <a:xfrm>
            <a:off x="8388096" y="89611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000" y="5000"/>
                </a:moveTo>
                <a:lnTo>
                  <a:pt x="21000" y="5000"/>
                </a:lnTo>
                <a:moveTo>
                  <a:pt x="13000" y="12000"/>
                </a:moveTo>
                <a:lnTo>
                  <a:pt x="21000" y="12000"/>
                </a:lnTo>
                <a:moveTo>
                  <a:pt x="13000" y="19000"/>
                </a:moveTo>
                <a:lnTo>
                  <a:pt x="21000" y="19000"/>
                </a:lnTo>
                <a:moveTo>
                  <a:pt x="3000" y="17000"/>
                </a:moveTo>
                <a:lnTo>
                  <a:pt x="5000" y="19000"/>
                </a:lnTo>
                <a:lnTo>
                  <a:pt x="9000" y="15000"/>
                </a:lnTo>
                <a:moveTo>
                  <a:pt x="3000" y="7000"/>
                </a:moveTo>
                <a:lnTo>
                  <a:pt x="5000" y="9000"/>
                </a:lnTo>
                <a:lnTo>
                  <a:pt x="9000" y="5000"/>
                </a:lnTo>
              </a:path>
            </a:pathLst>
          </a:custGeom>
          <a:noFill/>
          <a:ln w="22860" cap="rnd">
            <a:solidFill>
              <a:schemeClr val="accent1">
                <a:lumMod val="50000"/>
                <a:lumOff val="50000"/>
              </a:schemeClr>
            </a:solidFill>
            <a:round/>
          </a:ln>
          <a:effectLst/>
        </p:spPr>
      </p:sp>
      <p:sp>
        <p:nvSpPr>
          <p:cNvPr id="32" name="slot.pillar.3.name"/>
          <p:cNvSpPr txBox="1"/>
          <p:nvPr/>
        </p:nvSpPr>
        <p:spPr>
          <a:xfrm>
            <a:off x="8790432" y="850392"/>
            <a:ext cx="28041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Review service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slot.pillar.3.head"/>
          <p:cNvSpPr txBox="1"/>
          <p:nvPr/>
        </p:nvSpPr>
        <p:spPr>
          <a:xfrm>
            <a:off x="8388096" y="1453896"/>
            <a:ext cx="3206496" cy="58521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Every planner override logged with its reason</a:t>
            </a:r>
            <a:endParaRPr lang="en-US" sz="15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4" name="struct.pillar.3.rule"/>
          <p:cNvCxnSpPr/>
          <p:nvPr/>
        </p:nvCxnSpPr>
        <p:spPr>
          <a:xfrm>
            <a:off x="8388096" y="2148840"/>
            <a:ext cx="3206496" cy="0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35" name="struct.pillar.3.dot.1"/>
          <p:cNvSpPr/>
          <p:nvPr/>
        </p:nvSpPr>
        <p:spPr>
          <a:xfrm>
            <a:off x="8406384" y="2368296"/>
            <a:ext cx="73152" cy="7315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36" name="slot.pillar.3.lead.1"/>
          <p:cNvSpPr txBox="1"/>
          <p:nvPr/>
        </p:nvSpPr>
        <p:spPr>
          <a:xfrm>
            <a:off x="8570976" y="2276856"/>
            <a:ext cx="3023616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Captured in the planning screen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struct.pillar.3.dot.2"/>
          <p:cNvSpPr/>
          <p:nvPr/>
        </p:nvSpPr>
        <p:spPr>
          <a:xfrm>
            <a:off x="8406384" y="2670048"/>
            <a:ext cx="73152" cy="7315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38" name="slot.pillar.3.lead.2"/>
          <p:cNvSpPr txBox="1"/>
          <p:nvPr/>
        </p:nvSpPr>
        <p:spPr>
          <a:xfrm>
            <a:off x="8570976" y="2578608"/>
            <a:ext cx="3023616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Reasons coded for monthly review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struct.pillar.3.dot.3"/>
          <p:cNvSpPr/>
          <p:nvPr/>
        </p:nvSpPr>
        <p:spPr>
          <a:xfrm>
            <a:off x="8406384" y="2971800"/>
            <a:ext cx="73152" cy="7315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40" name="slot.pillar.3.lead.3"/>
          <p:cNvSpPr txBox="1"/>
          <p:nvPr/>
        </p:nvSpPr>
        <p:spPr>
          <a:xfrm>
            <a:off x="8570976" y="2880360"/>
            <a:ext cx="3023616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Repeat overrides retrain the model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truct.pillar.3.well"/>
          <p:cNvSpPr/>
          <p:nvPr/>
        </p:nvSpPr>
        <p:spPr>
          <a:xfrm>
            <a:off x="8388096" y="3328416"/>
            <a:ext cx="3206496" cy="2724912"/>
          </a:xfrm>
          <a:prstGeom prst="roundRect">
            <a:avLst>
              <a:gd name="adj" fmla="val 1677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</p:sp>
      <p:sp>
        <p:nvSpPr>
          <p:cNvPr id="42" name="slot.well.1.label"/>
          <p:cNvSpPr txBox="1"/>
          <p:nvPr/>
        </p:nvSpPr>
        <p:spPr>
          <a:xfrm>
            <a:off x="804672" y="3438144"/>
            <a:ext cx="2913888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Weekly accuracy review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slot.well.1.col.1"/>
          <p:cNvSpPr txBox="1"/>
          <p:nvPr/>
        </p:nvSpPr>
        <p:spPr>
          <a:xfrm>
            <a:off x="804672" y="3803904"/>
            <a:ext cx="786384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Region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slot.well.1.col.2"/>
          <p:cNvSpPr txBox="1"/>
          <p:nvPr/>
        </p:nvSpPr>
        <p:spPr>
          <a:xfrm>
            <a:off x="1591056" y="3803904"/>
            <a:ext cx="1560576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Main driver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lot.well.1.col.3"/>
          <p:cNvSpPr txBox="1"/>
          <p:nvPr/>
        </p:nvSpPr>
        <p:spPr>
          <a:xfrm>
            <a:off x="3151632" y="3803904"/>
            <a:ext cx="566928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Error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6" name="struct.well.1.rule.0"/>
          <p:cNvCxnSpPr/>
          <p:nvPr/>
        </p:nvCxnSpPr>
        <p:spPr>
          <a:xfrm>
            <a:off x="804672" y="4078224"/>
            <a:ext cx="2913888" cy="0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47" name="slot.well.1.cell.1.1"/>
          <p:cNvSpPr txBox="1"/>
          <p:nvPr/>
        </p:nvSpPr>
        <p:spPr>
          <a:xfrm>
            <a:off x="804672" y="4169664"/>
            <a:ext cx="786384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North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slot.well.1.cell.1.2"/>
          <p:cNvSpPr txBox="1"/>
          <p:nvPr/>
        </p:nvSpPr>
        <p:spPr>
          <a:xfrm>
            <a:off x="1591056" y="4169664"/>
            <a:ext cx="1560576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Promotion timing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slot.well.1.cell.1.3"/>
          <p:cNvSpPr txBox="1"/>
          <p:nvPr/>
        </p:nvSpPr>
        <p:spPr>
          <a:xfrm>
            <a:off x="3151632" y="4169664"/>
            <a:ext cx="566928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6%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0" name="struct.well.1.rule.1"/>
          <p:cNvCxnSpPr/>
          <p:nvPr/>
        </p:nvCxnSpPr>
        <p:spPr>
          <a:xfrm>
            <a:off x="804672" y="4517136"/>
            <a:ext cx="291388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51" name="slot.well.1.cell.2.1"/>
          <p:cNvSpPr txBox="1"/>
          <p:nvPr/>
        </p:nvSpPr>
        <p:spPr>
          <a:xfrm>
            <a:off x="804672" y="4572000"/>
            <a:ext cx="786384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Central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slot.well.1.cell.2.2"/>
          <p:cNvSpPr txBox="1"/>
          <p:nvPr/>
        </p:nvSpPr>
        <p:spPr>
          <a:xfrm>
            <a:off x="1591056" y="4572000"/>
            <a:ext cx="1560576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Supplier delay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slot.well.1.cell.2.3"/>
          <p:cNvSpPr txBox="1"/>
          <p:nvPr/>
        </p:nvSpPr>
        <p:spPr>
          <a:xfrm>
            <a:off x="3151632" y="4572000"/>
            <a:ext cx="566928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9%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4" name="struct.well.1.rule.2"/>
          <p:cNvCxnSpPr/>
          <p:nvPr/>
        </p:nvCxnSpPr>
        <p:spPr>
          <a:xfrm>
            <a:off x="804672" y="4919472"/>
            <a:ext cx="291388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55" name="slot.well.1.cell.3.1"/>
          <p:cNvSpPr txBox="1"/>
          <p:nvPr/>
        </p:nvSpPr>
        <p:spPr>
          <a:xfrm>
            <a:off x="804672" y="4974336"/>
            <a:ext cx="786384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Coastal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lot.well.1.cell.3.2"/>
          <p:cNvSpPr txBox="1"/>
          <p:nvPr/>
        </p:nvSpPr>
        <p:spPr>
          <a:xfrm>
            <a:off x="1591056" y="4974336"/>
            <a:ext cx="1560576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Weather shift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slot.well.1.cell.3.3"/>
          <p:cNvSpPr txBox="1"/>
          <p:nvPr/>
        </p:nvSpPr>
        <p:spPr>
          <a:xfrm>
            <a:off x="3151632" y="4974336"/>
            <a:ext cx="566928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4%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8" name="struct.well.1.rule.3"/>
          <p:cNvCxnSpPr/>
          <p:nvPr/>
        </p:nvCxnSpPr>
        <p:spPr>
          <a:xfrm>
            <a:off x="804672" y="5321808"/>
            <a:ext cx="291388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59" name="slot.well.1.cell.4.1"/>
          <p:cNvSpPr txBox="1"/>
          <p:nvPr/>
        </p:nvSpPr>
        <p:spPr>
          <a:xfrm>
            <a:off x="804672" y="5376672"/>
            <a:ext cx="786384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Export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slot.well.1.cell.4.2"/>
          <p:cNvSpPr txBox="1"/>
          <p:nvPr/>
        </p:nvSpPr>
        <p:spPr>
          <a:xfrm>
            <a:off x="1591056" y="5376672"/>
            <a:ext cx="1560576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Port backlog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slot.well.1.cell.4.3"/>
          <p:cNvSpPr txBox="1"/>
          <p:nvPr/>
        </p:nvSpPr>
        <p:spPr>
          <a:xfrm>
            <a:off x="3151632" y="5376672"/>
            <a:ext cx="566928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11%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slot.well.1.basis"/>
          <p:cNvSpPr txBox="1"/>
          <p:nvPr/>
        </p:nvSpPr>
        <p:spPr>
          <a:xfrm>
            <a:off x="804672" y="5705856"/>
            <a:ext cx="2913888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Illustrative figures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slot.well.2.label"/>
          <p:cNvSpPr txBox="1"/>
          <p:nvPr/>
        </p:nvSpPr>
        <p:spPr>
          <a:xfrm>
            <a:off x="4669536" y="3438144"/>
            <a:ext cx="2913888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Planning week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slot.well.2.day.1"/>
          <p:cNvSpPr txBox="1"/>
          <p:nvPr/>
        </p:nvSpPr>
        <p:spPr>
          <a:xfrm>
            <a:off x="5364480" y="3803904"/>
            <a:ext cx="443789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Mon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slot.well.2.day.2"/>
          <p:cNvSpPr txBox="1"/>
          <p:nvPr/>
        </p:nvSpPr>
        <p:spPr>
          <a:xfrm>
            <a:off x="5808269" y="3803904"/>
            <a:ext cx="443789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Tue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slot.well.2.day.3"/>
          <p:cNvSpPr txBox="1"/>
          <p:nvPr/>
        </p:nvSpPr>
        <p:spPr>
          <a:xfrm>
            <a:off x="6252058" y="3803904"/>
            <a:ext cx="443789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Wed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slot.well.2.day.4"/>
          <p:cNvSpPr txBox="1"/>
          <p:nvPr/>
        </p:nvSpPr>
        <p:spPr>
          <a:xfrm>
            <a:off x="6695846" y="3803904"/>
            <a:ext cx="443789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Thu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slot.well.2.day.5"/>
          <p:cNvSpPr txBox="1"/>
          <p:nvPr/>
        </p:nvSpPr>
        <p:spPr>
          <a:xfrm>
            <a:off x="7139635" y="3803904"/>
            <a:ext cx="443789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Fri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9" name="struct.well.2.rule.0"/>
          <p:cNvCxnSpPr/>
          <p:nvPr/>
        </p:nvCxnSpPr>
        <p:spPr>
          <a:xfrm>
            <a:off x="4669536" y="4078224"/>
            <a:ext cx="2913888" cy="0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70" name="slot.well.2.lane.1"/>
          <p:cNvSpPr txBox="1"/>
          <p:nvPr/>
        </p:nvSpPr>
        <p:spPr>
          <a:xfrm>
            <a:off x="4669536" y="4213098"/>
            <a:ext cx="694944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Forecast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struct.well.2.slot.1"/>
          <p:cNvSpPr/>
          <p:nvPr/>
        </p:nvSpPr>
        <p:spPr>
          <a:xfrm>
            <a:off x="5391912" y="4203954"/>
            <a:ext cx="832714" cy="27432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72" name="slot.well.2.slot.1"/>
          <p:cNvSpPr txBox="1"/>
          <p:nvPr/>
        </p:nvSpPr>
        <p:spPr>
          <a:xfrm>
            <a:off x="5428488" y="4203954"/>
            <a:ext cx="759562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Model run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3" name="struct.well.2.rule.1"/>
          <p:cNvCxnSpPr/>
          <p:nvPr/>
        </p:nvCxnSpPr>
        <p:spPr>
          <a:xfrm>
            <a:off x="4669536" y="4567428"/>
            <a:ext cx="291388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74" name="slot.well.2.lane.2"/>
          <p:cNvSpPr txBox="1"/>
          <p:nvPr/>
        </p:nvSpPr>
        <p:spPr>
          <a:xfrm>
            <a:off x="4669536" y="4665726"/>
            <a:ext cx="694944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Draft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struct.well.2.slot.2"/>
          <p:cNvSpPr/>
          <p:nvPr/>
        </p:nvSpPr>
        <p:spPr>
          <a:xfrm>
            <a:off x="5835701" y="4656582"/>
            <a:ext cx="832714" cy="274320"/>
          </a:xfrm>
          <a:prstGeom prst="roundRect">
            <a:avLst>
              <a:gd name="adj" fmla="val 13333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</p:sp>
      <p:sp>
        <p:nvSpPr>
          <p:cNvPr id="76" name="slot.well.2.slot.2"/>
          <p:cNvSpPr txBox="1"/>
          <p:nvPr/>
        </p:nvSpPr>
        <p:spPr>
          <a:xfrm>
            <a:off x="5872277" y="4656582"/>
            <a:ext cx="759562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Drafted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7" name="struct.well.2.rule.2"/>
          <p:cNvCxnSpPr/>
          <p:nvPr/>
        </p:nvCxnSpPr>
        <p:spPr>
          <a:xfrm>
            <a:off x="4669536" y="5020056"/>
            <a:ext cx="291388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78" name="slot.well.2.lane.3"/>
          <p:cNvSpPr txBox="1"/>
          <p:nvPr/>
        </p:nvSpPr>
        <p:spPr>
          <a:xfrm>
            <a:off x="4669536" y="5118354"/>
            <a:ext cx="694944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Review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struct.well.2.slot.3"/>
          <p:cNvSpPr/>
          <p:nvPr/>
        </p:nvSpPr>
        <p:spPr>
          <a:xfrm>
            <a:off x="6279490" y="5109210"/>
            <a:ext cx="832714" cy="274320"/>
          </a:xfrm>
          <a:prstGeom prst="roundRect">
            <a:avLst>
              <a:gd name="adj" fmla="val 13333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</p:sp>
      <p:sp>
        <p:nvSpPr>
          <p:cNvPr id="80" name="slot.well.2.slot.3"/>
          <p:cNvSpPr txBox="1"/>
          <p:nvPr/>
        </p:nvSpPr>
        <p:spPr>
          <a:xfrm>
            <a:off x="6316066" y="5109210"/>
            <a:ext cx="759562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Edits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1" name="struct.well.2.rule.3"/>
          <p:cNvCxnSpPr/>
          <p:nvPr/>
        </p:nvCxnSpPr>
        <p:spPr>
          <a:xfrm>
            <a:off x="4669536" y="5472684"/>
            <a:ext cx="291388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82" name="slot.well.2.lane.4"/>
          <p:cNvSpPr txBox="1"/>
          <p:nvPr/>
        </p:nvSpPr>
        <p:spPr>
          <a:xfrm>
            <a:off x="4669536" y="5570982"/>
            <a:ext cx="694944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Sign-off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struct.well.2.slot.4"/>
          <p:cNvSpPr/>
          <p:nvPr/>
        </p:nvSpPr>
        <p:spPr>
          <a:xfrm>
            <a:off x="6723278" y="5561838"/>
            <a:ext cx="832714" cy="27432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84" name="slot.well.2.slot.4"/>
          <p:cNvSpPr txBox="1"/>
          <p:nvPr/>
        </p:nvSpPr>
        <p:spPr>
          <a:xfrm>
            <a:off x="6759854" y="5561838"/>
            <a:ext cx="759562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Agreed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slot.well.3.label"/>
          <p:cNvSpPr txBox="1"/>
          <p:nvPr/>
        </p:nvSpPr>
        <p:spPr>
          <a:xfrm>
            <a:off x="8534400" y="3438144"/>
            <a:ext cx="2913888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Override log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slot.well.3.state.1"/>
          <p:cNvSpPr/>
          <p:nvPr/>
        </p:nvSpPr>
        <p:spPr>
          <a:xfrm>
            <a:off x="8534400" y="3840480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</p:sp>
      <p:sp>
        <p:nvSpPr>
          <p:cNvPr id="87" name="slot.well.3.row.1.lead"/>
          <p:cNvSpPr txBox="1"/>
          <p:nvPr/>
        </p:nvSpPr>
        <p:spPr>
          <a:xfrm>
            <a:off x="8827008" y="3803904"/>
            <a:ext cx="262128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North, launch week raised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slot.well.3.row.1.why"/>
          <p:cNvSpPr txBox="1"/>
          <p:nvPr/>
        </p:nvSpPr>
        <p:spPr>
          <a:xfrm>
            <a:off x="8827008" y="3995928"/>
            <a:ext cx="262128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New stores open that week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9" name="struct.well.3.rule.1"/>
          <p:cNvCxnSpPr/>
          <p:nvPr/>
        </p:nvCxnSpPr>
        <p:spPr>
          <a:xfrm>
            <a:off x="8534400" y="4215384"/>
            <a:ext cx="291388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90" name="slot.well.3.state.2"/>
          <p:cNvSpPr/>
          <p:nvPr/>
        </p:nvSpPr>
        <p:spPr>
          <a:xfrm>
            <a:off x="8534400" y="4297680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</p:sp>
      <p:sp>
        <p:nvSpPr>
          <p:cNvPr id="91" name="slot.well.3.row.2.lead"/>
          <p:cNvSpPr txBox="1"/>
          <p:nvPr/>
        </p:nvSpPr>
        <p:spPr>
          <a:xfrm>
            <a:off x="8827008" y="4261104"/>
            <a:ext cx="262128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Central, March cut back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slot.well.3.row.2.why"/>
          <p:cNvSpPr txBox="1"/>
          <p:nvPr/>
        </p:nvSpPr>
        <p:spPr>
          <a:xfrm>
            <a:off x="8827008" y="4453128"/>
            <a:ext cx="262128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Supplier confirmed a delay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93" name="struct.well.3.rule.2"/>
          <p:cNvCxnSpPr/>
          <p:nvPr/>
        </p:nvCxnSpPr>
        <p:spPr>
          <a:xfrm>
            <a:off x="8534400" y="4672584"/>
            <a:ext cx="291388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94" name="slot.well.3.state.3"/>
          <p:cNvSpPr/>
          <p:nvPr/>
        </p:nvSpPr>
        <p:spPr>
          <a:xfrm>
            <a:off x="8534400" y="4754880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9090" y="9000"/>
                </a:moveTo>
                <a:cubicBezTo>
                  <a:pt x="9575" y="7620"/>
                  <a:pt x="10985" y="6791"/>
                  <a:pt x="12427" y="7039"/>
                </a:cubicBezTo>
                <a:cubicBezTo>
                  <a:pt x="13869" y="7286"/>
                  <a:pt x="14922" y="8537"/>
                  <a:pt x="14920" y="10000"/>
                </a:cubicBezTo>
                <a:cubicBezTo>
                  <a:pt x="14920" y="12000"/>
                  <a:pt x="11920" y="13000"/>
                  <a:pt x="11920" y="13000"/>
                </a:cubicBezTo>
                <a:moveTo>
                  <a:pt x="12000" y="17000"/>
                </a:moveTo>
                <a:lnTo>
                  <a:pt x="12010" y="17000"/>
                </a:lnTo>
              </a:path>
            </a:pathLst>
          </a:custGeom>
          <a:noFill/>
          <a:ln w="16510" cap="rnd">
            <a:solidFill>
              <a:schemeClr val="tx1">
                <a:lumMod val="65000"/>
                <a:lumOff val="35000"/>
              </a:schemeClr>
            </a:solidFill>
            <a:round/>
          </a:ln>
          <a:effectLst/>
        </p:spPr>
      </p:sp>
      <p:sp>
        <p:nvSpPr>
          <p:cNvPr id="95" name="slot.well.3.row.3.lead"/>
          <p:cNvSpPr txBox="1"/>
          <p:nvPr/>
        </p:nvSpPr>
        <p:spPr>
          <a:xfrm>
            <a:off x="8827008" y="4718304"/>
            <a:ext cx="262128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Coastal, June raised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slot.well.3.row.3.why"/>
          <p:cNvSpPr txBox="1"/>
          <p:nvPr/>
        </p:nvSpPr>
        <p:spPr>
          <a:xfrm>
            <a:off x="8827008" y="4910328"/>
            <a:ext cx="262128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Reason queried by the lead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97" name="struct.well.3.rule.3"/>
          <p:cNvCxnSpPr/>
          <p:nvPr/>
        </p:nvCxnSpPr>
        <p:spPr>
          <a:xfrm>
            <a:off x="8534400" y="5129784"/>
            <a:ext cx="291388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98" name="slot.well.3.state.4"/>
          <p:cNvSpPr/>
          <p:nvPr/>
        </p:nvSpPr>
        <p:spPr>
          <a:xfrm>
            <a:off x="8534400" y="5212080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</p:sp>
      <p:sp>
        <p:nvSpPr>
          <p:cNvPr id="99" name="slot.well.3.row.4.lead"/>
          <p:cNvSpPr txBox="1"/>
          <p:nvPr/>
        </p:nvSpPr>
        <p:spPr>
          <a:xfrm>
            <a:off x="8827008" y="5175504"/>
            <a:ext cx="262128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Export, April held flat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slot.well.3.row.4.why"/>
          <p:cNvSpPr txBox="1"/>
          <p:nvPr/>
        </p:nvSpPr>
        <p:spPr>
          <a:xfrm>
            <a:off x="8827008" y="5367528"/>
            <a:ext cx="262128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Port backlog clears in May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slot.well.3.key.1.icon"/>
          <p:cNvSpPr/>
          <p:nvPr/>
        </p:nvSpPr>
        <p:spPr>
          <a:xfrm>
            <a:off x="8534400" y="5742432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12065" cap="rnd">
            <a:solidFill>
              <a:schemeClr val="accent1"/>
            </a:solidFill>
            <a:round/>
          </a:ln>
          <a:effectLst/>
        </p:spPr>
      </p:sp>
      <p:sp>
        <p:nvSpPr>
          <p:cNvPr id="102" name="slot.well.3.key.1"/>
          <p:cNvSpPr txBox="1"/>
          <p:nvPr/>
        </p:nvSpPr>
        <p:spPr>
          <a:xfrm>
            <a:off x="8735568" y="5705856"/>
            <a:ext cx="822960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Accepted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slot.well.3.key.2.icon"/>
          <p:cNvSpPr/>
          <p:nvPr/>
        </p:nvSpPr>
        <p:spPr>
          <a:xfrm>
            <a:off x="9631680" y="5742432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9090" y="9000"/>
                </a:moveTo>
                <a:cubicBezTo>
                  <a:pt x="9575" y="7620"/>
                  <a:pt x="10985" y="6791"/>
                  <a:pt x="12427" y="7039"/>
                </a:cubicBezTo>
                <a:cubicBezTo>
                  <a:pt x="13869" y="7286"/>
                  <a:pt x="14922" y="8537"/>
                  <a:pt x="14920" y="10000"/>
                </a:cubicBezTo>
                <a:cubicBezTo>
                  <a:pt x="14920" y="12000"/>
                  <a:pt x="11920" y="13000"/>
                  <a:pt x="11920" y="13000"/>
                </a:cubicBezTo>
                <a:moveTo>
                  <a:pt x="12000" y="17000"/>
                </a:moveTo>
                <a:lnTo>
                  <a:pt x="12010" y="17000"/>
                </a:lnTo>
              </a:path>
            </a:pathLst>
          </a:custGeom>
          <a:noFill/>
          <a:ln w="12065" cap="rnd">
            <a:solidFill>
              <a:schemeClr val="tx1">
                <a:lumMod val="65000"/>
                <a:lumOff val="35000"/>
              </a:schemeClr>
            </a:solidFill>
            <a:round/>
          </a:ln>
          <a:effectLst/>
        </p:spPr>
      </p:sp>
      <p:sp>
        <p:nvSpPr>
          <p:cNvPr id="104" name="slot.well.3.key.2"/>
          <p:cNvSpPr txBox="1"/>
          <p:nvPr/>
        </p:nvSpPr>
        <p:spPr>
          <a:xfrm>
            <a:off x="9832848" y="5705856"/>
            <a:ext cx="822960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Queried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options-comparison:matrix-and-wiring-arithmetic">
    <p:spTree>
      <p:nvGrpSpPr>
        <p:cNvPr id="1" name=""/>
        <p:cNvGrpSpPr/>
        <p:nvPr/>
      </p:nvGrpSpPr>
      <p:grpSpPr/>
      <p:sp>
        <p:nvSpPr>
          <p:cNvPr id="2" name="slot.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One shared hub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answers every service question with 14 links, not 48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truct.left.head"/>
          <p:cNvSpPr/>
          <p:nvPr/>
        </p:nvSpPr>
        <p:spPr>
          <a:xfrm>
            <a:off x="457200" y="777240"/>
            <a:ext cx="5074920" cy="347472"/>
          </a:xfrm>
          <a:prstGeom prst="roundRect">
            <a:avLst>
              <a:gd name="adj" fmla="val 13157"/>
            </a:avLst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4" name="slot.left.head"/>
          <p:cNvSpPr txBox="1"/>
          <p:nvPr/>
        </p:nvSpPr>
        <p:spPr>
          <a:xfrm>
            <a:off x="603504" y="813816"/>
            <a:ext cx="4782312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Which option answers each question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truct.right.head"/>
          <p:cNvSpPr/>
          <p:nvPr/>
        </p:nvSpPr>
        <p:spPr>
          <a:xfrm>
            <a:off x="5897880" y="777240"/>
            <a:ext cx="5897880" cy="347472"/>
          </a:xfrm>
          <a:prstGeom prst="roundRect">
            <a:avLst>
              <a:gd name="adj" fmla="val 13157"/>
            </a:avLst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6" name="slot.right.head"/>
          <p:cNvSpPr txBox="1"/>
          <p:nvPr/>
        </p:nvSpPr>
        <p:spPr>
          <a:xfrm>
            <a:off x="6044184" y="813816"/>
            <a:ext cx="5605272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What each option takes to wire up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" name="struct.divider"/>
          <p:cNvCxnSpPr/>
          <p:nvPr/>
        </p:nvCxnSpPr>
        <p:spPr>
          <a:xfrm>
            <a:off x="5715000" y="1252728"/>
            <a:ext cx="0" cy="5001768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8" name="struct.matrix"/>
          <p:cNvSpPr/>
          <p:nvPr/>
        </p:nvSpPr>
        <p:spPr>
          <a:xfrm>
            <a:off x="457200" y="1252728"/>
            <a:ext cx="5074920" cy="3886200"/>
          </a:xfrm>
          <a:prstGeom prst="roundRect">
            <a:avLst>
              <a:gd name="adj" fmla="val 1176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</p:sp>
      <p:sp>
        <p:nvSpPr>
          <p:cNvPr id="9" name="slot.option.1.icon"/>
          <p:cNvSpPr/>
          <p:nvPr/>
        </p:nvSpPr>
        <p:spPr>
          <a:xfrm>
            <a:off x="2961132" y="139903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14000"/>
                </a:moveTo>
                <a:lnTo>
                  <a:pt x="6000" y="14000"/>
                </a:lnTo>
                <a:cubicBezTo>
                  <a:pt x="7105" y="14000"/>
                  <a:pt x="8000" y="14895"/>
                  <a:pt x="8000" y="16000"/>
                </a:cubicBezTo>
                <a:lnTo>
                  <a:pt x="8000" y="19000"/>
                </a:lnTo>
                <a:cubicBezTo>
                  <a:pt x="8000" y="20105"/>
                  <a:pt x="7105" y="21000"/>
                  <a:pt x="6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12000"/>
                </a:lnTo>
                <a:cubicBezTo>
                  <a:pt x="3000" y="7029"/>
                  <a:pt x="7029" y="3000"/>
                  <a:pt x="12000" y="3000"/>
                </a:cubicBezTo>
                <a:cubicBezTo>
                  <a:pt x="16971" y="3000"/>
                  <a:pt x="21000" y="7029"/>
                  <a:pt x="21000" y="12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8000" y="21000"/>
                </a:lnTo>
                <a:cubicBezTo>
                  <a:pt x="16895" y="21000"/>
                  <a:pt x="16000" y="20105"/>
                  <a:pt x="16000" y="19000"/>
                </a:cubicBezTo>
                <a:lnTo>
                  <a:pt x="16000" y="16000"/>
                </a:lnTo>
                <a:cubicBezTo>
                  <a:pt x="16000" y="14895"/>
                  <a:pt x="16895" y="14000"/>
                  <a:pt x="18000" y="14000"/>
                </a:cubicBezTo>
                <a:lnTo>
                  <a:pt x="21000" y="14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10" name="slot.option.1.name"/>
          <p:cNvSpPr txBox="1"/>
          <p:nvPr/>
        </p:nvSpPr>
        <p:spPr>
          <a:xfrm>
            <a:off x="2651760" y="1728216"/>
            <a:ext cx="893064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Tickets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ot.option.2.icon"/>
          <p:cNvSpPr/>
          <p:nvPr/>
        </p:nvSpPr>
        <p:spPr>
          <a:xfrm>
            <a:off x="3854196" y="139903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7000"/>
                </a:moveTo>
                <a:lnTo>
                  <a:pt x="12000" y="7000"/>
                </a:lnTo>
                <a:moveTo>
                  <a:pt x="16000" y="8000"/>
                </a:moveTo>
                <a:lnTo>
                  <a:pt x="10000" y="8000"/>
                </a:lnTo>
                <a:cubicBezTo>
                  <a:pt x="8895" y="8000"/>
                  <a:pt x="8000" y="8895"/>
                  <a:pt x="8000" y="10000"/>
                </a:cubicBezTo>
                <a:cubicBezTo>
                  <a:pt x="8000" y="11105"/>
                  <a:pt x="8895" y="12000"/>
                  <a:pt x="10000" y="12000"/>
                </a:cubicBezTo>
                <a:lnTo>
                  <a:pt x="14000" y="12000"/>
                </a:lnTo>
                <a:cubicBezTo>
                  <a:pt x="15105" y="12000"/>
                  <a:pt x="16000" y="12895"/>
                  <a:pt x="16000" y="14000"/>
                </a:cubicBezTo>
                <a:cubicBezTo>
                  <a:pt x="16000" y="15105"/>
                  <a:pt x="15105" y="16000"/>
                  <a:pt x="14000" y="16000"/>
                </a:cubicBezTo>
                <a:lnTo>
                  <a:pt x="8000" y="16000"/>
                </a:lnTo>
                <a:moveTo>
                  <a:pt x="4000" y="3000"/>
                </a:moveTo>
                <a:cubicBezTo>
                  <a:pt x="4000" y="2448"/>
                  <a:pt x="4448" y="2000"/>
                  <a:pt x="5000" y="2000"/>
                </a:cubicBezTo>
                <a:cubicBezTo>
                  <a:pt x="5248" y="1999"/>
                  <a:pt x="5490" y="2068"/>
                  <a:pt x="5700" y="2200"/>
                </a:cubicBezTo>
                <a:lnTo>
                  <a:pt x="6633" y="2800"/>
                </a:lnTo>
                <a:cubicBezTo>
                  <a:pt x="7060" y="3073"/>
                  <a:pt x="7606" y="3073"/>
                  <a:pt x="8033" y="2800"/>
                </a:cubicBezTo>
                <a:lnTo>
                  <a:pt x="8967" y="2200"/>
                </a:lnTo>
                <a:cubicBezTo>
                  <a:pt x="9394" y="1927"/>
                  <a:pt x="9940" y="1927"/>
                  <a:pt x="10367" y="2200"/>
                </a:cubicBezTo>
                <a:lnTo>
                  <a:pt x="11300" y="2800"/>
                </a:lnTo>
                <a:cubicBezTo>
                  <a:pt x="11727" y="3073"/>
                  <a:pt x="12273" y="3073"/>
                  <a:pt x="12700" y="2800"/>
                </a:cubicBezTo>
                <a:lnTo>
                  <a:pt x="13633" y="2200"/>
                </a:lnTo>
                <a:cubicBezTo>
                  <a:pt x="14060" y="1927"/>
                  <a:pt x="14606" y="1927"/>
                  <a:pt x="15033" y="2200"/>
                </a:cubicBezTo>
                <a:lnTo>
                  <a:pt x="15967" y="2800"/>
                </a:lnTo>
                <a:cubicBezTo>
                  <a:pt x="16394" y="3073"/>
                  <a:pt x="16940" y="3073"/>
                  <a:pt x="17367" y="2800"/>
                </a:cubicBezTo>
                <a:lnTo>
                  <a:pt x="18300" y="2200"/>
                </a:lnTo>
                <a:cubicBezTo>
                  <a:pt x="18510" y="2068"/>
                  <a:pt x="18752" y="1999"/>
                  <a:pt x="19000" y="2000"/>
                </a:cubicBezTo>
                <a:cubicBezTo>
                  <a:pt x="19552" y="2000"/>
                  <a:pt x="20000" y="2448"/>
                  <a:pt x="20000" y="3000"/>
                </a:cubicBezTo>
                <a:lnTo>
                  <a:pt x="20000" y="21000"/>
                </a:lnTo>
                <a:cubicBezTo>
                  <a:pt x="20000" y="21552"/>
                  <a:pt x="19552" y="22000"/>
                  <a:pt x="19000" y="22000"/>
                </a:cubicBezTo>
                <a:cubicBezTo>
                  <a:pt x="18752" y="22001"/>
                  <a:pt x="18510" y="21932"/>
                  <a:pt x="18300" y="21800"/>
                </a:cubicBezTo>
                <a:lnTo>
                  <a:pt x="17367" y="21200"/>
                </a:lnTo>
                <a:cubicBezTo>
                  <a:pt x="16940" y="20927"/>
                  <a:pt x="16394" y="20927"/>
                  <a:pt x="15967" y="21200"/>
                </a:cubicBezTo>
                <a:lnTo>
                  <a:pt x="15033" y="21800"/>
                </a:lnTo>
                <a:cubicBezTo>
                  <a:pt x="14606" y="22073"/>
                  <a:pt x="14060" y="22073"/>
                  <a:pt x="13633" y="21800"/>
                </a:cubicBezTo>
                <a:lnTo>
                  <a:pt x="12700" y="21200"/>
                </a:lnTo>
                <a:cubicBezTo>
                  <a:pt x="12273" y="20927"/>
                  <a:pt x="11727" y="20927"/>
                  <a:pt x="11300" y="21200"/>
                </a:cubicBezTo>
                <a:lnTo>
                  <a:pt x="10367" y="21800"/>
                </a:lnTo>
                <a:cubicBezTo>
                  <a:pt x="9940" y="22073"/>
                  <a:pt x="9394" y="22073"/>
                  <a:pt x="8967" y="21800"/>
                </a:cubicBezTo>
                <a:lnTo>
                  <a:pt x="8033" y="21200"/>
                </a:lnTo>
                <a:cubicBezTo>
                  <a:pt x="7606" y="20927"/>
                  <a:pt x="7060" y="20927"/>
                  <a:pt x="6633" y="21200"/>
                </a:cubicBezTo>
                <a:lnTo>
                  <a:pt x="5700" y="21800"/>
                </a:lnTo>
                <a:cubicBezTo>
                  <a:pt x="5490" y="21932"/>
                  <a:pt x="5248" y="22001"/>
                  <a:pt x="5000" y="22000"/>
                </a:cubicBezTo>
                <a:cubicBezTo>
                  <a:pt x="4448" y="22000"/>
                  <a:pt x="4000" y="21552"/>
                  <a:pt x="4000" y="21000"/>
                </a:cubicBezTo>
                <a:close/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12" name="slot.option.2.name"/>
          <p:cNvSpPr txBox="1"/>
          <p:nvPr/>
        </p:nvSpPr>
        <p:spPr>
          <a:xfrm>
            <a:off x="3544824" y="1728216"/>
            <a:ext cx="893064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Billing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slot.option.3.icon"/>
          <p:cNvSpPr/>
          <p:nvPr/>
        </p:nvSpPr>
        <p:spPr>
          <a:xfrm>
            <a:off x="4747260" y="139903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7000" y="16000"/>
                </a:moveTo>
                <a:lnTo>
                  <a:pt x="21000" y="16000"/>
                </a:lnTo>
                <a:cubicBezTo>
                  <a:pt x="21552" y="16000"/>
                  <a:pt x="22000" y="16448"/>
                  <a:pt x="22000" y="17000"/>
                </a:cubicBezTo>
                <a:lnTo>
                  <a:pt x="22000" y="21000"/>
                </a:lnTo>
                <a:cubicBezTo>
                  <a:pt x="22000" y="21552"/>
                  <a:pt x="21552" y="22000"/>
                  <a:pt x="21000" y="22000"/>
                </a:cubicBezTo>
                <a:lnTo>
                  <a:pt x="17000" y="22000"/>
                </a:lnTo>
                <a:cubicBezTo>
                  <a:pt x="16448" y="22000"/>
                  <a:pt x="16000" y="21552"/>
                  <a:pt x="16000" y="21000"/>
                </a:cubicBezTo>
                <a:lnTo>
                  <a:pt x="16000" y="17000"/>
                </a:lnTo>
                <a:cubicBezTo>
                  <a:pt x="16000" y="16448"/>
                  <a:pt x="16448" y="16000"/>
                  <a:pt x="17000" y="16000"/>
                </a:cubicBezTo>
                <a:close/>
                <a:moveTo>
                  <a:pt x="3000" y="16000"/>
                </a:moveTo>
                <a:lnTo>
                  <a:pt x="7000" y="16000"/>
                </a:lnTo>
                <a:cubicBezTo>
                  <a:pt x="7552" y="16000"/>
                  <a:pt x="8000" y="16448"/>
                  <a:pt x="8000" y="17000"/>
                </a:cubicBezTo>
                <a:lnTo>
                  <a:pt x="8000" y="21000"/>
                </a:lnTo>
                <a:cubicBezTo>
                  <a:pt x="8000" y="21552"/>
                  <a:pt x="7552" y="22000"/>
                  <a:pt x="7000" y="22000"/>
                </a:cubicBezTo>
                <a:lnTo>
                  <a:pt x="3000" y="22000"/>
                </a:lnTo>
                <a:cubicBezTo>
                  <a:pt x="2448" y="22000"/>
                  <a:pt x="2000" y="21552"/>
                  <a:pt x="2000" y="21000"/>
                </a:cubicBezTo>
                <a:lnTo>
                  <a:pt x="2000" y="17000"/>
                </a:lnTo>
                <a:cubicBezTo>
                  <a:pt x="2000" y="16448"/>
                  <a:pt x="2448" y="16000"/>
                  <a:pt x="3000" y="16000"/>
                </a:cubicBezTo>
                <a:close/>
                <a:moveTo>
                  <a:pt x="10000" y="2000"/>
                </a:moveTo>
                <a:lnTo>
                  <a:pt x="14000" y="2000"/>
                </a:lnTo>
                <a:cubicBezTo>
                  <a:pt x="14552" y="2000"/>
                  <a:pt x="15000" y="2448"/>
                  <a:pt x="15000" y="3000"/>
                </a:cubicBezTo>
                <a:lnTo>
                  <a:pt x="15000" y="7000"/>
                </a:lnTo>
                <a:cubicBezTo>
                  <a:pt x="15000" y="7552"/>
                  <a:pt x="14552" y="8000"/>
                  <a:pt x="14000" y="8000"/>
                </a:cubicBezTo>
                <a:lnTo>
                  <a:pt x="10000" y="8000"/>
                </a:lnTo>
                <a:cubicBezTo>
                  <a:pt x="9448" y="8000"/>
                  <a:pt x="9000" y="7552"/>
                  <a:pt x="9000" y="7000"/>
                </a:cubicBezTo>
                <a:lnTo>
                  <a:pt x="9000" y="3000"/>
                </a:lnTo>
                <a:cubicBezTo>
                  <a:pt x="9000" y="2448"/>
                  <a:pt x="9448" y="2000"/>
                  <a:pt x="10000" y="2000"/>
                </a:cubicBezTo>
                <a:close/>
                <a:moveTo>
                  <a:pt x="5000" y="16000"/>
                </a:moveTo>
                <a:lnTo>
                  <a:pt x="5000" y="13000"/>
                </a:lnTo>
                <a:cubicBezTo>
                  <a:pt x="5000" y="12448"/>
                  <a:pt x="5448" y="12000"/>
                  <a:pt x="6000" y="12000"/>
                </a:cubicBezTo>
                <a:lnTo>
                  <a:pt x="18000" y="12000"/>
                </a:lnTo>
                <a:cubicBezTo>
                  <a:pt x="18552" y="12000"/>
                  <a:pt x="19000" y="12448"/>
                  <a:pt x="19000" y="13000"/>
                </a:cubicBezTo>
                <a:lnTo>
                  <a:pt x="19000" y="16000"/>
                </a:lnTo>
                <a:moveTo>
                  <a:pt x="12000" y="12000"/>
                </a:moveTo>
                <a:lnTo>
                  <a:pt x="12000" y="8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14" name="slot.option.3.name"/>
          <p:cNvSpPr txBox="1"/>
          <p:nvPr/>
        </p:nvSpPr>
        <p:spPr>
          <a:xfrm>
            <a:off x="4437888" y="1728216"/>
            <a:ext cx="893064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Shared hub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5" name="struct.matrix.rule.0"/>
          <p:cNvCxnSpPr/>
          <p:nvPr/>
        </p:nvCxnSpPr>
        <p:spPr>
          <a:xfrm>
            <a:off x="658368" y="2039112"/>
            <a:ext cx="4672584" cy="0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16" name="slot.question.1"/>
          <p:cNvSpPr txBox="1"/>
          <p:nvPr/>
        </p:nvSpPr>
        <p:spPr>
          <a:xfrm>
            <a:off x="658368" y="2093062"/>
            <a:ext cx="1901952" cy="40233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Open tickets for one customer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truct.mark.1.1"/>
          <p:cNvSpPr/>
          <p:nvPr/>
        </p:nvSpPr>
        <p:spPr>
          <a:xfrm>
            <a:off x="3015996" y="2211934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18" name="struct.mark.1.3"/>
          <p:cNvSpPr/>
          <p:nvPr/>
        </p:nvSpPr>
        <p:spPr>
          <a:xfrm>
            <a:off x="4802124" y="2211934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</p:sp>
      <p:cxnSp>
        <p:nvCxnSpPr>
          <p:cNvPr id="19" name="struct.matrix.rule.1"/>
          <p:cNvCxnSpPr/>
          <p:nvPr/>
        </p:nvCxnSpPr>
        <p:spPr>
          <a:xfrm>
            <a:off x="658368" y="2549347"/>
            <a:ext cx="4672584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20" name="slot.question.2"/>
          <p:cNvSpPr txBox="1"/>
          <p:nvPr/>
        </p:nvSpPr>
        <p:spPr>
          <a:xfrm>
            <a:off x="658368" y="2603297"/>
            <a:ext cx="1901952" cy="40233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Invoices disputed this month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truct.mark.2.2"/>
          <p:cNvSpPr/>
          <p:nvPr/>
        </p:nvSpPr>
        <p:spPr>
          <a:xfrm>
            <a:off x="3909060" y="2722169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22" name="struct.mark.2.3"/>
          <p:cNvSpPr/>
          <p:nvPr/>
        </p:nvSpPr>
        <p:spPr>
          <a:xfrm>
            <a:off x="4802124" y="2722169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</p:sp>
      <p:cxnSp>
        <p:nvCxnSpPr>
          <p:cNvPr id="23" name="struct.matrix.rule.2"/>
          <p:cNvCxnSpPr/>
          <p:nvPr/>
        </p:nvCxnSpPr>
        <p:spPr>
          <a:xfrm>
            <a:off x="658368" y="3059582"/>
            <a:ext cx="4672584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24" name="slot.question.3"/>
          <p:cNvSpPr txBox="1"/>
          <p:nvPr/>
        </p:nvSpPr>
        <p:spPr>
          <a:xfrm>
            <a:off x="658368" y="3113532"/>
            <a:ext cx="1901952" cy="40233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Refund time by product line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struct.mark.3.2"/>
          <p:cNvSpPr/>
          <p:nvPr/>
        </p:nvSpPr>
        <p:spPr>
          <a:xfrm>
            <a:off x="3909060" y="3232404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26" name="struct.mark.3.3"/>
          <p:cNvSpPr/>
          <p:nvPr/>
        </p:nvSpPr>
        <p:spPr>
          <a:xfrm>
            <a:off x="4802124" y="3232404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</p:sp>
      <p:cxnSp>
        <p:nvCxnSpPr>
          <p:cNvPr id="27" name="struct.matrix.rule.3"/>
          <p:cNvCxnSpPr/>
          <p:nvPr/>
        </p:nvCxnSpPr>
        <p:spPr>
          <a:xfrm>
            <a:off x="658368" y="3569818"/>
            <a:ext cx="4672584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28" name="slot.question.4"/>
          <p:cNvSpPr txBox="1"/>
          <p:nvPr/>
        </p:nvSpPr>
        <p:spPr>
          <a:xfrm>
            <a:off x="658368" y="3623767"/>
            <a:ext cx="1901952" cy="40233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Customers with a ticket and a dispute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truct.mark.4.3"/>
          <p:cNvSpPr/>
          <p:nvPr/>
        </p:nvSpPr>
        <p:spPr>
          <a:xfrm>
            <a:off x="4802124" y="3742639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</p:sp>
      <p:cxnSp>
        <p:nvCxnSpPr>
          <p:cNvPr id="30" name="struct.matrix.rule.4"/>
          <p:cNvCxnSpPr/>
          <p:nvPr/>
        </p:nvCxnSpPr>
        <p:spPr>
          <a:xfrm>
            <a:off x="658368" y="4080053"/>
            <a:ext cx="4672584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31" name="slot.question.5"/>
          <p:cNvSpPr txBox="1"/>
          <p:nvPr/>
        </p:nvSpPr>
        <p:spPr>
          <a:xfrm>
            <a:off x="658368" y="4134002"/>
            <a:ext cx="1901952" cy="40233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Repeat callers after a credit note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truct.mark.5.3"/>
          <p:cNvSpPr/>
          <p:nvPr/>
        </p:nvSpPr>
        <p:spPr>
          <a:xfrm>
            <a:off x="4802124" y="4252874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</p:sp>
      <p:cxnSp>
        <p:nvCxnSpPr>
          <p:cNvPr id="33" name="struct.matrix.rule.total"/>
          <p:cNvCxnSpPr/>
          <p:nvPr/>
        </p:nvCxnSpPr>
        <p:spPr>
          <a:xfrm>
            <a:off x="658368" y="4590288"/>
            <a:ext cx="4672584" cy="0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34" name="slot.total.label"/>
          <p:cNvSpPr txBox="1"/>
          <p:nvPr/>
        </p:nvSpPr>
        <p:spPr>
          <a:xfrm>
            <a:off x="658368" y="4663440"/>
            <a:ext cx="1901952" cy="34747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Questions answered</a:t>
            </a:r>
            <a:endParaRPr lang="en-US" sz="11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lot.total.1"/>
          <p:cNvSpPr txBox="1"/>
          <p:nvPr/>
        </p:nvSpPr>
        <p:spPr>
          <a:xfrm>
            <a:off x="2651760" y="4663440"/>
            <a:ext cx="893064" cy="34747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1 of 5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slot.total.2"/>
          <p:cNvSpPr txBox="1"/>
          <p:nvPr/>
        </p:nvSpPr>
        <p:spPr>
          <a:xfrm>
            <a:off x="3544824" y="4663440"/>
            <a:ext cx="893064" cy="34747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2 of 5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slot.total.3"/>
          <p:cNvSpPr txBox="1"/>
          <p:nvPr/>
        </p:nvSpPr>
        <p:spPr>
          <a:xfrm>
            <a:off x="4437888" y="4663440"/>
            <a:ext cx="893064" cy="34747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5 of 5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truct.verdict"/>
          <p:cNvSpPr/>
          <p:nvPr/>
        </p:nvSpPr>
        <p:spPr>
          <a:xfrm>
            <a:off x="457200" y="5285232"/>
            <a:ext cx="5074920" cy="969264"/>
          </a:xfrm>
          <a:prstGeom prst="roundRect">
            <a:avLst>
              <a:gd name="adj" fmla="val 4716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</p:sp>
      <p:sp>
        <p:nvSpPr>
          <p:cNvPr id="39" name="slot.verdict.head"/>
          <p:cNvSpPr txBox="1"/>
          <p:nvPr/>
        </p:nvSpPr>
        <p:spPr>
          <a:xfrm>
            <a:off x="658368" y="5431536"/>
            <a:ext cx="467258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kern="0" dirty="0">
                <a:solidFill>
                  <a:schemeClr val="accent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Only the shared hub answers all five</a:t>
            </a:r>
            <a:endParaRPr lang="en-US" sz="1500" b="1" i="0" kern="0" dirty="0">
              <a:solidFill>
                <a:schemeClr val="accent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slot.verdict.body"/>
          <p:cNvSpPr txBox="1"/>
          <p:nvPr/>
        </p:nvSpPr>
        <p:spPr>
          <a:xfrm>
            <a:off x="658368" y="5742432"/>
            <a:ext cx="4672584" cy="38404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Each system answers its own questions, and neither sees one customer across both</a:t>
            </a:r>
            <a:endParaRPr lang="en-US" sz="12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truct.wiring.1"/>
          <p:cNvSpPr/>
          <p:nvPr/>
        </p:nvSpPr>
        <p:spPr>
          <a:xfrm>
            <a:off x="5897880" y="1252728"/>
            <a:ext cx="5897880" cy="2427732"/>
          </a:xfrm>
          <a:prstGeom prst="roundRect">
            <a:avLst>
              <a:gd name="adj" fmla="val 1883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</p:sp>
      <p:sp>
        <p:nvSpPr>
          <p:cNvPr id="42" name="slot.wiring.1.label"/>
          <p:cNvSpPr txBox="1"/>
          <p:nvPr/>
        </p:nvSpPr>
        <p:spPr>
          <a:xfrm>
            <a:off x="6099048" y="1380744"/>
            <a:ext cx="246888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Point to point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slot.wiring.1.sub"/>
          <p:cNvSpPr txBox="1"/>
          <p:nvPr/>
        </p:nvSpPr>
        <p:spPr>
          <a:xfrm>
            <a:off x="8641080" y="1380744"/>
            <a:ext cx="293522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8 apps, 6 systems</a:t>
            </a:r>
            <a:endParaRPr lang="en-US" sz="11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struct.wiring.1.app.1"/>
          <p:cNvSpPr/>
          <p:nvPr/>
        </p:nvSpPr>
        <p:spPr>
          <a:xfrm>
            <a:off x="6126480" y="1773936"/>
            <a:ext cx="91440" cy="914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</p:sp>
      <p:sp>
        <p:nvSpPr>
          <p:cNvPr id="45" name="struct.wiring.1.app.2"/>
          <p:cNvSpPr/>
          <p:nvPr/>
        </p:nvSpPr>
        <p:spPr>
          <a:xfrm>
            <a:off x="6126480" y="2013639"/>
            <a:ext cx="91440" cy="914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</p:sp>
      <p:sp>
        <p:nvSpPr>
          <p:cNvPr id="46" name="struct.wiring.1.app.3"/>
          <p:cNvSpPr/>
          <p:nvPr/>
        </p:nvSpPr>
        <p:spPr>
          <a:xfrm>
            <a:off x="6126480" y="2253343"/>
            <a:ext cx="91440" cy="914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</p:sp>
      <p:sp>
        <p:nvSpPr>
          <p:cNvPr id="47" name="struct.wiring.1.app.4"/>
          <p:cNvSpPr/>
          <p:nvPr/>
        </p:nvSpPr>
        <p:spPr>
          <a:xfrm>
            <a:off x="6126480" y="2493046"/>
            <a:ext cx="91440" cy="914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</p:sp>
      <p:sp>
        <p:nvSpPr>
          <p:cNvPr id="48" name="struct.wiring.1.app.5"/>
          <p:cNvSpPr/>
          <p:nvPr/>
        </p:nvSpPr>
        <p:spPr>
          <a:xfrm>
            <a:off x="6126480" y="2732750"/>
            <a:ext cx="91440" cy="914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</p:sp>
      <p:sp>
        <p:nvSpPr>
          <p:cNvPr id="49" name="struct.wiring.1.app.6"/>
          <p:cNvSpPr/>
          <p:nvPr/>
        </p:nvSpPr>
        <p:spPr>
          <a:xfrm>
            <a:off x="6126480" y="2972453"/>
            <a:ext cx="91440" cy="914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</p:sp>
      <p:sp>
        <p:nvSpPr>
          <p:cNvPr id="50" name="struct.wiring.1.app.7"/>
          <p:cNvSpPr/>
          <p:nvPr/>
        </p:nvSpPr>
        <p:spPr>
          <a:xfrm>
            <a:off x="6126480" y="3212157"/>
            <a:ext cx="91440" cy="914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</p:sp>
      <p:sp>
        <p:nvSpPr>
          <p:cNvPr id="51" name="struct.wiring.1.app.8"/>
          <p:cNvSpPr/>
          <p:nvPr/>
        </p:nvSpPr>
        <p:spPr>
          <a:xfrm>
            <a:off x="6126480" y="3451860"/>
            <a:ext cx="91440" cy="914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</p:sp>
      <p:sp>
        <p:nvSpPr>
          <p:cNvPr id="52" name="slot.wiring.1.system.1"/>
          <p:cNvSpPr/>
          <p:nvPr/>
        </p:nvSpPr>
        <p:spPr>
          <a:xfrm>
            <a:off x="7680960" y="1696212"/>
            <a:ext cx="1005840" cy="24688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Tickets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slot.wiring.1.system.2"/>
          <p:cNvSpPr/>
          <p:nvPr/>
        </p:nvSpPr>
        <p:spPr>
          <a:xfrm>
            <a:off x="7680960" y="2031797"/>
            <a:ext cx="1005840" cy="24688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Billing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slot.wiring.1.system.3"/>
          <p:cNvSpPr/>
          <p:nvPr/>
        </p:nvSpPr>
        <p:spPr>
          <a:xfrm>
            <a:off x="7680960" y="2367382"/>
            <a:ext cx="1005840" cy="24688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Orders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slot.wiring.1.system.4"/>
          <p:cNvSpPr/>
          <p:nvPr/>
        </p:nvSpPr>
        <p:spPr>
          <a:xfrm>
            <a:off x="7680960" y="2702966"/>
            <a:ext cx="1005840" cy="24688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CRM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lot.wiring.1.system.5"/>
          <p:cNvSpPr/>
          <p:nvPr/>
        </p:nvSpPr>
        <p:spPr>
          <a:xfrm>
            <a:off x="7680960" y="3038551"/>
            <a:ext cx="1005840" cy="24688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Telephony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slot.wiring.1.system.6"/>
          <p:cNvSpPr/>
          <p:nvPr/>
        </p:nvSpPr>
        <p:spPr>
          <a:xfrm>
            <a:off x="7680960" y="3374136"/>
            <a:ext cx="1005840" cy="24688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Documents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8" name="struct.wiring.1.link.1.1"/>
          <p:cNvCxnSpPr/>
          <p:nvPr/>
        </p:nvCxnSpPr>
        <p:spPr>
          <a:xfrm>
            <a:off x="6217920" y="1819656"/>
            <a:ext cx="1463040" cy="0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59" name="struct.wiring.1.link.1.2"/>
          <p:cNvCxnSpPr/>
          <p:nvPr/>
        </p:nvCxnSpPr>
        <p:spPr>
          <a:xfrm>
            <a:off x="6217920" y="1819656"/>
            <a:ext cx="1463040" cy="335585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60" name="struct.wiring.1.link.1.3"/>
          <p:cNvCxnSpPr/>
          <p:nvPr/>
        </p:nvCxnSpPr>
        <p:spPr>
          <a:xfrm>
            <a:off x="6217920" y="1819656"/>
            <a:ext cx="1463040" cy="671170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61" name="struct.wiring.1.link.1.4"/>
          <p:cNvCxnSpPr/>
          <p:nvPr/>
        </p:nvCxnSpPr>
        <p:spPr>
          <a:xfrm>
            <a:off x="6217920" y="1819656"/>
            <a:ext cx="1463040" cy="1006754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62" name="struct.wiring.1.link.1.5"/>
          <p:cNvCxnSpPr/>
          <p:nvPr/>
        </p:nvCxnSpPr>
        <p:spPr>
          <a:xfrm>
            <a:off x="6217920" y="1819656"/>
            <a:ext cx="1463040" cy="1342339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63" name="struct.wiring.1.link.1.6"/>
          <p:cNvCxnSpPr/>
          <p:nvPr/>
        </p:nvCxnSpPr>
        <p:spPr>
          <a:xfrm>
            <a:off x="6217920" y="1819656"/>
            <a:ext cx="1463040" cy="1677924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64" name="struct.wiring.1.link.2.1"/>
          <p:cNvCxnSpPr/>
          <p:nvPr/>
        </p:nvCxnSpPr>
        <p:spPr>
          <a:xfrm flipV="1">
            <a:off x="6217920" y="1819656"/>
            <a:ext cx="1463040" cy="239703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65" name="struct.wiring.1.link.2.2"/>
          <p:cNvCxnSpPr/>
          <p:nvPr/>
        </p:nvCxnSpPr>
        <p:spPr>
          <a:xfrm>
            <a:off x="6217920" y="2059359"/>
            <a:ext cx="1463040" cy="95882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66" name="struct.wiring.1.link.2.3"/>
          <p:cNvCxnSpPr/>
          <p:nvPr/>
        </p:nvCxnSpPr>
        <p:spPr>
          <a:xfrm>
            <a:off x="6217920" y="2059359"/>
            <a:ext cx="1463040" cy="431467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67" name="struct.wiring.1.link.2.4"/>
          <p:cNvCxnSpPr/>
          <p:nvPr/>
        </p:nvCxnSpPr>
        <p:spPr>
          <a:xfrm>
            <a:off x="6217920" y="2059359"/>
            <a:ext cx="1463040" cy="767051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68" name="struct.wiring.1.link.2.5"/>
          <p:cNvCxnSpPr/>
          <p:nvPr/>
        </p:nvCxnSpPr>
        <p:spPr>
          <a:xfrm>
            <a:off x="6217920" y="2059359"/>
            <a:ext cx="1463040" cy="1102636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69" name="struct.wiring.1.link.2.6"/>
          <p:cNvCxnSpPr/>
          <p:nvPr/>
        </p:nvCxnSpPr>
        <p:spPr>
          <a:xfrm>
            <a:off x="6217920" y="2059359"/>
            <a:ext cx="1463040" cy="1438221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70" name="struct.wiring.1.link.3.1"/>
          <p:cNvCxnSpPr/>
          <p:nvPr/>
        </p:nvCxnSpPr>
        <p:spPr>
          <a:xfrm flipV="1">
            <a:off x="6217920" y="1819656"/>
            <a:ext cx="1463040" cy="479407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71" name="struct.wiring.1.link.3.2"/>
          <p:cNvCxnSpPr/>
          <p:nvPr/>
        </p:nvCxnSpPr>
        <p:spPr>
          <a:xfrm flipV="1">
            <a:off x="6217920" y="2155241"/>
            <a:ext cx="1463040" cy="143822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72" name="struct.wiring.1.link.3.3"/>
          <p:cNvCxnSpPr/>
          <p:nvPr/>
        </p:nvCxnSpPr>
        <p:spPr>
          <a:xfrm>
            <a:off x="6217920" y="2299063"/>
            <a:ext cx="1463040" cy="191763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73" name="struct.wiring.1.link.3.4"/>
          <p:cNvCxnSpPr/>
          <p:nvPr/>
        </p:nvCxnSpPr>
        <p:spPr>
          <a:xfrm>
            <a:off x="6217920" y="2299063"/>
            <a:ext cx="1463040" cy="527347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74" name="struct.wiring.1.link.3.5"/>
          <p:cNvCxnSpPr/>
          <p:nvPr/>
        </p:nvCxnSpPr>
        <p:spPr>
          <a:xfrm>
            <a:off x="6217920" y="2299063"/>
            <a:ext cx="1463040" cy="862932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75" name="struct.wiring.1.link.3.6"/>
          <p:cNvCxnSpPr/>
          <p:nvPr/>
        </p:nvCxnSpPr>
        <p:spPr>
          <a:xfrm>
            <a:off x="6217920" y="2299063"/>
            <a:ext cx="1463040" cy="1198517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76" name="struct.wiring.1.link.4.1"/>
          <p:cNvCxnSpPr/>
          <p:nvPr/>
        </p:nvCxnSpPr>
        <p:spPr>
          <a:xfrm flipV="1">
            <a:off x="6217920" y="1819656"/>
            <a:ext cx="1463040" cy="719110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77" name="struct.wiring.1.link.4.2"/>
          <p:cNvCxnSpPr/>
          <p:nvPr/>
        </p:nvCxnSpPr>
        <p:spPr>
          <a:xfrm flipV="1">
            <a:off x="6217920" y="2155241"/>
            <a:ext cx="1463040" cy="383525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78" name="struct.wiring.1.link.4.3"/>
          <p:cNvCxnSpPr/>
          <p:nvPr/>
        </p:nvCxnSpPr>
        <p:spPr>
          <a:xfrm flipV="1">
            <a:off x="6217920" y="2490826"/>
            <a:ext cx="1463040" cy="47940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79" name="struct.wiring.1.link.4.4"/>
          <p:cNvCxnSpPr/>
          <p:nvPr/>
        </p:nvCxnSpPr>
        <p:spPr>
          <a:xfrm>
            <a:off x="6217920" y="2538766"/>
            <a:ext cx="1463040" cy="287644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80" name="struct.wiring.1.link.4.5"/>
          <p:cNvCxnSpPr/>
          <p:nvPr/>
        </p:nvCxnSpPr>
        <p:spPr>
          <a:xfrm>
            <a:off x="6217920" y="2538766"/>
            <a:ext cx="1463040" cy="623229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81" name="struct.wiring.1.link.4.6"/>
          <p:cNvCxnSpPr/>
          <p:nvPr/>
        </p:nvCxnSpPr>
        <p:spPr>
          <a:xfrm>
            <a:off x="6217920" y="2538766"/>
            <a:ext cx="1463040" cy="958814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82" name="struct.wiring.1.link.5.1"/>
          <p:cNvCxnSpPr/>
          <p:nvPr/>
        </p:nvCxnSpPr>
        <p:spPr>
          <a:xfrm flipV="1">
            <a:off x="6217920" y="1819656"/>
            <a:ext cx="1463040" cy="958814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83" name="struct.wiring.1.link.5.2"/>
          <p:cNvCxnSpPr/>
          <p:nvPr/>
        </p:nvCxnSpPr>
        <p:spPr>
          <a:xfrm flipV="1">
            <a:off x="6217920" y="2155241"/>
            <a:ext cx="1463040" cy="623229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84" name="struct.wiring.1.link.5.3"/>
          <p:cNvCxnSpPr/>
          <p:nvPr/>
        </p:nvCxnSpPr>
        <p:spPr>
          <a:xfrm flipV="1">
            <a:off x="6217920" y="2490826"/>
            <a:ext cx="1463040" cy="287644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85" name="struct.wiring.1.link.5.4"/>
          <p:cNvCxnSpPr/>
          <p:nvPr/>
        </p:nvCxnSpPr>
        <p:spPr>
          <a:xfrm>
            <a:off x="6217920" y="2778470"/>
            <a:ext cx="1463040" cy="47940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86" name="struct.wiring.1.link.5.5"/>
          <p:cNvCxnSpPr/>
          <p:nvPr/>
        </p:nvCxnSpPr>
        <p:spPr>
          <a:xfrm>
            <a:off x="6217920" y="2778470"/>
            <a:ext cx="1463040" cy="383525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87" name="struct.wiring.1.link.5.6"/>
          <p:cNvCxnSpPr/>
          <p:nvPr/>
        </p:nvCxnSpPr>
        <p:spPr>
          <a:xfrm>
            <a:off x="6217920" y="2778470"/>
            <a:ext cx="1463040" cy="719110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88" name="struct.wiring.1.link.6.1"/>
          <p:cNvCxnSpPr/>
          <p:nvPr/>
        </p:nvCxnSpPr>
        <p:spPr>
          <a:xfrm flipV="1">
            <a:off x="6217920" y="1819656"/>
            <a:ext cx="1463040" cy="1198517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89" name="struct.wiring.1.link.6.2"/>
          <p:cNvCxnSpPr/>
          <p:nvPr/>
        </p:nvCxnSpPr>
        <p:spPr>
          <a:xfrm flipV="1">
            <a:off x="6217920" y="2155241"/>
            <a:ext cx="1463040" cy="862932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90" name="struct.wiring.1.link.6.3"/>
          <p:cNvCxnSpPr/>
          <p:nvPr/>
        </p:nvCxnSpPr>
        <p:spPr>
          <a:xfrm flipV="1">
            <a:off x="6217920" y="2490826"/>
            <a:ext cx="1463040" cy="527347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91" name="struct.wiring.1.link.6.4"/>
          <p:cNvCxnSpPr/>
          <p:nvPr/>
        </p:nvCxnSpPr>
        <p:spPr>
          <a:xfrm flipV="1">
            <a:off x="6217920" y="2826410"/>
            <a:ext cx="1463040" cy="191763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92" name="struct.wiring.1.link.6.5"/>
          <p:cNvCxnSpPr/>
          <p:nvPr/>
        </p:nvCxnSpPr>
        <p:spPr>
          <a:xfrm>
            <a:off x="6217920" y="3018173"/>
            <a:ext cx="1463040" cy="143822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93" name="struct.wiring.1.link.6.6"/>
          <p:cNvCxnSpPr/>
          <p:nvPr/>
        </p:nvCxnSpPr>
        <p:spPr>
          <a:xfrm>
            <a:off x="6217920" y="3018173"/>
            <a:ext cx="1463040" cy="479407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94" name="struct.wiring.1.link.7.1"/>
          <p:cNvCxnSpPr/>
          <p:nvPr/>
        </p:nvCxnSpPr>
        <p:spPr>
          <a:xfrm flipV="1">
            <a:off x="6217920" y="1819656"/>
            <a:ext cx="1463040" cy="1438221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95" name="struct.wiring.1.link.7.2"/>
          <p:cNvCxnSpPr/>
          <p:nvPr/>
        </p:nvCxnSpPr>
        <p:spPr>
          <a:xfrm flipV="1">
            <a:off x="6217920" y="2155241"/>
            <a:ext cx="1463040" cy="1102636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96" name="struct.wiring.1.link.7.3"/>
          <p:cNvCxnSpPr/>
          <p:nvPr/>
        </p:nvCxnSpPr>
        <p:spPr>
          <a:xfrm flipV="1">
            <a:off x="6217920" y="2490826"/>
            <a:ext cx="1463040" cy="767051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97" name="struct.wiring.1.link.7.4"/>
          <p:cNvCxnSpPr/>
          <p:nvPr/>
        </p:nvCxnSpPr>
        <p:spPr>
          <a:xfrm flipV="1">
            <a:off x="6217920" y="2826410"/>
            <a:ext cx="1463040" cy="431467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98" name="struct.wiring.1.link.7.5"/>
          <p:cNvCxnSpPr/>
          <p:nvPr/>
        </p:nvCxnSpPr>
        <p:spPr>
          <a:xfrm flipV="1">
            <a:off x="6217920" y="3161995"/>
            <a:ext cx="1463040" cy="95882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99" name="struct.wiring.1.link.7.6"/>
          <p:cNvCxnSpPr/>
          <p:nvPr/>
        </p:nvCxnSpPr>
        <p:spPr>
          <a:xfrm>
            <a:off x="6217920" y="3257877"/>
            <a:ext cx="1463040" cy="239703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100" name="struct.wiring.1.link.8.1"/>
          <p:cNvCxnSpPr/>
          <p:nvPr/>
        </p:nvCxnSpPr>
        <p:spPr>
          <a:xfrm flipV="1">
            <a:off x="6217920" y="1819656"/>
            <a:ext cx="1463040" cy="1677924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101" name="struct.wiring.1.link.8.2"/>
          <p:cNvCxnSpPr/>
          <p:nvPr/>
        </p:nvCxnSpPr>
        <p:spPr>
          <a:xfrm flipV="1">
            <a:off x="6217920" y="2155241"/>
            <a:ext cx="1463040" cy="1342339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102" name="struct.wiring.1.link.8.3"/>
          <p:cNvCxnSpPr/>
          <p:nvPr/>
        </p:nvCxnSpPr>
        <p:spPr>
          <a:xfrm flipV="1">
            <a:off x="6217920" y="2490826"/>
            <a:ext cx="1463040" cy="1006754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103" name="struct.wiring.1.link.8.4"/>
          <p:cNvCxnSpPr/>
          <p:nvPr/>
        </p:nvCxnSpPr>
        <p:spPr>
          <a:xfrm flipV="1">
            <a:off x="6217920" y="2826410"/>
            <a:ext cx="1463040" cy="671170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104" name="struct.wiring.1.link.8.5"/>
          <p:cNvCxnSpPr/>
          <p:nvPr/>
        </p:nvCxnSpPr>
        <p:spPr>
          <a:xfrm flipV="1">
            <a:off x="6217920" y="3161995"/>
            <a:ext cx="1463040" cy="335585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105" name="struct.wiring.1.link.8.6"/>
          <p:cNvCxnSpPr/>
          <p:nvPr/>
        </p:nvCxnSpPr>
        <p:spPr>
          <a:xfrm>
            <a:off x="6217920" y="3497580"/>
            <a:ext cx="1463040" cy="0"/>
          </a:xfrm>
          <a:prstGeom prst="line">
            <a:avLst/>
          </a:prstGeom>
          <a:ln w="6350">
            <a:solidFill>
              <a:schemeClr val="bg1">
                <a:lumMod val="55000"/>
              </a:schemeClr>
            </a:solidFill>
          </a:ln>
          <a:effectLst/>
        </p:spPr>
      </p:cxnSp>
      <p:grpSp>
        <p:nvGrpSpPr>
          <p:cNvPr id="106" name="slot.wiring.1.stat"/>
          <p:cNvGrpSpPr/>
          <p:nvPr/>
        </p:nvGrpSpPr>
        <p:grpSpPr>
          <a:xfrm>
            <a:off x="9208008" y="2018538"/>
            <a:ext cx="2368296" cy="1088357"/>
            <a:chOff x="9208008" y="2018538"/>
            <a:chExt cx="2368296" cy="1088357"/>
          </a:xfrm>
          <a:effectLst/>
        </p:grpSpPr>
        <p:sp>
          <p:nvSpPr>
            <p:cNvPr id="107" name="slot.wiring.1.stat.value"/>
            <p:cNvSpPr txBox="1"/>
            <p:nvPr/>
          </p:nvSpPr>
          <p:spPr>
            <a:xfrm>
              <a:off x="9208008" y="2018538"/>
              <a:ext cx="2368296" cy="621931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rPr>
                <a:t>48</a:t>
              </a:r>
              <a:endParaRPr lang="en-US" sz="4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108" name="slot.wiring.1.stat.rule"/>
            <p:cNvCxnSpPr/>
            <p:nvPr/>
          </p:nvCxnSpPr>
          <p:spPr>
            <a:xfrm>
              <a:off x="9208008" y="2686189"/>
              <a:ext cx="2368296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109" name="slot.wiring.1.stat.label"/>
            <p:cNvSpPr txBox="1"/>
            <p:nvPr/>
          </p:nvSpPr>
          <p:spPr>
            <a:xfrm>
              <a:off x="9208008" y="2741053"/>
              <a:ext cx="2368296" cy="36584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links to build and secure, 8 apps times 6 systems</a:t>
              </a:r>
              <a:endParaRPr lang="en-US" sz="12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10" name="struct.wiring.2"/>
          <p:cNvSpPr/>
          <p:nvPr/>
        </p:nvSpPr>
        <p:spPr>
          <a:xfrm>
            <a:off x="5897880" y="3826764"/>
            <a:ext cx="5897880" cy="2427732"/>
          </a:xfrm>
          <a:prstGeom prst="roundRect">
            <a:avLst>
              <a:gd name="adj" fmla="val 1883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</p:sp>
      <p:sp>
        <p:nvSpPr>
          <p:cNvPr id="111" name="slot.wiring.2.label"/>
          <p:cNvSpPr txBox="1"/>
          <p:nvPr/>
        </p:nvSpPr>
        <p:spPr>
          <a:xfrm>
            <a:off x="6099048" y="3954780"/>
            <a:ext cx="246888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Through a shared hub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slot.wiring.2.sub"/>
          <p:cNvSpPr txBox="1"/>
          <p:nvPr/>
        </p:nvSpPr>
        <p:spPr>
          <a:xfrm>
            <a:off x="8641080" y="3954780"/>
            <a:ext cx="293522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The same 8 apps and 6 systems</a:t>
            </a:r>
            <a:endParaRPr lang="en-US" sz="11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struct.hub"/>
          <p:cNvSpPr/>
          <p:nvPr/>
        </p:nvSpPr>
        <p:spPr>
          <a:xfrm>
            <a:off x="6720840" y="4283964"/>
            <a:ext cx="841248" cy="1897380"/>
          </a:xfrm>
          <a:prstGeom prst="roundRect">
            <a:avLst>
              <a:gd name="adj" fmla="val 5434"/>
            </a:avLst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114" name="slot.hub"/>
          <p:cNvSpPr txBox="1"/>
          <p:nvPr/>
        </p:nvSpPr>
        <p:spPr>
          <a:xfrm>
            <a:off x="6757416" y="4994910"/>
            <a:ext cx="768096" cy="47548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Shared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hub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struct.wiring.2.app.1"/>
          <p:cNvSpPr/>
          <p:nvPr/>
        </p:nvSpPr>
        <p:spPr>
          <a:xfrm>
            <a:off x="6126480" y="4347972"/>
            <a:ext cx="91440" cy="914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116" name="struct.wiring.2.app.2"/>
          <p:cNvSpPr/>
          <p:nvPr/>
        </p:nvSpPr>
        <p:spPr>
          <a:xfrm>
            <a:off x="6126480" y="4587675"/>
            <a:ext cx="91440" cy="914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117" name="struct.wiring.2.app.3"/>
          <p:cNvSpPr/>
          <p:nvPr/>
        </p:nvSpPr>
        <p:spPr>
          <a:xfrm>
            <a:off x="6126480" y="4827379"/>
            <a:ext cx="91440" cy="914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118" name="struct.wiring.2.app.4"/>
          <p:cNvSpPr/>
          <p:nvPr/>
        </p:nvSpPr>
        <p:spPr>
          <a:xfrm>
            <a:off x="6126480" y="5067082"/>
            <a:ext cx="91440" cy="914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119" name="struct.wiring.2.app.5"/>
          <p:cNvSpPr/>
          <p:nvPr/>
        </p:nvSpPr>
        <p:spPr>
          <a:xfrm>
            <a:off x="6126480" y="5306786"/>
            <a:ext cx="91440" cy="914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120" name="struct.wiring.2.app.6"/>
          <p:cNvSpPr/>
          <p:nvPr/>
        </p:nvSpPr>
        <p:spPr>
          <a:xfrm>
            <a:off x="6126480" y="5546489"/>
            <a:ext cx="91440" cy="914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121" name="struct.wiring.2.app.7"/>
          <p:cNvSpPr/>
          <p:nvPr/>
        </p:nvSpPr>
        <p:spPr>
          <a:xfrm>
            <a:off x="6126480" y="5786193"/>
            <a:ext cx="91440" cy="914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122" name="struct.wiring.2.app.8"/>
          <p:cNvSpPr/>
          <p:nvPr/>
        </p:nvSpPr>
        <p:spPr>
          <a:xfrm>
            <a:off x="6126480" y="6025896"/>
            <a:ext cx="91440" cy="914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123" name="slot.wiring.2.system.1"/>
          <p:cNvSpPr/>
          <p:nvPr/>
        </p:nvSpPr>
        <p:spPr>
          <a:xfrm>
            <a:off x="7927848" y="4270248"/>
            <a:ext cx="1005840" cy="24688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Tickets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slot.wiring.2.system.2"/>
          <p:cNvSpPr/>
          <p:nvPr/>
        </p:nvSpPr>
        <p:spPr>
          <a:xfrm>
            <a:off x="7927848" y="4605833"/>
            <a:ext cx="1005840" cy="24688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Billing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slot.wiring.2.system.3"/>
          <p:cNvSpPr/>
          <p:nvPr/>
        </p:nvSpPr>
        <p:spPr>
          <a:xfrm>
            <a:off x="7927848" y="4941418"/>
            <a:ext cx="1005840" cy="24688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Orders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slot.wiring.2.system.4"/>
          <p:cNvSpPr/>
          <p:nvPr/>
        </p:nvSpPr>
        <p:spPr>
          <a:xfrm>
            <a:off x="7927848" y="5277002"/>
            <a:ext cx="1005840" cy="24688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CRM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slot.wiring.2.system.5"/>
          <p:cNvSpPr/>
          <p:nvPr/>
        </p:nvSpPr>
        <p:spPr>
          <a:xfrm>
            <a:off x="7927848" y="5612587"/>
            <a:ext cx="1005840" cy="24688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Telephony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slot.wiring.2.system.6"/>
          <p:cNvSpPr/>
          <p:nvPr/>
        </p:nvSpPr>
        <p:spPr>
          <a:xfrm>
            <a:off x="7927848" y="5948172"/>
            <a:ext cx="1005840" cy="24688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Documents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29" name="struct.wiring.2.in.1"/>
          <p:cNvCxnSpPr/>
          <p:nvPr/>
        </p:nvCxnSpPr>
        <p:spPr>
          <a:xfrm>
            <a:off x="6217920" y="4393692"/>
            <a:ext cx="502920" cy="0"/>
          </a:xfrm>
          <a:prstGeom prst="line">
            <a:avLst/>
          </a:prstGeom>
          <a:ln w="12700">
            <a:solidFill>
              <a:schemeClr val="accent1"/>
            </a:solidFill>
            <a:tailEnd type="triangle" w="med" len="med"/>
          </a:ln>
          <a:effectLst/>
        </p:spPr>
      </p:cxnSp>
      <p:cxnSp>
        <p:nvCxnSpPr>
          <p:cNvPr id="130" name="struct.wiring.2.in.2"/>
          <p:cNvCxnSpPr/>
          <p:nvPr/>
        </p:nvCxnSpPr>
        <p:spPr>
          <a:xfrm>
            <a:off x="6217920" y="4633395"/>
            <a:ext cx="502920" cy="0"/>
          </a:xfrm>
          <a:prstGeom prst="line">
            <a:avLst/>
          </a:prstGeom>
          <a:ln w="12700">
            <a:solidFill>
              <a:schemeClr val="accent1"/>
            </a:solidFill>
            <a:tailEnd type="triangle" w="med" len="med"/>
          </a:ln>
          <a:effectLst/>
        </p:spPr>
      </p:cxnSp>
      <p:cxnSp>
        <p:nvCxnSpPr>
          <p:cNvPr id="131" name="struct.wiring.2.in.3"/>
          <p:cNvCxnSpPr/>
          <p:nvPr/>
        </p:nvCxnSpPr>
        <p:spPr>
          <a:xfrm>
            <a:off x="6217920" y="4873099"/>
            <a:ext cx="502920" cy="0"/>
          </a:xfrm>
          <a:prstGeom prst="line">
            <a:avLst/>
          </a:prstGeom>
          <a:ln w="12700">
            <a:solidFill>
              <a:schemeClr val="accent1"/>
            </a:solidFill>
            <a:tailEnd type="triangle" w="med" len="med"/>
          </a:ln>
          <a:effectLst/>
        </p:spPr>
      </p:cxnSp>
      <p:cxnSp>
        <p:nvCxnSpPr>
          <p:cNvPr id="132" name="struct.wiring.2.in.4"/>
          <p:cNvCxnSpPr/>
          <p:nvPr/>
        </p:nvCxnSpPr>
        <p:spPr>
          <a:xfrm>
            <a:off x="6217920" y="5112802"/>
            <a:ext cx="502920" cy="0"/>
          </a:xfrm>
          <a:prstGeom prst="line">
            <a:avLst/>
          </a:prstGeom>
          <a:ln w="12700">
            <a:solidFill>
              <a:schemeClr val="accent1"/>
            </a:solidFill>
            <a:tailEnd type="triangle" w="med" len="med"/>
          </a:ln>
          <a:effectLst/>
        </p:spPr>
      </p:cxnSp>
      <p:cxnSp>
        <p:nvCxnSpPr>
          <p:cNvPr id="133" name="struct.wiring.2.in.5"/>
          <p:cNvCxnSpPr/>
          <p:nvPr/>
        </p:nvCxnSpPr>
        <p:spPr>
          <a:xfrm>
            <a:off x="6217920" y="5352506"/>
            <a:ext cx="502920" cy="0"/>
          </a:xfrm>
          <a:prstGeom prst="line">
            <a:avLst/>
          </a:prstGeom>
          <a:ln w="12700">
            <a:solidFill>
              <a:schemeClr val="accent1"/>
            </a:solidFill>
            <a:tailEnd type="triangle" w="med" len="med"/>
          </a:ln>
          <a:effectLst/>
        </p:spPr>
      </p:cxnSp>
      <p:cxnSp>
        <p:nvCxnSpPr>
          <p:cNvPr id="134" name="struct.wiring.2.in.6"/>
          <p:cNvCxnSpPr/>
          <p:nvPr/>
        </p:nvCxnSpPr>
        <p:spPr>
          <a:xfrm>
            <a:off x="6217920" y="5592209"/>
            <a:ext cx="502920" cy="0"/>
          </a:xfrm>
          <a:prstGeom prst="line">
            <a:avLst/>
          </a:prstGeom>
          <a:ln w="12700">
            <a:solidFill>
              <a:schemeClr val="accent1"/>
            </a:solidFill>
            <a:tailEnd type="triangle" w="med" len="med"/>
          </a:ln>
          <a:effectLst/>
        </p:spPr>
      </p:cxnSp>
      <p:cxnSp>
        <p:nvCxnSpPr>
          <p:cNvPr id="135" name="struct.wiring.2.in.7"/>
          <p:cNvCxnSpPr/>
          <p:nvPr/>
        </p:nvCxnSpPr>
        <p:spPr>
          <a:xfrm>
            <a:off x="6217920" y="5831913"/>
            <a:ext cx="502920" cy="0"/>
          </a:xfrm>
          <a:prstGeom prst="line">
            <a:avLst/>
          </a:prstGeom>
          <a:ln w="12700">
            <a:solidFill>
              <a:schemeClr val="accent1"/>
            </a:solidFill>
            <a:tailEnd type="triangle" w="med" len="med"/>
          </a:ln>
          <a:effectLst/>
        </p:spPr>
      </p:cxnSp>
      <p:cxnSp>
        <p:nvCxnSpPr>
          <p:cNvPr id="136" name="struct.wiring.2.in.8"/>
          <p:cNvCxnSpPr/>
          <p:nvPr/>
        </p:nvCxnSpPr>
        <p:spPr>
          <a:xfrm>
            <a:off x="6217920" y="6071616"/>
            <a:ext cx="502920" cy="0"/>
          </a:xfrm>
          <a:prstGeom prst="line">
            <a:avLst/>
          </a:prstGeom>
          <a:ln w="12700">
            <a:solidFill>
              <a:schemeClr val="accent1"/>
            </a:solidFill>
            <a:tailEnd type="triangle" w="med" len="med"/>
          </a:ln>
          <a:effectLst/>
        </p:spPr>
      </p:cxnSp>
      <p:cxnSp>
        <p:nvCxnSpPr>
          <p:cNvPr id="137" name="struct.wiring.2.out.1"/>
          <p:cNvCxnSpPr/>
          <p:nvPr/>
        </p:nvCxnSpPr>
        <p:spPr>
          <a:xfrm flipH="1">
            <a:off x="7562088" y="4393692"/>
            <a:ext cx="365760" cy="0"/>
          </a:xfrm>
          <a:prstGeom prst="line">
            <a:avLst/>
          </a:prstGeom>
          <a:ln w="12700">
            <a:solidFill>
              <a:schemeClr val="accent1"/>
            </a:solidFill>
            <a:tailEnd type="triangle" w="med" len="med"/>
          </a:ln>
          <a:effectLst/>
        </p:spPr>
      </p:cxnSp>
      <p:cxnSp>
        <p:nvCxnSpPr>
          <p:cNvPr id="138" name="struct.wiring.2.out.2"/>
          <p:cNvCxnSpPr/>
          <p:nvPr/>
        </p:nvCxnSpPr>
        <p:spPr>
          <a:xfrm flipH="1">
            <a:off x="7562088" y="4729277"/>
            <a:ext cx="365760" cy="0"/>
          </a:xfrm>
          <a:prstGeom prst="line">
            <a:avLst/>
          </a:prstGeom>
          <a:ln w="12700">
            <a:solidFill>
              <a:schemeClr val="accent1"/>
            </a:solidFill>
            <a:tailEnd type="triangle" w="med" len="med"/>
          </a:ln>
          <a:effectLst/>
        </p:spPr>
      </p:cxnSp>
      <p:cxnSp>
        <p:nvCxnSpPr>
          <p:cNvPr id="139" name="struct.wiring.2.out.3"/>
          <p:cNvCxnSpPr/>
          <p:nvPr/>
        </p:nvCxnSpPr>
        <p:spPr>
          <a:xfrm flipH="1">
            <a:off x="7562088" y="5064862"/>
            <a:ext cx="365760" cy="0"/>
          </a:xfrm>
          <a:prstGeom prst="line">
            <a:avLst/>
          </a:prstGeom>
          <a:ln w="12700">
            <a:solidFill>
              <a:schemeClr val="accent1"/>
            </a:solidFill>
            <a:tailEnd type="triangle" w="med" len="med"/>
          </a:ln>
          <a:effectLst/>
        </p:spPr>
      </p:cxnSp>
      <p:cxnSp>
        <p:nvCxnSpPr>
          <p:cNvPr id="140" name="struct.wiring.2.out.4"/>
          <p:cNvCxnSpPr/>
          <p:nvPr/>
        </p:nvCxnSpPr>
        <p:spPr>
          <a:xfrm flipH="1">
            <a:off x="7562088" y="5400446"/>
            <a:ext cx="365760" cy="0"/>
          </a:xfrm>
          <a:prstGeom prst="line">
            <a:avLst/>
          </a:prstGeom>
          <a:ln w="12700">
            <a:solidFill>
              <a:schemeClr val="accent1"/>
            </a:solidFill>
            <a:tailEnd type="triangle" w="med" len="med"/>
          </a:ln>
          <a:effectLst/>
        </p:spPr>
      </p:cxnSp>
      <p:cxnSp>
        <p:nvCxnSpPr>
          <p:cNvPr id="141" name="struct.wiring.2.out.5"/>
          <p:cNvCxnSpPr/>
          <p:nvPr/>
        </p:nvCxnSpPr>
        <p:spPr>
          <a:xfrm flipH="1">
            <a:off x="7562088" y="5736031"/>
            <a:ext cx="365760" cy="0"/>
          </a:xfrm>
          <a:prstGeom prst="line">
            <a:avLst/>
          </a:prstGeom>
          <a:ln w="12700">
            <a:solidFill>
              <a:schemeClr val="accent1"/>
            </a:solidFill>
            <a:tailEnd type="triangle" w="med" len="med"/>
          </a:ln>
          <a:effectLst/>
        </p:spPr>
      </p:cxnSp>
      <p:cxnSp>
        <p:nvCxnSpPr>
          <p:cNvPr id="142" name="struct.wiring.2.out.6"/>
          <p:cNvCxnSpPr/>
          <p:nvPr/>
        </p:nvCxnSpPr>
        <p:spPr>
          <a:xfrm flipH="1">
            <a:off x="7562088" y="6071616"/>
            <a:ext cx="365760" cy="0"/>
          </a:xfrm>
          <a:prstGeom prst="line">
            <a:avLst/>
          </a:prstGeom>
          <a:ln w="12700">
            <a:solidFill>
              <a:schemeClr val="accent1"/>
            </a:solidFill>
            <a:tailEnd type="triangle" w="med" len="med"/>
          </a:ln>
          <a:effectLst/>
        </p:spPr>
      </p:cxnSp>
      <p:grpSp>
        <p:nvGrpSpPr>
          <p:cNvPr id="143" name="slot.wiring.2.stat"/>
          <p:cNvGrpSpPr/>
          <p:nvPr/>
        </p:nvGrpSpPr>
        <p:grpSpPr>
          <a:xfrm>
            <a:off x="9208008" y="4592574"/>
            <a:ext cx="2368296" cy="1271278"/>
            <a:chOff x="9208008" y="4592574"/>
            <a:chExt cx="2368296" cy="1271278"/>
          </a:xfrm>
          <a:effectLst/>
        </p:grpSpPr>
        <p:sp>
          <p:nvSpPr>
            <p:cNvPr id="144" name="slot.wiring.2.stat.value"/>
            <p:cNvSpPr txBox="1"/>
            <p:nvPr/>
          </p:nvSpPr>
          <p:spPr>
            <a:xfrm>
              <a:off x="9208008" y="4592574"/>
              <a:ext cx="2368296" cy="621931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14</a:t>
              </a:r>
              <a:endParaRPr lang="en-US" sz="4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145" name="slot.wiring.2.stat.rule"/>
            <p:cNvCxnSpPr/>
            <p:nvPr/>
          </p:nvCxnSpPr>
          <p:spPr>
            <a:xfrm>
              <a:off x="9208008" y="5260225"/>
              <a:ext cx="2368296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146" name="slot.wiring.2.stat.label"/>
            <p:cNvSpPr txBox="1"/>
            <p:nvPr/>
          </p:nvSpPr>
          <p:spPr>
            <a:xfrm>
              <a:off x="9208008" y="5315089"/>
              <a:ext cx="2368296" cy="548763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links, one per app and one per system, each secured once</a:t>
              </a:r>
              <a:endParaRPr lang="en-US" sz="12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47" name="slot.basis"/>
          <p:cNvSpPr txBox="1"/>
          <p:nvPr/>
        </p:nvSpPr>
        <p:spPr>
          <a:xfrm>
            <a:off x="9208008" y="5907024"/>
            <a:ext cx="2368296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Illustrative figures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redentials:scale-band-ring-footprint">
    <p:spTree>
      <p:nvGrpSpPr>
        <p:cNvPr id="1" name=""/>
        <p:cNvGrpSpPr/>
        <p:nvPr/>
      </p:nvGrpSpPr>
      <p:grpSpPr/>
      <p:sp>
        <p:nvSpPr>
          <p:cNvPr id="2" name="slot.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 data and AI engineering partner with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twelve years of enterprise delivery</a:t>
            </a:r>
            <a:endParaRPr lang="en-US" sz="2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ot.left.head"/>
          <p:cNvSpPr txBox="1"/>
          <p:nvPr/>
        </p:nvSpPr>
        <p:spPr>
          <a:xfrm>
            <a:off x="457200" y="2048256"/>
            <a:ext cx="1920240" cy="292608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Depth by discipline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truct.panel"/>
          <p:cNvSpPr/>
          <p:nvPr/>
        </p:nvSpPr>
        <p:spPr>
          <a:xfrm>
            <a:off x="4443984" y="2432304"/>
            <a:ext cx="1773936" cy="3090672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5" name="struct.divider"/>
          <p:cNvCxnSpPr>
            <a:cxnSpLocks/>
          </p:cNvCxnSpPr>
          <p:nvPr/>
        </p:nvCxnSpPr>
        <p:spPr>
          <a:xfrm>
            <a:off x="6455664" y="2048256"/>
            <a:ext cx="0" cy="3456431"/>
          </a:xfrm>
          <a:prstGeom prst="line">
            <a:avLst/>
          </a:prstGeom>
          <a:ln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sp>
        <p:nvSpPr>
          <p:cNvPr id="6" name="slot.partners.head"/>
          <p:cNvSpPr txBox="1"/>
          <p:nvPr/>
        </p:nvSpPr>
        <p:spPr>
          <a:xfrm>
            <a:off x="457200" y="5650992"/>
            <a:ext cx="1920240" cy="603504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Technology partners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Six certified platforms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" name="struct.partners.rule"/>
          <p:cNvCxnSpPr>
            <a:cxnSpLocks/>
          </p:cNvCxnSpPr>
          <p:nvPr/>
        </p:nvCxnSpPr>
        <p:spPr>
          <a:xfrm>
            <a:off x="457200" y="5605272"/>
            <a:ext cx="11338560" cy="0"/>
          </a:xfrm>
          <a:prstGeom prst="line">
            <a:avLst/>
          </a:prstGeom>
          <a:ln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cxnSp>
        <p:nvCxnSpPr>
          <p:cNvPr id="8" name="struct.partners.divider"/>
          <p:cNvCxnSpPr>
            <a:cxnSpLocks/>
          </p:cNvCxnSpPr>
          <p:nvPr/>
        </p:nvCxnSpPr>
        <p:spPr>
          <a:xfrm flipV="1">
            <a:off x="2487168" y="5687568"/>
            <a:ext cx="0" cy="457200"/>
          </a:xfrm>
          <a:prstGeom prst="line">
            <a:avLst/>
          </a:prstGeom>
          <a:effectLst/>
        </p:spPr>
      </p:cxnSp>
      <p:sp>
        <p:nvSpPr>
          <p:cNvPr id="9" name="struct.band"/>
          <p:cNvSpPr/>
          <p:nvPr/>
        </p:nvSpPr>
        <p:spPr>
          <a:xfrm>
            <a:off x="457200" y="859536"/>
            <a:ext cx="11338560" cy="969264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10" name="struct.band.rule.1"/>
          <p:cNvCxnSpPr>
            <a:cxnSpLocks/>
          </p:cNvCxnSpPr>
          <p:nvPr/>
        </p:nvCxnSpPr>
        <p:spPr>
          <a:xfrm>
            <a:off x="2724912" y="1060704"/>
            <a:ext cx="0" cy="56692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1" name="struct.band.rule.2"/>
          <p:cNvCxnSpPr>
            <a:cxnSpLocks/>
          </p:cNvCxnSpPr>
          <p:nvPr/>
        </p:nvCxnSpPr>
        <p:spPr>
          <a:xfrm>
            <a:off x="4992624" y="1060704"/>
            <a:ext cx="0" cy="56692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2" name="struct.band.rule.3"/>
          <p:cNvCxnSpPr>
            <a:cxnSpLocks/>
          </p:cNvCxnSpPr>
          <p:nvPr/>
        </p:nvCxnSpPr>
        <p:spPr>
          <a:xfrm>
            <a:off x="7260336" y="1060704"/>
            <a:ext cx="0" cy="56692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3" name="struct.band.rule.4"/>
          <p:cNvCxnSpPr>
            <a:cxnSpLocks/>
          </p:cNvCxnSpPr>
          <p:nvPr/>
        </p:nvCxnSpPr>
        <p:spPr>
          <a:xfrm>
            <a:off x="9528048" y="1060704"/>
            <a:ext cx="0" cy="56692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4" name="struct.left.rule"/>
          <p:cNvCxnSpPr>
            <a:cxnSpLocks/>
          </p:cNvCxnSpPr>
          <p:nvPr/>
        </p:nvCxnSpPr>
        <p:spPr>
          <a:xfrm>
            <a:off x="2432304" y="2194560"/>
            <a:ext cx="3785615" cy="0"/>
          </a:xfrm>
          <a:prstGeom prst="line">
            <a:avLst/>
          </a:prstGeom>
          <a:effectLst/>
        </p:spPr>
      </p:cxnSp>
      <p:sp>
        <p:nvSpPr>
          <p:cNvPr id="15" name="slot.right.head"/>
          <p:cNvSpPr txBox="1"/>
          <p:nvPr/>
        </p:nvSpPr>
        <p:spPr>
          <a:xfrm>
            <a:off x="6693408" y="2048256"/>
            <a:ext cx="1920240" cy="292608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Delivery footprint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6" name="struct.right.rule"/>
          <p:cNvCxnSpPr>
            <a:cxnSpLocks/>
          </p:cNvCxnSpPr>
          <p:nvPr/>
        </p:nvCxnSpPr>
        <p:spPr>
          <a:xfrm>
            <a:off x="8595360" y="2194560"/>
            <a:ext cx="3200400" cy="0"/>
          </a:xfrm>
          <a:prstGeom prst="line">
            <a:avLst/>
          </a:prstGeom>
          <a:effectLst/>
        </p:spPr>
      </p:cxnSp>
      <p:cxnSp>
        <p:nvCxnSpPr>
          <p:cNvPr id="17" name="struct.foot.rule.1"/>
          <p:cNvCxnSpPr>
            <a:cxnSpLocks/>
          </p:cNvCxnSpPr>
          <p:nvPr/>
        </p:nvCxnSpPr>
        <p:spPr>
          <a:xfrm>
            <a:off x="8321040" y="2505456"/>
            <a:ext cx="0" cy="2999231"/>
          </a:xfrm>
          <a:prstGeom prst="line">
            <a:avLst/>
          </a:prstGeom>
          <a:ln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cxnSp>
        <p:nvCxnSpPr>
          <p:cNvPr id="18" name="struct.foot.rule.2"/>
          <p:cNvCxnSpPr>
            <a:cxnSpLocks/>
          </p:cNvCxnSpPr>
          <p:nvPr/>
        </p:nvCxnSpPr>
        <p:spPr>
          <a:xfrm>
            <a:off x="10094976" y="2505456"/>
            <a:ext cx="0" cy="2999231"/>
          </a:xfrm>
          <a:prstGeom prst="line">
            <a:avLst/>
          </a:prstGeom>
          <a:ln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sp>
        <p:nvSpPr>
          <p:cNvPr id="19" name="slot.basis"/>
          <p:cNvSpPr txBox="1"/>
          <p:nvPr/>
        </p:nvSpPr>
        <p:spPr>
          <a:xfrm>
            <a:off x="9052560" y="585216"/>
            <a:ext cx="2743200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Illustrative figures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lot.band.1.icon"/>
          <p:cNvSpPr/>
          <p:nvPr/>
        </p:nvSpPr>
        <p:spPr>
          <a:xfrm>
            <a:off x="676656" y="111556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38100" cap="rnd">
            <a:solidFill>
              <a:schemeClr val="bg1"/>
            </a:solidFill>
            <a:round/>
          </a:ln>
          <a:effectLst/>
        </p:spPr>
      </p:sp>
      <p:grpSp>
        <p:nvGrpSpPr>
          <p:cNvPr id="21" name="slot.band.1"/>
          <p:cNvGrpSpPr/>
          <p:nvPr/>
        </p:nvGrpSpPr>
        <p:grpSpPr>
          <a:xfrm>
            <a:off x="1261872" y="939924"/>
            <a:ext cx="1371600" cy="625567"/>
            <a:chOff x="1261872" y="939924"/>
            <a:chExt cx="1371600" cy="625567"/>
          </a:xfrm>
          <a:effectLst/>
        </p:grpSpPr>
        <p:sp>
          <p:nvSpPr>
            <p:cNvPr id="22" name="slot.band.1.value"/>
            <p:cNvSpPr txBox="1"/>
            <p:nvPr/>
          </p:nvSpPr>
          <p:spPr>
            <a:xfrm>
              <a:off x="1261872" y="939924"/>
              <a:ext cx="1371600" cy="34206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40+</a:t>
              </a:r>
              <a:endParaRPr lang="en-US" sz="2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23" name="slot.band.1.rule"/>
            <p:cNvCxnSpPr/>
            <p:nvPr/>
          </p:nvCxnSpPr>
          <p:spPr>
            <a:xfrm>
              <a:off x="1261872" y="1327706"/>
              <a:ext cx="13716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24" name="slot.band.1.label"/>
            <p:cNvSpPr txBox="1"/>
            <p:nvPr/>
          </p:nvSpPr>
          <p:spPr>
            <a:xfrm>
              <a:off x="1261872" y="1382570"/>
              <a:ext cx="1371600" cy="182921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Enterprise clients</a:t>
              </a:r>
              <a:endParaRPr lang="en-US" sz="12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5" name="slot.band.2.icon"/>
          <p:cNvSpPr/>
          <p:nvPr/>
        </p:nvSpPr>
        <p:spPr>
          <a:xfrm>
            <a:off x="2944368" y="111556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7000" y="2000"/>
                </a:moveTo>
                <a:lnTo>
                  <a:pt x="21000" y="6000"/>
                </a:lnTo>
                <a:lnTo>
                  <a:pt x="17000" y="10000"/>
                </a:lnTo>
                <a:moveTo>
                  <a:pt x="3000" y="11000"/>
                </a:moveTo>
                <a:lnTo>
                  <a:pt x="3000" y="10000"/>
                </a:lnTo>
                <a:cubicBezTo>
                  <a:pt x="3000" y="7791"/>
                  <a:pt x="4791" y="6000"/>
                  <a:pt x="7000" y="6000"/>
                </a:cubicBezTo>
                <a:lnTo>
                  <a:pt x="21000" y="6000"/>
                </a:lnTo>
                <a:moveTo>
                  <a:pt x="7000" y="22000"/>
                </a:moveTo>
                <a:lnTo>
                  <a:pt x="3000" y="18000"/>
                </a:lnTo>
                <a:lnTo>
                  <a:pt x="7000" y="14000"/>
                </a:lnTo>
                <a:moveTo>
                  <a:pt x="21000" y="13000"/>
                </a:moveTo>
                <a:lnTo>
                  <a:pt x="21000" y="14000"/>
                </a:lnTo>
                <a:cubicBezTo>
                  <a:pt x="21000" y="16209"/>
                  <a:pt x="19209" y="18000"/>
                  <a:pt x="17000" y="18000"/>
                </a:cubicBezTo>
                <a:lnTo>
                  <a:pt x="3000" y="18000"/>
                </a:lnTo>
              </a:path>
            </a:pathLst>
          </a:custGeom>
          <a:noFill/>
          <a:ln w="38100" cap="rnd">
            <a:solidFill>
              <a:schemeClr val="bg1"/>
            </a:solidFill>
            <a:round/>
          </a:ln>
          <a:effectLst/>
        </p:spPr>
      </p:sp>
      <p:grpSp>
        <p:nvGrpSpPr>
          <p:cNvPr id="26" name="slot.band.2"/>
          <p:cNvGrpSpPr/>
          <p:nvPr/>
        </p:nvGrpSpPr>
        <p:grpSpPr>
          <a:xfrm>
            <a:off x="3529584" y="939924"/>
            <a:ext cx="1371600" cy="625567"/>
            <a:chOff x="3529584" y="939924"/>
            <a:chExt cx="1371600" cy="625567"/>
          </a:xfrm>
          <a:effectLst/>
        </p:grpSpPr>
        <p:sp>
          <p:nvSpPr>
            <p:cNvPr id="27" name="slot.band.2.value"/>
            <p:cNvSpPr txBox="1"/>
            <p:nvPr/>
          </p:nvSpPr>
          <p:spPr>
            <a:xfrm>
              <a:off x="3529584" y="939924"/>
              <a:ext cx="1371600" cy="34206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85%</a:t>
              </a:r>
              <a:endParaRPr lang="en-US" sz="2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28" name="slot.band.2.rule"/>
            <p:cNvCxnSpPr/>
            <p:nvPr/>
          </p:nvCxnSpPr>
          <p:spPr>
            <a:xfrm>
              <a:off x="3529584" y="1327706"/>
              <a:ext cx="13716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29" name="slot.band.2.label"/>
            <p:cNvSpPr txBox="1"/>
            <p:nvPr/>
          </p:nvSpPr>
          <p:spPr>
            <a:xfrm>
              <a:off x="3529584" y="1382570"/>
              <a:ext cx="1371600" cy="182921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Repeat business</a:t>
              </a:r>
              <a:endParaRPr lang="en-US" sz="12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30" name="slot.band.3.icon"/>
          <p:cNvSpPr/>
          <p:nvPr/>
        </p:nvSpPr>
        <p:spPr>
          <a:xfrm>
            <a:off x="5212080" y="111556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5477" y="12890"/>
                </a:moveTo>
                <a:lnTo>
                  <a:pt x="16992" y="21416"/>
                </a:lnTo>
                <a:cubicBezTo>
                  <a:pt x="17027" y="21622"/>
                  <a:pt x="16930" y="21827"/>
                  <a:pt x="16750" y="21932"/>
                </a:cubicBezTo>
                <a:cubicBezTo>
                  <a:pt x="16570" y="22036"/>
                  <a:pt x="16343" y="22018"/>
                  <a:pt x="16182" y="21886"/>
                </a:cubicBezTo>
                <a:lnTo>
                  <a:pt x="12602" y="19199"/>
                </a:lnTo>
                <a:cubicBezTo>
                  <a:pt x="12247" y="18934"/>
                  <a:pt x="11760" y="18934"/>
                  <a:pt x="11405" y="19199"/>
                </a:cubicBezTo>
                <a:lnTo>
                  <a:pt x="7819" y="21885"/>
                </a:lnTo>
                <a:cubicBezTo>
                  <a:pt x="7658" y="22017"/>
                  <a:pt x="7432" y="22035"/>
                  <a:pt x="7252" y="21931"/>
                </a:cubicBezTo>
                <a:cubicBezTo>
                  <a:pt x="7071" y="21827"/>
                  <a:pt x="6975" y="21621"/>
                  <a:pt x="7009" y="21416"/>
                </a:cubicBezTo>
                <a:lnTo>
                  <a:pt x="8523" y="12890"/>
                </a:lnTo>
                <a:moveTo>
                  <a:pt x="18000" y="8000"/>
                </a:moveTo>
                <a:cubicBezTo>
                  <a:pt x="18000" y="11314"/>
                  <a:pt x="15314" y="14000"/>
                  <a:pt x="12000" y="14000"/>
                </a:cubicBezTo>
                <a:cubicBezTo>
                  <a:pt x="8686" y="14000"/>
                  <a:pt x="6000" y="11314"/>
                  <a:pt x="6000" y="8000"/>
                </a:cubicBezTo>
                <a:cubicBezTo>
                  <a:pt x="6000" y="4686"/>
                  <a:pt x="8686" y="2000"/>
                  <a:pt x="12000" y="2000"/>
                </a:cubicBezTo>
                <a:cubicBezTo>
                  <a:pt x="15314" y="2000"/>
                  <a:pt x="18000" y="4686"/>
                  <a:pt x="18000" y="8000"/>
                </a:cubicBezTo>
                <a:close/>
              </a:path>
            </a:pathLst>
          </a:custGeom>
          <a:noFill/>
          <a:ln w="38100" cap="rnd">
            <a:solidFill>
              <a:schemeClr val="bg1"/>
            </a:solidFill>
            <a:round/>
          </a:ln>
          <a:effectLst/>
        </p:spPr>
      </p:sp>
      <p:grpSp>
        <p:nvGrpSpPr>
          <p:cNvPr id="31" name="slot.band.3"/>
          <p:cNvGrpSpPr/>
          <p:nvPr/>
        </p:nvGrpSpPr>
        <p:grpSpPr>
          <a:xfrm>
            <a:off x="5797296" y="939924"/>
            <a:ext cx="1371600" cy="808488"/>
            <a:chOff x="5797296" y="939924"/>
            <a:chExt cx="1371600" cy="808488"/>
          </a:xfrm>
          <a:effectLst/>
        </p:grpSpPr>
        <p:sp>
          <p:nvSpPr>
            <p:cNvPr id="32" name="slot.band.3.value"/>
            <p:cNvSpPr txBox="1"/>
            <p:nvPr/>
          </p:nvSpPr>
          <p:spPr>
            <a:xfrm>
              <a:off x="5797296" y="939924"/>
              <a:ext cx="1371600" cy="34206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4.7/5</a:t>
              </a:r>
              <a:endParaRPr lang="en-US" sz="2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33" name="slot.band.3.rule"/>
            <p:cNvCxnSpPr/>
            <p:nvPr/>
          </p:nvCxnSpPr>
          <p:spPr>
            <a:xfrm>
              <a:off x="5797296" y="1327706"/>
              <a:ext cx="13716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34" name="slot.band.3.label"/>
            <p:cNvSpPr txBox="1"/>
            <p:nvPr/>
          </p:nvSpPr>
          <p:spPr>
            <a:xfrm>
              <a:off x="5797296" y="1382570"/>
              <a:ext cx="1371600" cy="36584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Client satisfaction</a:t>
              </a:r>
              <a:endParaRPr lang="en-US" sz="12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35" name="slot.band.4.icon"/>
          <p:cNvSpPr/>
          <p:nvPr/>
        </p:nvSpPr>
        <p:spPr>
          <a:xfrm>
            <a:off x="7479792" y="111556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000" y="17000"/>
                </a:moveTo>
                <a:lnTo>
                  <a:pt x="13000" y="9000"/>
                </a:lnTo>
                <a:moveTo>
                  <a:pt x="18000" y="17000"/>
                </a:moveTo>
                <a:lnTo>
                  <a:pt x="18000" y="5000"/>
                </a:lnTo>
                <a:moveTo>
                  <a:pt x="3000" y="3000"/>
                </a:moveTo>
                <a:lnTo>
                  <a:pt x="3000" y="19000"/>
                </a:lnTo>
                <a:cubicBezTo>
                  <a:pt x="3000" y="20105"/>
                  <a:pt x="3895" y="21000"/>
                  <a:pt x="5000" y="21000"/>
                </a:cubicBezTo>
                <a:lnTo>
                  <a:pt x="21000" y="21000"/>
                </a:lnTo>
                <a:moveTo>
                  <a:pt x="8000" y="17000"/>
                </a:moveTo>
                <a:lnTo>
                  <a:pt x="8000" y="14000"/>
                </a:lnTo>
              </a:path>
            </a:pathLst>
          </a:custGeom>
          <a:noFill/>
          <a:ln w="38100" cap="rnd">
            <a:solidFill>
              <a:schemeClr val="bg1"/>
            </a:solidFill>
            <a:round/>
          </a:ln>
          <a:effectLst/>
        </p:spPr>
      </p:sp>
      <p:grpSp>
        <p:nvGrpSpPr>
          <p:cNvPr id="36" name="slot.band.4"/>
          <p:cNvGrpSpPr/>
          <p:nvPr/>
        </p:nvGrpSpPr>
        <p:grpSpPr>
          <a:xfrm>
            <a:off x="8065008" y="939924"/>
            <a:ext cx="1371600" cy="625567"/>
            <a:chOff x="8065008" y="939924"/>
            <a:chExt cx="1371600" cy="625567"/>
          </a:xfrm>
          <a:effectLst/>
        </p:grpSpPr>
        <p:sp>
          <p:nvSpPr>
            <p:cNvPr id="37" name="slot.band.4.value"/>
            <p:cNvSpPr txBox="1"/>
            <p:nvPr/>
          </p:nvSpPr>
          <p:spPr>
            <a:xfrm>
              <a:off x="8065008" y="939924"/>
              <a:ext cx="1371600" cy="34206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$90M</a:t>
              </a:r>
              <a:endParaRPr lang="en-US" sz="2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38" name="slot.band.4.rule"/>
            <p:cNvCxnSpPr/>
            <p:nvPr/>
          </p:nvCxnSpPr>
          <p:spPr>
            <a:xfrm>
              <a:off x="8065008" y="1327706"/>
              <a:ext cx="13716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39" name="slot.band.4.label"/>
            <p:cNvSpPr txBox="1"/>
            <p:nvPr/>
          </p:nvSpPr>
          <p:spPr>
            <a:xfrm>
              <a:off x="8065008" y="1382570"/>
              <a:ext cx="1371600" cy="182921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Annual revenue</a:t>
              </a:r>
              <a:endParaRPr lang="en-US" sz="12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40" name="slot.band.5.icon"/>
          <p:cNvSpPr/>
          <p:nvPr/>
        </p:nvSpPr>
        <p:spPr>
          <a:xfrm>
            <a:off x="9747504" y="111556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7000"/>
                </a:moveTo>
                <a:lnTo>
                  <a:pt x="22000" y="7000"/>
                </a:lnTo>
                <a:lnTo>
                  <a:pt x="22000" y="13000"/>
                </a:lnTo>
                <a:moveTo>
                  <a:pt x="22000" y="7000"/>
                </a:moveTo>
                <a:lnTo>
                  <a:pt x="13500" y="15500"/>
                </a:lnTo>
                <a:lnTo>
                  <a:pt x="8500" y="10500"/>
                </a:lnTo>
                <a:lnTo>
                  <a:pt x="2000" y="17000"/>
                </a:lnTo>
              </a:path>
            </a:pathLst>
          </a:custGeom>
          <a:noFill/>
          <a:ln w="38100" cap="rnd">
            <a:solidFill>
              <a:schemeClr val="bg1"/>
            </a:solidFill>
            <a:round/>
          </a:ln>
          <a:effectLst/>
        </p:spPr>
      </p:sp>
      <p:grpSp>
        <p:nvGrpSpPr>
          <p:cNvPr id="41" name="slot.band.5"/>
          <p:cNvGrpSpPr/>
          <p:nvPr/>
        </p:nvGrpSpPr>
        <p:grpSpPr>
          <a:xfrm>
            <a:off x="10332720" y="939924"/>
            <a:ext cx="1371600" cy="808488"/>
            <a:chOff x="10332720" y="939924"/>
            <a:chExt cx="1371600" cy="808488"/>
          </a:xfrm>
          <a:effectLst/>
        </p:grpSpPr>
        <p:sp>
          <p:nvSpPr>
            <p:cNvPr id="42" name="slot.band.5.value"/>
            <p:cNvSpPr txBox="1"/>
            <p:nvPr/>
          </p:nvSpPr>
          <p:spPr>
            <a:xfrm>
              <a:off x="10332720" y="939924"/>
              <a:ext cx="1371600" cy="34206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4x</a:t>
              </a:r>
              <a:endParaRPr lang="en-US" sz="2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43" name="slot.band.5.rule"/>
            <p:cNvCxnSpPr/>
            <p:nvPr/>
          </p:nvCxnSpPr>
          <p:spPr>
            <a:xfrm>
              <a:off x="10332720" y="1327706"/>
              <a:ext cx="13716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44" name="slot.band.5.label"/>
            <p:cNvSpPr txBox="1"/>
            <p:nvPr/>
          </p:nvSpPr>
          <p:spPr>
            <a:xfrm>
              <a:off x="10332720" y="1382570"/>
              <a:ext cx="1371600" cy="36584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Growth in five years</a:t>
              </a:r>
              <a:endParaRPr lang="en-US" sz="12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45" name="struct.ring.1"/>
          <p:cNvSpPr/>
          <p:nvPr/>
        </p:nvSpPr>
        <p:spPr>
          <a:xfrm>
            <a:off x="749808" y="2889504"/>
            <a:ext cx="2194560" cy="2194560"/>
          </a:xfrm>
          <a:prstGeom prst="blockArc">
            <a:avLst>
              <a:gd name="adj1" fmla="val 16200000"/>
              <a:gd name="adj2" fmla="val 19800000"/>
              <a:gd name="adj3" fmla="val 16666"/>
            </a:avLst>
          </a:prstGeom>
          <a:solidFill>
            <a:schemeClr val="accent1">
              <a:lumMod val="75000"/>
            </a:schemeClr>
          </a:solidFill>
          <a:ln w="19050">
            <a:solidFill>
              <a:schemeClr val="bg1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6" name="struct.ring.2"/>
          <p:cNvSpPr/>
          <p:nvPr/>
        </p:nvSpPr>
        <p:spPr>
          <a:xfrm>
            <a:off x="749808" y="2889504"/>
            <a:ext cx="2194560" cy="2194560"/>
          </a:xfrm>
          <a:prstGeom prst="blockArc">
            <a:avLst>
              <a:gd name="adj1" fmla="val 19800000"/>
              <a:gd name="adj2" fmla="val 1800000"/>
              <a:gd name="adj3" fmla="val 16666"/>
            </a:avLst>
          </a:prstGeom>
          <a:solidFill>
            <a:schemeClr val="tx1">
              <a:lumMod val="75000"/>
              <a:lumOff val="25000"/>
            </a:schemeClr>
          </a:solidFill>
          <a:ln w="19050">
            <a:solidFill>
              <a:schemeClr val="bg1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7" name="struct.ring.3"/>
          <p:cNvSpPr/>
          <p:nvPr/>
        </p:nvSpPr>
        <p:spPr>
          <a:xfrm>
            <a:off x="749808" y="2889504"/>
            <a:ext cx="2194560" cy="2194560"/>
          </a:xfrm>
          <a:prstGeom prst="blockArc">
            <a:avLst>
              <a:gd name="adj1" fmla="val 1800000"/>
              <a:gd name="adj2" fmla="val 6120000"/>
              <a:gd name="adj3" fmla="val 16666"/>
            </a:avLst>
          </a:prstGeom>
          <a:solidFill>
            <a:schemeClr val="bg1">
              <a:lumMod val="55000"/>
            </a:schemeClr>
          </a:solidFill>
          <a:ln w="19050">
            <a:solidFill>
              <a:schemeClr val="bg1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8" name="struct.ring.4"/>
          <p:cNvSpPr/>
          <p:nvPr/>
        </p:nvSpPr>
        <p:spPr>
          <a:xfrm>
            <a:off x="749808" y="2889504"/>
            <a:ext cx="2194560" cy="2194560"/>
          </a:xfrm>
          <a:prstGeom prst="blockArc">
            <a:avLst>
              <a:gd name="adj1" fmla="val 6120000"/>
              <a:gd name="adj2" fmla="val 16200000"/>
              <a:gd name="adj3" fmla="val 16666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9" name="struct.ring.hole"/>
          <p:cNvSpPr/>
          <p:nvPr/>
        </p:nvSpPr>
        <p:spPr>
          <a:xfrm>
            <a:off x="1143000" y="3282696"/>
            <a:ext cx="1408176" cy="140817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</p:sp>
      <p:grpSp>
        <p:nvGrpSpPr>
          <p:cNvPr id="50" name="slot.ring.total"/>
          <p:cNvGrpSpPr/>
          <p:nvPr/>
        </p:nvGrpSpPr>
        <p:grpSpPr>
          <a:xfrm>
            <a:off x="1298448" y="3613027"/>
            <a:ext cx="1097280" cy="747514"/>
            <a:chOff x="1298448" y="3613027"/>
            <a:chExt cx="1097280" cy="747514"/>
          </a:xfrm>
          <a:effectLst/>
        </p:grpSpPr>
        <p:sp>
          <p:nvSpPr>
            <p:cNvPr id="51" name="slot.ring.total.value"/>
            <p:cNvSpPr txBox="1"/>
            <p:nvPr/>
          </p:nvSpPr>
          <p:spPr>
            <a:xfrm>
              <a:off x="1298448" y="3613027"/>
              <a:ext cx="1097280" cy="34206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1,500+</a:t>
              </a:r>
              <a:endParaRPr lang="en-US" sz="2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52" name="slot.ring.total.rule"/>
            <p:cNvCxnSpPr/>
            <p:nvPr/>
          </p:nvCxnSpPr>
          <p:spPr>
            <a:xfrm>
              <a:off x="1298448" y="4000809"/>
              <a:ext cx="109728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53" name="slot.ring.total.label"/>
            <p:cNvSpPr txBox="1"/>
            <p:nvPr/>
          </p:nvSpPr>
          <p:spPr>
            <a:xfrm>
              <a:off x="1298448" y="4055673"/>
              <a:ext cx="1097280" cy="304868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Data and AI specialists</a:t>
              </a:r>
              <a:endPara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54" name="slot.ring.1"/>
          <p:cNvGrpSpPr/>
          <p:nvPr/>
        </p:nvGrpSpPr>
        <p:grpSpPr>
          <a:xfrm>
            <a:off x="2798064" y="2432304"/>
            <a:ext cx="1481328" cy="532887"/>
            <a:chOff x="2798064" y="2432304"/>
            <a:chExt cx="1481328" cy="532887"/>
          </a:xfrm>
          <a:effectLst/>
        </p:grpSpPr>
        <p:sp>
          <p:nvSpPr>
            <p:cNvPr id="55" name="slot.ring.1.value"/>
            <p:cNvSpPr txBox="1"/>
            <p:nvPr/>
          </p:nvSpPr>
          <p:spPr>
            <a:xfrm>
              <a:off x="2798064" y="2432304"/>
              <a:ext cx="1481328" cy="279869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250+</a:t>
              </a:r>
              <a:endParaRPr lang="en-US" sz="1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56" name="slot.ring.1.rule"/>
            <p:cNvCxnSpPr/>
            <p:nvPr/>
          </p:nvCxnSpPr>
          <p:spPr>
            <a:xfrm>
              <a:off x="2798064" y="2757893"/>
              <a:ext cx="1481328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57" name="slot.ring.1.label"/>
            <p:cNvSpPr txBox="1"/>
            <p:nvPr/>
          </p:nvSpPr>
          <p:spPr>
            <a:xfrm>
              <a:off x="2798064" y="2812757"/>
              <a:ext cx="1481328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Strategy consultants</a:t>
              </a:r>
              <a:endPara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58" name="slot.ring.2"/>
          <p:cNvGrpSpPr/>
          <p:nvPr/>
        </p:nvGrpSpPr>
        <p:grpSpPr>
          <a:xfrm>
            <a:off x="3072384" y="3657600"/>
            <a:ext cx="1280160" cy="532887"/>
            <a:chOff x="3072384" y="3657600"/>
            <a:chExt cx="1280160" cy="532887"/>
          </a:xfrm>
          <a:effectLst/>
        </p:grpSpPr>
        <p:sp>
          <p:nvSpPr>
            <p:cNvPr id="59" name="slot.ring.2.value"/>
            <p:cNvSpPr txBox="1"/>
            <p:nvPr/>
          </p:nvSpPr>
          <p:spPr>
            <a:xfrm>
              <a:off x="3072384" y="3657600"/>
              <a:ext cx="1280160" cy="279869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250+</a:t>
              </a:r>
              <a:endParaRPr lang="en-US" sz="1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60" name="slot.ring.2.rule"/>
            <p:cNvCxnSpPr/>
            <p:nvPr/>
          </p:nvCxnSpPr>
          <p:spPr>
            <a:xfrm>
              <a:off x="3072384" y="3983189"/>
              <a:ext cx="128016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61" name="slot.ring.2.label"/>
            <p:cNvSpPr txBox="1"/>
            <p:nvPr/>
          </p:nvSpPr>
          <p:spPr>
            <a:xfrm>
              <a:off x="3072384" y="4038053"/>
              <a:ext cx="1280160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AI engineers</a:t>
              </a:r>
              <a:endPara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62" name="slot.ring.3"/>
          <p:cNvGrpSpPr/>
          <p:nvPr/>
        </p:nvGrpSpPr>
        <p:grpSpPr>
          <a:xfrm>
            <a:off x="2926080" y="4773168"/>
            <a:ext cx="1371600" cy="532887"/>
            <a:chOff x="2926080" y="4773168"/>
            <a:chExt cx="1371600" cy="532887"/>
          </a:xfrm>
          <a:effectLst/>
        </p:grpSpPr>
        <p:sp>
          <p:nvSpPr>
            <p:cNvPr id="63" name="slot.ring.3.value"/>
            <p:cNvSpPr txBox="1"/>
            <p:nvPr/>
          </p:nvSpPr>
          <p:spPr>
            <a:xfrm>
              <a:off x="2926080" y="4773168"/>
              <a:ext cx="1371600" cy="279869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300+</a:t>
              </a:r>
              <a:endParaRPr lang="en-US" sz="1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64" name="slot.ring.3.rule"/>
            <p:cNvCxnSpPr/>
            <p:nvPr/>
          </p:nvCxnSpPr>
          <p:spPr>
            <a:xfrm>
              <a:off x="2926080" y="5098757"/>
              <a:ext cx="13716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65" name="slot.ring.3.label"/>
            <p:cNvSpPr txBox="1"/>
            <p:nvPr/>
          </p:nvSpPr>
          <p:spPr>
            <a:xfrm>
              <a:off x="2926080" y="5153621"/>
              <a:ext cx="1371600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Data scientists</a:t>
              </a:r>
              <a:endPara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66" name="slot.ring.4"/>
          <p:cNvGrpSpPr/>
          <p:nvPr/>
        </p:nvGrpSpPr>
        <p:grpSpPr>
          <a:xfrm>
            <a:off x="457200" y="2432304"/>
            <a:ext cx="1097280" cy="532887"/>
            <a:chOff x="457200" y="2432304"/>
            <a:chExt cx="1097280" cy="532887"/>
          </a:xfrm>
          <a:effectLst/>
        </p:grpSpPr>
        <p:sp>
          <p:nvSpPr>
            <p:cNvPr id="67" name="slot.ring.4.value"/>
            <p:cNvSpPr txBox="1"/>
            <p:nvPr/>
          </p:nvSpPr>
          <p:spPr>
            <a:xfrm>
              <a:off x="457200" y="2432304"/>
              <a:ext cx="1097280" cy="279869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700+</a:t>
              </a:r>
              <a:endParaRPr lang="en-US" sz="1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68" name="slot.ring.4.rule"/>
            <p:cNvCxnSpPr/>
            <p:nvPr/>
          </p:nvCxnSpPr>
          <p:spPr>
            <a:xfrm>
              <a:off x="457200" y="2757893"/>
              <a:ext cx="109728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69" name="slot.ring.4.label"/>
            <p:cNvSpPr txBox="1"/>
            <p:nvPr/>
          </p:nvSpPr>
          <p:spPr>
            <a:xfrm>
              <a:off x="457200" y="2812757"/>
              <a:ext cx="1097280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Data engineers</a:t>
              </a:r>
              <a:endPara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70" name="slot.panel.1"/>
          <p:cNvGrpSpPr/>
          <p:nvPr/>
        </p:nvGrpSpPr>
        <p:grpSpPr>
          <a:xfrm>
            <a:off x="4608576" y="2596896"/>
            <a:ext cx="1444752" cy="563983"/>
            <a:chOff x="4608576" y="2596896"/>
            <a:chExt cx="1444752" cy="563983"/>
          </a:xfrm>
          <a:effectLst/>
        </p:grpSpPr>
        <p:sp>
          <p:nvSpPr>
            <p:cNvPr id="71" name="slot.panel.1.value"/>
            <p:cNvSpPr txBox="1"/>
            <p:nvPr/>
          </p:nvSpPr>
          <p:spPr>
            <a:xfrm>
              <a:off x="4608576" y="2596896"/>
              <a:ext cx="1444752" cy="310965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kern="0" dirty="0">
                  <a:solidFill>
                    <a:schemeClr val="accent1">
                      <a:lumMod val="50000"/>
                      <a:lumOff val="50000"/>
                    </a:schemeClr>
                  </a:solidFill>
                  <a:latin typeface="Arial"/>
                  <a:ea typeface="Arial"/>
                  <a:cs typeface="Arial"/>
                </a:rPr>
                <a:t>24x7</a:t>
              </a:r>
              <a:endParaRPr lang="en-US" sz="2000" b="1" i="0" kern="0" dirty="0">
                <a:solidFill>
                  <a:schemeClr val="accent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72" name="slot.panel.1.rule"/>
            <p:cNvCxnSpPr/>
            <p:nvPr/>
          </p:nvCxnSpPr>
          <p:spPr>
            <a:xfrm>
              <a:off x="4608576" y="2953581"/>
              <a:ext cx="1444752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73" name="slot.panel.1.label"/>
            <p:cNvSpPr txBox="1"/>
            <p:nvPr/>
          </p:nvSpPr>
          <p:spPr>
            <a:xfrm>
              <a:off x="4608576" y="3008445"/>
              <a:ext cx="1444752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Always-on support</a:t>
              </a:r>
              <a:endPara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74" name="slot.panel.2"/>
          <p:cNvGrpSpPr/>
          <p:nvPr/>
        </p:nvGrpSpPr>
        <p:grpSpPr>
          <a:xfrm>
            <a:off x="4608576" y="3329398"/>
            <a:ext cx="1444752" cy="563983"/>
            <a:chOff x="4608576" y="3329398"/>
            <a:chExt cx="1444752" cy="563983"/>
          </a:xfrm>
          <a:effectLst/>
        </p:grpSpPr>
        <p:sp>
          <p:nvSpPr>
            <p:cNvPr id="75" name="slot.panel.2.value"/>
            <p:cNvSpPr txBox="1"/>
            <p:nvPr/>
          </p:nvSpPr>
          <p:spPr>
            <a:xfrm>
              <a:off x="4608576" y="3329398"/>
              <a:ext cx="1444752" cy="310965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kern="0" dirty="0">
                  <a:solidFill>
                    <a:schemeClr val="accent1">
                      <a:lumMod val="50000"/>
                      <a:lumOff val="50000"/>
                    </a:schemeClr>
                  </a:solidFill>
                  <a:latin typeface="Arial"/>
                  <a:ea typeface="Arial"/>
                  <a:cs typeface="Arial"/>
                </a:rPr>
                <a:t>60+</a:t>
              </a:r>
              <a:endParaRPr lang="en-US" sz="2000" b="1" i="0" kern="0" dirty="0">
                <a:solidFill>
                  <a:schemeClr val="accent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76" name="slot.panel.2.rule"/>
            <p:cNvCxnSpPr/>
            <p:nvPr/>
          </p:nvCxnSpPr>
          <p:spPr>
            <a:xfrm>
              <a:off x="4608576" y="3686083"/>
              <a:ext cx="1444752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77" name="slot.panel.2.label"/>
            <p:cNvSpPr txBox="1"/>
            <p:nvPr/>
          </p:nvSpPr>
          <p:spPr>
            <a:xfrm>
              <a:off x="4608576" y="3740947"/>
              <a:ext cx="1444752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AI products live</a:t>
              </a:r>
              <a:endPara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78" name="slot.panel.3"/>
          <p:cNvGrpSpPr/>
          <p:nvPr/>
        </p:nvGrpSpPr>
        <p:grpSpPr>
          <a:xfrm>
            <a:off x="4608576" y="4061899"/>
            <a:ext cx="1444752" cy="563983"/>
            <a:chOff x="4608576" y="4061899"/>
            <a:chExt cx="1444752" cy="563983"/>
          </a:xfrm>
          <a:effectLst/>
        </p:grpSpPr>
        <p:sp>
          <p:nvSpPr>
            <p:cNvPr id="79" name="slot.panel.3.value"/>
            <p:cNvSpPr txBox="1"/>
            <p:nvPr/>
          </p:nvSpPr>
          <p:spPr>
            <a:xfrm>
              <a:off x="4608576" y="4061899"/>
              <a:ext cx="1444752" cy="310965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kern="0" dirty="0">
                  <a:solidFill>
                    <a:schemeClr val="accent1">
                      <a:lumMod val="50000"/>
                      <a:lumOff val="50000"/>
                    </a:schemeClr>
                  </a:solidFill>
                  <a:latin typeface="Arial"/>
                  <a:ea typeface="Arial"/>
                  <a:cs typeface="Arial"/>
                </a:rPr>
                <a:t>25+</a:t>
              </a:r>
              <a:endParaRPr lang="en-US" sz="2000" b="1" i="0" kern="0" dirty="0">
                <a:solidFill>
                  <a:schemeClr val="accent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80" name="slot.panel.3.rule"/>
            <p:cNvCxnSpPr/>
            <p:nvPr/>
          </p:nvCxnSpPr>
          <p:spPr>
            <a:xfrm>
              <a:off x="4608576" y="4418584"/>
              <a:ext cx="1444752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81" name="slot.panel.3.label"/>
            <p:cNvSpPr txBox="1"/>
            <p:nvPr/>
          </p:nvSpPr>
          <p:spPr>
            <a:xfrm>
              <a:off x="4608576" y="4473448"/>
              <a:ext cx="1444752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Data platforms built</a:t>
              </a:r>
              <a:endPara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82" name="slot.panel.4"/>
          <p:cNvGrpSpPr/>
          <p:nvPr/>
        </p:nvGrpSpPr>
        <p:grpSpPr>
          <a:xfrm>
            <a:off x="4608576" y="4794401"/>
            <a:ext cx="1444752" cy="563983"/>
            <a:chOff x="4608576" y="4794401"/>
            <a:chExt cx="1444752" cy="563983"/>
          </a:xfrm>
          <a:effectLst/>
        </p:grpSpPr>
        <p:sp>
          <p:nvSpPr>
            <p:cNvPr id="83" name="slot.panel.4.value"/>
            <p:cNvSpPr txBox="1"/>
            <p:nvPr/>
          </p:nvSpPr>
          <p:spPr>
            <a:xfrm>
              <a:off x="4608576" y="4794401"/>
              <a:ext cx="1444752" cy="310965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kern="0" dirty="0">
                  <a:solidFill>
                    <a:schemeClr val="accent1">
                      <a:lumMod val="50000"/>
                      <a:lumOff val="50000"/>
                    </a:schemeClr>
                  </a:solidFill>
                  <a:latin typeface="Arial"/>
                  <a:ea typeface="Arial"/>
                  <a:cs typeface="Arial"/>
                </a:rPr>
                <a:t>$400M</a:t>
              </a:r>
              <a:endParaRPr lang="en-US" sz="2000" b="1" i="0" kern="0" dirty="0">
                <a:solidFill>
                  <a:schemeClr val="accent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84" name="slot.panel.4.rule"/>
            <p:cNvCxnSpPr/>
            <p:nvPr/>
          </p:nvCxnSpPr>
          <p:spPr>
            <a:xfrm>
              <a:off x="4608576" y="5151086"/>
              <a:ext cx="1444752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85" name="slot.panel.4.label"/>
            <p:cNvSpPr txBox="1"/>
            <p:nvPr/>
          </p:nvSpPr>
          <p:spPr>
            <a:xfrm>
              <a:off x="4608576" y="5205950"/>
              <a:ext cx="1444752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Revenue influenced</a:t>
              </a:r>
              <a:endPara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86" name="slot.foot.1.icon"/>
          <p:cNvSpPr/>
          <p:nvPr/>
        </p:nvSpPr>
        <p:spPr>
          <a:xfrm>
            <a:off x="6693408" y="2505456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0000"/>
                </a:moveTo>
                <a:lnTo>
                  <a:pt x="12010" y="10000"/>
                </a:lnTo>
                <a:moveTo>
                  <a:pt x="12000" y="14000"/>
                </a:moveTo>
                <a:lnTo>
                  <a:pt x="12010" y="14000"/>
                </a:lnTo>
                <a:moveTo>
                  <a:pt x="12000" y="6000"/>
                </a:moveTo>
                <a:lnTo>
                  <a:pt x="12010" y="6000"/>
                </a:lnTo>
                <a:moveTo>
                  <a:pt x="16000" y="10000"/>
                </a:moveTo>
                <a:lnTo>
                  <a:pt x="16010" y="10000"/>
                </a:lnTo>
                <a:moveTo>
                  <a:pt x="16000" y="14000"/>
                </a:moveTo>
                <a:lnTo>
                  <a:pt x="16010" y="14000"/>
                </a:lnTo>
                <a:moveTo>
                  <a:pt x="16000" y="6000"/>
                </a:moveTo>
                <a:lnTo>
                  <a:pt x="16010" y="6000"/>
                </a:lnTo>
                <a:moveTo>
                  <a:pt x="8000" y="10000"/>
                </a:moveTo>
                <a:lnTo>
                  <a:pt x="8010" y="10000"/>
                </a:lnTo>
                <a:moveTo>
                  <a:pt x="8000" y="14000"/>
                </a:moveTo>
                <a:lnTo>
                  <a:pt x="8010" y="14000"/>
                </a:lnTo>
                <a:moveTo>
                  <a:pt x="8000" y="6000"/>
                </a:moveTo>
                <a:lnTo>
                  <a:pt x="8010" y="6000"/>
                </a:lnTo>
                <a:moveTo>
                  <a:pt x="9000" y="22000"/>
                </a:moveTo>
                <a:lnTo>
                  <a:pt x="9000" y="19000"/>
                </a:lnTo>
                <a:cubicBezTo>
                  <a:pt x="9000" y="18448"/>
                  <a:pt x="9448" y="18000"/>
                  <a:pt x="10000" y="18000"/>
                </a:cubicBezTo>
                <a:lnTo>
                  <a:pt x="14000" y="18000"/>
                </a:lnTo>
                <a:cubicBezTo>
                  <a:pt x="14552" y="18000"/>
                  <a:pt x="15000" y="18448"/>
                  <a:pt x="15000" y="19000"/>
                </a:cubicBezTo>
                <a:lnTo>
                  <a:pt x="15000" y="22000"/>
                </a:lnTo>
                <a:moveTo>
                  <a:pt x="6000" y="2000"/>
                </a:moveTo>
                <a:lnTo>
                  <a:pt x="18000" y="2000"/>
                </a:lnTo>
                <a:cubicBezTo>
                  <a:pt x="19105" y="2000"/>
                  <a:pt x="20000" y="2895"/>
                  <a:pt x="20000" y="4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lnTo>
                  <a:pt x="6000" y="22000"/>
                </a:ln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close/>
              </a:path>
            </a:pathLst>
          </a:custGeom>
          <a:noFill/>
          <a:ln w="36830" cap="rnd">
            <a:solidFill>
              <a:schemeClr val="accent1"/>
            </a:solidFill>
            <a:round/>
          </a:ln>
          <a:effectLst/>
        </p:spPr>
      </p:sp>
      <p:sp>
        <p:nvSpPr>
          <p:cNvPr id="87" name="slot.foot.1.head"/>
          <p:cNvSpPr txBox="1"/>
          <p:nvPr/>
        </p:nvSpPr>
        <p:spPr>
          <a:xfrm>
            <a:off x="6693408" y="3054096"/>
            <a:ext cx="1481328" cy="31089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Onsite</a:t>
            </a:r>
            <a:endParaRPr lang="en-US" sz="16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88" name="slot.foot.1"/>
          <p:cNvGrpSpPr/>
          <p:nvPr/>
        </p:nvGrpSpPr>
        <p:grpSpPr>
          <a:xfrm>
            <a:off x="6693408" y="3529584"/>
            <a:ext cx="1481328" cy="746904"/>
            <a:chOff x="6693408" y="3529584"/>
            <a:chExt cx="1481328" cy="746904"/>
          </a:xfrm>
          <a:effectLst/>
        </p:grpSpPr>
        <p:sp>
          <p:nvSpPr>
            <p:cNvPr id="89" name="slot.foot.1.value"/>
            <p:cNvSpPr txBox="1"/>
            <p:nvPr/>
          </p:nvSpPr>
          <p:spPr>
            <a:xfrm>
              <a:off x="6693408" y="3529584"/>
              <a:ext cx="1481328" cy="310965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180+</a:t>
              </a:r>
              <a:endParaRPr lang="en-US" sz="2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90" name="slot.foot.1.rule"/>
            <p:cNvCxnSpPr/>
            <p:nvPr/>
          </p:nvCxnSpPr>
          <p:spPr>
            <a:xfrm>
              <a:off x="6693408" y="3886269"/>
              <a:ext cx="1481328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91" name="slot.foot.1.label"/>
            <p:cNvSpPr txBox="1"/>
            <p:nvPr/>
          </p:nvSpPr>
          <p:spPr>
            <a:xfrm>
              <a:off x="6693408" y="3941133"/>
              <a:ext cx="1481328" cy="335355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Leads and architects</a:t>
              </a:r>
              <a:endPara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92" name="slot.foot.1.body"/>
          <p:cNvSpPr txBox="1"/>
          <p:nvPr/>
        </p:nvSpPr>
        <p:spPr>
          <a:xfrm>
            <a:off x="6693408" y="4441080"/>
            <a:ext cx="1481328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Discovery, design authority and adoption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slot.foot.2.icon"/>
          <p:cNvSpPr/>
          <p:nvPr/>
        </p:nvSpPr>
        <p:spPr>
          <a:xfrm>
            <a:off x="8467344" y="2505456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2000" y="6000"/>
                </a:moveTo>
                <a:lnTo>
                  <a:pt x="12000" y="12000"/>
                </a:lnTo>
                <a:lnTo>
                  <a:pt x="16000" y="14000"/>
                </a:lnTo>
              </a:path>
            </a:pathLst>
          </a:custGeom>
          <a:noFill/>
          <a:ln w="36830" cap="rnd">
            <a:solidFill>
              <a:schemeClr val="accent1"/>
            </a:solidFill>
            <a:round/>
          </a:ln>
          <a:effectLst/>
        </p:spPr>
      </p:sp>
      <p:sp>
        <p:nvSpPr>
          <p:cNvPr id="94" name="slot.foot.2.head"/>
          <p:cNvSpPr txBox="1"/>
          <p:nvPr/>
        </p:nvSpPr>
        <p:spPr>
          <a:xfrm>
            <a:off x="8467344" y="3054096"/>
            <a:ext cx="1481328" cy="31089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Nearshore</a:t>
            </a:r>
            <a:endParaRPr lang="en-US" sz="16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95" name="slot.foot.2"/>
          <p:cNvGrpSpPr/>
          <p:nvPr/>
        </p:nvGrpSpPr>
        <p:grpSpPr>
          <a:xfrm>
            <a:off x="8467344" y="3529584"/>
            <a:ext cx="1481328" cy="746904"/>
            <a:chOff x="8467344" y="3529584"/>
            <a:chExt cx="1481328" cy="746904"/>
          </a:xfrm>
          <a:effectLst/>
        </p:grpSpPr>
        <p:sp>
          <p:nvSpPr>
            <p:cNvPr id="96" name="slot.foot.2.value"/>
            <p:cNvSpPr txBox="1"/>
            <p:nvPr/>
          </p:nvSpPr>
          <p:spPr>
            <a:xfrm>
              <a:off x="8467344" y="3529584"/>
              <a:ext cx="1481328" cy="310965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320+</a:t>
              </a:r>
              <a:endParaRPr lang="en-US" sz="2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97" name="slot.foot.2.rule"/>
            <p:cNvCxnSpPr/>
            <p:nvPr/>
          </p:nvCxnSpPr>
          <p:spPr>
            <a:xfrm>
              <a:off x="8467344" y="3886269"/>
              <a:ext cx="1481328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98" name="slot.foot.2.label"/>
            <p:cNvSpPr txBox="1"/>
            <p:nvPr/>
          </p:nvSpPr>
          <p:spPr>
            <a:xfrm>
              <a:off x="8467344" y="3941133"/>
              <a:ext cx="1481328" cy="335355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Engineers in shared hours</a:t>
              </a:r>
              <a:endPara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99" name="slot.foot.2.body"/>
          <p:cNvSpPr txBox="1"/>
          <p:nvPr/>
        </p:nvSpPr>
        <p:spPr>
          <a:xfrm>
            <a:off x="8467344" y="4441080"/>
            <a:ext cx="1481328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Daily overlap with product owners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slot.foot.3.icon"/>
          <p:cNvSpPr/>
          <p:nvPr/>
        </p:nvSpPr>
        <p:spPr>
          <a:xfrm>
            <a:off x="10241280" y="2505456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2000" y="2000"/>
                </a:moveTo>
                <a:cubicBezTo>
                  <a:pt x="6667" y="7600"/>
                  <a:pt x="6667" y="16400"/>
                  <a:pt x="12000" y="22000"/>
                </a:cubicBezTo>
                <a:cubicBezTo>
                  <a:pt x="17333" y="16400"/>
                  <a:pt x="17333" y="7600"/>
                  <a:pt x="12000" y="2000"/>
                </a:cubicBezTo>
                <a:moveTo>
                  <a:pt x="2000" y="12000"/>
                </a:moveTo>
                <a:lnTo>
                  <a:pt x="22000" y="12000"/>
                </a:lnTo>
              </a:path>
            </a:pathLst>
          </a:custGeom>
          <a:noFill/>
          <a:ln w="36830" cap="rnd">
            <a:solidFill>
              <a:schemeClr val="accent1"/>
            </a:solidFill>
            <a:round/>
          </a:ln>
          <a:effectLst/>
        </p:spPr>
      </p:sp>
      <p:sp>
        <p:nvSpPr>
          <p:cNvPr id="101" name="slot.foot.3.head"/>
          <p:cNvSpPr txBox="1"/>
          <p:nvPr/>
        </p:nvSpPr>
        <p:spPr>
          <a:xfrm>
            <a:off x="10241280" y="3054096"/>
            <a:ext cx="1481328" cy="31089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Offshore</a:t>
            </a:r>
            <a:endParaRPr lang="en-US" sz="16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102" name="slot.foot.3"/>
          <p:cNvGrpSpPr/>
          <p:nvPr/>
        </p:nvGrpSpPr>
        <p:grpSpPr>
          <a:xfrm>
            <a:off x="10241280" y="3529584"/>
            <a:ext cx="1481328" cy="746904"/>
            <a:chOff x="10241280" y="3529584"/>
            <a:chExt cx="1481328" cy="746904"/>
          </a:xfrm>
          <a:effectLst/>
        </p:grpSpPr>
        <p:sp>
          <p:nvSpPr>
            <p:cNvPr id="103" name="slot.foot.3.value"/>
            <p:cNvSpPr txBox="1"/>
            <p:nvPr/>
          </p:nvSpPr>
          <p:spPr>
            <a:xfrm>
              <a:off x="10241280" y="3529584"/>
              <a:ext cx="1481328" cy="310965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1,000+</a:t>
              </a:r>
              <a:endParaRPr lang="en-US" sz="2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104" name="slot.foot.3.rule"/>
            <p:cNvCxnSpPr/>
            <p:nvPr/>
          </p:nvCxnSpPr>
          <p:spPr>
            <a:xfrm>
              <a:off x="10241280" y="3886269"/>
              <a:ext cx="1481328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105" name="slot.foot.3.label"/>
            <p:cNvSpPr txBox="1"/>
            <p:nvPr/>
          </p:nvSpPr>
          <p:spPr>
            <a:xfrm>
              <a:off x="10241280" y="3941133"/>
              <a:ext cx="1481328" cy="335355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Engineers in two centers</a:t>
              </a:r>
              <a:endPara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06" name="slot.foot.3.body"/>
          <p:cNvSpPr txBox="1"/>
          <p:nvPr/>
        </p:nvSpPr>
        <p:spPr>
          <a:xfrm>
            <a:off x="10241280" y="4441080"/>
            <a:ext cx="1481328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Build, test and run around the clock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slot.partner.1.icon"/>
          <p:cNvSpPr/>
          <p:nvPr/>
        </p:nvSpPr>
        <p:spPr>
          <a:xfrm>
            <a:off x="2670048" y="5715000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7500" y="19000"/>
                </a:moveTo>
                <a:lnTo>
                  <a:pt x="9000" y="19000"/>
                </a:lnTo>
                <a:cubicBezTo>
                  <a:pt x="5396" y="18999"/>
                  <a:pt x="2381" y="16261"/>
                  <a:pt x="2034" y="12674"/>
                </a:cubicBezTo>
                <a:cubicBezTo>
                  <a:pt x="1687" y="9086"/>
                  <a:pt x="4121" y="5822"/>
                  <a:pt x="7659" y="5130"/>
                </a:cubicBezTo>
                <a:cubicBezTo>
                  <a:pt x="11196" y="4438"/>
                  <a:pt x="14680" y="6546"/>
                  <a:pt x="15710" y="10000"/>
                </a:cubicBezTo>
                <a:lnTo>
                  <a:pt x="17500" y="10000"/>
                </a:lnTo>
                <a:cubicBezTo>
                  <a:pt x="19985" y="10000"/>
                  <a:pt x="22000" y="12015"/>
                  <a:pt x="22000" y="14500"/>
                </a:cubicBezTo>
                <a:cubicBezTo>
                  <a:pt x="22000" y="16985"/>
                  <a:pt x="19985" y="19000"/>
                  <a:pt x="17500" y="19000"/>
                </a:cubicBezTo>
                <a:close/>
              </a:path>
            </a:pathLst>
          </a:custGeom>
          <a:noFill/>
          <a:ln w="3175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08" name="slot.partner.1.label"/>
          <p:cNvSpPr txBox="1"/>
          <p:nvPr/>
        </p:nvSpPr>
        <p:spPr>
          <a:xfrm>
            <a:off x="3127248" y="5715000"/>
            <a:ext cx="990600" cy="38404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Cloud platforms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slot.partner.2.icon"/>
          <p:cNvSpPr/>
          <p:nvPr/>
        </p:nvSpPr>
        <p:spPr>
          <a:xfrm>
            <a:off x="4191000" y="5715000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830" y="2180"/>
                </a:moveTo>
                <a:cubicBezTo>
                  <a:pt x="12303" y="1940"/>
                  <a:pt x="11697" y="1940"/>
                  <a:pt x="11170" y="2180"/>
                </a:cubicBezTo>
                <a:lnTo>
                  <a:pt x="2600" y="6080"/>
                </a:lnTo>
                <a:cubicBezTo>
                  <a:pt x="2237" y="6240"/>
                  <a:pt x="2003" y="6599"/>
                  <a:pt x="2003" y="6995"/>
                </a:cubicBezTo>
                <a:cubicBezTo>
                  <a:pt x="2003" y="7391"/>
                  <a:pt x="2237" y="7750"/>
                  <a:pt x="2600" y="7910"/>
                </a:cubicBezTo>
                <a:lnTo>
                  <a:pt x="11180" y="11820"/>
                </a:lnTo>
                <a:cubicBezTo>
                  <a:pt x="11707" y="12060"/>
                  <a:pt x="12313" y="12060"/>
                  <a:pt x="12840" y="11820"/>
                </a:cubicBezTo>
                <a:lnTo>
                  <a:pt x="21420" y="7920"/>
                </a:lnTo>
                <a:cubicBezTo>
                  <a:pt x="21783" y="7760"/>
                  <a:pt x="22017" y="7401"/>
                  <a:pt x="22017" y="7005"/>
                </a:cubicBezTo>
                <a:cubicBezTo>
                  <a:pt x="22017" y="6609"/>
                  <a:pt x="21783" y="6250"/>
                  <a:pt x="21420" y="6090"/>
                </a:cubicBezTo>
                <a:close/>
                <a:moveTo>
                  <a:pt x="2000" y="12000"/>
                </a:moveTo>
                <a:cubicBezTo>
                  <a:pt x="1999" y="12391"/>
                  <a:pt x="2226" y="12746"/>
                  <a:pt x="2580" y="12910"/>
                </a:cubicBezTo>
                <a:lnTo>
                  <a:pt x="11180" y="16820"/>
                </a:lnTo>
                <a:cubicBezTo>
                  <a:pt x="11704" y="17057"/>
                  <a:pt x="12306" y="17057"/>
                  <a:pt x="12830" y="16820"/>
                </a:cubicBezTo>
                <a:lnTo>
                  <a:pt x="21410" y="12920"/>
                </a:lnTo>
                <a:cubicBezTo>
                  <a:pt x="21772" y="12757"/>
                  <a:pt x="22003" y="12397"/>
                  <a:pt x="22000" y="12000"/>
                </a:cubicBezTo>
                <a:moveTo>
                  <a:pt x="2000" y="17000"/>
                </a:moveTo>
                <a:cubicBezTo>
                  <a:pt x="1999" y="17391"/>
                  <a:pt x="2226" y="17746"/>
                  <a:pt x="2580" y="17910"/>
                </a:cubicBezTo>
                <a:lnTo>
                  <a:pt x="11180" y="21820"/>
                </a:lnTo>
                <a:cubicBezTo>
                  <a:pt x="11704" y="22057"/>
                  <a:pt x="12306" y="22057"/>
                  <a:pt x="12830" y="21820"/>
                </a:cubicBezTo>
                <a:lnTo>
                  <a:pt x="21410" y="17920"/>
                </a:lnTo>
                <a:cubicBezTo>
                  <a:pt x="21772" y="17757"/>
                  <a:pt x="22003" y="17397"/>
                  <a:pt x="22000" y="17000"/>
                </a:cubicBezTo>
              </a:path>
            </a:pathLst>
          </a:custGeom>
          <a:noFill/>
          <a:ln w="3175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10" name="slot.partner.2.label"/>
          <p:cNvSpPr txBox="1"/>
          <p:nvPr/>
        </p:nvSpPr>
        <p:spPr>
          <a:xfrm>
            <a:off x="4648200" y="5715000"/>
            <a:ext cx="990600" cy="38404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Lakehouse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slot.partner.3.icon"/>
          <p:cNvSpPr/>
          <p:nvPr/>
        </p:nvSpPr>
        <p:spPr>
          <a:xfrm>
            <a:off x="5711952" y="5715000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8000" y="21000"/>
                </a:moveTo>
                <a:lnTo>
                  <a:pt x="18000" y="10000"/>
                </a:lnTo>
                <a:cubicBezTo>
                  <a:pt x="18000" y="9448"/>
                  <a:pt x="17552" y="9000"/>
                  <a:pt x="17000" y="9000"/>
                </a:cubicBezTo>
                <a:lnTo>
                  <a:pt x="7000" y="9000"/>
                </a:lnTo>
                <a:cubicBezTo>
                  <a:pt x="6448" y="9000"/>
                  <a:pt x="6000" y="9448"/>
                  <a:pt x="6000" y="10000"/>
                </a:cubicBezTo>
                <a:lnTo>
                  <a:pt x="6000" y="21000"/>
                </a:lnTo>
                <a:moveTo>
                  <a:pt x="22000" y="19000"/>
                </a:moveTo>
                <a:cubicBezTo>
                  <a:pt x="22000" y="20105"/>
                  <a:pt x="21105" y="21000"/>
                  <a:pt x="20000" y="21000"/>
                </a:cubicBezTo>
                <a:lnTo>
                  <a:pt x="4000" y="21000"/>
                </a:lnTo>
                <a:cubicBezTo>
                  <a:pt x="2895" y="21000"/>
                  <a:pt x="2000" y="20105"/>
                  <a:pt x="2000" y="19000"/>
                </a:cubicBezTo>
                <a:lnTo>
                  <a:pt x="2000" y="8000"/>
                </a:lnTo>
                <a:cubicBezTo>
                  <a:pt x="2000" y="7231"/>
                  <a:pt x="2440" y="6531"/>
                  <a:pt x="3132" y="6197"/>
                </a:cubicBezTo>
                <a:lnTo>
                  <a:pt x="11082" y="2223"/>
                </a:lnTo>
                <a:cubicBezTo>
                  <a:pt x="11658" y="1925"/>
                  <a:pt x="12343" y="1925"/>
                  <a:pt x="12919" y="2223"/>
                </a:cubicBezTo>
                <a:lnTo>
                  <a:pt x="20867" y="6197"/>
                </a:lnTo>
                <a:cubicBezTo>
                  <a:pt x="21560" y="6530"/>
                  <a:pt x="22000" y="7231"/>
                  <a:pt x="22000" y="8000"/>
                </a:cubicBezTo>
                <a:close/>
                <a:moveTo>
                  <a:pt x="6000" y="13000"/>
                </a:moveTo>
                <a:lnTo>
                  <a:pt x="18000" y="13000"/>
                </a:lnTo>
                <a:moveTo>
                  <a:pt x="6000" y="17000"/>
                </a:moveTo>
                <a:lnTo>
                  <a:pt x="18000" y="17000"/>
                </a:lnTo>
              </a:path>
            </a:pathLst>
          </a:custGeom>
          <a:noFill/>
          <a:ln w="3175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12" name="slot.partner.3.label"/>
          <p:cNvSpPr txBox="1"/>
          <p:nvPr/>
        </p:nvSpPr>
        <p:spPr>
          <a:xfrm>
            <a:off x="6169152" y="5715000"/>
            <a:ext cx="990600" cy="38404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Cloud warehouse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slot.partner.4.icon"/>
          <p:cNvSpPr/>
          <p:nvPr/>
        </p:nvSpPr>
        <p:spPr>
          <a:xfrm>
            <a:off x="7232904" y="5715000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17" y="2814"/>
                </a:moveTo>
                <a:cubicBezTo>
                  <a:pt x="11105" y="2341"/>
                  <a:pt x="11519" y="1998"/>
                  <a:pt x="12000" y="1998"/>
                </a:cubicBezTo>
                <a:cubicBezTo>
                  <a:pt x="12481" y="1998"/>
                  <a:pt x="12895" y="2341"/>
                  <a:pt x="12983" y="2814"/>
                </a:cubicBezTo>
                <a:lnTo>
                  <a:pt x="14034" y="8372"/>
                </a:lnTo>
                <a:cubicBezTo>
                  <a:pt x="14187" y="9181"/>
                  <a:pt x="14819" y="9813"/>
                  <a:pt x="15628" y="9966"/>
                </a:cubicBezTo>
                <a:lnTo>
                  <a:pt x="21186" y="11017"/>
                </a:lnTo>
                <a:cubicBezTo>
                  <a:pt x="21659" y="11105"/>
                  <a:pt x="22002" y="11519"/>
                  <a:pt x="22002" y="12000"/>
                </a:cubicBezTo>
                <a:cubicBezTo>
                  <a:pt x="22002" y="12481"/>
                  <a:pt x="21659" y="12895"/>
                  <a:pt x="21186" y="12983"/>
                </a:cubicBezTo>
                <a:lnTo>
                  <a:pt x="15628" y="14034"/>
                </a:lnTo>
                <a:cubicBezTo>
                  <a:pt x="14819" y="14187"/>
                  <a:pt x="14187" y="14819"/>
                  <a:pt x="14034" y="15628"/>
                </a:cubicBezTo>
                <a:lnTo>
                  <a:pt x="12983" y="21186"/>
                </a:lnTo>
                <a:cubicBezTo>
                  <a:pt x="12895" y="21659"/>
                  <a:pt x="12481" y="22002"/>
                  <a:pt x="12000" y="22002"/>
                </a:cubicBezTo>
                <a:cubicBezTo>
                  <a:pt x="11519" y="22002"/>
                  <a:pt x="11105" y="21659"/>
                  <a:pt x="11017" y="21186"/>
                </a:cubicBezTo>
                <a:lnTo>
                  <a:pt x="9966" y="15628"/>
                </a:lnTo>
                <a:cubicBezTo>
                  <a:pt x="9813" y="14819"/>
                  <a:pt x="9181" y="14187"/>
                  <a:pt x="8372" y="14034"/>
                </a:cubicBezTo>
                <a:lnTo>
                  <a:pt x="2814" y="12983"/>
                </a:lnTo>
                <a:cubicBezTo>
                  <a:pt x="2341" y="12895"/>
                  <a:pt x="1998" y="12481"/>
                  <a:pt x="1998" y="12000"/>
                </a:cubicBezTo>
                <a:cubicBezTo>
                  <a:pt x="1998" y="11519"/>
                  <a:pt x="2341" y="11105"/>
                  <a:pt x="2814" y="11017"/>
                </a:cubicBezTo>
                <a:lnTo>
                  <a:pt x="8372" y="9966"/>
                </a:lnTo>
                <a:cubicBezTo>
                  <a:pt x="9181" y="9813"/>
                  <a:pt x="9813" y="9181"/>
                  <a:pt x="9966" y="8372"/>
                </a:cubicBezTo>
                <a:close/>
                <a:moveTo>
                  <a:pt x="20000" y="2000"/>
                </a:moveTo>
                <a:lnTo>
                  <a:pt x="20000" y="6000"/>
                </a:lnTo>
                <a:moveTo>
                  <a:pt x="22000" y="4000"/>
                </a:moveTo>
                <a:lnTo>
                  <a:pt x="18000" y="4000"/>
                </a:lnTo>
                <a:moveTo>
                  <a:pt x="6000" y="20000"/>
                </a:moveTo>
                <a:cubicBezTo>
                  <a:pt x="6000" y="21105"/>
                  <a:pt x="5105" y="22000"/>
                  <a:pt x="4000" y="22000"/>
                </a:cubicBezTo>
                <a:cubicBezTo>
                  <a:pt x="2895" y="22000"/>
                  <a:pt x="2000" y="21105"/>
                  <a:pt x="2000" y="20000"/>
                </a:cubicBezTo>
                <a:cubicBezTo>
                  <a:pt x="2000" y="18895"/>
                  <a:pt x="2895" y="18000"/>
                  <a:pt x="4000" y="18000"/>
                </a:cubicBezTo>
                <a:cubicBezTo>
                  <a:pt x="5105" y="18000"/>
                  <a:pt x="6000" y="18895"/>
                  <a:pt x="6000" y="20000"/>
                </a:cubicBezTo>
                <a:close/>
              </a:path>
            </a:pathLst>
          </a:custGeom>
          <a:noFill/>
          <a:ln w="3175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14" name="slot.partner.4.label"/>
          <p:cNvSpPr txBox="1"/>
          <p:nvPr/>
        </p:nvSpPr>
        <p:spPr>
          <a:xfrm>
            <a:off x="7690104" y="5715000"/>
            <a:ext cx="990600" cy="38404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Model providers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slot.partner.5.icon"/>
          <p:cNvSpPr/>
          <p:nvPr/>
        </p:nvSpPr>
        <p:spPr>
          <a:xfrm>
            <a:off x="8753856" y="5715000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3000"/>
                </a:moveTo>
                <a:lnTo>
                  <a:pt x="9000" y="3000"/>
                </a:lnTo>
                <a:cubicBezTo>
                  <a:pt x="10105" y="3000"/>
                  <a:pt x="11000" y="3895"/>
                  <a:pt x="11000" y="5000"/>
                </a:cubicBezTo>
                <a:lnTo>
                  <a:pt x="11000" y="9000"/>
                </a:lnTo>
                <a:cubicBezTo>
                  <a:pt x="11000" y="10105"/>
                  <a:pt x="10105" y="11000"/>
                  <a:pt x="9000" y="11000"/>
                </a:cubicBezTo>
                <a:lnTo>
                  <a:pt x="5000" y="11000"/>
                </a:lnTo>
                <a:cubicBezTo>
                  <a:pt x="3895" y="11000"/>
                  <a:pt x="3000" y="10105"/>
                  <a:pt x="3000" y="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  <a:moveTo>
                  <a:pt x="7000" y="11000"/>
                </a:moveTo>
                <a:lnTo>
                  <a:pt x="7000" y="15000"/>
                </a:lnTo>
                <a:cubicBezTo>
                  <a:pt x="7000" y="16105"/>
                  <a:pt x="7895" y="17000"/>
                  <a:pt x="9000" y="17000"/>
                </a:cubicBezTo>
                <a:lnTo>
                  <a:pt x="13000" y="17000"/>
                </a:lnTo>
                <a:moveTo>
                  <a:pt x="15000" y="13000"/>
                </a:moveTo>
                <a:lnTo>
                  <a:pt x="19000" y="13000"/>
                </a:lnTo>
                <a:cubicBezTo>
                  <a:pt x="20105" y="13000"/>
                  <a:pt x="21000" y="13895"/>
                  <a:pt x="21000" y="1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5000" y="21000"/>
                </a:lnTo>
                <a:cubicBezTo>
                  <a:pt x="13895" y="21000"/>
                  <a:pt x="13000" y="20105"/>
                  <a:pt x="13000" y="19000"/>
                </a:cubicBezTo>
                <a:lnTo>
                  <a:pt x="13000" y="15000"/>
                </a:lnTo>
                <a:cubicBezTo>
                  <a:pt x="13000" y="13895"/>
                  <a:pt x="13895" y="13000"/>
                  <a:pt x="15000" y="13000"/>
                </a:cubicBezTo>
                <a:close/>
              </a:path>
            </a:pathLst>
          </a:custGeom>
          <a:noFill/>
          <a:ln w="3175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16" name="slot.partner.5.label"/>
          <p:cNvSpPr txBox="1"/>
          <p:nvPr/>
        </p:nvSpPr>
        <p:spPr>
          <a:xfrm>
            <a:off x="9211056" y="5715000"/>
            <a:ext cx="990600" cy="38404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Data modeling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slot.partner.6.icon"/>
          <p:cNvSpPr/>
          <p:nvPr/>
        </p:nvSpPr>
        <p:spPr>
          <a:xfrm>
            <a:off x="10274808" y="5715000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lnTo>
                  <a:pt x="19520" y="12000"/>
                </a:lnTo>
                <a:cubicBezTo>
                  <a:pt x="18622" y="11998"/>
                  <a:pt x="17833" y="12595"/>
                  <a:pt x="17590" y="13460"/>
                </a:cubicBezTo>
                <a:lnTo>
                  <a:pt x="15240" y="21820"/>
                </a:lnTo>
                <a:cubicBezTo>
                  <a:pt x="15209" y="21927"/>
                  <a:pt x="15111" y="22000"/>
                  <a:pt x="15000" y="22000"/>
                </a:cubicBezTo>
                <a:cubicBezTo>
                  <a:pt x="14889" y="22000"/>
                  <a:pt x="14791" y="21927"/>
                  <a:pt x="14760" y="21820"/>
                </a:cubicBezTo>
                <a:lnTo>
                  <a:pt x="9240" y="2180"/>
                </a:lnTo>
                <a:cubicBezTo>
                  <a:pt x="9209" y="2073"/>
                  <a:pt x="9111" y="2000"/>
                  <a:pt x="9000" y="2000"/>
                </a:cubicBezTo>
                <a:cubicBezTo>
                  <a:pt x="8889" y="2000"/>
                  <a:pt x="8791" y="2073"/>
                  <a:pt x="8760" y="2180"/>
                </a:cubicBezTo>
                <a:lnTo>
                  <a:pt x="6410" y="10540"/>
                </a:lnTo>
                <a:cubicBezTo>
                  <a:pt x="6168" y="11401"/>
                  <a:pt x="5384" y="11997"/>
                  <a:pt x="4490" y="12000"/>
                </a:cubicBezTo>
                <a:lnTo>
                  <a:pt x="2000" y="12000"/>
                </a:lnTo>
              </a:path>
            </a:pathLst>
          </a:custGeom>
          <a:noFill/>
          <a:ln w="3175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18" name="slot.partner.6.label"/>
          <p:cNvSpPr txBox="1"/>
          <p:nvPr/>
        </p:nvSpPr>
        <p:spPr>
          <a:xfrm>
            <a:off x="10732008" y="5715000"/>
            <a:ext cx="990600" cy="38404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Streaming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executive-summary:ask-rail-response">
    <p:spTree>
      <p:nvGrpSpPr>
        <p:cNvPr id="1" name=""/>
        <p:cNvGrpSpPr/>
        <p:nvPr/>
      </p:nvGrpSpPr>
      <p:grpSpPr/>
      <p:sp>
        <p:nvSpPr>
          <p:cNvPr id="2" name="slot.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Every ask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in the brief meets a named answer, from concept to full rollout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truct.brief.head"/>
          <p:cNvSpPr/>
          <p:nvPr/>
        </p:nvSpPr>
        <p:spPr>
          <a:xfrm>
            <a:off x="457200" y="777240"/>
            <a:ext cx="3520440" cy="36576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4" name="slot.brief.head"/>
          <p:cNvSpPr txBox="1"/>
          <p:nvPr/>
        </p:nvSpPr>
        <p:spPr>
          <a:xfrm>
            <a:off x="621792" y="813816"/>
            <a:ext cx="3191256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What the brief asks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truct.response.head"/>
          <p:cNvSpPr/>
          <p:nvPr/>
        </p:nvSpPr>
        <p:spPr>
          <a:xfrm>
            <a:off x="4206240" y="777240"/>
            <a:ext cx="7589520" cy="36576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6" name="slot.response.head"/>
          <p:cNvSpPr txBox="1"/>
          <p:nvPr/>
        </p:nvSpPr>
        <p:spPr>
          <a:xfrm>
            <a:off x="4370832" y="813816"/>
            <a:ext cx="7260336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How the response answers it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truct.brief.panel"/>
          <p:cNvSpPr/>
          <p:nvPr/>
        </p:nvSpPr>
        <p:spPr>
          <a:xfrm>
            <a:off x="457200" y="1252728"/>
            <a:ext cx="3520440" cy="5001768"/>
          </a:xfrm>
          <a:prstGeom prst="roundRect">
            <a:avLst>
              <a:gd name="adj" fmla="val 1298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8" name="slot.brief.1.icon"/>
          <p:cNvSpPr/>
          <p:nvPr/>
        </p:nvSpPr>
        <p:spPr>
          <a:xfrm>
            <a:off x="621792" y="139903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8000" y="12000"/>
                </a:moveTo>
                <a:cubicBezTo>
                  <a:pt x="18000" y="15314"/>
                  <a:pt x="15314" y="18000"/>
                  <a:pt x="12000" y="18000"/>
                </a:cubicBezTo>
                <a:cubicBezTo>
                  <a:pt x="8686" y="18000"/>
                  <a:pt x="6000" y="15314"/>
                  <a:pt x="6000" y="12000"/>
                </a:cubicBezTo>
                <a:cubicBezTo>
                  <a:pt x="6000" y="8686"/>
                  <a:pt x="8686" y="6000"/>
                  <a:pt x="12000" y="6000"/>
                </a:cubicBezTo>
                <a:cubicBezTo>
                  <a:pt x="15314" y="6000"/>
                  <a:pt x="18000" y="8686"/>
                  <a:pt x="18000" y="12000"/>
                </a:cubicBezTo>
                <a:close/>
                <a:moveTo>
                  <a:pt x="14000" y="12000"/>
                </a:moveTo>
                <a:cubicBezTo>
                  <a:pt x="14000" y="13105"/>
                  <a:pt x="13105" y="14000"/>
                  <a:pt x="12000" y="14000"/>
                </a:cubicBezTo>
                <a:cubicBezTo>
                  <a:pt x="10895" y="14000"/>
                  <a:pt x="10000" y="13105"/>
                  <a:pt x="10000" y="12000"/>
                </a:cubicBezTo>
                <a:cubicBezTo>
                  <a:pt x="10000" y="10895"/>
                  <a:pt x="10895" y="10000"/>
                  <a:pt x="12000" y="10000"/>
                </a:cubicBezTo>
                <a:cubicBezTo>
                  <a:pt x="13105" y="10000"/>
                  <a:pt x="14000" y="10895"/>
                  <a:pt x="14000" y="12000"/>
                </a:cubicBezTo>
                <a:close/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9" name="slot.brief.1.label"/>
          <p:cNvSpPr txBox="1"/>
          <p:nvPr/>
        </p:nvSpPr>
        <p:spPr>
          <a:xfrm>
            <a:off x="1024128" y="1380744"/>
            <a:ext cx="278892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Objective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lot.brief.1.body"/>
          <p:cNvSpPr txBox="1"/>
          <p:nvPr/>
        </p:nvSpPr>
        <p:spPr>
          <a:xfrm>
            <a:off x="1024128" y="1664208"/>
            <a:ext cx="2788920" cy="35814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Agents that take routine analysis work off the planning teams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1" name="struct.brief.rule.1"/>
          <p:cNvCxnSpPr/>
          <p:nvPr/>
        </p:nvCxnSpPr>
        <p:spPr>
          <a:xfrm>
            <a:off x="621792" y="2086356"/>
            <a:ext cx="3191256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12" name="slot.brief.2.icon"/>
          <p:cNvSpPr/>
          <p:nvPr/>
        </p:nvSpPr>
        <p:spPr>
          <a:xfrm>
            <a:off x="621792" y="223266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22000" y="12000"/>
                </a:moveTo>
                <a:lnTo>
                  <a:pt x="18000" y="12000"/>
                </a:lnTo>
                <a:moveTo>
                  <a:pt x="6000" y="12000"/>
                </a:moveTo>
                <a:lnTo>
                  <a:pt x="2000" y="12000"/>
                </a:lnTo>
                <a:moveTo>
                  <a:pt x="12000" y="6000"/>
                </a:moveTo>
                <a:lnTo>
                  <a:pt x="12000" y="2000"/>
                </a:lnTo>
                <a:moveTo>
                  <a:pt x="12000" y="22000"/>
                </a:moveTo>
                <a:lnTo>
                  <a:pt x="12000" y="18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13" name="slot.brief.2.label"/>
          <p:cNvSpPr txBox="1"/>
          <p:nvPr/>
        </p:nvSpPr>
        <p:spPr>
          <a:xfrm>
            <a:off x="1024128" y="2214372"/>
            <a:ext cx="278892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Scope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slot.brief.2.body"/>
          <p:cNvSpPr txBox="1"/>
          <p:nvPr/>
        </p:nvSpPr>
        <p:spPr>
          <a:xfrm>
            <a:off x="1024128" y="2497836"/>
            <a:ext cx="2788920" cy="35814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Planning, pricing, marketing and finance across four regions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5" name="struct.brief.rule.2"/>
          <p:cNvCxnSpPr/>
          <p:nvPr/>
        </p:nvCxnSpPr>
        <p:spPr>
          <a:xfrm>
            <a:off x="621792" y="2919984"/>
            <a:ext cx="3191256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16" name="slot.brief.3.icon"/>
          <p:cNvSpPr/>
          <p:nvPr/>
        </p:nvSpPr>
        <p:spPr>
          <a:xfrm>
            <a:off x="621792" y="3066288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5390" y="4390"/>
                </a:moveTo>
                <a:cubicBezTo>
                  <a:pt x="15646" y="4646"/>
                  <a:pt x="16020" y="4744"/>
                  <a:pt x="16369" y="4646"/>
                </a:cubicBezTo>
                <a:cubicBezTo>
                  <a:pt x="16718" y="4547"/>
                  <a:pt x="16986" y="4268"/>
                  <a:pt x="17070" y="3916"/>
                </a:cubicBezTo>
                <a:cubicBezTo>
                  <a:pt x="17357" y="2720"/>
                  <a:pt x="18471" y="1911"/>
                  <a:pt x="19697" y="2008"/>
                </a:cubicBezTo>
                <a:cubicBezTo>
                  <a:pt x="20923" y="2104"/>
                  <a:pt x="21897" y="3078"/>
                  <a:pt x="21993" y="4304"/>
                </a:cubicBezTo>
                <a:cubicBezTo>
                  <a:pt x="22089" y="5530"/>
                  <a:pt x="21280" y="6644"/>
                  <a:pt x="20084" y="6931"/>
                </a:cubicBezTo>
                <a:cubicBezTo>
                  <a:pt x="19732" y="7015"/>
                  <a:pt x="19453" y="7283"/>
                  <a:pt x="19354" y="7632"/>
                </a:cubicBezTo>
                <a:cubicBezTo>
                  <a:pt x="19256" y="7981"/>
                  <a:pt x="19354" y="8355"/>
                  <a:pt x="19610" y="8611"/>
                </a:cubicBezTo>
                <a:lnTo>
                  <a:pt x="21293" y="10293"/>
                </a:lnTo>
                <a:cubicBezTo>
                  <a:pt x="21746" y="10746"/>
                  <a:pt x="22000" y="11360"/>
                  <a:pt x="22000" y="12000"/>
                </a:cubicBezTo>
                <a:cubicBezTo>
                  <a:pt x="22000" y="12640"/>
                  <a:pt x="21746" y="13254"/>
                  <a:pt x="21293" y="13707"/>
                </a:cubicBezTo>
                <a:lnTo>
                  <a:pt x="19610" y="15390"/>
                </a:lnTo>
                <a:cubicBezTo>
                  <a:pt x="19354" y="15646"/>
                  <a:pt x="18980" y="15744"/>
                  <a:pt x="18631" y="15646"/>
                </a:cubicBezTo>
                <a:cubicBezTo>
                  <a:pt x="18282" y="15547"/>
                  <a:pt x="18014" y="15268"/>
                  <a:pt x="17930" y="14916"/>
                </a:cubicBezTo>
                <a:cubicBezTo>
                  <a:pt x="17643" y="13720"/>
                  <a:pt x="16529" y="12911"/>
                  <a:pt x="15303" y="13008"/>
                </a:cubicBezTo>
                <a:cubicBezTo>
                  <a:pt x="14077" y="13104"/>
                  <a:pt x="13103" y="14078"/>
                  <a:pt x="13007" y="15304"/>
                </a:cubicBezTo>
                <a:cubicBezTo>
                  <a:pt x="12911" y="16530"/>
                  <a:pt x="13720" y="17644"/>
                  <a:pt x="14916" y="17931"/>
                </a:cubicBezTo>
                <a:cubicBezTo>
                  <a:pt x="15268" y="18015"/>
                  <a:pt x="15547" y="18283"/>
                  <a:pt x="15646" y="18632"/>
                </a:cubicBezTo>
                <a:cubicBezTo>
                  <a:pt x="15744" y="18981"/>
                  <a:pt x="15646" y="19355"/>
                  <a:pt x="15390" y="19611"/>
                </a:cubicBezTo>
                <a:lnTo>
                  <a:pt x="13707" y="21293"/>
                </a:lnTo>
                <a:cubicBezTo>
                  <a:pt x="13254" y="21746"/>
                  <a:pt x="12640" y="22000"/>
                  <a:pt x="12000" y="22000"/>
                </a:cubicBezTo>
                <a:cubicBezTo>
                  <a:pt x="11360" y="22000"/>
                  <a:pt x="10746" y="21746"/>
                  <a:pt x="10293" y="21293"/>
                </a:cubicBezTo>
                <a:lnTo>
                  <a:pt x="8610" y="19610"/>
                </a:lnTo>
                <a:cubicBezTo>
                  <a:pt x="8354" y="19354"/>
                  <a:pt x="7980" y="19256"/>
                  <a:pt x="7631" y="19354"/>
                </a:cubicBezTo>
                <a:cubicBezTo>
                  <a:pt x="7282" y="19453"/>
                  <a:pt x="7014" y="19732"/>
                  <a:pt x="6930" y="20084"/>
                </a:cubicBezTo>
                <a:cubicBezTo>
                  <a:pt x="6643" y="21280"/>
                  <a:pt x="5529" y="22089"/>
                  <a:pt x="4303" y="21992"/>
                </a:cubicBezTo>
                <a:cubicBezTo>
                  <a:pt x="3077" y="21896"/>
                  <a:pt x="2103" y="20922"/>
                  <a:pt x="2007" y="19696"/>
                </a:cubicBezTo>
                <a:cubicBezTo>
                  <a:pt x="1911" y="18470"/>
                  <a:pt x="2720" y="17356"/>
                  <a:pt x="3916" y="17069"/>
                </a:cubicBezTo>
                <a:cubicBezTo>
                  <a:pt x="4268" y="16985"/>
                  <a:pt x="4547" y="16717"/>
                  <a:pt x="4646" y="16368"/>
                </a:cubicBezTo>
                <a:cubicBezTo>
                  <a:pt x="4744" y="16019"/>
                  <a:pt x="4646" y="15645"/>
                  <a:pt x="4390" y="15389"/>
                </a:cubicBezTo>
                <a:lnTo>
                  <a:pt x="2707" y="13707"/>
                </a:lnTo>
                <a:cubicBezTo>
                  <a:pt x="2254" y="13254"/>
                  <a:pt x="2000" y="12640"/>
                  <a:pt x="2000" y="12000"/>
                </a:cubicBezTo>
                <a:cubicBezTo>
                  <a:pt x="2000" y="11360"/>
                  <a:pt x="2254" y="10746"/>
                  <a:pt x="2707" y="10293"/>
                </a:cubicBezTo>
                <a:lnTo>
                  <a:pt x="4390" y="8610"/>
                </a:lnTo>
                <a:cubicBezTo>
                  <a:pt x="4646" y="8354"/>
                  <a:pt x="5020" y="8256"/>
                  <a:pt x="5369" y="8354"/>
                </a:cubicBezTo>
                <a:cubicBezTo>
                  <a:pt x="5718" y="8453"/>
                  <a:pt x="5986" y="8732"/>
                  <a:pt x="6070" y="9084"/>
                </a:cubicBezTo>
                <a:cubicBezTo>
                  <a:pt x="6357" y="10280"/>
                  <a:pt x="7471" y="11089"/>
                  <a:pt x="8697" y="10992"/>
                </a:cubicBezTo>
                <a:cubicBezTo>
                  <a:pt x="9923" y="10896"/>
                  <a:pt x="10897" y="9922"/>
                  <a:pt x="10993" y="8696"/>
                </a:cubicBezTo>
                <a:cubicBezTo>
                  <a:pt x="11089" y="7470"/>
                  <a:pt x="10280" y="6356"/>
                  <a:pt x="9084" y="6069"/>
                </a:cubicBezTo>
                <a:cubicBezTo>
                  <a:pt x="8732" y="5985"/>
                  <a:pt x="8453" y="5717"/>
                  <a:pt x="8354" y="5368"/>
                </a:cubicBezTo>
                <a:cubicBezTo>
                  <a:pt x="8256" y="5019"/>
                  <a:pt x="8354" y="4645"/>
                  <a:pt x="8610" y="4389"/>
                </a:cubicBezTo>
                <a:lnTo>
                  <a:pt x="10293" y="2707"/>
                </a:lnTo>
                <a:cubicBezTo>
                  <a:pt x="10746" y="2254"/>
                  <a:pt x="11360" y="2000"/>
                  <a:pt x="12000" y="2000"/>
                </a:cubicBezTo>
                <a:cubicBezTo>
                  <a:pt x="12640" y="2000"/>
                  <a:pt x="13254" y="2254"/>
                  <a:pt x="13707" y="2707"/>
                </a:cubicBezTo>
                <a:close/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17" name="slot.brief.3.label"/>
          <p:cNvSpPr txBox="1"/>
          <p:nvPr/>
        </p:nvSpPr>
        <p:spPr>
          <a:xfrm>
            <a:off x="1024128" y="3048000"/>
            <a:ext cx="278892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Capabilities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lot.brief.3.body"/>
          <p:cNvSpPr txBox="1"/>
          <p:nvPr/>
        </p:nvSpPr>
        <p:spPr>
          <a:xfrm>
            <a:off x="1024128" y="3331464"/>
            <a:ext cx="2788920" cy="35814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Research, analysis, reporting and test automation, each as an agent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9" name="struct.brief.rule.3"/>
          <p:cNvCxnSpPr/>
          <p:nvPr/>
        </p:nvCxnSpPr>
        <p:spPr>
          <a:xfrm>
            <a:off x="621792" y="3753612"/>
            <a:ext cx="3191256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20" name="slot.brief.4.icon"/>
          <p:cNvSpPr/>
          <p:nvPr/>
        </p:nvSpPr>
        <p:spPr>
          <a:xfrm>
            <a:off x="621792" y="389991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000" y="17000"/>
                </a:moveTo>
                <a:lnTo>
                  <a:pt x="13000" y="9000"/>
                </a:lnTo>
                <a:moveTo>
                  <a:pt x="18000" y="17000"/>
                </a:moveTo>
                <a:lnTo>
                  <a:pt x="18000" y="5000"/>
                </a:lnTo>
                <a:moveTo>
                  <a:pt x="3000" y="3000"/>
                </a:moveTo>
                <a:lnTo>
                  <a:pt x="3000" y="19000"/>
                </a:lnTo>
                <a:cubicBezTo>
                  <a:pt x="3000" y="20105"/>
                  <a:pt x="3895" y="21000"/>
                  <a:pt x="5000" y="21000"/>
                </a:cubicBezTo>
                <a:lnTo>
                  <a:pt x="21000" y="21000"/>
                </a:lnTo>
                <a:moveTo>
                  <a:pt x="8000" y="17000"/>
                </a:moveTo>
                <a:lnTo>
                  <a:pt x="8000" y="14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21" name="slot.brief.4.label"/>
          <p:cNvSpPr txBox="1"/>
          <p:nvPr/>
        </p:nvSpPr>
        <p:spPr>
          <a:xfrm>
            <a:off x="1024128" y="3881628"/>
            <a:ext cx="278892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Maturity range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lot.brief.4.body"/>
          <p:cNvSpPr txBox="1"/>
          <p:nvPr/>
        </p:nvSpPr>
        <p:spPr>
          <a:xfrm>
            <a:off x="1024128" y="4165092"/>
            <a:ext cx="2788920" cy="35814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From early concepts to agents running in daily work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3" name="struct.brief.rule.4"/>
          <p:cNvCxnSpPr/>
          <p:nvPr/>
        </p:nvCxnSpPr>
        <p:spPr>
          <a:xfrm>
            <a:off x="621792" y="4587240"/>
            <a:ext cx="3191256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24" name="slot.brief.5.icon"/>
          <p:cNvSpPr/>
          <p:nvPr/>
        </p:nvSpPr>
        <p:spPr>
          <a:xfrm>
            <a:off x="621792" y="4733544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17000"/>
                </a:moveTo>
                <a:lnTo>
                  <a:pt x="13000" y="19000"/>
                </a:lnTo>
                <a:cubicBezTo>
                  <a:pt x="13828" y="19828"/>
                  <a:pt x="15172" y="19828"/>
                  <a:pt x="16000" y="19000"/>
                </a:cubicBezTo>
                <a:cubicBezTo>
                  <a:pt x="16828" y="18172"/>
                  <a:pt x="16828" y="16828"/>
                  <a:pt x="16000" y="16000"/>
                </a:cubicBezTo>
                <a:moveTo>
                  <a:pt x="14000" y="14000"/>
                </a:moveTo>
                <a:lnTo>
                  <a:pt x="16500" y="16500"/>
                </a:lnTo>
                <a:cubicBezTo>
                  <a:pt x="17328" y="17328"/>
                  <a:pt x="18672" y="17328"/>
                  <a:pt x="19500" y="16500"/>
                </a:cubicBezTo>
                <a:cubicBezTo>
                  <a:pt x="20328" y="15672"/>
                  <a:pt x="20328" y="14328"/>
                  <a:pt x="19500" y="13500"/>
                </a:cubicBezTo>
                <a:lnTo>
                  <a:pt x="15620" y="9620"/>
                </a:lnTo>
                <a:cubicBezTo>
                  <a:pt x="14449" y="8450"/>
                  <a:pt x="12551" y="8450"/>
                  <a:pt x="11380" y="9620"/>
                </a:cubicBezTo>
                <a:lnTo>
                  <a:pt x="10500" y="10500"/>
                </a:lnTo>
                <a:cubicBezTo>
                  <a:pt x="9672" y="11328"/>
                  <a:pt x="8328" y="11328"/>
                  <a:pt x="7500" y="10500"/>
                </a:cubicBezTo>
                <a:cubicBezTo>
                  <a:pt x="6672" y="9672"/>
                  <a:pt x="6672" y="8328"/>
                  <a:pt x="7500" y="7500"/>
                </a:cubicBezTo>
                <a:lnTo>
                  <a:pt x="10310" y="4690"/>
                </a:lnTo>
                <a:cubicBezTo>
                  <a:pt x="12187" y="2818"/>
                  <a:pt x="15095" y="2460"/>
                  <a:pt x="17370" y="3820"/>
                </a:cubicBezTo>
                <a:lnTo>
                  <a:pt x="17840" y="4100"/>
                </a:lnTo>
                <a:cubicBezTo>
                  <a:pt x="18266" y="4357"/>
                  <a:pt x="18772" y="4446"/>
                  <a:pt x="19260" y="4350"/>
                </a:cubicBezTo>
                <a:lnTo>
                  <a:pt x="21000" y="4000"/>
                </a:lnTo>
                <a:moveTo>
                  <a:pt x="21000" y="3000"/>
                </a:moveTo>
                <a:lnTo>
                  <a:pt x="22000" y="14000"/>
                </a:lnTo>
                <a:lnTo>
                  <a:pt x="20000" y="14000"/>
                </a:lnTo>
                <a:moveTo>
                  <a:pt x="3000" y="3000"/>
                </a:moveTo>
                <a:lnTo>
                  <a:pt x="2000" y="14000"/>
                </a:lnTo>
                <a:lnTo>
                  <a:pt x="8500" y="20500"/>
                </a:lnTo>
                <a:cubicBezTo>
                  <a:pt x="9328" y="21328"/>
                  <a:pt x="10672" y="21328"/>
                  <a:pt x="11500" y="20500"/>
                </a:cubicBezTo>
                <a:cubicBezTo>
                  <a:pt x="12328" y="19672"/>
                  <a:pt x="12328" y="18328"/>
                  <a:pt x="11500" y="17500"/>
                </a:cubicBezTo>
                <a:moveTo>
                  <a:pt x="3000" y="4000"/>
                </a:moveTo>
                <a:lnTo>
                  <a:pt x="11000" y="4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25" name="slot.brief.5.label"/>
          <p:cNvSpPr txBox="1"/>
          <p:nvPr/>
        </p:nvSpPr>
        <p:spPr>
          <a:xfrm>
            <a:off x="1024128" y="4715256"/>
            <a:ext cx="278892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Delivery models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slot.brief.5.body"/>
          <p:cNvSpPr txBox="1"/>
          <p:nvPr/>
        </p:nvSpPr>
        <p:spPr>
          <a:xfrm>
            <a:off x="1024128" y="4998720"/>
            <a:ext cx="2788920" cy="35814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 hosted service, an API, or tools inside current systems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7" name="struct.brief.rule.5"/>
          <p:cNvCxnSpPr/>
          <p:nvPr/>
        </p:nvCxnSpPr>
        <p:spPr>
          <a:xfrm>
            <a:off x="621792" y="5420868"/>
            <a:ext cx="3191256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28" name="slot.brief.6.icon"/>
          <p:cNvSpPr/>
          <p:nvPr/>
        </p:nvSpPr>
        <p:spPr>
          <a:xfrm>
            <a:off x="621792" y="556717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29" name="slot.brief.6.label"/>
          <p:cNvSpPr txBox="1"/>
          <p:nvPr/>
        </p:nvSpPr>
        <p:spPr>
          <a:xfrm>
            <a:off x="1024128" y="5548884"/>
            <a:ext cx="278892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Governance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slot.brief.6.body"/>
          <p:cNvSpPr txBox="1"/>
          <p:nvPr/>
        </p:nvSpPr>
        <p:spPr>
          <a:xfrm>
            <a:off x="1024128" y="5832348"/>
            <a:ext cx="2788920" cy="35814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Audit trails and human sign-off in a regulated setting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truct.col.1.head"/>
          <p:cNvSpPr/>
          <p:nvPr/>
        </p:nvSpPr>
        <p:spPr>
          <a:xfrm>
            <a:off x="4206240" y="1252728"/>
            <a:ext cx="2432304" cy="329184"/>
          </a:xfrm>
          <a:prstGeom prst="roundRect">
            <a:avLst>
              <a:gd name="adj" fmla="val 13888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</p:sp>
      <p:sp>
        <p:nvSpPr>
          <p:cNvPr id="32" name="slot.col.1.head"/>
          <p:cNvSpPr txBox="1"/>
          <p:nvPr/>
        </p:nvSpPr>
        <p:spPr>
          <a:xfrm>
            <a:off x="4297680" y="1280160"/>
            <a:ext cx="224942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Who delivers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slot.col.1.lead"/>
          <p:cNvSpPr txBox="1"/>
          <p:nvPr/>
        </p:nvSpPr>
        <p:spPr>
          <a:xfrm>
            <a:off x="4242816" y="1673352"/>
            <a:ext cx="2359152" cy="53035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 data and AI engineering firm with delivery at enterprise scale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struct.col.1.tile.1"/>
          <p:cNvSpPr/>
          <p:nvPr/>
        </p:nvSpPr>
        <p:spPr>
          <a:xfrm>
            <a:off x="4206240" y="2276856"/>
            <a:ext cx="2432304" cy="950976"/>
          </a:xfrm>
          <a:prstGeom prst="roundRect">
            <a:avLst>
              <a:gd name="adj" fmla="val 480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grpSp>
        <p:nvGrpSpPr>
          <p:cNvPr id="35" name="slot.col.1.stat"/>
          <p:cNvGrpSpPr/>
          <p:nvPr/>
        </p:nvGrpSpPr>
        <p:grpSpPr>
          <a:xfrm>
            <a:off x="4352544" y="2340864"/>
            <a:ext cx="2139696" cy="809098"/>
            <a:chOff x="4352544" y="2340864"/>
            <a:chExt cx="2139696" cy="809098"/>
          </a:xfrm>
          <a:effectLst/>
        </p:grpSpPr>
        <p:sp>
          <p:nvSpPr>
            <p:cNvPr id="36" name="slot.col.1.stat.value"/>
            <p:cNvSpPr txBox="1"/>
            <p:nvPr/>
          </p:nvSpPr>
          <p:spPr>
            <a:xfrm>
              <a:off x="4352544" y="2340864"/>
              <a:ext cx="2139696" cy="373159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1,200+</a:t>
              </a:r>
              <a:endParaRPr lang="en-US" sz="2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37" name="slot.col.1.stat.rule"/>
            <p:cNvCxnSpPr/>
            <p:nvPr/>
          </p:nvCxnSpPr>
          <p:spPr>
            <a:xfrm>
              <a:off x="4352544" y="2759743"/>
              <a:ext cx="2139696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38" name="slot.col.1.stat.label"/>
            <p:cNvSpPr txBox="1"/>
            <p:nvPr/>
          </p:nvSpPr>
          <p:spPr>
            <a:xfrm>
              <a:off x="4352544" y="2814607"/>
              <a:ext cx="2139696" cy="335355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engineers in data and AI delivery</a:t>
              </a:r>
              <a:endPara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39" name="struct.col.1.tile.2"/>
          <p:cNvSpPr/>
          <p:nvPr/>
        </p:nvSpPr>
        <p:spPr>
          <a:xfrm>
            <a:off x="4206240" y="3319272"/>
            <a:ext cx="2432304" cy="585216"/>
          </a:xfrm>
          <a:prstGeom prst="roundRect">
            <a:avLst>
              <a:gd name="adj" fmla="val 781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40" name="slot.col.1.tile.2"/>
          <p:cNvSpPr txBox="1"/>
          <p:nvPr/>
        </p:nvSpPr>
        <p:spPr>
          <a:xfrm>
            <a:off x="4352544" y="3364992"/>
            <a:ext cx="2139696" cy="49377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Teams spanning data, engineering and domain consulting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truct.col.1.tile.3"/>
          <p:cNvSpPr/>
          <p:nvPr/>
        </p:nvSpPr>
        <p:spPr>
          <a:xfrm>
            <a:off x="4206240" y="3995928"/>
            <a:ext cx="2432304" cy="585216"/>
          </a:xfrm>
          <a:prstGeom prst="roundRect">
            <a:avLst>
              <a:gd name="adj" fmla="val 781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42" name="slot.col.1.tile.3"/>
          <p:cNvSpPr txBox="1"/>
          <p:nvPr/>
        </p:nvSpPr>
        <p:spPr>
          <a:xfrm>
            <a:off x="4352544" y="4041648"/>
            <a:ext cx="2139696" cy="49377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Reusable assets carried from one value chain to the next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struct.col.2.head"/>
          <p:cNvSpPr/>
          <p:nvPr/>
        </p:nvSpPr>
        <p:spPr>
          <a:xfrm>
            <a:off x="6784848" y="1252728"/>
            <a:ext cx="2432304" cy="329184"/>
          </a:xfrm>
          <a:prstGeom prst="roundRect">
            <a:avLst>
              <a:gd name="adj" fmla="val 13888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</p:sp>
      <p:sp>
        <p:nvSpPr>
          <p:cNvPr id="44" name="slot.col.2.head"/>
          <p:cNvSpPr txBox="1"/>
          <p:nvPr/>
        </p:nvSpPr>
        <p:spPr>
          <a:xfrm>
            <a:off x="6876288" y="1280160"/>
            <a:ext cx="224942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What is offered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lot.col.2.lead"/>
          <p:cNvSpPr txBox="1"/>
          <p:nvPr/>
        </p:nvSpPr>
        <p:spPr>
          <a:xfrm>
            <a:off x="6821424" y="1673352"/>
            <a:ext cx="2359152" cy="53035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 modular set of agents built to run in production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struct.col.2.tile.1"/>
          <p:cNvSpPr/>
          <p:nvPr/>
        </p:nvSpPr>
        <p:spPr>
          <a:xfrm>
            <a:off x="6784848" y="2276856"/>
            <a:ext cx="2432304" cy="950976"/>
          </a:xfrm>
          <a:prstGeom prst="roundRect">
            <a:avLst>
              <a:gd name="adj" fmla="val 4807"/>
            </a:avLst>
          </a:prstGeom>
          <a:solidFill>
            <a:schemeClr val="accent1"/>
          </a:solidFill>
          <a:ln>
            <a:noFill/>
          </a:ln>
          <a:effectLst/>
        </p:spPr>
      </p:sp>
      <p:grpSp>
        <p:nvGrpSpPr>
          <p:cNvPr id="47" name="slot.col.2.stat"/>
          <p:cNvGrpSpPr/>
          <p:nvPr/>
        </p:nvGrpSpPr>
        <p:grpSpPr>
          <a:xfrm>
            <a:off x="6931152" y="2340864"/>
            <a:ext cx="2139696" cy="809098"/>
            <a:chOff x="6931152" y="2340864"/>
            <a:chExt cx="2139696" cy="809098"/>
          </a:xfrm>
          <a:effectLst/>
        </p:grpSpPr>
        <p:sp>
          <p:nvSpPr>
            <p:cNvPr id="48" name="slot.col.2.stat.value"/>
            <p:cNvSpPr txBox="1"/>
            <p:nvPr/>
          </p:nvSpPr>
          <p:spPr>
            <a:xfrm>
              <a:off x="6931152" y="2340864"/>
              <a:ext cx="2139696" cy="373159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20+</a:t>
              </a:r>
              <a:endParaRPr lang="en-US" sz="2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49" name="slot.col.2.stat.rule"/>
            <p:cNvCxnSpPr/>
            <p:nvPr/>
          </p:nvCxnSpPr>
          <p:spPr>
            <a:xfrm>
              <a:off x="6931152" y="2759743"/>
              <a:ext cx="2139696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50" name="slot.col.2.stat.label"/>
            <p:cNvSpPr txBox="1"/>
            <p:nvPr/>
          </p:nvSpPr>
          <p:spPr>
            <a:xfrm>
              <a:off x="6931152" y="2814607"/>
              <a:ext cx="2139696" cy="335355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agents covering the full planning cycle</a:t>
              </a:r>
              <a:endPara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51" name="struct.col.2.tile.2"/>
          <p:cNvSpPr/>
          <p:nvPr/>
        </p:nvSpPr>
        <p:spPr>
          <a:xfrm>
            <a:off x="6784848" y="3319272"/>
            <a:ext cx="2432304" cy="585216"/>
          </a:xfrm>
          <a:prstGeom prst="roundRect">
            <a:avLst>
              <a:gd name="adj" fmla="val 7812"/>
            </a:avLst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52" name="slot.col.2.tile.2"/>
          <p:cNvSpPr txBox="1"/>
          <p:nvPr/>
        </p:nvSpPr>
        <p:spPr>
          <a:xfrm>
            <a:off x="6931152" y="3364992"/>
            <a:ext cx="2139696" cy="49377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Orchestration that lets several agents share one task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struct.col.2.tile.3"/>
          <p:cNvSpPr/>
          <p:nvPr/>
        </p:nvSpPr>
        <p:spPr>
          <a:xfrm>
            <a:off x="6784848" y="3995928"/>
            <a:ext cx="2432304" cy="585216"/>
          </a:xfrm>
          <a:prstGeom prst="roundRect">
            <a:avLst>
              <a:gd name="adj" fmla="val 7812"/>
            </a:avLst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54" name="slot.col.2.tile.3"/>
          <p:cNvSpPr txBox="1"/>
          <p:nvPr/>
        </p:nvSpPr>
        <p:spPr>
          <a:xfrm>
            <a:off x="6931152" y="4041648"/>
            <a:ext cx="2139696" cy="49377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One framework, reused and adapted for each team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struct.col.3.head"/>
          <p:cNvSpPr/>
          <p:nvPr/>
        </p:nvSpPr>
        <p:spPr>
          <a:xfrm>
            <a:off x="9363456" y="1252728"/>
            <a:ext cx="2432304" cy="329184"/>
          </a:xfrm>
          <a:prstGeom prst="roundRect">
            <a:avLst>
              <a:gd name="adj" fmla="val 13888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</p:sp>
      <p:sp>
        <p:nvSpPr>
          <p:cNvPr id="56" name="slot.col.3.head"/>
          <p:cNvSpPr txBox="1"/>
          <p:nvPr/>
        </p:nvSpPr>
        <p:spPr>
          <a:xfrm>
            <a:off x="9454896" y="1280160"/>
            <a:ext cx="2249424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Why it holds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slot.col.3.lead"/>
          <p:cNvSpPr txBox="1"/>
          <p:nvPr/>
        </p:nvSpPr>
        <p:spPr>
          <a:xfrm>
            <a:off x="9400032" y="1673352"/>
            <a:ext cx="2359152" cy="53035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 partner already fluent in the data and ways of working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struct.col.3.tile.1"/>
          <p:cNvSpPr/>
          <p:nvPr/>
        </p:nvSpPr>
        <p:spPr>
          <a:xfrm>
            <a:off x="9363456" y="2276856"/>
            <a:ext cx="2432304" cy="950976"/>
          </a:xfrm>
          <a:prstGeom prst="roundRect">
            <a:avLst>
              <a:gd name="adj" fmla="val 480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grpSp>
        <p:nvGrpSpPr>
          <p:cNvPr id="59" name="slot.col.3.stat"/>
          <p:cNvGrpSpPr/>
          <p:nvPr/>
        </p:nvGrpSpPr>
        <p:grpSpPr>
          <a:xfrm>
            <a:off x="9509760" y="2340864"/>
            <a:ext cx="2139696" cy="809098"/>
            <a:chOff x="9509760" y="2340864"/>
            <a:chExt cx="2139696" cy="809098"/>
          </a:xfrm>
          <a:effectLst/>
        </p:grpSpPr>
        <p:sp>
          <p:nvSpPr>
            <p:cNvPr id="60" name="slot.col.3.stat.value"/>
            <p:cNvSpPr txBox="1"/>
            <p:nvPr/>
          </p:nvSpPr>
          <p:spPr>
            <a:xfrm>
              <a:off x="9509760" y="2340864"/>
              <a:ext cx="2139696" cy="373159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60+</a:t>
              </a:r>
              <a:endParaRPr lang="en-US" sz="2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61" name="slot.col.3.stat.rule"/>
            <p:cNvCxnSpPr/>
            <p:nvPr/>
          </p:nvCxnSpPr>
          <p:spPr>
            <a:xfrm>
              <a:off x="9509760" y="2759743"/>
              <a:ext cx="2139696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62" name="slot.col.3.stat.label"/>
            <p:cNvSpPr txBox="1"/>
            <p:nvPr/>
          </p:nvSpPr>
          <p:spPr>
            <a:xfrm>
              <a:off x="9509760" y="2814607"/>
              <a:ext cx="2139696" cy="335355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people trained on the same data and processes</a:t>
              </a:r>
              <a:endPara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63" name="struct.col.3.tile.2"/>
          <p:cNvSpPr/>
          <p:nvPr/>
        </p:nvSpPr>
        <p:spPr>
          <a:xfrm>
            <a:off x="9363456" y="3319272"/>
            <a:ext cx="2432304" cy="585216"/>
          </a:xfrm>
          <a:prstGeom prst="roundRect">
            <a:avLst>
              <a:gd name="adj" fmla="val 781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64" name="slot.col.3.tile.2"/>
          <p:cNvSpPr txBox="1"/>
          <p:nvPr/>
        </p:nvSpPr>
        <p:spPr>
          <a:xfrm>
            <a:off x="9509760" y="3364992"/>
            <a:ext cx="2139696" cy="49377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 record of scaling agents across business units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struct.col.3.tile.3"/>
          <p:cNvSpPr/>
          <p:nvPr/>
        </p:nvSpPr>
        <p:spPr>
          <a:xfrm>
            <a:off x="9363456" y="3995928"/>
            <a:ext cx="2432304" cy="585216"/>
          </a:xfrm>
          <a:prstGeom prst="roundRect">
            <a:avLst>
              <a:gd name="adj" fmla="val 781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66" name="slot.col.3.tile.3"/>
          <p:cNvSpPr txBox="1"/>
          <p:nvPr/>
        </p:nvSpPr>
        <p:spPr>
          <a:xfrm>
            <a:off x="9509760" y="4041648"/>
            <a:ext cx="2139696" cy="49377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Domain consulting that turns each agent into daily use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slot.basis"/>
          <p:cNvSpPr txBox="1"/>
          <p:nvPr/>
        </p:nvSpPr>
        <p:spPr>
          <a:xfrm>
            <a:off x="9601200" y="4617720"/>
            <a:ext cx="219456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Illustrative figures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68" name="slot.stages"/>
          <p:cNvGrpSpPr/>
          <p:nvPr/>
        </p:nvGrpSpPr>
        <p:grpSpPr>
          <a:xfrm>
            <a:off x="4206240" y="4855464"/>
            <a:ext cx="7589520" cy="365760"/>
            <a:chOff x="4206240" y="4855464"/>
            <a:chExt cx="7589520" cy="365760"/>
          </a:xfrm>
          <a:effectLst/>
        </p:grpSpPr>
        <p:sp>
          <p:nvSpPr>
            <p:cNvPr id="69" name="slot.stages.1"/>
            <p:cNvSpPr/>
            <p:nvPr/>
          </p:nvSpPr>
          <p:spPr>
            <a:xfrm>
              <a:off x="4206240" y="4855464"/>
              <a:ext cx="1585204" cy="365760"/>
            </a:xfrm>
            <a:prstGeom prst="homePlate">
              <a:avLst>
                <a:gd name="adj" fmla="val 33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rtlCol="0" anchor="ctr" wrap="square" lIns="54864" tIns="0" rIns="54864" bIns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Full release</a:t>
              </a:r>
              <a:endPara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70" name="slot.stages.2"/>
            <p:cNvSpPr/>
            <p:nvPr/>
          </p:nvSpPr>
          <p:spPr>
            <a:xfrm>
              <a:off x="5707319" y="4855464"/>
              <a:ext cx="1585204" cy="365760"/>
            </a:xfrm>
            <a:prstGeom prst="chevron">
              <a:avLst>
                <a:gd name="adj" fmla="val 33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rtlCol="0" anchor="ctr" wrap="square" lIns="54864" tIns="0" rIns="54864" bIns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Limited release</a:t>
              </a:r>
              <a:endPara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71" name="slot.stages.3"/>
            <p:cNvSpPr/>
            <p:nvPr/>
          </p:nvSpPr>
          <p:spPr>
            <a:xfrm>
              <a:off x="7208398" y="4855464"/>
              <a:ext cx="1585204" cy="365760"/>
            </a:xfrm>
            <a:prstGeom prst="chevron">
              <a:avLst>
                <a:gd name="adj" fmla="val 33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rtlCol="0" anchor="ctr" wrap="square" lIns="54864" tIns="0" rIns="54864" bIns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Pilot</a:t>
              </a:r>
              <a:endPara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72" name="slot.stages.4"/>
            <p:cNvSpPr/>
            <p:nvPr/>
          </p:nvSpPr>
          <p:spPr>
            <a:xfrm>
              <a:off x="8709477" y="4855464"/>
              <a:ext cx="1585204" cy="365760"/>
            </a:xfrm>
            <a:prstGeom prst="chevron">
              <a:avLst>
                <a:gd name="adj" fmla="val 33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rtlCol="0" anchor="ctr" wrap="square" lIns="54864" tIns="0" rIns="54864" bIns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Early build</a:t>
              </a:r>
              <a:endPara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73" name="slot.stages.5"/>
            <p:cNvSpPr/>
            <p:nvPr/>
          </p:nvSpPr>
          <p:spPr>
            <a:xfrm>
              <a:off x="10210556" y="4855464"/>
              <a:ext cx="1585204" cy="365760"/>
            </a:xfrm>
            <a:prstGeom prst="chevron">
              <a:avLst>
                <a:gd name="adj" fmla="val 33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rtlCol="0" anchor="ctr" wrap="square" lIns="54864" tIns="0" rIns="54864" bIns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Concept</a:t>
              </a:r>
              <a:endPara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74" name="slot.stage.1.sub"/>
          <p:cNvSpPr txBox="1"/>
          <p:nvPr/>
        </p:nvSpPr>
        <p:spPr>
          <a:xfrm>
            <a:off x="4206240" y="5257800"/>
            <a:ext cx="1464503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Enterprise scale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slot.stage.2.sub"/>
          <p:cNvSpPr txBox="1"/>
          <p:nvPr/>
        </p:nvSpPr>
        <p:spPr>
          <a:xfrm>
            <a:off x="5707319" y="5257800"/>
            <a:ext cx="1464503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Controlled rollout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slot.stage.3.sub"/>
          <p:cNvSpPr txBox="1"/>
          <p:nvPr/>
        </p:nvSpPr>
        <p:spPr>
          <a:xfrm>
            <a:off x="7208398" y="5257800"/>
            <a:ext cx="1464503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Real workflow tests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slot.stage.4.sub"/>
          <p:cNvSpPr txBox="1"/>
          <p:nvPr/>
        </p:nvSpPr>
        <p:spPr>
          <a:xfrm>
            <a:off x="8709477" y="5257800"/>
            <a:ext cx="1464503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Concept validated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slot.stage.5.sub"/>
          <p:cNvSpPr txBox="1"/>
          <p:nvPr/>
        </p:nvSpPr>
        <p:spPr>
          <a:xfrm>
            <a:off x="10210556" y="5257800"/>
            <a:ext cx="1464503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Scope and roadmap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struct.term.1"/>
          <p:cNvSpPr/>
          <p:nvPr/>
        </p:nvSpPr>
        <p:spPr>
          <a:xfrm>
            <a:off x="4206240" y="5532120"/>
            <a:ext cx="1418783" cy="722376"/>
          </a:xfrm>
          <a:prstGeom prst="roundRect">
            <a:avLst>
              <a:gd name="adj" fmla="val 63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80" name="slot.term.1"/>
          <p:cNvSpPr txBox="1"/>
          <p:nvPr/>
        </p:nvSpPr>
        <p:spPr>
          <a:xfrm>
            <a:off x="4315968" y="5586984"/>
            <a:ext cx="1199327" cy="61264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Configured on day one, with fixed commercial levers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struct.term.2"/>
          <p:cNvSpPr/>
          <p:nvPr/>
        </p:nvSpPr>
        <p:spPr>
          <a:xfrm>
            <a:off x="5753039" y="5532120"/>
            <a:ext cx="1373063" cy="722376"/>
          </a:xfrm>
          <a:prstGeom prst="roundRect">
            <a:avLst>
              <a:gd name="adj" fmla="val 63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82" name="slot.term.2"/>
          <p:cNvSpPr txBox="1"/>
          <p:nvPr/>
        </p:nvSpPr>
        <p:spPr>
          <a:xfrm>
            <a:off x="5862767" y="5586984"/>
            <a:ext cx="1153607" cy="61264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Limited tailoring, with differentiated levers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struct.term.3"/>
          <p:cNvSpPr/>
          <p:nvPr/>
        </p:nvSpPr>
        <p:spPr>
          <a:xfrm>
            <a:off x="7254118" y="5532120"/>
            <a:ext cx="4541642" cy="722376"/>
          </a:xfrm>
          <a:prstGeom prst="roundRect">
            <a:avLst>
              <a:gd name="adj" fmla="val 63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</p:sp>
      <p:sp>
        <p:nvSpPr>
          <p:cNvPr id="84" name="slot.term.3"/>
          <p:cNvSpPr txBox="1"/>
          <p:nvPr/>
        </p:nvSpPr>
        <p:spPr>
          <a:xfrm>
            <a:off x="7363846" y="5586984"/>
            <a:ext cx="4322186" cy="61264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 roadmap shaped to the client's needs, with upfront investment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why-us:reason-mosaic-platform-strip">
    <p:spTree>
      <p:nvGrpSpPr>
        <p:cNvPr id="1" name=""/>
        <p:cNvGrpSpPr/>
        <p:nvPr/>
      </p:nvGrpSpPr>
      <p:grpSpPr/>
      <p:sp>
        <p:nvSpPr>
          <p:cNvPr id="2" name="struct.platforms.card"/>
          <p:cNvSpPr/>
          <p:nvPr/>
        </p:nvSpPr>
        <p:spPr>
          <a:xfrm>
            <a:off x="457200" y="5120640"/>
            <a:ext cx="11338560" cy="1133856"/>
          </a:xfrm>
          <a:prstGeom prst="roundRect">
            <a:avLst>
              <a:gd fmla="val 4839" name="adj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900"/>
              <a:buFont typeface="Arial"/>
              <a:buNone/>
            </a:pPr>
            <a:r>
              <a:rPr sz="1400"/>
              <a:t/>
            </a:r>
            <a:endParaRPr b="0" i="0" sz="19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struct.controls.card"/>
          <p:cNvSpPr/>
          <p:nvPr/>
        </p:nvSpPr>
        <p:spPr>
          <a:xfrm flipV="1">
            <a:off x="3035808" y="4315968"/>
            <a:ext cx="6455663" cy="676656"/>
          </a:xfrm>
          <a:prstGeom prst="round2SameRect">
            <a:avLst>
              <a:gd name="adj1" fmla="val 8108"/>
              <a:gd name="adj2" fmla="val 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900"/>
              <a:buFont typeface="Arial"/>
              <a:buNone/>
            </a:pPr>
            <a:r>
              <a:rPr sz="1400"/>
              <a:t/>
            </a:r>
            <a:endParaRPr b="0" i="0" sz="19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struct.reason.1.card"/>
          <p:cNvSpPr/>
          <p:nvPr/>
        </p:nvSpPr>
        <p:spPr>
          <a:xfrm flipV="1">
            <a:off x="457200" y="1161288"/>
            <a:ext cx="2468880" cy="1444752"/>
          </a:xfrm>
          <a:prstGeom prst="round2SameRect">
            <a:avLst>
              <a:gd name="adj1" fmla="val 3797"/>
              <a:gd name="adj2" fmla="val 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900"/>
              <a:buFont typeface="Arial"/>
              <a:buNone/>
            </a:pPr>
            <a:r>
              <a:rPr sz="1400"/>
              <a:t/>
            </a:r>
            <a:endParaRPr b="0" i="0" sz="19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struct.reason.2.card"/>
          <p:cNvSpPr/>
          <p:nvPr/>
        </p:nvSpPr>
        <p:spPr>
          <a:xfrm flipV="1">
            <a:off x="3035808" y="1161288"/>
            <a:ext cx="2194560" cy="2660903"/>
          </a:xfrm>
          <a:prstGeom prst="round2SameRect">
            <a:avLst>
              <a:gd name="adj1" fmla="val 2500"/>
              <a:gd name="adj2" fmla="val 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900"/>
              <a:buFont typeface="Arial"/>
              <a:buNone/>
            </a:pPr>
            <a:r>
              <a:rPr sz="1400"/>
              <a:t/>
            </a:r>
            <a:endParaRPr b="0" i="0" sz="19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struct.reason.3.card"/>
          <p:cNvSpPr/>
          <p:nvPr/>
        </p:nvSpPr>
        <p:spPr>
          <a:xfrm flipV="1">
            <a:off x="5340096" y="1161288"/>
            <a:ext cx="4151376" cy="2660903"/>
          </a:xfrm>
          <a:prstGeom prst="round2SameRect">
            <a:avLst>
              <a:gd name="adj1" fmla="val 2062"/>
              <a:gd name="adj2" fmla="val 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900"/>
              <a:buFont typeface="Arial"/>
              <a:buNone/>
            </a:pPr>
            <a:r>
              <a:rPr sz="1400"/>
              <a:t/>
            </a:r>
            <a:endParaRPr b="0" i="0" sz="19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truct.reason.4.card"/>
          <p:cNvSpPr/>
          <p:nvPr/>
        </p:nvSpPr>
        <p:spPr>
          <a:xfrm flipV="1">
            <a:off x="9601200" y="1161288"/>
            <a:ext cx="2194560" cy="3831336"/>
          </a:xfrm>
          <a:prstGeom prst="round2SameRect">
            <a:avLst>
              <a:gd name="adj1" fmla="val 2500"/>
              <a:gd name="adj2" fmla="val 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900"/>
              <a:buFont typeface="Arial"/>
              <a:buNone/>
            </a:pPr>
            <a:r>
              <a:rPr sz="1400"/>
              <a:t/>
            </a:r>
            <a:endParaRPr b="0" i="0" sz="19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struct.reason.5.card"/>
          <p:cNvSpPr/>
          <p:nvPr/>
        </p:nvSpPr>
        <p:spPr>
          <a:xfrm flipV="1">
            <a:off x="457200" y="3099816"/>
            <a:ext cx="2468880" cy="1892807"/>
          </a:xfrm>
          <a:prstGeom prst="round2SameRect">
            <a:avLst>
              <a:gd name="adj1" fmla="val 2899"/>
              <a:gd name="adj2" fmla="val 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900"/>
              <a:buFont typeface="Arial"/>
              <a:buNone/>
            </a:pPr>
            <a:r>
              <a:rPr sz="1400"/>
              <a:t/>
            </a:r>
            <a:endParaRPr b="0" i="0" sz="19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struct.reason.2.tab"/>
          <p:cNvSpPr/>
          <p:nvPr/>
        </p:nvSpPr>
        <p:spPr>
          <a:xfrm>
            <a:off x="3035808" y="777240"/>
            <a:ext cx="2194560" cy="384048"/>
          </a:xfrm>
          <a:prstGeom prst="round2SameRect">
            <a:avLst>
              <a:gd name="adj1" fmla="val 14286"/>
              <a:gd name="adj2" fmla="val 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900"/>
              <a:buFont typeface="Arial"/>
              <a:buNone/>
            </a:pPr>
            <a:r>
              <a:rPr sz="1400"/>
              <a:t/>
            </a:r>
            <a:endParaRPr b="0" i="0" sz="19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struct.reason.1.tab"/>
          <p:cNvSpPr/>
          <p:nvPr/>
        </p:nvSpPr>
        <p:spPr>
          <a:xfrm>
            <a:off x="457200" y="777240"/>
            <a:ext cx="2468880" cy="384048"/>
          </a:xfrm>
          <a:prstGeom prst="round2SameRect">
            <a:avLst>
              <a:gd name="adj1" fmla="val 14286"/>
              <a:gd name="adj2" fmla="val 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900"/>
              <a:buFont typeface="Arial"/>
              <a:buNone/>
            </a:pPr>
            <a:r>
              <a:rPr sz="1400"/>
              <a:t/>
            </a:r>
            <a:endParaRPr b="0" i="0" sz="19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slot.reason.1.head"/>
          <p:cNvSpPr txBox="1"/>
          <p:nvPr/>
        </p:nvSpPr>
        <p:spPr>
          <a:xfrm>
            <a:off x="585216" y="795528"/>
            <a:ext cx="2212848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01</a:t>
            </a: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 Advice that ships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truct.reason.3.tab"/>
          <p:cNvSpPr/>
          <p:nvPr/>
        </p:nvSpPr>
        <p:spPr>
          <a:xfrm>
            <a:off x="5340096" y="777240"/>
            <a:ext cx="4151376" cy="384048"/>
          </a:xfrm>
          <a:prstGeom prst="round2SameRect">
            <a:avLst>
              <a:gd name="adj1" fmla="val 14286"/>
              <a:gd name="adj2" fmla="val 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900"/>
              <a:buFont typeface="Arial"/>
              <a:buNone/>
            </a:pPr>
            <a:r>
              <a:rPr sz="1400"/>
              <a:t/>
            </a:r>
            <a:endParaRPr b="0" i="0" sz="19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slot.reason.3.head"/>
          <p:cNvSpPr txBox="1"/>
          <p:nvPr/>
        </p:nvSpPr>
        <p:spPr>
          <a:xfrm>
            <a:off x="5468112" y="795528"/>
            <a:ext cx="3895344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03</a:t>
            </a: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 Engineering across four practices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struct.controls.tab"/>
          <p:cNvSpPr/>
          <p:nvPr/>
        </p:nvSpPr>
        <p:spPr>
          <a:xfrm>
            <a:off x="3035808" y="3931920"/>
            <a:ext cx="6455663" cy="384048"/>
          </a:xfrm>
          <a:prstGeom prst="round2SameRect">
            <a:avLst>
              <a:gd name="adj1" fmla="val 14286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900"/>
              <a:buFont typeface="Arial"/>
              <a:buNone/>
            </a:pPr>
            <a:r>
              <a:rPr sz="1400"/>
              <a:t/>
            </a:r>
            <a:endParaRPr b="0" i="0" sz="19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slot.controls.head"/>
          <p:cNvSpPr txBox="1"/>
          <p:nvPr/>
        </p:nvSpPr>
        <p:spPr>
          <a:xfrm>
            <a:off x="3163824" y="3950207"/>
            <a:ext cx="6199631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Controls built into every engagement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truct.reason.4.tab"/>
          <p:cNvSpPr/>
          <p:nvPr/>
        </p:nvSpPr>
        <p:spPr>
          <a:xfrm>
            <a:off x="9601200" y="777240"/>
            <a:ext cx="2194560" cy="384048"/>
          </a:xfrm>
          <a:prstGeom prst="round2SameRect">
            <a:avLst>
              <a:gd name="adj1" fmla="val 14286"/>
              <a:gd name="adj2" fmla="val 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900"/>
              <a:buFont typeface="Arial"/>
              <a:buNone/>
            </a:pPr>
            <a:r>
              <a:rPr sz="1400"/>
              <a:t/>
            </a:r>
            <a:endParaRPr b="0" i="0" sz="19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slot.reason.2.head"/>
          <p:cNvSpPr txBox="1"/>
          <p:nvPr/>
        </p:nvSpPr>
        <p:spPr>
          <a:xfrm>
            <a:off x="3163824" y="795528"/>
            <a:ext cx="1938528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02</a:t>
            </a: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 Models in use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lot.reason.5.row.1"/>
          <p:cNvSpPr txBox="1"/>
          <p:nvPr/>
        </p:nvSpPr>
        <p:spPr>
          <a:xfrm>
            <a:off x="987552" y="3172968"/>
            <a:ext cx="1810512" cy="37719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Data vision tied to budget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lot.reason.5.row.2"/>
          <p:cNvSpPr txBox="1"/>
          <p:nvPr/>
        </p:nvSpPr>
        <p:spPr>
          <a:xfrm>
            <a:off x="987552" y="3623310"/>
            <a:ext cx="1810512" cy="37719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Revenue cases for data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lot.reason.5.row.3"/>
          <p:cNvSpPr txBox="1"/>
          <p:nvPr/>
        </p:nvSpPr>
        <p:spPr>
          <a:xfrm>
            <a:off x="987552" y="4073652"/>
            <a:ext cx="1810512" cy="37719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data and tech roadmap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lot.reason.5.row.4"/>
          <p:cNvSpPr txBox="1"/>
          <p:nvPr/>
        </p:nvSpPr>
        <p:spPr>
          <a:xfrm>
            <a:off x="987552" y="4523994"/>
            <a:ext cx="1810512" cy="37719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Owners and policy set early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lot.practice.1.head"/>
          <p:cNvSpPr txBox="1"/>
          <p:nvPr/>
        </p:nvSpPr>
        <p:spPr>
          <a:xfrm>
            <a:off x="5504688" y="1216152"/>
            <a:ext cx="882395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Pipelines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slot.practice.2.head"/>
          <p:cNvSpPr txBox="1"/>
          <p:nvPr/>
        </p:nvSpPr>
        <p:spPr>
          <a:xfrm>
            <a:off x="6478523" y="1216152"/>
            <a:ext cx="882395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Models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lot.practice.3.head"/>
          <p:cNvSpPr txBox="1"/>
          <p:nvPr/>
        </p:nvSpPr>
        <p:spPr>
          <a:xfrm>
            <a:off x="7452359" y="1216152"/>
            <a:ext cx="882395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Cloud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slot.practice.4.head"/>
          <p:cNvSpPr txBox="1"/>
          <p:nvPr/>
        </p:nvSpPr>
        <p:spPr>
          <a:xfrm>
            <a:off x="8426195" y="1216152"/>
            <a:ext cx="882395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Reporting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slot.practice.1.cell.1"/>
          <p:cNvSpPr txBox="1"/>
          <p:nvPr/>
        </p:nvSpPr>
        <p:spPr>
          <a:xfrm>
            <a:off x="5504688" y="1618488"/>
            <a:ext cx="882395" cy="6492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Legacy loads migrated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lot.practice.2.cell.1"/>
          <p:cNvSpPr txBox="1"/>
          <p:nvPr/>
        </p:nvSpPr>
        <p:spPr>
          <a:xfrm>
            <a:off x="6478523" y="1618488"/>
            <a:ext cx="882395" cy="6492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Models moved to production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lot.practice.3.cell.1"/>
          <p:cNvSpPr txBox="1"/>
          <p:nvPr/>
        </p:nvSpPr>
        <p:spPr>
          <a:xfrm>
            <a:off x="7452359" y="1618488"/>
            <a:ext cx="882395" cy="6492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Data stores moved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lot.practice.4.cell.1"/>
          <p:cNvSpPr txBox="1"/>
          <p:nvPr/>
        </p:nvSpPr>
        <p:spPr>
          <a:xfrm>
            <a:off x="8426195" y="1618488"/>
            <a:ext cx="882395" cy="6492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Lakes with named owners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slot.practice.1.cell.2"/>
          <p:cNvSpPr txBox="1"/>
          <p:nvPr/>
        </p:nvSpPr>
        <p:spPr>
          <a:xfrm>
            <a:off x="5504688" y="2340864"/>
            <a:ext cx="882395" cy="6492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Jobs tuned for cost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lot.practice.2.cell.2"/>
          <p:cNvSpPr txBox="1"/>
          <p:nvPr/>
        </p:nvSpPr>
        <p:spPr>
          <a:xfrm>
            <a:off x="6478523" y="2340864"/>
            <a:ext cx="882395" cy="6492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Shared feature stores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lot.practice.3.cell.2"/>
          <p:cNvSpPr txBox="1"/>
          <p:nvPr/>
        </p:nvSpPr>
        <p:spPr>
          <a:xfrm>
            <a:off x="7452359" y="2340864"/>
            <a:ext cx="882395" cy="6492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Apps rebuilt as services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slot.practice.4.cell.2"/>
          <p:cNvSpPr txBox="1"/>
          <p:nvPr/>
        </p:nvSpPr>
        <p:spPr>
          <a:xfrm>
            <a:off x="8426195" y="2340864"/>
            <a:ext cx="882395" cy="6492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Data products with targets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slot.practice.1.cell.3"/>
          <p:cNvSpPr txBox="1"/>
          <p:nvPr/>
        </p:nvSpPr>
        <p:spPr>
          <a:xfrm>
            <a:off x="5504688" y="3063239"/>
            <a:ext cx="882395" cy="6492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Batch and stream ingest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lot.practice.2.cell.3"/>
          <p:cNvSpPr txBox="1"/>
          <p:nvPr/>
        </p:nvSpPr>
        <p:spPr>
          <a:xfrm>
            <a:off x="6478523" y="3063239"/>
            <a:ext cx="882395" cy="6492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Retraining on a schedule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slot.practice.3.cell.3"/>
          <p:cNvSpPr txBox="1"/>
          <p:nvPr/>
        </p:nvSpPr>
        <p:spPr>
          <a:xfrm>
            <a:off x="7452359" y="3063239"/>
            <a:ext cx="882395" cy="6492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Spend tracked and cut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slot.practice.4.cell.3"/>
          <p:cNvSpPr txBox="1"/>
          <p:nvPr/>
        </p:nvSpPr>
        <p:spPr>
          <a:xfrm>
            <a:off x="8426195" y="3063239"/>
            <a:ext cx="882395" cy="6492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Dashboards teams open daily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8" name="struct.practice.row.1.1"/>
          <p:cNvCxnSpPr/>
          <p:nvPr/>
        </p:nvCxnSpPr>
        <p:spPr>
          <a:xfrm rot="10800000">
            <a:off x="5468112" y="2304288"/>
            <a:ext cx="882395" cy="0"/>
          </a:xfrm>
          <a:prstGeom prst="straightConnector1">
            <a:avLst/>
          </a:prstGeom>
          <a:noFill/>
          <a:ln cap="rnd" cmpd="sng" w="9525">
            <a:solidFill>
              <a:schemeClr val="bg1">
                <a:lumMod val="5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cxnSp>
        <p:nvCxnSpPr>
          <p:cNvPr id="39" name="struct.practice.row.1.2"/>
          <p:cNvCxnSpPr/>
          <p:nvPr/>
        </p:nvCxnSpPr>
        <p:spPr>
          <a:xfrm rot="10800000">
            <a:off x="6496811" y="2304288"/>
            <a:ext cx="827532" cy="0"/>
          </a:xfrm>
          <a:prstGeom prst="straightConnector1">
            <a:avLst/>
          </a:prstGeom>
          <a:noFill/>
          <a:ln cap="rnd" cmpd="sng" w="9525">
            <a:solidFill>
              <a:schemeClr val="bg1">
                <a:lumMod val="5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cxnSp>
        <p:nvCxnSpPr>
          <p:cNvPr id="40" name="struct.practice.row.1.3"/>
          <p:cNvCxnSpPr/>
          <p:nvPr/>
        </p:nvCxnSpPr>
        <p:spPr>
          <a:xfrm rot="10800000">
            <a:off x="7470648" y="2304288"/>
            <a:ext cx="827531" cy="0"/>
          </a:xfrm>
          <a:prstGeom prst="straightConnector1">
            <a:avLst/>
          </a:prstGeom>
          <a:noFill/>
          <a:ln cap="rnd" cmpd="sng" w="9525">
            <a:solidFill>
              <a:schemeClr val="bg1">
                <a:lumMod val="5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cxnSp>
        <p:nvCxnSpPr>
          <p:cNvPr id="41" name="struct.practice.row.1.4"/>
          <p:cNvCxnSpPr/>
          <p:nvPr/>
        </p:nvCxnSpPr>
        <p:spPr>
          <a:xfrm rot="10800000">
            <a:off x="8444484" y="2304288"/>
            <a:ext cx="827531" cy="0"/>
          </a:xfrm>
          <a:prstGeom prst="straightConnector1">
            <a:avLst/>
          </a:prstGeom>
          <a:noFill/>
          <a:ln cap="rnd" cmpd="sng" w="9525">
            <a:solidFill>
              <a:schemeClr val="bg1">
                <a:lumMod val="5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cxnSp>
        <p:nvCxnSpPr>
          <p:cNvPr id="42" name="struct.practice.row.2.1"/>
          <p:cNvCxnSpPr/>
          <p:nvPr/>
        </p:nvCxnSpPr>
        <p:spPr>
          <a:xfrm rot="10800000">
            <a:off x="5468112" y="3026663"/>
            <a:ext cx="882395" cy="0"/>
          </a:xfrm>
          <a:prstGeom prst="straightConnector1">
            <a:avLst/>
          </a:prstGeom>
          <a:noFill/>
          <a:ln cap="rnd" cmpd="sng" w="9525">
            <a:solidFill>
              <a:schemeClr val="bg1">
                <a:lumMod val="5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cxnSp>
        <p:nvCxnSpPr>
          <p:cNvPr id="43" name="struct.practice.row.2.2"/>
          <p:cNvCxnSpPr/>
          <p:nvPr/>
        </p:nvCxnSpPr>
        <p:spPr>
          <a:xfrm rot="10800000">
            <a:off x="6496811" y="3026663"/>
            <a:ext cx="827532" cy="0"/>
          </a:xfrm>
          <a:prstGeom prst="straightConnector1">
            <a:avLst/>
          </a:prstGeom>
          <a:noFill/>
          <a:ln cap="rnd" cmpd="sng" w="9525">
            <a:solidFill>
              <a:schemeClr val="bg1">
                <a:lumMod val="5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cxnSp>
        <p:nvCxnSpPr>
          <p:cNvPr id="44" name="struct.practice.row.2.3"/>
          <p:cNvCxnSpPr/>
          <p:nvPr/>
        </p:nvCxnSpPr>
        <p:spPr>
          <a:xfrm rot="10800000">
            <a:off x="7470648" y="3026663"/>
            <a:ext cx="827531" cy="0"/>
          </a:xfrm>
          <a:prstGeom prst="straightConnector1">
            <a:avLst/>
          </a:prstGeom>
          <a:noFill/>
          <a:ln cap="rnd" cmpd="sng" w="9525">
            <a:solidFill>
              <a:schemeClr val="bg1">
                <a:lumMod val="5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cxnSp>
        <p:nvCxnSpPr>
          <p:cNvPr id="45" name="struct.practice.row.2.4"/>
          <p:cNvCxnSpPr/>
          <p:nvPr/>
        </p:nvCxnSpPr>
        <p:spPr>
          <a:xfrm rot="10800000">
            <a:off x="8444484" y="3026663"/>
            <a:ext cx="827531" cy="0"/>
          </a:xfrm>
          <a:prstGeom prst="straightConnector1">
            <a:avLst/>
          </a:prstGeom>
          <a:noFill/>
          <a:ln cap="rnd" cmpd="sng" w="9525">
            <a:solidFill>
              <a:schemeClr val="bg1">
                <a:lumMod val="5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sp>
        <p:nvSpPr>
          <p:cNvPr id="46" name="slot.reason.2.row.1"/>
          <p:cNvSpPr txBox="1"/>
          <p:nvPr/>
        </p:nvSpPr>
        <p:spPr>
          <a:xfrm>
            <a:off x="3566160" y="1234440"/>
            <a:ext cx="1536192" cy="56921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Supply forecasts planners act on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slot.reason.2.row.2"/>
          <p:cNvSpPr txBox="1"/>
          <p:nvPr/>
        </p:nvSpPr>
        <p:spPr>
          <a:xfrm>
            <a:off x="3566160" y="1876806"/>
            <a:ext cx="1536192" cy="56921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Marketing mix read every quarter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slot.reason.2.row.3"/>
          <p:cNvSpPr txBox="1"/>
          <p:nvPr/>
        </p:nvSpPr>
        <p:spPr>
          <a:xfrm>
            <a:off x="3566160" y="2519172"/>
            <a:ext cx="1536192" cy="56921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Operations alerts ahead of failure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slot.reason.2.row.4"/>
          <p:cNvSpPr txBox="1"/>
          <p:nvPr/>
        </p:nvSpPr>
        <p:spPr>
          <a:xfrm>
            <a:off x="3566160" y="3161538"/>
            <a:ext cx="1536192" cy="56921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Online sales models tuned weekly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slot.platforms.label"/>
          <p:cNvSpPr txBox="1"/>
          <p:nvPr/>
        </p:nvSpPr>
        <p:spPr>
          <a:xfrm>
            <a:off x="603504" y="5212079"/>
            <a:ext cx="1225296" cy="95097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Platforms the team builds on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slot.reason.4.row.1"/>
          <p:cNvSpPr txBox="1"/>
          <p:nvPr/>
        </p:nvSpPr>
        <p:spPr>
          <a:xfrm>
            <a:off x="10131552" y="1234440"/>
            <a:ext cx="1536191" cy="674827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Data labs for fast trials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slot.reason.4.row.2"/>
          <p:cNvSpPr txBox="1"/>
          <p:nvPr/>
        </p:nvSpPr>
        <p:spPr>
          <a:xfrm>
            <a:off x="10131552" y="1982419"/>
            <a:ext cx="1536191" cy="674827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Cloud estate run around the clock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slot.reason.4.row.3"/>
          <p:cNvSpPr txBox="1"/>
          <p:nvPr/>
        </p:nvSpPr>
        <p:spPr>
          <a:xfrm>
            <a:off x="10131552" y="2730398"/>
            <a:ext cx="1536191" cy="674827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Release and security operations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slot.reason.4.row.4"/>
          <p:cNvSpPr txBox="1"/>
          <p:nvPr/>
        </p:nvSpPr>
        <p:spPr>
          <a:xfrm>
            <a:off x="10131552" y="3478377"/>
            <a:ext cx="1536191" cy="674827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Pipeline health watched daily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slot.reason.4.row.5"/>
          <p:cNvSpPr txBox="1"/>
          <p:nvPr/>
        </p:nvSpPr>
        <p:spPr>
          <a:xfrm>
            <a:off x="10131552" y="4226356"/>
            <a:ext cx="1536191" cy="674827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Data apps kept on support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truct.platforms.group.1.pill"/>
          <p:cNvSpPr/>
          <p:nvPr/>
        </p:nvSpPr>
        <p:spPr>
          <a:xfrm>
            <a:off x="2157984" y="5212079"/>
            <a:ext cx="2907792" cy="274320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/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900"/>
              <a:buFont typeface="Arial"/>
              <a:buNone/>
            </a:pPr>
            <a:r>
              <a:rPr sz="1400"/>
              <a:t/>
            </a:r>
            <a:endParaRPr b="0" i="0" sz="19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slot.platforms.group.1"/>
          <p:cNvSpPr txBox="1"/>
          <p:nvPr/>
        </p:nvSpPr>
        <p:spPr>
          <a:xfrm>
            <a:off x="2249424" y="5230368"/>
            <a:ext cx="2724912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Cloud and warehouse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struct.platforms.pointer"/>
          <p:cNvSpPr/>
          <p:nvPr/>
        </p:nvSpPr>
        <p:spPr>
          <a:xfrm rot="5400000">
            <a:off x="1892016" y="5620817"/>
            <a:ext cx="263100" cy="1335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900"/>
              <a:buFont typeface="Arial"/>
              <a:buNone/>
            </a:pPr>
            <a:r>
              <a:rPr sz="1400"/>
              <a:t/>
            </a:r>
            <a:endParaRPr b="0" i="0" sz="19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struct.platforms.group.2.pill"/>
          <p:cNvSpPr/>
          <p:nvPr/>
        </p:nvSpPr>
        <p:spPr>
          <a:xfrm>
            <a:off x="5358384" y="5212079"/>
            <a:ext cx="6291072" cy="274320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/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900"/>
              <a:buFont typeface="Arial"/>
              <a:buNone/>
            </a:pPr>
            <a:r>
              <a:rPr sz="1400"/>
              <a:t/>
            </a:r>
            <a:endParaRPr b="0" i="0" sz="19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slot.platforms.group.2"/>
          <p:cNvSpPr txBox="1"/>
          <p:nvPr/>
        </p:nvSpPr>
        <p:spPr>
          <a:xfrm>
            <a:off x="5449824" y="5230368"/>
            <a:ext cx="6108192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Engineering and analytics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1" name="struct.practice.rule.1"/>
          <p:cNvCxnSpPr/>
          <p:nvPr/>
        </p:nvCxnSpPr>
        <p:spPr>
          <a:xfrm>
            <a:off x="6423659" y="1216152"/>
            <a:ext cx="0" cy="2532887"/>
          </a:xfrm>
          <a:prstGeom prst="straightConnector1">
            <a:avLst/>
          </a:prstGeom>
          <a:noFill/>
          <a:ln cap="rnd" cmpd="sng" w="9525">
            <a:solidFill>
              <a:schemeClr val="bg1">
                <a:lumMod val="5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cxnSp>
        <p:nvCxnSpPr>
          <p:cNvPr id="62" name="struct.practice.rule.2"/>
          <p:cNvCxnSpPr/>
          <p:nvPr/>
        </p:nvCxnSpPr>
        <p:spPr>
          <a:xfrm>
            <a:off x="7397496" y="1216152"/>
            <a:ext cx="0" cy="2532887"/>
          </a:xfrm>
          <a:prstGeom prst="straightConnector1">
            <a:avLst/>
          </a:prstGeom>
          <a:noFill/>
          <a:ln cap="rnd" cmpd="sng" w="9525">
            <a:solidFill>
              <a:schemeClr val="bg1">
                <a:lumMod val="5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cxnSp>
        <p:nvCxnSpPr>
          <p:cNvPr id="63" name="struct.practice.rule.3"/>
          <p:cNvCxnSpPr/>
          <p:nvPr/>
        </p:nvCxnSpPr>
        <p:spPr>
          <a:xfrm>
            <a:off x="8371331" y="1216152"/>
            <a:ext cx="0" cy="2532887"/>
          </a:xfrm>
          <a:prstGeom prst="straightConnector1">
            <a:avLst/>
          </a:prstGeom>
          <a:noFill/>
          <a:ln cap="rnd" cmpd="sng" w="9525">
            <a:solidFill>
              <a:schemeClr val="bg1">
                <a:lumMod val="5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sp>
        <p:nvSpPr>
          <p:cNvPr id="64" name="slot.reason.1.row.2"/>
          <p:cNvSpPr/>
          <p:nvPr/>
        </p:nvSpPr>
        <p:spPr>
          <a:xfrm>
            <a:off x="987552" y="1685544"/>
            <a:ext cx="1810512" cy="37795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Roadmaps ranked by value and effort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slot.reason.1.row.3"/>
          <p:cNvSpPr/>
          <p:nvPr/>
        </p:nvSpPr>
        <p:spPr>
          <a:xfrm>
            <a:off x="987552" y="2136648"/>
            <a:ext cx="1810512" cy="37795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Process fixes landed in weeks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struct.reason.5.tab"/>
          <p:cNvSpPr/>
          <p:nvPr/>
        </p:nvSpPr>
        <p:spPr>
          <a:xfrm>
            <a:off x="457200" y="2715768"/>
            <a:ext cx="2468880" cy="384048"/>
          </a:xfrm>
          <a:prstGeom prst="round2SameRect">
            <a:avLst>
              <a:gd name="adj1" fmla="val 14286"/>
              <a:gd name="adj2" fmla="val 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900"/>
              <a:buFont typeface="Arial"/>
              <a:buNone/>
            </a:pPr>
            <a:r>
              <a:rPr sz="1400"/>
              <a:t/>
            </a:r>
            <a:endParaRPr b="0" i="0" sz="19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slot.reason.5.head"/>
          <p:cNvSpPr txBox="1"/>
          <p:nvPr/>
        </p:nvSpPr>
        <p:spPr>
          <a:xfrm>
            <a:off x="585216" y="2734056"/>
            <a:ext cx="2212848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05</a:t>
            </a: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 Strategy that pays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slot.reason.4.head"/>
          <p:cNvSpPr txBox="1"/>
          <p:nvPr/>
        </p:nvSpPr>
        <p:spPr>
          <a:xfrm>
            <a:off x="9729216" y="795528"/>
            <a:ext cx="1938528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04</a:t>
            </a: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 One run team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9" name="struct.reason.4.rule.1"/>
          <p:cNvCxnSpPr/>
          <p:nvPr/>
        </p:nvCxnSpPr>
        <p:spPr>
          <a:xfrm rot="10800000">
            <a:off x="9729216" y="1945843"/>
            <a:ext cx="1938527" cy="0"/>
          </a:xfrm>
          <a:prstGeom prst="straightConnector1">
            <a:avLst/>
          </a:prstGeom>
          <a:noFill/>
          <a:ln cap="rnd" cmpd="sng" w="9525">
            <a:solidFill>
              <a:schemeClr val="bg1">
                <a:lumMod val="5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cxnSp>
        <p:nvCxnSpPr>
          <p:cNvPr id="70" name="struct.reason.4.rule.2"/>
          <p:cNvCxnSpPr/>
          <p:nvPr/>
        </p:nvCxnSpPr>
        <p:spPr>
          <a:xfrm rot="10800000">
            <a:off x="9729216" y="2693822"/>
            <a:ext cx="1938527" cy="0"/>
          </a:xfrm>
          <a:prstGeom prst="straightConnector1">
            <a:avLst/>
          </a:prstGeom>
          <a:noFill/>
          <a:ln cap="rnd" cmpd="sng" w="9525">
            <a:solidFill>
              <a:schemeClr val="bg1">
                <a:lumMod val="5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cxnSp>
        <p:nvCxnSpPr>
          <p:cNvPr id="71" name="struct.reason.4.rule.3"/>
          <p:cNvCxnSpPr/>
          <p:nvPr/>
        </p:nvCxnSpPr>
        <p:spPr>
          <a:xfrm rot="10800000">
            <a:off x="9729216" y="3441801"/>
            <a:ext cx="1938527" cy="0"/>
          </a:xfrm>
          <a:prstGeom prst="straightConnector1">
            <a:avLst/>
          </a:prstGeom>
          <a:noFill/>
          <a:ln cap="rnd" cmpd="sng" w="9525">
            <a:solidFill>
              <a:schemeClr val="bg1">
                <a:lumMod val="5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cxnSp>
        <p:nvCxnSpPr>
          <p:cNvPr id="72" name="struct.reason.4.rule.4"/>
          <p:cNvCxnSpPr/>
          <p:nvPr/>
        </p:nvCxnSpPr>
        <p:spPr>
          <a:xfrm rot="10800000">
            <a:off x="9729216" y="4189780"/>
            <a:ext cx="1938527" cy="0"/>
          </a:xfrm>
          <a:prstGeom prst="straightConnector1">
            <a:avLst/>
          </a:prstGeom>
          <a:noFill/>
          <a:ln cap="rnd" cmpd="sng" w="9525">
            <a:solidFill>
              <a:schemeClr val="bg1">
                <a:lumMod val="5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sp>
        <p:nvSpPr>
          <p:cNvPr id="73" name="slot.reason.1.row.1"/>
          <p:cNvSpPr/>
          <p:nvPr/>
        </p:nvSpPr>
        <p:spPr>
          <a:xfrm>
            <a:off x="987552" y="1234440"/>
            <a:ext cx="1810512" cy="37795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Process maps tied to a build plan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4" name="struct.reason.1.rule.1"/>
          <p:cNvCxnSpPr/>
          <p:nvPr/>
        </p:nvCxnSpPr>
        <p:spPr>
          <a:xfrm rot="10800000">
            <a:off x="585216" y="1648968"/>
            <a:ext cx="2212848" cy="0"/>
          </a:xfrm>
          <a:prstGeom prst="straightConnector1">
            <a:avLst/>
          </a:prstGeom>
          <a:noFill/>
          <a:ln cap="rnd" cmpd="sng" w="9525">
            <a:solidFill>
              <a:schemeClr val="bg1">
                <a:lumMod val="5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cxnSp>
        <p:nvCxnSpPr>
          <p:cNvPr id="75" name="struct.reason.1.rule.2"/>
          <p:cNvCxnSpPr/>
          <p:nvPr/>
        </p:nvCxnSpPr>
        <p:spPr>
          <a:xfrm rot="10800000">
            <a:off x="585216" y="2100072"/>
            <a:ext cx="2212848" cy="0"/>
          </a:xfrm>
          <a:prstGeom prst="straightConnector1">
            <a:avLst/>
          </a:prstGeom>
          <a:noFill/>
          <a:ln cap="rnd" cmpd="sng" w="9525">
            <a:solidFill>
              <a:schemeClr val="bg1">
                <a:lumMod val="5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cxnSp>
        <p:nvCxnSpPr>
          <p:cNvPr id="76" name="struct.reason.5.rule.1"/>
          <p:cNvCxnSpPr/>
          <p:nvPr/>
        </p:nvCxnSpPr>
        <p:spPr>
          <a:xfrm rot="10800000">
            <a:off x="585216" y="3586734"/>
            <a:ext cx="2212848" cy="0"/>
          </a:xfrm>
          <a:prstGeom prst="straightConnector1">
            <a:avLst/>
          </a:prstGeom>
          <a:noFill/>
          <a:ln cap="rnd" cmpd="sng" w="9525">
            <a:solidFill>
              <a:schemeClr val="bg1">
                <a:lumMod val="5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cxnSp>
        <p:nvCxnSpPr>
          <p:cNvPr id="77" name="struct.reason.5.rule.2"/>
          <p:cNvCxnSpPr/>
          <p:nvPr/>
        </p:nvCxnSpPr>
        <p:spPr>
          <a:xfrm rot="10800000">
            <a:off x="585216" y="4037076"/>
            <a:ext cx="2212848" cy="0"/>
          </a:xfrm>
          <a:prstGeom prst="straightConnector1">
            <a:avLst/>
          </a:prstGeom>
          <a:noFill/>
          <a:ln cap="rnd" cmpd="sng" w="9525">
            <a:solidFill>
              <a:schemeClr val="bg1">
                <a:lumMod val="5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cxnSp>
        <p:nvCxnSpPr>
          <p:cNvPr id="78" name="struct.reason.5.rule.3"/>
          <p:cNvCxnSpPr/>
          <p:nvPr/>
        </p:nvCxnSpPr>
        <p:spPr>
          <a:xfrm rot="10800000">
            <a:off x="585216" y="4487418"/>
            <a:ext cx="2212848" cy="0"/>
          </a:xfrm>
          <a:prstGeom prst="straightConnector1">
            <a:avLst/>
          </a:prstGeom>
          <a:noFill/>
          <a:ln cap="rnd" cmpd="sng" w="9525">
            <a:solidFill>
              <a:schemeClr val="bg1">
                <a:lumMod val="5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cxnSp>
        <p:nvCxnSpPr>
          <p:cNvPr id="79" name="struct.reason.2.rule.1"/>
          <p:cNvCxnSpPr/>
          <p:nvPr/>
        </p:nvCxnSpPr>
        <p:spPr>
          <a:xfrm rot="10800000">
            <a:off x="3163824" y="1840230"/>
            <a:ext cx="1938528" cy="0"/>
          </a:xfrm>
          <a:prstGeom prst="straightConnector1">
            <a:avLst/>
          </a:prstGeom>
          <a:noFill/>
          <a:ln cap="rnd" cmpd="sng" w="9525">
            <a:solidFill>
              <a:schemeClr val="bg1">
                <a:lumMod val="5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cxnSp>
        <p:nvCxnSpPr>
          <p:cNvPr id="80" name="struct.reason.2.rule.2"/>
          <p:cNvCxnSpPr/>
          <p:nvPr/>
        </p:nvCxnSpPr>
        <p:spPr>
          <a:xfrm rot="10800000">
            <a:off x="3163824" y="2482596"/>
            <a:ext cx="1938528" cy="0"/>
          </a:xfrm>
          <a:prstGeom prst="straightConnector1">
            <a:avLst/>
          </a:prstGeom>
          <a:noFill/>
          <a:ln cap="rnd" cmpd="sng" w="9525">
            <a:solidFill>
              <a:schemeClr val="bg1">
                <a:lumMod val="5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cxnSp>
        <p:nvCxnSpPr>
          <p:cNvPr id="81" name="struct.reason.2.rule.3"/>
          <p:cNvCxnSpPr/>
          <p:nvPr/>
        </p:nvCxnSpPr>
        <p:spPr>
          <a:xfrm rot="10800000">
            <a:off x="3163824" y="3124962"/>
            <a:ext cx="1938528" cy="0"/>
          </a:xfrm>
          <a:prstGeom prst="straightConnector1">
            <a:avLst/>
          </a:prstGeom>
          <a:noFill/>
          <a:ln cap="rnd" cmpd="sng" w="9525">
            <a:solidFill>
              <a:schemeClr val="bg1">
                <a:lumMod val="5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sp>
        <p:nvSpPr>
          <p:cNvPr id="82" name="slot.controls.1"/>
          <p:cNvSpPr txBox="1"/>
          <p:nvPr/>
        </p:nvSpPr>
        <p:spPr>
          <a:xfrm>
            <a:off x="3675887" y="4352544"/>
            <a:ext cx="1365503" cy="58521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Catalog and lineage from day one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slot.controls.2"/>
          <p:cNvSpPr txBox="1"/>
          <p:nvPr/>
        </p:nvSpPr>
        <p:spPr>
          <a:xfrm>
            <a:off x="5827776" y="4352544"/>
            <a:ext cx="1365503" cy="58521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trusted record per customer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slot.controls.3"/>
          <p:cNvSpPr txBox="1"/>
          <p:nvPr/>
        </p:nvSpPr>
        <p:spPr>
          <a:xfrm>
            <a:off x="7979663" y="4352544"/>
            <a:ext cx="1365503" cy="58521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Quality and security checks on every load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5" name="struct.controls.rule.1"/>
          <p:cNvCxnSpPr/>
          <p:nvPr/>
        </p:nvCxnSpPr>
        <p:spPr>
          <a:xfrm>
            <a:off x="5187696" y="4389120"/>
            <a:ext cx="0" cy="512064"/>
          </a:xfrm>
          <a:prstGeom prst="straightConnector1">
            <a:avLst/>
          </a:prstGeom>
          <a:noFill/>
          <a:ln cap="rnd" cmpd="sng" w="9525">
            <a:solidFill>
              <a:schemeClr val="bg1">
                <a:lumMod val="5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cxnSp>
        <p:nvCxnSpPr>
          <p:cNvPr id="86" name="struct.controls.rule.2"/>
          <p:cNvCxnSpPr/>
          <p:nvPr/>
        </p:nvCxnSpPr>
        <p:spPr>
          <a:xfrm>
            <a:off x="7339583" y="4389120"/>
            <a:ext cx="0" cy="512064"/>
          </a:xfrm>
          <a:prstGeom prst="straightConnector1">
            <a:avLst/>
          </a:prstGeom>
          <a:noFill/>
          <a:ln cap="rnd" cmpd="sng" w="9525">
            <a:solidFill>
              <a:schemeClr val="bg1">
                <a:lumMod val="5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sp>
        <p:nvSpPr>
          <p:cNvPr id="87" name="slot.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Five reasons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data leaders keep one partner from strategy to daily run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slot.reason.1.row.1.icon"/>
          <p:cNvSpPr/>
          <p:nvPr/>
        </p:nvSpPr>
        <p:spPr>
          <a:xfrm>
            <a:off x="585216" y="128625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3000"/>
                </a:moveTo>
                <a:lnTo>
                  <a:pt x="9000" y="3000"/>
                </a:lnTo>
                <a:cubicBezTo>
                  <a:pt x="10105" y="3000"/>
                  <a:pt x="11000" y="3895"/>
                  <a:pt x="11000" y="5000"/>
                </a:cubicBezTo>
                <a:lnTo>
                  <a:pt x="11000" y="9000"/>
                </a:lnTo>
                <a:cubicBezTo>
                  <a:pt x="11000" y="10105"/>
                  <a:pt x="10105" y="11000"/>
                  <a:pt x="9000" y="11000"/>
                </a:cubicBezTo>
                <a:lnTo>
                  <a:pt x="5000" y="11000"/>
                </a:lnTo>
                <a:cubicBezTo>
                  <a:pt x="3895" y="11000"/>
                  <a:pt x="3000" y="10105"/>
                  <a:pt x="3000" y="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  <a:moveTo>
                  <a:pt x="7000" y="11000"/>
                </a:moveTo>
                <a:lnTo>
                  <a:pt x="7000" y="15000"/>
                </a:lnTo>
                <a:cubicBezTo>
                  <a:pt x="7000" y="16105"/>
                  <a:pt x="7895" y="17000"/>
                  <a:pt x="9000" y="17000"/>
                </a:cubicBezTo>
                <a:lnTo>
                  <a:pt x="13000" y="17000"/>
                </a:lnTo>
                <a:moveTo>
                  <a:pt x="15000" y="13000"/>
                </a:moveTo>
                <a:lnTo>
                  <a:pt x="19000" y="13000"/>
                </a:lnTo>
                <a:cubicBezTo>
                  <a:pt x="20105" y="13000"/>
                  <a:pt x="21000" y="13895"/>
                  <a:pt x="21000" y="1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5000" y="21000"/>
                </a:lnTo>
                <a:cubicBezTo>
                  <a:pt x="13895" y="21000"/>
                  <a:pt x="13000" y="20105"/>
                  <a:pt x="13000" y="19000"/>
                </a:cubicBezTo>
                <a:lnTo>
                  <a:pt x="13000" y="15000"/>
                </a:lnTo>
                <a:cubicBezTo>
                  <a:pt x="13000" y="13895"/>
                  <a:pt x="13895" y="13000"/>
                  <a:pt x="15000" y="13000"/>
                </a:cubicBezTo>
                <a:close/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89" name="slot.reason.1.row.2.icon"/>
          <p:cNvSpPr/>
          <p:nvPr/>
        </p:nvSpPr>
        <p:spPr>
          <a:xfrm>
            <a:off x="585216" y="173736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9000"/>
                </a:moveTo>
                <a:cubicBezTo>
                  <a:pt x="9000" y="20657"/>
                  <a:pt x="7657" y="22000"/>
                  <a:pt x="6000" y="22000"/>
                </a:cubicBezTo>
                <a:cubicBezTo>
                  <a:pt x="4343" y="22000"/>
                  <a:pt x="3000" y="20657"/>
                  <a:pt x="3000" y="19000"/>
                </a:cubicBezTo>
                <a:cubicBezTo>
                  <a:pt x="3000" y="17343"/>
                  <a:pt x="4343" y="16000"/>
                  <a:pt x="6000" y="16000"/>
                </a:cubicBezTo>
                <a:cubicBezTo>
                  <a:pt x="7657" y="16000"/>
                  <a:pt x="9000" y="17343"/>
                  <a:pt x="9000" y="19000"/>
                </a:cubicBezTo>
                <a:close/>
                <a:moveTo>
                  <a:pt x="9000" y="19000"/>
                </a:moveTo>
                <a:lnTo>
                  <a:pt x="17500" y="19000"/>
                </a:lnTo>
                <a:cubicBezTo>
                  <a:pt x="19433" y="19000"/>
                  <a:pt x="21000" y="17433"/>
                  <a:pt x="21000" y="15500"/>
                </a:cubicBezTo>
                <a:cubicBezTo>
                  <a:pt x="21000" y="13567"/>
                  <a:pt x="19433" y="12000"/>
                  <a:pt x="17500" y="12000"/>
                </a:cubicBezTo>
                <a:lnTo>
                  <a:pt x="6500" y="12000"/>
                </a:lnTo>
                <a:cubicBezTo>
                  <a:pt x="4567" y="12000"/>
                  <a:pt x="3000" y="10433"/>
                  <a:pt x="3000" y="8500"/>
                </a:cubicBezTo>
                <a:cubicBezTo>
                  <a:pt x="3000" y="6567"/>
                  <a:pt x="4567" y="5000"/>
                  <a:pt x="6500" y="5000"/>
                </a:cubicBezTo>
                <a:lnTo>
                  <a:pt x="15000" y="5000"/>
                </a:lnTo>
                <a:moveTo>
                  <a:pt x="21000" y="5000"/>
                </a:moveTo>
                <a:cubicBezTo>
                  <a:pt x="21000" y="6657"/>
                  <a:pt x="19657" y="8000"/>
                  <a:pt x="18000" y="8000"/>
                </a:cubicBezTo>
                <a:cubicBezTo>
                  <a:pt x="16343" y="8000"/>
                  <a:pt x="15000" y="6657"/>
                  <a:pt x="15000" y="5000"/>
                </a:cubicBezTo>
                <a:cubicBezTo>
                  <a:pt x="15000" y="3343"/>
                  <a:pt x="16343" y="2000"/>
                  <a:pt x="18000" y="2000"/>
                </a:cubicBezTo>
                <a:cubicBezTo>
                  <a:pt x="19657" y="2000"/>
                  <a:pt x="21000" y="3343"/>
                  <a:pt x="21000" y="5000"/>
                </a:cubicBezTo>
                <a:close/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90" name="slot.reason.1.row.3.icon"/>
          <p:cNvSpPr/>
          <p:nvPr/>
        </p:nvSpPr>
        <p:spPr>
          <a:xfrm>
            <a:off x="585216" y="2188464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700" y="6300"/>
                </a:moveTo>
                <a:cubicBezTo>
                  <a:pt x="14319" y="6689"/>
                  <a:pt x="14319" y="7311"/>
                  <a:pt x="14700" y="7700"/>
                </a:cubicBezTo>
                <a:lnTo>
                  <a:pt x="16300" y="9300"/>
                </a:lnTo>
                <a:cubicBezTo>
                  <a:pt x="16689" y="9681"/>
                  <a:pt x="17311" y="9681"/>
                  <a:pt x="17700" y="9300"/>
                </a:cubicBezTo>
                <a:lnTo>
                  <a:pt x="20806" y="6195"/>
                </a:lnTo>
                <a:cubicBezTo>
                  <a:pt x="21126" y="5873"/>
                  <a:pt x="21669" y="5975"/>
                  <a:pt x="21789" y="6413"/>
                </a:cubicBezTo>
                <a:cubicBezTo>
                  <a:pt x="22406" y="8656"/>
                  <a:pt x="21670" y="11054"/>
                  <a:pt x="19901" y="12565"/>
                </a:cubicBezTo>
                <a:cubicBezTo>
                  <a:pt x="18133" y="14077"/>
                  <a:pt x="15650" y="14429"/>
                  <a:pt x="13530" y="13470"/>
                </a:cubicBezTo>
                <a:lnTo>
                  <a:pt x="5620" y="21380"/>
                </a:lnTo>
                <a:cubicBezTo>
                  <a:pt x="4792" y="22208"/>
                  <a:pt x="3449" y="22208"/>
                  <a:pt x="2621" y="21379"/>
                </a:cubicBezTo>
                <a:cubicBezTo>
                  <a:pt x="1792" y="20551"/>
                  <a:pt x="1793" y="19208"/>
                  <a:pt x="2621" y="18380"/>
                </a:cubicBezTo>
                <a:lnTo>
                  <a:pt x="10531" y="10470"/>
                </a:lnTo>
                <a:cubicBezTo>
                  <a:pt x="9572" y="8350"/>
                  <a:pt x="9924" y="5867"/>
                  <a:pt x="11436" y="4099"/>
                </a:cubicBezTo>
                <a:cubicBezTo>
                  <a:pt x="12947" y="2330"/>
                  <a:pt x="15345" y="1594"/>
                  <a:pt x="17588" y="2211"/>
                </a:cubicBezTo>
                <a:cubicBezTo>
                  <a:pt x="18026" y="2331"/>
                  <a:pt x="18128" y="2873"/>
                  <a:pt x="17807" y="3195"/>
                </a:cubicBezTo>
                <a:close/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91" name="slot.reason.5.row.1.icon"/>
          <p:cNvSpPr/>
          <p:nvPr/>
        </p:nvSpPr>
        <p:spPr>
          <a:xfrm>
            <a:off x="585216" y="3224403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240" y="7760"/>
                </a:moveTo>
                <a:lnTo>
                  <a:pt x="14436" y="13171"/>
                </a:lnTo>
                <a:cubicBezTo>
                  <a:pt x="14237" y="13768"/>
                  <a:pt x="13768" y="14237"/>
                  <a:pt x="13171" y="14436"/>
                </a:cubicBezTo>
                <a:lnTo>
                  <a:pt x="7760" y="16240"/>
                </a:lnTo>
                <a:lnTo>
                  <a:pt x="9564" y="10829"/>
                </a:lnTo>
                <a:cubicBezTo>
                  <a:pt x="9763" y="10232"/>
                  <a:pt x="10232" y="9763"/>
                  <a:pt x="10829" y="9564"/>
                </a:cubicBezTo>
                <a:close/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92" name="slot.reason.5.row.2.icon"/>
          <p:cNvSpPr/>
          <p:nvPr/>
        </p:nvSpPr>
        <p:spPr>
          <a:xfrm>
            <a:off x="585216" y="3674745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744" y="17736"/>
                </a:moveTo>
                <a:cubicBezTo>
                  <a:pt x="12915" y="20477"/>
                  <a:pt x="10264" y="22250"/>
                  <a:pt x="7414" y="21970"/>
                </a:cubicBezTo>
                <a:cubicBezTo>
                  <a:pt x="4564" y="21690"/>
                  <a:pt x="2310" y="19436"/>
                  <a:pt x="2030" y="16586"/>
                </a:cubicBezTo>
                <a:cubicBezTo>
                  <a:pt x="1750" y="13736"/>
                  <a:pt x="3523" y="11085"/>
                  <a:pt x="6264" y="10256"/>
                </a:cubicBezTo>
                <a:moveTo>
                  <a:pt x="15000" y="6000"/>
                </a:moveTo>
                <a:lnTo>
                  <a:pt x="16000" y="6000"/>
                </a:lnTo>
                <a:lnTo>
                  <a:pt x="16000" y="10000"/>
                </a:lnTo>
                <a:moveTo>
                  <a:pt x="6134" y="14768"/>
                </a:moveTo>
                <a:lnTo>
                  <a:pt x="7000" y="14268"/>
                </a:lnTo>
                <a:lnTo>
                  <a:pt x="9000" y="17732"/>
                </a:lnTo>
                <a:moveTo>
                  <a:pt x="22000" y="8000"/>
                </a:moveTo>
                <a:cubicBezTo>
                  <a:pt x="22000" y="11314"/>
                  <a:pt x="19314" y="14000"/>
                  <a:pt x="16000" y="14000"/>
                </a:cubicBezTo>
                <a:cubicBezTo>
                  <a:pt x="12686" y="14000"/>
                  <a:pt x="10000" y="11314"/>
                  <a:pt x="10000" y="8000"/>
                </a:cubicBezTo>
                <a:cubicBezTo>
                  <a:pt x="10000" y="4686"/>
                  <a:pt x="12686" y="2000"/>
                  <a:pt x="16000" y="2000"/>
                </a:cubicBezTo>
                <a:cubicBezTo>
                  <a:pt x="19314" y="2000"/>
                  <a:pt x="22000" y="4686"/>
                  <a:pt x="22000" y="8000"/>
                </a:cubicBezTo>
                <a:close/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93" name="slot.reason.5.row.3.icon"/>
          <p:cNvSpPr/>
          <p:nvPr/>
        </p:nvSpPr>
        <p:spPr>
          <a:xfrm>
            <a:off x="585216" y="4125087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106" y="5553"/>
                </a:moveTo>
                <a:cubicBezTo>
                  <a:pt x="14669" y="5834"/>
                  <a:pt x="15331" y="5834"/>
                  <a:pt x="15894" y="5553"/>
                </a:cubicBezTo>
                <a:lnTo>
                  <a:pt x="19553" y="3723"/>
                </a:lnTo>
                <a:cubicBezTo>
                  <a:pt x="19863" y="3568"/>
                  <a:pt x="20232" y="3585"/>
                  <a:pt x="20526" y="3767"/>
                </a:cubicBezTo>
                <a:cubicBezTo>
                  <a:pt x="20821" y="3950"/>
                  <a:pt x="21001" y="4272"/>
                  <a:pt x="21000" y="4619"/>
                </a:cubicBezTo>
                <a:lnTo>
                  <a:pt x="21000" y="17383"/>
                </a:lnTo>
                <a:cubicBezTo>
                  <a:pt x="21000" y="17762"/>
                  <a:pt x="20786" y="18108"/>
                  <a:pt x="20447" y="18277"/>
                </a:cubicBezTo>
                <a:lnTo>
                  <a:pt x="15894" y="20554"/>
                </a:lnTo>
                <a:cubicBezTo>
                  <a:pt x="15331" y="20835"/>
                  <a:pt x="14669" y="20835"/>
                  <a:pt x="14106" y="20554"/>
                </a:cubicBezTo>
                <a:lnTo>
                  <a:pt x="9894" y="18448"/>
                </a:lnTo>
                <a:cubicBezTo>
                  <a:pt x="9331" y="18167"/>
                  <a:pt x="8669" y="18167"/>
                  <a:pt x="8106" y="18448"/>
                </a:cubicBezTo>
                <a:lnTo>
                  <a:pt x="4447" y="20278"/>
                </a:lnTo>
                <a:cubicBezTo>
                  <a:pt x="4137" y="20433"/>
                  <a:pt x="3768" y="20416"/>
                  <a:pt x="3473" y="20233"/>
                </a:cubicBezTo>
                <a:cubicBezTo>
                  <a:pt x="3178" y="20051"/>
                  <a:pt x="2999" y="19728"/>
                  <a:pt x="3000" y="19381"/>
                </a:cubicBezTo>
                <a:lnTo>
                  <a:pt x="3000" y="6618"/>
                </a:lnTo>
                <a:cubicBezTo>
                  <a:pt x="3000" y="6239"/>
                  <a:pt x="3214" y="5893"/>
                  <a:pt x="3553" y="5724"/>
                </a:cubicBezTo>
                <a:lnTo>
                  <a:pt x="8106" y="3447"/>
                </a:lnTo>
                <a:cubicBezTo>
                  <a:pt x="8669" y="3166"/>
                  <a:pt x="9331" y="3166"/>
                  <a:pt x="9894" y="3447"/>
                </a:cubicBezTo>
                <a:close/>
                <a:moveTo>
                  <a:pt x="15000" y="5764"/>
                </a:moveTo>
                <a:lnTo>
                  <a:pt x="15000" y="20764"/>
                </a:lnTo>
                <a:moveTo>
                  <a:pt x="9000" y="3236"/>
                </a:moveTo>
                <a:lnTo>
                  <a:pt x="9000" y="18236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94" name="slot.reason.5.row.4.icon"/>
          <p:cNvSpPr/>
          <p:nvPr/>
        </p:nvSpPr>
        <p:spPr>
          <a:xfrm>
            <a:off x="585216" y="4575429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95" name="slot.reason.2.row.1.icon"/>
          <p:cNvSpPr/>
          <p:nvPr/>
        </p:nvSpPr>
        <p:spPr>
          <a:xfrm>
            <a:off x="3163824" y="1381887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000" y="18000"/>
                </a:moveTo>
                <a:lnTo>
                  <a:pt x="14000" y="6000"/>
                </a:lnTo>
                <a:cubicBezTo>
                  <a:pt x="14000" y="4895"/>
                  <a:pt x="13105" y="4000"/>
                  <a:pt x="12000" y="4000"/>
                </a:cubicBezTo>
                <a:lnTo>
                  <a:pt x="4000" y="4000"/>
                </a:lnTo>
                <a:cubicBezTo>
                  <a:pt x="2895" y="4000"/>
                  <a:pt x="2000" y="4895"/>
                  <a:pt x="2000" y="6000"/>
                </a:cubicBezTo>
                <a:lnTo>
                  <a:pt x="2000" y="17000"/>
                </a:lnTo>
                <a:cubicBezTo>
                  <a:pt x="2000" y="17552"/>
                  <a:pt x="2448" y="18000"/>
                  <a:pt x="3000" y="18000"/>
                </a:cubicBezTo>
                <a:lnTo>
                  <a:pt x="5000" y="18000"/>
                </a:lnTo>
                <a:moveTo>
                  <a:pt x="15000" y="18000"/>
                </a:moveTo>
                <a:lnTo>
                  <a:pt x="9000" y="18000"/>
                </a:lnTo>
                <a:moveTo>
                  <a:pt x="19000" y="18000"/>
                </a:moveTo>
                <a:lnTo>
                  <a:pt x="21000" y="18000"/>
                </a:lnTo>
                <a:cubicBezTo>
                  <a:pt x="21552" y="18000"/>
                  <a:pt x="22000" y="17552"/>
                  <a:pt x="22000" y="17000"/>
                </a:cubicBezTo>
                <a:lnTo>
                  <a:pt x="22000" y="13350"/>
                </a:lnTo>
                <a:cubicBezTo>
                  <a:pt x="22000" y="13123"/>
                  <a:pt x="21922" y="12903"/>
                  <a:pt x="21780" y="12726"/>
                </a:cubicBezTo>
                <a:lnTo>
                  <a:pt x="18300" y="8376"/>
                </a:lnTo>
                <a:cubicBezTo>
                  <a:pt x="18111" y="8139"/>
                  <a:pt x="17824" y="8000"/>
                  <a:pt x="17520" y="8000"/>
                </a:cubicBezTo>
                <a:lnTo>
                  <a:pt x="14000" y="8000"/>
                </a:lnTo>
                <a:moveTo>
                  <a:pt x="19000" y="18000"/>
                </a:moveTo>
                <a:cubicBezTo>
                  <a:pt x="19000" y="19105"/>
                  <a:pt x="18105" y="20000"/>
                  <a:pt x="17000" y="20000"/>
                </a:cubicBezTo>
                <a:cubicBezTo>
                  <a:pt x="15895" y="20000"/>
                  <a:pt x="15000" y="19105"/>
                  <a:pt x="15000" y="18000"/>
                </a:cubicBezTo>
                <a:cubicBezTo>
                  <a:pt x="15000" y="16895"/>
                  <a:pt x="15895" y="16000"/>
                  <a:pt x="17000" y="16000"/>
                </a:cubicBezTo>
                <a:cubicBezTo>
                  <a:pt x="18105" y="16000"/>
                  <a:pt x="19000" y="16895"/>
                  <a:pt x="19000" y="18000"/>
                </a:cubicBezTo>
                <a:close/>
                <a:moveTo>
                  <a:pt x="9000" y="18000"/>
                </a:moveTo>
                <a:cubicBezTo>
                  <a:pt x="9000" y="19105"/>
                  <a:pt x="8105" y="20000"/>
                  <a:pt x="7000" y="20000"/>
                </a:cubicBezTo>
                <a:cubicBezTo>
                  <a:pt x="5895" y="20000"/>
                  <a:pt x="5000" y="19105"/>
                  <a:pt x="5000" y="18000"/>
                </a:cubicBezTo>
                <a:cubicBezTo>
                  <a:pt x="5000" y="16895"/>
                  <a:pt x="5895" y="16000"/>
                  <a:pt x="7000" y="16000"/>
                </a:cubicBezTo>
                <a:cubicBezTo>
                  <a:pt x="8105" y="16000"/>
                  <a:pt x="9000" y="16895"/>
                  <a:pt x="9000" y="18000"/>
                </a:cubicBezTo>
                <a:close/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96" name="slot.reason.2.row.2.icon"/>
          <p:cNvSpPr/>
          <p:nvPr/>
        </p:nvSpPr>
        <p:spPr>
          <a:xfrm>
            <a:off x="3163824" y="2024253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6000"/>
                </a:moveTo>
                <a:cubicBezTo>
                  <a:pt x="14041" y="6078"/>
                  <a:pt x="17014" y="5088"/>
                  <a:pt x="19400" y="3200"/>
                </a:cubicBezTo>
                <a:cubicBezTo>
                  <a:pt x="19703" y="2973"/>
                  <a:pt x="20108" y="2936"/>
                  <a:pt x="20447" y="3106"/>
                </a:cubicBezTo>
                <a:cubicBezTo>
                  <a:pt x="20786" y="3275"/>
                  <a:pt x="21000" y="3621"/>
                  <a:pt x="21000" y="4000"/>
                </a:cubicBezTo>
                <a:lnTo>
                  <a:pt x="21000" y="16000"/>
                </a:lnTo>
                <a:cubicBezTo>
                  <a:pt x="21000" y="16379"/>
                  <a:pt x="20786" y="16725"/>
                  <a:pt x="20447" y="16894"/>
                </a:cubicBezTo>
                <a:cubicBezTo>
                  <a:pt x="20108" y="17064"/>
                  <a:pt x="19703" y="17027"/>
                  <a:pt x="19400" y="16800"/>
                </a:cubicBezTo>
                <a:cubicBezTo>
                  <a:pt x="17014" y="14912"/>
                  <a:pt x="14041" y="13922"/>
                  <a:pt x="11000" y="14000"/>
                </a:cubicBezTo>
                <a:lnTo>
                  <a:pt x="5000" y="14000"/>
                </a:lnTo>
                <a:cubicBezTo>
                  <a:pt x="3895" y="14000"/>
                  <a:pt x="3000" y="13105"/>
                  <a:pt x="3000" y="12000"/>
                </a:cubicBezTo>
                <a:lnTo>
                  <a:pt x="3000" y="8000"/>
                </a:lnTo>
                <a:cubicBezTo>
                  <a:pt x="3000" y="6895"/>
                  <a:pt x="3895" y="6000"/>
                  <a:pt x="5000" y="6000"/>
                </a:cubicBezTo>
                <a:close/>
                <a:moveTo>
                  <a:pt x="6000" y="14000"/>
                </a:moveTo>
                <a:cubicBezTo>
                  <a:pt x="6000" y="16596"/>
                  <a:pt x="6842" y="19123"/>
                  <a:pt x="8400" y="21200"/>
                </a:cubicBezTo>
                <a:cubicBezTo>
                  <a:pt x="9063" y="22084"/>
                  <a:pt x="10316" y="22263"/>
                  <a:pt x="11200" y="21600"/>
                </a:cubicBezTo>
                <a:cubicBezTo>
                  <a:pt x="12084" y="20937"/>
                  <a:pt x="12263" y="19684"/>
                  <a:pt x="11600" y="18800"/>
                </a:cubicBezTo>
                <a:cubicBezTo>
                  <a:pt x="10561" y="17415"/>
                  <a:pt x="10000" y="15731"/>
                  <a:pt x="10000" y="14000"/>
                </a:cubicBezTo>
                <a:moveTo>
                  <a:pt x="8000" y="6000"/>
                </a:moveTo>
                <a:lnTo>
                  <a:pt x="8000" y="14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97" name="slot.reason.2.row.3.icon"/>
          <p:cNvSpPr/>
          <p:nvPr/>
        </p:nvSpPr>
        <p:spPr>
          <a:xfrm>
            <a:off x="3163824" y="2666619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4000"/>
                </a:moveTo>
                <a:lnTo>
                  <a:pt x="16000" y="10000"/>
                </a:lnTo>
                <a:moveTo>
                  <a:pt x="3340" y="19000"/>
                </a:moveTo>
                <a:cubicBezTo>
                  <a:pt x="913" y="14797"/>
                  <a:pt x="1854" y="9459"/>
                  <a:pt x="5572" y="6339"/>
                </a:cubicBezTo>
                <a:cubicBezTo>
                  <a:pt x="9290" y="3220"/>
                  <a:pt x="14710" y="3220"/>
                  <a:pt x="18428" y="6339"/>
                </a:cubicBezTo>
                <a:cubicBezTo>
                  <a:pt x="22146" y="9459"/>
                  <a:pt x="23087" y="14797"/>
                  <a:pt x="20660" y="19000"/>
                </a:cubicBez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98" name="slot.reason.2.row.4.icon"/>
          <p:cNvSpPr/>
          <p:nvPr/>
        </p:nvSpPr>
        <p:spPr>
          <a:xfrm>
            <a:off x="3163824" y="3308985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50" y="2050"/>
                </a:moveTo>
                <a:lnTo>
                  <a:pt x="3149" y="2022"/>
                </a:lnTo>
                <a:cubicBezTo>
                  <a:pt x="3639" y="2010"/>
                  <a:pt x="4066" y="2355"/>
                  <a:pt x="4157" y="2837"/>
                </a:cubicBezTo>
                <a:lnTo>
                  <a:pt x="6847" y="17184"/>
                </a:lnTo>
                <a:cubicBezTo>
                  <a:pt x="6936" y="17657"/>
                  <a:pt x="7349" y="18000"/>
                  <a:pt x="7830" y="18000"/>
                </a:cubicBezTo>
                <a:lnTo>
                  <a:pt x="18000" y="18000"/>
                </a:lnTo>
                <a:moveTo>
                  <a:pt x="4563" y="5000"/>
                </a:moveTo>
                <a:lnTo>
                  <a:pt x="20998" y="5000"/>
                </a:lnTo>
                <a:cubicBezTo>
                  <a:pt x="21299" y="4999"/>
                  <a:pt x="21585" y="5135"/>
                  <a:pt x="21775" y="5368"/>
                </a:cubicBezTo>
                <a:cubicBezTo>
                  <a:pt x="21966" y="5602"/>
                  <a:pt x="22040" y="5909"/>
                  <a:pt x="21979" y="6204"/>
                </a:cubicBezTo>
                <a:lnTo>
                  <a:pt x="20953" y="12430"/>
                </a:lnTo>
                <a:cubicBezTo>
                  <a:pt x="20748" y="13361"/>
                  <a:pt x="19915" y="14018"/>
                  <a:pt x="18962" y="14000"/>
                </a:cubicBezTo>
                <a:lnTo>
                  <a:pt x="6250" y="14000"/>
                </a:lnTo>
                <a:moveTo>
                  <a:pt x="20000" y="20000"/>
                </a:moveTo>
                <a:cubicBezTo>
                  <a:pt x="20000" y="21105"/>
                  <a:pt x="19105" y="22000"/>
                  <a:pt x="18000" y="22000"/>
                </a:cubicBezTo>
                <a:cubicBezTo>
                  <a:pt x="16895" y="22000"/>
                  <a:pt x="16000" y="21105"/>
                  <a:pt x="16000" y="20000"/>
                </a:cubicBezTo>
                <a:cubicBezTo>
                  <a:pt x="16000" y="18895"/>
                  <a:pt x="16895" y="18000"/>
                  <a:pt x="18000" y="18000"/>
                </a:cubicBezTo>
                <a:cubicBezTo>
                  <a:pt x="19105" y="18000"/>
                  <a:pt x="20000" y="18895"/>
                  <a:pt x="20000" y="20000"/>
                </a:cubicBezTo>
                <a:close/>
                <a:moveTo>
                  <a:pt x="10000" y="20000"/>
                </a:moveTo>
                <a:cubicBezTo>
                  <a:pt x="10000" y="21105"/>
                  <a:pt x="9105" y="22000"/>
                  <a:pt x="8000" y="22000"/>
                </a:cubicBezTo>
                <a:cubicBezTo>
                  <a:pt x="6895" y="22000"/>
                  <a:pt x="6000" y="21105"/>
                  <a:pt x="6000" y="20000"/>
                </a:cubicBezTo>
                <a:cubicBezTo>
                  <a:pt x="6000" y="18895"/>
                  <a:pt x="6895" y="18000"/>
                  <a:pt x="8000" y="18000"/>
                </a:cubicBezTo>
                <a:cubicBezTo>
                  <a:pt x="9105" y="18000"/>
                  <a:pt x="10000" y="18895"/>
                  <a:pt x="10000" y="20000"/>
                </a:cubicBezTo>
                <a:close/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99" name="slot.reason.4.row.1.icon"/>
          <p:cNvSpPr/>
          <p:nvPr/>
        </p:nvSpPr>
        <p:spPr>
          <a:xfrm>
            <a:off x="9729216" y="1434694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000" y="2000"/>
                </a:moveTo>
                <a:lnTo>
                  <a:pt x="14000" y="8000"/>
                </a:lnTo>
                <a:cubicBezTo>
                  <a:pt x="14000" y="8335"/>
                  <a:pt x="14084" y="8666"/>
                  <a:pt x="14245" y="8960"/>
                </a:cubicBezTo>
                <a:lnTo>
                  <a:pt x="19755" y="19040"/>
                </a:lnTo>
                <a:cubicBezTo>
                  <a:pt x="20094" y="19660"/>
                  <a:pt x="20081" y="20412"/>
                  <a:pt x="19721" y="21020"/>
                </a:cubicBezTo>
                <a:cubicBezTo>
                  <a:pt x="19361" y="21628"/>
                  <a:pt x="18706" y="22000"/>
                  <a:pt x="18000" y="22000"/>
                </a:cubicBezTo>
                <a:lnTo>
                  <a:pt x="6000" y="22000"/>
                </a:lnTo>
                <a:cubicBezTo>
                  <a:pt x="5294" y="22000"/>
                  <a:pt x="4639" y="21628"/>
                  <a:pt x="4279" y="21020"/>
                </a:cubicBezTo>
                <a:cubicBezTo>
                  <a:pt x="3919" y="20412"/>
                  <a:pt x="3906" y="19660"/>
                  <a:pt x="4245" y="19040"/>
                </a:cubicBezTo>
                <a:lnTo>
                  <a:pt x="9755" y="8960"/>
                </a:lnTo>
                <a:cubicBezTo>
                  <a:pt x="9916" y="8666"/>
                  <a:pt x="10000" y="8335"/>
                  <a:pt x="10000" y="8000"/>
                </a:cubicBezTo>
                <a:lnTo>
                  <a:pt x="10000" y="2000"/>
                </a:lnTo>
                <a:moveTo>
                  <a:pt x="6453" y="15000"/>
                </a:moveTo>
                <a:lnTo>
                  <a:pt x="17547" y="15000"/>
                </a:lnTo>
                <a:moveTo>
                  <a:pt x="8500" y="2000"/>
                </a:moveTo>
                <a:lnTo>
                  <a:pt x="15500" y="2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100" name="slot.reason.4.row.2.icon"/>
          <p:cNvSpPr/>
          <p:nvPr/>
        </p:nvSpPr>
        <p:spPr>
          <a:xfrm>
            <a:off x="9729216" y="2182673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852" y="19772"/>
                </a:moveTo>
                <a:lnTo>
                  <a:pt x="10469" y="20696"/>
                </a:lnTo>
                <a:moveTo>
                  <a:pt x="13148" y="14228"/>
                </a:moveTo>
                <a:lnTo>
                  <a:pt x="13531" y="13305"/>
                </a:lnTo>
                <a:moveTo>
                  <a:pt x="13148" y="19772"/>
                </a:moveTo>
                <a:cubicBezTo>
                  <a:pt x="14679" y="19138"/>
                  <a:pt x="15406" y="17383"/>
                  <a:pt x="14772" y="15852"/>
                </a:cubicBezTo>
                <a:cubicBezTo>
                  <a:pt x="14138" y="14321"/>
                  <a:pt x="12383" y="13594"/>
                  <a:pt x="10852" y="14228"/>
                </a:cubicBezTo>
                <a:lnTo>
                  <a:pt x="10469" y="13305"/>
                </a:lnTo>
                <a:moveTo>
                  <a:pt x="13530" y="20696"/>
                </a:moveTo>
                <a:lnTo>
                  <a:pt x="13148" y="19772"/>
                </a:lnTo>
                <a:cubicBezTo>
                  <a:pt x="11617" y="20406"/>
                  <a:pt x="9862" y="19679"/>
                  <a:pt x="9228" y="18148"/>
                </a:cubicBezTo>
                <a:cubicBezTo>
                  <a:pt x="8594" y="16617"/>
                  <a:pt x="9321" y="14862"/>
                  <a:pt x="10852" y="14228"/>
                </a:cubicBezTo>
                <a:moveTo>
                  <a:pt x="14772" y="15852"/>
                </a:moveTo>
                <a:lnTo>
                  <a:pt x="15695" y="15469"/>
                </a:lnTo>
                <a:moveTo>
                  <a:pt x="14772" y="18148"/>
                </a:moveTo>
                <a:lnTo>
                  <a:pt x="15695" y="18531"/>
                </a:lnTo>
                <a:moveTo>
                  <a:pt x="4200" y="15100"/>
                </a:moveTo>
                <a:cubicBezTo>
                  <a:pt x="2340" y="13347"/>
                  <a:pt x="1584" y="10719"/>
                  <a:pt x="2227" y="8245"/>
                </a:cubicBezTo>
                <a:cubicBezTo>
                  <a:pt x="2870" y="5771"/>
                  <a:pt x="4811" y="3844"/>
                  <a:pt x="7289" y="3219"/>
                </a:cubicBezTo>
                <a:cubicBezTo>
                  <a:pt x="9768" y="2594"/>
                  <a:pt x="12390" y="3369"/>
                  <a:pt x="14130" y="5242"/>
                </a:cubicBezTo>
                <a:cubicBezTo>
                  <a:pt x="14861" y="6028"/>
                  <a:pt x="15402" y="6972"/>
                  <a:pt x="15710" y="8000"/>
                </a:cubicBezTo>
                <a:lnTo>
                  <a:pt x="17500" y="8000"/>
                </a:lnTo>
                <a:cubicBezTo>
                  <a:pt x="19457" y="8026"/>
                  <a:pt x="21173" y="9315"/>
                  <a:pt x="21744" y="11187"/>
                </a:cubicBezTo>
                <a:cubicBezTo>
                  <a:pt x="22315" y="13060"/>
                  <a:pt x="21610" y="15086"/>
                  <a:pt x="20000" y="16200"/>
                </a:cubicBezTo>
                <a:moveTo>
                  <a:pt x="9228" y="15852"/>
                </a:moveTo>
                <a:lnTo>
                  <a:pt x="8305" y="15469"/>
                </a:lnTo>
                <a:moveTo>
                  <a:pt x="9228" y="18148"/>
                </a:moveTo>
                <a:lnTo>
                  <a:pt x="8305" y="18531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101" name="slot.reason.4.row.3.icon"/>
          <p:cNvSpPr/>
          <p:nvPr/>
        </p:nvSpPr>
        <p:spPr>
          <a:xfrm>
            <a:off x="9729216" y="293065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5000" y="6000"/>
                </a:moveTo>
                <a:cubicBezTo>
                  <a:pt x="10029" y="6000"/>
                  <a:pt x="6000" y="10029"/>
                  <a:pt x="6000" y="15000"/>
                </a:cubicBezTo>
                <a:lnTo>
                  <a:pt x="6000" y="3000"/>
                </a:lnTo>
                <a:moveTo>
                  <a:pt x="21000" y="6000"/>
                </a:moveTo>
                <a:cubicBezTo>
                  <a:pt x="21000" y="7657"/>
                  <a:pt x="19657" y="9000"/>
                  <a:pt x="18000" y="9000"/>
                </a:cubicBezTo>
                <a:cubicBezTo>
                  <a:pt x="16343" y="9000"/>
                  <a:pt x="15000" y="7657"/>
                  <a:pt x="15000" y="6000"/>
                </a:cubicBezTo>
                <a:cubicBezTo>
                  <a:pt x="15000" y="4343"/>
                  <a:pt x="16343" y="3000"/>
                  <a:pt x="18000" y="3000"/>
                </a:cubicBezTo>
                <a:cubicBezTo>
                  <a:pt x="19657" y="3000"/>
                  <a:pt x="21000" y="4343"/>
                  <a:pt x="21000" y="6000"/>
                </a:cubicBezTo>
                <a:close/>
                <a:moveTo>
                  <a:pt x="9000" y="18000"/>
                </a:moveTo>
                <a:cubicBezTo>
                  <a:pt x="9000" y="19657"/>
                  <a:pt x="7657" y="21000"/>
                  <a:pt x="6000" y="21000"/>
                </a:cubicBezTo>
                <a:cubicBezTo>
                  <a:pt x="4343" y="21000"/>
                  <a:pt x="3000" y="19657"/>
                  <a:pt x="3000" y="18000"/>
                </a:cubicBezTo>
                <a:cubicBezTo>
                  <a:pt x="3000" y="16343"/>
                  <a:pt x="4343" y="15000"/>
                  <a:pt x="6000" y="15000"/>
                </a:cubicBezTo>
                <a:cubicBezTo>
                  <a:pt x="7657" y="15000"/>
                  <a:pt x="9000" y="16343"/>
                  <a:pt x="9000" y="18000"/>
                </a:cubicBezTo>
                <a:close/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102" name="slot.reason.4.row.4.icon"/>
          <p:cNvSpPr/>
          <p:nvPr/>
        </p:nvSpPr>
        <p:spPr>
          <a:xfrm>
            <a:off x="9729216" y="3678631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lnTo>
                  <a:pt x="19520" y="12000"/>
                </a:lnTo>
                <a:cubicBezTo>
                  <a:pt x="18622" y="11998"/>
                  <a:pt x="17833" y="12595"/>
                  <a:pt x="17590" y="13460"/>
                </a:cubicBezTo>
                <a:lnTo>
                  <a:pt x="15240" y="21820"/>
                </a:lnTo>
                <a:cubicBezTo>
                  <a:pt x="15209" y="21927"/>
                  <a:pt x="15111" y="22000"/>
                  <a:pt x="15000" y="22000"/>
                </a:cubicBezTo>
                <a:cubicBezTo>
                  <a:pt x="14889" y="22000"/>
                  <a:pt x="14791" y="21927"/>
                  <a:pt x="14760" y="21820"/>
                </a:cubicBezTo>
                <a:lnTo>
                  <a:pt x="9240" y="2180"/>
                </a:lnTo>
                <a:cubicBezTo>
                  <a:pt x="9209" y="2073"/>
                  <a:pt x="9111" y="2000"/>
                  <a:pt x="9000" y="2000"/>
                </a:cubicBezTo>
                <a:cubicBezTo>
                  <a:pt x="8889" y="2000"/>
                  <a:pt x="8791" y="2073"/>
                  <a:pt x="8760" y="2180"/>
                </a:cubicBezTo>
                <a:lnTo>
                  <a:pt x="6410" y="10540"/>
                </a:lnTo>
                <a:cubicBezTo>
                  <a:pt x="6168" y="11401"/>
                  <a:pt x="5384" y="11997"/>
                  <a:pt x="4490" y="12000"/>
                </a:cubicBezTo>
                <a:lnTo>
                  <a:pt x="2000" y="12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103" name="slot.reason.4.row.5.icon"/>
          <p:cNvSpPr/>
          <p:nvPr/>
        </p:nvSpPr>
        <p:spPr>
          <a:xfrm>
            <a:off x="9729216" y="442661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14000"/>
                </a:moveTo>
                <a:lnTo>
                  <a:pt x="6000" y="14000"/>
                </a:lnTo>
                <a:cubicBezTo>
                  <a:pt x="7105" y="14000"/>
                  <a:pt x="8000" y="14895"/>
                  <a:pt x="8000" y="16000"/>
                </a:cubicBezTo>
                <a:lnTo>
                  <a:pt x="8000" y="19000"/>
                </a:lnTo>
                <a:cubicBezTo>
                  <a:pt x="8000" y="20105"/>
                  <a:pt x="7105" y="21000"/>
                  <a:pt x="6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12000"/>
                </a:lnTo>
                <a:cubicBezTo>
                  <a:pt x="3000" y="7029"/>
                  <a:pt x="7029" y="3000"/>
                  <a:pt x="12000" y="3000"/>
                </a:cubicBezTo>
                <a:cubicBezTo>
                  <a:pt x="16971" y="3000"/>
                  <a:pt x="21000" y="7029"/>
                  <a:pt x="21000" y="12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8000" y="21000"/>
                </a:lnTo>
                <a:cubicBezTo>
                  <a:pt x="16895" y="21000"/>
                  <a:pt x="16000" y="20105"/>
                  <a:pt x="16000" y="19000"/>
                </a:cubicBezTo>
                <a:lnTo>
                  <a:pt x="16000" y="16000"/>
                </a:lnTo>
                <a:cubicBezTo>
                  <a:pt x="16000" y="14895"/>
                  <a:pt x="16895" y="14000"/>
                  <a:pt x="18000" y="14000"/>
                </a:cubicBezTo>
                <a:lnTo>
                  <a:pt x="21000" y="14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104" name="slot.controls.1.icon"/>
          <p:cNvSpPr/>
          <p:nvPr/>
        </p:nvSpPr>
        <p:spPr>
          <a:xfrm>
            <a:off x="3236976" y="44897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6000"/>
                </a:moveTo>
                <a:lnTo>
                  <a:pt x="20000" y="20000"/>
                </a:lnTo>
                <a:moveTo>
                  <a:pt x="12000" y="6000"/>
                </a:moveTo>
                <a:lnTo>
                  <a:pt x="12000" y="20000"/>
                </a:lnTo>
                <a:moveTo>
                  <a:pt x="8000" y="8000"/>
                </a:moveTo>
                <a:lnTo>
                  <a:pt x="8000" y="20000"/>
                </a:lnTo>
                <a:moveTo>
                  <a:pt x="4000" y="4000"/>
                </a:moveTo>
                <a:lnTo>
                  <a:pt x="4000" y="20000"/>
                </a:ln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sp>
        <p:nvSpPr>
          <p:cNvPr id="105" name="slot.controls.2.icon"/>
          <p:cNvSpPr/>
          <p:nvPr/>
        </p:nvSpPr>
        <p:spPr>
          <a:xfrm>
            <a:off x="5388864" y="44897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000" y="19000"/>
                </a:moveTo>
                <a:cubicBezTo>
                  <a:pt x="13000" y="16791"/>
                  <a:pt x="11209" y="15000"/>
                  <a:pt x="9000" y="15000"/>
                </a:cubicBezTo>
                <a:cubicBezTo>
                  <a:pt x="6791" y="15000"/>
                  <a:pt x="5000" y="16791"/>
                  <a:pt x="5000" y="19000"/>
                </a:cubicBezTo>
                <a:moveTo>
                  <a:pt x="16000" y="10000"/>
                </a:moveTo>
                <a:lnTo>
                  <a:pt x="18000" y="10000"/>
                </a:lnTo>
                <a:moveTo>
                  <a:pt x="16000" y="14000"/>
                </a:moveTo>
                <a:lnTo>
                  <a:pt x="18000" y="14000"/>
                </a:lnTo>
                <a:moveTo>
                  <a:pt x="12000" y="12000"/>
                </a:moveTo>
                <a:cubicBezTo>
                  <a:pt x="12000" y="13657"/>
                  <a:pt x="10657" y="15000"/>
                  <a:pt x="9000" y="15000"/>
                </a:cubicBezTo>
                <a:cubicBezTo>
                  <a:pt x="7343" y="15000"/>
                  <a:pt x="6000" y="13657"/>
                  <a:pt x="6000" y="12000"/>
                </a:cubicBezTo>
                <a:cubicBezTo>
                  <a:pt x="6000" y="10343"/>
                  <a:pt x="7343" y="9000"/>
                  <a:pt x="9000" y="9000"/>
                </a:cubicBezTo>
                <a:cubicBezTo>
                  <a:pt x="10657" y="9000"/>
                  <a:pt x="12000" y="10343"/>
                  <a:pt x="12000" y="12000"/>
                </a:cubicBezTo>
                <a:close/>
                <a:moveTo>
                  <a:pt x="4000" y="5000"/>
                </a:moveTo>
                <a:lnTo>
                  <a:pt x="20000" y="5000"/>
                </a:lnTo>
                <a:cubicBezTo>
                  <a:pt x="21105" y="5000"/>
                  <a:pt x="22000" y="5895"/>
                  <a:pt x="22000" y="7000"/>
                </a:cubicBezTo>
                <a:lnTo>
                  <a:pt x="22000" y="17000"/>
                </a:lnTo>
                <a:cubicBezTo>
                  <a:pt x="22000" y="18105"/>
                  <a:pt x="21105" y="19000"/>
                  <a:pt x="20000" y="19000"/>
                </a:cubicBezTo>
                <a:lnTo>
                  <a:pt x="4000" y="19000"/>
                </a:lnTo>
                <a:cubicBezTo>
                  <a:pt x="2895" y="19000"/>
                  <a:pt x="2000" y="18105"/>
                  <a:pt x="2000" y="17000"/>
                </a:cubicBezTo>
                <a:lnTo>
                  <a:pt x="2000" y="7000"/>
                </a:lnTo>
                <a:cubicBezTo>
                  <a:pt x="2000" y="5895"/>
                  <a:pt x="2895" y="5000"/>
                  <a:pt x="4000" y="5000"/>
                </a:cubicBezTo>
                <a:close/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sp>
        <p:nvSpPr>
          <p:cNvPr id="106" name="slot.controls.3.icon"/>
          <p:cNvSpPr/>
          <p:nvPr/>
        </p:nvSpPr>
        <p:spPr>
          <a:xfrm>
            <a:off x="7540752" y="44897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cxnSp>
        <p:nvCxnSpPr>
          <p:cNvPr id="107" name="struct.platforms.rule.1"/>
          <p:cNvCxnSpPr/>
          <p:nvPr/>
        </p:nvCxnSpPr>
        <p:spPr>
          <a:xfrm>
            <a:off x="1956816" y="5248656"/>
            <a:ext cx="0" cy="877824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sp>
        <p:nvSpPr>
          <p:cNvPr id="108" name="slot.platforms.mark.1"/>
          <p:cNvSpPr/>
          <p:nvPr/>
        </p:nvSpPr>
        <p:spPr>
          <a:xfrm>
            <a:off x="2505456" y="555955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7500" y="19000"/>
                </a:moveTo>
                <a:lnTo>
                  <a:pt x="9000" y="19000"/>
                </a:lnTo>
                <a:cubicBezTo>
                  <a:pt x="5396" y="18999"/>
                  <a:pt x="2381" y="16261"/>
                  <a:pt x="2034" y="12674"/>
                </a:cubicBezTo>
                <a:cubicBezTo>
                  <a:pt x="1687" y="9086"/>
                  <a:pt x="4121" y="5822"/>
                  <a:pt x="7659" y="5130"/>
                </a:cubicBezTo>
                <a:cubicBezTo>
                  <a:pt x="11196" y="4438"/>
                  <a:pt x="14680" y="6546"/>
                  <a:pt x="15710" y="10000"/>
                </a:cubicBezTo>
                <a:lnTo>
                  <a:pt x="17500" y="10000"/>
                </a:lnTo>
                <a:cubicBezTo>
                  <a:pt x="19985" y="10000"/>
                  <a:pt x="22000" y="12015"/>
                  <a:pt x="22000" y="14500"/>
                </a:cubicBezTo>
                <a:cubicBezTo>
                  <a:pt x="22000" y="16985"/>
                  <a:pt x="19985" y="19000"/>
                  <a:pt x="17500" y="19000"/>
                </a:cubicBezTo>
                <a:close/>
              </a:path>
            </a:pathLst>
          </a:custGeom>
          <a:noFill/>
          <a:ln w="2286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09" name="slot.platforms.mark.2"/>
          <p:cNvSpPr/>
          <p:nvPr/>
        </p:nvSpPr>
        <p:spPr>
          <a:xfrm>
            <a:off x="3474720" y="555955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852" y="19772"/>
                </a:moveTo>
                <a:lnTo>
                  <a:pt x="10469" y="20696"/>
                </a:lnTo>
                <a:moveTo>
                  <a:pt x="13148" y="14228"/>
                </a:moveTo>
                <a:lnTo>
                  <a:pt x="13531" y="13305"/>
                </a:lnTo>
                <a:moveTo>
                  <a:pt x="13148" y="19772"/>
                </a:moveTo>
                <a:cubicBezTo>
                  <a:pt x="14679" y="19138"/>
                  <a:pt x="15406" y="17383"/>
                  <a:pt x="14772" y="15852"/>
                </a:cubicBezTo>
                <a:cubicBezTo>
                  <a:pt x="14138" y="14321"/>
                  <a:pt x="12383" y="13594"/>
                  <a:pt x="10852" y="14228"/>
                </a:cubicBezTo>
                <a:lnTo>
                  <a:pt x="10469" y="13305"/>
                </a:lnTo>
                <a:moveTo>
                  <a:pt x="13530" y="20696"/>
                </a:moveTo>
                <a:lnTo>
                  <a:pt x="13148" y="19772"/>
                </a:lnTo>
                <a:cubicBezTo>
                  <a:pt x="11617" y="20406"/>
                  <a:pt x="9862" y="19679"/>
                  <a:pt x="9228" y="18148"/>
                </a:cubicBezTo>
                <a:cubicBezTo>
                  <a:pt x="8594" y="16617"/>
                  <a:pt x="9321" y="14862"/>
                  <a:pt x="10852" y="14228"/>
                </a:cubicBezTo>
                <a:moveTo>
                  <a:pt x="14772" y="15852"/>
                </a:moveTo>
                <a:lnTo>
                  <a:pt x="15695" y="15469"/>
                </a:lnTo>
                <a:moveTo>
                  <a:pt x="14772" y="18148"/>
                </a:moveTo>
                <a:lnTo>
                  <a:pt x="15695" y="18531"/>
                </a:lnTo>
                <a:moveTo>
                  <a:pt x="4200" y="15100"/>
                </a:moveTo>
                <a:cubicBezTo>
                  <a:pt x="2340" y="13347"/>
                  <a:pt x="1584" y="10719"/>
                  <a:pt x="2227" y="8245"/>
                </a:cubicBezTo>
                <a:cubicBezTo>
                  <a:pt x="2870" y="5771"/>
                  <a:pt x="4811" y="3844"/>
                  <a:pt x="7289" y="3219"/>
                </a:cubicBezTo>
                <a:cubicBezTo>
                  <a:pt x="9768" y="2594"/>
                  <a:pt x="12390" y="3369"/>
                  <a:pt x="14130" y="5242"/>
                </a:cubicBezTo>
                <a:cubicBezTo>
                  <a:pt x="14861" y="6028"/>
                  <a:pt x="15402" y="6972"/>
                  <a:pt x="15710" y="8000"/>
                </a:cubicBezTo>
                <a:lnTo>
                  <a:pt x="17500" y="8000"/>
                </a:lnTo>
                <a:cubicBezTo>
                  <a:pt x="19457" y="8026"/>
                  <a:pt x="21173" y="9315"/>
                  <a:pt x="21744" y="11187"/>
                </a:cubicBezTo>
                <a:cubicBezTo>
                  <a:pt x="22315" y="13060"/>
                  <a:pt x="21610" y="15086"/>
                  <a:pt x="20000" y="16200"/>
                </a:cubicBezTo>
                <a:moveTo>
                  <a:pt x="9228" y="15852"/>
                </a:moveTo>
                <a:lnTo>
                  <a:pt x="8305" y="15469"/>
                </a:lnTo>
                <a:moveTo>
                  <a:pt x="9228" y="18148"/>
                </a:moveTo>
                <a:lnTo>
                  <a:pt x="8305" y="18531"/>
                </a:lnTo>
              </a:path>
            </a:pathLst>
          </a:custGeom>
          <a:noFill/>
          <a:ln w="2286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10" name="slot.platforms.mark.3"/>
          <p:cNvSpPr/>
          <p:nvPr/>
        </p:nvSpPr>
        <p:spPr>
          <a:xfrm>
            <a:off x="4443984" y="555955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3000"/>
                </a:moveTo>
                <a:lnTo>
                  <a:pt x="12000" y="21000"/>
                </a:lnTo>
                <a:moveTo>
                  <a:pt x="4000" y="14899"/>
                </a:moveTo>
                <a:cubicBezTo>
                  <a:pt x="1965" y="12820"/>
                  <a:pt x="1428" y="9699"/>
                  <a:pt x="2652" y="7059"/>
                </a:cubicBezTo>
                <a:cubicBezTo>
                  <a:pt x="3875" y="4419"/>
                  <a:pt x="6604" y="2812"/>
                  <a:pt x="9506" y="3021"/>
                </a:cubicBezTo>
                <a:cubicBezTo>
                  <a:pt x="12408" y="3230"/>
                  <a:pt x="14878" y="5212"/>
                  <a:pt x="15710" y="8000"/>
                </a:cubicBezTo>
                <a:lnTo>
                  <a:pt x="17500" y="8000"/>
                </a:lnTo>
                <a:cubicBezTo>
                  <a:pt x="19482" y="8000"/>
                  <a:pt x="21231" y="9297"/>
                  <a:pt x="21807" y="11194"/>
                </a:cubicBezTo>
                <a:cubicBezTo>
                  <a:pt x="22382" y="13091"/>
                  <a:pt x="21648" y="15141"/>
                  <a:pt x="20000" y="16242"/>
                </a:cubicBezTo>
                <a:moveTo>
                  <a:pt x="8000" y="17000"/>
                </a:moveTo>
                <a:lnTo>
                  <a:pt x="12000" y="13000"/>
                </a:lnTo>
                <a:lnTo>
                  <a:pt x="16000" y="17000"/>
                </a:lnTo>
              </a:path>
            </a:pathLst>
          </a:custGeom>
          <a:noFill/>
          <a:ln w="2286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11" name="slot.platforms.mark.4"/>
          <p:cNvSpPr/>
          <p:nvPr/>
        </p:nvSpPr>
        <p:spPr>
          <a:xfrm>
            <a:off x="2505456" y="588873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8000" y="21000"/>
                </a:moveTo>
                <a:lnTo>
                  <a:pt x="18000" y="10000"/>
                </a:lnTo>
                <a:cubicBezTo>
                  <a:pt x="18000" y="9448"/>
                  <a:pt x="17552" y="9000"/>
                  <a:pt x="17000" y="9000"/>
                </a:cubicBezTo>
                <a:lnTo>
                  <a:pt x="7000" y="9000"/>
                </a:lnTo>
                <a:cubicBezTo>
                  <a:pt x="6448" y="9000"/>
                  <a:pt x="6000" y="9448"/>
                  <a:pt x="6000" y="10000"/>
                </a:cubicBezTo>
                <a:lnTo>
                  <a:pt x="6000" y="21000"/>
                </a:lnTo>
                <a:moveTo>
                  <a:pt x="22000" y="19000"/>
                </a:moveTo>
                <a:cubicBezTo>
                  <a:pt x="22000" y="20105"/>
                  <a:pt x="21105" y="21000"/>
                  <a:pt x="20000" y="21000"/>
                </a:cubicBezTo>
                <a:lnTo>
                  <a:pt x="4000" y="21000"/>
                </a:lnTo>
                <a:cubicBezTo>
                  <a:pt x="2895" y="21000"/>
                  <a:pt x="2000" y="20105"/>
                  <a:pt x="2000" y="19000"/>
                </a:cubicBezTo>
                <a:lnTo>
                  <a:pt x="2000" y="8000"/>
                </a:lnTo>
                <a:cubicBezTo>
                  <a:pt x="2000" y="7231"/>
                  <a:pt x="2440" y="6531"/>
                  <a:pt x="3132" y="6197"/>
                </a:cubicBezTo>
                <a:lnTo>
                  <a:pt x="11082" y="2223"/>
                </a:lnTo>
                <a:cubicBezTo>
                  <a:pt x="11658" y="1925"/>
                  <a:pt x="12343" y="1925"/>
                  <a:pt x="12919" y="2223"/>
                </a:cubicBezTo>
                <a:lnTo>
                  <a:pt x="20867" y="6197"/>
                </a:lnTo>
                <a:cubicBezTo>
                  <a:pt x="21560" y="6530"/>
                  <a:pt x="22000" y="7231"/>
                  <a:pt x="22000" y="8000"/>
                </a:cubicBezTo>
                <a:close/>
                <a:moveTo>
                  <a:pt x="6000" y="13000"/>
                </a:moveTo>
                <a:lnTo>
                  <a:pt x="18000" y="13000"/>
                </a:lnTo>
                <a:moveTo>
                  <a:pt x="6000" y="17000"/>
                </a:moveTo>
                <a:lnTo>
                  <a:pt x="18000" y="17000"/>
                </a:lnTo>
              </a:path>
            </a:pathLst>
          </a:custGeom>
          <a:noFill/>
          <a:ln w="2286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12" name="slot.platforms.mark.5"/>
          <p:cNvSpPr/>
          <p:nvPr/>
        </p:nvSpPr>
        <p:spPr>
          <a:xfrm>
            <a:off x="3474720" y="588873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830" y="2180"/>
                </a:moveTo>
                <a:cubicBezTo>
                  <a:pt x="12303" y="1940"/>
                  <a:pt x="11697" y="1940"/>
                  <a:pt x="11170" y="2180"/>
                </a:cubicBezTo>
                <a:lnTo>
                  <a:pt x="2600" y="6080"/>
                </a:lnTo>
                <a:cubicBezTo>
                  <a:pt x="2237" y="6240"/>
                  <a:pt x="2003" y="6599"/>
                  <a:pt x="2003" y="6995"/>
                </a:cubicBezTo>
                <a:cubicBezTo>
                  <a:pt x="2003" y="7391"/>
                  <a:pt x="2237" y="7750"/>
                  <a:pt x="2600" y="7910"/>
                </a:cubicBezTo>
                <a:lnTo>
                  <a:pt x="11180" y="11820"/>
                </a:lnTo>
                <a:cubicBezTo>
                  <a:pt x="11707" y="12060"/>
                  <a:pt x="12313" y="12060"/>
                  <a:pt x="12840" y="11820"/>
                </a:cubicBezTo>
                <a:lnTo>
                  <a:pt x="21420" y="7920"/>
                </a:lnTo>
                <a:cubicBezTo>
                  <a:pt x="21783" y="7760"/>
                  <a:pt x="22017" y="7401"/>
                  <a:pt x="22017" y="7005"/>
                </a:cubicBezTo>
                <a:cubicBezTo>
                  <a:pt x="22017" y="6609"/>
                  <a:pt x="21783" y="6250"/>
                  <a:pt x="21420" y="6090"/>
                </a:cubicBezTo>
                <a:close/>
                <a:moveTo>
                  <a:pt x="2000" y="12000"/>
                </a:moveTo>
                <a:cubicBezTo>
                  <a:pt x="1999" y="12391"/>
                  <a:pt x="2226" y="12746"/>
                  <a:pt x="2580" y="12910"/>
                </a:cubicBezTo>
                <a:lnTo>
                  <a:pt x="11180" y="16820"/>
                </a:lnTo>
                <a:cubicBezTo>
                  <a:pt x="11704" y="17057"/>
                  <a:pt x="12306" y="17057"/>
                  <a:pt x="12830" y="16820"/>
                </a:cubicBezTo>
                <a:lnTo>
                  <a:pt x="21410" y="12920"/>
                </a:lnTo>
                <a:cubicBezTo>
                  <a:pt x="21772" y="12757"/>
                  <a:pt x="22003" y="12397"/>
                  <a:pt x="22000" y="12000"/>
                </a:cubicBezTo>
                <a:moveTo>
                  <a:pt x="2000" y="17000"/>
                </a:moveTo>
                <a:cubicBezTo>
                  <a:pt x="1999" y="17391"/>
                  <a:pt x="2226" y="17746"/>
                  <a:pt x="2580" y="17910"/>
                </a:cubicBezTo>
                <a:lnTo>
                  <a:pt x="11180" y="21820"/>
                </a:lnTo>
                <a:cubicBezTo>
                  <a:pt x="11704" y="22057"/>
                  <a:pt x="12306" y="22057"/>
                  <a:pt x="12830" y="21820"/>
                </a:cubicBezTo>
                <a:lnTo>
                  <a:pt x="21410" y="17920"/>
                </a:lnTo>
                <a:cubicBezTo>
                  <a:pt x="21772" y="17757"/>
                  <a:pt x="22003" y="17397"/>
                  <a:pt x="22000" y="17000"/>
                </a:cubicBezTo>
              </a:path>
            </a:pathLst>
          </a:custGeom>
          <a:noFill/>
          <a:ln w="2286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13" name="slot.platforms.mark.6"/>
          <p:cNvSpPr/>
          <p:nvPr/>
        </p:nvSpPr>
        <p:spPr>
          <a:xfrm>
            <a:off x="4443984" y="588873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18000"/>
                </a:moveTo>
                <a:cubicBezTo>
                  <a:pt x="21000" y="19657"/>
                  <a:pt x="19657" y="21000"/>
                  <a:pt x="18000" y="21000"/>
                </a:cubicBezTo>
                <a:cubicBezTo>
                  <a:pt x="16343" y="21000"/>
                  <a:pt x="15000" y="19657"/>
                  <a:pt x="15000" y="18000"/>
                </a:cubicBezTo>
                <a:cubicBezTo>
                  <a:pt x="15000" y="16343"/>
                  <a:pt x="16343" y="15000"/>
                  <a:pt x="18000" y="15000"/>
                </a:cubicBezTo>
                <a:cubicBezTo>
                  <a:pt x="19657" y="15000"/>
                  <a:pt x="21000" y="16343"/>
                  <a:pt x="21000" y="18000"/>
                </a:cubicBezTo>
                <a:close/>
                <a:moveTo>
                  <a:pt x="9000" y="6000"/>
                </a:moveTo>
                <a:cubicBezTo>
                  <a:pt x="9000" y="7657"/>
                  <a:pt x="7657" y="9000"/>
                  <a:pt x="6000" y="9000"/>
                </a:cubicBezTo>
                <a:cubicBezTo>
                  <a:pt x="4343" y="9000"/>
                  <a:pt x="3000" y="7657"/>
                  <a:pt x="3000" y="6000"/>
                </a:cubicBezTo>
                <a:cubicBezTo>
                  <a:pt x="3000" y="4343"/>
                  <a:pt x="4343" y="3000"/>
                  <a:pt x="6000" y="3000"/>
                </a:cubicBezTo>
                <a:cubicBezTo>
                  <a:pt x="7657" y="3000"/>
                  <a:pt x="9000" y="4343"/>
                  <a:pt x="9000" y="6000"/>
                </a:cubicBezTo>
                <a:close/>
                <a:moveTo>
                  <a:pt x="6000" y="21000"/>
                </a:moveTo>
                <a:lnTo>
                  <a:pt x="6000" y="9000"/>
                </a:lnTo>
                <a:cubicBezTo>
                  <a:pt x="6000" y="13971"/>
                  <a:pt x="10029" y="18000"/>
                  <a:pt x="15000" y="18000"/>
                </a:cubicBezTo>
              </a:path>
            </a:pathLst>
          </a:custGeom>
          <a:noFill/>
          <a:ln w="2286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14" name="slot.platforms.mark.7"/>
          <p:cNvSpPr/>
          <p:nvPr/>
        </p:nvSpPr>
        <p:spPr>
          <a:xfrm>
            <a:off x="5745480" y="555955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8000"/>
                </a:moveTo>
                <a:lnTo>
                  <a:pt x="22000" y="12000"/>
                </a:lnTo>
                <a:lnTo>
                  <a:pt x="16000" y="6000"/>
                </a:lnTo>
                <a:moveTo>
                  <a:pt x="8000" y="6000"/>
                </a:moveTo>
                <a:lnTo>
                  <a:pt x="2000" y="12000"/>
                </a:lnTo>
                <a:lnTo>
                  <a:pt x="8000" y="18000"/>
                </a:lnTo>
              </a:path>
            </a:pathLst>
          </a:custGeom>
          <a:noFill/>
          <a:ln w="2286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15" name="slot.platforms.mark.8"/>
          <p:cNvSpPr/>
          <p:nvPr/>
        </p:nvSpPr>
        <p:spPr>
          <a:xfrm>
            <a:off x="6793992" y="555955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20000"/>
                </a:moveTo>
                <a:lnTo>
                  <a:pt x="12000" y="22000"/>
                </a:lnTo>
                <a:moveTo>
                  <a:pt x="12000" y="2000"/>
                </a:moveTo>
                <a:lnTo>
                  <a:pt x="12000" y="4000"/>
                </a:lnTo>
                <a:moveTo>
                  <a:pt x="17000" y="20000"/>
                </a:moveTo>
                <a:lnTo>
                  <a:pt x="17000" y="22000"/>
                </a:lnTo>
                <a:moveTo>
                  <a:pt x="17000" y="2000"/>
                </a:moveTo>
                <a:lnTo>
                  <a:pt x="17000" y="4000"/>
                </a:lnTo>
                <a:moveTo>
                  <a:pt x="2000" y="12000"/>
                </a:moveTo>
                <a:lnTo>
                  <a:pt x="4000" y="12000"/>
                </a:lnTo>
                <a:moveTo>
                  <a:pt x="2000" y="17000"/>
                </a:moveTo>
                <a:lnTo>
                  <a:pt x="4000" y="17000"/>
                </a:lnTo>
                <a:moveTo>
                  <a:pt x="2000" y="7000"/>
                </a:moveTo>
                <a:lnTo>
                  <a:pt x="4000" y="7000"/>
                </a:lnTo>
                <a:moveTo>
                  <a:pt x="20000" y="12000"/>
                </a:moveTo>
                <a:lnTo>
                  <a:pt x="22000" y="12000"/>
                </a:lnTo>
                <a:moveTo>
                  <a:pt x="20000" y="17000"/>
                </a:moveTo>
                <a:lnTo>
                  <a:pt x="22000" y="17000"/>
                </a:lnTo>
                <a:moveTo>
                  <a:pt x="20000" y="7000"/>
                </a:moveTo>
                <a:lnTo>
                  <a:pt x="22000" y="7000"/>
                </a:lnTo>
                <a:moveTo>
                  <a:pt x="7000" y="20000"/>
                </a:moveTo>
                <a:lnTo>
                  <a:pt x="7000" y="22000"/>
                </a:lnTo>
                <a:moveTo>
                  <a:pt x="7000" y="2000"/>
                </a:moveTo>
                <a:lnTo>
                  <a:pt x="7000" y="4000"/>
                </a:lnTo>
                <a:moveTo>
                  <a:pt x="6000" y="4000"/>
                </a:moveTo>
                <a:lnTo>
                  <a:pt x="18000" y="4000"/>
                </a:lnTo>
                <a:cubicBezTo>
                  <a:pt x="19105" y="4000"/>
                  <a:pt x="20000" y="4895"/>
                  <a:pt x="20000" y="6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6000"/>
                </a:lnTo>
                <a:cubicBezTo>
                  <a:pt x="4000" y="4895"/>
                  <a:pt x="4895" y="4000"/>
                  <a:pt x="6000" y="4000"/>
                </a:cubicBezTo>
                <a:close/>
                <a:moveTo>
                  <a:pt x="9000" y="8000"/>
                </a:moveTo>
                <a:lnTo>
                  <a:pt x="15000" y="8000"/>
                </a:lnTo>
                <a:cubicBezTo>
                  <a:pt x="15552" y="8000"/>
                  <a:pt x="16000" y="8448"/>
                  <a:pt x="16000" y="9000"/>
                </a:cubicBezTo>
                <a:lnTo>
                  <a:pt x="16000" y="15000"/>
                </a:lnTo>
                <a:cubicBezTo>
                  <a:pt x="16000" y="15552"/>
                  <a:pt x="15552" y="16000"/>
                  <a:pt x="15000" y="16000"/>
                </a:cubicBezTo>
                <a:lnTo>
                  <a:pt x="9000" y="16000"/>
                </a:lnTo>
                <a:cubicBezTo>
                  <a:pt x="8448" y="16000"/>
                  <a:pt x="8000" y="15552"/>
                  <a:pt x="8000" y="15000"/>
                </a:cubicBezTo>
                <a:lnTo>
                  <a:pt x="8000" y="9000"/>
                </a:lnTo>
                <a:cubicBezTo>
                  <a:pt x="8000" y="8448"/>
                  <a:pt x="8448" y="8000"/>
                  <a:pt x="9000" y="8000"/>
                </a:cubicBezTo>
                <a:close/>
              </a:path>
            </a:pathLst>
          </a:custGeom>
          <a:noFill/>
          <a:ln w="2286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16" name="slot.platforms.mark.9"/>
          <p:cNvSpPr/>
          <p:nvPr/>
        </p:nvSpPr>
        <p:spPr>
          <a:xfrm>
            <a:off x="7842504" y="555955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3000"/>
                </a:moveTo>
                <a:lnTo>
                  <a:pt x="9000" y="3000"/>
                </a:lnTo>
                <a:cubicBezTo>
                  <a:pt x="10105" y="3000"/>
                  <a:pt x="11000" y="3895"/>
                  <a:pt x="11000" y="5000"/>
                </a:cubicBezTo>
                <a:lnTo>
                  <a:pt x="11000" y="9000"/>
                </a:lnTo>
                <a:cubicBezTo>
                  <a:pt x="11000" y="10105"/>
                  <a:pt x="10105" y="11000"/>
                  <a:pt x="9000" y="11000"/>
                </a:cubicBezTo>
                <a:lnTo>
                  <a:pt x="5000" y="11000"/>
                </a:lnTo>
                <a:cubicBezTo>
                  <a:pt x="3895" y="11000"/>
                  <a:pt x="3000" y="10105"/>
                  <a:pt x="3000" y="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  <a:moveTo>
                  <a:pt x="7000" y="11000"/>
                </a:moveTo>
                <a:lnTo>
                  <a:pt x="7000" y="15000"/>
                </a:lnTo>
                <a:cubicBezTo>
                  <a:pt x="7000" y="16105"/>
                  <a:pt x="7895" y="17000"/>
                  <a:pt x="9000" y="17000"/>
                </a:cubicBezTo>
                <a:lnTo>
                  <a:pt x="13000" y="17000"/>
                </a:lnTo>
                <a:moveTo>
                  <a:pt x="15000" y="13000"/>
                </a:moveTo>
                <a:lnTo>
                  <a:pt x="19000" y="13000"/>
                </a:lnTo>
                <a:cubicBezTo>
                  <a:pt x="20105" y="13000"/>
                  <a:pt x="21000" y="13895"/>
                  <a:pt x="21000" y="1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5000" y="21000"/>
                </a:lnTo>
                <a:cubicBezTo>
                  <a:pt x="13895" y="21000"/>
                  <a:pt x="13000" y="20105"/>
                  <a:pt x="13000" y="19000"/>
                </a:cubicBezTo>
                <a:lnTo>
                  <a:pt x="13000" y="15000"/>
                </a:lnTo>
                <a:cubicBezTo>
                  <a:pt x="13000" y="13895"/>
                  <a:pt x="13895" y="13000"/>
                  <a:pt x="15000" y="13000"/>
                </a:cubicBezTo>
                <a:close/>
              </a:path>
            </a:pathLst>
          </a:custGeom>
          <a:noFill/>
          <a:ln w="2286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17" name="slot.platforms.mark.10"/>
          <p:cNvSpPr/>
          <p:nvPr/>
        </p:nvSpPr>
        <p:spPr>
          <a:xfrm>
            <a:off x="8891016" y="555955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7000" y="16000"/>
                </a:moveTo>
                <a:lnTo>
                  <a:pt x="21000" y="16000"/>
                </a:lnTo>
                <a:cubicBezTo>
                  <a:pt x="21552" y="16000"/>
                  <a:pt x="22000" y="16448"/>
                  <a:pt x="22000" y="17000"/>
                </a:cubicBezTo>
                <a:lnTo>
                  <a:pt x="22000" y="21000"/>
                </a:lnTo>
                <a:cubicBezTo>
                  <a:pt x="22000" y="21552"/>
                  <a:pt x="21552" y="22000"/>
                  <a:pt x="21000" y="22000"/>
                </a:cubicBezTo>
                <a:lnTo>
                  <a:pt x="17000" y="22000"/>
                </a:lnTo>
                <a:cubicBezTo>
                  <a:pt x="16448" y="22000"/>
                  <a:pt x="16000" y="21552"/>
                  <a:pt x="16000" y="21000"/>
                </a:cubicBezTo>
                <a:lnTo>
                  <a:pt x="16000" y="17000"/>
                </a:lnTo>
                <a:cubicBezTo>
                  <a:pt x="16000" y="16448"/>
                  <a:pt x="16448" y="16000"/>
                  <a:pt x="17000" y="16000"/>
                </a:cubicBezTo>
                <a:close/>
                <a:moveTo>
                  <a:pt x="3000" y="16000"/>
                </a:moveTo>
                <a:lnTo>
                  <a:pt x="7000" y="16000"/>
                </a:lnTo>
                <a:cubicBezTo>
                  <a:pt x="7552" y="16000"/>
                  <a:pt x="8000" y="16448"/>
                  <a:pt x="8000" y="17000"/>
                </a:cubicBezTo>
                <a:lnTo>
                  <a:pt x="8000" y="21000"/>
                </a:lnTo>
                <a:cubicBezTo>
                  <a:pt x="8000" y="21552"/>
                  <a:pt x="7552" y="22000"/>
                  <a:pt x="7000" y="22000"/>
                </a:cubicBezTo>
                <a:lnTo>
                  <a:pt x="3000" y="22000"/>
                </a:lnTo>
                <a:cubicBezTo>
                  <a:pt x="2448" y="22000"/>
                  <a:pt x="2000" y="21552"/>
                  <a:pt x="2000" y="21000"/>
                </a:cubicBezTo>
                <a:lnTo>
                  <a:pt x="2000" y="17000"/>
                </a:lnTo>
                <a:cubicBezTo>
                  <a:pt x="2000" y="16448"/>
                  <a:pt x="2448" y="16000"/>
                  <a:pt x="3000" y="16000"/>
                </a:cubicBezTo>
                <a:close/>
                <a:moveTo>
                  <a:pt x="10000" y="2000"/>
                </a:moveTo>
                <a:lnTo>
                  <a:pt x="14000" y="2000"/>
                </a:lnTo>
                <a:cubicBezTo>
                  <a:pt x="14552" y="2000"/>
                  <a:pt x="15000" y="2448"/>
                  <a:pt x="15000" y="3000"/>
                </a:cubicBezTo>
                <a:lnTo>
                  <a:pt x="15000" y="7000"/>
                </a:lnTo>
                <a:cubicBezTo>
                  <a:pt x="15000" y="7552"/>
                  <a:pt x="14552" y="8000"/>
                  <a:pt x="14000" y="8000"/>
                </a:cubicBezTo>
                <a:lnTo>
                  <a:pt x="10000" y="8000"/>
                </a:lnTo>
                <a:cubicBezTo>
                  <a:pt x="9448" y="8000"/>
                  <a:pt x="9000" y="7552"/>
                  <a:pt x="9000" y="7000"/>
                </a:cubicBezTo>
                <a:lnTo>
                  <a:pt x="9000" y="3000"/>
                </a:lnTo>
                <a:cubicBezTo>
                  <a:pt x="9000" y="2448"/>
                  <a:pt x="9448" y="2000"/>
                  <a:pt x="10000" y="2000"/>
                </a:cubicBezTo>
                <a:close/>
                <a:moveTo>
                  <a:pt x="5000" y="16000"/>
                </a:moveTo>
                <a:lnTo>
                  <a:pt x="5000" y="13000"/>
                </a:lnTo>
                <a:cubicBezTo>
                  <a:pt x="5000" y="12448"/>
                  <a:pt x="5448" y="12000"/>
                  <a:pt x="6000" y="12000"/>
                </a:cubicBezTo>
                <a:lnTo>
                  <a:pt x="18000" y="12000"/>
                </a:lnTo>
                <a:cubicBezTo>
                  <a:pt x="18552" y="12000"/>
                  <a:pt x="19000" y="12448"/>
                  <a:pt x="19000" y="13000"/>
                </a:cubicBezTo>
                <a:lnTo>
                  <a:pt x="19000" y="16000"/>
                </a:lnTo>
                <a:moveTo>
                  <a:pt x="12000" y="12000"/>
                </a:moveTo>
                <a:lnTo>
                  <a:pt x="12000" y="8000"/>
                </a:lnTo>
              </a:path>
            </a:pathLst>
          </a:custGeom>
          <a:noFill/>
          <a:ln w="2286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18" name="slot.platforms.mark.11"/>
          <p:cNvSpPr/>
          <p:nvPr/>
        </p:nvSpPr>
        <p:spPr>
          <a:xfrm>
            <a:off x="9939528" y="555955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4000" y="2000"/>
                </a:moveTo>
                <a:lnTo>
                  <a:pt x="20000" y="2000"/>
                </a:lnTo>
                <a:cubicBezTo>
                  <a:pt x="21105" y="2000"/>
                  <a:pt x="22000" y="2895"/>
                  <a:pt x="22000" y="4000"/>
                </a:cubicBezTo>
                <a:lnTo>
                  <a:pt x="22000" y="8000"/>
                </a:lnTo>
                <a:cubicBezTo>
                  <a:pt x="22000" y="9105"/>
                  <a:pt x="21105" y="10000"/>
                  <a:pt x="20000" y="10000"/>
                </a:cubicBezTo>
                <a:lnTo>
                  <a:pt x="4000" y="10000"/>
                </a:lnTo>
                <a:cubicBezTo>
                  <a:pt x="2895" y="10000"/>
                  <a:pt x="2000" y="9105"/>
                  <a:pt x="2000" y="8000"/>
                </a:cubicBezTo>
                <a:lnTo>
                  <a:pt x="2000" y="4000"/>
                </a:lnTo>
                <a:cubicBezTo>
                  <a:pt x="2000" y="2895"/>
                  <a:pt x="2895" y="2000"/>
                  <a:pt x="4000" y="2000"/>
                </a:cubicBezTo>
                <a:close/>
                <a:moveTo>
                  <a:pt x="4000" y="14000"/>
                </a:moveTo>
                <a:lnTo>
                  <a:pt x="20000" y="14000"/>
                </a:lnTo>
                <a:cubicBezTo>
                  <a:pt x="21105" y="14000"/>
                  <a:pt x="22000" y="14895"/>
                  <a:pt x="22000" y="16000"/>
                </a:cubicBezTo>
                <a:lnTo>
                  <a:pt x="22000" y="20000"/>
                </a:lnTo>
                <a:cubicBezTo>
                  <a:pt x="22000" y="21105"/>
                  <a:pt x="21105" y="22000"/>
                  <a:pt x="20000" y="22000"/>
                </a:cubicBezTo>
                <a:lnTo>
                  <a:pt x="4000" y="22000"/>
                </a:lnTo>
                <a:cubicBezTo>
                  <a:pt x="2895" y="22000"/>
                  <a:pt x="2000" y="21105"/>
                  <a:pt x="2000" y="20000"/>
                </a:cubicBezTo>
                <a:lnTo>
                  <a:pt x="2000" y="16000"/>
                </a:lnTo>
                <a:cubicBezTo>
                  <a:pt x="2000" y="14895"/>
                  <a:pt x="2895" y="14000"/>
                  <a:pt x="4000" y="14000"/>
                </a:cubicBezTo>
                <a:close/>
                <a:moveTo>
                  <a:pt x="6000" y="6000"/>
                </a:moveTo>
                <a:lnTo>
                  <a:pt x="6010" y="6000"/>
                </a:lnTo>
                <a:moveTo>
                  <a:pt x="6000" y="18000"/>
                </a:moveTo>
                <a:lnTo>
                  <a:pt x="6010" y="18000"/>
                </a:lnTo>
              </a:path>
            </a:pathLst>
          </a:custGeom>
          <a:noFill/>
          <a:ln w="2286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19" name="slot.platforms.mark.12"/>
          <p:cNvSpPr/>
          <p:nvPr/>
        </p:nvSpPr>
        <p:spPr>
          <a:xfrm>
            <a:off x="10988040" y="555955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970" y="12920"/>
                </a:moveTo>
                <a:cubicBezTo>
                  <a:pt x="2369" y="13281"/>
                  <a:pt x="2002" y="13929"/>
                  <a:pt x="2000" y="14630"/>
                </a:cubicBezTo>
                <a:lnTo>
                  <a:pt x="2000" y="17870"/>
                </a:lnTo>
                <a:cubicBezTo>
                  <a:pt x="2002" y="18571"/>
                  <a:pt x="2369" y="19219"/>
                  <a:pt x="2970" y="19580"/>
                </a:cubicBezTo>
                <a:lnTo>
                  <a:pt x="5970" y="21380"/>
                </a:lnTo>
                <a:cubicBezTo>
                  <a:pt x="6604" y="21761"/>
                  <a:pt x="7396" y="21761"/>
                  <a:pt x="8030" y="21380"/>
                </a:cubicBezTo>
                <a:lnTo>
                  <a:pt x="12000" y="19000"/>
                </a:lnTo>
                <a:lnTo>
                  <a:pt x="12000" y="13500"/>
                </a:lnTo>
                <a:lnTo>
                  <a:pt x="7000" y="10500"/>
                </a:lnTo>
                <a:lnTo>
                  <a:pt x="2970" y="12920"/>
                </a:lnTo>
                <a:close/>
                <a:moveTo>
                  <a:pt x="7000" y="16500"/>
                </a:moveTo>
                <a:lnTo>
                  <a:pt x="2260" y="13650"/>
                </a:lnTo>
                <a:moveTo>
                  <a:pt x="7000" y="16500"/>
                </a:moveTo>
                <a:lnTo>
                  <a:pt x="12000" y="13500"/>
                </a:lnTo>
                <a:moveTo>
                  <a:pt x="7000" y="16500"/>
                </a:moveTo>
                <a:lnTo>
                  <a:pt x="7000" y="21670"/>
                </a:lnTo>
                <a:moveTo>
                  <a:pt x="12000" y="13500"/>
                </a:moveTo>
                <a:lnTo>
                  <a:pt x="12000" y="19000"/>
                </a:lnTo>
                <a:lnTo>
                  <a:pt x="15970" y="21380"/>
                </a:lnTo>
                <a:cubicBezTo>
                  <a:pt x="16604" y="21761"/>
                  <a:pt x="17396" y="21761"/>
                  <a:pt x="18030" y="21380"/>
                </a:cubicBezTo>
                <a:lnTo>
                  <a:pt x="21030" y="19580"/>
                </a:lnTo>
                <a:cubicBezTo>
                  <a:pt x="21631" y="19219"/>
                  <a:pt x="21998" y="18571"/>
                  <a:pt x="22000" y="17870"/>
                </a:cubicBezTo>
                <a:lnTo>
                  <a:pt x="22000" y="14630"/>
                </a:lnTo>
                <a:cubicBezTo>
                  <a:pt x="21998" y="13929"/>
                  <a:pt x="21631" y="13281"/>
                  <a:pt x="21030" y="12920"/>
                </a:cubicBezTo>
                <a:lnTo>
                  <a:pt x="17000" y="10500"/>
                </a:lnTo>
                <a:lnTo>
                  <a:pt x="12000" y="13500"/>
                </a:lnTo>
                <a:close/>
                <a:moveTo>
                  <a:pt x="17000" y="16500"/>
                </a:moveTo>
                <a:lnTo>
                  <a:pt x="12000" y="13500"/>
                </a:lnTo>
                <a:moveTo>
                  <a:pt x="17000" y="16500"/>
                </a:moveTo>
                <a:lnTo>
                  <a:pt x="21740" y="13650"/>
                </a:lnTo>
                <a:moveTo>
                  <a:pt x="17000" y="16500"/>
                </a:moveTo>
                <a:lnTo>
                  <a:pt x="17000" y="21670"/>
                </a:lnTo>
                <a:moveTo>
                  <a:pt x="7970" y="4420"/>
                </a:moveTo>
                <a:cubicBezTo>
                  <a:pt x="7369" y="4781"/>
                  <a:pt x="7002" y="5429"/>
                  <a:pt x="7000" y="6130"/>
                </a:cubicBezTo>
                <a:lnTo>
                  <a:pt x="7000" y="10500"/>
                </a:lnTo>
                <a:lnTo>
                  <a:pt x="12000" y="13500"/>
                </a:lnTo>
                <a:lnTo>
                  <a:pt x="17000" y="10500"/>
                </a:lnTo>
                <a:lnTo>
                  <a:pt x="17000" y="6130"/>
                </a:lnTo>
                <a:cubicBezTo>
                  <a:pt x="16998" y="5429"/>
                  <a:pt x="16631" y="4781"/>
                  <a:pt x="16030" y="4420"/>
                </a:cubicBezTo>
                <a:lnTo>
                  <a:pt x="13030" y="2620"/>
                </a:lnTo>
                <a:cubicBezTo>
                  <a:pt x="12396" y="2239"/>
                  <a:pt x="11604" y="2239"/>
                  <a:pt x="10970" y="2620"/>
                </a:cubicBezTo>
                <a:lnTo>
                  <a:pt x="7970" y="4420"/>
                </a:lnTo>
                <a:close/>
                <a:moveTo>
                  <a:pt x="12000" y="8000"/>
                </a:moveTo>
                <a:lnTo>
                  <a:pt x="7260" y="5150"/>
                </a:lnTo>
                <a:moveTo>
                  <a:pt x="12000" y="8000"/>
                </a:moveTo>
                <a:lnTo>
                  <a:pt x="16740" y="5150"/>
                </a:lnTo>
                <a:moveTo>
                  <a:pt x="12000" y="13500"/>
                </a:moveTo>
                <a:lnTo>
                  <a:pt x="12000" y="8000"/>
                </a:lnTo>
              </a:path>
            </a:pathLst>
          </a:custGeom>
          <a:noFill/>
          <a:ln w="2286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20" name="slot.platforms.mark.13"/>
          <p:cNvSpPr/>
          <p:nvPr/>
        </p:nvSpPr>
        <p:spPr>
          <a:xfrm>
            <a:off x="5745480" y="588873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2286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21" name="slot.platforms.mark.14"/>
          <p:cNvSpPr/>
          <p:nvPr/>
        </p:nvSpPr>
        <p:spPr>
          <a:xfrm>
            <a:off x="6793992" y="588873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11693"/>
                </a:moveTo>
                <a:lnTo>
                  <a:pt x="21000" y="5000"/>
                </a:lnTo>
                <a:moveTo>
                  <a:pt x="22000" y="22000"/>
                </a:moveTo>
                <a:lnTo>
                  <a:pt x="20125" y="20125"/>
                </a:lnTo>
                <a:moveTo>
                  <a:pt x="3000" y="12000"/>
                </a:moveTo>
                <a:cubicBezTo>
                  <a:pt x="3000" y="13617"/>
                  <a:pt x="6847" y="14944"/>
                  <a:pt x="11697" y="14998"/>
                </a:cubicBezTo>
                <a:moveTo>
                  <a:pt x="3000" y="5000"/>
                </a:moveTo>
                <a:lnTo>
                  <a:pt x="3000" y="19000"/>
                </a:lnTo>
                <a:cubicBezTo>
                  <a:pt x="3000" y="19812"/>
                  <a:pt x="3987" y="20589"/>
                  <a:pt x="5735" y="21154"/>
                </a:cubicBezTo>
                <a:cubicBezTo>
                  <a:pt x="7484" y="21720"/>
                  <a:pt x="9845" y="22024"/>
                  <a:pt x="12280" y="21999"/>
                </a:cubicBezTo>
                <a:moveTo>
                  <a:pt x="21000" y="18000"/>
                </a:moveTo>
                <a:cubicBezTo>
                  <a:pt x="21000" y="19657"/>
                  <a:pt x="19657" y="21000"/>
                  <a:pt x="18000" y="21000"/>
                </a:cubicBezTo>
                <a:cubicBezTo>
                  <a:pt x="16343" y="21000"/>
                  <a:pt x="15000" y="19657"/>
                  <a:pt x="15000" y="18000"/>
                </a:cubicBezTo>
                <a:cubicBezTo>
                  <a:pt x="15000" y="16343"/>
                  <a:pt x="16343" y="15000"/>
                  <a:pt x="18000" y="15000"/>
                </a:cubicBezTo>
                <a:cubicBezTo>
                  <a:pt x="19657" y="15000"/>
                  <a:pt x="21000" y="16343"/>
                  <a:pt x="21000" y="18000"/>
                </a:cubicBezTo>
                <a:close/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</a:path>
            </a:pathLst>
          </a:custGeom>
          <a:noFill/>
          <a:ln w="2286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22" name="slot.platforms.mark.15"/>
          <p:cNvSpPr/>
          <p:nvPr/>
        </p:nvSpPr>
        <p:spPr>
          <a:xfrm>
            <a:off x="7842504" y="588873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3000"/>
                </a:moveTo>
                <a:lnTo>
                  <a:pt x="3000" y="19000"/>
                </a:lnTo>
                <a:cubicBezTo>
                  <a:pt x="3000" y="20105"/>
                  <a:pt x="3895" y="21000"/>
                  <a:pt x="5000" y="21000"/>
                </a:cubicBezTo>
                <a:lnTo>
                  <a:pt x="21000" y="21000"/>
                </a:lnTo>
                <a:moveTo>
                  <a:pt x="18000" y="17000"/>
                </a:moveTo>
                <a:lnTo>
                  <a:pt x="18000" y="9000"/>
                </a:lnTo>
                <a:moveTo>
                  <a:pt x="13000" y="17000"/>
                </a:moveTo>
                <a:lnTo>
                  <a:pt x="13000" y="5000"/>
                </a:lnTo>
                <a:moveTo>
                  <a:pt x="8000" y="17000"/>
                </a:moveTo>
                <a:lnTo>
                  <a:pt x="8000" y="14000"/>
                </a:lnTo>
              </a:path>
            </a:pathLst>
          </a:custGeom>
          <a:noFill/>
          <a:ln w="2286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23" name="slot.platforms.mark.16"/>
          <p:cNvSpPr/>
          <p:nvPr/>
        </p:nvSpPr>
        <p:spPr>
          <a:xfrm>
            <a:off x="8891016" y="588873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lnTo>
                  <a:pt x="19520" y="12000"/>
                </a:lnTo>
                <a:cubicBezTo>
                  <a:pt x="18622" y="11998"/>
                  <a:pt x="17833" y="12595"/>
                  <a:pt x="17590" y="13460"/>
                </a:cubicBezTo>
                <a:lnTo>
                  <a:pt x="15240" y="21820"/>
                </a:lnTo>
                <a:cubicBezTo>
                  <a:pt x="15209" y="21927"/>
                  <a:pt x="15111" y="22000"/>
                  <a:pt x="15000" y="22000"/>
                </a:cubicBezTo>
                <a:cubicBezTo>
                  <a:pt x="14889" y="22000"/>
                  <a:pt x="14791" y="21927"/>
                  <a:pt x="14760" y="21820"/>
                </a:cubicBezTo>
                <a:lnTo>
                  <a:pt x="9240" y="2180"/>
                </a:lnTo>
                <a:cubicBezTo>
                  <a:pt x="9209" y="2073"/>
                  <a:pt x="9111" y="2000"/>
                  <a:pt x="9000" y="2000"/>
                </a:cubicBezTo>
                <a:cubicBezTo>
                  <a:pt x="8889" y="2000"/>
                  <a:pt x="8791" y="2073"/>
                  <a:pt x="8760" y="2180"/>
                </a:cubicBezTo>
                <a:lnTo>
                  <a:pt x="6410" y="10540"/>
                </a:lnTo>
                <a:cubicBezTo>
                  <a:pt x="6168" y="11401"/>
                  <a:pt x="5384" y="11997"/>
                  <a:pt x="4490" y="12000"/>
                </a:cubicBezTo>
                <a:lnTo>
                  <a:pt x="2000" y="12000"/>
                </a:lnTo>
              </a:path>
            </a:pathLst>
          </a:custGeom>
          <a:noFill/>
          <a:ln w="2286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24" name="slot.platforms.mark.17"/>
          <p:cNvSpPr/>
          <p:nvPr/>
        </p:nvSpPr>
        <p:spPr>
          <a:xfrm>
            <a:off x="9939528" y="588873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3000"/>
                </a:moveTo>
                <a:lnTo>
                  <a:pt x="3000" y="19000"/>
                </a:lnTo>
                <a:cubicBezTo>
                  <a:pt x="3000" y="20105"/>
                  <a:pt x="3895" y="21000"/>
                  <a:pt x="5000" y="21000"/>
                </a:cubicBezTo>
                <a:lnTo>
                  <a:pt x="21000" y="21000"/>
                </a:lnTo>
                <a:moveTo>
                  <a:pt x="19000" y="9000"/>
                </a:moveTo>
                <a:lnTo>
                  <a:pt x="14000" y="14000"/>
                </a:lnTo>
                <a:lnTo>
                  <a:pt x="10000" y="10000"/>
                </a:lnTo>
                <a:lnTo>
                  <a:pt x="7000" y="13000"/>
                </a:lnTo>
              </a:path>
            </a:pathLst>
          </a:custGeom>
          <a:noFill/>
          <a:ln w="2286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sp>
        <p:nvSpPr>
          <p:cNvPr id="125" name="slot.platforms.mark.18"/>
          <p:cNvSpPr/>
          <p:nvPr/>
        </p:nvSpPr>
        <p:spPr>
          <a:xfrm>
            <a:off x="10988040" y="588873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9000"/>
                </a:moveTo>
                <a:lnTo>
                  <a:pt x="20000" y="19000"/>
                </a:lnTo>
                <a:moveTo>
                  <a:pt x="4000" y="17000"/>
                </a:moveTo>
                <a:lnTo>
                  <a:pt x="10000" y="11000"/>
                </a:lnTo>
                <a:lnTo>
                  <a:pt x="4000" y="5000"/>
                </a:lnTo>
              </a:path>
            </a:pathLst>
          </a:custGeom>
          <a:noFill/>
          <a:ln w="2286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</p:sp>
      <p:cxnSp>
        <p:nvCxnSpPr>
          <p:cNvPr id="126" name="struct.platforms.rule.2"/>
          <p:cNvCxnSpPr/>
          <p:nvPr/>
        </p:nvCxnSpPr>
        <p:spPr>
          <a:xfrm>
            <a:off x="5212080" y="5248656"/>
            <a:ext cx="0" cy="877824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eference-table:coded-rows-cluster-map">
    <p:spTree>
      <p:nvGrpSpPr>
        <p:cNvPr id="1" name=""/>
        <p:cNvGrpSpPr/>
        <p:nvPr/>
      </p:nvGrpSpPr>
      <p:grpSpPr/>
      <p:sp>
        <p:nvSpPr>
          <p:cNvPr id="2" name="slot.title"/>
          <p:cNvSpPr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Five scored dimensions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make every supplier's risk comparable at a glance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truct.row.1"/>
          <p:cNvSpPr/>
          <p:nvPr/>
        </p:nvSpPr>
        <p:spPr>
          <a:xfrm>
            <a:off x="457200" y="1344168"/>
            <a:ext cx="6309360" cy="905256"/>
          </a:xfrm>
          <a:prstGeom prst="roundRect">
            <a:avLst>
              <a:gd name="adj" fmla="val 6061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truct.row.1.tile"/>
          <p:cNvSpPr/>
          <p:nvPr/>
        </p:nvSpPr>
        <p:spPr>
          <a:xfrm>
            <a:off x="621792" y="1513332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slot.row.1.head"/>
          <p:cNvSpPr/>
          <p:nvPr/>
        </p:nvSpPr>
        <p:spPr>
          <a:xfrm>
            <a:off x="1353312" y="1444752"/>
            <a:ext cx="312724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Delivery reliability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ot.row.1.body"/>
          <p:cNvSpPr/>
          <p:nvPr/>
        </p:nvSpPr>
        <p:spPr>
          <a:xfrm>
            <a:off x="1353312" y="1737360"/>
            <a:ext cx="3127248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Order lines that arrive complete and inside the agreed delivery window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lot.row.1.source"/>
          <p:cNvSpPr/>
          <p:nvPr/>
        </p:nvSpPr>
        <p:spPr>
          <a:xfrm>
            <a:off x="4590288" y="1453895"/>
            <a:ext cx="192024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Goods receipts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Two late months in a row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truct.row.2"/>
          <p:cNvSpPr/>
          <p:nvPr/>
        </p:nvSpPr>
        <p:spPr>
          <a:xfrm>
            <a:off x="457200" y="2343150"/>
            <a:ext cx="6309360" cy="905256"/>
          </a:xfrm>
          <a:prstGeom prst="roundRect">
            <a:avLst>
              <a:gd name="adj" fmla="val 6061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struct.row.2.tile"/>
          <p:cNvSpPr/>
          <p:nvPr/>
        </p:nvSpPr>
        <p:spPr>
          <a:xfrm>
            <a:off x="621792" y="2512314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slot.row.2.head"/>
          <p:cNvSpPr/>
          <p:nvPr/>
        </p:nvSpPr>
        <p:spPr>
          <a:xfrm>
            <a:off x="1353312" y="2443734"/>
            <a:ext cx="312724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Quality conformance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ot.row.2.body"/>
          <p:cNvSpPr/>
          <p:nvPr/>
        </p:nvSpPr>
        <p:spPr>
          <a:xfrm>
            <a:off x="1353312" y="2736342"/>
            <a:ext cx="3127248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Lots rejected or reworked at inspection against all lots received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lot.row.2.source"/>
          <p:cNvSpPr/>
          <p:nvPr/>
        </p:nvSpPr>
        <p:spPr>
          <a:xfrm>
            <a:off x="4590288" y="2452878"/>
            <a:ext cx="192024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Inspection results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Any lot rejected twice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struct.row.3"/>
          <p:cNvSpPr/>
          <p:nvPr/>
        </p:nvSpPr>
        <p:spPr>
          <a:xfrm>
            <a:off x="457200" y="3342132"/>
            <a:ext cx="6309360" cy="905256"/>
          </a:xfrm>
          <a:prstGeom prst="roundRect">
            <a:avLst>
              <a:gd name="adj" fmla="val 6061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struct.row.3.tile"/>
          <p:cNvSpPr/>
          <p:nvPr/>
        </p:nvSpPr>
        <p:spPr>
          <a:xfrm>
            <a:off x="621792" y="3511296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slot.row.3.head"/>
          <p:cNvSpPr/>
          <p:nvPr/>
        </p:nvSpPr>
        <p:spPr>
          <a:xfrm>
            <a:off x="1353312" y="3442716"/>
            <a:ext cx="312724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Financial health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lot.row.3.body"/>
          <p:cNvSpPr/>
          <p:nvPr/>
        </p:nvSpPr>
        <p:spPr>
          <a:xfrm>
            <a:off x="1353312" y="3735324"/>
            <a:ext cx="3127248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Credit and payment signals that warn of supplier distress months early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lot.row.3.source"/>
          <p:cNvSpPr/>
          <p:nvPr/>
        </p:nvSpPr>
        <p:spPr>
          <a:xfrm>
            <a:off x="4590288" y="3451860"/>
            <a:ext cx="192024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Payment records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Any credit downgrade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truct.row.4"/>
          <p:cNvSpPr/>
          <p:nvPr/>
        </p:nvSpPr>
        <p:spPr>
          <a:xfrm>
            <a:off x="457200" y="4341114"/>
            <a:ext cx="6309360" cy="905256"/>
          </a:xfrm>
          <a:prstGeom prst="roundRect">
            <a:avLst>
              <a:gd name="adj" fmla="val 6061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struct.row.4.tile"/>
          <p:cNvSpPr/>
          <p:nvPr/>
        </p:nvSpPr>
        <p:spPr>
          <a:xfrm>
            <a:off x="621792" y="4510277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slot.row.4.head"/>
          <p:cNvSpPr/>
          <p:nvPr/>
        </p:nvSpPr>
        <p:spPr>
          <a:xfrm>
            <a:off x="1353312" y="4441698"/>
            <a:ext cx="312724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Compliance standing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lot.row.4.body"/>
          <p:cNvSpPr/>
          <p:nvPr/>
        </p:nvSpPr>
        <p:spPr>
          <a:xfrm>
            <a:off x="1353312" y="4734305"/>
            <a:ext cx="3127248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Open audit findings, lapsed certificates and overdue corrective actions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lot.row.4.source"/>
          <p:cNvSpPr/>
          <p:nvPr/>
        </p:nvSpPr>
        <p:spPr>
          <a:xfrm>
            <a:off x="4590288" y="4450842"/>
            <a:ext cx="192024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Audit register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Findings past due date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struct.row.5"/>
          <p:cNvSpPr/>
          <p:nvPr/>
        </p:nvSpPr>
        <p:spPr>
          <a:xfrm>
            <a:off x="457200" y="5340096"/>
            <a:ext cx="6309360" cy="905256"/>
          </a:xfrm>
          <a:prstGeom prst="roundRect">
            <a:avLst>
              <a:gd name="adj" fmla="val 6061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struct.row.5.tile"/>
          <p:cNvSpPr/>
          <p:nvPr/>
        </p:nvSpPr>
        <p:spPr>
          <a:xfrm>
            <a:off x="621792" y="5509259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slot.row.5.head"/>
          <p:cNvSpPr/>
          <p:nvPr/>
        </p:nvSpPr>
        <p:spPr>
          <a:xfrm>
            <a:off x="1353312" y="5440680"/>
            <a:ext cx="312724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Capacity headroom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slot.row.5.body"/>
          <p:cNvSpPr/>
          <p:nvPr/>
        </p:nvSpPr>
        <p:spPr>
          <a:xfrm>
            <a:off x="1353312" y="5733288"/>
            <a:ext cx="3127248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Committed volume against the plant capacity each supplier has declared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lot.row.5.source"/>
          <p:cNvSpPr/>
          <p:nvPr/>
        </p:nvSpPr>
        <p:spPr>
          <a:xfrm>
            <a:off x="4590288" y="5449824"/>
            <a:ext cx="192024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Capacity plans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Commitments over capacity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lot.head.dimension"/>
          <p:cNvSpPr/>
          <p:nvPr/>
        </p:nvSpPr>
        <p:spPr>
          <a:xfrm>
            <a:off x="1353312" y="868680"/>
            <a:ext cx="3127248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36000" tIns="0" rIns="3600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Dimension and definition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lot.head.source"/>
          <p:cNvSpPr/>
          <p:nvPr/>
        </p:nvSpPr>
        <p:spPr>
          <a:xfrm>
            <a:off x="4590288" y="868680"/>
            <a:ext cx="2048256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36000" tIns="0" rIns="3600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Source and flag rule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struct.head.map"/>
          <p:cNvSpPr/>
          <p:nvPr/>
        </p:nvSpPr>
        <p:spPr>
          <a:xfrm>
            <a:off x="7040880" y="868680"/>
            <a:ext cx="475488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36000" tIns="0" rIns="36000" bIns="0" anchor="ctr" anchorCtr="0">
            <a:noAutofit/>
          </a:bodyPr>
          <a:lstStyle/>
          <a:p/>
        </p:txBody>
      </p:sp>
      <p:sp>
        <p:nvSpPr>
          <p:cNvPr id="31" name="slot.head.map"/>
          <p:cNvSpPr txBox="1"/>
          <p:nvPr/>
        </p:nvSpPr>
        <p:spPr>
          <a:xfrm>
            <a:off x="7223760" y="923544"/>
            <a:ext cx="4389120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Suppliers grouped by their weakest dimension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lot.row.1.icon"/>
          <p:cNvSpPr/>
          <p:nvPr/>
        </p:nvSpPr>
        <p:spPr>
          <a:xfrm>
            <a:off x="749808" y="164134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000" y="18000"/>
                </a:moveTo>
                <a:lnTo>
                  <a:pt x="14000" y="6000"/>
                </a:lnTo>
                <a:cubicBezTo>
                  <a:pt x="14000" y="4895"/>
                  <a:pt x="13105" y="4000"/>
                  <a:pt x="12000" y="4000"/>
                </a:cubicBezTo>
                <a:lnTo>
                  <a:pt x="4000" y="4000"/>
                </a:lnTo>
                <a:cubicBezTo>
                  <a:pt x="2895" y="4000"/>
                  <a:pt x="2000" y="4895"/>
                  <a:pt x="2000" y="6000"/>
                </a:cubicBezTo>
                <a:lnTo>
                  <a:pt x="2000" y="17000"/>
                </a:lnTo>
                <a:cubicBezTo>
                  <a:pt x="2000" y="17552"/>
                  <a:pt x="2448" y="18000"/>
                  <a:pt x="3000" y="18000"/>
                </a:cubicBezTo>
                <a:lnTo>
                  <a:pt x="5000" y="18000"/>
                </a:lnTo>
                <a:moveTo>
                  <a:pt x="15000" y="18000"/>
                </a:moveTo>
                <a:lnTo>
                  <a:pt x="9000" y="18000"/>
                </a:lnTo>
                <a:moveTo>
                  <a:pt x="19000" y="18000"/>
                </a:moveTo>
                <a:lnTo>
                  <a:pt x="21000" y="18000"/>
                </a:lnTo>
                <a:cubicBezTo>
                  <a:pt x="21552" y="18000"/>
                  <a:pt x="22000" y="17552"/>
                  <a:pt x="22000" y="17000"/>
                </a:cubicBezTo>
                <a:lnTo>
                  <a:pt x="22000" y="13350"/>
                </a:lnTo>
                <a:cubicBezTo>
                  <a:pt x="22000" y="13123"/>
                  <a:pt x="21922" y="12903"/>
                  <a:pt x="21780" y="12726"/>
                </a:cubicBezTo>
                <a:lnTo>
                  <a:pt x="18300" y="8376"/>
                </a:lnTo>
                <a:cubicBezTo>
                  <a:pt x="18111" y="8139"/>
                  <a:pt x="17824" y="8000"/>
                  <a:pt x="17520" y="8000"/>
                </a:cubicBezTo>
                <a:lnTo>
                  <a:pt x="14000" y="8000"/>
                </a:lnTo>
                <a:moveTo>
                  <a:pt x="19000" y="18000"/>
                </a:moveTo>
                <a:cubicBezTo>
                  <a:pt x="19000" y="19105"/>
                  <a:pt x="18105" y="20000"/>
                  <a:pt x="17000" y="20000"/>
                </a:cubicBezTo>
                <a:cubicBezTo>
                  <a:pt x="15895" y="20000"/>
                  <a:pt x="15000" y="19105"/>
                  <a:pt x="15000" y="18000"/>
                </a:cubicBezTo>
                <a:cubicBezTo>
                  <a:pt x="15000" y="16895"/>
                  <a:pt x="15895" y="16000"/>
                  <a:pt x="17000" y="16000"/>
                </a:cubicBezTo>
                <a:cubicBezTo>
                  <a:pt x="18105" y="16000"/>
                  <a:pt x="19000" y="16895"/>
                  <a:pt x="19000" y="18000"/>
                </a:cubicBezTo>
                <a:close/>
                <a:moveTo>
                  <a:pt x="9000" y="18000"/>
                </a:moveTo>
                <a:cubicBezTo>
                  <a:pt x="9000" y="19105"/>
                  <a:pt x="8105" y="20000"/>
                  <a:pt x="7000" y="20000"/>
                </a:cubicBezTo>
                <a:cubicBezTo>
                  <a:pt x="5895" y="20000"/>
                  <a:pt x="5000" y="19105"/>
                  <a:pt x="5000" y="18000"/>
                </a:cubicBezTo>
                <a:cubicBezTo>
                  <a:pt x="5000" y="16895"/>
                  <a:pt x="5895" y="16000"/>
                  <a:pt x="7000" y="16000"/>
                </a:cubicBezTo>
                <a:cubicBezTo>
                  <a:pt x="8105" y="16000"/>
                  <a:pt x="9000" y="16895"/>
                  <a:pt x="9000" y="18000"/>
                </a:cubicBezTo>
                <a:close/>
              </a:path>
            </a:pathLst>
          </a:custGeom>
          <a:noFill/>
          <a:ln w="26035" cap="rnd">
            <a:solidFill>
              <a:schemeClr val="bg1"/>
            </a:solidFill>
            <a:round/>
          </a:ln>
          <a:effectLst/>
        </p:spPr>
      </p:sp>
      <p:sp>
        <p:nvSpPr>
          <p:cNvPr id="33" name="slot.row.2.icon"/>
          <p:cNvSpPr/>
          <p:nvPr/>
        </p:nvSpPr>
        <p:spPr>
          <a:xfrm>
            <a:off x="749808" y="2640330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2000"/>
                </a:moveTo>
                <a:lnTo>
                  <a:pt x="15000" y="2000"/>
                </a:lnTo>
                <a:cubicBezTo>
                  <a:pt x="15552" y="2000"/>
                  <a:pt x="16000" y="2448"/>
                  <a:pt x="16000" y="3000"/>
                </a:cubicBezTo>
                <a:lnTo>
                  <a:pt x="16000" y="5000"/>
                </a:lnTo>
                <a:cubicBezTo>
                  <a:pt x="16000" y="5552"/>
                  <a:pt x="15552" y="6000"/>
                  <a:pt x="15000" y="6000"/>
                </a:cubicBezTo>
                <a:lnTo>
                  <a:pt x="9000" y="6000"/>
                </a:lnTo>
                <a:cubicBezTo>
                  <a:pt x="8448" y="6000"/>
                  <a:pt x="8000" y="5552"/>
                  <a:pt x="8000" y="5000"/>
                </a:cubicBezTo>
                <a:lnTo>
                  <a:pt x="8000" y="3000"/>
                </a:lnTo>
                <a:cubicBezTo>
                  <a:pt x="8000" y="2448"/>
                  <a:pt x="8448" y="2000"/>
                  <a:pt x="9000" y="2000"/>
                </a:cubicBezTo>
                <a:close/>
                <a:moveTo>
                  <a:pt x="16000" y="4000"/>
                </a:moveTo>
                <a:lnTo>
                  <a:pt x="18000" y="4000"/>
                </a:lnTo>
                <a:cubicBezTo>
                  <a:pt x="19105" y="4000"/>
                  <a:pt x="20000" y="4895"/>
                  <a:pt x="20000" y="6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lnTo>
                  <a:pt x="6000" y="22000"/>
                </a:lnTo>
                <a:cubicBezTo>
                  <a:pt x="4895" y="22000"/>
                  <a:pt x="4000" y="21105"/>
                  <a:pt x="4000" y="20000"/>
                </a:cubicBezTo>
                <a:lnTo>
                  <a:pt x="4000" y="6000"/>
                </a:lnTo>
                <a:cubicBezTo>
                  <a:pt x="4000" y="4895"/>
                  <a:pt x="4895" y="4000"/>
                  <a:pt x="6000" y="4000"/>
                </a:cubicBezTo>
                <a:lnTo>
                  <a:pt x="8000" y="4000"/>
                </a:lnTo>
                <a:moveTo>
                  <a:pt x="9000" y="14000"/>
                </a:moveTo>
                <a:lnTo>
                  <a:pt x="11000" y="16000"/>
                </a:lnTo>
                <a:lnTo>
                  <a:pt x="15000" y="12000"/>
                </a:lnTo>
              </a:path>
            </a:pathLst>
          </a:custGeom>
          <a:noFill/>
          <a:ln w="26035" cap="rnd">
            <a:solidFill>
              <a:schemeClr val="bg1"/>
            </a:solidFill>
            <a:round/>
          </a:ln>
          <a:effectLst/>
        </p:spPr>
      </p:sp>
      <p:sp>
        <p:nvSpPr>
          <p:cNvPr id="34" name="slot.row.3.icon"/>
          <p:cNvSpPr/>
          <p:nvPr/>
        </p:nvSpPr>
        <p:spPr>
          <a:xfrm>
            <a:off x="749808" y="3639312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000" y="18000"/>
                </a:moveTo>
                <a:lnTo>
                  <a:pt x="10000" y="11000"/>
                </a:lnTo>
                <a:moveTo>
                  <a:pt x="11119" y="2205"/>
                </a:moveTo>
                <a:cubicBezTo>
                  <a:pt x="11675" y="1932"/>
                  <a:pt x="12325" y="1932"/>
                  <a:pt x="12881" y="2205"/>
                </a:cubicBezTo>
                <a:lnTo>
                  <a:pt x="20721" y="6051"/>
                </a:lnTo>
                <a:cubicBezTo>
                  <a:pt x="20930" y="6153"/>
                  <a:pt x="21041" y="6387"/>
                  <a:pt x="20988" y="6613"/>
                </a:cubicBezTo>
                <a:cubicBezTo>
                  <a:pt x="20935" y="6840"/>
                  <a:pt x="20733" y="7000"/>
                  <a:pt x="20500" y="7000"/>
                </a:cubicBezTo>
                <a:lnTo>
                  <a:pt x="3500" y="7000"/>
                </a:lnTo>
                <a:cubicBezTo>
                  <a:pt x="3267" y="7000"/>
                  <a:pt x="3065" y="6840"/>
                  <a:pt x="3013" y="6613"/>
                </a:cubicBezTo>
                <a:cubicBezTo>
                  <a:pt x="2960" y="6386"/>
                  <a:pt x="3071" y="6153"/>
                  <a:pt x="3280" y="6051"/>
                </a:cubicBezTo>
                <a:close/>
                <a:moveTo>
                  <a:pt x="14000" y="18000"/>
                </a:moveTo>
                <a:lnTo>
                  <a:pt x="14000" y="11000"/>
                </a:lnTo>
                <a:moveTo>
                  <a:pt x="18000" y="18000"/>
                </a:moveTo>
                <a:lnTo>
                  <a:pt x="18000" y="11000"/>
                </a:lnTo>
                <a:moveTo>
                  <a:pt x="3000" y="22000"/>
                </a:moveTo>
                <a:lnTo>
                  <a:pt x="21000" y="22000"/>
                </a:lnTo>
                <a:moveTo>
                  <a:pt x="6000" y="18000"/>
                </a:moveTo>
                <a:lnTo>
                  <a:pt x="6000" y="11000"/>
                </a:lnTo>
              </a:path>
            </a:pathLst>
          </a:custGeom>
          <a:noFill/>
          <a:ln w="26035" cap="rnd">
            <a:solidFill>
              <a:schemeClr val="bg1"/>
            </a:solidFill>
            <a:round/>
          </a:ln>
          <a:effectLst/>
        </p:spPr>
      </p:sp>
      <p:sp>
        <p:nvSpPr>
          <p:cNvPr id="35" name="slot.row.4.icon"/>
          <p:cNvSpPr/>
          <p:nvPr/>
        </p:nvSpPr>
        <p:spPr>
          <a:xfrm>
            <a:off x="749808" y="463829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26035" cap="rnd">
            <a:solidFill>
              <a:schemeClr val="bg1"/>
            </a:solidFill>
            <a:round/>
          </a:ln>
          <a:effectLst/>
        </p:spPr>
      </p:sp>
      <p:sp>
        <p:nvSpPr>
          <p:cNvPr id="36" name="slot.row.5.icon"/>
          <p:cNvSpPr/>
          <p:nvPr/>
        </p:nvSpPr>
        <p:spPr>
          <a:xfrm>
            <a:off x="749808" y="5637276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6000"/>
                </a:moveTo>
                <a:lnTo>
                  <a:pt x="12010" y="16000"/>
                </a:lnTo>
                <a:moveTo>
                  <a:pt x="16000" y="16000"/>
                </a:moveTo>
                <a:lnTo>
                  <a:pt x="16010" y="16000"/>
                </a:lnTo>
                <a:moveTo>
                  <a:pt x="3000" y="19000"/>
                </a:moveTo>
                <a:cubicBezTo>
                  <a:pt x="3000" y="20105"/>
                  <a:pt x="3895" y="21000"/>
                  <a:pt x="5000" y="21000"/>
                </a:cubicBezTo>
                <a:lnTo>
                  <a:pt x="19000" y="21000"/>
                </a:lnTo>
                <a:cubicBezTo>
                  <a:pt x="20105" y="21000"/>
                  <a:pt x="21000" y="20105"/>
                  <a:pt x="21000" y="19000"/>
                </a:cubicBezTo>
                <a:lnTo>
                  <a:pt x="21000" y="8500"/>
                </a:lnTo>
                <a:cubicBezTo>
                  <a:pt x="21000" y="8317"/>
                  <a:pt x="20901" y="8149"/>
                  <a:pt x="20741" y="8061"/>
                </a:cubicBezTo>
                <a:cubicBezTo>
                  <a:pt x="20580" y="7973"/>
                  <a:pt x="20385" y="7980"/>
                  <a:pt x="20231" y="8078"/>
                </a:cubicBezTo>
                <a:lnTo>
                  <a:pt x="15769" y="10922"/>
                </a:lnTo>
                <a:cubicBezTo>
                  <a:pt x="15615" y="11020"/>
                  <a:pt x="15420" y="11027"/>
                  <a:pt x="15259" y="10939"/>
                </a:cubicBezTo>
                <a:cubicBezTo>
                  <a:pt x="15099" y="10851"/>
                  <a:pt x="15000" y="10683"/>
                  <a:pt x="15000" y="10500"/>
                </a:cubicBezTo>
                <a:lnTo>
                  <a:pt x="15000" y="8500"/>
                </a:lnTo>
                <a:cubicBezTo>
                  <a:pt x="15000" y="8317"/>
                  <a:pt x="14901" y="8149"/>
                  <a:pt x="14741" y="8061"/>
                </a:cubicBezTo>
                <a:cubicBezTo>
                  <a:pt x="14580" y="7973"/>
                  <a:pt x="14385" y="7980"/>
                  <a:pt x="14231" y="8078"/>
                </a:cubicBezTo>
                <a:lnTo>
                  <a:pt x="9770" y="10922"/>
                </a:lnTo>
                <a:cubicBezTo>
                  <a:pt x="9616" y="11021"/>
                  <a:pt x="9420" y="11028"/>
                  <a:pt x="9260" y="10940"/>
                </a:cubicBezTo>
                <a:cubicBezTo>
                  <a:pt x="9099" y="10852"/>
                  <a:pt x="9000" y="10683"/>
                  <a:pt x="9000" y="10500"/>
                </a:cubicBezTo>
                <a:lnTo>
                  <a:pt x="9000" y="5000"/>
                </a:lnTo>
                <a:cubicBezTo>
                  <a:pt x="9000" y="3895"/>
                  <a:pt x="8105" y="3000"/>
                  <a:pt x="7000" y="3000"/>
                </a:cubicBezTo>
                <a:lnTo>
                  <a:pt x="5000" y="3000"/>
                </a:lnTo>
                <a:cubicBezTo>
                  <a:pt x="3895" y="3000"/>
                  <a:pt x="3000" y="3895"/>
                  <a:pt x="3000" y="5000"/>
                </a:cubicBezTo>
                <a:close/>
                <a:moveTo>
                  <a:pt x="8000" y="16000"/>
                </a:moveTo>
                <a:lnTo>
                  <a:pt x="8010" y="16000"/>
                </a:lnTo>
              </a:path>
            </a:pathLst>
          </a:custGeom>
          <a:noFill/>
          <a:ln w="26035" cap="rnd">
            <a:solidFill>
              <a:schemeClr val="bg1"/>
            </a:solidFill>
            <a:round/>
          </a:ln>
          <a:effectLst/>
        </p:spPr>
      </p:sp>
      <p:sp>
        <p:nvSpPr>
          <p:cNvPr id="37" name="slot.node.1.label"/>
          <p:cNvSpPr txBox="1"/>
          <p:nvPr/>
        </p:nvSpPr>
        <p:spPr>
          <a:xfrm>
            <a:off x="7132320" y="1371600"/>
            <a:ext cx="1005840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Delivery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truct.node.1"/>
          <p:cNvSpPr/>
          <p:nvPr/>
        </p:nvSpPr>
        <p:spPr>
          <a:xfrm>
            <a:off x="7424928" y="1645920"/>
            <a:ext cx="420624" cy="420624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</p:sp>
      <p:sp>
        <p:nvSpPr>
          <p:cNvPr id="39" name="slot.node.1.icon"/>
          <p:cNvSpPr/>
          <p:nvPr/>
        </p:nvSpPr>
        <p:spPr>
          <a:xfrm>
            <a:off x="7516368" y="173736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000" y="18000"/>
                </a:moveTo>
                <a:lnTo>
                  <a:pt x="14000" y="6000"/>
                </a:lnTo>
                <a:cubicBezTo>
                  <a:pt x="14000" y="4895"/>
                  <a:pt x="13105" y="4000"/>
                  <a:pt x="12000" y="4000"/>
                </a:cubicBezTo>
                <a:lnTo>
                  <a:pt x="4000" y="4000"/>
                </a:lnTo>
                <a:cubicBezTo>
                  <a:pt x="2895" y="4000"/>
                  <a:pt x="2000" y="4895"/>
                  <a:pt x="2000" y="6000"/>
                </a:cubicBezTo>
                <a:lnTo>
                  <a:pt x="2000" y="17000"/>
                </a:lnTo>
                <a:cubicBezTo>
                  <a:pt x="2000" y="17552"/>
                  <a:pt x="2448" y="18000"/>
                  <a:pt x="3000" y="18000"/>
                </a:cubicBezTo>
                <a:lnTo>
                  <a:pt x="5000" y="18000"/>
                </a:lnTo>
                <a:moveTo>
                  <a:pt x="15000" y="18000"/>
                </a:moveTo>
                <a:lnTo>
                  <a:pt x="9000" y="18000"/>
                </a:lnTo>
                <a:moveTo>
                  <a:pt x="19000" y="18000"/>
                </a:moveTo>
                <a:lnTo>
                  <a:pt x="21000" y="18000"/>
                </a:lnTo>
                <a:cubicBezTo>
                  <a:pt x="21552" y="18000"/>
                  <a:pt x="22000" y="17552"/>
                  <a:pt x="22000" y="17000"/>
                </a:cubicBezTo>
                <a:lnTo>
                  <a:pt x="22000" y="13350"/>
                </a:lnTo>
                <a:cubicBezTo>
                  <a:pt x="22000" y="13123"/>
                  <a:pt x="21922" y="12903"/>
                  <a:pt x="21780" y="12726"/>
                </a:cubicBezTo>
                <a:lnTo>
                  <a:pt x="18300" y="8376"/>
                </a:lnTo>
                <a:cubicBezTo>
                  <a:pt x="18111" y="8139"/>
                  <a:pt x="17824" y="8000"/>
                  <a:pt x="17520" y="8000"/>
                </a:cubicBezTo>
                <a:lnTo>
                  <a:pt x="14000" y="8000"/>
                </a:lnTo>
                <a:moveTo>
                  <a:pt x="19000" y="18000"/>
                </a:moveTo>
                <a:cubicBezTo>
                  <a:pt x="19000" y="19105"/>
                  <a:pt x="18105" y="20000"/>
                  <a:pt x="17000" y="20000"/>
                </a:cubicBezTo>
                <a:cubicBezTo>
                  <a:pt x="15895" y="20000"/>
                  <a:pt x="15000" y="19105"/>
                  <a:pt x="15000" y="18000"/>
                </a:cubicBezTo>
                <a:cubicBezTo>
                  <a:pt x="15000" y="16895"/>
                  <a:pt x="15895" y="16000"/>
                  <a:pt x="17000" y="16000"/>
                </a:cubicBezTo>
                <a:cubicBezTo>
                  <a:pt x="18105" y="16000"/>
                  <a:pt x="19000" y="16895"/>
                  <a:pt x="19000" y="18000"/>
                </a:cubicBezTo>
                <a:close/>
                <a:moveTo>
                  <a:pt x="9000" y="18000"/>
                </a:moveTo>
                <a:cubicBezTo>
                  <a:pt x="9000" y="19105"/>
                  <a:pt x="8105" y="20000"/>
                  <a:pt x="7000" y="20000"/>
                </a:cubicBezTo>
                <a:cubicBezTo>
                  <a:pt x="5895" y="20000"/>
                  <a:pt x="5000" y="19105"/>
                  <a:pt x="5000" y="18000"/>
                </a:cubicBezTo>
                <a:cubicBezTo>
                  <a:pt x="5000" y="16895"/>
                  <a:pt x="5895" y="16000"/>
                  <a:pt x="7000" y="16000"/>
                </a:cubicBezTo>
                <a:cubicBezTo>
                  <a:pt x="8105" y="16000"/>
                  <a:pt x="9000" y="16895"/>
                  <a:pt x="9000" y="18000"/>
                </a:cubicBezTo>
                <a:close/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</p:sp>
      <p:sp>
        <p:nvSpPr>
          <p:cNvPr id="40" name="struct.cluster.1"/>
          <p:cNvSpPr/>
          <p:nvPr/>
        </p:nvSpPr>
        <p:spPr>
          <a:xfrm>
            <a:off x="7040880" y="2395728"/>
            <a:ext cx="1188720" cy="11887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</p:sp>
      <p:cxnSp>
        <p:nvCxnSpPr>
          <p:cNvPr id="41" name="struct.cluster.1.drop"/>
          <p:cNvCxnSpPr/>
          <p:nvPr/>
        </p:nvCxnSpPr>
        <p:spPr>
          <a:xfrm>
            <a:off x="7635240" y="2066544"/>
            <a:ext cx="0" cy="329184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42" name="struct.cluster.1.member.1"/>
          <p:cNvSpPr/>
          <p:nvPr/>
        </p:nvSpPr>
        <p:spPr>
          <a:xfrm>
            <a:off x="7306056" y="2734056"/>
            <a:ext cx="109728" cy="10972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43" name="struct.cluster.1.member.2"/>
          <p:cNvSpPr/>
          <p:nvPr/>
        </p:nvSpPr>
        <p:spPr>
          <a:xfrm>
            <a:off x="7598664" y="2624328"/>
            <a:ext cx="109728" cy="10972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44" name="struct.cluster.1.member.3"/>
          <p:cNvSpPr/>
          <p:nvPr/>
        </p:nvSpPr>
        <p:spPr>
          <a:xfrm>
            <a:off x="7854696" y="2788920"/>
            <a:ext cx="109728" cy="10972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45" name="struct.cluster.1.member.4"/>
          <p:cNvSpPr/>
          <p:nvPr/>
        </p:nvSpPr>
        <p:spPr>
          <a:xfrm>
            <a:off x="7470648" y="2935224"/>
            <a:ext cx="109728" cy="10972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46" name="struct.cluster.1.member.5"/>
          <p:cNvSpPr/>
          <p:nvPr/>
        </p:nvSpPr>
        <p:spPr>
          <a:xfrm>
            <a:off x="7744968" y="3044952"/>
            <a:ext cx="109728" cy="10972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47" name="struct.cluster.1.member.6"/>
          <p:cNvSpPr/>
          <p:nvPr/>
        </p:nvSpPr>
        <p:spPr>
          <a:xfrm>
            <a:off x="7269480" y="3118104"/>
            <a:ext cx="109728" cy="10972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48" name="struct.cluster.1.member.7"/>
          <p:cNvSpPr/>
          <p:nvPr/>
        </p:nvSpPr>
        <p:spPr>
          <a:xfrm>
            <a:off x="7598664" y="3227832"/>
            <a:ext cx="109728" cy="10972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49" name="slot.node.2.label"/>
          <p:cNvSpPr txBox="1"/>
          <p:nvPr/>
        </p:nvSpPr>
        <p:spPr>
          <a:xfrm>
            <a:off x="8023860" y="1371600"/>
            <a:ext cx="1005840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Quality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struct.node.2"/>
          <p:cNvSpPr/>
          <p:nvPr/>
        </p:nvSpPr>
        <p:spPr>
          <a:xfrm>
            <a:off x="8316468" y="1645920"/>
            <a:ext cx="420624" cy="420624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</p:sp>
      <p:sp>
        <p:nvSpPr>
          <p:cNvPr id="51" name="slot.node.2.icon"/>
          <p:cNvSpPr/>
          <p:nvPr/>
        </p:nvSpPr>
        <p:spPr>
          <a:xfrm>
            <a:off x="8407908" y="173736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2000"/>
                </a:moveTo>
                <a:lnTo>
                  <a:pt x="15000" y="2000"/>
                </a:lnTo>
                <a:cubicBezTo>
                  <a:pt x="15552" y="2000"/>
                  <a:pt x="16000" y="2448"/>
                  <a:pt x="16000" y="3000"/>
                </a:cubicBezTo>
                <a:lnTo>
                  <a:pt x="16000" y="5000"/>
                </a:lnTo>
                <a:cubicBezTo>
                  <a:pt x="16000" y="5552"/>
                  <a:pt x="15552" y="6000"/>
                  <a:pt x="15000" y="6000"/>
                </a:cubicBezTo>
                <a:lnTo>
                  <a:pt x="9000" y="6000"/>
                </a:lnTo>
                <a:cubicBezTo>
                  <a:pt x="8448" y="6000"/>
                  <a:pt x="8000" y="5552"/>
                  <a:pt x="8000" y="5000"/>
                </a:cubicBezTo>
                <a:lnTo>
                  <a:pt x="8000" y="3000"/>
                </a:lnTo>
                <a:cubicBezTo>
                  <a:pt x="8000" y="2448"/>
                  <a:pt x="8448" y="2000"/>
                  <a:pt x="9000" y="2000"/>
                </a:cubicBezTo>
                <a:close/>
                <a:moveTo>
                  <a:pt x="16000" y="4000"/>
                </a:moveTo>
                <a:lnTo>
                  <a:pt x="18000" y="4000"/>
                </a:lnTo>
                <a:cubicBezTo>
                  <a:pt x="19105" y="4000"/>
                  <a:pt x="20000" y="4895"/>
                  <a:pt x="20000" y="6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lnTo>
                  <a:pt x="6000" y="22000"/>
                </a:lnTo>
                <a:cubicBezTo>
                  <a:pt x="4895" y="22000"/>
                  <a:pt x="4000" y="21105"/>
                  <a:pt x="4000" y="20000"/>
                </a:cubicBezTo>
                <a:lnTo>
                  <a:pt x="4000" y="6000"/>
                </a:lnTo>
                <a:cubicBezTo>
                  <a:pt x="4000" y="4895"/>
                  <a:pt x="4895" y="4000"/>
                  <a:pt x="6000" y="4000"/>
                </a:cubicBezTo>
                <a:lnTo>
                  <a:pt x="8000" y="4000"/>
                </a:lnTo>
                <a:moveTo>
                  <a:pt x="9000" y="14000"/>
                </a:moveTo>
                <a:lnTo>
                  <a:pt x="11000" y="16000"/>
                </a:lnTo>
                <a:lnTo>
                  <a:pt x="15000" y="12000"/>
                </a:lnTo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</p:sp>
      <p:sp>
        <p:nvSpPr>
          <p:cNvPr id="52" name="struct.cluster.2"/>
          <p:cNvSpPr/>
          <p:nvPr/>
        </p:nvSpPr>
        <p:spPr>
          <a:xfrm>
            <a:off x="7932420" y="4041648"/>
            <a:ext cx="1188720" cy="11887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</p:sp>
      <p:cxnSp>
        <p:nvCxnSpPr>
          <p:cNvPr id="53" name="struct.cluster.2.drop"/>
          <p:cNvCxnSpPr/>
          <p:nvPr/>
        </p:nvCxnSpPr>
        <p:spPr>
          <a:xfrm>
            <a:off x="8526780" y="2066544"/>
            <a:ext cx="0" cy="1975104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54" name="struct.cluster.2.member.1"/>
          <p:cNvSpPr/>
          <p:nvPr/>
        </p:nvSpPr>
        <p:spPr>
          <a:xfrm>
            <a:off x="8270748" y="4398264"/>
            <a:ext cx="109728" cy="10972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55" name="struct.cluster.2.member.2"/>
          <p:cNvSpPr/>
          <p:nvPr/>
        </p:nvSpPr>
        <p:spPr>
          <a:xfrm>
            <a:off x="8654796" y="4361688"/>
            <a:ext cx="109728" cy="10972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56" name="struct.cluster.2.member.3"/>
          <p:cNvSpPr/>
          <p:nvPr/>
        </p:nvSpPr>
        <p:spPr>
          <a:xfrm>
            <a:off x="8435340" y="4672584"/>
            <a:ext cx="109728" cy="10972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57" name="struct.cluster.2.member.4"/>
          <p:cNvSpPr/>
          <p:nvPr/>
        </p:nvSpPr>
        <p:spPr>
          <a:xfrm>
            <a:off x="8727948" y="4764024"/>
            <a:ext cx="109728" cy="10972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58" name="slot.node.3.label"/>
          <p:cNvSpPr txBox="1"/>
          <p:nvPr/>
        </p:nvSpPr>
        <p:spPr>
          <a:xfrm>
            <a:off x="8915400" y="1371600"/>
            <a:ext cx="1005840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Finance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struct.node.3"/>
          <p:cNvSpPr/>
          <p:nvPr/>
        </p:nvSpPr>
        <p:spPr>
          <a:xfrm>
            <a:off x="9208008" y="1645920"/>
            <a:ext cx="420624" cy="420624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</p:sp>
      <p:sp>
        <p:nvSpPr>
          <p:cNvPr id="60" name="slot.node.3.icon"/>
          <p:cNvSpPr/>
          <p:nvPr/>
        </p:nvSpPr>
        <p:spPr>
          <a:xfrm>
            <a:off x="9299448" y="173736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000" y="18000"/>
                </a:moveTo>
                <a:lnTo>
                  <a:pt x="10000" y="11000"/>
                </a:lnTo>
                <a:moveTo>
                  <a:pt x="11119" y="2205"/>
                </a:moveTo>
                <a:cubicBezTo>
                  <a:pt x="11675" y="1932"/>
                  <a:pt x="12325" y="1932"/>
                  <a:pt x="12881" y="2205"/>
                </a:cubicBezTo>
                <a:lnTo>
                  <a:pt x="20721" y="6051"/>
                </a:lnTo>
                <a:cubicBezTo>
                  <a:pt x="20930" y="6153"/>
                  <a:pt x="21041" y="6387"/>
                  <a:pt x="20988" y="6613"/>
                </a:cubicBezTo>
                <a:cubicBezTo>
                  <a:pt x="20935" y="6840"/>
                  <a:pt x="20733" y="7000"/>
                  <a:pt x="20500" y="7000"/>
                </a:cubicBezTo>
                <a:lnTo>
                  <a:pt x="3500" y="7000"/>
                </a:lnTo>
                <a:cubicBezTo>
                  <a:pt x="3267" y="7000"/>
                  <a:pt x="3065" y="6840"/>
                  <a:pt x="3013" y="6613"/>
                </a:cubicBezTo>
                <a:cubicBezTo>
                  <a:pt x="2960" y="6386"/>
                  <a:pt x="3071" y="6153"/>
                  <a:pt x="3280" y="6051"/>
                </a:cubicBezTo>
                <a:close/>
                <a:moveTo>
                  <a:pt x="14000" y="18000"/>
                </a:moveTo>
                <a:lnTo>
                  <a:pt x="14000" y="11000"/>
                </a:lnTo>
                <a:moveTo>
                  <a:pt x="18000" y="18000"/>
                </a:moveTo>
                <a:lnTo>
                  <a:pt x="18000" y="11000"/>
                </a:lnTo>
                <a:moveTo>
                  <a:pt x="3000" y="22000"/>
                </a:moveTo>
                <a:lnTo>
                  <a:pt x="21000" y="22000"/>
                </a:lnTo>
                <a:moveTo>
                  <a:pt x="6000" y="18000"/>
                </a:moveTo>
                <a:lnTo>
                  <a:pt x="6000" y="11000"/>
                </a:lnTo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</p:sp>
      <p:sp>
        <p:nvSpPr>
          <p:cNvPr id="61" name="struct.cluster.3"/>
          <p:cNvSpPr/>
          <p:nvPr/>
        </p:nvSpPr>
        <p:spPr>
          <a:xfrm>
            <a:off x="8823960" y="2395728"/>
            <a:ext cx="1188720" cy="11887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</p:sp>
      <p:cxnSp>
        <p:nvCxnSpPr>
          <p:cNvPr id="62" name="struct.cluster.3.drop"/>
          <p:cNvCxnSpPr/>
          <p:nvPr/>
        </p:nvCxnSpPr>
        <p:spPr>
          <a:xfrm>
            <a:off x="9418320" y="2066544"/>
            <a:ext cx="0" cy="329184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63" name="struct.cluster.3.member.1"/>
          <p:cNvSpPr/>
          <p:nvPr/>
        </p:nvSpPr>
        <p:spPr>
          <a:xfrm>
            <a:off x="9180576" y="2807208"/>
            <a:ext cx="109728" cy="10972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64" name="struct.cluster.3.member.2"/>
          <p:cNvSpPr/>
          <p:nvPr/>
        </p:nvSpPr>
        <p:spPr>
          <a:xfrm>
            <a:off x="9528048" y="2880360"/>
            <a:ext cx="109728" cy="10972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65" name="struct.cluster.3.member.3"/>
          <p:cNvSpPr/>
          <p:nvPr/>
        </p:nvSpPr>
        <p:spPr>
          <a:xfrm>
            <a:off x="9345168" y="3154680"/>
            <a:ext cx="109728" cy="10972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66" name="slot.node.4.label"/>
          <p:cNvSpPr txBox="1"/>
          <p:nvPr/>
        </p:nvSpPr>
        <p:spPr>
          <a:xfrm>
            <a:off x="9806940" y="1371600"/>
            <a:ext cx="1005840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Compliance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struct.node.4"/>
          <p:cNvSpPr/>
          <p:nvPr/>
        </p:nvSpPr>
        <p:spPr>
          <a:xfrm>
            <a:off x="10099548" y="1645920"/>
            <a:ext cx="420624" cy="420624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</p:sp>
      <p:sp>
        <p:nvSpPr>
          <p:cNvPr id="68" name="slot.node.4.icon"/>
          <p:cNvSpPr/>
          <p:nvPr/>
        </p:nvSpPr>
        <p:spPr>
          <a:xfrm>
            <a:off x="10190988" y="173736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</p:sp>
      <p:sp>
        <p:nvSpPr>
          <p:cNvPr id="69" name="struct.cluster.4"/>
          <p:cNvSpPr/>
          <p:nvPr/>
        </p:nvSpPr>
        <p:spPr>
          <a:xfrm>
            <a:off x="9715500" y="4041648"/>
            <a:ext cx="1188720" cy="11887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</p:sp>
      <p:cxnSp>
        <p:nvCxnSpPr>
          <p:cNvPr id="70" name="struct.cluster.4.drop"/>
          <p:cNvCxnSpPr/>
          <p:nvPr/>
        </p:nvCxnSpPr>
        <p:spPr>
          <a:xfrm>
            <a:off x="10309860" y="2066544"/>
            <a:ext cx="0" cy="1975104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71" name="struct.cluster.4.member.1"/>
          <p:cNvSpPr/>
          <p:nvPr/>
        </p:nvSpPr>
        <p:spPr>
          <a:xfrm>
            <a:off x="9998964" y="4434840"/>
            <a:ext cx="109728" cy="10972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72" name="struct.cluster.4.member.2"/>
          <p:cNvSpPr/>
          <p:nvPr/>
        </p:nvSpPr>
        <p:spPr>
          <a:xfrm>
            <a:off x="10309860" y="4306824"/>
            <a:ext cx="109728" cy="10972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73" name="struct.cluster.4.member.3"/>
          <p:cNvSpPr/>
          <p:nvPr/>
        </p:nvSpPr>
        <p:spPr>
          <a:xfrm>
            <a:off x="10529316" y="4581144"/>
            <a:ext cx="109728" cy="10972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74" name="struct.cluster.4.member.4"/>
          <p:cNvSpPr/>
          <p:nvPr/>
        </p:nvSpPr>
        <p:spPr>
          <a:xfrm>
            <a:off x="10108692" y="4745736"/>
            <a:ext cx="109728" cy="10972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75" name="struct.cluster.4.member.5"/>
          <p:cNvSpPr/>
          <p:nvPr/>
        </p:nvSpPr>
        <p:spPr>
          <a:xfrm>
            <a:off x="10383012" y="4837176"/>
            <a:ext cx="109728" cy="10972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76" name="struct.cluster.4.member.6"/>
          <p:cNvSpPr/>
          <p:nvPr/>
        </p:nvSpPr>
        <p:spPr>
          <a:xfrm>
            <a:off x="10236708" y="4544568"/>
            <a:ext cx="109728" cy="10972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77" name="slot.node.5.label"/>
          <p:cNvSpPr txBox="1"/>
          <p:nvPr/>
        </p:nvSpPr>
        <p:spPr>
          <a:xfrm>
            <a:off x="10698480" y="1371600"/>
            <a:ext cx="1005840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Capacity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struct.node.5"/>
          <p:cNvSpPr/>
          <p:nvPr/>
        </p:nvSpPr>
        <p:spPr>
          <a:xfrm>
            <a:off x="10991088" y="1645920"/>
            <a:ext cx="420624" cy="420624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</p:sp>
      <p:sp>
        <p:nvSpPr>
          <p:cNvPr id="79" name="slot.node.5.icon"/>
          <p:cNvSpPr/>
          <p:nvPr/>
        </p:nvSpPr>
        <p:spPr>
          <a:xfrm>
            <a:off x="11082528" y="173736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6000"/>
                </a:moveTo>
                <a:lnTo>
                  <a:pt x="12010" y="16000"/>
                </a:lnTo>
                <a:moveTo>
                  <a:pt x="16000" y="16000"/>
                </a:moveTo>
                <a:lnTo>
                  <a:pt x="16010" y="16000"/>
                </a:lnTo>
                <a:moveTo>
                  <a:pt x="3000" y="19000"/>
                </a:moveTo>
                <a:cubicBezTo>
                  <a:pt x="3000" y="20105"/>
                  <a:pt x="3895" y="21000"/>
                  <a:pt x="5000" y="21000"/>
                </a:cubicBezTo>
                <a:lnTo>
                  <a:pt x="19000" y="21000"/>
                </a:lnTo>
                <a:cubicBezTo>
                  <a:pt x="20105" y="21000"/>
                  <a:pt x="21000" y="20105"/>
                  <a:pt x="21000" y="19000"/>
                </a:cubicBezTo>
                <a:lnTo>
                  <a:pt x="21000" y="8500"/>
                </a:lnTo>
                <a:cubicBezTo>
                  <a:pt x="21000" y="8317"/>
                  <a:pt x="20901" y="8149"/>
                  <a:pt x="20741" y="8061"/>
                </a:cubicBezTo>
                <a:cubicBezTo>
                  <a:pt x="20580" y="7973"/>
                  <a:pt x="20385" y="7980"/>
                  <a:pt x="20231" y="8078"/>
                </a:cubicBezTo>
                <a:lnTo>
                  <a:pt x="15769" y="10922"/>
                </a:lnTo>
                <a:cubicBezTo>
                  <a:pt x="15615" y="11020"/>
                  <a:pt x="15420" y="11027"/>
                  <a:pt x="15259" y="10939"/>
                </a:cubicBezTo>
                <a:cubicBezTo>
                  <a:pt x="15099" y="10851"/>
                  <a:pt x="15000" y="10683"/>
                  <a:pt x="15000" y="10500"/>
                </a:cubicBezTo>
                <a:lnTo>
                  <a:pt x="15000" y="8500"/>
                </a:lnTo>
                <a:cubicBezTo>
                  <a:pt x="15000" y="8317"/>
                  <a:pt x="14901" y="8149"/>
                  <a:pt x="14741" y="8061"/>
                </a:cubicBezTo>
                <a:cubicBezTo>
                  <a:pt x="14580" y="7973"/>
                  <a:pt x="14385" y="7980"/>
                  <a:pt x="14231" y="8078"/>
                </a:cubicBezTo>
                <a:lnTo>
                  <a:pt x="9770" y="10922"/>
                </a:lnTo>
                <a:cubicBezTo>
                  <a:pt x="9616" y="11021"/>
                  <a:pt x="9420" y="11028"/>
                  <a:pt x="9260" y="10940"/>
                </a:cubicBezTo>
                <a:cubicBezTo>
                  <a:pt x="9099" y="10852"/>
                  <a:pt x="9000" y="10683"/>
                  <a:pt x="9000" y="10500"/>
                </a:cubicBezTo>
                <a:lnTo>
                  <a:pt x="9000" y="5000"/>
                </a:lnTo>
                <a:cubicBezTo>
                  <a:pt x="9000" y="3895"/>
                  <a:pt x="8105" y="3000"/>
                  <a:pt x="7000" y="3000"/>
                </a:cubicBezTo>
                <a:lnTo>
                  <a:pt x="5000" y="3000"/>
                </a:lnTo>
                <a:cubicBezTo>
                  <a:pt x="3895" y="3000"/>
                  <a:pt x="3000" y="3895"/>
                  <a:pt x="3000" y="5000"/>
                </a:cubicBezTo>
                <a:close/>
                <a:moveTo>
                  <a:pt x="8000" y="16000"/>
                </a:moveTo>
                <a:lnTo>
                  <a:pt x="8010" y="16000"/>
                </a:lnTo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</p:sp>
      <p:sp>
        <p:nvSpPr>
          <p:cNvPr id="80" name="struct.cluster.5"/>
          <p:cNvSpPr/>
          <p:nvPr/>
        </p:nvSpPr>
        <p:spPr>
          <a:xfrm>
            <a:off x="10607040" y="2395728"/>
            <a:ext cx="1188720" cy="11887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</p:sp>
      <p:cxnSp>
        <p:nvCxnSpPr>
          <p:cNvPr id="81" name="struct.cluster.5.drop"/>
          <p:cNvCxnSpPr/>
          <p:nvPr/>
        </p:nvCxnSpPr>
        <p:spPr>
          <a:xfrm>
            <a:off x="11201400" y="2066544"/>
            <a:ext cx="0" cy="329184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82" name="struct.cluster.5.member.1"/>
          <p:cNvSpPr/>
          <p:nvPr/>
        </p:nvSpPr>
        <p:spPr>
          <a:xfrm>
            <a:off x="10927080" y="2715768"/>
            <a:ext cx="109728" cy="10972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83" name="struct.cluster.5.member.2"/>
          <p:cNvSpPr/>
          <p:nvPr/>
        </p:nvSpPr>
        <p:spPr>
          <a:xfrm>
            <a:off x="11292840" y="2697480"/>
            <a:ext cx="109728" cy="10972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84" name="struct.cluster.5.member.3"/>
          <p:cNvSpPr/>
          <p:nvPr/>
        </p:nvSpPr>
        <p:spPr>
          <a:xfrm>
            <a:off x="11420856" y="3026664"/>
            <a:ext cx="109728" cy="10972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85" name="struct.cluster.5.member.4"/>
          <p:cNvSpPr/>
          <p:nvPr/>
        </p:nvSpPr>
        <p:spPr>
          <a:xfrm>
            <a:off x="10872216" y="3044952"/>
            <a:ext cx="109728" cy="10972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86" name="struct.cluster.5.member.5"/>
          <p:cNvSpPr/>
          <p:nvPr/>
        </p:nvSpPr>
        <p:spPr>
          <a:xfrm>
            <a:off x="11164824" y="3209544"/>
            <a:ext cx="109728" cy="10972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87" name="struct.loose.1"/>
          <p:cNvSpPr/>
          <p:nvPr/>
        </p:nvSpPr>
        <p:spPr>
          <a:xfrm>
            <a:off x="7626096" y="4105656"/>
            <a:ext cx="109728" cy="10972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</p:sp>
      <p:sp>
        <p:nvSpPr>
          <p:cNvPr id="88" name="struct.loose.2"/>
          <p:cNvSpPr/>
          <p:nvPr/>
        </p:nvSpPr>
        <p:spPr>
          <a:xfrm>
            <a:off x="7214616" y="4654296"/>
            <a:ext cx="109728" cy="10972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</p:sp>
      <p:sp>
        <p:nvSpPr>
          <p:cNvPr id="89" name="struct.loose.3"/>
          <p:cNvSpPr/>
          <p:nvPr/>
        </p:nvSpPr>
        <p:spPr>
          <a:xfrm>
            <a:off x="7854696" y="5020056"/>
            <a:ext cx="109728" cy="10972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</p:sp>
      <p:sp>
        <p:nvSpPr>
          <p:cNvPr id="90" name="struct.loose.4"/>
          <p:cNvSpPr/>
          <p:nvPr/>
        </p:nvSpPr>
        <p:spPr>
          <a:xfrm>
            <a:off x="9363456" y="4169664"/>
            <a:ext cx="109728" cy="10972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</p:sp>
      <p:sp>
        <p:nvSpPr>
          <p:cNvPr id="91" name="struct.loose.5"/>
          <p:cNvSpPr/>
          <p:nvPr/>
        </p:nvSpPr>
        <p:spPr>
          <a:xfrm>
            <a:off x="9217152" y="4901184"/>
            <a:ext cx="109728" cy="10972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</p:sp>
      <p:sp>
        <p:nvSpPr>
          <p:cNvPr id="92" name="struct.loose.6"/>
          <p:cNvSpPr/>
          <p:nvPr/>
        </p:nvSpPr>
        <p:spPr>
          <a:xfrm>
            <a:off x="9637776" y="5084064"/>
            <a:ext cx="109728" cy="10972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</p:sp>
      <p:sp>
        <p:nvSpPr>
          <p:cNvPr id="93" name="struct.loose.7"/>
          <p:cNvSpPr/>
          <p:nvPr/>
        </p:nvSpPr>
        <p:spPr>
          <a:xfrm>
            <a:off x="11100816" y="4151376"/>
            <a:ext cx="109728" cy="10972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</p:sp>
      <p:sp>
        <p:nvSpPr>
          <p:cNvPr id="94" name="struct.loose.8"/>
          <p:cNvSpPr/>
          <p:nvPr/>
        </p:nvSpPr>
        <p:spPr>
          <a:xfrm>
            <a:off x="11466576" y="4700016"/>
            <a:ext cx="109728" cy="10972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</p:sp>
      <p:sp>
        <p:nvSpPr>
          <p:cNvPr id="95" name="struct.loose.9"/>
          <p:cNvSpPr/>
          <p:nvPr/>
        </p:nvSpPr>
        <p:spPr>
          <a:xfrm>
            <a:off x="10872216" y="5047488"/>
            <a:ext cx="109728" cy="10972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</p:sp>
      <p:sp>
        <p:nvSpPr>
          <p:cNvPr id="96" name="struct.loose.10"/>
          <p:cNvSpPr/>
          <p:nvPr/>
        </p:nvSpPr>
        <p:spPr>
          <a:xfrm>
            <a:off x="8026146" y="5431536"/>
            <a:ext cx="109728" cy="10972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</p:sp>
      <p:sp>
        <p:nvSpPr>
          <p:cNvPr id="97" name="struct.loose.11"/>
          <p:cNvSpPr/>
          <p:nvPr/>
        </p:nvSpPr>
        <p:spPr>
          <a:xfrm>
            <a:off x="9809226" y="5468112"/>
            <a:ext cx="109728" cy="10972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</p:sp>
      <p:sp>
        <p:nvSpPr>
          <p:cNvPr id="98" name="struct.legend.cluster"/>
          <p:cNvSpPr/>
          <p:nvPr/>
        </p:nvSpPr>
        <p:spPr>
          <a:xfrm>
            <a:off x="7059168" y="5907024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</p:sp>
      <p:sp>
        <p:nvSpPr>
          <p:cNvPr id="99" name="struct.legend.cluster.member"/>
          <p:cNvSpPr/>
          <p:nvPr/>
        </p:nvSpPr>
        <p:spPr>
          <a:xfrm>
            <a:off x="7114032" y="5961888"/>
            <a:ext cx="109728" cy="10972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100" name="slot.legend.flagged"/>
          <p:cNvSpPr txBox="1"/>
          <p:nvPr/>
        </p:nvSpPr>
        <p:spPr>
          <a:xfrm>
            <a:off x="7370064" y="5888736"/>
            <a:ext cx="2103120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Supplier below threshold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struct.legend.loose"/>
          <p:cNvSpPr/>
          <p:nvPr/>
        </p:nvSpPr>
        <p:spPr>
          <a:xfrm>
            <a:off x="9601200" y="5961888"/>
            <a:ext cx="109728" cy="10972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</p:sp>
      <p:sp>
        <p:nvSpPr>
          <p:cNvPr id="102" name="slot.legend.clear"/>
          <p:cNvSpPr txBox="1"/>
          <p:nvPr/>
        </p:nvSpPr>
        <p:spPr>
          <a:xfrm>
            <a:off x="9802368" y="5888736"/>
            <a:ext cx="1993392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Clear on all five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atalogue:io-wells">
    <p:spTree>
      <p:nvGrpSpPr>
        <p:cNvPr id="1" name=""/>
        <p:cNvGrpSpPr/>
        <p:nvPr/>
      </p:nvGrpSpPr>
      <p:grpSpPr/>
      <p:sp>
        <p:nvSpPr>
          <p:cNvPr id="2" name="slot.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Three calls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run every invoice match, and each one names what it refuses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truct.op.1.head"/>
          <p:cNvSpPr/>
          <p:nvPr/>
        </p:nvSpPr>
        <p:spPr>
          <a:xfrm>
            <a:off x="457200" y="777240"/>
            <a:ext cx="3596640" cy="603504"/>
          </a:xfrm>
          <a:prstGeom prst="roundRect">
            <a:avLst>
              <a:gd name="adj" fmla="val 7576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struct.op.2.head"/>
          <p:cNvSpPr/>
          <p:nvPr/>
        </p:nvSpPr>
        <p:spPr>
          <a:xfrm>
            <a:off x="4328160" y="777240"/>
            <a:ext cx="3596640" cy="603504"/>
          </a:xfrm>
          <a:prstGeom prst="roundRect">
            <a:avLst>
              <a:gd name="adj" fmla="val 7576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" name="struct.op.3.head"/>
          <p:cNvSpPr/>
          <p:nvPr/>
        </p:nvSpPr>
        <p:spPr>
          <a:xfrm>
            <a:off x="8199120" y="777240"/>
            <a:ext cx="3596640" cy="603504"/>
          </a:xfrm>
          <a:prstGeom prst="roundRect">
            <a:avLst>
              <a:gd name="adj" fmla="val 7576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" name="struct.op.1.disc"/>
          <p:cNvSpPr/>
          <p:nvPr/>
        </p:nvSpPr>
        <p:spPr>
          <a:xfrm>
            <a:off x="603504" y="905256"/>
            <a:ext cx="347472" cy="34747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" name="slot.op.1.num"/>
          <p:cNvSpPr txBox="1"/>
          <p:nvPr/>
        </p:nvSpPr>
        <p:spPr>
          <a:xfrm>
            <a:off x="603504" y="905256"/>
            <a:ext cx="347472" cy="347472"/>
          </a:xfrm>
          <a:prstGeom prst="rect">
            <a:avLst/>
          </a:prstGeom>
          <a:noFill/>
          <a:effectLst/>
        </p:spPr>
        <p:txBody>
          <a:bodyPr wrap="square" lIns="0" rIns="0" t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1</a:t>
            </a:r>
            <a:endParaRPr lang="en-US" sz="13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lot.op.1.verb"/>
          <p:cNvSpPr txBox="1"/>
          <p:nvPr/>
        </p:nvSpPr>
        <p:spPr>
          <a:xfrm>
            <a:off x="1060704" y="777240"/>
            <a:ext cx="2407920" cy="603504"/>
          </a:xfrm>
          <a:prstGeom prst="rect">
            <a:avLst/>
          </a:prstGeom>
          <a:noFill/>
          <a:effectLst/>
        </p:spPr>
        <p:txBody>
          <a:bodyPr wrap="square" lIns="0" rIns="0" t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Match</a:t>
            </a:r>
            <a:endParaRPr lang="en-US" sz="1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slot.op.1.purpose"/>
          <p:cNvSpPr txBox="1"/>
          <p:nvPr/>
        </p:nvSpPr>
        <p:spPr>
          <a:xfrm>
            <a:off x="457200" y="1481328"/>
            <a:ext cx="3596640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Pair an invoice with its order and receipt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truct.op.1.in"/>
          <p:cNvSpPr/>
          <p:nvPr/>
        </p:nvSpPr>
        <p:spPr>
          <a:xfrm>
            <a:off x="457200" y="1883664"/>
            <a:ext cx="3596640" cy="1188720"/>
          </a:xfrm>
          <a:prstGeom prst="roundRect">
            <a:avLst>
              <a:gd name="adj" fmla="val 3846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" name="slot.op.1.in.label"/>
          <p:cNvSpPr txBox="1"/>
          <p:nvPr/>
        </p:nvSpPr>
        <p:spPr>
          <a:xfrm>
            <a:off x="603504" y="1993392"/>
            <a:ext cx="914400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In</a:t>
            </a:r>
            <a:endParaRPr lang="en-US" sz="1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lot.op.1.in.text"/>
          <p:cNvSpPr txBox="1"/>
          <p:nvPr/>
        </p:nvSpPr>
        <p:spPr>
          <a:xfrm>
            <a:off x="603504" y="2249424"/>
            <a:ext cx="3304032" cy="731520"/>
          </a:xfrm>
          <a:prstGeom prst="rect">
            <a:avLst/>
          </a:prstGeom>
          <a:noFill/>
          <a:effectLst/>
        </p:spPr>
        <p:txBody>
          <a:bodyPr wrap="square" lIns="0" rIns="0" t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An invoice file, never a free-text request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Supplier id and invoice number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Currency and total as printed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struct.op.1.out"/>
          <p:cNvSpPr/>
          <p:nvPr/>
        </p:nvSpPr>
        <p:spPr>
          <a:xfrm>
            <a:off x="457200" y="3182112"/>
            <a:ext cx="3596640" cy="2468880"/>
          </a:xfrm>
          <a:prstGeom prst="roundRect">
            <a:avLst>
              <a:gd name="adj" fmla="val 1852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" name="slot.op.1.out.label"/>
          <p:cNvSpPr txBox="1"/>
          <p:nvPr/>
        </p:nvSpPr>
        <p:spPr>
          <a:xfrm>
            <a:off x="603504" y="3291840"/>
            <a:ext cx="914400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Out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lot.op.1.out.1"/>
          <p:cNvSpPr txBox="1"/>
          <p:nvPr/>
        </p:nvSpPr>
        <p:spPr>
          <a:xfrm>
            <a:off x="1042416" y="3602736"/>
            <a:ext cx="28651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Purchase order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The order line it answers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lot.op.1.out.2"/>
          <p:cNvSpPr txBox="1"/>
          <p:nvPr/>
        </p:nvSpPr>
        <p:spPr>
          <a:xfrm>
            <a:off x="1042416" y="4279392"/>
            <a:ext cx="28651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Goods receipt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Quantities booked at the dock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lot.op.1.out.3"/>
          <p:cNvSpPr txBox="1"/>
          <p:nvPr/>
        </p:nvSpPr>
        <p:spPr>
          <a:xfrm>
            <a:off x="1042416" y="4956048"/>
            <a:ext cx="28651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Match score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Price, quantity and tax, each scored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truct.op.1.rule"/>
          <p:cNvSpPr/>
          <p:nvPr/>
        </p:nvSpPr>
        <p:spPr>
          <a:xfrm>
            <a:off x="457200" y="5788152"/>
            <a:ext cx="3596640" cy="914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" name="slot.op.1.never"/>
          <p:cNvSpPr txBox="1"/>
          <p:nvPr/>
        </p:nvSpPr>
        <p:spPr>
          <a:xfrm>
            <a:off x="457200" y="5870448"/>
            <a:ext cx="3596640" cy="347472"/>
          </a:xfrm>
          <a:prstGeom prst="rect">
            <a:avLst/>
          </a:prstGeom>
          <a:noFill/>
          <a:effectLst/>
        </p:spPr>
        <p:txBody>
          <a:bodyPr wrap="square" lIns="0" rIns="0" t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Never: a payment released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truct.op.2.disc"/>
          <p:cNvSpPr/>
          <p:nvPr/>
        </p:nvSpPr>
        <p:spPr>
          <a:xfrm>
            <a:off x="4474464" y="905256"/>
            <a:ext cx="347472" cy="34747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" name="slot.op.2.num"/>
          <p:cNvSpPr txBox="1"/>
          <p:nvPr/>
        </p:nvSpPr>
        <p:spPr>
          <a:xfrm>
            <a:off x="4474464" y="905256"/>
            <a:ext cx="347472" cy="347472"/>
          </a:xfrm>
          <a:prstGeom prst="rect">
            <a:avLst/>
          </a:prstGeom>
          <a:noFill/>
          <a:effectLst/>
        </p:spPr>
        <p:txBody>
          <a:bodyPr wrap="square" lIns="0" rIns="0" t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2</a:t>
            </a:r>
            <a:endParaRPr lang="en-US" sz="13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lot.op.2.verb"/>
          <p:cNvSpPr txBox="1"/>
          <p:nvPr/>
        </p:nvSpPr>
        <p:spPr>
          <a:xfrm>
            <a:off x="4931664" y="777240"/>
            <a:ext cx="2407920" cy="603504"/>
          </a:xfrm>
          <a:prstGeom prst="rect">
            <a:avLst/>
          </a:prstGeom>
          <a:noFill/>
          <a:effectLst/>
        </p:spPr>
        <p:txBody>
          <a:bodyPr wrap="square" lIns="0" rIns="0" t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Explain</a:t>
            </a:r>
            <a:endParaRPr lang="en-US" sz="1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slot.op.2.purpose"/>
          <p:cNvSpPr txBox="1"/>
          <p:nvPr/>
        </p:nvSpPr>
        <p:spPr>
          <a:xfrm>
            <a:off x="4328160" y="1481328"/>
            <a:ext cx="3596640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Show why a match passed or was held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truct.op.2.in"/>
          <p:cNvSpPr/>
          <p:nvPr/>
        </p:nvSpPr>
        <p:spPr>
          <a:xfrm>
            <a:off x="4328160" y="1883664"/>
            <a:ext cx="3596640" cy="1188720"/>
          </a:xfrm>
          <a:prstGeom prst="roundRect">
            <a:avLst>
              <a:gd name="adj" fmla="val 3846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" name="slot.op.2.in.label"/>
          <p:cNvSpPr txBox="1"/>
          <p:nvPr/>
        </p:nvSpPr>
        <p:spPr>
          <a:xfrm>
            <a:off x="4474464" y="1993392"/>
            <a:ext cx="914400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In</a:t>
            </a:r>
            <a:endParaRPr lang="en-US" sz="1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slot.op.2.in.text"/>
          <p:cNvSpPr txBox="1"/>
          <p:nvPr/>
        </p:nvSpPr>
        <p:spPr>
          <a:xfrm>
            <a:off x="4474464" y="2249424"/>
            <a:ext cx="3304032" cy="731520"/>
          </a:xfrm>
          <a:prstGeom prst="rect">
            <a:avLst/>
          </a:prstGeom>
          <a:noFill/>
          <a:effectLst/>
        </p:spPr>
        <p:txBody>
          <a:bodyPr wrap="square" lIns="0" rIns="0" t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 match id from the first call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question about one line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The policy version in force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truct.op.2.out"/>
          <p:cNvSpPr/>
          <p:nvPr/>
        </p:nvSpPr>
        <p:spPr>
          <a:xfrm>
            <a:off x="4328160" y="3182112"/>
            <a:ext cx="3596640" cy="2468880"/>
          </a:xfrm>
          <a:prstGeom prst="roundRect">
            <a:avLst>
              <a:gd name="adj" fmla="val 1852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" name="slot.op.2.out.label"/>
          <p:cNvSpPr txBox="1"/>
          <p:nvPr/>
        </p:nvSpPr>
        <p:spPr>
          <a:xfrm>
            <a:off x="4474464" y="3291840"/>
            <a:ext cx="914400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Out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lot.op.2.out.1"/>
          <p:cNvSpPr txBox="1"/>
          <p:nvPr/>
        </p:nvSpPr>
        <p:spPr>
          <a:xfrm>
            <a:off x="4913376" y="3602736"/>
            <a:ext cx="28651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Rule trace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Every tolerance rule it applied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slot.op.2.out.2"/>
          <p:cNvSpPr txBox="1"/>
          <p:nvPr/>
        </p:nvSpPr>
        <p:spPr>
          <a:xfrm>
            <a:off x="4913376" y="4279392"/>
            <a:ext cx="28651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Held lines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Each variance above tolerance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lot.op.2.out.3"/>
          <p:cNvSpPr txBox="1"/>
          <p:nvPr/>
        </p:nvSpPr>
        <p:spPr>
          <a:xfrm>
            <a:off x="4913376" y="4956048"/>
            <a:ext cx="28651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Next owner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The buyer who clears the hold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truct.op.2.rule"/>
          <p:cNvSpPr/>
          <p:nvPr/>
        </p:nvSpPr>
        <p:spPr>
          <a:xfrm>
            <a:off x="4328160" y="5788152"/>
            <a:ext cx="3596640" cy="914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" name="slot.op.2.never"/>
          <p:cNvSpPr txBox="1"/>
          <p:nvPr/>
        </p:nvSpPr>
        <p:spPr>
          <a:xfrm>
            <a:off x="4328160" y="5870448"/>
            <a:ext cx="3596640" cy="347472"/>
          </a:xfrm>
          <a:prstGeom prst="rect">
            <a:avLst/>
          </a:prstGeom>
          <a:noFill/>
          <a:effectLst/>
        </p:spPr>
        <p:txBody>
          <a:bodyPr wrap="square" lIns="0" rIns="0" t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Never: a rule rewritten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struct.op.3.disc"/>
          <p:cNvSpPr/>
          <p:nvPr/>
        </p:nvSpPr>
        <p:spPr>
          <a:xfrm>
            <a:off x="8345424" y="905256"/>
            <a:ext cx="347472" cy="34747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5" name="slot.op.3.num"/>
          <p:cNvSpPr txBox="1"/>
          <p:nvPr/>
        </p:nvSpPr>
        <p:spPr>
          <a:xfrm>
            <a:off x="8345424" y="905256"/>
            <a:ext cx="347472" cy="347472"/>
          </a:xfrm>
          <a:prstGeom prst="rect">
            <a:avLst/>
          </a:prstGeom>
          <a:noFill/>
          <a:effectLst/>
        </p:spPr>
        <p:txBody>
          <a:bodyPr wrap="square" lIns="0" rIns="0" t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3</a:t>
            </a:r>
            <a:endParaRPr lang="en-US" sz="13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slot.op.3.verb"/>
          <p:cNvSpPr txBox="1"/>
          <p:nvPr/>
        </p:nvSpPr>
        <p:spPr>
          <a:xfrm>
            <a:off x="8802624" y="777240"/>
            <a:ext cx="2407920" cy="603504"/>
          </a:xfrm>
          <a:prstGeom prst="rect">
            <a:avLst/>
          </a:prstGeom>
          <a:noFill/>
          <a:effectLst/>
        </p:spPr>
        <p:txBody>
          <a:bodyPr wrap="square" lIns="0" rIns="0" t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Post</a:t>
            </a:r>
            <a:endParaRPr lang="en-US" sz="1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slot.op.3.purpose"/>
          <p:cNvSpPr txBox="1"/>
          <p:nvPr/>
        </p:nvSpPr>
        <p:spPr>
          <a:xfrm>
            <a:off x="8199120" y="1481328"/>
            <a:ext cx="3596640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Write the approved match to the ledger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truct.op.3.in"/>
          <p:cNvSpPr/>
          <p:nvPr/>
        </p:nvSpPr>
        <p:spPr>
          <a:xfrm>
            <a:off x="8199120" y="1883664"/>
            <a:ext cx="3596640" cy="1188720"/>
          </a:xfrm>
          <a:prstGeom prst="roundRect">
            <a:avLst>
              <a:gd name="adj" fmla="val 3846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" name="slot.op.3.in.label"/>
          <p:cNvSpPr txBox="1"/>
          <p:nvPr/>
        </p:nvSpPr>
        <p:spPr>
          <a:xfrm>
            <a:off x="8345424" y="1993392"/>
            <a:ext cx="914400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In</a:t>
            </a:r>
            <a:endParaRPr lang="en-US" sz="1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slot.op.3.in.text"/>
          <p:cNvSpPr txBox="1"/>
          <p:nvPr/>
        </p:nvSpPr>
        <p:spPr>
          <a:xfrm>
            <a:off x="8345424" y="2249424"/>
            <a:ext cx="3304032" cy="731520"/>
          </a:xfrm>
          <a:prstGeom prst="rect">
            <a:avLst/>
          </a:prstGeom>
          <a:noFill/>
          <a:effectLst/>
        </p:spPr>
        <p:txBody>
          <a:bodyPr wrap="square" lIns="0" rIns="0" t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An approved match and its sign-off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The target ledger and period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approver for each invoice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truct.op.3.out"/>
          <p:cNvSpPr/>
          <p:nvPr/>
        </p:nvSpPr>
        <p:spPr>
          <a:xfrm>
            <a:off x="8199120" y="3182112"/>
            <a:ext cx="3596640" cy="2468880"/>
          </a:xfrm>
          <a:prstGeom prst="roundRect">
            <a:avLst>
              <a:gd name="adj" fmla="val 1852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" name="slot.op.3.out.label"/>
          <p:cNvSpPr txBox="1"/>
          <p:nvPr/>
        </p:nvSpPr>
        <p:spPr>
          <a:xfrm>
            <a:off x="8345424" y="3291840"/>
            <a:ext cx="914400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Out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slot.op.3.out.1"/>
          <p:cNvSpPr txBox="1"/>
          <p:nvPr/>
        </p:nvSpPr>
        <p:spPr>
          <a:xfrm>
            <a:off x="8784336" y="3602736"/>
            <a:ext cx="28651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Ledger entry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Posted once, with its journal id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slot.op.3.out.2"/>
          <p:cNvSpPr txBox="1"/>
          <p:nvPr/>
        </p:nvSpPr>
        <p:spPr>
          <a:xfrm>
            <a:off x="8784336" y="4279392"/>
            <a:ext cx="28651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Audit record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Who approved it, and when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lot.op.3.out.3"/>
          <p:cNvSpPr txBox="1"/>
          <p:nvPr/>
        </p:nvSpPr>
        <p:spPr>
          <a:xfrm>
            <a:off x="8784336" y="4956048"/>
            <a:ext cx="28651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Reversal key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The undo path in the same period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struct.op.3.rule"/>
          <p:cNvSpPr/>
          <p:nvPr/>
        </p:nvSpPr>
        <p:spPr>
          <a:xfrm>
            <a:off x="8199120" y="5788152"/>
            <a:ext cx="3596640" cy="914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" name="slot.op.3.never"/>
          <p:cNvSpPr txBox="1"/>
          <p:nvPr/>
        </p:nvSpPr>
        <p:spPr>
          <a:xfrm>
            <a:off x="8199120" y="5870448"/>
            <a:ext cx="3596640" cy="347472"/>
          </a:xfrm>
          <a:prstGeom prst="rect">
            <a:avLst/>
          </a:prstGeom>
          <a:noFill/>
          <a:effectLst/>
        </p:spPr>
        <p:txBody>
          <a:bodyPr wrap="square" lIns="0" rIns="0" t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Never: a second posting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slot.op.1.icon"/>
          <p:cNvSpPr/>
          <p:nvPr/>
        </p:nvSpPr>
        <p:spPr>
          <a:xfrm>
            <a:off x="3578352" y="92354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7000"/>
                </a:move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lnTo>
                  <a:pt x="7000" y="3000"/>
                </a:lnTo>
                <a:moveTo>
                  <a:pt x="17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7000"/>
                </a:lnTo>
                <a:moveTo>
                  <a:pt x="21000" y="17000"/>
                </a:move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7000" y="21000"/>
                </a:lnTo>
                <a:moveTo>
                  <a:pt x="7000" y="21000"/>
                </a:move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17000"/>
                </a:lnTo>
                <a:moveTo>
                  <a:pt x="15000" y="12000"/>
                </a:moveTo>
                <a:cubicBezTo>
                  <a:pt x="15000" y="13657"/>
                  <a:pt x="13657" y="15000"/>
                  <a:pt x="12000" y="15000"/>
                </a:cubicBezTo>
                <a:cubicBezTo>
                  <a:pt x="10343" y="15000"/>
                  <a:pt x="9000" y="13657"/>
                  <a:pt x="9000" y="12000"/>
                </a:cubicBezTo>
                <a:cubicBezTo>
                  <a:pt x="9000" y="10343"/>
                  <a:pt x="10343" y="9000"/>
                  <a:pt x="12000" y="9000"/>
                </a:cubicBezTo>
                <a:cubicBezTo>
                  <a:pt x="13657" y="9000"/>
                  <a:pt x="15000" y="10343"/>
                  <a:pt x="15000" y="12000"/>
                </a:cubicBezTo>
                <a:close/>
                <a:moveTo>
                  <a:pt x="16000" y="16000"/>
                </a:moveTo>
                <a:lnTo>
                  <a:pt x="14100" y="14100"/>
                </a:lnTo>
              </a:path>
            </a:pathLst>
          </a:custGeom>
          <a:noFill/>
          <a:ln w="26035" cap="rnd">
            <a:solidFill>
              <a:schemeClr val="bg1"/>
            </a:solidFill>
            <a:round/>
          </a:ln>
          <a:effectLst/>
        </p:spPr>
      </p:sp>
      <p:sp>
        <p:nvSpPr>
          <p:cNvPr id="49" name="slot.op.1.out.1.icon"/>
          <p:cNvSpPr/>
          <p:nvPr/>
        </p:nvSpPr>
        <p:spPr>
          <a:xfrm>
            <a:off x="621792" y="3657600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24130" cap="rnd">
            <a:solidFill>
              <a:schemeClr val="accent1">
                <a:lumMod val="50000"/>
                <a:lumOff val="50000"/>
              </a:schemeClr>
            </a:solidFill>
            <a:round/>
          </a:ln>
          <a:effectLst/>
        </p:spPr>
      </p:sp>
      <p:sp>
        <p:nvSpPr>
          <p:cNvPr id="50" name="slot.op.1.out.2.icon"/>
          <p:cNvSpPr/>
          <p:nvPr/>
        </p:nvSpPr>
        <p:spPr>
          <a:xfrm>
            <a:off x="621792" y="433425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22000"/>
                </a:moveTo>
                <a:lnTo>
                  <a:pt x="12000" y="12000"/>
                </a:lnTo>
                <a:moveTo>
                  <a:pt x="16000" y="17000"/>
                </a:moveTo>
                <a:lnTo>
                  <a:pt x="18000" y="19000"/>
                </a:lnTo>
                <a:lnTo>
                  <a:pt x="22000" y="15000"/>
                </a:lnTo>
                <a:moveTo>
                  <a:pt x="21000" y="11127"/>
                </a:moveTo>
                <a:lnTo>
                  <a:pt x="21000" y="8000"/>
                </a:lnTo>
                <a:cubicBezTo>
                  <a:pt x="20999" y="7286"/>
                  <a:pt x="20618" y="6627"/>
                  <a:pt x="20000" y="6270"/>
                </a:cubicBezTo>
                <a:lnTo>
                  <a:pt x="13000" y="2270"/>
                </a:lnTo>
                <a:cubicBezTo>
                  <a:pt x="12381" y="1913"/>
                  <a:pt x="11619" y="1913"/>
                  <a:pt x="11000" y="2270"/>
                </a:cubicBezTo>
                <a:lnTo>
                  <a:pt x="4000" y="6270"/>
                </a:lnTo>
                <a:cubicBezTo>
                  <a:pt x="3382" y="6627"/>
                  <a:pt x="3001" y="7286"/>
                  <a:pt x="3000" y="8000"/>
                </a:cubicBezTo>
                <a:lnTo>
                  <a:pt x="3000" y="16000"/>
                </a:lnTo>
                <a:cubicBezTo>
                  <a:pt x="3001" y="16713"/>
                  <a:pt x="3382" y="17372"/>
                  <a:pt x="4000" y="17729"/>
                </a:cubicBezTo>
                <a:lnTo>
                  <a:pt x="11000" y="21729"/>
                </a:lnTo>
                <a:cubicBezTo>
                  <a:pt x="11619" y="22087"/>
                  <a:pt x="12381" y="22087"/>
                  <a:pt x="13000" y="21730"/>
                </a:cubicBezTo>
                <a:lnTo>
                  <a:pt x="14320" y="20977"/>
                </a:lnTo>
                <a:moveTo>
                  <a:pt x="3290" y="7000"/>
                </a:moveTo>
                <a:lnTo>
                  <a:pt x="12000" y="12000"/>
                </a:lnTo>
                <a:lnTo>
                  <a:pt x="20710" y="7000"/>
                </a:lnTo>
                <a:moveTo>
                  <a:pt x="7500" y="4270"/>
                </a:moveTo>
                <a:lnTo>
                  <a:pt x="16497" y="9418"/>
                </a:lnTo>
              </a:path>
            </a:pathLst>
          </a:custGeom>
          <a:noFill/>
          <a:ln w="24130" cap="rnd">
            <a:solidFill>
              <a:schemeClr val="accent1">
                <a:lumMod val="50000"/>
                <a:lumOff val="50000"/>
              </a:schemeClr>
            </a:solidFill>
            <a:round/>
          </a:ln>
          <a:effectLst/>
        </p:spPr>
      </p:sp>
      <p:sp>
        <p:nvSpPr>
          <p:cNvPr id="51" name="slot.op.1.out.3.icon"/>
          <p:cNvSpPr/>
          <p:nvPr/>
        </p:nvSpPr>
        <p:spPr>
          <a:xfrm>
            <a:off x="621792" y="5010912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24130" cap="rnd">
            <a:solidFill>
              <a:schemeClr val="accent1">
                <a:lumMod val="50000"/>
                <a:lumOff val="50000"/>
              </a:schemeClr>
            </a:solidFill>
            <a:round/>
          </a:ln>
          <a:effectLst/>
        </p:spPr>
      </p:sp>
      <p:sp>
        <p:nvSpPr>
          <p:cNvPr id="52" name="slot.op.2.icon"/>
          <p:cNvSpPr/>
          <p:nvPr/>
        </p:nvSpPr>
        <p:spPr>
          <a:xfrm>
            <a:off x="7449312" y="92354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7000"/>
                </a:moveTo>
                <a:cubicBezTo>
                  <a:pt x="22000" y="18105"/>
                  <a:pt x="21105" y="19000"/>
                  <a:pt x="20000" y="19000"/>
                </a:cubicBezTo>
                <a:lnTo>
                  <a:pt x="6828" y="19000"/>
                </a:lnTo>
                <a:cubicBezTo>
                  <a:pt x="6298" y="19000"/>
                  <a:pt x="5789" y="19211"/>
                  <a:pt x="5414" y="19586"/>
                </a:cubicBezTo>
                <a:lnTo>
                  <a:pt x="3212" y="21788"/>
                </a:lnTo>
                <a:cubicBezTo>
                  <a:pt x="3009" y="21991"/>
                  <a:pt x="2704" y="22052"/>
                  <a:pt x="2438" y="21942"/>
                </a:cubicBezTo>
                <a:cubicBezTo>
                  <a:pt x="2173" y="21832"/>
                  <a:pt x="2000" y="21573"/>
                  <a:pt x="2000" y="21286"/>
                </a:cubicBezTo>
                <a:lnTo>
                  <a:pt x="2000" y="5000"/>
                </a:lnTo>
                <a:cubicBezTo>
                  <a:pt x="2000" y="3895"/>
                  <a:pt x="2895" y="3000"/>
                  <a:pt x="4000" y="3000"/>
                </a:cubicBezTo>
                <a:lnTo>
                  <a:pt x="20000" y="3000"/>
                </a:lnTo>
                <a:cubicBezTo>
                  <a:pt x="21105" y="3000"/>
                  <a:pt x="22000" y="3895"/>
                  <a:pt x="22000" y="5000"/>
                </a:cubicBezTo>
                <a:close/>
              </a:path>
            </a:pathLst>
          </a:custGeom>
          <a:noFill/>
          <a:ln w="26035" cap="rnd">
            <a:solidFill>
              <a:schemeClr val="bg1"/>
            </a:solidFill>
            <a:round/>
          </a:ln>
          <a:effectLst/>
        </p:spPr>
      </p:sp>
      <p:sp>
        <p:nvSpPr>
          <p:cNvPr id="53" name="slot.op.2.out.1.icon"/>
          <p:cNvSpPr/>
          <p:nvPr/>
        </p:nvSpPr>
        <p:spPr>
          <a:xfrm>
            <a:off x="4492752" y="3657600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000" y="5000"/>
                </a:moveTo>
                <a:lnTo>
                  <a:pt x="21000" y="5000"/>
                </a:lnTo>
                <a:moveTo>
                  <a:pt x="13000" y="12000"/>
                </a:moveTo>
                <a:lnTo>
                  <a:pt x="21000" y="12000"/>
                </a:lnTo>
                <a:moveTo>
                  <a:pt x="13000" y="19000"/>
                </a:moveTo>
                <a:lnTo>
                  <a:pt x="21000" y="19000"/>
                </a:lnTo>
                <a:moveTo>
                  <a:pt x="3000" y="17000"/>
                </a:moveTo>
                <a:lnTo>
                  <a:pt x="5000" y="19000"/>
                </a:lnTo>
                <a:lnTo>
                  <a:pt x="9000" y="15000"/>
                </a:lnTo>
                <a:moveTo>
                  <a:pt x="3000" y="7000"/>
                </a:moveTo>
                <a:lnTo>
                  <a:pt x="5000" y="9000"/>
                </a:lnTo>
                <a:lnTo>
                  <a:pt x="9000" y="5000"/>
                </a:lnTo>
              </a:path>
            </a:pathLst>
          </a:custGeom>
          <a:noFill/>
          <a:ln w="24130" cap="rnd">
            <a:solidFill>
              <a:schemeClr val="accent1">
                <a:lumMod val="50000"/>
                <a:lumOff val="50000"/>
              </a:schemeClr>
            </a:solidFill>
            <a:round/>
          </a:ln>
          <a:effectLst/>
        </p:spPr>
      </p:sp>
      <p:sp>
        <p:nvSpPr>
          <p:cNvPr id="54" name="slot.op.2.out.2.icon"/>
          <p:cNvSpPr/>
          <p:nvPr/>
        </p:nvSpPr>
        <p:spPr>
          <a:xfrm>
            <a:off x="4492752" y="433425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730" y="18000"/>
                </a:moveTo>
                <a:lnTo>
                  <a:pt x="13730" y="4000"/>
                </a:lnTo>
                <a:cubicBezTo>
                  <a:pt x="13375" y="3373"/>
                  <a:pt x="12710" y="2986"/>
                  <a:pt x="11990" y="2986"/>
                </a:cubicBezTo>
                <a:cubicBezTo>
                  <a:pt x="11270" y="2986"/>
                  <a:pt x="10605" y="3373"/>
                  <a:pt x="10250" y="4000"/>
                </a:cubicBezTo>
                <a:lnTo>
                  <a:pt x="2250" y="18000"/>
                </a:lnTo>
                <a:cubicBezTo>
                  <a:pt x="1891" y="18622"/>
                  <a:pt x="1893" y="19388"/>
                  <a:pt x="2254" y="20008"/>
                </a:cubicBezTo>
                <a:cubicBezTo>
                  <a:pt x="2616" y="20628"/>
                  <a:pt x="3282" y="21006"/>
                  <a:pt x="4000" y="21000"/>
                </a:cubicBezTo>
                <a:lnTo>
                  <a:pt x="20000" y="21000"/>
                </a:lnTo>
                <a:cubicBezTo>
                  <a:pt x="20714" y="20999"/>
                  <a:pt x="21374" y="20618"/>
                  <a:pt x="21731" y="19999"/>
                </a:cubicBezTo>
                <a:cubicBezTo>
                  <a:pt x="22087" y="19380"/>
                  <a:pt x="22087" y="18618"/>
                  <a:pt x="21730" y="18000"/>
                </a:cubicBezTo>
                <a:moveTo>
                  <a:pt x="12000" y="9000"/>
                </a:moveTo>
                <a:lnTo>
                  <a:pt x="12000" y="13000"/>
                </a:lnTo>
                <a:moveTo>
                  <a:pt x="12000" y="17000"/>
                </a:moveTo>
                <a:lnTo>
                  <a:pt x="12010" y="17000"/>
                </a:lnTo>
              </a:path>
            </a:pathLst>
          </a:custGeom>
          <a:noFill/>
          <a:ln w="24130" cap="rnd">
            <a:solidFill>
              <a:schemeClr val="accent1">
                <a:lumMod val="50000"/>
                <a:lumOff val="50000"/>
              </a:schemeClr>
            </a:solidFill>
            <a:round/>
          </a:ln>
          <a:effectLst/>
        </p:spPr>
      </p:sp>
      <p:sp>
        <p:nvSpPr>
          <p:cNvPr id="55" name="slot.op.2.out.3.icon"/>
          <p:cNvSpPr/>
          <p:nvPr/>
        </p:nvSpPr>
        <p:spPr>
          <a:xfrm>
            <a:off x="4492752" y="5010912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24130" cap="rnd">
            <a:solidFill>
              <a:schemeClr val="accent1">
                <a:lumMod val="50000"/>
                <a:lumOff val="50000"/>
              </a:schemeClr>
            </a:solidFill>
            <a:round/>
          </a:ln>
          <a:effectLst/>
        </p:spPr>
      </p:sp>
      <p:sp>
        <p:nvSpPr>
          <p:cNvPr id="56" name="slot.op.3.icon"/>
          <p:cNvSpPr/>
          <p:nvPr/>
        </p:nvSpPr>
        <p:spPr>
          <a:xfrm>
            <a:off x="11320272" y="92354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26035" cap="rnd">
            <a:solidFill>
              <a:schemeClr val="bg1"/>
            </a:solidFill>
            <a:round/>
          </a:ln>
          <a:effectLst/>
        </p:spPr>
      </p:sp>
      <p:sp>
        <p:nvSpPr>
          <p:cNvPr id="57" name="slot.op.3.out.1.icon"/>
          <p:cNvSpPr/>
          <p:nvPr/>
        </p:nvSpPr>
        <p:spPr>
          <a:xfrm>
            <a:off x="8363712" y="3657600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7000"/>
                </a:moveTo>
                <a:lnTo>
                  <a:pt x="12000" y="7000"/>
                </a:lnTo>
                <a:moveTo>
                  <a:pt x="16000" y="8000"/>
                </a:moveTo>
                <a:lnTo>
                  <a:pt x="10000" y="8000"/>
                </a:lnTo>
                <a:cubicBezTo>
                  <a:pt x="8895" y="8000"/>
                  <a:pt x="8000" y="8895"/>
                  <a:pt x="8000" y="10000"/>
                </a:cubicBezTo>
                <a:cubicBezTo>
                  <a:pt x="8000" y="11105"/>
                  <a:pt x="8895" y="12000"/>
                  <a:pt x="10000" y="12000"/>
                </a:cubicBezTo>
                <a:lnTo>
                  <a:pt x="14000" y="12000"/>
                </a:lnTo>
                <a:cubicBezTo>
                  <a:pt x="15105" y="12000"/>
                  <a:pt x="16000" y="12895"/>
                  <a:pt x="16000" y="14000"/>
                </a:cubicBezTo>
                <a:cubicBezTo>
                  <a:pt x="16000" y="15105"/>
                  <a:pt x="15105" y="16000"/>
                  <a:pt x="14000" y="16000"/>
                </a:cubicBezTo>
                <a:lnTo>
                  <a:pt x="8000" y="16000"/>
                </a:lnTo>
                <a:moveTo>
                  <a:pt x="4000" y="3000"/>
                </a:moveTo>
                <a:cubicBezTo>
                  <a:pt x="4000" y="2448"/>
                  <a:pt x="4448" y="2000"/>
                  <a:pt x="5000" y="2000"/>
                </a:cubicBezTo>
                <a:cubicBezTo>
                  <a:pt x="5248" y="1999"/>
                  <a:pt x="5490" y="2068"/>
                  <a:pt x="5700" y="2200"/>
                </a:cubicBezTo>
                <a:lnTo>
                  <a:pt x="6633" y="2800"/>
                </a:lnTo>
                <a:cubicBezTo>
                  <a:pt x="7060" y="3073"/>
                  <a:pt x="7606" y="3073"/>
                  <a:pt x="8033" y="2800"/>
                </a:cubicBezTo>
                <a:lnTo>
                  <a:pt x="8967" y="2200"/>
                </a:lnTo>
                <a:cubicBezTo>
                  <a:pt x="9394" y="1927"/>
                  <a:pt x="9940" y="1927"/>
                  <a:pt x="10367" y="2200"/>
                </a:cubicBezTo>
                <a:lnTo>
                  <a:pt x="11300" y="2800"/>
                </a:lnTo>
                <a:cubicBezTo>
                  <a:pt x="11727" y="3073"/>
                  <a:pt x="12273" y="3073"/>
                  <a:pt x="12700" y="2800"/>
                </a:cubicBezTo>
                <a:lnTo>
                  <a:pt x="13633" y="2200"/>
                </a:lnTo>
                <a:cubicBezTo>
                  <a:pt x="14060" y="1927"/>
                  <a:pt x="14606" y="1927"/>
                  <a:pt x="15033" y="2200"/>
                </a:cubicBezTo>
                <a:lnTo>
                  <a:pt x="15967" y="2800"/>
                </a:lnTo>
                <a:cubicBezTo>
                  <a:pt x="16394" y="3073"/>
                  <a:pt x="16940" y="3073"/>
                  <a:pt x="17367" y="2800"/>
                </a:cubicBezTo>
                <a:lnTo>
                  <a:pt x="18300" y="2200"/>
                </a:lnTo>
                <a:cubicBezTo>
                  <a:pt x="18510" y="2068"/>
                  <a:pt x="18752" y="1999"/>
                  <a:pt x="19000" y="2000"/>
                </a:cubicBezTo>
                <a:cubicBezTo>
                  <a:pt x="19552" y="2000"/>
                  <a:pt x="20000" y="2448"/>
                  <a:pt x="20000" y="3000"/>
                </a:cubicBezTo>
                <a:lnTo>
                  <a:pt x="20000" y="21000"/>
                </a:lnTo>
                <a:cubicBezTo>
                  <a:pt x="20000" y="21552"/>
                  <a:pt x="19552" y="22000"/>
                  <a:pt x="19000" y="22000"/>
                </a:cubicBezTo>
                <a:cubicBezTo>
                  <a:pt x="18752" y="22001"/>
                  <a:pt x="18510" y="21932"/>
                  <a:pt x="18300" y="21800"/>
                </a:cubicBezTo>
                <a:lnTo>
                  <a:pt x="17367" y="21200"/>
                </a:lnTo>
                <a:cubicBezTo>
                  <a:pt x="16940" y="20927"/>
                  <a:pt x="16394" y="20927"/>
                  <a:pt x="15967" y="21200"/>
                </a:cubicBezTo>
                <a:lnTo>
                  <a:pt x="15033" y="21800"/>
                </a:lnTo>
                <a:cubicBezTo>
                  <a:pt x="14606" y="22073"/>
                  <a:pt x="14060" y="22073"/>
                  <a:pt x="13633" y="21800"/>
                </a:cubicBezTo>
                <a:lnTo>
                  <a:pt x="12700" y="21200"/>
                </a:lnTo>
                <a:cubicBezTo>
                  <a:pt x="12273" y="20927"/>
                  <a:pt x="11727" y="20927"/>
                  <a:pt x="11300" y="21200"/>
                </a:cubicBezTo>
                <a:lnTo>
                  <a:pt x="10367" y="21800"/>
                </a:lnTo>
                <a:cubicBezTo>
                  <a:pt x="9940" y="22073"/>
                  <a:pt x="9394" y="22073"/>
                  <a:pt x="8967" y="21800"/>
                </a:cubicBezTo>
                <a:lnTo>
                  <a:pt x="8033" y="21200"/>
                </a:lnTo>
                <a:cubicBezTo>
                  <a:pt x="7606" y="20927"/>
                  <a:pt x="7060" y="20927"/>
                  <a:pt x="6633" y="21200"/>
                </a:cubicBezTo>
                <a:lnTo>
                  <a:pt x="5700" y="21800"/>
                </a:lnTo>
                <a:cubicBezTo>
                  <a:pt x="5490" y="21932"/>
                  <a:pt x="5248" y="22001"/>
                  <a:pt x="5000" y="22000"/>
                </a:cubicBezTo>
                <a:cubicBezTo>
                  <a:pt x="4448" y="22000"/>
                  <a:pt x="4000" y="21552"/>
                  <a:pt x="4000" y="21000"/>
                </a:cubicBezTo>
                <a:close/>
              </a:path>
            </a:pathLst>
          </a:custGeom>
          <a:noFill/>
          <a:ln w="24130" cap="rnd">
            <a:solidFill>
              <a:schemeClr val="accent1">
                <a:lumMod val="50000"/>
                <a:lumOff val="50000"/>
              </a:schemeClr>
            </a:solidFill>
            <a:round/>
          </a:ln>
          <a:effectLst/>
        </p:spPr>
      </p:sp>
      <p:sp>
        <p:nvSpPr>
          <p:cNvPr id="58" name="slot.op.3.out.2.icon"/>
          <p:cNvSpPr/>
          <p:nvPr/>
        </p:nvSpPr>
        <p:spPr>
          <a:xfrm>
            <a:off x="8363712" y="433425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2000"/>
                </a:moveTo>
                <a:lnTo>
                  <a:pt x="15000" y="2000"/>
                </a:lnTo>
                <a:cubicBezTo>
                  <a:pt x="15552" y="2000"/>
                  <a:pt x="16000" y="2448"/>
                  <a:pt x="16000" y="3000"/>
                </a:cubicBezTo>
                <a:lnTo>
                  <a:pt x="16000" y="5000"/>
                </a:lnTo>
                <a:cubicBezTo>
                  <a:pt x="16000" y="5552"/>
                  <a:pt x="15552" y="6000"/>
                  <a:pt x="15000" y="6000"/>
                </a:cubicBezTo>
                <a:lnTo>
                  <a:pt x="9000" y="6000"/>
                </a:lnTo>
                <a:cubicBezTo>
                  <a:pt x="8448" y="6000"/>
                  <a:pt x="8000" y="5552"/>
                  <a:pt x="8000" y="5000"/>
                </a:cubicBezTo>
                <a:lnTo>
                  <a:pt x="8000" y="3000"/>
                </a:lnTo>
                <a:cubicBezTo>
                  <a:pt x="8000" y="2448"/>
                  <a:pt x="8448" y="2000"/>
                  <a:pt x="9000" y="2000"/>
                </a:cubicBezTo>
                <a:close/>
                <a:moveTo>
                  <a:pt x="16000" y="4000"/>
                </a:moveTo>
                <a:lnTo>
                  <a:pt x="18000" y="4000"/>
                </a:lnTo>
                <a:cubicBezTo>
                  <a:pt x="19105" y="4000"/>
                  <a:pt x="20000" y="4895"/>
                  <a:pt x="20000" y="6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lnTo>
                  <a:pt x="6000" y="22000"/>
                </a:lnTo>
                <a:cubicBezTo>
                  <a:pt x="4895" y="22000"/>
                  <a:pt x="4000" y="21105"/>
                  <a:pt x="4000" y="20000"/>
                </a:cubicBezTo>
                <a:lnTo>
                  <a:pt x="4000" y="6000"/>
                </a:lnTo>
                <a:cubicBezTo>
                  <a:pt x="4000" y="4895"/>
                  <a:pt x="4895" y="4000"/>
                  <a:pt x="6000" y="4000"/>
                </a:cubicBezTo>
                <a:lnTo>
                  <a:pt x="8000" y="4000"/>
                </a:lnTo>
                <a:moveTo>
                  <a:pt x="9000" y="14000"/>
                </a:moveTo>
                <a:lnTo>
                  <a:pt x="11000" y="16000"/>
                </a:lnTo>
                <a:lnTo>
                  <a:pt x="15000" y="12000"/>
                </a:lnTo>
              </a:path>
            </a:pathLst>
          </a:custGeom>
          <a:noFill/>
          <a:ln w="24130" cap="rnd">
            <a:solidFill>
              <a:schemeClr val="accent1">
                <a:lumMod val="50000"/>
                <a:lumOff val="50000"/>
              </a:schemeClr>
            </a:solidFill>
            <a:round/>
          </a:ln>
          <a:effectLst/>
        </p:spPr>
      </p:sp>
      <p:sp>
        <p:nvSpPr>
          <p:cNvPr id="59" name="slot.op.3.out.3.icon"/>
          <p:cNvSpPr/>
          <p:nvPr/>
        </p:nvSpPr>
        <p:spPr>
          <a:xfrm>
            <a:off x="8363712" y="5010912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12000"/>
                </a:moveTo>
                <a:cubicBezTo>
                  <a:pt x="3000" y="16971"/>
                  <a:pt x="7029" y="21000"/>
                  <a:pt x="12000" y="21000"/>
                </a:cubicBezTo>
                <a:cubicBezTo>
                  <a:pt x="16971" y="21000"/>
                  <a:pt x="21000" y="16971"/>
                  <a:pt x="21000" y="12000"/>
                </a:cubicBezTo>
                <a:cubicBezTo>
                  <a:pt x="21000" y="7029"/>
                  <a:pt x="16971" y="3000"/>
                  <a:pt x="12000" y="3000"/>
                </a:cubicBezTo>
                <a:cubicBezTo>
                  <a:pt x="9484" y="3009"/>
                  <a:pt x="7069" y="3991"/>
                  <a:pt x="5260" y="5740"/>
                </a:cubicBezTo>
                <a:lnTo>
                  <a:pt x="3000" y="8000"/>
                </a:lnTo>
                <a:moveTo>
                  <a:pt x="3000" y="3000"/>
                </a:moveTo>
                <a:lnTo>
                  <a:pt x="3000" y="8000"/>
                </a:lnTo>
                <a:lnTo>
                  <a:pt x="8000" y="8000"/>
                </a:lnTo>
              </a:path>
            </a:pathLst>
          </a:custGeom>
          <a:noFill/>
          <a:ln w="24130" cap="rnd">
            <a:solidFill>
              <a:schemeClr val="accent1">
                <a:lumMod val="50000"/>
                <a:lumOff val="50000"/>
              </a:schemeClr>
            </a:solidFill>
            <a:round/>
          </a:ln>
          <a:effectLst/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overage-matrix:lane-phase-matrix">
    <p:spTree>
      <p:nvGrpSpPr>
        <p:cNvPr id="1" name=""/>
        <p:cNvGrpSpPr/>
        <p:nvPr/>
      </p:nvGrpSpPr>
      <p:grpSpPr/>
      <p:sp>
        <p:nvSpPr>
          <p:cNvPr id="2" name="slot.title"/>
          <p:cNvSpPr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Six workstreams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carry the margin case, each with a figure and a window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ot.head.lane"/>
          <p:cNvSpPr/>
          <p:nvPr/>
        </p:nvSpPr>
        <p:spPr>
          <a:xfrm>
            <a:off x="585216" y="841248"/>
            <a:ext cx="1810512" cy="256032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Lane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ot.head.lever"/>
          <p:cNvSpPr/>
          <p:nvPr/>
        </p:nvSpPr>
        <p:spPr>
          <a:xfrm>
            <a:off x="2542032" y="841248"/>
            <a:ext cx="2999232" cy="256032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Lever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lot.head.figure"/>
          <p:cNvSpPr/>
          <p:nvPr/>
        </p:nvSpPr>
        <p:spPr>
          <a:xfrm>
            <a:off x="5669280" y="841248"/>
            <a:ext cx="1316736" cy="256032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Target figures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ot.head.measure"/>
          <p:cNvSpPr/>
          <p:nvPr/>
        </p:nvSpPr>
        <p:spPr>
          <a:xfrm>
            <a:off x="7114032" y="841248"/>
            <a:ext cx="2798064" cy="256032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Measured by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lot.head.phase.1"/>
          <p:cNvSpPr/>
          <p:nvPr/>
        </p:nvSpPr>
        <p:spPr>
          <a:xfrm>
            <a:off x="10003536" y="841248"/>
            <a:ext cx="585216" cy="256032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Phase 1</a:t>
            </a:r>
            <a:endParaRPr lang="en-US" sz="9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lot.head.phase.2"/>
          <p:cNvSpPr/>
          <p:nvPr/>
        </p:nvSpPr>
        <p:spPr>
          <a:xfrm>
            <a:off x="10588752" y="841248"/>
            <a:ext cx="585216" cy="256032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Phase 2</a:t>
            </a:r>
            <a:endParaRPr lang="en-US" sz="9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slot.head.phase.3"/>
          <p:cNvSpPr/>
          <p:nvPr/>
        </p:nvSpPr>
        <p:spPr>
          <a:xfrm>
            <a:off x="11173968" y="841248"/>
            <a:ext cx="585216" cy="256032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Phase 3</a:t>
            </a:r>
            <a:endParaRPr lang="en-US" sz="9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truct.head.rule"/>
          <p:cNvSpPr/>
          <p:nvPr/>
        </p:nvSpPr>
        <p:spPr>
          <a:xfrm>
            <a:off x="457200" y="1133856"/>
            <a:ext cx="11338560" cy="0"/>
          </a:xfrm>
          <a:prstGeom prst="line">
            <a:avLst/>
          </a:prstGeom>
          <a:noFill/>
          <a:ln w="9525">
            <a:solidFill>
              <a:schemeClr val="accent1">
                <a:lumMod val="10000"/>
                <a:lumOff val="90000"/>
              </a:schemeClr>
            </a:solidFill>
            <a:prstDash val="solid"/>
          </a:ln>
          <a:effectLst/>
        </p:spPr>
        <p:txBody>
          <a:bodyPr>
            <a:noAutofit/>
          </a:bodyPr>
          <a:lstStyle/>
          <a:p>
            <a:endParaRPr lang="en-IN"/>
          </a:p>
        </p:txBody>
      </p:sp>
      <p:sp>
        <p:nvSpPr>
          <p:cNvPr id="11" name="struct.row.1"/>
          <p:cNvSpPr/>
          <p:nvPr/>
        </p:nvSpPr>
        <p:spPr>
          <a:xfrm>
            <a:off x="457200" y="1207008"/>
            <a:ext cx="11338560" cy="64008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>
            <a:noAutofit/>
          </a:bodyPr>
          <a:lstStyle/>
          <a:p>
            <a:endParaRPr lang="en-IN"/>
          </a:p>
        </p:txBody>
      </p:sp>
      <p:sp>
        <p:nvSpPr>
          <p:cNvPr id="12" name="struct.row.1.block"/>
          <p:cNvSpPr/>
          <p:nvPr/>
        </p:nvSpPr>
        <p:spPr>
          <a:xfrm>
            <a:off x="457200" y="1207008"/>
            <a:ext cx="1938528" cy="640080"/>
          </a:xfrm>
          <a:prstGeom prst="roundRect">
            <a:avLst>
              <a:gd name="adj" fmla="val 714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>
            <a:noAutofit/>
          </a:bodyPr>
          <a:lstStyle/>
          <a:p>
            <a:endParaRPr lang="en-IN"/>
          </a:p>
        </p:txBody>
      </p:sp>
      <p:sp>
        <p:nvSpPr>
          <p:cNvPr id="13" name="slot.row.1.lane"/>
          <p:cNvSpPr/>
          <p:nvPr/>
        </p:nvSpPr>
        <p:spPr>
          <a:xfrm>
            <a:off x="1005840" y="1207008"/>
            <a:ext cx="1335024" cy="64008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Data foundation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slot.row.1.lever"/>
          <p:cNvSpPr/>
          <p:nvPr/>
        </p:nvSpPr>
        <p:spPr>
          <a:xfrm>
            <a:off x="2542032" y="1207008"/>
            <a:ext cx="2999232" cy="64008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Contracted source feeds, with schema drift stopped at intake</a:t>
            </a:r>
            <a:endParaRPr lang="en-US" sz="11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lot.row.1.measure"/>
          <p:cNvSpPr/>
          <p:nvPr/>
        </p:nvSpPr>
        <p:spPr>
          <a:xfrm>
            <a:off x="7114032" y="1207008"/>
            <a:ext cx="2798064" cy="64008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Breaks found after a model has already trained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truct.row.1.phase.1"/>
          <p:cNvSpPr/>
          <p:nvPr/>
        </p:nvSpPr>
        <p:spPr>
          <a:xfrm>
            <a:off x="10040112" y="1335024"/>
            <a:ext cx="51206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>
            <a:noAutofit/>
          </a:bodyPr>
          <a:lstStyle/>
          <a:p>
            <a:endParaRPr lang="en-IN"/>
          </a:p>
        </p:txBody>
      </p:sp>
      <p:sp>
        <p:nvSpPr>
          <p:cNvPr id="17" name="struct.row.1.phase.2"/>
          <p:cNvSpPr/>
          <p:nvPr/>
        </p:nvSpPr>
        <p:spPr>
          <a:xfrm>
            <a:off x="10625328" y="1335024"/>
            <a:ext cx="512064" cy="384048"/>
          </a:xfrm>
          <a:prstGeom prst="roundRect">
            <a:avLst>
              <a:gd name="adj" fmla="val 11905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>
            <a:noAutofit/>
          </a:bodyPr>
          <a:lstStyle/>
          <a:p>
            <a:endParaRPr lang="en-IN"/>
          </a:p>
        </p:txBody>
      </p:sp>
      <p:sp>
        <p:nvSpPr>
          <p:cNvPr id="18" name="struct.row.1.phase.3"/>
          <p:cNvSpPr/>
          <p:nvPr/>
        </p:nvSpPr>
        <p:spPr>
          <a:xfrm>
            <a:off x="11210544" y="1335024"/>
            <a:ext cx="512064" cy="384048"/>
          </a:xfrm>
          <a:prstGeom prst="roundRect">
            <a:avLst>
              <a:gd name="adj" fmla="val 11905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>
            <a:noAutofit/>
          </a:bodyPr>
          <a:lstStyle/>
          <a:p>
            <a:endParaRPr lang="en-IN"/>
          </a:p>
        </p:txBody>
      </p:sp>
      <p:sp>
        <p:nvSpPr>
          <p:cNvPr id="19" name="struct.row.2"/>
          <p:cNvSpPr/>
          <p:nvPr/>
        </p:nvSpPr>
        <p:spPr>
          <a:xfrm>
            <a:off x="457200" y="1920240"/>
            <a:ext cx="11338560" cy="64008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>
            <a:noAutofit/>
          </a:bodyPr>
          <a:lstStyle/>
          <a:p>
            <a:endParaRPr lang="en-IN"/>
          </a:p>
        </p:txBody>
      </p:sp>
      <p:sp>
        <p:nvSpPr>
          <p:cNvPr id="20" name="struct.row.2.block"/>
          <p:cNvSpPr/>
          <p:nvPr/>
        </p:nvSpPr>
        <p:spPr>
          <a:xfrm>
            <a:off x="457200" y="1920240"/>
            <a:ext cx="1938528" cy="640080"/>
          </a:xfrm>
          <a:prstGeom prst="roundRect">
            <a:avLst>
              <a:gd name="adj" fmla="val 714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>
            <a:noAutofit/>
          </a:bodyPr>
          <a:lstStyle/>
          <a:p>
            <a:endParaRPr lang="en-IN"/>
          </a:p>
        </p:txBody>
      </p:sp>
      <p:sp>
        <p:nvSpPr>
          <p:cNvPr id="21" name="slot.row.2.lane"/>
          <p:cNvSpPr/>
          <p:nvPr/>
        </p:nvSpPr>
        <p:spPr>
          <a:xfrm>
            <a:off x="1005840" y="1920240"/>
            <a:ext cx="1335024" cy="64008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Forecast models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lot.row.2.lever"/>
          <p:cNvSpPr/>
          <p:nvPr/>
        </p:nvSpPr>
        <p:spPr>
          <a:xfrm>
            <a:off x="2542032" y="1920240"/>
            <a:ext cx="2999232" cy="64008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 scored forecast per account, with its drivers shown</a:t>
            </a:r>
            <a:endParaRPr lang="en-US" sz="11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slot.row.2.measure"/>
          <p:cNvSpPr/>
          <p:nvPr/>
        </p:nvSpPr>
        <p:spPr>
          <a:xfrm>
            <a:off x="7114032" y="1920240"/>
            <a:ext cx="2798064" cy="64008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Orders won in the top decile against the current list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truct.row.2.phase.1"/>
          <p:cNvSpPr/>
          <p:nvPr/>
        </p:nvSpPr>
        <p:spPr>
          <a:xfrm>
            <a:off x="10040112" y="2048256"/>
            <a:ext cx="51206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>
            <a:noAutofit/>
          </a:bodyPr>
          <a:lstStyle/>
          <a:p>
            <a:endParaRPr lang="en-IN"/>
          </a:p>
        </p:txBody>
      </p:sp>
      <p:sp>
        <p:nvSpPr>
          <p:cNvPr id="25" name="struct.row.2.phase.2"/>
          <p:cNvSpPr/>
          <p:nvPr/>
        </p:nvSpPr>
        <p:spPr>
          <a:xfrm>
            <a:off x="10625328" y="2048256"/>
            <a:ext cx="51206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>
            <a:noAutofit/>
          </a:bodyPr>
          <a:lstStyle/>
          <a:p>
            <a:endParaRPr lang="en-IN"/>
          </a:p>
        </p:txBody>
      </p:sp>
      <p:sp>
        <p:nvSpPr>
          <p:cNvPr id="26" name="struct.row.2.phase.3"/>
          <p:cNvSpPr/>
          <p:nvPr/>
        </p:nvSpPr>
        <p:spPr>
          <a:xfrm>
            <a:off x="11210544" y="2048256"/>
            <a:ext cx="512064" cy="384048"/>
          </a:xfrm>
          <a:prstGeom prst="roundRect">
            <a:avLst>
              <a:gd name="adj" fmla="val 11905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>
            <a:noAutofit/>
          </a:bodyPr>
          <a:lstStyle/>
          <a:p>
            <a:endParaRPr lang="en-IN"/>
          </a:p>
        </p:txBody>
      </p:sp>
      <p:sp>
        <p:nvSpPr>
          <p:cNvPr id="27" name="struct.row.3"/>
          <p:cNvSpPr/>
          <p:nvPr/>
        </p:nvSpPr>
        <p:spPr>
          <a:xfrm>
            <a:off x="457200" y="2633472"/>
            <a:ext cx="11338560" cy="64008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>
            <a:noAutofit/>
          </a:bodyPr>
          <a:lstStyle/>
          <a:p>
            <a:endParaRPr lang="en-IN"/>
          </a:p>
        </p:txBody>
      </p:sp>
      <p:sp>
        <p:nvSpPr>
          <p:cNvPr id="28" name="struct.row.3.block"/>
          <p:cNvSpPr/>
          <p:nvPr/>
        </p:nvSpPr>
        <p:spPr>
          <a:xfrm>
            <a:off x="457200" y="2633472"/>
            <a:ext cx="1938528" cy="640080"/>
          </a:xfrm>
          <a:prstGeom prst="roundRect">
            <a:avLst>
              <a:gd name="adj" fmla="val 714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>
            <a:noAutofit/>
          </a:bodyPr>
          <a:lstStyle/>
          <a:p>
            <a:endParaRPr lang="en-IN"/>
          </a:p>
        </p:txBody>
      </p:sp>
      <p:sp>
        <p:nvSpPr>
          <p:cNvPr id="29" name="slot.row.3.lane"/>
          <p:cNvSpPr/>
          <p:nvPr/>
        </p:nvSpPr>
        <p:spPr>
          <a:xfrm>
            <a:off x="1005840" y="2633472"/>
            <a:ext cx="1335024" cy="64008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Planning engine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slot.row.3.lever"/>
          <p:cNvSpPr/>
          <p:nvPr/>
        </p:nvSpPr>
        <p:spPr>
          <a:xfrm>
            <a:off x="2542032" y="2633472"/>
            <a:ext cx="2999232" cy="64008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 single optimizer settles capacity across all product lines</a:t>
            </a:r>
            <a:endParaRPr lang="en-US" sz="11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lot.row.3.measure"/>
          <p:cNvSpPr/>
          <p:nvPr/>
        </p:nvSpPr>
        <p:spPr>
          <a:xfrm>
            <a:off x="7114032" y="2633472"/>
            <a:ext cx="2798064" cy="64008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Shipped volume in test regions against matched control regions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truct.row.3.phase.1"/>
          <p:cNvSpPr/>
          <p:nvPr/>
        </p:nvSpPr>
        <p:spPr>
          <a:xfrm>
            <a:off x="10040112" y="2761488"/>
            <a:ext cx="512064" cy="384048"/>
          </a:xfrm>
          <a:prstGeom prst="roundRect">
            <a:avLst>
              <a:gd name="adj" fmla="val 11905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>
            <a:noAutofit/>
          </a:bodyPr>
          <a:lstStyle/>
          <a:p>
            <a:endParaRPr lang="en-IN"/>
          </a:p>
        </p:txBody>
      </p:sp>
      <p:sp>
        <p:nvSpPr>
          <p:cNvPr id="33" name="struct.row.3.phase.2"/>
          <p:cNvSpPr/>
          <p:nvPr/>
        </p:nvSpPr>
        <p:spPr>
          <a:xfrm>
            <a:off x="10625328" y="2761488"/>
            <a:ext cx="51206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>
            <a:noAutofit/>
          </a:bodyPr>
          <a:lstStyle/>
          <a:p>
            <a:endParaRPr lang="en-IN"/>
          </a:p>
        </p:txBody>
      </p:sp>
      <p:sp>
        <p:nvSpPr>
          <p:cNvPr id="34" name="struct.row.3.phase.3"/>
          <p:cNvSpPr/>
          <p:nvPr/>
        </p:nvSpPr>
        <p:spPr>
          <a:xfrm>
            <a:off x="11210544" y="2761488"/>
            <a:ext cx="512064" cy="384048"/>
          </a:xfrm>
          <a:prstGeom prst="roundRect">
            <a:avLst>
              <a:gd name="adj" fmla="val 11905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>
            <a:noAutofit/>
          </a:bodyPr>
          <a:lstStyle/>
          <a:p>
            <a:endParaRPr lang="en-IN"/>
          </a:p>
        </p:txBody>
      </p:sp>
      <p:sp>
        <p:nvSpPr>
          <p:cNvPr id="35" name="struct.row.4"/>
          <p:cNvSpPr/>
          <p:nvPr/>
        </p:nvSpPr>
        <p:spPr>
          <a:xfrm>
            <a:off x="457200" y="3346704"/>
            <a:ext cx="11338560" cy="64008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>
            <a:noAutofit/>
          </a:bodyPr>
          <a:lstStyle/>
          <a:p>
            <a:endParaRPr lang="en-IN"/>
          </a:p>
        </p:txBody>
      </p:sp>
      <p:sp>
        <p:nvSpPr>
          <p:cNvPr id="36" name="struct.row.4.block"/>
          <p:cNvSpPr/>
          <p:nvPr/>
        </p:nvSpPr>
        <p:spPr>
          <a:xfrm>
            <a:off x="457200" y="3346704"/>
            <a:ext cx="1938528" cy="640080"/>
          </a:xfrm>
          <a:prstGeom prst="roundRect">
            <a:avLst>
              <a:gd name="adj" fmla="val 714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>
            <a:noAutofit/>
          </a:bodyPr>
          <a:lstStyle/>
          <a:p>
            <a:endParaRPr lang="en-IN"/>
          </a:p>
        </p:txBody>
      </p:sp>
      <p:sp>
        <p:nvSpPr>
          <p:cNvPr id="37" name="slot.row.4.lane"/>
          <p:cNvSpPr/>
          <p:nvPr/>
        </p:nvSpPr>
        <p:spPr>
          <a:xfrm>
            <a:off x="1005840" y="3346704"/>
            <a:ext cx="1335024" cy="64008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Field execution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lot.row.4.lever"/>
          <p:cNvSpPr/>
          <p:nvPr/>
        </p:nvSpPr>
        <p:spPr>
          <a:xfrm>
            <a:off x="2542032" y="3346704"/>
            <a:ext cx="2999232" cy="64008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Visit schedules ranked by travel cost and account value</a:t>
            </a:r>
            <a:endParaRPr lang="en-US" sz="11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slot.row.4.measure"/>
          <p:cNvSpPr/>
          <p:nvPr/>
        </p:nvSpPr>
        <p:spPr>
          <a:xfrm>
            <a:off x="7114032" y="3346704"/>
            <a:ext cx="2798064" cy="64008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Customer-facing hours logged per week per seller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struct.row.4.phase.1"/>
          <p:cNvSpPr/>
          <p:nvPr/>
        </p:nvSpPr>
        <p:spPr>
          <a:xfrm>
            <a:off x="10040112" y="3474720"/>
            <a:ext cx="512064" cy="384048"/>
          </a:xfrm>
          <a:prstGeom prst="roundRect">
            <a:avLst>
              <a:gd name="adj" fmla="val 11905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>
            <a:noAutofit/>
          </a:bodyPr>
          <a:lstStyle/>
          <a:p>
            <a:endParaRPr lang="en-IN"/>
          </a:p>
        </p:txBody>
      </p:sp>
      <p:sp>
        <p:nvSpPr>
          <p:cNvPr id="41" name="struct.row.4.phase.2"/>
          <p:cNvSpPr/>
          <p:nvPr/>
        </p:nvSpPr>
        <p:spPr>
          <a:xfrm>
            <a:off x="10625328" y="3474720"/>
            <a:ext cx="51206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>
            <a:noAutofit/>
          </a:bodyPr>
          <a:lstStyle/>
          <a:p>
            <a:endParaRPr lang="en-IN"/>
          </a:p>
        </p:txBody>
      </p:sp>
      <p:sp>
        <p:nvSpPr>
          <p:cNvPr id="42" name="struct.row.4.phase.3"/>
          <p:cNvSpPr/>
          <p:nvPr/>
        </p:nvSpPr>
        <p:spPr>
          <a:xfrm>
            <a:off x="11210544" y="3474720"/>
            <a:ext cx="512064" cy="384048"/>
          </a:xfrm>
          <a:prstGeom prst="roundRect">
            <a:avLst>
              <a:gd name="adj" fmla="val 11905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>
            <a:noAutofit/>
          </a:bodyPr>
          <a:lstStyle/>
          <a:p>
            <a:endParaRPr lang="en-IN"/>
          </a:p>
        </p:txBody>
      </p:sp>
      <p:sp>
        <p:nvSpPr>
          <p:cNvPr id="43" name="struct.row.5"/>
          <p:cNvSpPr/>
          <p:nvPr/>
        </p:nvSpPr>
        <p:spPr>
          <a:xfrm>
            <a:off x="457200" y="4059935"/>
            <a:ext cx="11338560" cy="64008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>
            <a:noAutofit/>
          </a:bodyPr>
          <a:lstStyle/>
          <a:p>
            <a:endParaRPr lang="en-IN"/>
          </a:p>
        </p:txBody>
      </p:sp>
      <p:sp>
        <p:nvSpPr>
          <p:cNvPr id="44" name="struct.row.5.block"/>
          <p:cNvSpPr/>
          <p:nvPr/>
        </p:nvSpPr>
        <p:spPr>
          <a:xfrm>
            <a:off x="457200" y="4059935"/>
            <a:ext cx="1938528" cy="640080"/>
          </a:xfrm>
          <a:prstGeom prst="roundRect">
            <a:avLst>
              <a:gd name="adj" fmla="val 714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>
            <a:noAutofit/>
          </a:bodyPr>
          <a:lstStyle/>
          <a:p>
            <a:endParaRPr lang="en-IN"/>
          </a:p>
        </p:txBody>
      </p:sp>
      <p:sp>
        <p:nvSpPr>
          <p:cNvPr id="45" name="slot.row.5.lane"/>
          <p:cNvSpPr/>
          <p:nvPr/>
        </p:nvSpPr>
        <p:spPr>
          <a:xfrm>
            <a:off x="1005840" y="4059935"/>
            <a:ext cx="1335024" cy="64008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Digital channel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slot.row.5.lever"/>
          <p:cNvSpPr/>
          <p:nvPr/>
        </p:nvSpPr>
        <p:spPr>
          <a:xfrm>
            <a:off x="2542032" y="4059935"/>
            <a:ext cx="2999232" cy="64008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Guided messages reach accounts between scheduled visits</a:t>
            </a:r>
            <a:endParaRPr lang="en-US" sz="11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slot.row.5.measure"/>
          <p:cNvSpPr/>
          <p:nvPr/>
        </p:nvSpPr>
        <p:spPr>
          <a:xfrm>
            <a:off x="7114032" y="4059935"/>
            <a:ext cx="2798064" cy="64008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Replies within ten days of a guided message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struct.row.5.phase.1"/>
          <p:cNvSpPr/>
          <p:nvPr/>
        </p:nvSpPr>
        <p:spPr>
          <a:xfrm>
            <a:off x="10040112" y="4187951"/>
            <a:ext cx="512064" cy="384048"/>
          </a:xfrm>
          <a:prstGeom prst="roundRect">
            <a:avLst>
              <a:gd name="adj" fmla="val 11905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>
            <a:noAutofit/>
          </a:bodyPr>
          <a:lstStyle/>
          <a:p>
            <a:endParaRPr lang="en-IN"/>
          </a:p>
        </p:txBody>
      </p:sp>
      <p:sp>
        <p:nvSpPr>
          <p:cNvPr id="49" name="struct.row.5.phase.2"/>
          <p:cNvSpPr/>
          <p:nvPr/>
        </p:nvSpPr>
        <p:spPr>
          <a:xfrm>
            <a:off x="10625328" y="4187951"/>
            <a:ext cx="512064" cy="384048"/>
          </a:xfrm>
          <a:prstGeom prst="roundRect">
            <a:avLst>
              <a:gd name="adj" fmla="val 11905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>
            <a:noAutofit/>
          </a:bodyPr>
          <a:lstStyle/>
          <a:p>
            <a:endParaRPr lang="en-IN"/>
          </a:p>
        </p:txBody>
      </p:sp>
      <p:sp>
        <p:nvSpPr>
          <p:cNvPr id="50" name="struct.row.5.phase.3"/>
          <p:cNvSpPr/>
          <p:nvPr/>
        </p:nvSpPr>
        <p:spPr>
          <a:xfrm>
            <a:off x="11210544" y="4187951"/>
            <a:ext cx="51206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>
            <a:noAutofit/>
          </a:bodyPr>
          <a:lstStyle/>
          <a:p>
            <a:endParaRPr lang="en-IN"/>
          </a:p>
        </p:txBody>
      </p:sp>
      <p:sp>
        <p:nvSpPr>
          <p:cNvPr id="51" name="struct.row.6"/>
          <p:cNvSpPr/>
          <p:nvPr/>
        </p:nvSpPr>
        <p:spPr>
          <a:xfrm>
            <a:off x="457200" y="4773168"/>
            <a:ext cx="11338560" cy="64008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>
            <a:noAutofit/>
          </a:bodyPr>
          <a:lstStyle/>
          <a:p>
            <a:endParaRPr lang="en-IN"/>
          </a:p>
        </p:txBody>
      </p:sp>
      <p:sp>
        <p:nvSpPr>
          <p:cNvPr id="52" name="struct.row.6.block"/>
          <p:cNvSpPr/>
          <p:nvPr/>
        </p:nvSpPr>
        <p:spPr>
          <a:xfrm>
            <a:off x="457200" y="4773168"/>
            <a:ext cx="1938528" cy="640080"/>
          </a:xfrm>
          <a:prstGeom prst="roundRect">
            <a:avLst>
              <a:gd name="adj" fmla="val 714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>
            <a:noAutofit/>
          </a:bodyPr>
          <a:lstStyle/>
          <a:p>
            <a:endParaRPr lang="en-IN"/>
          </a:p>
        </p:txBody>
      </p:sp>
      <p:sp>
        <p:nvSpPr>
          <p:cNvPr id="53" name="slot.row.6.lane"/>
          <p:cNvSpPr/>
          <p:nvPr/>
        </p:nvSpPr>
        <p:spPr>
          <a:xfrm>
            <a:off x="1005840" y="4773168"/>
            <a:ext cx="1335024" cy="64008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Feedback loop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slot.row.6.lever"/>
          <p:cNvSpPr/>
          <p:nvPr/>
        </p:nvSpPr>
        <p:spPr>
          <a:xfrm>
            <a:off x="2542032" y="4773168"/>
            <a:ext cx="2999232" cy="64008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Visit outcomes retrain models and update seller coaching</a:t>
            </a:r>
            <a:endParaRPr lang="en-US" sz="11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slot.row.6.measure"/>
          <p:cNvSpPr/>
          <p:nvPr/>
        </p:nvSpPr>
        <p:spPr>
          <a:xfrm>
            <a:off x="7114032" y="4773168"/>
            <a:ext cx="2798064" cy="64008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Share of suggestions sellers act on, by driver, each month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truct.row.6.phase.1"/>
          <p:cNvSpPr/>
          <p:nvPr/>
        </p:nvSpPr>
        <p:spPr>
          <a:xfrm>
            <a:off x="10040112" y="4901183"/>
            <a:ext cx="512064" cy="384048"/>
          </a:xfrm>
          <a:prstGeom prst="roundRect">
            <a:avLst>
              <a:gd name="adj" fmla="val 11905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>
            <a:noAutofit/>
          </a:bodyPr>
          <a:lstStyle/>
          <a:p>
            <a:endParaRPr lang="en-IN"/>
          </a:p>
        </p:txBody>
      </p:sp>
      <p:sp>
        <p:nvSpPr>
          <p:cNvPr id="57" name="struct.row.6.phase.2"/>
          <p:cNvSpPr/>
          <p:nvPr/>
        </p:nvSpPr>
        <p:spPr>
          <a:xfrm>
            <a:off x="10625328" y="4901183"/>
            <a:ext cx="51206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>
            <a:noAutofit/>
          </a:bodyPr>
          <a:lstStyle/>
          <a:p>
            <a:endParaRPr lang="en-IN"/>
          </a:p>
        </p:txBody>
      </p:sp>
      <p:sp>
        <p:nvSpPr>
          <p:cNvPr id="58" name="struct.row.6.phase.3"/>
          <p:cNvSpPr/>
          <p:nvPr/>
        </p:nvSpPr>
        <p:spPr>
          <a:xfrm>
            <a:off x="11210544" y="4901183"/>
            <a:ext cx="51206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>
            <a:noAutofit/>
          </a:bodyPr>
          <a:lstStyle/>
          <a:p>
            <a:endParaRPr lang="en-IN"/>
          </a:p>
        </p:txBody>
      </p:sp>
      <p:sp>
        <p:nvSpPr>
          <p:cNvPr id="59" name="struct.band"/>
          <p:cNvSpPr/>
          <p:nvPr/>
        </p:nvSpPr>
        <p:spPr>
          <a:xfrm>
            <a:off x="457200" y="5522976"/>
            <a:ext cx="11338560" cy="731520"/>
          </a:xfrm>
          <a:prstGeom prst="roundRect">
            <a:avLst>
              <a:gd name="adj" fmla="val 6250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>
            <a:noAutofit/>
          </a:bodyPr>
          <a:lstStyle/>
          <a:p>
            <a:endParaRPr lang="en-IN"/>
          </a:p>
        </p:txBody>
      </p:sp>
      <p:sp>
        <p:nvSpPr>
          <p:cNvPr id="60" name="slot.band.label"/>
          <p:cNvSpPr/>
          <p:nvPr/>
        </p:nvSpPr>
        <p:spPr>
          <a:xfrm>
            <a:off x="640080" y="5522976"/>
            <a:ext cx="1737360" cy="73152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Benchmark figures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struct.band.rule.1"/>
          <p:cNvSpPr/>
          <p:nvPr/>
        </p:nvSpPr>
        <p:spPr>
          <a:xfrm>
            <a:off x="5516880" y="5687568"/>
            <a:ext cx="0" cy="402336"/>
          </a:xfrm>
          <a:prstGeom prst="line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>
            <a:noAutofit/>
          </a:bodyPr>
          <a:lstStyle/>
          <a:p>
            <a:endParaRPr lang="en-IN"/>
          </a:p>
        </p:txBody>
      </p:sp>
      <p:sp>
        <p:nvSpPr>
          <p:cNvPr id="62" name="struct.band.rule.2"/>
          <p:cNvSpPr/>
          <p:nvPr/>
        </p:nvSpPr>
        <p:spPr>
          <a:xfrm>
            <a:off x="8564880" y="5687568"/>
            <a:ext cx="0" cy="402336"/>
          </a:xfrm>
          <a:prstGeom prst="line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>
            <a:noAutofit/>
          </a:bodyPr>
          <a:lstStyle/>
          <a:p>
            <a:endParaRPr lang="en-IN"/>
          </a:p>
        </p:txBody>
      </p:sp>
      <p:sp>
        <p:nvSpPr>
          <p:cNvPr id="63" name="slot.row.1.icon"/>
          <p:cNvSpPr/>
          <p:nvPr/>
        </p:nvSpPr>
        <p:spPr>
          <a:xfrm>
            <a:off x="603504" y="1371600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26035" cap="rnd">
            <a:solidFill>
              <a:schemeClr val="bg1"/>
            </a:solidFill>
            <a:round/>
          </a:ln>
          <a:effectLst/>
        </p:spPr>
      </p:sp>
      <p:grpSp>
        <p:nvGrpSpPr>
          <p:cNvPr id="64" name="slot.row.1.figure"/>
          <p:cNvGrpSpPr/>
          <p:nvPr/>
        </p:nvGrpSpPr>
        <p:grpSpPr>
          <a:xfrm>
            <a:off x="5669280" y="1283774"/>
            <a:ext cx="1316736" cy="486548"/>
            <a:chOff x="5669280" y="1283774"/>
            <a:chExt cx="1316736" cy="486548"/>
          </a:xfrm>
          <a:effectLst/>
        </p:grpSpPr>
        <p:sp>
          <p:nvSpPr>
            <p:cNvPr id="65" name="slot.row.1.figure.value"/>
            <p:cNvSpPr txBox="1"/>
            <p:nvPr/>
          </p:nvSpPr>
          <p:spPr>
            <a:xfrm>
              <a:off x="5669280" y="1283774"/>
              <a:ext cx="1316736" cy="24877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0</a:t>
              </a:r>
              <a:endParaRPr lang="en-US" sz="16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66" name="slot.row.1.figure.rule"/>
            <p:cNvCxnSpPr/>
            <p:nvPr/>
          </p:nvCxnSpPr>
          <p:spPr>
            <a:xfrm>
              <a:off x="5669280" y="1578267"/>
              <a:ext cx="1316736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67" name="slot.row.1.figure.label"/>
            <p:cNvSpPr txBox="1"/>
            <p:nvPr/>
          </p:nvSpPr>
          <p:spPr>
            <a:xfrm>
              <a:off x="5669280" y="1633131"/>
              <a:ext cx="1316736" cy="137191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unflagged breaks</a:t>
              </a:r>
              <a:endPara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68" name="slot.row.1.phase.1.mark"/>
          <p:cNvSpPr/>
          <p:nvPr/>
        </p:nvSpPr>
        <p:spPr>
          <a:xfrm>
            <a:off x="10186416" y="1417320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8415" cap="rnd">
            <a:solidFill>
              <a:schemeClr val="bg1"/>
            </a:solidFill>
            <a:round/>
          </a:ln>
          <a:effectLst/>
        </p:spPr>
      </p:sp>
      <p:sp>
        <p:nvSpPr>
          <p:cNvPr id="69" name="slot.row.2.icon"/>
          <p:cNvSpPr/>
          <p:nvPr/>
        </p:nvSpPr>
        <p:spPr>
          <a:xfrm>
            <a:off x="603504" y="2084832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8000"/>
                </a:moveTo>
                <a:lnTo>
                  <a:pt x="12000" y="5000"/>
                </a:lnTo>
                <a:moveTo>
                  <a:pt x="15000" y="13000"/>
                </a:moveTo>
                <a:cubicBezTo>
                  <a:pt x="13223" y="12481"/>
                  <a:pt x="12001" y="10851"/>
                  <a:pt x="12000" y="9000"/>
                </a:cubicBezTo>
                <a:cubicBezTo>
                  <a:pt x="11999" y="10851"/>
                  <a:pt x="10777" y="12481"/>
                  <a:pt x="9000" y="13000"/>
                </a:cubicBezTo>
                <a:moveTo>
                  <a:pt x="17598" y="6500"/>
                </a:moveTo>
                <a:cubicBezTo>
                  <a:pt x="18229" y="5408"/>
                  <a:pt x="18109" y="4038"/>
                  <a:pt x="17298" y="3072"/>
                </a:cubicBezTo>
                <a:cubicBezTo>
                  <a:pt x="16487" y="2105"/>
                  <a:pt x="15159" y="1749"/>
                  <a:pt x="13974" y="2181"/>
                </a:cubicBezTo>
                <a:cubicBezTo>
                  <a:pt x="12789" y="2612"/>
                  <a:pt x="12000" y="3739"/>
                  <a:pt x="12000" y="5000"/>
                </a:cubicBezTo>
                <a:cubicBezTo>
                  <a:pt x="12000" y="3739"/>
                  <a:pt x="11211" y="2612"/>
                  <a:pt x="10026" y="2181"/>
                </a:cubicBezTo>
                <a:cubicBezTo>
                  <a:pt x="8841" y="1749"/>
                  <a:pt x="7513" y="2105"/>
                  <a:pt x="6702" y="3072"/>
                </a:cubicBezTo>
                <a:cubicBezTo>
                  <a:pt x="5891" y="4038"/>
                  <a:pt x="5771" y="5408"/>
                  <a:pt x="6402" y="6500"/>
                </a:cubicBezTo>
                <a:moveTo>
                  <a:pt x="17997" y="5125"/>
                </a:moveTo>
                <a:cubicBezTo>
                  <a:pt x="19188" y="5431"/>
                  <a:pt x="20172" y="6268"/>
                  <a:pt x="20665" y="7395"/>
                </a:cubicBezTo>
                <a:cubicBezTo>
                  <a:pt x="21158" y="8521"/>
                  <a:pt x="21106" y="9812"/>
                  <a:pt x="20523" y="10895"/>
                </a:cubicBezTo>
                <a:moveTo>
                  <a:pt x="18000" y="18000"/>
                </a:moveTo>
                <a:cubicBezTo>
                  <a:pt x="19810" y="18000"/>
                  <a:pt x="21395" y="16784"/>
                  <a:pt x="21864" y="15035"/>
                </a:cubicBezTo>
                <a:cubicBezTo>
                  <a:pt x="22332" y="13287"/>
                  <a:pt x="21568" y="11441"/>
                  <a:pt x="20000" y="10536"/>
                </a:cubicBezTo>
                <a:moveTo>
                  <a:pt x="19967" y="17483"/>
                </a:moveTo>
                <a:cubicBezTo>
                  <a:pt x="20158" y="18961"/>
                  <a:pt x="19512" y="20422"/>
                  <a:pt x="18290" y="21275"/>
                </a:cubicBezTo>
                <a:cubicBezTo>
                  <a:pt x="17069" y="22128"/>
                  <a:pt x="15474" y="22232"/>
                  <a:pt x="14153" y="21544"/>
                </a:cubicBezTo>
                <a:cubicBezTo>
                  <a:pt x="12831" y="20856"/>
                  <a:pt x="12002" y="19490"/>
                  <a:pt x="12000" y="18000"/>
                </a:cubicBezTo>
                <a:cubicBezTo>
                  <a:pt x="11998" y="19490"/>
                  <a:pt x="11169" y="20856"/>
                  <a:pt x="9847" y="21544"/>
                </a:cubicBezTo>
                <a:cubicBezTo>
                  <a:pt x="8526" y="22232"/>
                  <a:pt x="6931" y="22128"/>
                  <a:pt x="5710" y="21275"/>
                </a:cubicBezTo>
                <a:cubicBezTo>
                  <a:pt x="4488" y="20422"/>
                  <a:pt x="3842" y="18961"/>
                  <a:pt x="4033" y="17483"/>
                </a:cubicBezTo>
                <a:moveTo>
                  <a:pt x="6000" y="18000"/>
                </a:moveTo>
                <a:cubicBezTo>
                  <a:pt x="4190" y="18000"/>
                  <a:pt x="2605" y="16784"/>
                  <a:pt x="2136" y="15035"/>
                </a:cubicBezTo>
                <a:cubicBezTo>
                  <a:pt x="1668" y="13287"/>
                  <a:pt x="2432" y="11441"/>
                  <a:pt x="4000" y="10536"/>
                </a:cubicBezTo>
                <a:moveTo>
                  <a:pt x="6003" y="5125"/>
                </a:moveTo>
                <a:cubicBezTo>
                  <a:pt x="4812" y="5431"/>
                  <a:pt x="3828" y="6268"/>
                  <a:pt x="3335" y="7395"/>
                </a:cubicBezTo>
                <a:cubicBezTo>
                  <a:pt x="2842" y="8521"/>
                  <a:pt x="2894" y="9812"/>
                  <a:pt x="3477" y="10895"/>
                </a:cubicBezTo>
              </a:path>
            </a:pathLst>
          </a:custGeom>
          <a:noFill/>
          <a:ln w="26035" cap="rnd">
            <a:solidFill>
              <a:schemeClr val="bg1"/>
            </a:solidFill>
            <a:round/>
          </a:ln>
          <a:effectLst/>
        </p:spPr>
      </p:sp>
      <p:grpSp>
        <p:nvGrpSpPr>
          <p:cNvPr id="70" name="slot.row.2.figure"/>
          <p:cNvGrpSpPr/>
          <p:nvPr/>
        </p:nvGrpSpPr>
        <p:grpSpPr>
          <a:xfrm>
            <a:off x="5669280" y="1997006"/>
            <a:ext cx="1316736" cy="486548"/>
            <a:chOff x="5669280" y="1997006"/>
            <a:chExt cx="1316736" cy="486548"/>
          </a:xfrm>
          <a:effectLst/>
        </p:grpSpPr>
        <p:sp>
          <p:nvSpPr>
            <p:cNvPr id="71" name="slot.row.2.figure.value"/>
            <p:cNvSpPr txBox="1"/>
            <p:nvPr/>
          </p:nvSpPr>
          <p:spPr>
            <a:xfrm>
              <a:off x="5669280" y="1997006"/>
              <a:ext cx="1316736" cy="24877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3x</a:t>
              </a:r>
              <a:endParaRPr lang="en-US" sz="16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72" name="slot.row.2.figure.rule"/>
            <p:cNvCxnSpPr/>
            <p:nvPr/>
          </p:nvCxnSpPr>
          <p:spPr>
            <a:xfrm>
              <a:off x="5669280" y="2291499"/>
              <a:ext cx="1316736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73" name="slot.row.2.figure.label"/>
            <p:cNvSpPr txBox="1"/>
            <p:nvPr/>
          </p:nvSpPr>
          <p:spPr>
            <a:xfrm>
              <a:off x="5669280" y="2346363"/>
              <a:ext cx="1316736" cy="137191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top-decile precision</a:t>
              </a:r>
              <a:endPara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74" name="slot.row.2.phase.1.mark"/>
          <p:cNvSpPr/>
          <p:nvPr/>
        </p:nvSpPr>
        <p:spPr>
          <a:xfrm>
            <a:off x="10186416" y="2130552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8415" cap="rnd">
            <a:solidFill>
              <a:schemeClr val="bg1"/>
            </a:solidFill>
            <a:round/>
          </a:ln>
          <a:effectLst/>
        </p:spPr>
      </p:sp>
      <p:sp>
        <p:nvSpPr>
          <p:cNvPr id="75" name="slot.row.2.phase.2.mark"/>
          <p:cNvSpPr/>
          <p:nvPr/>
        </p:nvSpPr>
        <p:spPr>
          <a:xfrm>
            <a:off x="10771632" y="2130552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8415" cap="rnd">
            <a:solidFill>
              <a:schemeClr val="bg1"/>
            </a:solidFill>
            <a:round/>
          </a:ln>
          <a:effectLst/>
        </p:spPr>
      </p:sp>
      <p:sp>
        <p:nvSpPr>
          <p:cNvPr id="76" name="slot.row.3.icon"/>
          <p:cNvSpPr/>
          <p:nvPr/>
        </p:nvSpPr>
        <p:spPr>
          <a:xfrm>
            <a:off x="603504" y="279806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000" y="5000"/>
                </a:moveTo>
                <a:lnTo>
                  <a:pt x="3000" y="5000"/>
                </a:lnTo>
                <a:moveTo>
                  <a:pt x="12000" y="19000"/>
                </a:moveTo>
                <a:lnTo>
                  <a:pt x="3000" y="19000"/>
                </a:lnTo>
                <a:moveTo>
                  <a:pt x="14000" y="3000"/>
                </a:moveTo>
                <a:lnTo>
                  <a:pt x="14000" y="7000"/>
                </a:lnTo>
                <a:moveTo>
                  <a:pt x="16000" y="17000"/>
                </a:moveTo>
                <a:lnTo>
                  <a:pt x="16000" y="21000"/>
                </a:lnTo>
                <a:moveTo>
                  <a:pt x="21000" y="12000"/>
                </a:moveTo>
                <a:lnTo>
                  <a:pt x="12000" y="12000"/>
                </a:lnTo>
                <a:moveTo>
                  <a:pt x="21000" y="19000"/>
                </a:moveTo>
                <a:lnTo>
                  <a:pt x="16000" y="19000"/>
                </a:lnTo>
                <a:moveTo>
                  <a:pt x="21000" y="5000"/>
                </a:moveTo>
                <a:lnTo>
                  <a:pt x="14000" y="5000"/>
                </a:lnTo>
                <a:moveTo>
                  <a:pt x="8000" y="10000"/>
                </a:moveTo>
                <a:lnTo>
                  <a:pt x="8000" y="14000"/>
                </a:lnTo>
                <a:moveTo>
                  <a:pt x="8000" y="12000"/>
                </a:moveTo>
                <a:lnTo>
                  <a:pt x="3000" y="12000"/>
                </a:lnTo>
              </a:path>
            </a:pathLst>
          </a:custGeom>
          <a:noFill/>
          <a:ln w="26035" cap="rnd">
            <a:solidFill>
              <a:schemeClr val="bg1"/>
            </a:solidFill>
            <a:round/>
          </a:ln>
          <a:effectLst/>
        </p:spPr>
      </p:sp>
      <p:grpSp>
        <p:nvGrpSpPr>
          <p:cNvPr id="77" name="slot.row.3.figure"/>
          <p:cNvGrpSpPr/>
          <p:nvPr/>
        </p:nvGrpSpPr>
        <p:grpSpPr>
          <a:xfrm>
            <a:off x="5669280" y="2710238"/>
            <a:ext cx="1316736" cy="486548"/>
            <a:chOff x="5669280" y="2710238"/>
            <a:chExt cx="1316736" cy="486548"/>
          </a:xfrm>
          <a:effectLst/>
        </p:grpSpPr>
        <p:sp>
          <p:nvSpPr>
            <p:cNvPr id="78" name="slot.row.3.figure.value"/>
            <p:cNvSpPr txBox="1"/>
            <p:nvPr/>
          </p:nvSpPr>
          <p:spPr>
            <a:xfrm>
              <a:off x="5669280" y="2710238"/>
              <a:ext cx="1316736" cy="24877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6%</a:t>
              </a:r>
              <a:endParaRPr lang="en-US" sz="16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79" name="slot.row.3.figure.rule"/>
            <p:cNvCxnSpPr/>
            <p:nvPr/>
          </p:nvCxnSpPr>
          <p:spPr>
            <a:xfrm>
              <a:off x="5669280" y="3004731"/>
              <a:ext cx="1316736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80" name="slot.row.3.figure.label"/>
            <p:cNvSpPr txBox="1"/>
            <p:nvPr/>
          </p:nvSpPr>
          <p:spPr>
            <a:xfrm>
              <a:off x="5669280" y="3059595"/>
              <a:ext cx="1316736" cy="137191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volume uplift</a:t>
              </a:r>
              <a:endPara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81" name="slot.row.3.phase.2.mark"/>
          <p:cNvSpPr/>
          <p:nvPr/>
        </p:nvSpPr>
        <p:spPr>
          <a:xfrm>
            <a:off x="10771632" y="2843784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8415" cap="rnd">
            <a:solidFill>
              <a:schemeClr val="bg1"/>
            </a:solidFill>
            <a:round/>
          </a:ln>
          <a:effectLst/>
        </p:spPr>
      </p:sp>
      <p:sp>
        <p:nvSpPr>
          <p:cNvPr id="82" name="slot.row.4.icon"/>
          <p:cNvSpPr/>
          <p:nvPr/>
        </p:nvSpPr>
        <p:spPr>
          <a:xfrm>
            <a:off x="603504" y="3511296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9000"/>
                </a:moveTo>
                <a:cubicBezTo>
                  <a:pt x="9000" y="20657"/>
                  <a:pt x="7657" y="22000"/>
                  <a:pt x="6000" y="22000"/>
                </a:cubicBezTo>
                <a:cubicBezTo>
                  <a:pt x="4343" y="22000"/>
                  <a:pt x="3000" y="20657"/>
                  <a:pt x="3000" y="19000"/>
                </a:cubicBezTo>
                <a:cubicBezTo>
                  <a:pt x="3000" y="17343"/>
                  <a:pt x="4343" y="16000"/>
                  <a:pt x="6000" y="16000"/>
                </a:cubicBezTo>
                <a:cubicBezTo>
                  <a:pt x="7657" y="16000"/>
                  <a:pt x="9000" y="17343"/>
                  <a:pt x="9000" y="19000"/>
                </a:cubicBezTo>
                <a:close/>
                <a:moveTo>
                  <a:pt x="9000" y="19000"/>
                </a:moveTo>
                <a:lnTo>
                  <a:pt x="17500" y="19000"/>
                </a:lnTo>
                <a:cubicBezTo>
                  <a:pt x="19433" y="19000"/>
                  <a:pt x="21000" y="17433"/>
                  <a:pt x="21000" y="15500"/>
                </a:cubicBezTo>
                <a:cubicBezTo>
                  <a:pt x="21000" y="13567"/>
                  <a:pt x="19433" y="12000"/>
                  <a:pt x="17500" y="12000"/>
                </a:cubicBezTo>
                <a:lnTo>
                  <a:pt x="6500" y="12000"/>
                </a:lnTo>
                <a:cubicBezTo>
                  <a:pt x="4567" y="12000"/>
                  <a:pt x="3000" y="10433"/>
                  <a:pt x="3000" y="8500"/>
                </a:cubicBezTo>
                <a:cubicBezTo>
                  <a:pt x="3000" y="6567"/>
                  <a:pt x="4567" y="5000"/>
                  <a:pt x="6500" y="5000"/>
                </a:cubicBezTo>
                <a:lnTo>
                  <a:pt x="15000" y="5000"/>
                </a:lnTo>
                <a:moveTo>
                  <a:pt x="21000" y="5000"/>
                </a:moveTo>
                <a:cubicBezTo>
                  <a:pt x="21000" y="6657"/>
                  <a:pt x="19657" y="8000"/>
                  <a:pt x="18000" y="8000"/>
                </a:cubicBezTo>
                <a:cubicBezTo>
                  <a:pt x="16343" y="8000"/>
                  <a:pt x="15000" y="6657"/>
                  <a:pt x="15000" y="5000"/>
                </a:cubicBezTo>
                <a:cubicBezTo>
                  <a:pt x="15000" y="3343"/>
                  <a:pt x="16343" y="2000"/>
                  <a:pt x="18000" y="2000"/>
                </a:cubicBezTo>
                <a:cubicBezTo>
                  <a:pt x="19657" y="2000"/>
                  <a:pt x="21000" y="3343"/>
                  <a:pt x="21000" y="5000"/>
                </a:cubicBezTo>
                <a:close/>
              </a:path>
            </a:pathLst>
          </a:custGeom>
          <a:noFill/>
          <a:ln w="26035" cap="rnd">
            <a:solidFill>
              <a:schemeClr val="bg1"/>
            </a:solidFill>
            <a:round/>
          </a:ln>
          <a:effectLst/>
        </p:spPr>
      </p:sp>
      <p:grpSp>
        <p:nvGrpSpPr>
          <p:cNvPr id="83" name="slot.row.4.figure"/>
          <p:cNvGrpSpPr/>
          <p:nvPr/>
        </p:nvGrpSpPr>
        <p:grpSpPr>
          <a:xfrm>
            <a:off x="5669280" y="3423470"/>
            <a:ext cx="1316736" cy="486548"/>
            <a:chOff x="5669280" y="3423470"/>
            <a:chExt cx="1316736" cy="486548"/>
          </a:xfrm>
          <a:effectLst/>
        </p:grpSpPr>
        <p:sp>
          <p:nvSpPr>
            <p:cNvPr id="84" name="slot.row.4.figure.value"/>
            <p:cNvSpPr txBox="1"/>
            <p:nvPr/>
          </p:nvSpPr>
          <p:spPr>
            <a:xfrm>
              <a:off x="5669280" y="3423470"/>
              <a:ext cx="1316736" cy="24877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10 to 20%</a:t>
              </a:r>
              <a:endParaRPr lang="en-US" sz="16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85" name="slot.row.4.figure.rule"/>
            <p:cNvCxnSpPr/>
            <p:nvPr/>
          </p:nvCxnSpPr>
          <p:spPr>
            <a:xfrm>
              <a:off x="5669280" y="3717963"/>
              <a:ext cx="1316736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86" name="slot.row.4.figure.label"/>
            <p:cNvSpPr txBox="1"/>
            <p:nvPr/>
          </p:nvSpPr>
          <p:spPr>
            <a:xfrm>
              <a:off x="5669280" y="3772827"/>
              <a:ext cx="1316736" cy="137191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more selling time</a:t>
              </a:r>
              <a:endPara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87" name="slot.row.4.phase.2.mark"/>
          <p:cNvSpPr/>
          <p:nvPr/>
        </p:nvSpPr>
        <p:spPr>
          <a:xfrm>
            <a:off x="10771632" y="3557016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8415" cap="rnd">
            <a:solidFill>
              <a:schemeClr val="bg1"/>
            </a:solidFill>
            <a:round/>
          </a:ln>
          <a:effectLst/>
        </p:spPr>
      </p:sp>
      <p:sp>
        <p:nvSpPr>
          <p:cNvPr id="88" name="slot.row.5.icon"/>
          <p:cNvSpPr/>
          <p:nvPr/>
        </p:nvSpPr>
        <p:spPr>
          <a:xfrm>
            <a:off x="603504" y="422452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7000"/>
                </a:moveTo>
                <a:cubicBezTo>
                  <a:pt x="22000" y="18105"/>
                  <a:pt x="21105" y="19000"/>
                  <a:pt x="20000" y="19000"/>
                </a:cubicBezTo>
                <a:lnTo>
                  <a:pt x="6828" y="19000"/>
                </a:lnTo>
                <a:cubicBezTo>
                  <a:pt x="6298" y="19000"/>
                  <a:pt x="5789" y="19211"/>
                  <a:pt x="5414" y="19586"/>
                </a:cubicBezTo>
                <a:lnTo>
                  <a:pt x="3212" y="21788"/>
                </a:lnTo>
                <a:cubicBezTo>
                  <a:pt x="3009" y="21991"/>
                  <a:pt x="2704" y="22052"/>
                  <a:pt x="2438" y="21942"/>
                </a:cubicBezTo>
                <a:cubicBezTo>
                  <a:pt x="2173" y="21832"/>
                  <a:pt x="2000" y="21573"/>
                  <a:pt x="2000" y="21286"/>
                </a:cubicBezTo>
                <a:lnTo>
                  <a:pt x="2000" y="5000"/>
                </a:lnTo>
                <a:cubicBezTo>
                  <a:pt x="2000" y="3895"/>
                  <a:pt x="2895" y="3000"/>
                  <a:pt x="4000" y="3000"/>
                </a:cubicBezTo>
                <a:lnTo>
                  <a:pt x="20000" y="3000"/>
                </a:lnTo>
                <a:cubicBezTo>
                  <a:pt x="21105" y="3000"/>
                  <a:pt x="22000" y="3895"/>
                  <a:pt x="22000" y="5000"/>
                </a:cubicBezTo>
                <a:close/>
              </a:path>
            </a:pathLst>
          </a:custGeom>
          <a:noFill/>
          <a:ln w="26035" cap="rnd">
            <a:solidFill>
              <a:schemeClr val="bg1"/>
            </a:solidFill>
            <a:round/>
          </a:ln>
          <a:effectLst/>
        </p:spPr>
      </p:sp>
      <p:grpSp>
        <p:nvGrpSpPr>
          <p:cNvPr id="89" name="slot.row.5.figure"/>
          <p:cNvGrpSpPr/>
          <p:nvPr/>
        </p:nvGrpSpPr>
        <p:grpSpPr>
          <a:xfrm>
            <a:off x="5669280" y="4136702"/>
            <a:ext cx="1316736" cy="486548"/>
            <a:chOff x="5669280" y="4136702"/>
            <a:chExt cx="1316736" cy="486548"/>
          </a:xfrm>
          <a:effectLst/>
        </p:grpSpPr>
        <p:sp>
          <p:nvSpPr>
            <p:cNvPr id="90" name="slot.row.5.figure.value"/>
            <p:cNvSpPr txBox="1"/>
            <p:nvPr/>
          </p:nvSpPr>
          <p:spPr>
            <a:xfrm>
              <a:off x="5669280" y="4136702"/>
              <a:ext cx="1316736" cy="24877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30%</a:t>
              </a:r>
              <a:endParaRPr lang="en-US" sz="16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91" name="slot.row.5.figure.rule"/>
            <p:cNvCxnSpPr/>
            <p:nvPr/>
          </p:nvCxnSpPr>
          <p:spPr>
            <a:xfrm>
              <a:off x="5669280" y="4431195"/>
              <a:ext cx="1316736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92" name="slot.row.5.figure.label"/>
            <p:cNvSpPr txBox="1"/>
            <p:nvPr/>
          </p:nvSpPr>
          <p:spPr>
            <a:xfrm>
              <a:off x="5669280" y="4486059"/>
              <a:ext cx="1316736" cy="137191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follow-up response</a:t>
              </a:r>
              <a:endPara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93" name="slot.row.5.phase.3.mark"/>
          <p:cNvSpPr/>
          <p:nvPr/>
        </p:nvSpPr>
        <p:spPr>
          <a:xfrm>
            <a:off x="11356848" y="4270248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8415" cap="rnd">
            <a:solidFill>
              <a:schemeClr val="bg1"/>
            </a:solidFill>
            <a:round/>
          </a:ln>
          <a:effectLst/>
        </p:spPr>
      </p:sp>
      <p:sp>
        <p:nvSpPr>
          <p:cNvPr id="94" name="slot.row.6.icon"/>
          <p:cNvSpPr/>
          <p:nvPr/>
        </p:nvSpPr>
        <p:spPr>
          <a:xfrm>
            <a:off x="603504" y="4937760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12000"/>
                </a:moveTo>
                <a:cubicBezTo>
                  <a:pt x="3000" y="7029"/>
                  <a:pt x="7029" y="3000"/>
                  <a:pt x="12000" y="3000"/>
                </a:cubicBezTo>
                <a:cubicBezTo>
                  <a:pt x="14516" y="3009"/>
                  <a:pt x="16931" y="3991"/>
                  <a:pt x="18740" y="5740"/>
                </a:cubicBezTo>
                <a:lnTo>
                  <a:pt x="21000" y="8000"/>
                </a:lnTo>
                <a:moveTo>
                  <a:pt x="21000" y="3000"/>
                </a:moveTo>
                <a:lnTo>
                  <a:pt x="21000" y="8000"/>
                </a:lnTo>
                <a:lnTo>
                  <a:pt x="16000" y="8000"/>
                </a:lnTo>
                <a:moveTo>
                  <a:pt x="21000" y="12000"/>
                </a:moveTo>
                <a:cubicBezTo>
                  <a:pt x="21000" y="16971"/>
                  <a:pt x="16971" y="21000"/>
                  <a:pt x="12000" y="21000"/>
                </a:cubicBezTo>
                <a:cubicBezTo>
                  <a:pt x="9484" y="20991"/>
                  <a:pt x="7069" y="20009"/>
                  <a:pt x="5260" y="18260"/>
                </a:cubicBezTo>
                <a:lnTo>
                  <a:pt x="3000" y="16000"/>
                </a:lnTo>
                <a:moveTo>
                  <a:pt x="8000" y="16000"/>
                </a:moveTo>
                <a:lnTo>
                  <a:pt x="3000" y="16000"/>
                </a:lnTo>
                <a:lnTo>
                  <a:pt x="3000" y="21000"/>
                </a:lnTo>
              </a:path>
            </a:pathLst>
          </a:custGeom>
          <a:noFill/>
          <a:ln w="26035" cap="rnd">
            <a:solidFill>
              <a:schemeClr val="bg1"/>
            </a:solidFill>
            <a:round/>
          </a:ln>
          <a:effectLst/>
        </p:spPr>
      </p:sp>
      <p:grpSp>
        <p:nvGrpSpPr>
          <p:cNvPr id="95" name="slot.row.6.figure"/>
          <p:cNvGrpSpPr/>
          <p:nvPr/>
        </p:nvGrpSpPr>
        <p:grpSpPr>
          <a:xfrm>
            <a:off x="5669280" y="4849934"/>
            <a:ext cx="1316736" cy="486548"/>
            <a:chOff x="5669280" y="4849934"/>
            <a:chExt cx="1316736" cy="486548"/>
          </a:xfrm>
          <a:effectLst/>
        </p:grpSpPr>
        <p:sp>
          <p:nvSpPr>
            <p:cNvPr id="96" name="slot.row.6.figure.value"/>
            <p:cNvSpPr txBox="1"/>
            <p:nvPr/>
          </p:nvSpPr>
          <p:spPr>
            <a:xfrm>
              <a:off x="5669280" y="4849934"/>
              <a:ext cx="1316736" cy="24877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44%</a:t>
              </a:r>
              <a:endParaRPr lang="en-US" sz="16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97" name="slot.row.6.figure.rule"/>
            <p:cNvCxnSpPr/>
            <p:nvPr/>
          </p:nvCxnSpPr>
          <p:spPr>
            <a:xfrm>
              <a:off x="5669280" y="5144427"/>
              <a:ext cx="1316736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98" name="slot.row.6.figure.label"/>
            <p:cNvSpPr txBox="1"/>
            <p:nvPr/>
          </p:nvSpPr>
          <p:spPr>
            <a:xfrm>
              <a:off x="5669280" y="5199291"/>
              <a:ext cx="1316736" cy="137191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advice accepted</a:t>
              </a:r>
              <a:endPara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99" name="slot.row.6.phase.2.mark"/>
          <p:cNvSpPr/>
          <p:nvPr/>
        </p:nvSpPr>
        <p:spPr>
          <a:xfrm>
            <a:off x="10771632" y="4983480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8415" cap="rnd">
            <a:solidFill>
              <a:schemeClr val="bg1"/>
            </a:solidFill>
            <a:round/>
          </a:ln>
          <a:effectLst/>
        </p:spPr>
      </p:sp>
      <p:sp>
        <p:nvSpPr>
          <p:cNvPr id="100" name="slot.row.6.phase.3.mark"/>
          <p:cNvSpPr/>
          <p:nvPr/>
        </p:nvSpPr>
        <p:spPr>
          <a:xfrm>
            <a:off x="11356848" y="4983480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8415" cap="rnd">
            <a:solidFill>
              <a:schemeClr val="bg1"/>
            </a:solidFill>
            <a:round/>
          </a:ln>
          <a:effectLst/>
        </p:spPr>
      </p:sp>
      <p:grpSp>
        <p:nvGrpSpPr>
          <p:cNvPr id="101" name="slot.band.1"/>
          <p:cNvGrpSpPr/>
          <p:nvPr/>
        </p:nvGrpSpPr>
        <p:grpSpPr>
          <a:xfrm>
            <a:off x="2688336" y="5606744"/>
            <a:ext cx="2682240" cy="563984"/>
            <a:chOff x="2688336" y="5606744"/>
            <a:chExt cx="2682240" cy="563984"/>
          </a:xfrm>
          <a:effectLst/>
        </p:grpSpPr>
        <p:sp>
          <p:nvSpPr>
            <p:cNvPr id="102" name="slot.band.1.value"/>
            <p:cNvSpPr txBox="1"/>
            <p:nvPr/>
          </p:nvSpPr>
          <p:spPr>
            <a:xfrm>
              <a:off x="2688336" y="5606744"/>
              <a:ext cx="2682240" cy="310965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kern="0" dirty="0">
                  <a:solidFill>
                    <a:schemeClr val="accent1">
                      <a:lumMod val="50000"/>
                      <a:lumOff val="50000"/>
                    </a:schemeClr>
                  </a:solidFill>
                  <a:latin typeface="Arial"/>
                  <a:ea typeface="Arial"/>
                  <a:cs typeface="Arial"/>
                </a:rPr>
                <a:t>4 to 8%</a:t>
              </a:r>
              <a:endParaRPr lang="en-US" sz="2000" b="1" i="0" kern="0" dirty="0">
                <a:solidFill>
                  <a:schemeClr val="accent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103" name="slot.band.1.rule"/>
            <p:cNvCxnSpPr/>
            <p:nvPr/>
          </p:nvCxnSpPr>
          <p:spPr>
            <a:xfrm>
              <a:off x="2688336" y="5963430"/>
              <a:ext cx="268224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104" name="slot.band.1.label"/>
            <p:cNvSpPr txBox="1"/>
            <p:nvPr/>
          </p:nvSpPr>
          <p:spPr>
            <a:xfrm>
              <a:off x="2688336" y="6018294"/>
              <a:ext cx="2682240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margin uplift</a:t>
              </a:r>
              <a:endPara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105" name="slot.band.2"/>
          <p:cNvGrpSpPr/>
          <p:nvPr/>
        </p:nvGrpSpPr>
        <p:grpSpPr>
          <a:xfrm>
            <a:off x="5736336" y="5606744"/>
            <a:ext cx="2682240" cy="563984"/>
            <a:chOff x="5736336" y="5606744"/>
            <a:chExt cx="2682240" cy="563984"/>
          </a:xfrm>
          <a:effectLst/>
        </p:grpSpPr>
        <p:sp>
          <p:nvSpPr>
            <p:cNvPr id="106" name="slot.band.2.value"/>
            <p:cNvSpPr txBox="1"/>
            <p:nvPr/>
          </p:nvSpPr>
          <p:spPr>
            <a:xfrm>
              <a:off x="5736336" y="5606744"/>
              <a:ext cx="2682240" cy="310965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kern="0" dirty="0">
                  <a:solidFill>
                    <a:schemeClr val="accent1">
                      <a:lumMod val="50000"/>
                      <a:lumOff val="50000"/>
                    </a:schemeClr>
                  </a:solidFill>
                  <a:latin typeface="Arial"/>
                  <a:ea typeface="Arial"/>
                  <a:cs typeface="Arial"/>
                </a:rPr>
                <a:t>15 to 25%</a:t>
              </a:r>
              <a:endParaRPr lang="en-US" sz="2000" b="1" i="0" kern="0" dirty="0">
                <a:solidFill>
                  <a:schemeClr val="accent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107" name="slot.band.2.rule"/>
            <p:cNvCxnSpPr/>
            <p:nvPr/>
          </p:nvCxnSpPr>
          <p:spPr>
            <a:xfrm>
              <a:off x="5736336" y="5963430"/>
              <a:ext cx="268224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108" name="slot.band.2.label"/>
            <p:cNvSpPr txBox="1"/>
            <p:nvPr/>
          </p:nvSpPr>
          <p:spPr>
            <a:xfrm>
              <a:off x="5736336" y="6018294"/>
              <a:ext cx="2682240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planning effort released</a:t>
              </a:r>
              <a:endPara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109" name="slot.band.3"/>
          <p:cNvGrpSpPr/>
          <p:nvPr/>
        </p:nvGrpSpPr>
        <p:grpSpPr>
          <a:xfrm>
            <a:off x="8784336" y="5606744"/>
            <a:ext cx="2682240" cy="563984"/>
            <a:chOff x="8784336" y="5606744"/>
            <a:chExt cx="2682240" cy="563984"/>
          </a:xfrm>
          <a:effectLst/>
        </p:grpSpPr>
        <p:sp>
          <p:nvSpPr>
            <p:cNvPr id="110" name="slot.band.3.value"/>
            <p:cNvSpPr txBox="1"/>
            <p:nvPr/>
          </p:nvSpPr>
          <p:spPr>
            <a:xfrm>
              <a:off x="8784336" y="5606744"/>
              <a:ext cx="2682240" cy="310965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kern="0" dirty="0">
                  <a:solidFill>
                    <a:schemeClr val="accent1">
                      <a:lumMod val="50000"/>
                      <a:lumOff val="50000"/>
                    </a:schemeClr>
                  </a:solidFill>
                  <a:latin typeface="Arial"/>
                  <a:ea typeface="Arial"/>
                  <a:cs typeface="Arial"/>
                </a:rPr>
                <a:t>3 to 5%</a:t>
              </a:r>
              <a:endParaRPr lang="en-US" sz="2000" b="1" i="0" kern="0" dirty="0">
                <a:solidFill>
                  <a:schemeClr val="accent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111" name="slot.band.3.rule"/>
            <p:cNvCxnSpPr/>
            <p:nvPr/>
          </p:nvCxnSpPr>
          <p:spPr>
            <a:xfrm>
              <a:off x="8784336" y="5963430"/>
              <a:ext cx="268224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112" name="slot.band.3.label"/>
            <p:cNvSpPr txBox="1"/>
            <p:nvPr/>
          </p:nvSpPr>
          <p:spPr>
            <a:xfrm>
              <a:off x="8784336" y="6018294"/>
              <a:ext cx="2682240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more accounts reached</a:t>
              </a:r>
              <a:endPara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igmoid">
  <a:themeElements>
    <a:clrScheme name="sigmoid">
      <a:dk1>
        <a:srgbClr val="000000"/>
      </a:dk1>
      <a:lt1>
        <a:srgbClr val="FFFFFF"/>
      </a:lt1>
      <a:dk2>
        <a:srgbClr val="4B5960"/>
      </a:dk2>
      <a:lt2>
        <a:srgbClr val="E7E6E6"/>
      </a:lt2>
      <a:accent1>
        <a:srgbClr val="D91E18"/>
      </a:accent1>
      <a:accent2>
        <a:srgbClr val="1E3C7D"/>
      </a:accent2>
      <a:accent3>
        <a:srgbClr val="00A0E9"/>
      </a:accent3>
      <a:accent4>
        <a:srgbClr val="A6A6A6"/>
      </a:accent4>
      <a:accent5>
        <a:srgbClr val="D9D9D9"/>
      </a:accent5>
      <a:accent6>
        <a:srgbClr val="6B7983"/>
      </a:accent6>
      <a:hlink>
        <a:srgbClr val="1E3C7D"/>
      </a:hlink>
      <a:folHlink>
        <a:srgbClr val="6B7983"/>
      </a:folHlink>
    </a:clrScheme>
    <a:fontScheme name="sigmoid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igmoi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Custom</PresentationFormat>
  <Slides>44</Slides>
  <Company>Sigmoid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Device library</dc:title>
  <dc:creator>Sigmoid</dc:creator>
  <cp:lastModifiedBy>Sigmoid</cp:lastModifiedBy>
  <cp:revision>1</cp:revision>
  <dcterms:created xsi:type="dcterms:W3CDTF">2026-10-03T00:00:00Z</dcterms:created>
  <dcterms:modified xsi:type="dcterms:W3CDTF">2026-10-03T00:00:00Z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eckkit:256">
    <vt:lpwstr>the-ask:decision-cards-rail</vt:lpwstr>
  </property>
  <property fmtid="{D5CDD505-2E9C-101B-9397-08002B2CF9AE}" pid="3" name="deckkit:257">
    <vt:lpwstr>deep-dive:stage-band-brief-rail</vt:lpwstr>
  </property>
  <property fmtid="{D5CDD505-2E9C-101B-9397-08002B2CF9AE}" pid="4" name="deckkit:258">
    <vt:lpwstr>case-study:context-flow-results-rail</vt:lpwstr>
  </property>
  <property fmtid="{D5CDD505-2E9C-101B-9397-08002B2CF9AE}" pid="5" name="deckkit:259">
    <vt:lpwstr>governance-model:forum-calendars-escalation</vt:lpwstr>
  </property>
  <property fmtid="{D5CDD505-2E9C-101B-9397-08002B2CF9AE}" pid="6" name="deckkit:260">
    <vt:lpwstr>process-flow:chevron-stages-detail-panel</vt:lpwstr>
  </property>
  <property fmtid="{D5CDD505-2E9C-101B-9397-08002B2CF9AE}" pid="7" name="deckkit:261">
    <vt:lpwstr>phased-roadmap:wave-fanout-sites</vt:lpwstr>
  </property>
  <property fmtid="{D5CDD505-2E9C-101B-9397-08002B2CF9AE}" pid="8" name="deckkit:262">
    <vt:lpwstr>process-flow:gated-pipeline-stage-cards</vt:lpwstr>
  </property>
  <property fmtid="{D5CDD505-2E9C-101B-9397-08002B2CF9AE}" pid="9" name="deckkit:263">
    <vt:lpwstr>use-case-map:domain-tabs-agent-mesh</vt:lpwstr>
  </property>
  <property fmtid="{D5CDD505-2E9C-101B-9397-08002B2CF9AE}" pid="10" name="deckkit:264">
    <vt:lpwstr>value-horizons:s-curve-vignettes</vt:lpwstr>
  </property>
  <property fmtid="{D5CDD505-2E9C-101B-9397-08002B2CF9AE}" pid="11" name="deckkit:265">
    <vt:lpwstr>worked-example:stage-columns-hub-trace</vt:lpwstr>
  </property>
  <property fmtid="{D5CDD505-2E9C-101B-9397-08002B2CF9AE}" pid="12" name="deckkit:266">
    <vt:lpwstr>gantt:phase-lane-milestone-axis-stat-row</vt:lpwstr>
  </property>
  <property fmtid="{D5CDD505-2E9C-101B-9397-08002B2CF9AE}" pid="13" name="deckkit:267">
    <vt:lpwstr>governance-model:role-hub-workflow-escalation</vt:lpwstr>
  </property>
  <property fmtid="{D5CDD505-2E9C-101B-9397-08002B2CF9AE}" pid="14" name="deckkit:268">
    <vt:lpwstr>gantt:milestone-axis-phase-cards</vt:lpwstr>
  </property>
  <property fmtid="{D5CDD505-2E9C-101B-9397-08002B2CF9AE}" pid="15" name="deckkit:269">
    <vt:lpwstr>from-to-shift:channel-mesh-to-agent-hub</vt:lpwstr>
  </property>
  <property fmtid="{D5CDD505-2E9C-101B-9397-08002B2CF9AE}" pid="16" name="deckkit:270">
    <vt:lpwstr>value-horizons:step-network-handover</vt:lpwstr>
  </property>
  <property fmtid="{D5CDD505-2E9C-101B-9397-08002B2CF9AE}" pid="17" name="deckkit:271">
    <vt:lpwstr>principles:principle-columns-proof-diagrams</vt:lpwstr>
  </property>
  <property fmtid="{D5CDD505-2E9C-101B-9397-08002B2CF9AE}" pid="18" name="deckkit:272">
    <vt:lpwstr>headline-figures:disc-band-figures-card-row</vt:lpwstr>
  </property>
  <property fmtid="{D5CDD505-2E9C-101B-9397-08002B2CF9AE}" pid="19" name="deckkit:273">
    <vt:lpwstr>decision-logic:slanted-lanes</vt:lpwstr>
  </property>
  <property fmtid="{D5CDD505-2E9C-101B-9397-08002B2CF9AE}" pid="20" name="deckkit:274">
    <vt:lpwstr>process-flow:funnel-route-columns</vt:lpwstr>
  </property>
  <property fmtid="{D5CDD505-2E9C-101B-9397-08002B2CF9AE}" pid="21" name="deckkit:275">
    <vt:lpwstr>maturity-model:indented-ladder-status-rail</vt:lpwstr>
  </property>
  <property fmtid="{D5CDD505-2E9C-101B-9397-08002B2CF9AE}" pid="22" name="deckkit:276">
    <vt:lpwstr>layered-architecture:source-band-stage-cards-enablers</vt:lpwstr>
  </property>
  <property fmtid="{D5CDD505-2E9C-101B-9397-08002B2CF9AE}" pid="23" name="deckkit:277">
    <vt:lpwstr>maturity-model:rising-curve-foundations-rail</vt:lpwstr>
  </property>
  <property fmtid="{D5CDD505-2E9C-101B-9397-08002B2CF9AE}" pid="24" name="deckkit:278">
    <vt:lpwstr>phased-roadmap:gated-rail-phase-columns-loop</vt:lpwstr>
  </property>
  <property fmtid="{D5CDD505-2E9C-101B-9397-08002B2CF9AE}" pid="25" name="deckkit:279">
    <vt:lpwstr>convergence-hub:nested-core-feeders-outcomes</vt:lpwstr>
  </property>
  <property fmtid="{D5CDD505-2E9C-101B-9397-08002B2CF9AE}" pid="26" name="deckkit:280">
    <vt:lpwstr>input-process-output:pill-triptych-step-stack-proofs</vt:lpwstr>
  </property>
  <property fmtid="{D5CDD505-2E9C-101B-9397-08002B2CF9AE}" pid="27" name="deckkit:281">
    <vt:lpwstr>decision-logic:staged-rule-lanes</vt:lpwstr>
  </property>
  <property fmtid="{D5CDD505-2E9C-101B-9397-08002B2CF9AE}" pid="28" name="deckkit:282">
    <vt:lpwstr>prioritization-matrix:value-effort-waves</vt:lpwstr>
  </property>
  <property fmtid="{D5CDD505-2E9C-101B-9397-08002B2CF9AE}" pid="29" name="deckkit:283">
    <vt:lpwstr>value-horizons:winding-road-growing-cards</vt:lpwstr>
  </property>
  <property fmtid="{D5CDD505-2E9C-101B-9397-08002B2CF9AE}" pid="30" name="deckkit:284">
    <vt:lpwstr>hub-and-spoke:half-wheel-layered-base</vt:lpwstr>
  </property>
  <property fmtid="{D5CDD505-2E9C-101B-9397-08002B2CF9AE}" pid="31" name="deckkit:285">
    <vt:lpwstr>convergence-hub:lanes-into-ring-mosaic-readout</vt:lpwstr>
  </property>
  <property fmtid="{D5CDD505-2E9C-101B-9397-08002B2CF9AE}" pid="32" name="deckkit:286">
    <vt:lpwstr>cover:stack-brand-field-motif</vt:lpwstr>
  </property>
  <property fmtid="{D5CDD505-2E9C-101B-9397-08002B2CF9AE}" pid="33" name="deckkit:287">
    <vt:lpwstr>agenda:lit-quadrant-grid</vt:lpwstr>
  </property>
  <property fmtid="{D5CDD505-2E9C-101B-9397-08002B2CF9AE}" pid="34" name="deckkit:288">
    <vt:lpwstr>section-divider:ghost-numeral</vt:lpwstr>
  </property>
  <property fmtid="{D5CDD505-2E9C-101B-9397-08002B2CF9AE}" pid="35" name="deckkit:289">
    <vt:lpwstr>closing:promise-panel-close</vt:lpwstr>
  </property>
  <property fmtid="{D5CDD505-2E9C-101B-9397-08002B2CF9AE}" pid="36" name="deckkit:290">
    <vt:lpwstr>lifecycle-loop:wedge-ring-panels</vt:lpwstr>
  </property>
  <property fmtid="{D5CDD505-2E9C-101B-9397-08002B2CF9AE}" pid="37" name="deckkit:291">
    <vt:lpwstr>engagement-model:queue-gated-tracks-stack</vt:lpwstr>
  </property>
  <property fmtid="{D5CDD505-2E9C-101B-9397-08002B2CF9AE}" pid="38" name="deckkit:292">
    <vt:lpwstr>offering-pillars:pillar-artifact-wells</vt:lpwstr>
  </property>
  <property fmtid="{D5CDD505-2E9C-101B-9397-08002B2CF9AE}" pid="39" name="deckkit:293">
    <vt:lpwstr>options-comparison:matrix-and-wiring-arithmetic</vt:lpwstr>
  </property>
  <property fmtid="{D5CDD505-2E9C-101B-9397-08002B2CF9AE}" pid="40" name="deckkit:294">
    <vt:lpwstr>credentials:scale-band-ring-footprint</vt:lpwstr>
  </property>
  <property fmtid="{D5CDD505-2E9C-101B-9397-08002B2CF9AE}" pid="41" name="deckkit:295">
    <vt:lpwstr>executive-summary:ask-rail-response</vt:lpwstr>
  </property>
  <property fmtid="{D5CDD505-2E9C-101B-9397-08002B2CF9AE}" pid="42" name="deckkit:296">
    <vt:lpwstr>why-us:reason-mosaic-platform-strip</vt:lpwstr>
  </property>
  <property fmtid="{D5CDD505-2E9C-101B-9397-08002B2CF9AE}" pid="43" name="deckkit:297">
    <vt:lpwstr>reference-table:coded-rows-cluster-map</vt:lpwstr>
  </property>
  <property fmtid="{D5CDD505-2E9C-101B-9397-08002B2CF9AE}" pid="44" name="deckkit:298">
    <vt:lpwstr>catalogue:io-wells</vt:lpwstr>
  </property>
  <property fmtid="{D5CDD505-2E9C-101B-9397-08002B2CF9AE}" pid="45" name="deckkit:299">
    <vt:lpwstr>coverage-matrix:lane-phase-matrix</vt:lpwstr>
  </property>
</Properties>
</file>