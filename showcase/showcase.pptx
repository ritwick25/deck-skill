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media/image118.svg" ContentType="image/svg+xml"/>
  <Override PartName="/ppt/media/image121.svg" ContentType="image/svg+xml"/>
  <Override PartName="/ppt/media/image124.svg" ContentType="image/svg+xml"/>
  <Override PartName="/ppt/media/image21.svg" ContentType="image/svg+xml"/>
  <Override PartName="/ppt/media/image32.svg" ContentType="image/svg+xml"/>
  <Override PartName="/ppt/media/image3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12192000" cy="6858000"/>
  <p:notesSz cx="6858000" cy="9144000"/>
  <p:defaultTextStyle>
    <a:defPPr>
      <a:defRPr lang="en-US"/>
    </a:defPPr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21292"/>
          <c:y val="0.01604"/>
          <c:w val="0.68156"/>
          <c:h val="0.9679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Collect signals</c:v>
                </c:pt>
                <c:pt idx="1">
                  <c:v>Rewrite by region</c:v>
                </c:pt>
                <c:pt idx="2">
                  <c:v>Medical review</c:v>
                </c:pt>
                <c:pt idx="3">
                  <c:v>Send to reps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1.0</c:v>
                </c:pt>
              </c:numCache>
            </c:numRef>
          </c:val>
        </c:ser>
        <c:gapWidth val="65"/>
        <c:axId val="50010"/>
        <c:axId val="50020"/>
      </c:barChart>
      <c:catAx>
        <c:axId val="5001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>
            <a:solidFill>
              <a:schemeClr val="bg1">
                <a:lumMod val="75000"/>
              </a:schemeClr>
            </a:solidFill>
          </a:ln>
        </c:spPr>
        <c:txPr>
          <a:bodyPr rot="0" vert="horz"/>
          <a:lstStyle/>
          <a:p>
            <a:pPr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20"/>
        <c:crosses val="autoZero"/>
        <c:auto val="1"/>
        <c:lblAlgn val="ctr"/>
        <c:lblOffset val="100"/>
        <c:noMultiLvlLbl val="1"/>
      </c:catAx>
      <c:valAx>
        <c:axId val="50020"/>
        <c:scaling>
          <c:orientation val="minMax"/>
          <c:max val="2"/>
          <c:min val="0"/>
        </c:scaling>
        <c:delete val="1"/>
        <c:axPos val="b"/>
        <c:numFmt formatCode="#,##0" sourceLinked="0"/>
        <c:majorTickMark val="none"/>
        <c:minorTickMark val="none"/>
        <c:tickLblPos val="none"/>
        <c:spPr>
          <a:noFill/>
          <a:ln>
            <a:noFill/>
          </a:ln>
        </c:spPr>
        <c:txPr>
          <a:bodyPr rot="0" vert="horz"/>
          <a:lstStyle/>
          <a:p>
            <a:pPr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10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rot="0" vert="horz"/>
    <a:lstStyle/>
    <a:p>
      <a:pPr>
        <a:defRPr sz="1000" b="0">
          <a:solidFill>
            <a:schemeClr val="tx1">
              <a:lumMod val="65000"/>
              <a:lumOff val="35000"/>
            </a:schemeClr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3609"/>
          <c:y val="0.10352"/>
          <c:w val="0.94453"/>
          <c:h val="0.8007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Wave 1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1.5</c:v>
                </c:pt>
                <c:pt idx="1">
                  <c:v>2.0</c:v>
                </c:pt>
                <c:pt idx="2">
                  <c:v>2.6</c:v>
                </c:pt>
                <c:pt idx="3">
                  <c:v>1.2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4.6</c:v>
                </c:pt>
                <c:pt idx="1">
                  <c:v>4.0</c:v>
                </c:pt>
                <c:pt idx="2">
                  <c:v>4.4</c:v>
                </c:pt>
                <c:pt idx="3">
                  <c:v>3.5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</c:f>
              <c:strCache>
                <c:ptCount val="1"/>
                <c:pt idx="0">
                  <c:v>Wave 2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</c:spPr>
          </c:marker>
          <c:xVal>
            <c:numRef>
              <c:f>Sheet1!$A$8:$A$11</c:f>
              <c:numCache>
                <c:formatCode>General</c:formatCode>
                <c:ptCount val="4"/>
                <c:pt idx="0">
                  <c:v>3.4</c:v>
                </c:pt>
                <c:pt idx="1">
                  <c:v>2.4</c:v>
                </c:pt>
                <c:pt idx="2">
                  <c:v>4.2</c:v>
                </c:pt>
                <c:pt idx="3">
                  <c:v>3.6</c:v>
                </c:pt>
              </c:numCache>
            </c:numRef>
          </c:xVal>
          <c:yVal>
            <c:numRef>
              <c:f>Sheet1!$B$8:$B$11</c:f>
              <c:numCache>
                <c:formatCode>General</c:formatCode>
                <c:ptCount val="4"/>
                <c:pt idx="0">
                  <c:v>4.2</c:v>
                </c:pt>
                <c:pt idx="1">
                  <c:v>2.6</c:v>
                </c:pt>
                <c:pt idx="2">
                  <c:v>3.6</c:v>
                </c:pt>
                <c:pt idx="3">
                  <c:v>3.2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Sheet1!$B$13</c:f>
              <c:strCache>
                <c:ptCount val="1"/>
                <c:pt idx="0">
                  <c:v>Later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chemeClr val="bg1">
                  <a:lumMod val="55000"/>
                </a:schemeClr>
              </a:solidFill>
              <a:ln w="9525">
                <a:solidFill>
                  <a:schemeClr val="bg1">
                    <a:lumMod val="55000"/>
                  </a:schemeClr>
                </a:solidFill>
              </a:ln>
            </c:spPr>
          </c:marker>
          <c:xVal>
            <c:numRef>
              <c:f>Sheet1!$A$14:$A$17</c:f>
              <c:numCache>
                <c:formatCode>General</c:formatCode>
                <c:ptCount val="4"/>
                <c:pt idx="0">
                  <c:v>4.5</c:v>
                </c:pt>
                <c:pt idx="1">
                  <c:v>3.2</c:v>
                </c:pt>
                <c:pt idx="2">
                  <c:v>1.8</c:v>
                </c:pt>
                <c:pt idx="3">
                  <c:v>4.6</c:v>
                </c:pt>
              </c:numCache>
            </c:numRef>
          </c:xVal>
          <c:yVal>
            <c:numRef>
              <c:f>Sheet1!$B$14:$B$17</c:f>
              <c:numCache>
                <c:formatCode>General</c:formatCode>
                <c:ptCount val="4"/>
                <c:pt idx="0">
                  <c:v>2.4</c:v>
                </c:pt>
                <c:pt idx="1">
                  <c:v>1.8</c:v>
                </c:pt>
                <c:pt idx="2">
                  <c:v>1.5</c:v>
                </c:pt>
                <c:pt idx="3">
                  <c:v>1.4</c:v>
                </c:pt>
              </c:numCache>
            </c:numRef>
          </c:yVal>
          <c:smooth val="0"/>
        </c:ser>
        <c:axId val="50030"/>
        <c:axId val="50040"/>
      </c:scatterChart>
      <c:valAx>
        <c:axId val="50030"/>
        <c:scaling>
          <c:orientation val="minMax"/>
          <c:max val="5"/>
          <c:min val="1"/>
        </c:scaling>
        <c:delete val="0"/>
        <c:axPos val="b"/>
        <c:numFmt formatCode="0" sourceLinked="0"/>
        <c:majorTickMark val="none"/>
        <c:minorTickMark val="none"/>
        <c:tickLblPos val="nextTo"/>
        <c:spPr>
          <a:noFill/>
          <a:ln w="9525">
            <a:solidFill>
              <a:schemeClr val="bg1">
                <a:lumMod val="75000"/>
              </a:schemeClr>
            </a:solidFill>
          </a:ln>
        </c:spPr>
        <c:txPr>
          <a:bodyPr rot="0" vert="horz"/>
          <a:lstStyle/>
          <a:p>
            <a:pPr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40"/>
        <c:crosses val="autoZero"/>
        <c:crossBetween val="midCat"/>
        <c:majorUnit val="1"/>
      </c:valAx>
      <c:valAx>
        <c:axId val="50040"/>
        <c:scaling>
          <c:orientation val="minMax"/>
          <c:max val="5"/>
          <c:min val="1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 w="9525">
            <a:solidFill>
              <a:schemeClr val="bg1">
                <a:lumMod val="75000"/>
              </a:schemeClr>
            </a:solidFill>
          </a:ln>
        </c:spPr>
        <c:txPr>
          <a:bodyPr rot="0" vert="horz"/>
          <a:lstStyle/>
          <a:p>
            <a:pPr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30"/>
        <c:crosses val="autoZero"/>
        <c:crossBetween val="midCat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rot="0" vert="horz"/>
    <a:lstStyle/>
    <a:p>
      <a:pPr>
        <a:defRPr sz="1000" b="0">
          <a:solidFill>
            <a:schemeClr val="tx1">
              <a:lumMod val="65000"/>
              <a:lumOff val="35000"/>
            </a:schemeClr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1379"/>
          <c:y val="0.15478"/>
          <c:w val="0.97242"/>
          <c:h val="0.761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1.0</c:v>
                </c:pt>
              </c:numCache>
            </c:numRef>
          </c:val>
        </c:ser>
        <c:gapWidth val="285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>
            <a:solidFill>
              <a:schemeClr val="bg1">
                <a:lumMod val="75000"/>
              </a:schemeClr>
            </a:solidFill>
          </a:ln>
        </c:spPr>
        <c:txPr>
          <a:bodyPr rot="0" vert="horz"/>
          <a:lstStyle/>
          <a:p>
            <a:pPr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20"/>
        <c:crosses val="autoZero"/>
        <c:auto val="1"/>
        <c:lblAlgn val="ctr"/>
        <c:lblOffset val="100"/>
        <c:noMultiLvlLbl val="1"/>
      </c:catAx>
      <c:valAx>
        <c:axId val="50020"/>
        <c:scaling>
          <c:orientation val="minMax"/>
          <c:max val="4"/>
          <c:min val="0"/>
        </c:scaling>
        <c:delete val="1"/>
        <c:axPos val="l"/>
        <c:numFmt formatCode="#,##0" sourceLinked="0"/>
        <c:majorTickMark val="none"/>
        <c:minorTickMark val="none"/>
        <c:tickLblPos val="none"/>
        <c:spPr>
          <a:noFill/>
          <a:ln>
            <a:noFill/>
          </a:ln>
        </c:spPr>
        <c:txPr>
          <a:bodyPr rot="0" vert="horz"/>
          <a:lstStyle/>
          <a:p>
            <a:pPr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10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rot="0" vert="horz"/>
    <a:lstStyle/>
    <a:p>
      <a:pPr>
        <a:defRPr sz="1000" b="0">
          <a:solidFill>
            <a:schemeClr val="tx1">
              <a:lumMod val="65000"/>
              <a:lumOff val="35000"/>
            </a:schemeClr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9849"/>
          <c:y val="0.05188"/>
          <c:w val="0.70709"/>
          <c:h val="0.9373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Build, three gates</c:v>
                </c:pt>
                <c:pt idx="1">
                  <c:v>Run, 12 x $24K</c:v>
                </c:pt>
                <c:pt idx="2">
                  <c:v>First-year 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180.0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Build, three gates</c:v>
                </c:pt>
                <c:pt idx="1">
                  <c:v>Run, 12 x $24K</c:v>
                </c:pt>
                <c:pt idx="2">
                  <c:v>First-year total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180.0</c:v>
                </c:pt>
                <c:pt idx="1">
                  <c:v>288.0</c:v>
                </c:pt>
                <c:pt idx="2">
                  <c:v>468.0</c:v>
                </c:pt>
              </c:numCache>
            </c:numRef>
          </c:val>
        </c:ser>
        <c:gapWidth val="218"/>
        <c:overlap val="100"/>
        <c:axId val="50010"/>
        <c:axId val="50020"/>
      </c:barChart>
      <c:catAx>
        <c:axId val="5001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>
            <a:solidFill>
              <a:schemeClr val="bg1">
                <a:lumMod val="75000"/>
              </a:schemeClr>
            </a:solidFill>
          </a:ln>
        </c:spPr>
        <c:txPr>
          <a:bodyPr rot="0" vert="horz"/>
          <a:lstStyle/>
          <a:p>
            <a:pPr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20"/>
        <c:crosses val="autoZero"/>
        <c:auto val="1"/>
        <c:lblAlgn val="ctr"/>
        <c:lblOffset val="100"/>
        <c:noMultiLvlLbl val="1"/>
      </c:catAx>
      <c:valAx>
        <c:axId val="50020"/>
        <c:scaling>
          <c:orientation val="minMax"/>
          <c:max val="468"/>
          <c:min val="0"/>
        </c:scaling>
        <c:delete val="1"/>
        <c:axPos val="b"/>
        <c:numFmt formatCode="#,##0" sourceLinked="0"/>
        <c:majorTickMark val="none"/>
        <c:minorTickMark val="none"/>
        <c:tickLblPos val="none"/>
        <c:spPr>
          <a:noFill/>
          <a:ln>
            <a:noFill/>
          </a:ln>
        </c:spPr>
        <c:txPr>
          <a:bodyPr rot="0" vert="horz"/>
          <a:lstStyle/>
          <a:p>
            <a:pPr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10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rot="0" vert="horz"/>
    <a:lstStyle/>
    <a:p>
      <a:pPr>
        <a:defRPr sz="1000" b="0">
          <a:solidFill>
            <a:schemeClr val="tx1">
              <a:lumMod val="65000"/>
              <a:lumOff val="35000"/>
            </a:schemeClr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7042"/>
          <c:y val="0.07037"/>
          <c:w val="0.89302"/>
          <c:h val="0.8711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Reps</c:v>
                </c:pt>
              </c:strCache>
            </c:strRef>
          </c:tx>
          <c:spPr>
            <a:solidFill>
              <a:schemeClr val="accent1">
                <a:lumMod val="10000"/>
                <a:lumOff val="90000"/>
              </a:schemeClr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Today</c:v>
                </c:pt>
                <c:pt idx="1">
                  <c:v>Pilot, Dec 2026</c:v>
                </c:pt>
                <c:pt idx="2">
                  <c:v>Rollout, Jan 2027</c:v>
                </c:pt>
                <c:pt idx="3">
                  <c:v>Brand three, Sep 2027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200.0</c:v>
                </c:pt>
                <c:pt idx="2">
                  <c:v>1200.0</c:v>
                </c:pt>
                <c:pt idx="3">
                  <c:v>1200.0</c:v>
                </c:pt>
              </c:numCache>
            </c:numRef>
          </c:val>
        </c:ser>
        <c:axId val="50010"/>
        <c:axId val="50020"/>
      </c:areaChart>
      <c:lineChart>
        <c:grouping val="standar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Reps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</c:spPr>
          <c:marker>
            <c:symbol val="circle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Today</c:v>
                </c:pt>
                <c:pt idx="1">
                  <c:v>Pilot, Dec 2026</c:v>
                </c:pt>
                <c:pt idx="2">
                  <c:v>Rollout, Jan 2027</c:v>
                </c:pt>
                <c:pt idx="3">
                  <c:v>Brand three, Sep 2027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200.0</c:v>
                </c:pt>
                <c:pt idx="2">
                  <c:v>1200.0</c:v>
                </c:pt>
                <c:pt idx="3">
                  <c:v>1200.0</c:v>
                </c:pt>
              </c:numCache>
            </c:numRef>
          </c:val>
          <c:smooth val="0"/>
        </c:ser>
        <c:marker val="1"/>
        <c:axId val="50010"/>
        <c:axId val="50020"/>
      </c:lineChart>
      <c:catAx>
        <c:axId val="500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>
            <a:solidFill>
              <a:schemeClr val="bg1">
                <a:lumMod val="75000"/>
              </a:schemeClr>
            </a:solidFill>
          </a:ln>
        </c:spPr>
        <c:txPr>
          <a:bodyPr rot="0" vert="horz"/>
          <a:lstStyle/>
          <a:p>
            <a:pPr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20"/>
        <c:crosses val="autoZero"/>
        <c:auto val="1"/>
        <c:lblAlgn val="ctr"/>
        <c:lblOffset val="100"/>
        <c:noMultiLvlLbl val="1"/>
      </c:catAx>
      <c:valAx>
        <c:axId val="50020"/>
        <c:scaling>
          <c:orientation val="minMax"/>
          <c:max val="1500"/>
          <c:min val="0"/>
        </c:scaling>
        <c:delete val="0"/>
        <c:axPos val="l"/>
        <c:majorGridlines>
          <c:spPr>
            <a:noFill/>
            <a:ln w="9525">
              <a:solidFill>
                <a:schemeClr val="bg1">
                  <a:lumMod val="85000"/>
                </a:schemeClr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rot="0" vert="horz"/>
          <a:lstStyle/>
          <a:p>
            <a:pPr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10"/>
        <c:crosses val="autoZero"/>
        <c:crossBetween val="between"/>
        <c:majorUnit val="5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 rot="0" vert="horz"/>
    <a:lstStyle/>
    <a:p>
      <a:pPr>
        <a:defRPr sz="1000" b="0">
          <a:solidFill>
            <a:schemeClr val="tx1">
              <a:lumMod val="65000"/>
              <a:lumOff val="35000"/>
            </a:schemeClr>
          </a:solidFill>
          <a:latin typeface="+mn-lt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100" b="1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sv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Relationship Id="rId21" Type="http://schemas.openxmlformats.org/officeDocument/2006/relationships/image" Target="../media/image29.png"/><Relationship Id="rId22" Type="http://schemas.openxmlformats.org/officeDocument/2006/relationships/image" Target="../media/image7.png"/><Relationship Id="rId23" Type="http://schemas.openxmlformats.org/officeDocument/2006/relationships/image" Target="../media/image30.png"/><Relationship Id="rId24" Type="http://schemas.openxmlformats.org/officeDocument/2006/relationships/image" Target="../media/image8.png"/><Relationship Id="rId25" Type="http://schemas.openxmlformats.org/officeDocument/2006/relationships/image" Target="../media/image3.png"/><Relationship Id="rId26" Type="http://schemas.openxmlformats.org/officeDocument/2006/relationships/image" Target="../media/image2.png"/><Relationship Id="rId27" Type="http://schemas.openxmlformats.org/officeDocument/2006/relationships/image" Target="../media/image31.png"/><Relationship Id="rId28" Type="http://schemas.openxmlformats.org/officeDocument/2006/relationships/image" Target="../media/image32.svg"/><Relationship Id="rId29" Type="http://schemas.openxmlformats.org/officeDocument/2006/relationships/image" Target="../media/image33.png"/><Relationship Id="rId30" Type="http://schemas.openxmlformats.org/officeDocument/2006/relationships/image" Target="../media/image34.svg"/><Relationship Id="rId31" Type="http://schemas.openxmlformats.org/officeDocument/2006/relationships/image" Target="../media/image6.png"/><Relationship Id="rId32" Type="http://schemas.openxmlformats.org/officeDocument/2006/relationships/image" Target="../media/image4.png"/><Relationship Id="rId33" Type="http://schemas.openxmlformats.org/officeDocument/2006/relationships/image" Target="../media/image35.png"/><Relationship Id="rId34" Type="http://schemas.openxmlformats.org/officeDocument/2006/relationships/image" Target="../media/image36.png"/><Relationship Id="rId35" Type="http://schemas.openxmlformats.org/officeDocument/2006/relationships/image" Target="../media/image37.png"/><Relationship Id="rId36" Type="http://schemas.openxmlformats.org/officeDocument/2006/relationships/image" Target="../media/image38.png"/><Relationship Id="rId37" Type="http://schemas.openxmlformats.org/officeDocument/2006/relationships/image" Target="../media/image39.png"/><Relationship Id="rId38" Type="http://schemas.openxmlformats.org/officeDocument/2006/relationships/image" Target="../media/image40.png"/><Relationship Id="rId39" Type="http://schemas.openxmlformats.org/officeDocument/2006/relationships/image" Target="../media/image41.png"/><Relationship Id="rId40" Type="http://schemas.openxmlformats.org/officeDocument/2006/relationships/image" Target="../media/image4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21.svg"/><Relationship Id="rId8" Type="http://schemas.openxmlformats.org/officeDocument/2006/relationships/image" Target="../media/image37.png"/><Relationship Id="rId9" Type="http://schemas.openxmlformats.org/officeDocument/2006/relationships/image" Target="../media/image36.png"/><Relationship Id="rId10" Type="http://schemas.openxmlformats.org/officeDocument/2006/relationships/image" Target="../media/image5.png"/><Relationship Id="rId11" Type="http://schemas.openxmlformats.org/officeDocument/2006/relationships/image" Target="../media/image7.png"/><Relationship Id="rId12" Type="http://schemas.openxmlformats.org/officeDocument/2006/relationships/image" Target="../media/image2.png"/><Relationship Id="rId13" Type="http://schemas.openxmlformats.org/officeDocument/2006/relationships/image" Target="../media/image8.png"/><Relationship Id="rId14" Type="http://schemas.openxmlformats.org/officeDocument/2006/relationships/image" Target="../media/image3.png"/><Relationship Id="rId15" Type="http://schemas.openxmlformats.org/officeDocument/2006/relationships/image" Target="../media/image46.png"/><Relationship Id="rId16" Type="http://schemas.openxmlformats.org/officeDocument/2006/relationships/image" Target="../media/image6.png"/><Relationship Id="rId17" Type="http://schemas.openxmlformats.org/officeDocument/2006/relationships/image" Target="../media/image47.png"/><Relationship Id="rId18" Type="http://schemas.openxmlformats.org/officeDocument/2006/relationships/image" Target="../media/image48.png"/><Relationship Id="rId19" Type="http://schemas.openxmlformats.org/officeDocument/2006/relationships/image" Target="../media/image49.png"/><Relationship Id="rId20" Type="http://schemas.openxmlformats.org/officeDocument/2006/relationships/image" Target="../media/image16.png"/><Relationship Id="rId21" Type="http://schemas.openxmlformats.org/officeDocument/2006/relationships/image" Target="../media/image50.png"/><Relationship Id="rId22" Type="http://schemas.openxmlformats.org/officeDocument/2006/relationships/image" Target="../media/image18.png"/><Relationship Id="rId23" Type="http://schemas.openxmlformats.org/officeDocument/2006/relationships/image" Target="../media/image42.png"/><Relationship Id="rId24" Type="http://schemas.openxmlformats.org/officeDocument/2006/relationships/image" Target="../media/image22.png"/><Relationship Id="rId25" Type="http://schemas.openxmlformats.org/officeDocument/2006/relationships/image" Target="../media/image3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5.png"/><Relationship Id="rId8" Type="http://schemas.openxmlformats.org/officeDocument/2006/relationships/image" Target="../media/image6.png"/><Relationship Id="rId9" Type="http://schemas.openxmlformats.org/officeDocument/2006/relationships/image" Target="../media/image51.png"/><Relationship Id="rId10" Type="http://schemas.openxmlformats.org/officeDocument/2006/relationships/image" Target="../media/image32.svg"/><Relationship Id="rId11" Type="http://schemas.openxmlformats.org/officeDocument/2006/relationships/image" Target="../media/image2.png"/><Relationship Id="rId12" Type="http://schemas.openxmlformats.org/officeDocument/2006/relationships/image" Target="../media/image8.png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5" Type="http://schemas.openxmlformats.org/officeDocument/2006/relationships/image" Target="../media/image42.png"/><Relationship Id="rId16" Type="http://schemas.openxmlformats.org/officeDocument/2006/relationships/image" Target="../media/image19.png"/><Relationship Id="rId17" Type="http://schemas.openxmlformats.org/officeDocument/2006/relationships/image" Target="../media/image16.png"/><Relationship Id="rId18" Type="http://schemas.openxmlformats.org/officeDocument/2006/relationships/image" Target="../media/image30.png"/><Relationship Id="rId19" Type="http://schemas.openxmlformats.org/officeDocument/2006/relationships/image" Target="../media/image52.png"/><Relationship Id="rId20" Type="http://schemas.openxmlformats.org/officeDocument/2006/relationships/image" Target="../media/image20.png"/><Relationship Id="rId21" Type="http://schemas.openxmlformats.org/officeDocument/2006/relationships/image" Target="../media/image21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image" Target="../media/image55.png"/><Relationship Id="rId7" Type="http://schemas.openxmlformats.org/officeDocument/2006/relationships/image" Target="../media/image7.png"/><Relationship Id="rId8" Type="http://schemas.openxmlformats.org/officeDocument/2006/relationships/image" Target="../media/image27.png"/><Relationship Id="rId9" Type="http://schemas.openxmlformats.org/officeDocument/2006/relationships/image" Target="../media/image1.png"/><Relationship Id="rId10" Type="http://schemas.openxmlformats.org/officeDocument/2006/relationships/image" Target="../media/image5.png"/><Relationship Id="rId11" Type="http://schemas.openxmlformats.org/officeDocument/2006/relationships/image" Target="../media/image56.png"/><Relationship Id="rId1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57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58.png"/><Relationship Id="rId7" Type="http://schemas.openxmlformats.org/officeDocument/2006/relationships/image" Target="../media/image21.svg"/><Relationship Id="rId8" Type="http://schemas.openxmlformats.org/officeDocument/2006/relationships/image" Target="../media/image59.png"/><Relationship Id="rId9" Type="http://schemas.openxmlformats.org/officeDocument/2006/relationships/image" Target="../media/image50.png"/><Relationship Id="rId10" Type="http://schemas.openxmlformats.org/officeDocument/2006/relationships/image" Target="../media/image36.png"/><Relationship Id="rId11" Type="http://schemas.openxmlformats.org/officeDocument/2006/relationships/image" Target="../media/image60.png"/><Relationship Id="rId12" Type="http://schemas.openxmlformats.org/officeDocument/2006/relationships/image" Target="../media/image49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48.png"/><Relationship Id="rId17" Type="http://schemas.openxmlformats.org/officeDocument/2006/relationships/image" Target="../media/image4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42.png"/><Relationship Id="rId21" Type="http://schemas.openxmlformats.org/officeDocument/2006/relationships/image" Target="../media/image2.png"/><Relationship Id="rId22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png"/><Relationship Id="rId3" Type="http://schemas.openxmlformats.org/officeDocument/2006/relationships/image" Target="../media/image18.png"/><Relationship Id="rId4" Type="http://schemas.openxmlformats.org/officeDocument/2006/relationships/image" Target="../media/image65.png"/><Relationship Id="rId5" Type="http://schemas.openxmlformats.org/officeDocument/2006/relationships/image" Target="../media/image21.svg"/><Relationship Id="rId6" Type="http://schemas.openxmlformats.org/officeDocument/2006/relationships/image" Target="../media/image42.png"/><Relationship Id="rId7" Type="http://schemas.openxmlformats.org/officeDocument/2006/relationships/image" Target="../media/image66.png"/><Relationship Id="rId8" Type="http://schemas.openxmlformats.org/officeDocument/2006/relationships/image" Target="../media/image37.png"/><Relationship Id="rId9" Type="http://schemas.openxmlformats.org/officeDocument/2006/relationships/image" Target="../media/image39.png"/><Relationship Id="rId10" Type="http://schemas.openxmlformats.org/officeDocument/2006/relationships/image" Target="../media/image38.png"/><Relationship Id="rId11" Type="http://schemas.openxmlformats.org/officeDocument/2006/relationships/image" Target="../media/image6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65.png"/><Relationship Id="rId5" Type="http://schemas.openxmlformats.org/officeDocument/2006/relationships/image" Target="../media/image21.svg"/><Relationship Id="rId6" Type="http://schemas.openxmlformats.org/officeDocument/2006/relationships/image" Target="../media/image51.png"/><Relationship Id="rId7" Type="http://schemas.openxmlformats.org/officeDocument/2006/relationships/image" Target="../media/image32.svg"/><Relationship Id="rId8" Type="http://schemas.openxmlformats.org/officeDocument/2006/relationships/image" Target="../media/image35.png"/><Relationship Id="rId9" Type="http://schemas.openxmlformats.org/officeDocument/2006/relationships/image" Target="../media/image2.png"/><Relationship Id="rId10" Type="http://schemas.openxmlformats.org/officeDocument/2006/relationships/image" Target="../media/image67.png"/><Relationship Id="rId11" Type="http://schemas.openxmlformats.org/officeDocument/2006/relationships/image" Target="../media/image42.png"/><Relationship Id="rId12" Type="http://schemas.openxmlformats.org/officeDocument/2006/relationships/image" Target="../media/image64.png"/><Relationship Id="rId13" Type="http://schemas.openxmlformats.org/officeDocument/2006/relationships/image" Target="../media/image68.png"/><Relationship Id="rId14" Type="http://schemas.openxmlformats.org/officeDocument/2006/relationships/image" Target="../media/image38.png"/><Relationship Id="rId15" Type="http://schemas.openxmlformats.org/officeDocument/2006/relationships/image" Target="../media/image69.png"/><Relationship Id="rId16" Type="http://schemas.openxmlformats.org/officeDocument/2006/relationships/image" Target="../media/image6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70.png"/><Relationship Id="rId4" Type="http://schemas.openxmlformats.org/officeDocument/2006/relationships/image" Target="../media/image55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7.png"/><Relationship Id="rId9" Type="http://schemas.openxmlformats.org/officeDocument/2006/relationships/image" Target="../media/image3.png"/><Relationship Id="rId10" Type="http://schemas.openxmlformats.org/officeDocument/2006/relationships/image" Target="../media/image1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30.png"/><Relationship Id="rId14" Type="http://schemas.openxmlformats.org/officeDocument/2006/relationships/image" Target="../media/image25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18.png"/><Relationship Id="rId18" Type="http://schemas.openxmlformats.org/officeDocument/2006/relationships/image" Target="../media/image73.png"/><Relationship Id="rId19" Type="http://schemas.openxmlformats.org/officeDocument/2006/relationships/image" Target="../media/image74.png"/><Relationship Id="rId20" Type="http://schemas.openxmlformats.org/officeDocument/2006/relationships/image" Target="../media/image2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13.png"/><Relationship Id="rId6" Type="http://schemas.openxmlformats.org/officeDocument/2006/relationships/image" Target="../media/image59.png"/><Relationship Id="rId7" Type="http://schemas.openxmlformats.org/officeDocument/2006/relationships/image" Target="../media/image48.png"/><Relationship Id="rId8" Type="http://schemas.openxmlformats.org/officeDocument/2006/relationships/image" Target="../media/image61.png"/><Relationship Id="rId9" Type="http://schemas.openxmlformats.org/officeDocument/2006/relationships/image" Target="../media/image7.png"/><Relationship Id="rId10" Type="http://schemas.openxmlformats.org/officeDocument/2006/relationships/image" Target="../media/image62.png"/><Relationship Id="rId11" Type="http://schemas.openxmlformats.org/officeDocument/2006/relationships/image" Target="../media/image7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9.png"/><Relationship Id="rId3" Type="http://schemas.openxmlformats.org/officeDocument/2006/relationships/image" Target="../media/image41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Relationship Id="rId8" Type="http://schemas.openxmlformats.org/officeDocument/2006/relationships/image" Target="../media/image5.png"/><Relationship Id="rId9" Type="http://schemas.openxmlformats.org/officeDocument/2006/relationships/image" Target="../media/image7.png"/><Relationship Id="rId10" Type="http://schemas.openxmlformats.org/officeDocument/2006/relationships/image" Target="../media/image6.png"/><Relationship Id="rId11" Type="http://schemas.openxmlformats.org/officeDocument/2006/relationships/image" Target="../media/image8.png"/><Relationship Id="rId12" Type="http://schemas.openxmlformats.org/officeDocument/2006/relationships/image" Target="../media/image4.png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.png"/><Relationship Id="rId3" Type="http://schemas.openxmlformats.org/officeDocument/2006/relationships/image" Target="../media/image34.sv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5.png"/><Relationship Id="rId8" Type="http://schemas.openxmlformats.org/officeDocument/2006/relationships/image" Target="../media/image27.png"/><Relationship Id="rId9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3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Relationship Id="rId13" Type="http://schemas.openxmlformats.org/officeDocument/2006/relationships/image" Target="../media/image93.png"/><Relationship Id="rId14" Type="http://schemas.openxmlformats.org/officeDocument/2006/relationships/image" Target="../media/image94.png"/><Relationship Id="rId15" Type="http://schemas.openxmlformats.org/officeDocument/2006/relationships/image" Target="../media/image95.png"/><Relationship Id="rId16" Type="http://schemas.openxmlformats.org/officeDocument/2006/relationships/image" Target="../media/image96.png"/><Relationship Id="rId17" Type="http://schemas.openxmlformats.org/officeDocument/2006/relationships/image" Target="../media/image97.png"/><Relationship Id="rId18" Type="http://schemas.openxmlformats.org/officeDocument/2006/relationships/image" Target="../media/image98.png"/><Relationship Id="rId19" Type="http://schemas.openxmlformats.org/officeDocument/2006/relationships/image" Target="../media/image99.png"/><Relationship Id="rId20" Type="http://schemas.openxmlformats.org/officeDocument/2006/relationships/image" Target="../media/image100.png"/><Relationship Id="rId21" Type="http://schemas.openxmlformats.org/officeDocument/2006/relationships/image" Target="../media/image101.png"/><Relationship Id="rId22" Type="http://schemas.openxmlformats.org/officeDocument/2006/relationships/image" Target="../media/image102.png"/><Relationship Id="rId23" Type="http://schemas.openxmlformats.org/officeDocument/2006/relationships/image" Target="../media/image103.png"/><Relationship Id="rId24" Type="http://schemas.openxmlformats.org/officeDocument/2006/relationships/image" Target="../media/image104.png"/><Relationship Id="rId25" Type="http://schemas.openxmlformats.org/officeDocument/2006/relationships/image" Target="../media/image10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106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12.png"/><Relationship Id="rId9" Type="http://schemas.openxmlformats.org/officeDocument/2006/relationships/image" Target="../media/image100.png"/><Relationship Id="rId10" Type="http://schemas.openxmlformats.org/officeDocument/2006/relationships/image" Target="../media/image107.png"/><Relationship Id="rId11" Type="http://schemas.openxmlformats.org/officeDocument/2006/relationships/image" Target="../media/image108.png"/><Relationship Id="rId12" Type="http://schemas.openxmlformats.org/officeDocument/2006/relationships/image" Target="../media/image109.png"/><Relationship Id="rId13" Type="http://schemas.openxmlformats.org/officeDocument/2006/relationships/image" Target="../media/image103.png"/><Relationship Id="rId14" Type="http://schemas.openxmlformats.org/officeDocument/2006/relationships/image" Target="../media/image105.png"/><Relationship Id="rId15" Type="http://schemas.openxmlformats.org/officeDocument/2006/relationships/image" Target="../media/image110.png"/><Relationship Id="rId16" Type="http://schemas.openxmlformats.org/officeDocument/2006/relationships/image" Target="../media/image91.png"/><Relationship Id="rId17" Type="http://schemas.openxmlformats.org/officeDocument/2006/relationships/image" Target="../media/image90.png"/><Relationship Id="rId18" Type="http://schemas.openxmlformats.org/officeDocument/2006/relationships/image" Target="../media/image92.png"/><Relationship Id="rId19" Type="http://schemas.openxmlformats.org/officeDocument/2006/relationships/image" Target="../media/image96.png"/><Relationship Id="rId20" Type="http://schemas.openxmlformats.org/officeDocument/2006/relationships/image" Target="../media/image95.png"/><Relationship Id="rId21" Type="http://schemas.openxmlformats.org/officeDocument/2006/relationships/image" Target="../media/image94.png"/><Relationship Id="rId22" Type="http://schemas.openxmlformats.org/officeDocument/2006/relationships/image" Target="../media/image93.png"/><Relationship Id="rId23" Type="http://schemas.openxmlformats.org/officeDocument/2006/relationships/image" Target="../media/image9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32.sv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80.png"/><Relationship Id="rId11" Type="http://schemas.openxmlformats.org/officeDocument/2006/relationships/image" Target="../media/image117.png"/><Relationship Id="rId12" Type="http://schemas.openxmlformats.org/officeDocument/2006/relationships/image" Target="../media/image118.svg"/><Relationship Id="rId13" Type="http://schemas.openxmlformats.org/officeDocument/2006/relationships/image" Target="../media/image119.png"/><Relationship Id="rId14" Type="http://schemas.openxmlformats.org/officeDocument/2006/relationships/image" Target="../media/image34.svg"/><Relationship Id="rId15" Type="http://schemas.openxmlformats.org/officeDocument/2006/relationships/image" Target="../media/image120.png"/><Relationship Id="rId16" Type="http://schemas.openxmlformats.org/officeDocument/2006/relationships/image" Target="../media/image121.svg"/><Relationship Id="rId17" Type="http://schemas.openxmlformats.org/officeDocument/2006/relationships/image" Target="../media/image122.png"/><Relationship Id="rId18" Type="http://schemas.openxmlformats.org/officeDocument/2006/relationships/image" Target="../media/image21.svg"/><Relationship Id="rId19" Type="http://schemas.openxmlformats.org/officeDocument/2006/relationships/image" Target="../media/image123.png"/><Relationship Id="rId20" Type="http://schemas.openxmlformats.org/officeDocument/2006/relationships/image" Target="../media/image124.svg"/><Relationship Id="rId21" Type="http://schemas.openxmlformats.org/officeDocument/2006/relationships/image" Target="../media/image41.png"/><Relationship Id="rId22" Type="http://schemas.openxmlformats.org/officeDocument/2006/relationships/image" Target="../media/image125.png"/><Relationship Id="rId23" Type="http://schemas.openxmlformats.org/officeDocument/2006/relationships/image" Target="../media/image1.png"/><Relationship Id="rId24" Type="http://schemas.openxmlformats.org/officeDocument/2006/relationships/image" Target="../media/image40.png"/><Relationship Id="rId25" Type="http://schemas.openxmlformats.org/officeDocument/2006/relationships/image" Target="../media/image37.png"/><Relationship Id="rId26" Type="http://schemas.openxmlformats.org/officeDocument/2006/relationships/image" Target="../media/image1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:stack-brand-field-motif">
    <p:spTree>
      <p:nvGrpSpPr>
        <p:cNvPr id="1" name=""/>
        <p:cNvGrpSpPr/>
        <p:nvPr/>
      </p:nvGrpSpPr>
      <p:grpSpPr/>
      <p:sp>
        <p:nvSpPr>
          <p:cNvPr id="2" name="bleed.field"/>
          <p:cNvSpPr/>
          <p:nvPr/>
        </p:nvSpPr>
        <p:spPr>
          <a:xfrm>
            <a:off x="5394960" y="2331720"/>
            <a:ext cx="6796735" cy="4526280"/>
          </a:xfrm>
          <a:custGeom>
            <a:avLst/>
            <a:gdLst/>
            <a:ahLst/>
            <a:cxnLst/>
            <a:rect l="l" t="t" r="r" b="b"/>
            <a:pathLst>
              <a:path w="6796735" h="4526280">
                <a:moveTo>
                  <a:pt x="6796735" y="0"/>
                </a:moveTo>
                <a:lnTo>
                  <a:pt x="4251960" y="0"/>
                </a:lnTo>
                <a:cubicBezTo>
                  <a:pt x="3474720" y="0"/>
                  <a:pt x="3154680" y="274320"/>
                  <a:pt x="2788920" y="868680"/>
                </a:cubicBezTo>
                <a:lnTo>
                  <a:pt x="1508760" y="3246120"/>
                </a:lnTo>
                <a:cubicBezTo>
                  <a:pt x="1051560" y="4069080"/>
                  <a:pt x="594360" y="4526280"/>
                  <a:pt x="0" y="4526280"/>
                </a:cubicBezTo>
                <a:lnTo>
                  <a:pt x="6796735" y="45262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" name="slot.kicker"/>
          <p:cNvSpPr txBox="1"/>
          <p:nvPr/>
        </p:nvSpPr>
        <p:spPr>
          <a:xfrm>
            <a:off x="457200" y="1847088"/>
            <a:ext cx="676656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PROPOSAL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ot.headline"/>
          <p:cNvSpPr txBox="1"/>
          <p:nvPr/>
        </p:nvSpPr>
        <p:spPr>
          <a:xfrm>
            <a:off x="457200" y="2176272"/>
            <a:ext cx="6766560" cy="11338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Sourced competitor briefs reach reps </a:t>
            </a:r>
            <a:r>
              <a:rPr lang="en-US" sz="3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within one day</a:t>
            </a:r>
            <a:endParaRPr lang="en-US" sz="3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label"/>
          <p:cNvSpPr txBox="1"/>
          <p:nvPr/>
        </p:nvSpPr>
        <p:spPr>
          <a:xfrm>
            <a:off x="457200" y="3584448"/>
            <a:ext cx="6766560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AI field brief service for Quillmont Therapeutics</a:t>
            </a:r>
            <a:endParaRPr lang="en-US" sz="16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date"/>
          <p:cNvSpPr txBox="1"/>
          <p:nvPr/>
        </p:nvSpPr>
        <p:spPr>
          <a:xfrm>
            <a:off x="457200" y="4078224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 Nov 2026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truct.motif.hub"/>
          <p:cNvSpPr/>
          <p:nvPr/>
        </p:nvSpPr>
        <p:spPr>
          <a:xfrm>
            <a:off x="10058400" y="4023360"/>
            <a:ext cx="1005840" cy="100584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9" name="slot.motif.hub.label"/>
          <p:cNvSpPr txBox="1"/>
          <p:nvPr/>
        </p:nvSpPr>
        <p:spPr>
          <a:xfrm>
            <a:off x="9646920" y="5120640"/>
            <a:ext cx="1828800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Weekly field brief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uct.motif.1.disc"/>
          <p:cNvSpPr/>
          <p:nvPr/>
        </p:nvSpPr>
        <p:spPr>
          <a:xfrm>
            <a:off x="8796528" y="2761488"/>
            <a:ext cx="603504" cy="60350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2" name="slot.motif.1.label"/>
          <p:cNvSpPr txBox="1"/>
          <p:nvPr/>
        </p:nvSpPr>
        <p:spPr>
          <a:xfrm>
            <a:off x="8321040" y="3419856"/>
            <a:ext cx="15544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Signals</a:t>
            </a:r>
            <a:endParaRPr lang="en-US" sz="12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" name="struct.motif.1.arrow"/>
          <p:cNvCxnSpPr/>
          <p:nvPr/>
        </p:nvCxnSpPr>
        <p:spPr>
          <a:xfrm>
            <a:off x="9311651" y="3276611"/>
            <a:ext cx="894051" cy="894051"/>
          </a:xfrm>
          <a:prstGeom prst="line">
            <a:avLst/>
          </a:prstGeom>
          <a:ln w="19050">
            <a:solidFill>
              <a:schemeClr val="bg1"/>
            </a:solidFill>
            <a:tailEnd type="triangle" w="med" len="med"/>
          </a:ln>
          <a:effectLst/>
        </p:spPr>
      </p:cxnSp>
      <p:sp>
        <p:nvSpPr>
          <p:cNvPr id="14" name="struct.motif.2.disc"/>
          <p:cNvSpPr/>
          <p:nvPr/>
        </p:nvSpPr>
        <p:spPr>
          <a:xfrm>
            <a:off x="8019288" y="4224528"/>
            <a:ext cx="603504" cy="60350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6" name="slot.motif.2.label"/>
          <p:cNvSpPr txBox="1"/>
          <p:nvPr/>
        </p:nvSpPr>
        <p:spPr>
          <a:xfrm>
            <a:off x="7543800" y="4882896"/>
            <a:ext cx="15544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Sourced draft</a:t>
            </a:r>
            <a:endParaRPr lang="en-US" sz="12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" name="struct.motif.2.arrow"/>
          <p:cNvCxnSpPr/>
          <p:nvPr/>
        </p:nvCxnSpPr>
        <p:spPr>
          <a:xfrm>
            <a:off x="8622792" y="4526280"/>
            <a:ext cx="1435608" cy="0"/>
          </a:xfrm>
          <a:prstGeom prst="line">
            <a:avLst/>
          </a:prstGeom>
          <a:ln w="19050">
            <a:solidFill>
              <a:schemeClr val="bg1"/>
            </a:solidFill>
            <a:tailEnd type="triangle" w="med" len="med"/>
          </a:ln>
          <a:effectLst/>
        </p:spPr>
      </p:cxnSp>
      <p:sp>
        <p:nvSpPr>
          <p:cNvPr id="18" name="struct.motif.3.disc"/>
          <p:cNvSpPr/>
          <p:nvPr/>
        </p:nvSpPr>
        <p:spPr>
          <a:xfrm>
            <a:off x="8796528" y="5303520"/>
            <a:ext cx="603504" cy="60350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0" name="slot.motif.3.label"/>
          <p:cNvSpPr txBox="1"/>
          <p:nvPr/>
        </p:nvSpPr>
        <p:spPr>
          <a:xfrm>
            <a:off x="8321040" y="5961888"/>
            <a:ext cx="15544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review</a:t>
            </a:r>
            <a:endParaRPr lang="en-US" sz="12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" name="struct.motif.3.arrow"/>
          <p:cNvCxnSpPr/>
          <p:nvPr/>
        </p:nvCxnSpPr>
        <p:spPr>
          <a:xfrm flipV="1">
            <a:off x="9341131" y="4824784"/>
            <a:ext cx="815438" cy="601385"/>
          </a:xfrm>
          <a:prstGeom prst="line">
            <a:avLst/>
          </a:prstGeom>
          <a:ln w="19050">
            <a:solidFill>
              <a:schemeClr val="bg1"/>
            </a:solidFill>
            <a:tailEnd type="triangle" w="med" len="med"/>
          </a:ln>
          <a:effectLst/>
        </p:spPr>
      </p:cxnSp>
      <p:sp>
        <p:nvSpPr>
          <p:cNvPr id="22" name="slot.motif.1.icon"/>
          <p:cNvSpPr/>
          <p:nvPr/>
        </p:nvSpPr>
        <p:spPr>
          <a:xfrm>
            <a:off x="8924544" y="288950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3" name="slot.motif.2.icon"/>
          <p:cNvSpPr/>
          <p:nvPr/>
        </p:nvSpPr>
        <p:spPr>
          <a:xfrm>
            <a:off x="8147304" y="435254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4" name="slot.motif.3.icon"/>
          <p:cNvSpPr/>
          <p:nvPr/>
        </p:nvSpPr>
        <p:spPr>
          <a:xfrm>
            <a:off x="8924544" y="5431536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5" name="slot.motif.hub.icon"/>
          <p:cNvSpPr/>
          <p:nvPr/>
        </p:nvSpPr>
        <p:spPr>
          <a:xfrm>
            <a:off x="10296144" y="426110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4445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genda:numbered-rows-on-hairlines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proposal runs in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six parts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from the field need to the proof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genda.1.num"/>
          <p:cNvSpPr/>
          <p:nvPr/>
        </p:nvSpPr>
        <p:spPr>
          <a:xfrm>
            <a:off x="457200" y="895350"/>
            <a:ext cx="676656" cy="67665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</a:t>
            </a:r>
            <a:endParaRPr lang="en-US" sz="2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genda.1.name"/>
          <p:cNvSpPr txBox="1"/>
          <p:nvPr/>
        </p:nvSpPr>
        <p:spPr>
          <a:xfrm>
            <a:off x="1463040" y="1081244"/>
            <a:ext cx="2926080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need</a:t>
            </a:r>
            <a:endParaRPr lang="en-US" sz="2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genda.1.scope"/>
          <p:cNvSpPr txBox="1"/>
          <p:nvPr/>
        </p:nvSpPr>
        <p:spPr>
          <a:xfrm>
            <a:off x="4572000" y="1126974"/>
            <a:ext cx="6403848" cy="21340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Why competitor news reaches reps late</a:t>
            </a:r>
            <a:endParaRPr lang="en-US" sz="14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genda.1.icon"/>
          <p:cNvSpPr/>
          <p:nvPr/>
        </p:nvSpPr>
        <p:spPr>
          <a:xfrm>
            <a:off x="11268456" y="1023366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730" y="18000"/>
                </a:moveTo>
                <a:lnTo>
                  <a:pt x="13730" y="4000"/>
                </a:lnTo>
                <a:cubicBezTo>
                  <a:pt x="13375" y="3373"/>
                  <a:pt x="12710" y="2986"/>
                  <a:pt x="11990" y="2986"/>
                </a:cubicBezTo>
                <a:cubicBezTo>
                  <a:pt x="11270" y="2986"/>
                  <a:pt x="10605" y="3373"/>
                  <a:pt x="10250" y="4000"/>
                </a:cubicBezTo>
                <a:lnTo>
                  <a:pt x="2250" y="18000"/>
                </a:lnTo>
                <a:cubicBezTo>
                  <a:pt x="1891" y="18622"/>
                  <a:pt x="1893" y="19388"/>
                  <a:pt x="2254" y="20008"/>
                </a:cubicBezTo>
                <a:cubicBezTo>
                  <a:pt x="2616" y="20628"/>
                  <a:pt x="3282" y="21006"/>
                  <a:pt x="4000" y="21000"/>
                </a:cubicBezTo>
                <a:lnTo>
                  <a:pt x="20000" y="21000"/>
                </a:lnTo>
                <a:cubicBezTo>
                  <a:pt x="20714" y="20999"/>
                  <a:pt x="21374" y="20618"/>
                  <a:pt x="21731" y="19999"/>
                </a:cubicBezTo>
                <a:cubicBezTo>
                  <a:pt x="22087" y="19380"/>
                  <a:pt x="22087" y="18618"/>
                  <a:pt x="21730" y="18000"/>
                </a:cubicBezTo>
                <a:moveTo>
                  <a:pt x="12000" y="9000"/>
                </a:moveTo>
                <a:lnTo>
                  <a:pt x="12000" y="13000"/>
                </a:ln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cxnSp>
        <p:nvCxnSpPr>
          <p:cNvPr id="7" name="agenda.1.rule"/>
          <p:cNvCxnSpPr/>
          <p:nvPr/>
        </p:nvCxnSpPr>
        <p:spPr>
          <a:xfrm>
            <a:off x="1463040" y="1690116"/>
            <a:ext cx="1033576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8" name="agenda.2.num"/>
          <p:cNvSpPr/>
          <p:nvPr/>
        </p:nvSpPr>
        <p:spPr>
          <a:xfrm>
            <a:off x="457200" y="1808226"/>
            <a:ext cx="676656" cy="67665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02</a:t>
            </a:r>
            <a:endParaRPr lang="en-US" sz="2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genda.2.name"/>
          <p:cNvSpPr txBox="1"/>
          <p:nvPr/>
        </p:nvSpPr>
        <p:spPr>
          <a:xfrm>
            <a:off x="1463040" y="1994120"/>
            <a:ext cx="2926080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answer</a:t>
            </a:r>
            <a:endParaRPr lang="en-US" sz="2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agenda.2.scope"/>
          <p:cNvSpPr txBox="1"/>
          <p:nvPr/>
        </p:nvSpPr>
        <p:spPr>
          <a:xfrm>
            <a:off x="4572000" y="2039850"/>
            <a:ext cx="6403848" cy="21340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weekly brief per rep, on one foundation</a:t>
            </a:r>
            <a:endParaRPr lang="en-US" sz="14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agenda.2.icon"/>
          <p:cNvSpPr/>
          <p:nvPr/>
        </p:nvSpPr>
        <p:spPr>
          <a:xfrm>
            <a:off x="11268456" y="193624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cxnSp>
        <p:nvCxnSpPr>
          <p:cNvPr id="12" name="agenda.2.rule"/>
          <p:cNvCxnSpPr/>
          <p:nvPr/>
        </p:nvCxnSpPr>
        <p:spPr>
          <a:xfrm>
            <a:off x="1463040" y="2602992"/>
            <a:ext cx="1033576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3" name="agenda.3.num"/>
          <p:cNvSpPr/>
          <p:nvPr/>
        </p:nvSpPr>
        <p:spPr>
          <a:xfrm>
            <a:off x="457200" y="2721102"/>
            <a:ext cx="676656" cy="67665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03</a:t>
            </a:r>
            <a:endParaRPr lang="en-US" sz="2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agenda.3.name"/>
          <p:cNvSpPr txBox="1"/>
          <p:nvPr/>
        </p:nvSpPr>
        <p:spPr>
          <a:xfrm>
            <a:off x="1463040" y="2906996"/>
            <a:ext cx="2926080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How it works</a:t>
            </a:r>
            <a:endParaRPr lang="en-US" sz="2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agenda.3.scope"/>
          <p:cNvSpPr txBox="1"/>
          <p:nvPr/>
        </p:nvSpPr>
        <p:spPr>
          <a:xfrm>
            <a:off x="4572000" y="2952726"/>
            <a:ext cx="6403848" cy="21340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Scan, draft, review and release</a:t>
            </a:r>
            <a:endParaRPr lang="en-US" sz="14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agenda.3.icon"/>
          <p:cNvSpPr/>
          <p:nvPr/>
        </p:nvSpPr>
        <p:spPr>
          <a:xfrm>
            <a:off x="11268456" y="284911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cxnSp>
        <p:nvCxnSpPr>
          <p:cNvPr id="17" name="agenda.3.rule"/>
          <p:cNvCxnSpPr/>
          <p:nvPr/>
        </p:nvCxnSpPr>
        <p:spPr>
          <a:xfrm>
            <a:off x="1463040" y="3515868"/>
            <a:ext cx="1033576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8" name="agenda.4.num"/>
          <p:cNvSpPr/>
          <p:nvPr/>
        </p:nvSpPr>
        <p:spPr>
          <a:xfrm>
            <a:off x="457200" y="3633978"/>
            <a:ext cx="676656" cy="67665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04</a:t>
            </a:r>
            <a:endParaRPr lang="en-US" sz="2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agenda.4.name"/>
          <p:cNvSpPr txBox="1"/>
          <p:nvPr/>
        </p:nvSpPr>
        <p:spPr>
          <a:xfrm>
            <a:off x="1463040" y="3819872"/>
            <a:ext cx="2926080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How it is built</a:t>
            </a:r>
            <a:endParaRPr lang="en-US" sz="2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agenda.4.scope"/>
          <p:cNvSpPr txBox="1"/>
          <p:nvPr/>
        </p:nvSpPr>
        <p:spPr>
          <a:xfrm>
            <a:off x="4572000" y="3865602"/>
            <a:ext cx="6403848" cy="21340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Architecture, data flow and security</a:t>
            </a:r>
            <a:endParaRPr lang="en-US" sz="14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agenda.4.icon"/>
          <p:cNvSpPr/>
          <p:nvPr/>
        </p:nvSpPr>
        <p:spPr>
          <a:xfrm>
            <a:off x="11268456" y="3761994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cxnSp>
        <p:nvCxnSpPr>
          <p:cNvPr id="22" name="agenda.4.rule"/>
          <p:cNvCxnSpPr/>
          <p:nvPr/>
        </p:nvCxnSpPr>
        <p:spPr>
          <a:xfrm>
            <a:off x="1463040" y="4428744"/>
            <a:ext cx="1033576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3" name="agenda.5.num"/>
          <p:cNvSpPr/>
          <p:nvPr/>
        </p:nvSpPr>
        <p:spPr>
          <a:xfrm>
            <a:off x="457200" y="4546854"/>
            <a:ext cx="676656" cy="67665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05</a:t>
            </a:r>
            <a:endParaRPr lang="en-US" sz="2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agenda.5.name"/>
          <p:cNvSpPr txBox="1"/>
          <p:nvPr/>
        </p:nvSpPr>
        <p:spPr>
          <a:xfrm>
            <a:off x="1463040" y="4732748"/>
            <a:ext cx="2926080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Delivery</a:t>
            </a:r>
            <a:endParaRPr lang="en-US" sz="2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agenda.5.scope"/>
          <p:cNvSpPr txBox="1"/>
          <p:nvPr/>
        </p:nvSpPr>
        <p:spPr>
          <a:xfrm>
            <a:off x="4572000" y="4778478"/>
            <a:ext cx="6403848" cy="21340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Four phases from kickoff to run</a:t>
            </a:r>
            <a:endParaRPr lang="en-US" sz="14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agenda.5.icon"/>
          <p:cNvSpPr/>
          <p:nvPr/>
        </p:nvSpPr>
        <p:spPr>
          <a:xfrm>
            <a:off x="11268456" y="467487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cxnSp>
        <p:nvCxnSpPr>
          <p:cNvPr id="27" name="agenda.5.rule"/>
          <p:cNvCxnSpPr/>
          <p:nvPr/>
        </p:nvCxnSpPr>
        <p:spPr>
          <a:xfrm>
            <a:off x="1463040" y="5341620"/>
            <a:ext cx="1033576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8" name="agenda.6.num"/>
          <p:cNvSpPr/>
          <p:nvPr/>
        </p:nvSpPr>
        <p:spPr>
          <a:xfrm>
            <a:off x="457200" y="5459730"/>
            <a:ext cx="676656" cy="67665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06</a:t>
            </a:r>
            <a:endParaRPr lang="en-US" sz="2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agenda.6.name"/>
          <p:cNvSpPr txBox="1"/>
          <p:nvPr/>
        </p:nvSpPr>
        <p:spPr>
          <a:xfrm>
            <a:off x="1463040" y="5645624"/>
            <a:ext cx="2926080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Why the firm</a:t>
            </a:r>
            <a:endParaRPr lang="en-US" sz="2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agenda.6.scope"/>
          <p:cNvSpPr txBox="1"/>
          <p:nvPr/>
        </p:nvSpPr>
        <p:spPr>
          <a:xfrm>
            <a:off x="4572000" y="5691354"/>
            <a:ext cx="6403848" cy="21340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Delivered work, team and commercials</a:t>
            </a:r>
            <a:endParaRPr lang="en-US" sz="14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agenda.6.icon"/>
          <p:cNvSpPr/>
          <p:nvPr/>
        </p:nvSpPr>
        <p:spPr>
          <a:xfrm>
            <a:off x="11268456" y="5587746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477" y="12890"/>
                </a:moveTo>
                <a:lnTo>
                  <a:pt x="16992" y="21416"/>
                </a:lnTo>
                <a:cubicBezTo>
                  <a:pt x="17027" y="21622"/>
                  <a:pt x="16930" y="21827"/>
                  <a:pt x="16750" y="21932"/>
                </a:cubicBezTo>
                <a:cubicBezTo>
                  <a:pt x="16570" y="22036"/>
                  <a:pt x="16343" y="22018"/>
                  <a:pt x="16182" y="21886"/>
                </a:cubicBezTo>
                <a:lnTo>
                  <a:pt x="12602" y="19199"/>
                </a:lnTo>
                <a:cubicBezTo>
                  <a:pt x="12247" y="18934"/>
                  <a:pt x="11760" y="18934"/>
                  <a:pt x="11405" y="19199"/>
                </a:cubicBezTo>
                <a:lnTo>
                  <a:pt x="7819" y="21885"/>
                </a:lnTo>
                <a:cubicBezTo>
                  <a:pt x="7658" y="22017"/>
                  <a:pt x="7432" y="22035"/>
                  <a:pt x="7252" y="21931"/>
                </a:cubicBezTo>
                <a:cubicBezTo>
                  <a:pt x="7071" y="21827"/>
                  <a:pt x="6975" y="21621"/>
                  <a:pt x="7009" y="21416"/>
                </a:cubicBezTo>
                <a:lnTo>
                  <a:pt x="8523" y="12890"/>
                </a:lnTo>
                <a:moveTo>
                  <a:pt x="18000" y="8000"/>
                </a:moveTo>
                <a:cubicBezTo>
                  <a:pt x="18000" y="11314"/>
                  <a:pt x="15314" y="14000"/>
                  <a:pt x="12000" y="14000"/>
                </a:cubicBezTo>
                <a:cubicBezTo>
                  <a:pt x="8686" y="14000"/>
                  <a:pt x="6000" y="11314"/>
                  <a:pt x="6000" y="8000"/>
                </a:cubicBezTo>
                <a:cubicBezTo>
                  <a:pt x="6000" y="4686"/>
                  <a:pt x="8686" y="2000"/>
                  <a:pt x="12000" y="2000"/>
                </a:cubicBezTo>
                <a:cubicBezTo>
                  <a:pt x="15314" y="2000"/>
                  <a:pt x="18000" y="4686"/>
                  <a:pt x="18000" y="8000"/>
                </a:cubicBezTo>
                <a:close/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xecutive-summary:stat-band-columns-assumption-band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Quillmont reps get one sourced, reviewed brief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within a day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of each move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03.col1.panel"/>
          <p:cNvSpPr/>
          <p:nvPr/>
        </p:nvSpPr>
        <p:spPr>
          <a:xfrm>
            <a:off x="457200" y="777240"/>
            <a:ext cx="2698242" cy="2825496"/>
          </a:xfrm>
          <a:prstGeom prst="roundRect">
            <a:avLst>
              <a:gd name="adj" fmla="val 169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s03.col1.header"/>
          <p:cNvSpPr/>
          <p:nvPr/>
        </p:nvSpPr>
        <p:spPr>
          <a:xfrm>
            <a:off x="457200" y="777240"/>
            <a:ext cx="2698242" cy="3840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s03.col1.header.icon"/>
          <p:cNvSpPr/>
          <p:nvPr/>
        </p:nvSpPr>
        <p:spPr>
          <a:xfrm>
            <a:off x="658368" y="854050"/>
            <a:ext cx="230429" cy="23042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730" y="18000"/>
                </a:moveTo>
                <a:lnTo>
                  <a:pt x="13730" y="4000"/>
                </a:lnTo>
                <a:cubicBezTo>
                  <a:pt x="13375" y="3373"/>
                  <a:pt x="12710" y="2986"/>
                  <a:pt x="11990" y="2986"/>
                </a:cubicBezTo>
                <a:cubicBezTo>
                  <a:pt x="11270" y="2986"/>
                  <a:pt x="10605" y="3373"/>
                  <a:pt x="10250" y="4000"/>
                </a:cubicBezTo>
                <a:lnTo>
                  <a:pt x="2250" y="18000"/>
                </a:lnTo>
                <a:cubicBezTo>
                  <a:pt x="1891" y="18622"/>
                  <a:pt x="1893" y="19388"/>
                  <a:pt x="2254" y="20008"/>
                </a:cubicBezTo>
                <a:cubicBezTo>
                  <a:pt x="2616" y="20628"/>
                  <a:pt x="3282" y="21006"/>
                  <a:pt x="4000" y="21000"/>
                </a:cubicBezTo>
                <a:lnTo>
                  <a:pt x="20000" y="21000"/>
                </a:lnTo>
                <a:cubicBezTo>
                  <a:pt x="20714" y="20999"/>
                  <a:pt x="21374" y="20618"/>
                  <a:pt x="21731" y="19999"/>
                </a:cubicBezTo>
                <a:cubicBezTo>
                  <a:pt x="22087" y="19380"/>
                  <a:pt x="22087" y="18618"/>
                  <a:pt x="21730" y="18000"/>
                </a:cubicBezTo>
                <a:moveTo>
                  <a:pt x="12000" y="9000"/>
                </a:moveTo>
                <a:lnTo>
                  <a:pt x="12000" y="13000"/>
                </a:ln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190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" name="s03.col1.header.text"/>
          <p:cNvSpPr txBox="1"/>
          <p:nvPr/>
        </p:nvSpPr>
        <p:spPr>
          <a:xfrm>
            <a:off x="998525" y="777240"/>
            <a:ext cx="1955749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need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03.col1.1.disc"/>
          <p:cNvSpPr/>
          <p:nvPr/>
        </p:nvSpPr>
        <p:spPr>
          <a:xfrm>
            <a:off x="658368" y="1362456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03.col1.1.text"/>
          <p:cNvSpPr txBox="1"/>
          <p:nvPr/>
        </p:nvSpPr>
        <p:spPr>
          <a:xfrm>
            <a:off x="1152144" y="1362456"/>
            <a:ext cx="1376385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Signals pile up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More moves than analysts can read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03.col1.2.disc"/>
          <p:cNvSpPr/>
          <p:nvPr/>
        </p:nvSpPr>
        <p:spPr>
          <a:xfrm>
            <a:off x="658368" y="2042840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03.col1.2.text"/>
          <p:cNvSpPr txBox="1"/>
          <p:nvPr/>
        </p:nvSpPr>
        <p:spPr>
          <a:xfrm>
            <a:off x="1152144" y="2042840"/>
            <a:ext cx="1474509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Reps hear last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Customers raise the move first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03.col1.3.disc"/>
          <p:cNvSpPr/>
          <p:nvPr/>
        </p:nvSpPr>
        <p:spPr>
          <a:xfrm>
            <a:off x="658368" y="2723225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03.col1.3.text"/>
          <p:cNvSpPr txBox="1"/>
          <p:nvPr/>
        </p:nvSpPr>
        <p:spPr>
          <a:xfrm>
            <a:off x="1152144" y="2723225"/>
            <a:ext cx="1802130" cy="76978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region rewrites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Each team writes its own version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03.col2.panel"/>
          <p:cNvSpPr/>
          <p:nvPr/>
        </p:nvSpPr>
        <p:spPr>
          <a:xfrm>
            <a:off x="3338322" y="777240"/>
            <a:ext cx="2698242" cy="2825496"/>
          </a:xfrm>
          <a:prstGeom prst="roundRect">
            <a:avLst>
              <a:gd name="adj" fmla="val 169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4" name="s03.col2.header"/>
          <p:cNvSpPr/>
          <p:nvPr/>
        </p:nvSpPr>
        <p:spPr>
          <a:xfrm>
            <a:off x="3338322" y="777240"/>
            <a:ext cx="2698242" cy="3840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5" name="s03.col2.header.icon"/>
          <p:cNvSpPr/>
          <p:nvPr/>
        </p:nvSpPr>
        <p:spPr>
          <a:xfrm>
            <a:off x="3539490" y="854050"/>
            <a:ext cx="230429" cy="23042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190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6" name="s03.col2.header.text"/>
          <p:cNvSpPr txBox="1"/>
          <p:nvPr/>
        </p:nvSpPr>
        <p:spPr>
          <a:xfrm>
            <a:off x="3879647" y="777240"/>
            <a:ext cx="1955749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answer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03.col2.1.disc"/>
          <p:cNvSpPr/>
          <p:nvPr/>
        </p:nvSpPr>
        <p:spPr>
          <a:xfrm>
            <a:off x="3539490" y="1362456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03.col2.1.text"/>
          <p:cNvSpPr txBox="1"/>
          <p:nvPr/>
        </p:nvSpPr>
        <p:spPr>
          <a:xfrm>
            <a:off x="4033266" y="1362456"/>
            <a:ext cx="1644393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brief per rep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page, every claim sourced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03.col2.2.disc"/>
          <p:cNvSpPr/>
          <p:nvPr/>
        </p:nvSpPr>
        <p:spPr>
          <a:xfrm>
            <a:off x="3539490" y="214192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03.col2.2.text"/>
          <p:cNvSpPr txBox="1"/>
          <p:nvPr/>
        </p:nvSpPr>
        <p:spPr>
          <a:xfrm>
            <a:off x="4033266" y="2141922"/>
            <a:ext cx="1698143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signs off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Nothing ships without a reviewer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03.col2.3.disc"/>
          <p:cNvSpPr/>
          <p:nvPr/>
        </p:nvSpPr>
        <p:spPr>
          <a:xfrm>
            <a:off x="3539490" y="2921389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03.col2.3.text"/>
          <p:cNvSpPr txBox="1"/>
          <p:nvPr/>
        </p:nvSpPr>
        <p:spPr>
          <a:xfrm>
            <a:off x="4033266" y="2921389"/>
            <a:ext cx="1713655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Shared foundation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governed source ledger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03.col3.panel"/>
          <p:cNvSpPr/>
          <p:nvPr/>
        </p:nvSpPr>
        <p:spPr>
          <a:xfrm>
            <a:off x="6219444" y="777240"/>
            <a:ext cx="2698242" cy="2825496"/>
          </a:xfrm>
          <a:prstGeom prst="roundRect">
            <a:avLst>
              <a:gd name="adj" fmla="val 169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4" name="s03.col3.header"/>
          <p:cNvSpPr/>
          <p:nvPr/>
        </p:nvSpPr>
        <p:spPr>
          <a:xfrm>
            <a:off x="6219444" y="777240"/>
            <a:ext cx="2698242" cy="3840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5" name="s03.col3.header.icon"/>
          <p:cNvSpPr/>
          <p:nvPr/>
        </p:nvSpPr>
        <p:spPr>
          <a:xfrm>
            <a:off x="6420612" y="854050"/>
            <a:ext cx="230429" cy="23042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190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6" name="s03.col3.header.text"/>
          <p:cNvSpPr txBox="1"/>
          <p:nvPr/>
        </p:nvSpPr>
        <p:spPr>
          <a:xfrm>
            <a:off x="6760769" y="777240"/>
            <a:ext cx="1955749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How it works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03.col3.1.disc"/>
          <p:cNvSpPr/>
          <p:nvPr/>
        </p:nvSpPr>
        <p:spPr>
          <a:xfrm>
            <a:off x="6420612" y="1362456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03.col3.1.text"/>
          <p:cNvSpPr txBox="1"/>
          <p:nvPr/>
        </p:nvSpPr>
        <p:spPr>
          <a:xfrm>
            <a:off x="6914388" y="1362456"/>
            <a:ext cx="1680410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 scan agent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Reads approved public sources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03.col3.2.disc"/>
          <p:cNvSpPr/>
          <p:nvPr/>
        </p:nvSpPr>
        <p:spPr>
          <a:xfrm>
            <a:off x="6420612" y="214192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03.col3.2.text"/>
          <p:cNvSpPr txBox="1"/>
          <p:nvPr/>
        </p:nvSpPr>
        <p:spPr>
          <a:xfrm>
            <a:off x="6914388" y="2141922"/>
            <a:ext cx="1643922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writer agent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Drafts by territory, with sources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03.col3.3.disc"/>
          <p:cNvSpPr/>
          <p:nvPr/>
        </p:nvSpPr>
        <p:spPr>
          <a:xfrm>
            <a:off x="6420612" y="2921389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03.col3.3.text"/>
          <p:cNvSpPr txBox="1"/>
          <p:nvPr/>
        </p:nvSpPr>
        <p:spPr>
          <a:xfrm>
            <a:off x="6914388" y="2921389"/>
            <a:ext cx="1653338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Approve, edit or reject, with a reason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03.col4.panel"/>
          <p:cNvSpPr/>
          <p:nvPr/>
        </p:nvSpPr>
        <p:spPr>
          <a:xfrm>
            <a:off x="9100566" y="777240"/>
            <a:ext cx="2698242" cy="2825496"/>
          </a:xfrm>
          <a:prstGeom prst="roundRect">
            <a:avLst>
              <a:gd name="adj" fmla="val 169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4" name="s03.col4.header"/>
          <p:cNvSpPr/>
          <p:nvPr/>
        </p:nvSpPr>
        <p:spPr>
          <a:xfrm>
            <a:off x="9100566" y="777240"/>
            <a:ext cx="2698242" cy="3840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5" name="s03.col4.header.icon"/>
          <p:cNvSpPr/>
          <p:nvPr/>
        </p:nvSpPr>
        <p:spPr>
          <a:xfrm>
            <a:off x="9301734" y="854050"/>
            <a:ext cx="230429" cy="23042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190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36" name="s03.col4.header.text"/>
          <p:cNvSpPr txBox="1"/>
          <p:nvPr/>
        </p:nvSpPr>
        <p:spPr>
          <a:xfrm>
            <a:off x="9641891" y="777240"/>
            <a:ext cx="1955749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Delivery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03.col4.1.disc"/>
          <p:cNvSpPr/>
          <p:nvPr/>
        </p:nvSpPr>
        <p:spPr>
          <a:xfrm>
            <a:off x="9301734" y="1362456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03.col4.1.text"/>
          <p:cNvSpPr txBox="1"/>
          <p:nvPr/>
        </p:nvSpPr>
        <p:spPr>
          <a:xfrm>
            <a:off x="9795510" y="1362456"/>
            <a:ext cx="1769550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Assess and pilot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Kickoff 2 Nov 2026, pilot in North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03.col4.2.disc"/>
          <p:cNvSpPr/>
          <p:nvPr/>
        </p:nvSpPr>
        <p:spPr>
          <a:xfrm>
            <a:off x="9301734" y="214192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03.col4.2.text"/>
          <p:cNvSpPr txBox="1"/>
          <p:nvPr/>
        </p:nvSpPr>
        <p:spPr>
          <a:xfrm>
            <a:off x="9795510" y="2141922"/>
            <a:ext cx="1591034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Three gates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20 Nov, 18 Dec and 8 Jan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03.col4.3.disc"/>
          <p:cNvSpPr/>
          <p:nvPr/>
        </p:nvSpPr>
        <p:spPr>
          <a:xfrm>
            <a:off x="9301734" y="2921389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03.col4.3.text"/>
          <p:cNvSpPr txBox="1"/>
          <p:nvPr/>
        </p:nvSpPr>
        <p:spPr>
          <a:xfrm>
            <a:off x="9795510" y="2921389"/>
            <a:ext cx="1707167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Scale and run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Full rollout 22 Jan 2027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03.stat.basis"/>
          <p:cNvSpPr txBox="1"/>
          <p:nvPr/>
        </p:nvSpPr>
        <p:spPr>
          <a:xfrm>
            <a:off x="457200" y="3785616"/>
            <a:ext cx="11341608" cy="137191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Illustrative figures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03.stat.band"/>
          <p:cNvSpPr/>
          <p:nvPr/>
        </p:nvSpPr>
        <p:spPr>
          <a:xfrm>
            <a:off x="457200" y="3977671"/>
            <a:ext cx="11341608" cy="1252697"/>
          </a:xfrm>
          <a:prstGeom prst="roundRect">
            <a:avLst>
              <a:gd name="adj" fmla="val 3649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grpSp>
        <p:nvGrpSpPr>
          <p:cNvPr id="48" name="s03.stat.1" descr="stat kind illustrative"/>
          <p:cNvGrpSpPr/>
          <p:nvPr/>
        </p:nvGrpSpPr>
        <p:grpSpPr>
          <a:xfrm>
            <a:off x="658368" y="4259834"/>
            <a:ext cx="2460498" cy="688370"/>
            <a:chOff x="658368" y="4259834"/>
            <a:chExt cx="2460498" cy="688370"/>
          </a:xfrm>
          <a:effectLst/>
        </p:grpSpPr>
        <p:sp>
          <p:nvSpPr>
            <p:cNvPr id="45" name="s03.stat.1.value"/>
            <p:cNvSpPr txBox="1"/>
            <p:nvPr/>
          </p:nvSpPr>
          <p:spPr>
            <a:xfrm>
              <a:off x="658368" y="4259834"/>
              <a:ext cx="2460498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40+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46" name="s03.stat.1.rule"/>
            <p:cNvCxnSpPr/>
            <p:nvPr/>
          </p:nvCxnSpPr>
          <p:spPr>
            <a:xfrm>
              <a:off x="658368" y="4740906"/>
              <a:ext cx="246049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47" name="s03.stat.1.label"/>
            <p:cNvSpPr txBox="1"/>
            <p:nvPr/>
          </p:nvSpPr>
          <p:spPr>
            <a:xfrm>
              <a:off x="658368" y="4795770"/>
              <a:ext cx="2460498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public competitor signals a week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52" name="s03.stat.2" descr="stat kind illustrative"/>
          <p:cNvGrpSpPr/>
          <p:nvPr/>
        </p:nvGrpSpPr>
        <p:grpSpPr>
          <a:xfrm>
            <a:off x="3484626" y="4259834"/>
            <a:ext cx="2460498" cy="688370"/>
            <a:chOff x="3484626" y="4259834"/>
            <a:chExt cx="2460498" cy="688370"/>
          </a:xfrm>
          <a:effectLst/>
        </p:grpSpPr>
        <p:sp>
          <p:nvSpPr>
            <p:cNvPr id="49" name="s03.stat.2.value"/>
            <p:cNvSpPr txBox="1"/>
            <p:nvPr/>
          </p:nvSpPr>
          <p:spPr>
            <a:xfrm>
              <a:off x="3484626" y="4259834"/>
              <a:ext cx="2460498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5 days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0" name="s03.stat.2.rule"/>
            <p:cNvCxnSpPr/>
            <p:nvPr/>
          </p:nvCxnSpPr>
          <p:spPr>
            <a:xfrm>
              <a:off x="3484626" y="4740906"/>
              <a:ext cx="246049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1" name="s03.stat.2.label"/>
            <p:cNvSpPr txBox="1"/>
            <p:nvPr/>
          </p:nvSpPr>
          <p:spPr>
            <a:xfrm>
              <a:off x="3484626" y="4795770"/>
              <a:ext cx="2460498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from move to field today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56" name="s03.stat.3" descr="stat kind illustrative"/>
          <p:cNvGrpSpPr/>
          <p:nvPr/>
        </p:nvGrpSpPr>
        <p:grpSpPr>
          <a:xfrm>
            <a:off x="6310884" y="4259834"/>
            <a:ext cx="2460498" cy="688370"/>
            <a:chOff x="6310884" y="4259834"/>
            <a:chExt cx="2460498" cy="688370"/>
          </a:xfrm>
          <a:effectLst/>
        </p:grpSpPr>
        <p:sp>
          <p:nvSpPr>
            <p:cNvPr id="53" name="s03.stat.3.value"/>
            <p:cNvSpPr txBox="1"/>
            <p:nvPr/>
          </p:nvSpPr>
          <p:spPr>
            <a:xfrm>
              <a:off x="6310884" y="4259834"/>
              <a:ext cx="2460498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 day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4" name="s03.stat.3.rule"/>
            <p:cNvCxnSpPr/>
            <p:nvPr/>
          </p:nvCxnSpPr>
          <p:spPr>
            <a:xfrm>
              <a:off x="6310884" y="4740906"/>
              <a:ext cx="246049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5" name="s03.stat.3.label"/>
            <p:cNvSpPr txBox="1"/>
            <p:nvPr/>
          </p:nvSpPr>
          <p:spPr>
            <a:xfrm>
              <a:off x="6310884" y="4795770"/>
              <a:ext cx="2460498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from move to field with the service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0" name="s03.stat.4" descr="stat kind illustrative"/>
          <p:cNvGrpSpPr/>
          <p:nvPr/>
        </p:nvGrpSpPr>
        <p:grpSpPr>
          <a:xfrm>
            <a:off x="9137142" y="4259834"/>
            <a:ext cx="2460498" cy="688370"/>
            <a:chOff x="9137142" y="4259834"/>
            <a:chExt cx="2460498" cy="688370"/>
          </a:xfrm>
          <a:effectLst/>
        </p:grpSpPr>
        <p:sp>
          <p:nvSpPr>
            <p:cNvPr id="57" name="s03.stat.4.value"/>
            <p:cNvSpPr txBox="1"/>
            <p:nvPr/>
          </p:nvSpPr>
          <p:spPr>
            <a:xfrm>
              <a:off x="9137142" y="4259834"/>
              <a:ext cx="2460498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$468K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8" name="s03.stat.4.rule"/>
            <p:cNvCxnSpPr/>
            <p:nvPr/>
          </p:nvCxnSpPr>
          <p:spPr>
            <a:xfrm>
              <a:off x="9137142" y="4740906"/>
              <a:ext cx="246049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9" name="s03.stat.4.label"/>
            <p:cNvSpPr txBox="1"/>
            <p:nvPr/>
          </p:nvSpPr>
          <p:spPr>
            <a:xfrm>
              <a:off x="9137142" y="4795770"/>
              <a:ext cx="2460498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first-year total, build plus run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61" name="s03.assume.band"/>
          <p:cNvSpPr/>
          <p:nvPr/>
        </p:nvSpPr>
        <p:spPr>
          <a:xfrm>
            <a:off x="457200" y="5413248"/>
            <a:ext cx="11341608" cy="841248"/>
          </a:xfrm>
          <a:prstGeom prst="roundRect">
            <a:avLst>
              <a:gd name="adj" fmla="val 543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2" name="s03.assume.label.block"/>
          <p:cNvSpPr/>
          <p:nvPr/>
        </p:nvSpPr>
        <p:spPr>
          <a:xfrm>
            <a:off x="457200" y="5413248"/>
            <a:ext cx="1828800" cy="841248"/>
          </a:xfrm>
          <a:prstGeom prst="roundRect">
            <a:avLst>
              <a:gd name="adj" fmla="val 5434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3" name="s03.assume.label"/>
          <p:cNvSpPr txBox="1"/>
          <p:nvPr/>
        </p:nvSpPr>
        <p:spPr>
          <a:xfrm>
            <a:off x="603504" y="5504688"/>
            <a:ext cx="1536192" cy="6583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Assumptions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03.assume.1.icon"/>
          <p:cNvSpPr/>
          <p:nvPr/>
        </p:nvSpPr>
        <p:spPr>
          <a:xfrm>
            <a:off x="2487168" y="567842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5" name="s03.assume.1.text"/>
          <p:cNvSpPr txBox="1"/>
          <p:nvPr/>
        </p:nvSpPr>
        <p:spPr>
          <a:xfrm>
            <a:off x="2926080" y="5569656"/>
            <a:ext cx="1667256" cy="5284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 list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Approved sources agreed at kickoff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03.assume.2.icon"/>
          <p:cNvSpPr/>
          <p:nvPr/>
        </p:nvSpPr>
        <p:spPr>
          <a:xfrm>
            <a:off x="4821936" y="567842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7" name="s03.assume.2.text"/>
          <p:cNvSpPr txBox="1"/>
          <p:nvPr/>
        </p:nvSpPr>
        <p:spPr>
          <a:xfrm>
            <a:off x="5260848" y="5569656"/>
            <a:ext cx="1667256" cy="5284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Reviewers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Quillmont names medical reviewers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03.assume.3.icon"/>
          <p:cNvSpPr/>
          <p:nvPr/>
        </p:nvSpPr>
        <p:spPr>
          <a:xfrm>
            <a:off x="7156704" y="567842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7000" y="2000"/>
                </a:moveTo>
                <a:lnTo>
                  <a:pt x="17000" y="2000"/>
                </a:lnTo>
                <a:cubicBezTo>
                  <a:pt x="18105" y="2000"/>
                  <a:pt x="19000" y="2895"/>
                  <a:pt x="19000" y="4000"/>
                </a:cubicBezTo>
                <a:lnTo>
                  <a:pt x="19000" y="20000"/>
                </a:lnTo>
                <a:cubicBezTo>
                  <a:pt x="19000" y="21105"/>
                  <a:pt x="18105" y="22000"/>
                  <a:pt x="17000" y="22000"/>
                </a:cubicBezTo>
                <a:lnTo>
                  <a:pt x="7000" y="22000"/>
                </a:lnTo>
                <a:cubicBezTo>
                  <a:pt x="5895" y="22000"/>
                  <a:pt x="5000" y="21105"/>
                  <a:pt x="5000" y="20000"/>
                </a:cubicBezTo>
                <a:lnTo>
                  <a:pt x="5000" y="4000"/>
                </a:lnTo>
                <a:cubicBezTo>
                  <a:pt x="5000" y="2895"/>
                  <a:pt x="5895" y="2000"/>
                  <a:pt x="7000" y="2000"/>
                </a:cubicBezTo>
                <a:close/>
                <a:moveTo>
                  <a:pt x="12000" y="18000"/>
                </a:moveTo>
                <a:lnTo>
                  <a:pt x="12010" y="18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9" name="s03.assume.3.text"/>
          <p:cNvSpPr txBox="1"/>
          <p:nvPr/>
        </p:nvSpPr>
        <p:spPr>
          <a:xfrm>
            <a:off x="7595616" y="5569656"/>
            <a:ext cx="1667256" cy="5284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 app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Briefs reach reps in the current app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03.assume.4.icon"/>
          <p:cNvSpPr/>
          <p:nvPr/>
        </p:nvSpPr>
        <p:spPr>
          <a:xfrm>
            <a:off x="9491472" y="567842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71" name="s03.assume.4.text"/>
          <p:cNvSpPr txBox="1"/>
          <p:nvPr/>
        </p:nvSpPr>
        <p:spPr>
          <a:xfrm>
            <a:off x="9930384" y="5569656"/>
            <a:ext cx="1667256" cy="5284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Data access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Read access to territory plans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ection-divider:brand-block-numeral">
    <p:spTree>
      <p:nvGrpSpPr>
        <p:cNvPr id="1" name=""/>
        <p:cNvGrpSpPr/>
        <p:nvPr/>
      </p:nvGrpSpPr>
      <p:grpSpPr/>
      <p:sp>
        <p:nvSpPr>
          <p:cNvPr id="2" name="divider.block"/>
          <p:cNvSpPr/>
          <p:nvPr/>
        </p:nvSpPr>
        <p:spPr>
          <a:xfrm>
            <a:off x="457200" y="777240"/>
            <a:ext cx="4206240" cy="5477256"/>
          </a:xfrm>
          <a:prstGeom prst="roundRect">
            <a:avLst>
              <a:gd name="adj" fmla="val 108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" name="divider.numeral"/>
          <p:cNvSpPr txBox="1"/>
          <p:nvPr/>
        </p:nvSpPr>
        <p:spPr>
          <a:xfrm>
            <a:off x="786384" y="3541231"/>
            <a:ext cx="3657600" cy="243894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</a:t>
            </a:r>
            <a:endParaRPr lang="en-US" sz="16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5394960" y="2556570"/>
            <a:ext cx="6403848" cy="82314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5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need</a:t>
            </a:r>
            <a:endParaRPr lang="en-US" sz="5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" name="divider.track"/>
          <p:cNvCxnSpPr/>
          <p:nvPr/>
        </p:nvCxnSpPr>
        <p:spPr>
          <a:xfrm>
            <a:off x="5605272" y="4001506"/>
            <a:ext cx="310896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6" name="divider.pos.1"/>
          <p:cNvSpPr/>
          <p:nvPr/>
        </p:nvSpPr>
        <p:spPr>
          <a:xfrm>
            <a:off x="5394960" y="3791194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divider.pos.2"/>
          <p:cNvSpPr/>
          <p:nvPr/>
        </p:nvSpPr>
        <p:spPr>
          <a:xfrm>
            <a:off x="6016752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divider.pos.3"/>
          <p:cNvSpPr/>
          <p:nvPr/>
        </p:nvSpPr>
        <p:spPr>
          <a:xfrm>
            <a:off x="6638544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divider.pos.4"/>
          <p:cNvSpPr/>
          <p:nvPr/>
        </p:nvSpPr>
        <p:spPr>
          <a:xfrm>
            <a:off x="7260336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divider.pos.5"/>
          <p:cNvSpPr/>
          <p:nvPr/>
        </p:nvSpPr>
        <p:spPr>
          <a:xfrm>
            <a:off x="7882128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divider.pos.6"/>
          <p:cNvSpPr/>
          <p:nvPr/>
        </p:nvSpPr>
        <p:spPr>
          <a:xfrm>
            <a:off x="8503920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6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blem-framing:today-mandate-end-state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briefs reach reps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late and unsourced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so trust in them erodes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oday.panel"/>
          <p:cNvSpPr/>
          <p:nvPr/>
        </p:nvSpPr>
        <p:spPr>
          <a:xfrm>
            <a:off x="457200" y="777240"/>
            <a:ext cx="3246120" cy="4133088"/>
          </a:xfrm>
          <a:prstGeom prst="roundRect">
            <a:avLst>
              <a:gd name="adj" fmla="val 140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today.header"/>
          <p:cNvSpPr/>
          <p:nvPr/>
        </p:nvSpPr>
        <p:spPr>
          <a:xfrm>
            <a:off x="457200" y="777240"/>
            <a:ext cx="3246120" cy="384048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today.header.icon"/>
          <p:cNvSpPr/>
          <p:nvPr/>
        </p:nvSpPr>
        <p:spPr>
          <a:xfrm>
            <a:off x="658368" y="854050"/>
            <a:ext cx="230429" cy="23042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6000"/>
                </a:moveTo>
                <a:lnTo>
                  <a:pt x="12000" y="12000"/>
                </a:lnTo>
                <a:lnTo>
                  <a:pt x="16000" y="14000"/>
                </a:lnTo>
              </a:path>
            </a:pathLst>
          </a:custGeom>
          <a:noFill/>
          <a:ln w="190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" name="today.header.text"/>
          <p:cNvSpPr txBox="1"/>
          <p:nvPr/>
        </p:nvSpPr>
        <p:spPr>
          <a:xfrm>
            <a:off x="998525" y="777240"/>
            <a:ext cx="2503627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Today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oday.1.icon"/>
          <p:cNvSpPr/>
          <p:nvPr/>
        </p:nvSpPr>
        <p:spPr>
          <a:xfrm>
            <a:off x="658368" y="150133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22000"/>
                </a:moveTo>
                <a:lnTo>
                  <a:pt x="19000" y="22000"/>
                </a:lnTo>
                <a:moveTo>
                  <a:pt x="5000" y="2000"/>
                </a:moveTo>
                <a:lnTo>
                  <a:pt x="19000" y="2000"/>
                </a:lnTo>
                <a:moveTo>
                  <a:pt x="17000" y="22000"/>
                </a:moveTo>
                <a:lnTo>
                  <a:pt x="17000" y="17828"/>
                </a:lnTo>
                <a:cubicBezTo>
                  <a:pt x="17000" y="17298"/>
                  <a:pt x="16789" y="16789"/>
                  <a:pt x="16414" y="16414"/>
                </a:cubicBezTo>
                <a:lnTo>
                  <a:pt x="12000" y="12000"/>
                </a:lnTo>
                <a:lnTo>
                  <a:pt x="7586" y="16414"/>
                </a:lnTo>
                <a:cubicBezTo>
                  <a:pt x="7211" y="16789"/>
                  <a:pt x="7000" y="17298"/>
                  <a:pt x="7000" y="17828"/>
                </a:cubicBezTo>
                <a:lnTo>
                  <a:pt x="7000" y="22000"/>
                </a:lnTo>
                <a:moveTo>
                  <a:pt x="7000" y="2000"/>
                </a:moveTo>
                <a:lnTo>
                  <a:pt x="7000" y="6172"/>
                </a:lnTo>
                <a:cubicBezTo>
                  <a:pt x="7000" y="6702"/>
                  <a:pt x="7211" y="7211"/>
                  <a:pt x="7586" y="7586"/>
                </a:cubicBezTo>
                <a:lnTo>
                  <a:pt x="12000" y="12000"/>
                </a:lnTo>
                <a:lnTo>
                  <a:pt x="16414" y="7586"/>
                </a:lnTo>
                <a:cubicBezTo>
                  <a:pt x="16789" y="7211"/>
                  <a:pt x="17000" y="6702"/>
                  <a:pt x="17000" y="6172"/>
                </a:cubicBezTo>
                <a:lnTo>
                  <a:pt x="17000" y="2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" name="today.1.text"/>
          <p:cNvSpPr txBox="1"/>
          <p:nvPr/>
        </p:nvSpPr>
        <p:spPr>
          <a:xfrm>
            <a:off x="1170432" y="1501334"/>
            <a:ext cx="2331720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Late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competitor move reaches reps days after customers hear of it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" name="today.rule.1"/>
          <p:cNvCxnSpPr/>
          <p:nvPr/>
        </p:nvCxnSpPr>
        <p:spPr>
          <a:xfrm>
            <a:off x="658368" y="2199132"/>
            <a:ext cx="2843784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0" name="today.2.icon"/>
          <p:cNvSpPr/>
          <p:nvPr/>
        </p:nvSpPr>
        <p:spPr>
          <a:xfrm>
            <a:off x="658368" y="233801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000"/>
                </a:moveTo>
                <a:lnTo>
                  <a:pt x="11000" y="2000"/>
                </a:lnTo>
                <a:cubicBezTo>
                  <a:pt x="9895" y="2000"/>
                  <a:pt x="9000" y="2895"/>
                  <a:pt x="9000" y="4000"/>
                </a:cubicBezTo>
                <a:lnTo>
                  <a:pt x="9000" y="15000"/>
                </a:lnTo>
                <a:cubicBezTo>
                  <a:pt x="9000" y="16105"/>
                  <a:pt x="9895" y="17000"/>
                  <a:pt x="11000" y="17000"/>
                </a:cubicBezTo>
                <a:lnTo>
                  <a:pt x="19000" y="17000"/>
                </a:lnTo>
                <a:cubicBezTo>
                  <a:pt x="20105" y="17000"/>
                  <a:pt x="21000" y="16105"/>
                  <a:pt x="21000" y="15000"/>
                </a:cubicBezTo>
                <a:lnTo>
                  <a:pt x="21000" y="8000"/>
                </a:lnTo>
                <a:moveTo>
                  <a:pt x="16706" y="2706"/>
                </a:moveTo>
                <a:cubicBezTo>
                  <a:pt x="16254" y="2253"/>
                  <a:pt x="15640" y="1998"/>
                  <a:pt x="15000" y="2000"/>
                </a:cubicBezTo>
                <a:lnTo>
                  <a:pt x="15000" y="7000"/>
                </a:lnTo>
                <a:cubicBezTo>
                  <a:pt x="15000" y="7552"/>
                  <a:pt x="15448" y="8000"/>
                  <a:pt x="16000" y="8000"/>
                </a:cubicBezTo>
                <a:lnTo>
                  <a:pt x="21000" y="8000"/>
                </a:lnTo>
                <a:cubicBezTo>
                  <a:pt x="21002" y="7360"/>
                  <a:pt x="20747" y="6746"/>
                  <a:pt x="20294" y="6294"/>
                </a:cubicBezTo>
                <a:close/>
                <a:moveTo>
                  <a:pt x="5000" y="7000"/>
                </a:moveTo>
                <a:cubicBezTo>
                  <a:pt x="3895" y="7000"/>
                  <a:pt x="3000" y="7895"/>
                  <a:pt x="3000" y="9000"/>
                </a:cubicBezTo>
                <a:lnTo>
                  <a:pt x="3000" y="20000"/>
                </a:lnTo>
                <a:cubicBezTo>
                  <a:pt x="3000" y="21105"/>
                  <a:pt x="3895" y="22000"/>
                  <a:pt x="5000" y="22000"/>
                </a:cubicBezTo>
                <a:lnTo>
                  <a:pt x="13000" y="22000"/>
                </a:lnTo>
                <a:cubicBezTo>
                  <a:pt x="13715" y="22000"/>
                  <a:pt x="14375" y="21619"/>
                  <a:pt x="14732" y="21000"/>
                </a:cubicBez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" name="today.2.text"/>
          <p:cNvSpPr txBox="1"/>
          <p:nvPr/>
        </p:nvSpPr>
        <p:spPr>
          <a:xfrm>
            <a:off x="1170432" y="2338010"/>
            <a:ext cx="2331720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Fragmented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Each region rewrites the same signals into its own brief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" name="today.rule.2"/>
          <p:cNvCxnSpPr/>
          <p:nvPr/>
        </p:nvCxnSpPr>
        <p:spPr>
          <a:xfrm>
            <a:off x="658368" y="3035808"/>
            <a:ext cx="2843784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3" name="today.3.icon"/>
          <p:cNvSpPr/>
          <p:nvPr/>
        </p:nvSpPr>
        <p:spPr>
          <a:xfrm>
            <a:off x="658368" y="317468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7029"/>
                  <a:pt x="7029" y="3000"/>
                  <a:pt x="12000" y="3000"/>
                </a:cubicBezTo>
                <a:cubicBezTo>
                  <a:pt x="14516" y="3009"/>
                  <a:pt x="16931" y="3991"/>
                  <a:pt x="18740" y="5740"/>
                </a:cubicBezTo>
                <a:lnTo>
                  <a:pt x="21000" y="8000"/>
                </a:lnTo>
                <a:moveTo>
                  <a:pt x="21000" y="3000"/>
                </a:moveTo>
                <a:lnTo>
                  <a:pt x="21000" y="8000"/>
                </a:lnTo>
                <a:lnTo>
                  <a:pt x="16000" y="8000"/>
                </a:lnTo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9484" y="20991"/>
                  <a:pt x="7069" y="20009"/>
                  <a:pt x="5260" y="18260"/>
                </a:cubicBezTo>
                <a:lnTo>
                  <a:pt x="3000" y="16000"/>
                </a:lnTo>
                <a:moveTo>
                  <a:pt x="8000" y="16000"/>
                </a:moveTo>
                <a:lnTo>
                  <a:pt x="3000" y="16000"/>
                </a:lnTo>
                <a:lnTo>
                  <a:pt x="3000" y="21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4" name="today.3.text"/>
          <p:cNvSpPr txBox="1"/>
          <p:nvPr/>
        </p:nvSpPr>
        <p:spPr>
          <a:xfrm>
            <a:off x="1170432" y="3174686"/>
            <a:ext cx="2331720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Duplicated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Six regional teams read the same signals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" name="today.rule.3"/>
          <p:cNvCxnSpPr/>
          <p:nvPr/>
        </p:nvCxnSpPr>
        <p:spPr>
          <a:xfrm>
            <a:off x="658368" y="3872484"/>
            <a:ext cx="2843784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6" name="today.4.icon"/>
          <p:cNvSpPr/>
          <p:nvPr/>
        </p:nvSpPr>
        <p:spPr>
          <a:xfrm>
            <a:off x="658368" y="401136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8000"/>
                </a:moveTo>
                <a:lnTo>
                  <a:pt x="12000" y="12000"/>
                </a:lnTo>
                <a:moveTo>
                  <a:pt x="12000" y="16000"/>
                </a:moveTo>
                <a:lnTo>
                  <a:pt x="12010" y="16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7" name="today.4.text"/>
          <p:cNvSpPr txBox="1"/>
          <p:nvPr/>
        </p:nvSpPr>
        <p:spPr>
          <a:xfrm>
            <a:off x="1170432" y="4011362"/>
            <a:ext cx="2331720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Unsourced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Claims arrive with no link and no medical check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mandate.panel"/>
          <p:cNvSpPr/>
          <p:nvPr/>
        </p:nvSpPr>
        <p:spPr>
          <a:xfrm>
            <a:off x="3904488" y="777240"/>
            <a:ext cx="3989832" cy="4133088"/>
          </a:xfrm>
          <a:prstGeom prst="roundRect">
            <a:avLst>
              <a:gd name="adj" fmla="val 114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9" name="mandate.header"/>
          <p:cNvSpPr/>
          <p:nvPr/>
        </p:nvSpPr>
        <p:spPr>
          <a:xfrm>
            <a:off x="3904488" y="777240"/>
            <a:ext cx="3989832" cy="3840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0" name="mandate.header.icon"/>
          <p:cNvSpPr/>
          <p:nvPr/>
        </p:nvSpPr>
        <p:spPr>
          <a:xfrm>
            <a:off x="4105656" y="854050"/>
            <a:ext cx="230429" cy="23042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190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1" name="mandate.header.text"/>
          <p:cNvSpPr txBox="1"/>
          <p:nvPr/>
        </p:nvSpPr>
        <p:spPr>
          <a:xfrm>
            <a:off x="4445813" y="777240"/>
            <a:ext cx="3247339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the field now asks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mandate.1.disc"/>
          <p:cNvSpPr/>
          <p:nvPr/>
        </p:nvSpPr>
        <p:spPr>
          <a:xfrm>
            <a:off x="4105656" y="1362456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mandate.1.text"/>
          <p:cNvSpPr txBox="1"/>
          <p:nvPr/>
        </p:nvSpPr>
        <p:spPr>
          <a:xfrm>
            <a:off x="4599432" y="1362456"/>
            <a:ext cx="2787990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brief, every region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single weekly page for all 1,200 reps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mandate.2.disc"/>
          <p:cNvSpPr/>
          <p:nvPr/>
        </p:nvSpPr>
        <p:spPr>
          <a:xfrm>
            <a:off x="4105656" y="2373857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mandate.2.text"/>
          <p:cNvSpPr txBox="1"/>
          <p:nvPr/>
        </p:nvSpPr>
        <p:spPr>
          <a:xfrm>
            <a:off x="4599432" y="2373857"/>
            <a:ext cx="2457325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 hand before Monday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Moves reach the field within a day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mandate.3.disc"/>
          <p:cNvSpPr/>
          <p:nvPr/>
        </p:nvSpPr>
        <p:spPr>
          <a:xfrm>
            <a:off x="4105656" y="3385258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mandate.3.text"/>
          <p:cNvSpPr txBox="1"/>
          <p:nvPr/>
        </p:nvSpPr>
        <p:spPr>
          <a:xfrm>
            <a:off x="4599432" y="3385258"/>
            <a:ext cx="2439356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claim sourced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Each line links to its public source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mandate.4.disc"/>
          <p:cNvSpPr/>
          <p:nvPr/>
        </p:nvSpPr>
        <p:spPr>
          <a:xfrm>
            <a:off x="4105656" y="4396658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mandate.4.text"/>
          <p:cNvSpPr txBox="1"/>
          <p:nvPr/>
        </p:nvSpPr>
        <p:spPr>
          <a:xfrm>
            <a:off x="4599432" y="4396658"/>
            <a:ext cx="3055803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signs first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Nothing ships without a reviewer signature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deps.band"/>
          <p:cNvSpPr/>
          <p:nvPr/>
        </p:nvSpPr>
        <p:spPr>
          <a:xfrm>
            <a:off x="457200" y="5111496"/>
            <a:ext cx="7437120" cy="1143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1" name="deps.label.block"/>
          <p:cNvSpPr/>
          <p:nvPr/>
        </p:nvSpPr>
        <p:spPr>
          <a:xfrm>
            <a:off x="457200" y="5111496"/>
            <a:ext cx="1417320" cy="1143000"/>
          </a:xfrm>
          <a:prstGeom prst="roundRect">
            <a:avLst>
              <a:gd name="adj" fmla="val 400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2" name="deps.label"/>
          <p:cNvSpPr txBox="1"/>
          <p:nvPr/>
        </p:nvSpPr>
        <p:spPr>
          <a:xfrm>
            <a:off x="603504" y="5202936"/>
            <a:ext cx="1124712" cy="9601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Depends on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deps.1.text"/>
          <p:cNvSpPr txBox="1"/>
          <p:nvPr/>
        </p:nvSpPr>
        <p:spPr>
          <a:xfrm>
            <a:off x="2075688" y="5332402"/>
            <a:ext cx="1232916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 list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and legal agree the feeds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deps.2.text"/>
          <p:cNvSpPr txBox="1"/>
          <p:nvPr/>
        </p:nvSpPr>
        <p:spPr>
          <a:xfrm>
            <a:off x="3537204" y="5332402"/>
            <a:ext cx="1232916" cy="70118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Reviewer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named signer and a deputy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deps.3.text"/>
          <p:cNvSpPr txBox="1"/>
          <p:nvPr/>
        </p:nvSpPr>
        <p:spPr>
          <a:xfrm>
            <a:off x="4998720" y="5332402"/>
            <a:ext cx="1232916" cy="3810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 app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 slot for the brief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deps.4.text"/>
          <p:cNvSpPr txBox="1"/>
          <p:nvPr/>
        </p:nvSpPr>
        <p:spPr>
          <a:xfrm>
            <a:off x="6460236" y="5332402"/>
            <a:ext cx="1232916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Pilot region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North goes first from 2 Nov 2026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end.panel"/>
          <p:cNvSpPr/>
          <p:nvPr/>
        </p:nvSpPr>
        <p:spPr>
          <a:xfrm>
            <a:off x="8095488" y="777240"/>
            <a:ext cx="3703320" cy="5477256"/>
          </a:xfrm>
          <a:prstGeom prst="roundRect">
            <a:avLst>
              <a:gd name="adj" fmla="val 1234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8" name="end.head"/>
          <p:cNvSpPr txBox="1"/>
          <p:nvPr/>
        </p:nvSpPr>
        <p:spPr>
          <a:xfrm>
            <a:off x="8369808" y="1051560"/>
            <a:ext cx="3154680" cy="24389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Required end state</a:t>
            </a:r>
            <a:endParaRPr lang="en-US" sz="16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end.1.icon"/>
          <p:cNvSpPr/>
          <p:nvPr/>
        </p:nvSpPr>
        <p:spPr>
          <a:xfrm>
            <a:off x="8369808" y="1774046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0" name="end.1.text"/>
          <p:cNvSpPr txBox="1"/>
          <p:nvPr/>
        </p:nvSpPr>
        <p:spPr>
          <a:xfrm>
            <a:off x="8881872" y="1774046"/>
            <a:ext cx="2642616" cy="3912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Weekly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page per territory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" name="end.rule.1"/>
          <p:cNvCxnSpPr/>
          <p:nvPr/>
        </p:nvCxnSpPr>
        <p:spPr>
          <a:xfrm>
            <a:off x="8369808" y="2415279"/>
            <a:ext cx="315468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42" name="end.2.icon"/>
          <p:cNvSpPr/>
          <p:nvPr/>
        </p:nvSpPr>
        <p:spPr>
          <a:xfrm>
            <a:off x="8369808" y="2665270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2000"/>
                </a:moveTo>
                <a:lnTo>
                  <a:pt x="14000" y="2000"/>
                </a:lnTo>
                <a:moveTo>
                  <a:pt x="12000" y="14000"/>
                </a:moveTo>
                <a:lnTo>
                  <a:pt x="15000" y="11000"/>
                </a:lnTo>
                <a:moveTo>
                  <a:pt x="20000" y="14000"/>
                </a:moveTo>
                <a:cubicBezTo>
                  <a:pt x="20000" y="18418"/>
                  <a:pt x="16418" y="22000"/>
                  <a:pt x="12000" y="22000"/>
                </a:cubicBezTo>
                <a:cubicBezTo>
                  <a:pt x="7582" y="22000"/>
                  <a:pt x="4000" y="18418"/>
                  <a:pt x="4000" y="14000"/>
                </a:cubicBezTo>
                <a:cubicBezTo>
                  <a:pt x="4000" y="9582"/>
                  <a:pt x="7582" y="6000"/>
                  <a:pt x="12000" y="6000"/>
                </a:cubicBezTo>
                <a:cubicBezTo>
                  <a:pt x="16418" y="6000"/>
                  <a:pt x="20000" y="9582"/>
                  <a:pt x="20000" y="14000"/>
                </a:cubicBezTo>
                <a:close/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3" name="end.2.text"/>
          <p:cNvSpPr txBox="1"/>
          <p:nvPr/>
        </p:nvSpPr>
        <p:spPr>
          <a:xfrm>
            <a:off x="8881872" y="2665270"/>
            <a:ext cx="2642616" cy="3912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Within a day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From signal to the field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4" name="end.rule.2"/>
          <p:cNvCxnSpPr/>
          <p:nvPr/>
        </p:nvCxnSpPr>
        <p:spPr>
          <a:xfrm>
            <a:off x="8369808" y="3306503"/>
            <a:ext cx="315468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45" name="end.3.icon"/>
          <p:cNvSpPr/>
          <p:nvPr/>
        </p:nvSpPr>
        <p:spPr>
          <a:xfrm>
            <a:off x="8369808" y="355649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3000"/>
                </a:moveTo>
                <a:cubicBezTo>
                  <a:pt x="10869" y="14162"/>
                  <a:pt x="12200" y="14889"/>
                  <a:pt x="13647" y="14992"/>
                </a:cubicBezTo>
                <a:cubicBezTo>
                  <a:pt x="15094" y="15096"/>
                  <a:pt x="16514" y="14566"/>
                  <a:pt x="17540" y="13540"/>
                </a:cubicBezTo>
                <a:lnTo>
                  <a:pt x="20540" y="10540"/>
                </a:lnTo>
                <a:cubicBezTo>
                  <a:pt x="22435" y="8578"/>
                  <a:pt x="22408" y="5460"/>
                  <a:pt x="20479" y="3531"/>
                </a:cubicBezTo>
                <a:cubicBezTo>
                  <a:pt x="18550" y="1602"/>
                  <a:pt x="15432" y="1575"/>
                  <a:pt x="13470" y="3470"/>
                </a:cubicBezTo>
                <a:lnTo>
                  <a:pt x="11750" y="5180"/>
                </a:lnTo>
                <a:moveTo>
                  <a:pt x="14000" y="11000"/>
                </a:moveTo>
                <a:cubicBezTo>
                  <a:pt x="13131" y="9838"/>
                  <a:pt x="11800" y="9111"/>
                  <a:pt x="10353" y="9008"/>
                </a:cubicBezTo>
                <a:cubicBezTo>
                  <a:pt x="8906" y="8904"/>
                  <a:pt x="7486" y="9434"/>
                  <a:pt x="6460" y="10460"/>
                </a:cubicBezTo>
                <a:lnTo>
                  <a:pt x="3460" y="13460"/>
                </a:lnTo>
                <a:cubicBezTo>
                  <a:pt x="1565" y="15422"/>
                  <a:pt x="1592" y="18540"/>
                  <a:pt x="3521" y="20469"/>
                </a:cubicBezTo>
                <a:cubicBezTo>
                  <a:pt x="5450" y="22398"/>
                  <a:pt x="8568" y="22425"/>
                  <a:pt x="10530" y="20530"/>
                </a:cubicBezTo>
                <a:lnTo>
                  <a:pt x="12240" y="1882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6" name="end.3.text"/>
          <p:cNvSpPr txBox="1"/>
          <p:nvPr/>
        </p:nvSpPr>
        <p:spPr>
          <a:xfrm>
            <a:off x="8881872" y="3556494"/>
            <a:ext cx="2642616" cy="3912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Fully sourced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Every claim carries its source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7" name="end.rule.3"/>
          <p:cNvCxnSpPr/>
          <p:nvPr/>
        </p:nvCxnSpPr>
        <p:spPr>
          <a:xfrm>
            <a:off x="8369808" y="4197727"/>
            <a:ext cx="315468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48" name="end.4.icon"/>
          <p:cNvSpPr/>
          <p:nvPr/>
        </p:nvSpPr>
        <p:spPr>
          <a:xfrm>
            <a:off x="8369808" y="4447719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9" name="end.4.text"/>
          <p:cNvSpPr txBox="1"/>
          <p:nvPr/>
        </p:nvSpPr>
        <p:spPr>
          <a:xfrm>
            <a:off x="8881872" y="4447719"/>
            <a:ext cx="2642616" cy="3912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Signed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approves each release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0" name="end.rule.4"/>
          <p:cNvCxnSpPr/>
          <p:nvPr/>
        </p:nvCxnSpPr>
        <p:spPr>
          <a:xfrm>
            <a:off x="8369808" y="5088952"/>
            <a:ext cx="315468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51" name="end.5.icon"/>
          <p:cNvSpPr/>
          <p:nvPr/>
        </p:nvSpPr>
        <p:spPr>
          <a:xfrm>
            <a:off x="8369808" y="5338943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21000" y="3000"/>
                </a:lnTo>
                <a:cubicBezTo>
                  <a:pt x="21552" y="3000"/>
                  <a:pt x="22000" y="3448"/>
                  <a:pt x="22000" y="4000"/>
                </a:cubicBezTo>
                <a:lnTo>
                  <a:pt x="22000" y="7000"/>
                </a:lnTo>
                <a:cubicBezTo>
                  <a:pt x="22000" y="7552"/>
                  <a:pt x="21552" y="8000"/>
                  <a:pt x="21000" y="8000"/>
                </a:cubicBezTo>
                <a:lnTo>
                  <a:pt x="3000" y="8000"/>
                </a:lnTo>
                <a:cubicBezTo>
                  <a:pt x="2448" y="8000"/>
                  <a:pt x="2000" y="7552"/>
                  <a:pt x="2000" y="7000"/>
                </a:cubicBezTo>
                <a:lnTo>
                  <a:pt x="2000" y="4000"/>
                </a:lnTo>
                <a:cubicBezTo>
                  <a:pt x="2000" y="3448"/>
                  <a:pt x="2448" y="3000"/>
                  <a:pt x="3000" y="3000"/>
                </a:cubicBezTo>
                <a:close/>
                <a:moveTo>
                  <a:pt x="4000" y="8000"/>
                </a:moveTo>
                <a:lnTo>
                  <a:pt x="4000" y="19000"/>
                </a:lnTo>
                <a:cubicBezTo>
                  <a:pt x="4000" y="20105"/>
                  <a:pt x="4895" y="21000"/>
                  <a:pt x="6000" y="21000"/>
                </a:cubicBezTo>
                <a:lnTo>
                  <a:pt x="18000" y="21000"/>
                </a:lnTo>
                <a:cubicBezTo>
                  <a:pt x="19105" y="21000"/>
                  <a:pt x="20000" y="20105"/>
                  <a:pt x="20000" y="19000"/>
                </a:cubicBezTo>
                <a:lnTo>
                  <a:pt x="20000" y="8000"/>
                </a:lnTo>
                <a:moveTo>
                  <a:pt x="10000" y="12000"/>
                </a:moveTo>
                <a:lnTo>
                  <a:pt x="14000" y="12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2" name="end.5.text"/>
          <p:cNvSpPr txBox="1"/>
          <p:nvPr/>
        </p:nvSpPr>
        <p:spPr>
          <a:xfrm>
            <a:off x="8881872" y="5338943"/>
            <a:ext cx="2642616" cy="3912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 record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Every edit and decision kept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s-is-process:process-boxes-numbered-pains-sizing-panel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competitor move takes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five days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and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six rewrites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to reach reps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flow.panel"/>
          <p:cNvSpPr/>
          <p:nvPr/>
        </p:nvSpPr>
        <p:spPr>
          <a:xfrm>
            <a:off x="457200" y="777240"/>
            <a:ext cx="8214360" cy="5477256"/>
          </a:xfrm>
          <a:prstGeom prst="roundRect">
            <a:avLst>
              <a:gd name="adj" fmla="val 83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flow.header"/>
          <p:cNvSpPr/>
          <p:nvPr/>
        </p:nvSpPr>
        <p:spPr>
          <a:xfrm>
            <a:off x="457200" y="777240"/>
            <a:ext cx="8214360" cy="384048"/>
          </a:xfrm>
          <a:prstGeom prst="round2SameRect">
            <a:avLst>
              <a:gd name="adj1" fmla="val 119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How one brief is made today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tage.1.box"/>
          <p:cNvSpPr/>
          <p:nvPr/>
        </p:nvSpPr>
        <p:spPr>
          <a:xfrm>
            <a:off x="685800" y="1389888"/>
            <a:ext cx="1302715" cy="1600200"/>
          </a:xfrm>
          <a:prstGeom prst="roundRect">
            <a:avLst>
              <a:gd name="adj" fmla="val 3509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" name="stage.1.icon"/>
          <p:cNvSpPr/>
          <p:nvPr/>
        </p:nvSpPr>
        <p:spPr>
          <a:xfrm>
            <a:off x="1126846" y="1712425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992" y="16342"/>
                </a:moveTo>
                <a:cubicBezTo>
                  <a:pt x="3139" y="16713"/>
                  <a:pt x="3172" y="17119"/>
                  <a:pt x="3086" y="17509"/>
                </a:cubicBezTo>
                <a:lnTo>
                  <a:pt x="2021" y="20799"/>
                </a:lnTo>
                <a:cubicBezTo>
                  <a:pt x="1951" y="21138"/>
                  <a:pt x="2062" y="21489"/>
                  <a:pt x="2314" y="21727"/>
                </a:cubicBezTo>
                <a:cubicBezTo>
                  <a:pt x="2565" y="21965"/>
                  <a:pt x="2922" y="22056"/>
                  <a:pt x="3257" y="21967"/>
                </a:cubicBezTo>
                <a:lnTo>
                  <a:pt x="6670" y="20969"/>
                </a:lnTo>
                <a:cubicBezTo>
                  <a:pt x="7038" y="20896"/>
                  <a:pt x="7419" y="20928"/>
                  <a:pt x="7769" y="21061"/>
                </a:cubicBezTo>
                <a:cubicBezTo>
                  <a:pt x="12178" y="23120"/>
                  <a:pt x="17428" y="21707"/>
                  <a:pt x="20208" y="17713"/>
                </a:cubicBezTo>
                <a:cubicBezTo>
                  <a:pt x="22987" y="13720"/>
                  <a:pt x="22489" y="8306"/>
                  <a:pt x="19028" y="4886"/>
                </a:cubicBezTo>
                <a:cubicBezTo>
                  <a:pt x="15567" y="1467"/>
                  <a:pt x="10147" y="1035"/>
                  <a:pt x="6187" y="3863"/>
                </a:cubicBezTo>
                <a:cubicBezTo>
                  <a:pt x="2228" y="6692"/>
                  <a:pt x="880" y="11959"/>
                  <a:pt x="2992" y="16342"/>
                </a:cubicBezTo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" name="stage.1.text"/>
          <p:cNvSpPr txBox="1"/>
          <p:nvPr/>
        </p:nvSpPr>
        <p:spPr>
          <a:xfrm>
            <a:off x="777240" y="2261065"/>
            <a:ext cx="1119835" cy="40648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Spot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0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age.1.next"/>
          <p:cNvSpPr/>
          <p:nvPr/>
        </p:nvSpPr>
        <p:spPr>
          <a:xfrm>
            <a:off x="2015947" y="2061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17000"/>
                </a:moveTo>
                <a:lnTo>
                  <a:pt x="11000" y="12000"/>
                </a:lnTo>
                <a:lnTo>
                  <a:pt x="6000" y="7000"/>
                </a:lnTo>
                <a:moveTo>
                  <a:pt x="13000" y="17000"/>
                </a:moveTo>
                <a:lnTo>
                  <a:pt x="18000" y="12000"/>
                </a:lnTo>
                <a:lnTo>
                  <a:pt x="13000" y="7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" name="owner.1.text"/>
          <p:cNvSpPr txBox="1"/>
          <p:nvPr/>
        </p:nvSpPr>
        <p:spPr>
          <a:xfrm>
            <a:off x="731520" y="3054901"/>
            <a:ext cx="1211275" cy="5182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reps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pain.1.disc"/>
          <p:cNvSpPr/>
          <p:nvPr/>
        </p:nvSpPr>
        <p:spPr>
          <a:xfrm>
            <a:off x="1145134" y="3847497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2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pain.1.text"/>
          <p:cNvSpPr txBox="1"/>
          <p:nvPr/>
        </p:nvSpPr>
        <p:spPr>
          <a:xfrm>
            <a:off x="731520" y="4359561"/>
            <a:ext cx="1211275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 feed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Customers tell reps first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" name="out.1.rule"/>
          <p:cNvCxnSpPr/>
          <p:nvPr/>
        </p:nvCxnSpPr>
        <p:spPr>
          <a:xfrm>
            <a:off x="685800" y="4983293"/>
            <a:ext cx="1302715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13" name="out.1.text"/>
          <p:cNvSpPr txBox="1"/>
          <p:nvPr/>
        </p:nvSpPr>
        <p:spPr>
          <a:xfrm>
            <a:off x="731520" y="5111309"/>
            <a:ext cx="1211275" cy="91458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OUTPUT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rumor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GOES TO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Regional analysts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age.2.box"/>
          <p:cNvSpPr/>
          <p:nvPr/>
        </p:nvSpPr>
        <p:spPr>
          <a:xfrm>
            <a:off x="2299411" y="1389888"/>
            <a:ext cx="1302715" cy="1600200"/>
          </a:xfrm>
          <a:prstGeom prst="roundRect">
            <a:avLst>
              <a:gd name="adj" fmla="val 3509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5" name="stage.2.icon"/>
          <p:cNvSpPr/>
          <p:nvPr/>
        </p:nvSpPr>
        <p:spPr>
          <a:xfrm>
            <a:off x="2740457" y="1712425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8000" y="13000"/>
                </a:moveTo>
                <a:lnTo>
                  <a:pt x="10000" y="13000"/>
                </a:lnTo>
                <a:moveTo>
                  <a:pt x="14000" y="13000"/>
                </a:moveTo>
                <a:lnTo>
                  <a:pt x="16000" y="13000"/>
                </a:lnTo>
                <a:moveTo>
                  <a:pt x="8000" y="17000"/>
                </a:moveTo>
                <a:lnTo>
                  <a:pt x="10000" y="17000"/>
                </a:lnTo>
                <a:moveTo>
                  <a:pt x="14000" y="17000"/>
                </a:moveTo>
                <a:lnTo>
                  <a:pt x="16000" y="17000"/>
                </a:lnTo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" name="stage.2.text"/>
          <p:cNvSpPr txBox="1"/>
          <p:nvPr/>
        </p:nvSpPr>
        <p:spPr>
          <a:xfrm>
            <a:off x="2390851" y="2261065"/>
            <a:ext cx="1119835" cy="40648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Collect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1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age.2.next"/>
          <p:cNvSpPr/>
          <p:nvPr/>
        </p:nvSpPr>
        <p:spPr>
          <a:xfrm>
            <a:off x="3629558" y="2061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17000"/>
                </a:moveTo>
                <a:lnTo>
                  <a:pt x="11000" y="12000"/>
                </a:lnTo>
                <a:lnTo>
                  <a:pt x="6000" y="7000"/>
                </a:lnTo>
                <a:moveTo>
                  <a:pt x="13000" y="17000"/>
                </a:moveTo>
                <a:lnTo>
                  <a:pt x="18000" y="12000"/>
                </a:lnTo>
                <a:lnTo>
                  <a:pt x="13000" y="7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8" name="owner.2.text"/>
          <p:cNvSpPr txBox="1"/>
          <p:nvPr/>
        </p:nvSpPr>
        <p:spPr>
          <a:xfrm>
            <a:off x="2345131" y="3054901"/>
            <a:ext cx="1211275" cy="5182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Regional analysts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pain.2.disc"/>
          <p:cNvSpPr/>
          <p:nvPr/>
        </p:nvSpPr>
        <p:spPr>
          <a:xfrm>
            <a:off x="2758745" y="3847497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2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pain.2.text"/>
          <p:cNvSpPr txBox="1"/>
          <p:nvPr/>
        </p:nvSpPr>
        <p:spPr>
          <a:xfrm>
            <a:off x="2345131" y="4359561"/>
            <a:ext cx="1211275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Hand sifting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Analysts read 40+ signals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" name="out.2.rule"/>
          <p:cNvCxnSpPr/>
          <p:nvPr/>
        </p:nvCxnSpPr>
        <p:spPr>
          <a:xfrm>
            <a:off x="2299411" y="4983293"/>
            <a:ext cx="1302715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22" name="out.2.text"/>
          <p:cNvSpPr txBox="1"/>
          <p:nvPr/>
        </p:nvSpPr>
        <p:spPr>
          <a:xfrm>
            <a:off x="2345131" y="5111309"/>
            <a:ext cx="1211275" cy="91458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OUTPUT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spreadsheet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GOES TO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Regional leads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tage.3.box"/>
          <p:cNvSpPr/>
          <p:nvPr/>
        </p:nvSpPr>
        <p:spPr>
          <a:xfrm>
            <a:off x="3913022" y="1389888"/>
            <a:ext cx="1302715" cy="1600200"/>
          </a:xfrm>
          <a:prstGeom prst="roundRect">
            <a:avLst>
              <a:gd name="adj" fmla="val 3509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4" name="stage.3.icon"/>
          <p:cNvSpPr/>
          <p:nvPr/>
        </p:nvSpPr>
        <p:spPr>
          <a:xfrm>
            <a:off x="4354068" y="1712425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000"/>
                </a:moveTo>
                <a:lnTo>
                  <a:pt x="11000" y="2000"/>
                </a:lnTo>
                <a:cubicBezTo>
                  <a:pt x="9895" y="2000"/>
                  <a:pt x="9000" y="2895"/>
                  <a:pt x="9000" y="4000"/>
                </a:cubicBezTo>
                <a:lnTo>
                  <a:pt x="9000" y="15000"/>
                </a:lnTo>
                <a:cubicBezTo>
                  <a:pt x="9000" y="16105"/>
                  <a:pt x="9895" y="17000"/>
                  <a:pt x="11000" y="17000"/>
                </a:cubicBezTo>
                <a:lnTo>
                  <a:pt x="19000" y="17000"/>
                </a:lnTo>
                <a:cubicBezTo>
                  <a:pt x="20105" y="17000"/>
                  <a:pt x="21000" y="16105"/>
                  <a:pt x="21000" y="15000"/>
                </a:cubicBezTo>
                <a:lnTo>
                  <a:pt x="21000" y="8000"/>
                </a:lnTo>
                <a:moveTo>
                  <a:pt x="16706" y="2706"/>
                </a:moveTo>
                <a:cubicBezTo>
                  <a:pt x="16254" y="2253"/>
                  <a:pt x="15640" y="1998"/>
                  <a:pt x="15000" y="2000"/>
                </a:cubicBezTo>
                <a:lnTo>
                  <a:pt x="15000" y="7000"/>
                </a:lnTo>
                <a:cubicBezTo>
                  <a:pt x="15000" y="7552"/>
                  <a:pt x="15448" y="8000"/>
                  <a:pt x="16000" y="8000"/>
                </a:cubicBezTo>
                <a:lnTo>
                  <a:pt x="21000" y="8000"/>
                </a:lnTo>
                <a:cubicBezTo>
                  <a:pt x="21002" y="7360"/>
                  <a:pt x="20747" y="6746"/>
                  <a:pt x="20294" y="6294"/>
                </a:cubicBezTo>
                <a:close/>
                <a:moveTo>
                  <a:pt x="5000" y="7000"/>
                </a:moveTo>
                <a:cubicBezTo>
                  <a:pt x="3895" y="7000"/>
                  <a:pt x="3000" y="7895"/>
                  <a:pt x="3000" y="9000"/>
                </a:cubicBezTo>
                <a:lnTo>
                  <a:pt x="3000" y="20000"/>
                </a:lnTo>
                <a:cubicBezTo>
                  <a:pt x="3000" y="21105"/>
                  <a:pt x="3895" y="22000"/>
                  <a:pt x="5000" y="22000"/>
                </a:cubicBezTo>
                <a:lnTo>
                  <a:pt x="13000" y="22000"/>
                </a:lnTo>
                <a:cubicBezTo>
                  <a:pt x="13715" y="22000"/>
                  <a:pt x="14375" y="21619"/>
                  <a:pt x="14732" y="21000"/>
                </a:cubicBezTo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5" name="stage.3.text"/>
          <p:cNvSpPr txBox="1"/>
          <p:nvPr/>
        </p:nvSpPr>
        <p:spPr>
          <a:xfrm>
            <a:off x="4004462" y="2261065"/>
            <a:ext cx="1119835" cy="40648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Rewrite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Days 2 to 3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tage.3.next"/>
          <p:cNvSpPr/>
          <p:nvPr/>
        </p:nvSpPr>
        <p:spPr>
          <a:xfrm>
            <a:off x="5243170" y="2061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17000"/>
                </a:moveTo>
                <a:lnTo>
                  <a:pt x="11000" y="12000"/>
                </a:lnTo>
                <a:lnTo>
                  <a:pt x="6000" y="7000"/>
                </a:lnTo>
                <a:moveTo>
                  <a:pt x="13000" y="17000"/>
                </a:moveTo>
                <a:lnTo>
                  <a:pt x="18000" y="12000"/>
                </a:lnTo>
                <a:lnTo>
                  <a:pt x="13000" y="7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7" name="owner.3.text"/>
          <p:cNvSpPr txBox="1"/>
          <p:nvPr/>
        </p:nvSpPr>
        <p:spPr>
          <a:xfrm>
            <a:off x="3958742" y="3054901"/>
            <a:ext cx="1211275" cy="5182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Six regional leads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ain.3.disc"/>
          <p:cNvSpPr/>
          <p:nvPr/>
        </p:nvSpPr>
        <p:spPr>
          <a:xfrm>
            <a:off x="4372356" y="3847497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2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pain.3.text"/>
          <p:cNvSpPr txBox="1"/>
          <p:nvPr/>
        </p:nvSpPr>
        <p:spPr>
          <a:xfrm>
            <a:off x="3958742" y="4359561"/>
            <a:ext cx="1211275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Six versions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Each region drafts its own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0" name="out.3.rule"/>
          <p:cNvCxnSpPr/>
          <p:nvPr/>
        </p:nvCxnSpPr>
        <p:spPr>
          <a:xfrm>
            <a:off x="3913022" y="4983293"/>
            <a:ext cx="1302716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31" name="out.3.text"/>
          <p:cNvSpPr txBox="1"/>
          <p:nvPr/>
        </p:nvSpPr>
        <p:spPr>
          <a:xfrm>
            <a:off x="3958742" y="5111309"/>
            <a:ext cx="1211275" cy="91458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OUTPUT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Six drafts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GOES TO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reviewers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age.4.box"/>
          <p:cNvSpPr/>
          <p:nvPr/>
        </p:nvSpPr>
        <p:spPr>
          <a:xfrm>
            <a:off x="5526634" y="1389888"/>
            <a:ext cx="1302715" cy="1600200"/>
          </a:xfrm>
          <a:prstGeom prst="roundRect">
            <a:avLst>
              <a:gd name="adj" fmla="val 3509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3" name="stage.4.icon"/>
          <p:cNvSpPr/>
          <p:nvPr/>
        </p:nvSpPr>
        <p:spPr>
          <a:xfrm>
            <a:off x="5967679" y="1712425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34" name="stage.4.text"/>
          <p:cNvSpPr txBox="1"/>
          <p:nvPr/>
        </p:nvSpPr>
        <p:spPr>
          <a:xfrm>
            <a:off x="5618074" y="2261065"/>
            <a:ext cx="1119835" cy="40648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4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tage.4.next"/>
          <p:cNvSpPr/>
          <p:nvPr/>
        </p:nvSpPr>
        <p:spPr>
          <a:xfrm>
            <a:off x="6856781" y="2061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17000"/>
                </a:moveTo>
                <a:lnTo>
                  <a:pt x="11000" y="12000"/>
                </a:lnTo>
                <a:lnTo>
                  <a:pt x="6000" y="7000"/>
                </a:lnTo>
                <a:moveTo>
                  <a:pt x="13000" y="17000"/>
                </a:moveTo>
                <a:lnTo>
                  <a:pt x="18000" y="12000"/>
                </a:lnTo>
                <a:lnTo>
                  <a:pt x="13000" y="7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36" name="owner.4.text"/>
          <p:cNvSpPr txBox="1"/>
          <p:nvPr/>
        </p:nvSpPr>
        <p:spPr>
          <a:xfrm>
            <a:off x="5572354" y="3054901"/>
            <a:ext cx="1211275" cy="5182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reviewers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pain.4.disc"/>
          <p:cNvSpPr/>
          <p:nvPr/>
        </p:nvSpPr>
        <p:spPr>
          <a:xfrm>
            <a:off x="5985967" y="3847497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2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pain.4.text"/>
          <p:cNvSpPr txBox="1"/>
          <p:nvPr/>
        </p:nvSpPr>
        <p:spPr>
          <a:xfrm>
            <a:off x="5572354" y="4359561"/>
            <a:ext cx="1211275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Late review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queues behind regions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" name="out.4.rule"/>
          <p:cNvCxnSpPr/>
          <p:nvPr/>
        </p:nvCxnSpPr>
        <p:spPr>
          <a:xfrm>
            <a:off x="5526634" y="4983293"/>
            <a:ext cx="1302715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40" name="out.4.text"/>
          <p:cNvSpPr txBox="1"/>
          <p:nvPr/>
        </p:nvSpPr>
        <p:spPr>
          <a:xfrm>
            <a:off x="5572354" y="5111309"/>
            <a:ext cx="1211275" cy="91458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OUTPUT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Marked-up drafts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GOES TO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Regional leads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tage.5.box"/>
          <p:cNvSpPr/>
          <p:nvPr/>
        </p:nvSpPr>
        <p:spPr>
          <a:xfrm>
            <a:off x="7140245" y="1389888"/>
            <a:ext cx="1302715" cy="1600200"/>
          </a:xfrm>
          <a:prstGeom prst="roundRect">
            <a:avLst>
              <a:gd name="adj" fmla="val 3509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2" name="stage.5.icon"/>
          <p:cNvSpPr/>
          <p:nvPr/>
        </p:nvSpPr>
        <p:spPr>
          <a:xfrm>
            <a:off x="7581290" y="1712425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349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3" name="stage.5.text"/>
          <p:cNvSpPr txBox="1"/>
          <p:nvPr/>
        </p:nvSpPr>
        <p:spPr>
          <a:xfrm>
            <a:off x="7231685" y="2261065"/>
            <a:ext cx="1119835" cy="40648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Send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5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owner.5.text"/>
          <p:cNvSpPr txBox="1"/>
          <p:nvPr/>
        </p:nvSpPr>
        <p:spPr>
          <a:xfrm>
            <a:off x="7185965" y="3054901"/>
            <a:ext cx="1211275" cy="5182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Regional leads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pain.5.disc"/>
          <p:cNvSpPr/>
          <p:nvPr/>
        </p:nvSpPr>
        <p:spPr>
          <a:xfrm>
            <a:off x="7599578" y="3847497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2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pain.5.text"/>
          <p:cNvSpPr txBox="1"/>
          <p:nvPr/>
        </p:nvSpPr>
        <p:spPr>
          <a:xfrm>
            <a:off x="7185965" y="4359561"/>
            <a:ext cx="1211275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 record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Email loses every edit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7" name="out.5.rule"/>
          <p:cNvCxnSpPr/>
          <p:nvPr/>
        </p:nvCxnSpPr>
        <p:spPr>
          <a:xfrm>
            <a:off x="7140245" y="4983293"/>
            <a:ext cx="1302715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48" name="out.5.text"/>
          <p:cNvSpPr txBox="1"/>
          <p:nvPr/>
        </p:nvSpPr>
        <p:spPr>
          <a:xfrm>
            <a:off x="7185965" y="5111309"/>
            <a:ext cx="1211275" cy="91458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OUTPUT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An attachment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GOES TO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Field reps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cost.panel"/>
          <p:cNvSpPr/>
          <p:nvPr/>
        </p:nvSpPr>
        <p:spPr>
          <a:xfrm>
            <a:off x="8872728" y="777240"/>
            <a:ext cx="2926080" cy="5477256"/>
          </a:xfrm>
          <a:prstGeom prst="roundRect">
            <a:avLst>
              <a:gd name="adj" fmla="val 15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0" name="cost.header"/>
          <p:cNvSpPr/>
          <p:nvPr/>
        </p:nvSpPr>
        <p:spPr>
          <a:xfrm>
            <a:off x="8872728" y="777240"/>
            <a:ext cx="2926080" cy="384048"/>
          </a:xfrm>
          <a:prstGeom prst="round2SameRect">
            <a:avLst>
              <a:gd name="adj1" fmla="val 11904"/>
              <a:gd name="adj2" fmla="val 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the delay costs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55" name="s06.cost.1" descr="stat kind illustrative"/>
          <p:cNvGrpSpPr/>
          <p:nvPr/>
        </p:nvGrpSpPr>
        <p:grpSpPr>
          <a:xfrm>
            <a:off x="9128760" y="1490472"/>
            <a:ext cx="2414016" cy="1046866"/>
            <a:chOff x="9128760" y="1490472"/>
            <a:chExt cx="2414016" cy="1046866"/>
          </a:xfrm>
          <a:effectLst/>
        </p:grpSpPr>
        <p:sp>
          <p:nvSpPr>
            <p:cNvPr id="51" name="s06.cost.1.value"/>
            <p:cNvSpPr txBox="1"/>
            <p:nvPr/>
          </p:nvSpPr>
          <p:spPr>
            <a:xfrm>
              <a:off x="9128760" y="1490472"/>
              <a:ext cx="2414016" cy="52864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5 days</a:t>
              </a:r>
              <a:endParaRPr lang="en-US" sz="3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2" name="s06.cost.1.rule"/>
            <p:cNvCxnSpPr/>
            <p:nvPr/>
          </p:nvCxnSpPr>
          <p:spPr>
            <a:xfrm>
              <a:off x="9128760" y="2064833"/>
              <a:ext cx="24140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3" name="s06.cost.1.label"/>
            <p:cNvSpPr txBox="1"/>
            <p:nvPr/>
          </p:nvSpPr>
          <p:spPr>
            <a:xfrm>
              <a:off x="9128760" y="2119697"/>
              <a:ext cx="2414016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From a competitor move to the field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4" name="s06.cost.1.basis"/>
            <p:cNvSpPr/>
            <p:nvPr/>
          </p:nvSpPr>
          <p:spPr>
            <a:xfrm>
              <a:off x="9128760" y="2326995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0" name="s06.cost.2" descr="stat kind illustrative"/>
          <p:cNvGrpSpPr/>
          <p:nvPr/>
        </p:nvGrpSpPr>
        <p:grpSpPr>
          <a:xfrm>
            <a:off x="9128760" y="2668565"/>
            <a:ext cx="2414016" cy="1046866"/>
            <a:chOff x="9128760" y="2668565"/>
            <a:chExt cx="2414016" cy="1046866"/>
          </a:xfrm>
          <a:effectLst/>
        </p:grpSpPr>
        <p:sp>
          <p:nvSpPr>
            <p:cNvPr id="56" name="s06.cost.2.value"/>
            <p:cNvSpPr txBox="1"/>
            <p:nvPr/>
          </p:nvSpPr>
          <p:spPr>
            <a:xfrm>
              <a:off x="9128760" y="2668565"/>
              <a:ext cx="2414016" cy="52864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6</a:t>
              </a:r>
              <a:endParaRPr lang="en-US" sz="3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7" name="s06.cost.2.rule"/>
            <p:cNvCxnSpPr/>
            <p:nvPr/>
          </p:nvCxnSpPr>
          <p:spPr>
            <a:xfrm>
              <a:off x="9128760" y="3242926"/>
              <a:ext cx="24140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8" name="s06.cost.2.label"/>
            <p:cNvSpPr txBox="1"/>
            <p:nvPr/>
          </p:nvSpPr>
          <p:spPr>
            <a:xfrm>
              <a:off x="9128760" y="3297790"/>
              <a:ext cx="2414016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Regional versions of one brief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9" name="s06.cost.2.basis"/>
            <p:cNvSpPr/>
            <p:nvPr/>
          </p:nvSpPr>
          <p:spPr>
            <a:xfrm>
              <a:off x="9128760" y="3505088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5" name="s06.cost.3" descr="stat kind illustrative"/>
          <p:cNvGrpSpPr/>
          <p:nvPr/>
        </p:nvGrpSpPr>
        <p:grpSpPr>
          <a:xfrm>
            <a:off x="9128760" y="3846657"/>
            <a:ext cx="2414016" cy="1046867"/>
            <a:chOff x="9128760" y="3846657"/>
            <a:chExt cx="2414016" cy="1046867"/>
          </a:xfrm>
          <a:effectLst/>
        </p:grpSpPr>
        <p:sp>
          <p:nvSpPr>
            <p:cNvPr id="61" name="s06.cost.3.value"/>
            <p:cNvSpPr txBox="1"/>
            <p:nvPr/>
          </p:nvSpPr>
          <p:spPr>
            <a:xfrm>
              <a:off x="9128760" y="3846657"/>
              <a:ext cx="2414016" cy="52864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40+</a:t>
              </a:r>
              <a:endParaRPr lang="en-US" sz="3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62" name="s06.cost.3.rule"/>
            <p:cNvCxnSpPr/>
            <p:nvPr/>
          </p:nvCxnSpPr>
          <p:spPr>
            <a:xfrm>
              <a:off x="9128760" y="4421019"/>
              <a:ext cx="24140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63" name="s06.cost.3.label"/>
            <p:cNvSpPr txBox="1"/>
            <p:nvPr/>
          </p:nvSpPr>
          <p:spPr>
            <a:xfrm>
              <a:off x="9128760" y="4475883"/>
              <a:ext cx="2414016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Signals a week, read by hand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4" name="s06.cost.3.basis"/>
            <p:cNvSpPr/>
            <p:nvPr/>
          </p:nvSpPr>
          <p:spPr>
            <a:xfrm>
              <a:off x="9128760" y="4683181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70" name="s06.cost.4" descr="stat kind illustrative"/>
          <p:cNvGrpSpPr/>
          <p:nvPr/>
        </p:nvGrpSpPr>
        <p:grpSpPr>
          <a:xfrm>
            <a:off x="9128760" y="5024750"/>
            <a:ext cx="2414016" cy="1046866"/>
            <a:chOff x="9128760" y="5024750"/>
            <a:chExt cx="2414016" cy="1046866"/>
          </a:xfrm>
          <a:effectLst/>
        </p:grpSpPr>
        <p:sp>
          <p:nvSpPr>
            <p:cNvPr id="66" name="s06.cost.4.value"/>
            <p:cNvSpPr txBox="1"/>
            <p:nvPr/>
          </p:nvSpPr>
          <p:spPr>
            <a:xfrm>
              <a:off x="9128760" y="5024750"/>
              <a:ext cx="2414016" cy="528641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3</a:t>
              </a:r>
              <a:endParaRPr lang="en-US" sz="3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67" name="s06.cost.4.rule"/>
            <p:cNvCxnSpPr/>
            <p:nvPr/>
          </p:nvCxnSpPr>
          <p:spPr>
            <a:xfrm>
              <a:off x="9128760" y="5599111"/>
              <a:ext cx="24140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68" name="s06.cost.4.label"/>
            <p:cNvSpPr txBox="1"/>
            <p:nvPr/>
          </p:nvSpPr>
          <p:spPr>
            <a:xfrm>
              <a:off x="9128760" y="5653975"/>
              <a:ext cx="2414016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Brands covered in every brief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9" name="s06.cost.4.basis"/>
            <p:cNvSpPr/>
            <p:nvPr/>
          </p:nvSpPr>
          <p:spPr>
            <a:xfrm>
              <a:off x="9128760" y="5861273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headline-figures:stat-band-stage-bars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competitor move reaches reps in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five days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and rewriting takes two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at.basis"/>
          <p:cNvSpPr txBox="1"/>
          <p:nvPr/>
        </p:nvSpPr>
        <p:spPr>
          <a:xfrm>
            <a:off x="457200" y="777240"/>
            <a:ext cx="11341608" cy="137191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Illustrative figures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at.band"/>
          <p:cNvSpPr/>
          <p:nvPr/>
        </p:nvSpPr>
        <p:spPr>
          <a:xfrm>
            <a:off x="457200" y="969295"/>
            <a:ext cx="11341608" cy="1225265"/>
          </a:xfrm>
          <a:prstGeom prst="roundRect">
            <a:avLst>
              <a:gd name="adj" fmla="val 3731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grpSp>
        <p:nvGrpSpPr>
          <p:cNvPr id="8" name="stat.1" descr="stat kind illustrative"/>
          <p:cNvGrpSpPr/>
          <p:nvPr/>
        </p:nvGrpSpPr>
        <p:grpSpPr>
          <a:xfrm>
            <a:off x="658368" y="1237742"/>
            <a:ext cx="2460498" cy="688370"/>
            <a:chOff x="658368" y="1237742"/>
            <a:chExt cx="2460498" cy="688370"/>
          </a:xfrm>
          <a:effectLst/>
        </p:grpSpPr>
        <p:sp>
          <p:nvSpPr>
            <p:cNvPr id="5" name="stat.1.value"/>
            <p:cNvSpPr txBox="1"/>
            <p:nvPr/>
          </p:nvSpPr>
          <p:spPr>
            <a:xfrm>
              <a:off x="658368" y="1237742"/>
              <a:ext cx="2460498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5 days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6" name="stat.1.rule"/>
            <p:cNvCxnSpPr/>
            <p:nvPr/>
          </p:nvCxnSpPr>
          <p:spPr>
            <a:xfrm>
              <a:off x="658368" y="1718814"/>
              <a:ext cx="246049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7" name="stat.1.label"/>
            <p:cNvSpPr txBox="1"/>
            <p:nvPr/>
          </p:nvSpPr>
          <p:spPr>
            <a:xfrm>
              <a:off x="658368" y="1773678"/>
              <a:ext cx="2460498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from a competitor move to the field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2" name="stat.2" descr="stat kind illustrative"/>
          <p:cNvGrpSpPr/>
          <p:nvPr/>
        </p:nvGrpSpPr>
        <p:grpSpPr>
          <a:xfrm>
            <a:off x="3484626" y="1237742"/>
            <a:ext cx="2460498" cy="688370"/>
            <a:chOff x="3484626" y="1237742"/>
            <a:chExt cx="2460498" cy="688370"/>
          </a:xfrm>
          <a:effectLst/>
        </p:grpSpPr>
        <p:sp>
          <p:nvSpPr>
            <p:cNvPr id="9" name="stat.2.value"/>
            <p:cNvSpPr txBox="1"/>
            <p:nvPr/>
          </p:nvSpPr>
          <p:spPr>
            <a:xfrm>
              <a:off x="3484626" y="1237742"/>
              <a:ext cx="2460498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40+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0" name="stat.2.rule"/>
            <p:cNvCxnSpPr/>
            <p:nvPr/>
          </p:nvCxnSpPr>
          <p:spPr>
            <a:xfrm>
              <a:off x="3484626" y="1718814"/>
              <a:ext cx="246049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1" name="stat.2.label"/>
            <p:cNvSpPr txBox="1"/>
            <p:nvPr/>
          </p:nvSpPr>
          <p:spPr>
            <a:xfrm>
              <a:off x="3484626" y="1773678"/>
              <a:ext cx="2460498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public competitor signals a week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6" name="stat.3" descr="stat kind illustrative"/>
          <p:cNvGrpSpPr/>
          <p:nvPr/>
        </p:nvGrpSpPr>
        <p:grpSpPr>
          <a:xfrm>
            <a:off x="6310884" y="1237742"/>
            <a:ext cx="2460498" cy="688370"/>
            <a:chOff x="6310884" y="1237742"/>
            <a:chExt cx="2460498" cy="688370"/>
          </a:xfrm>
          <a:effectLst/>
        </p:grpSpPr>
        <p:sp>
          <p:nvSpPr>
            <p:cNvPr id="13" name="stat.3.value"/>
            <p:cNvSpPr txBox="1"/>
            <p:nvPr/>
          </p:nvSpPr>
          <p:spPr>
            <a:xfrm>
              <a:off x="6310884" y="1237742"/>
              <a:ext cx="2460498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1,200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4" name="stat.3.rule"/>
            <p:cNvCxnSpPr/>
            <p:nvPr/>
          </p:nvCxnSpPr>
          <p:spPr>
            <a:xfrm>
              <a:off x="6310884" y="1718814"/>
              <a:ext cx="246049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5" name="stat.3.label"/>
            <p:cNvSpPr txBox="1"/>
            <p:nvPr/>
          </p:nvSpPr>
          <p:spPr>
            <a:xfrm>
              <a:off x="6310884" y="1773678"/>
              <a:ext cx="2460498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reps who hear it from customers first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0" name="stat.4" descr="stat kind illustrative"/>
          <p:cNvGrpSpPr/>
          <p:nvPr/>
        </p:nvGrpSpPr>
        <p:grpSpPr>
          <a:xfrm>
            <a:off x="9137142" y="1237742"/>
            <a:ext cx="2460498" cy="688370"/>
            <a:chOff x="9137142" y="1237742"/>
            <a:chExt cx="2460498" cy="688370"/>
          </a:xfrm>
          <a:effectLst/>
        </p:grpSpPr>
        <p:sp>
          <p:nvSpPr>
            <p:cNvPr id="17" name="stat.4.value"/>
            <p:cNvSpPr txBox="1"/>
            <p:nvPr/>
          </p:nvSpPr>
          <p:spPr>
            <a:xfrm>
              <a:off x="9137142" y="1237742"/>
              <a:ext cx="2460498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6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8" name="stat.4.rule"/>
            <p:cNvCxnSpPr/>
            <p:nvPr/>
          </p:nvCxnSpPr>
          <p:spPr>
            <a:xfrm>
              <a:off x="9137142" y="1718814"/>
              <a:ext cx="2460498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9" name="stat.4.label"/>
            <p:cNvSpPr txBox="1"/>
            <p:nvPr/>
          </p:nvSpPr>
          <p:spPr>
            <a:xfrm>
              <a:off x="9137142" y="1773678"/>
              <a:ext cx="2460498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regional versions of every brief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1" name="bars.head"/>
          <p:cNvSpPr txBox="1"/>
          <p:nvPr/>
        </p:nvSpPr>
        <p:spPr>
          <a:xfrm>
            <a:off x="457200" y="2468880"/>
            <a:ext cx="690372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Days from a competitor move to the field, by stage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2" name="bars" descr="Bar chart: Collect signals 1 day, Rewrite by region 2 days, Medical review 1 day, Send t (chart kind illustrative)"/>
          <p:cNvGraphicFramePr>
            <a:graphicFrameLocks noGrp="1"/>
          </p:cNvGraphicFramePr>
          <p:nvPr/>
        </p:nvGraphicFramePr>
        <p:xfrm>
          <a:off x="457200" y="2834640"/>
          <a:ext cx="6903720" cy="3419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bars.cat.1"/>
          <p:cNvSpPr txBox="1"/>
          <p:nvPr/>
        </p:nvSpPr>
        <p:spPr>
          <a:xfrm>
            <a:off x="512064" y="3210287"/>
            <a:ext cx="1305336" cy="18596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Collect signals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bars.cat.2"/>
          <p:cNvSpPr txBox="1"/>
          <p:nvPr/>
        </p:nvSpPr>
        <p:spPr>
          <a:xfrm>
            <a:off x="512064" y="4037819"/>
            <a:ext cx="1305336" cy="18596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Rewrite by region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bars.cat.3"/>
          <p:cNvSpPr txBox="1"/>
          <p:nvPr/>
        </p:nvSpPr>
        <p:spPr>
          <a:xfrm>
            <a:off x="512064" y="4865351"/>
            <a:ext cx="1305336" cy="18596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review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bars.cat.4"/>
          <p:cNvSpPr txBox="1"/>
          <p:nvPr/>
        </p:nvSpPr>
        <p:spPr>
          <a:xfrm>
            <a:off x="512064" y="5692883"/>
            <a:ext cx="1305336" cy="18596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Send to reps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bars.value.1"/>
          <p:cNvSpPr txBox="1"/>
          <p:nvPr/>
        </p:nvSpPr>
        <p:spPr>
          <a:xfrm>
            <a:off x="4352919" y="3201143"/>
            <a:ext cx="429702" cy="204253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 day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bars.value.2"/>
          <p:cNvSpPr txBox="1"/>
          <p:nvPr/>
        </p:nvSpPr>
        <p:spPr>
          <a:xfrm>
            <a:off x="6705558" y="4021054"/>
            <a:ext cx="582210" cy="219497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 days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bars.value.3"/>
          <p:cNvSpPr txBox="1"/>
          <p:nvPr/>
        </p:nvSpPr>
        <p:spPr>
          <a:xfrm>
            <a:off x="4352919" y="4856207"/>
            <a:ext cx="429702" cy="204253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 day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bars.value.4"/>
          <p:cNvSpPr txBox="1"/>
          <p:nvPr/>
        </p:nvSpPr>
        <p:spPr>
          <a:xfrm>
            <a:off x="4352919" y="5683739"/>
            <a:ext cx="429702" cy="204253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 day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bars.note.1.text"/>
          <p:cNvSpPr txBox="1"/>
          <p:nvPr/>
        </p:nvSpPr>
        <p:spPr>
          <a:xfrm>
            <a:off x="5403591" y="3538621"/>
            <a:ext cx="1902465" cy="204253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Six versions of one brief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why.head"/>
          <p:cNvSpPr txBox="1"/>
          <p:nvPr/>
        </p:nvSpPr>
        <p:spPr>
          <a:xfrm>
            <a:off x="7726680" y="2468880"/>
            <a:ext cx="4072128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Where each day goes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why.body"/>
          <p:cNvSpPr txBox="1"/>
          <p:nvPr/>
        </p:nvSpPr>
        <p:spPr>
          <a:xfrm>
            <a:off x="7726680" y="2834640"/>
            <a:ext cx="4072128" cy="334365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Collect: 1 day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Analysts sift 40+ signals by hand from registries, press and congress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788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Rewrite: 2 days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Each of six regions rewrites the same brief for its own reps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788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Review: 1 day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reads every regional version, one after another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788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Send: 1 day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The Monday digest holds every brief to one weekly slot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ap-analysis:as-built-cards-gap-rows-spine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Quillmont has the signals and the reviewers, but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no shared brief pipeline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exists.zone"/>
          <p:cNvSpPr/>
          <p:nvPr/>
        </p:nvSpPr>
        <p:spPr>
          <a:xfrm>
            <a:off x="457200" y="777240"/>
            <a:ext cx="5074920" cy="5477256"/>
          </a:xfrm>
          <a:prstGeom prst="roundRect">
            <a:avLst>
              <a:gd name="adj" fmla="val 9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exists.header"/>
          <p:cNvSpPr/>
          <p:nvPr/>
        </p:nvSpPr>
        <p:spPr>
          <a:xfrm>
            <a:off x="457200" y="777240"/>
            <a:ext cx="5074920" cy="384048"/>
          </a:xfrm>
          <a:prstGeom prst="round2SameRect">
            <a:avLst>
              <a:gd name="adj1" fmla="val 119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exists today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built.1.card"/>
          <p:cNvSpPr/>
          <p:nvPr/>
        </p:nvSpPr>
        <p:spPr>
          <a:xfrm>
            <a:off x="658368" y="1362456"/>
            <a:ext cx="2253996" cy="1453896"/>
          </a:xfrm>
          <a:prstGeom prst="roundRect">
            <a:avLst>
              <a:gd name="adj" fmla="val 314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6" name="built.1.icon"/>
          <p:cNvSpPr/>
          <p:nvPr/>
        </p:nvSpPr>
        <p:spPr>
          <a:xfrm>
            <a:off x="822960" y="155442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2000"/>
                </a:moveTo>
                <a:cubicBezTo>
                  <a:pt x="6667" y="7600"/>
                  <a:pt x="6667" y="16400"/>
                  <a:pt x="12000" y="22000"/>
                </a:cubicBezTo>
                <a:cubicBezTo>
                  <a:pt x="17333" y="16400"/>
                  <a:pt x="17333" y="7600"/>
                  <a:pt x="12000" y="2000"/>
                </a:cubicBezTo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" name="built.1.head"/>
          <p:cNvSpPr txBox="1"/>
          <p:nvPr/>
        </p:nvSpPr>
        <p:spPr>
          <a:xfrm>
            <a:off x="1225296" y="1601646"/>
            <a:ext cx="1522476" cy="1981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Public feeds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built.1.f1.label"/>
          <p:cNvSpPr txBox="1"/>
          <p:nvPr/>
        </p:nvSpPr>
        <p:spPr>
          <a:xfrm>
            <a:off x="822960" y="1975048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Volume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built.1.f1.value"/>
          <p:cNvSpPr txBox="1"/>
          <p:nvPr/>
        </p:nvSpPr>
        <p:spPr>
          <a:xfrm>
            <a:off x="1554480" y="1975048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40+ a week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built.1.f2.label"/>
          <p:cNvSpPr txBox="1"/>
          <p:nvPr/>
        </p:nvSpPr>
        <p:spPr>
          <a:xfrm>
            <a:off x="822960" y="2215877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built.1.f2.value"/>
          <p:cNvSpPr txBox="1"/>
          <p:nvPr/>
        </p:nvSpPr>
        <p:spPr>
          <a:xfrm>
            <a:off x="1554480" y="2215877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Unassigned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built.1.f3.label"/>
          <p:cNvSpPr txBox="1"/>
          <p:nvPr/>
        </p:nvSpPr>
        <p:spPr>
          <a:xfrm>
            <a:off x="822960" y="2456707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Sign-off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built.1.f3.value"/>
          <p:cNvSpPr txBox="1"/>
          <p:nvPr/>
        </p:nvSpPr>
        <p:spPr>
          <a:xfrm>
            <a:off x="1554480" y="2456707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None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built.2.card"/>
          <p:cNvSpPr/>
          <p:nvPr/>
        </p:nvSpPr>
        <p:spPr>
          <a:xfrm>
            <a:off x="3076956" y="1362456"/>
            <a:ext cx="2253996" cy="1453896"/>
          </a:xfrm>
          <a:prstGeom prst="roundRect">
            <a:avLst>
              <a:gd name="adj" fmla="val 314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5" name="built.2.icon"/>
          <p:cNvSpPr/>
          <p:nvPr/>
        </p:nvSpPr>
        <p:spPr>
          <a:xfrm>
            <a:off x="3241548" y="150256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" name="built.2.head"/>
          <p:cNvSpPr txBox="1"/>
          <p:nvPr/>
        </p:nvSpPr>
        <p:spPr>
          <a:xfrm>
            <a:off x="3643884" y="1502564"/>
            <a:ext cx="1522476" cy="39632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Regional analysts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built.2.f1.label"/>
          <p:cNvSpPr txBox="1"/>
          <p:nvPr/>
        </p:nvSpPr>
        <p:spPr>
          <a:xfrm>
            <a:off x="3241548" y="2026908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Teams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built.2.f1.value"/>
          <p:cNvSpPr txBox="1"/>
          <p:nvPr/>
        </p:nvSpPr>
        <p:spPr>
          <a:xfrm>
            <a:off x="3973068" y="2026908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Six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built.2.f2.label"/>
          <p:cNvSpPr txBox="1"/>
          <p:nvPr/>
        </p:nvSpPr>
        <p:spPr>
          <a:xfrm>
            <a:off x="3241548" y="2267738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Output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built.2.f2.value"/>
          <p:cNvSpPr txBox="1"/>
          <p:nvPr/>
        </p:nvSpPr>
        <p:spPr>
          <a:xfrm>
            <a:off x="3973068" y="2267738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Six briefs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built.2.f3.label"/>
          <p:cNvSpPr txBox="1"/>
          <p:nvPr/>
        </p:nvSpPr>
        <p:spPr>
          <a:xfrm>
            <a:off x="3241548" y="2508567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Tools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built.2.f3.value"/>
          <p:cNvSpPr txBox="1"/>
          <p:nvPr/>
        </p:nvSpPr>
        <p:spPr>
          <a:xfrm>
            <a:off x="3973068" y="2508567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Spreadsheets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built.3.card"/>
          <p:cNvSpPr/>
          <p:nvPr/>
        </p:nvSpPr>
        <p:spPr>
          <a:xfrm>
            <a:off x="658368" y="2980944"/>
            <a:ext cx="2253996" cy="1453896"/>
          </a:xfrm>
          <a:prstGeom prst="roundRect">
            <a:avLst>
              <a:gd name="adj" fmla="val 314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24" name="built.3.icon"/>
          <p:cNvSpPr/>
          <p:nvPr/>
        </p:nvSpPr>
        <p:spPr>
          <a:xfrm>
            <a:off x="822960" y="312105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5" name="built.3.head"/>
          <p:cNvSpPr txBox="1"/>
          <p:nvPr/>
        </p:nvSpPr>
        <p:spPr>
          <a:xfrm>
            <a:off x="1225296" y="3121052"/>
            <a:ext cx="1522476" cy="39632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reviewers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built.3.f1.label"/>
          <p:cNvSpPr txBox="1"/>
          <p:nvPr/>
        </p:nvSpPr>
        <p:spPr>
          <a:xfrm>
            <a:off x="822960" y="3645396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Remit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built.3.f1.value"/>
          <p:cNvSpPr txBox="1"/>
          <p:nvPr/>
        </p:nvSpPr>
        <p:spPr>
          <a:xfrm>
            <a:off x="1554480" y="3645396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Promo review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built.3.f2.label"/>
          <p:cNvSpPr txBox="1"/>
          <p:nvPr/>
        </p:nvSpPr>
        <p:spPr>
          <a:xfrm>
            <a:off x="822960" y="3886226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Timing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built.3.f2.value"/>
          <p:cNvSpPr txBox="1"/>
          <p:nvPr/>
        </p:nvSpPr>
        <p:spPr>
          <a:xfrm>
            <a:off x="1554480" y="3886226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After release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built.3.f3.label"/>
          <p:cNvSpPr txBox="1"/>
          <p:nvPr/>
        </p:nvSpPr>
        <p:spPr>
          <a:xfrm>
            <a:off x="822960" y="4127055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Signer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built.3.f3.value"/>
          <p:cNvSpPr txBox="1"/>
          <p:nvPr/>
        </p:nvSpPr>
        <p:spPr>
          <a:xfrm>
            <a:off x="1554480" y="4127055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Not named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built.4.card"/>
          <p:cNvSpPr/>
          <p:nvPr/>
        </p:nvSpPr>
        <p:spPr>
          <a:xfrm>
            <a:off x="3076956" y="2980944"/>
            <a:ext cx="2253996" cy="1453896"/>
          </a:xfrm>
          <a:prstGeom prst="roundRect">
            <a:avLst>
              <a:gd name="adj" fmla="val 314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33" name="built.4.icon"/>
          <p:cNvSpPr/>
          <p:nvPr/>
        </p:nvSpPr>
        <p:spPr>
          <a:xfrm>
            <a:off x="3241548" y="317291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7000" y="2000"/>
                </a:moveTo>
                <a:lnTo>
                  <a:pt x="17000" y="2000"/>
                </a:lnTo>
                <a:cubicBezTo>
                  <a:pt x="18105" y="2000"/>
                  <a:pt x="19000" y="2895"/>
                  <a:pt x="19000" y="4000"/>
                </a:cubicBezTo>
                <a:lnTo>
                  <a:pt x="19000" y="20000"/>
                </a:lnTo>
                <a:cubicBezTo>
                  <a:pt x="19000" y="21105"/>
                  <a:pt x="18105" y="22000"/>
                  <a:pt x="17000" y="22000"/>
                </a:cubicBezTo>
                <a:lnTo>
                  <a:pt x="7000" y="22000"/>
                </a:lnTo>
                <a:cubicBezTo>
                  <a:pt x="5895" y="22000"/>
                  <a:pt x="5000" y="21105"/>
                  <a:pt x="5000" y="20000"/>
                </a:cubicBezTo>
                <a:lnTo>
                  <a:pt x="5000" y="4000"/>
                </a:lnTo>
                <a:cubicBezTo>
                  <a:pt x="5000" y="2895"/>
                  <a:pt x="5895" y="2000"/>
                  <a:pt x="7000" y="2000"/>
                </a:cubicBezTo>
                <a:close/>
                <a:moveTo>
                  <a:pt x="12000" y="18000"/>
                </a:moveTo>
                <a:lnTo>
                  <a:pt x="12010" y="18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34" name="built.4.head"/>
          <p:cNvSpPr txBox="1"/>
          <p:nvPr/>
        </p:nvSpPr>
        <p:spPr>
          <a:xfrm>
            <a:off x="3643884" y="3220134"/>
            <a:ext cx="1522476" cy="1981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app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built.4.f1.label"/>
          <p:cNvSpPr txBox="1"/>
          <p:nvPr/>
        </p:nvSpPr>
        <p:spPr>
          <a:xfrm>
            <a:off x="3241548" y="3593536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Reach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built.4.f1.value"/>
          <p:cNvSpPr txBox="1"/>
          <p:nvPr/>
        </p:nvSpPr>
        <p:spPr>
          <a:xfrm>
            <a:off x="3973068" y="3593536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1,200 reps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built.4.f2.label"/>
          <p:cNvSpPr txBox="1"/>
          <p:nvPr/>
        </p:nvSpPr>
        <p:spPr>
          <a:xfrm>
            <a:off x="3241548" y="3834365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built.4.f2.value"/>
          <p:cNvSpPr txBox="1"/>
          <p:nvPr/>
        </p:nvSpPr>
        <p:spPr>
          <a:xfrm>
            <a:off x="3973068" y="3834365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 slot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built.4.f3.label"/>
          <p:cNvSpPr txBox="1"/>
          <p:nvPr/>
        </p:nvSpPr>
        <p:spPr>
          <a:xfrm>
            <a:off x="3241548" y="4075195"/>
            <a:ext cx="731520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built.4.f3.value"/>
          <p:cNvSpPr txBox="1"/>
          <p:nvPr/>
        </p:nvSpPr>
        <p:spPr>
          <a:xfrm>
            <a:off x="3973068" y="4075195"/>
            <a:ext cx="1193292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Field excellence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built.5.card"/>
          <p:cNvSpPr/>
          <p:nvPr/>
        </p:nvSpPr>
        <p:spPr>
          <a:xfrm>
            <a:off x="658368" y="4599432"/>
            <a:ext cx="2253996" cy="1453896"/>
          </a:xfrm>
          <a:prstGeom prst="roundRect">
            <a:avLst>
              <a:gd name="adj" fmla="val 314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42" name="built.5.icon"/>
          <p:cNvSpPr/>
          <p:nvPr/>
        </p:nvSpPr>
        <p:spPr>
          <a:xfrm>
            <a:off x="822960" y="479140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lnTo>
                  <a:pt x="12000" y="21000"/>
                </a:lnTo>
                <a:moveTo>
                  <a:pt x="20001" y="19000"/>
                </a:moveTo>
                <a:cubicBezTo>
                  <a:pt x="21105" y="18999"/>
                  <a:pt x="22000" y="18104"/>
                  <a:pt x="22000" y="17000"/>
                </a:cubicBezTo>
                <a:lnTo>
                  <a:pt x="22000" y="5000"/>
                </a:lnTo>
                <a:cubicBezTo>
                  <a:pt x="22000" y="3896"/>
                  <a:pt x="21105" y="3001"/>
                  <a:pt x="20001" y="3000"/>
                </a:cubicBezTo>
                <a:lnTo>
                  <a:pt x="16000" y="3002"/>
                </a:lnTo>
                <a:cubicBezTo>
                  <a:pt x="14427" y="3002"/>
                  <a:pt x="12945" y="3742"/>
                  <a:pt x="12000" y="5000"/>
                </a:cubicBezTo>
                <a:cubicBezTo>
                  <a:pt x="11056" y="3741"/>
                  <a:pt x="9574" y="3000"/>
                  <a:pt x="8000" y="3000"/>
                </a:cubicBez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17000"/>
                </a:lnTo>
                <a:cubicBezTo>
                  <a:pt x="2000" y="18104"/>
                  <a:pt x="2895" y="18999"/>
                  <a:pt x="3999" y="19000"/>
                </a:cubicBezTo>
                <a:lnTo>
                  <a:pt x="8000" y="19000"/>
                </a:lnTo>
                <a:cubicBezTo>
                  <a:pt x="9574" y="19000"/>
                  <a:pt x="11056" y="19741"/>
                  <a:pt x="12000" y="21000"/>
                </a:cubicBezTo>
                <a:cubicBezTo>
                  <a:pt x="12944" y="19741"/>
                  <a:pt x="14426" y="19000"/>
                  <a:pt x="16000" y="19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3" name="built.5.head"/>
          <p:cNvSpPr txBox="1"/>
          <p:nvPr/>
        </p:nvSpPr>
        <p:spPr>
          <a:xfrm>
            <a:off x="1225296" y="4838622"/>
            <a:ext cx="1522476" cy="1981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Brand plans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built.5.f1.label"/>
          <p:cNvSpPr txBox="1"/>
          <p:nvPr/>
        </p:nvSpPr>
        <p:spPr>
          <a:xfrm>
            <a:off x="822960" y="5212024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Brands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built.5.f1.value"/>
          <p:cNvSpPr txBox="1"/>
          <p:nvPr/>
        </p:nvSpPr>
        <p:spPr>
          <a:xfrm>
            <a:off x="1554480" y="5212024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Three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built.5.f2.label"/>
          <p:cNvSpPr txBox="1"/>
          <p:nvPr/>
        </p:nvSpPr>
        <p:spPr>
          <a:xfrm>
            <a:off x="822960" y="5452853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Refresh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built.5.f2.value"/>
          <p:cNvSpPr txBox="1"/>
          <p:nvPr/>
        </p:nvSpPr>
        <p:spPr>
          <a:xfrm>
            <a:off x="1554480" y="5452853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Yearly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built.5.f3.label"/>
          <p:cNvSpPr txBox="1"/>
          <p:nvPr/>
        </p:nvSpPr>
        <p:spPr>
          <a:xfrm>
            <a:off x="822960" y="5693683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built.5.f3.value"/>
          <p:cNvSpPr txBox="1"/>
          <p:nvPr/>
        </p:nvSpPr>
        <p:spPr>
          <a:xfrm>
            <a:off x="1554480" y="5693683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Brand teams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built.6.card"/>
          <p:cNvSpPr/>
          <p:nvPr/>
        </p:nvSpPr>
        <p:spPr>
          <a:xfrm>
            <a:off x="3076956" y="4599432"/>
            <a:ext cx="2253996" cy="1453896"/>
          </a:xfrm>
          <a:prstGeom prst="roundRect">
            <a:avLst>
              <a:gd name="adj" fmla="val 314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51" name="built.6.icon"/>
          <p:cNvSpPr/>
          <p:nvPr/>
        </p:nvSpPr>
        <p:spPr>
          <a:xfrm>
            <a:off x="3241548" y="479140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2" name="built.6.head"/>
          <p:cNvSpPr txBox="1"/>
          <p:nvPr/>
        </p:nvSpPr>
        <p:spPr>
          <a:xfrm>
            <a:off x="3643884" y="4838622"/>
            <a:ext cx="1522476" cy="1981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Email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built.6.f1.label"/>
          <p:cNvSpPr txBox="1"/>
          <p:nvPr/>
        </p:nvSpPr>
        <p:spPr>
          <a:xfrm>
            <a:off x="3241548" y="5212024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Use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built.6.f1.value"/>
          <p:cNvSpPr txBox="1"/>
          <p:nvPr/>
        </p:nvSpPr>
        <p:spPr>
          <a:xfrm>
            <a:off x="3973068" y="5212024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Delivery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built.6.f2.label"/>
          <p:cNvSpPr txBox="1"/>
          <p:nvPr/>
        </p:nvSpPr>
        <p:spPr>
          <a:xfrm>
            <a:off x="3241548" y="5452853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Record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built.6.f2.value"/>
          <p:cNvSpPr txBox="1"/>
          <p:nvPr/>
        </p:nvSpPr>
        <p:spPr>
          <a:xfrm>
            <a:off x="3973068" y="5452853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None kept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built.6.f3.label"/>
          <p:cNvSpPr txBox="1"/>
          <p:nvPr/>
        </p:nvSpPr>
        <p:spPr>
          <a:xfrm>
            <a:off x="3241548" y="5693683"/>
            <a:ext cx="731520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Reach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built.6.f3.value"/>
          <p:cNvSpPr txBox="1"/>
          <p:nvPr/>
        </p:nvSpPr>
        <p:spPr>
          <a:xfrm>
            <a:off x="3973068" y="5693683"/>
            <a:ext cx="11932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Regional lists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9" name="spine.top"/>
          <p:cNvCxnSpPr/>
          <p:nvPr/>
        </p:nvCxnSpPr>
        <p:spPr>
          <a:xfrm>
            <a:off x="5852160" y="1161288"/>
            <a:ext cx="0" cy="2098548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60" name="spine.bottom"/>
          <p:cNvCxnSpPr/>
          <p:nvPr/>
        </p:nvCxnSpPr>
        <p:spPr>
          <a:xfrm>
            <a:off x="5852160" y="3771900"/>
            <a:ext cx="0" cy="2482596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61" name="spine.label"/>
          <p:cNvSpPr/>
          <p:nvPr/>
        </p:nvSpPr>
        <p:spPr>
          <a:xfrm>
            <a:off x="5596128" y="3351276"/>
            <a:ext cx="512064" cy="329184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Gap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aps.header"/>
          <p:cNvSpPr/>
          <p:nvPr/>
        </p:nvSpPr>
        <p:spPr>
          <a:xfrm>
            <a:off x="6172200" y="777240"/>
            <a:ext cx="5626608" cy="384048"/>
          </a:xfrm>
          <a:prstGeom prst="round2SameRect">
            <a:avLst>
              <a:gd name="adj1" fmla="val 11904"/>
              <a:gd name="adj2" fmla="val 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is missing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gap.1.card"/>
          <p:cNvSpPr/>
          <p:nvPr/>
        </p:nvSpPr>
        <p:spPr>
          <a:xfrm>
            <a:off x="6172200" y="1289304"/>
            <a:ext cx="5626608" cy="720852"/>
          </a:xfrm>
          <a:prstGeom prst="roundRect">
            <a:avLst>
              <a:gd name="adj" fmla="val 63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4" name="gap.1.icon"/>
          <p:cNvSpPr/>
          <p:nvPr/>
        </p:nvSpPr>
        <p:spPr>
          <a:xfrm>
            <a:off x="6373368" y="149428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5" name="gap.1.text"/>
          <p:cNvSpPr txBox="1"/>
          <p:nvPr/>
        </p:nvSpPr>
        <p:spPr>
          <a:xfrm>
            <a:off x="6867144" y="1370270"/>
            <a:ext cx="2673096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approved source list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Each team trusts different feeds, none signed off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6" name="gap.1.rule"/>
          <p:cNvCxnSpPr/>
          <p:nvPr/>
        </p:nvCxnSpPr>
        <p:spPr>
          <a:xfrm>
            <a:off x="9640824" y="1435608"/>
            <a:ext cx="0" cy="428244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67" name="gap.1.f1.label"/>
          <p:cNvSpPr txBox="1"/>
          <p:nvPr/>
        </p:nvSpPr>
        <p:spPr>
          <a:xfrm>
            <a:off x="9741408" y="1370782"/>
            <a:ext cx="749808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Closed by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gap.1.f1.value"/>
          <p:cNvSpPr txBox="1"/>
          <p:nvPr/>
        </p:nvSpPr>
        <p:spPr>
          <a:xfrm>
            <a:off x="10491216" y="1370782"/>
            <a:ext cx="1124712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and legal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gap.1.f2.label"/>
          <p:cNvSpPr txBox="1"/>
          <p:nvPr/>
        </p:nvSpPr>
        <p:spPr>
          <a:xfrm>
            <a:off x="9741408" y="1761001"/>
            <a:ext cx="74980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Due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gap.1.f2.value"/>
          <p:cNvSpPr txBox="1"/>
          <p:nvPr/>
        </p:nvSpPr>
        <p:spPr>
          <a:xfrm>
            <a:off x="10491216" y="1761001"/>
            <a:ext cx="112471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20 Nov 2026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gap.2.card"/>
          <p:cNvSpPr/>
          <p:nvPr/>
        </p:nvSpPr>
        <p:spPr>
          <a:xfrm>
            <a:off x="6172200" y="2138172"/>
            <a:ext cx="5626608" cy="720852"/>
          </a:xfrm>
          <a:prstGeom prst="roundRect">
            <a:avLst>
              <a:gd name="adj" fmla="val 63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2" name="gap.2.icon"/>
          <p:cNvSpPr/>
          <p:nvPr/>
        </p:nvSpPr>
        <p:spPr>
          <a:xfrm>
            <a:off x="6373368" y="2343150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22000" y="12000"/>
                </a:moveTo>
                <a:lnTo>
                  <a:pt x="18000" y="12000"/>
                </a:lnTo>
                <a:moveTo>
                  <a:pt x="6000" y="12000"/>
                </a:moveTo>
                <a:lnTo>
                  <a:pt x="2000" y="12000"/>
                </a:lnTo>
                <a:moveTo>
                  <a:pt x="12000" y="6000"/>
                </a:moveTo>
                <a:lnTo>
                  <a:pt x="12000" y="2000"/>
                </a:lnTo>
                <a:moveTo>
                  <a:pt x="12000" y="22000"/>
                </a:moveTo>
                <a:lnTo>
                  <a:pt x="12000" y="18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3" name="gap.2.text"/>
          <p:cNvSpPr txBox="1"/>
          <p:nvPr/>
        </p:nvSpPr>
        <p:spPr>
          <a:xfrm>
            <a:off x="6867144" y="2219138"/>
            <a:ext cx="2673096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Ranking by territory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 way to tell which signal matters to which rep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4" name="gap.2.rule"/>
          <p:cNvCxnSpPr/>
          <p:nvPr/>
        </p:nvCxnSpPr>
        <p:spPr>
          <a:xfrm>
            <a:off x="9640824" y="2284476"/>
            <a:ext cx="0" cy="428244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75" name="gap.2.f1.label"/>
          <p:cNvSpPr txBox="1"/>
          <p:nvPr/>
        </p:nvSpPr>
        <p:spPr>
          <a:xfrm>
            <a:off x="9741408" y="2219650"/>
            <a:ext cx="749808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Closed by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ap.2.f1.value"/>
          <p:cNvSpPr txBox="1"/>
          <p:nvPr/>
        </p:nvSpPr>
        <p:spPr>
          <a:xfrm>
            <a:off x="10491216" y="2219650"/>
            <a:ext cx="1124712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 scan agent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ap.2.f2.label"/>
          <p:cNvSpPr txBox="1"/>
          <p:nvPr/>
        </p:nvSpPr>
        <p:spPr>
          <a:xfrm>
            <a:off x="9741408" y="2609869"/>
            <a:ext cx="74980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Due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gap.2.f2.value"/>
          <p:cNvSpPr txBox="1"/>
          <p:nvPr/>
        </p:nvSpPr>
        <p:spPr>
          <a:xfrm>
            <a:off x="10491216" y="2609869"/>
            <a:ext cx="112471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18 Dec 2026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gap.3.card"/>
          <p:cNvSpPr/>
          <p:nvPr/>
        </p:nvSpPr>
        <p:spPr>
          <a:xfrm>
            <a:off x="6172200" y="2987040"/>
            <a:ext cx="5626608" cy="720852"/>
          </a:xfrm>
          <a:prstGeom prst="roundRect">
            <a:avLst>
              <a:gd name="adj" fmla="val 63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80" name="gap.3.icon"/>
          <p:cNvSpPr/>
          <p:nvPr/>
        </p:nvSpPr>
        <p:spPr>
          <a:xfrm>
            <a:off x="6373368" y="319201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1" name="gap.3.text"/>
          <p:cNvSpPr txBox="1"/>
          <p:nvPr/>
        </p:nvSpPr>
        <p:spPr>
          <a:xfrm>
            <a:off x="6867144" y="3068006"/>
            <a:ext cx="2673096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sourced draft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Claims are retyped six times, with no links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2" name="gap.3.rule"/>
          <p:cNvCxnSpPr/>
          <p:nvPr/>
        </p:nvCxnSpPr>
        <p:spPr>
          <a:xfrm>
            <a:off x="9640824" y="3133344"/>
            <a:ext cx="0" cy="428244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83" name="gap.3.f1.label"/>
          <p:cNvSpPr txBox="1"/>
          <p:nvPr/>
        </p:nvSpPr>
        <p:spPr>
          <a:xfrm>
            <a:off x="9741408" y="3068518"/>
            <a:ext cx="749808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Closed by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gap.3.f1.value"/>
          <p:cNvSpPr txBox="1"/>
          <p:nvPr/>
        </p:nvSpPr>
        <p:spPr>
          <a:xfrm>
            <a:off x="10491216" y="3068518"/>
            <a:ext cx="1124712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writer agent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gap.3.f2.label"/>
          <p:cNvSpPr txBox="1"/>
          <p:nvPr/>
        </p:nvSpPr>
        <p:spPr>
          <a:xfrm>
            <a:off x="9741408" y="3458737"/>
            <a:ext cx="74980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Due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gap.3.f2.value"/>
          <p:cNvSpPr txBox="1"/>
          <p:nvPr/>
        </p:nvSpPr>
        <p:spPr>
          <a:xfrm>
            <a:off x="10491216" y="3458737"/>
            <a:ext cx="112471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18 Dec 2026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gap.4.card"/>
          <p:cNvSpPr/>
          <p:nvPr/>
        </p:nvSpPr>
        <p:spPr>
          <a:xfrm>
            <a:off x="6172200" y="3835908"/>
            <a:ext cx="5626608" cy="720852"/>
          </a:xfrm>
          <a:prstGeom prst="roundRect">
            <a:avLst>
              <a:gd name="adj" fmla="val 63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88" name="gap.4.icon"/>
          <p:cNvSpPr/>
          <p:nvPr/>
        </p:nvSpPr>
        <p:spPr>
          <a:xfrm>
            <a:off x="6373368" y="404088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9" name="gap.4.text"/>
          <p:cNvSpPr txBox="1"/>
          <p:nvPr/>
        </p:nvSpPr>
        <p:spPr>
          <a:xfrm>
            <a:off x="6867144" y="3916874"/>
            <a:ext cx="2673096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before release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signs after reps have used the brief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0" name="gap.4.rule"/>
          <p:cNvCxnSpPr/>
          <p:nvPr/>
        </p:nvCxnSpPr>
        <p:spPr>
          <a:xfrm>
            <a:off x="9640824" y="3982212"/>
            <a:ext cx="0" cy="428244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91" name="gap.4.f1.label"/>
          <p:cNvSpPr txBox="1"/>
          <p:nvPr/>
        </p:nvSpPr>
        <p:spPr>
          <a:xfrm>
            <a:off x="9741408" y="4001225"/>
            <a:ext cx="74980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Closed by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ap.4.f1.value"/>
          <p:cNvSpPr txBox="1"/>
          <p:nvPr/>
        </p:nvSpPr>
        <p:spPr>
          <a:xfrm>
            <a:off x="10491216" y="4001225"/>
            <a:ext cx="112471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ap.4.f2.label"/>
          <p:cNvSpPr txBox="1"/>
          <p:nvPr/>
        </p:nvSpPr>
        <p:spPr>
          <a:xfrm>
            <a:off x="9741408" y="4223766"/>
            <a:ext cx="74980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Due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ap.4.f2.value"/>
          <p:cNvSpPr txBox="1"/>
          <p:nvPr/>
        </p:nvSpPr>
        <p:spPr>
          <a:xfrm>
            <a:off x="10491216" y="4223766"/>
            <a:ext cx="112471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18 Dec 2026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gap.5.card"/>
          <p:cNvSpPr/>
          <p:nvPr/>
        </p:nvSpPr>
        <p:spPr>
          <a:xfrm>
            <a:off x="6172200" y="4684776"/>
            <a:ext cx="5626608" cy="720852"/>
          </a:xfrm>
          <a:prstGeom prst="roundRect">
            <a:avLst>
              <a:gd name="adj" fmla="val 63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96" name="gap.5.icon"/>
          <p:cNvSpPr/>
          <p:nvPr/>
        </p:nvSpPr>
        <p:spPr>
          <a:xfrm>
            <a:off x="6373368" y="4889754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21000" y="3000"/>
                </a:lnTo>
                <a:cubicBezTo>
                  <a:pt x="21552" y="3000"/>
                  <a:pt x="22000" y="3448"/>
                  <a:pt x="22000" y="4000"/>
                </a:cubicBezTo>
                <a:lnTo>
                  <a:pt x="22000" y="7000"/>
                </a:lnTo>
                <a:cubicBezTo>
                  <a:pt x="22000" y="7552"/>
                  <a:pt x="21552" y="8000"/>
                  <a:pt x="21000" y="8000"/>
                </a:cubicBezTo>
                <a:lnTo>
                  <a:pt x="3000" y="8000"/>
                </a:lnTo>
                <a:cubicBezTo>
                  <a:pt x="2448" y="8000"/>
                  <a:pt x="2000" y="7552"/>
                  <a:pt x="2000" y="7000"/>
                </a:cubicBezTo>
                <a:lnTo>
                  <a:pt x="2000" y="4000"/>
                </a:lnTo>
                <a:cubicBezTo>
                  <a:pt x="2000" y="3448"/>
                  <a:pt x="2448" y="3000"/>
                  <a:pt x="3000" y="3000"/>
                </a:cubicBezTo>
                <a:close/>
                <a:moveTo>
                  <a:pt x="4000" y="8000"/>
                </a:moveTo>
                <a:lnTo>
                  <a:pt x="4000" y="19000"/>
                </a:lnTo>
                <a:cubicBezTo>
                  <a:pt x="4000" y="20105"/>
                  <a:pt x="4895" y="21000"/>
                  <a:pt x="6000" y="21000"/>
                </a:cubicBezTo>
                <a:lnTo>
                  <a:pt x="18000" y="21000"/>
                </a:lnTo>
                <a:cubicBezTo>
                  <a:pt x="19105" y="21000"/>
                  <a:pt x="20000" y="20105"/>
                  <a:pt x="20000" y="19000"/>
                </a:cubicBezTo>
                <a:lnTo>
                  <a:pt x="20000" y="8000"/>
                </a:lnTo>
                <a:moveTo>
                  <a:pt x="10000" y="12000"/>
                </a:moveTo>
                <a:lnTo>
                  <a:pt x="14000" y="12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7" name="gap.5.text"/>
          <p:cNvSpPr txBox="1"/>
          <p:nvPr/>
        </p:nvSpPr>
        <p:spPr>
          <a:xfrm>
            <a:off x="6867144" y="4765742"/>
            <a:ext cx="2673096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record of each release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Edits and rejections are lost in email threads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8" name="gap.5.rule"/>
          <p:cNvCxnSpPr/>
          <p:nvPr/>
        </p:nvCxnSpPr>
        <p:spPr>
          <a:xfrm>
            <a:off x="9640824" y="4831080"/>
            <a:ext cx="0" cy="428244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99" name="gap.5.f1.label"/>
          <p:cNvSpPr txBox="1"/>
          <p:nvPr/>
        </p:nvSpPr>
        <p:spPr>
          <a:xfrm>
            <a:off x="9741408" y="4850093"/>
            <a:ext cx="74980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Closed by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gap.5.f1.value"/>
          <p:cNvSpPr txBox="1"/>
          <p:nvPr/>
        </p:nvSpPr>
        <p:spPr>
          <a:xfrm>
            <a:off x="10491216" y="4850093"/>
            <a:ext cx="112471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 ledger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gap.5.f2.label"/>
          <p:cNvSpPr txBox="1"/>
          <p:nvPr/>
        </p:nvSpPr>
        <p:spPr>
          <a:xfrm>
            <a:off x="9741408" y="5072634"/>
            <a:ext cx="74980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Due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gap.5.f2.value"/>
          <p:cNvSpPr txBox="1"/>
          <p:nvPr/>
        </p:nvSpPr>
        <p:spPr>
          <a:xfrm>
            <a:off x="10491216" y="5072634"/>
            <a:ext cx="112471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18 Dec 2026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ap.6.card"/>
          <p:cNvSpPr/>
          <p:nvPr/>
        </p:nvSpPr>
        <p:spPr>
          <a:xfrm>
            <a:off x="6172200" y="5533644"/>
            <a:ext cx="5626608" cy="720852"/>
          </a:xfrm>
          <a:prstGeom prst="roundRect">
            <a:avLst>
              <a:gd name="adj" fmla="val 63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04" name="gap.6.icon"/>
          <p:cNvSpPr/>
          <p:nvPr/>
        </p:nvSpPr>
        <p:spPr>
          <a:xfrm>
            <a:off x="6373368" y="5738622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5" name="gap.6.text"/>
          <p:cNvSpPr txBox="1"/>
          <p:nvPr/>
        </p:nvSpPr>
        <p:spPr>
          <a:xfrm>
            <a:off x="6867144" y="5614610"/>
            <a:ext cx="2673096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measure of use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 one knows which moves reps raised with customers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6" name="gap.6.rule"/>
          <p:cNvCxnSpPr/>
          <p:nvPr/>
        </p:nvCxnSpPr>
        <p:spPr>
          <a:xfrm>
            <a:off x="9640824" y="5679948"/>
            <a:ext cx="0" cy="428244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107" name="gap.6.f1.label"/>
          <p:cNvSpPr txBox="1"/>
          <p:nvPr/>
        </p:nvSpPr>
        <p:spPr>
          <a:xfrm>
            <a:off x="9741408" y="5615122"/>
            <a:ext cx="749808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Closed by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gap.6.f1.value"/>
          <p:cNvSpPr txBox="1"/>
          <p:nvPr/>
        </p:nvSpPr>
        <p:spPr>
          <a:xfrm>
            <a:off x="10491216" y="5615122"/>
            <a:ext cx="1124712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Weekly rep feedback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gap.6.f2.label"/>
          <p:cNvSpPr txBox="1"/>
          <p:nvPr/>
        </p:nvSpPr>
        <p:spPr>
          <a:xfrm>
            <a:off x="9741408" y="6005341"/>
            <a:ext cx="74980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Due</a:t>
            </a:r>
            <a:endParaRPr lang="en-US" sz="105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gap.6.f2.value"/>
          <p:cNvSpPr txBox="1"/>
          <p:nvPr/>
        </p:nvSpPr>
        <p:spPr>
          <a:xfrm>
            <a:off x="10491216" y="6005341"/>
            <a:ext cx="112471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22 Jan 2027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aturity-model:rising-curve-foundations-rail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Quillmont sits at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level three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and one signed brief reaches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level four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plot"/>
          <p:cNvSpPr/>
          <p:nvPr/>
        </p:nvSpPr>
        <p:spPr>
          <a:xfrm>
            <a:off x="1354197" y="1110739"/>
            <a:ext cx="8573628" cy="5147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9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struct.axis.y"/>
          <p:cNvCxnSpPr/>
          <p:nvPr/>
        </p:nvCxnSpPr>
        <p:spPr>
          <a:xfrm rot="10800000">
            <a:off x="1354198" y="1115817"/>
            <a:ext cx="0" cy="5102102"/>
          </a:xfrm>
          <a:prstGeom prst="straightConnector1">
            <a:avLst/>
          </a:prstGeom>
          <a:noFill/>
          <a:ln cap="flat" cmpd="sng" w="14300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cxnSp>
        <p:nvCxnSpPr>
          <p:cNvPr id="5" name="struct.axis.x"/>
          <p:cNvCxnSpPr/>
          <p:nvPr/>
        </p:nvCxnSpPr>
        <p:spPr>
          <a:xfrm>
            <a:off x="1346574" y="6221185"/>
            <a:ext cx="8686056" cy="0"/>
          </a:xfrm>
          <a:prstGeom prst="straightConnector1">
            <a:avLst/>
          </a:prstGeom>
          <a:noFill/>
          <a:ln cap="flat" cmpd="sng" w="14300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6" name="slot.marker"/>
          <p:cNvSpPr txBox="1"/>
          <p:nvPr/>
        </p:nvSpPr>
        <p:spPr>
          <a:xfrm>
            <a:off x="4844963" y="5266925"/>
            <a:ext cx="1565365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18288" lIns="36576" spcFirstLastPara="1" rIns="36576" wrap="square" tIns="18288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Quillmont today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axis.y.label"/>
          <p:cNvSpPr txBox="1"/>
          <p:nvPr/>
        </p:nvSpPr>
        <p:spPr>
          <a:xfrm flipH="1" rot="-5398089">
            <a:off x="-575922" y="3511929"/>
            <a:ext cx="2377440" cy="30987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Value to the field</a:t>
            </a:r>
            <a:endParaRPr lang="en-US" sz="105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axis.y.tick.4"/>
          <p:cNvSpPr txBox="1"/>
          <p:nvPr/>
        </p:nvSpPr>
        <p:spPr>
          <a:xfrm>
            <a:off x="785965" y="5581182"/>
            <a:ext cx="52861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27000" lIns="27000" spcFirstLastPara="1" rIns="27000" wrap="square" tIns="2700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Low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axis.y.tick.3"/>
          <p:cNvSpPr txBox="1"/>
          <p:nvPr/>
        </p:nvSpPr>
        <p:spPr>
          <a:xfrm>
            <a:off x="785965" y="4099680"/>
            <a:ext cx="52861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27000" lIns="27000" spcFirstLastPara="1" rIns="27000" wrap="square" tIns="2700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Medium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axis.y.tick.2"/>
          <p:cNvSpPr txBox="1"/>
          <p:nvPr/>
        </p:nvSpPr>
        <p:spPr>
          <a:xfrm>
            <a:off x="785965" y="2618178"/>
            <a:ext cx="52861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27000" lIns="27000" spcFirstLastPara="1" rIns="27000" wrap="square" tIns="2700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High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axis.y.tick.1"/>
          <p:cNvSpPr txBox="1"/>
          <p:nvPr/>
        </p:nvSpPr>
        <p:spPr>
          <a:xfrm>
            <a:off x="785965" y="1136676"/>
            <a:ext cx="52861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27000" lIns="27000" spcFirstLastPara="1" rIns="27000" wrap="square" tIns="2700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Highest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truct.rail"/>
          <p:cNvSpPr/>
          <p:nvPr/>
        </p:nvSpPr>
        <p:spPr>
          <a:xfrm>
            <a:off x="10027631" y="1115817"/>
            <a:ext cx="1768129" cy="5102102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9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truct.curve"/>
          <p:cNvSpPr/>
          <p:nvPr/>
        </p:nvSpPr>
        <p:spPr>
          <a:xfrm>
            <a:off x="1352861" y="1613094"/>
            <a:ext cx="8573388" cy="3561106"/>
          </a:xfrm>
          <a:custGeom>
            <a:rect b="b" l="l" r="r" t="t"/>
            <a:pathLst>
              <a:path extrusionOk="0" h="79923" w="181510">
                <a:moveTo>
                  <a:pt x="0" y="79740"/>
                </a:moveTo>
                <a:cubicBezTo>
                  <a:pt x="8077" y="79006"/>
                  <a:pt x="26140" y="81943"/>
                  <a:pt x="48462" y="75335"/>
                </a:cubicBezTo>
                <a:cubicBezTo>
                  <a:pt x="70784" y="68727"/>
                  <a:pt x="111755" y="52646"/>
                  <a:pt x="133930" y="40090"/>
                </a:cubicBezTo>
                <a:cubicBezTo>
                  <a:pt x="156105" y="27534"/>
                  <a:pt x="173580" y="6682"/>
                  <a:pt x="181510" y="0"/>
                </a:cubicBezTo>
              </a:path>
            </a:pathLst>
          </a:custGeom>
          <a:noFill/>
          <a:ln cap="flat" cmpd="sng" w="13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9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struct.fence.1"/>
          <p:cNvCxnSpPr/>
          <p:nvPr/>
        </p:nvCxnSpPr>
        <p:spPr>
          <a:xfrm>
            <a:off x="3142887" y="5185283"/>
            <a:ext cx="0" cy="745194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5" name="struct.fence.2"/>
          <p:cNvCxnSpPr/>
          <p:nvPr/>
        </p:nvCxnSpPr>
        <p:spPr>
          <a:xfrm>
            <a:off x="4799394" y="4777201"/>
            <a:ext cx="0" cy="1153275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6" name="struct.fence.3"/>
          <p:cNvCxnSpPr/>
          <p:nvPr/>
        </p:nvCxnSpPr>
        <p:spPr>
          <a:xfrm>
            <a:off x="6455900" y="4179614"/>
            <a:ext cx="0" cy="1750863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7" name="struct.fence.4"/>
          <p:cNvCxnSpPr/>
          <p:nvPr/>
        </p:nvCxnSpPr>
        <p:spPr>
          <a:xfrm>
            <a:off x="8112405" y="3429417"/>
            <a:ext cx="0" cy="2501060"/>
          </a:xfrm>
          <a:prstGeom prst="straightConnector1">
            <a:avLst/>
          </a:prstGeom>
          <a:noFill/>
          <a:ln cap="rnd" cmpd="sng" w="9525">
            <a:solidFill>
              <a:schemeClr val="bg1">
                <a:lumMod val="5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sp>
        <p:nvSpPr>
          <p:cNvPr id="18" name="slot.level.1.num"/>
          <p:cNvSpPr/>
          <p:nvPr/>
        </p:nvSpPr>
        <p:spPr>
          <a:xfrm>
            <a:off x="2170855" y="4994745"/>
            <a:ext cx="274320" cy="274320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level.1.label"/>
          <p:cNvSpPr txBox="1"/>
          <p:nvPr/>
        </p:nvSpPr>
        <p:spPr>
          <a:xfrm>
            <a:off x="1569775" y="5333073"/>
            <a:ext cx="14764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Late surprise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level.1.body"/>
          <p:cNvSpPr txBox="1"/>
          <p:nvPr/>
        </p:nvSpPr>
        <p:spPr>
          <a:xfrm>
            <a:off x="1569775" y="5570817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Moves surface only in the customer's office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level.2.num"/>
          <p:cNvSpPr/>
          <p:nvPr/>
        </p:nvSpPr>
        <p:spPr>
          <a:xfrm>
            <a:off x="3866070" y="4707075"/>
            <a:ext cx="274320" cy="274320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level.2.label"/>
          <p:cNvSpPr txBox="1"/>
          <p:nvPr/>
        </p:nvSpPr>
        <p:spPr>
          <a:xfrm>
            <a:off x="3264991" y="5045403"/>
            <a:ext cx="14764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Some warning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level.2.body"/>
          <p:cNvSpPr txBox="1"/>
          <p:nvPr/>
        </p:nvSpPr>
        <p:spPr>
          <a:xfrm>
            <a:off x="3264991" y="5283147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Moves noted days after they happen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ot.level.3.num"/>
          <p:cNvSpPr/>
          <p:nvPr/>
        </p:nvSpPr>
        <p:spPr>
          <a:xfrm>
            <a:off x="5488376" y="4160501"/>
            <a:ext cx="274320" cy="274320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level.3.label"/>
          <p:cNvSpPr txBox="1"/>
          <p:nvPr/>
        </p:nvSpPr>
        <p:spPr>
          <a:xfrm>
            <a:off x="4887296" y="4498829"/>
            <a:ext cx="14764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Mixed messages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level.3.body"/>
          <p:cNvSpPr txBox="1"/>
          <p:nvPr/>
        </p:nvSpPr>
        <p:spPr>
          <a:xfrm>
            <a:off x="4887296" y="4736573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Reps hear different versions of one move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level.4.num"/>
          <p:cNvSpPr/>
          <p:nvPr/>
        </p:nvSpPr>
        <p:spPr>
          <a:xfrm>
            <a:off x="7147136" y="3455709"/>
            <a:ext cx="274320" cy="274320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level.4.label"/>
          <p:cNvSpPr txBox="1"/>
          <p:nvPr/>
        </p:nvSpPr>
        <p:spPr>
          <a:xfrm>
            <a:off x="6546056" y="3794037"/>
            <a:ext cx="14764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voice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level.4.body"/>
          <p:cNvSpPr txBox="1"/>
          <p:nvPr/>
        </p:nvSpPr>
        <p:spPr>
          <a:xfrm>
            <a:off x="6546056" y="4031781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rep reads the same signed page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level.5.num"/>
          <p:cNvSpPr/>
          <p:nvPr/>
        </p:nvSpPr>
        <p:spPr>
          <a:xfrm>
            <a:off x="8796782" y="2348179"/>
            <a:ext cx="274320" cy="274320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level.5.label"/>
          <p:cNvSpPr txBox="1"/>
          <p:nvPr/>
        </p:nvSpPr>
        <p:spPr>
          <a:xfrm>
            <a:off x="8332414" y="3052267"/>
            <a:ext cx="14764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Trusted speed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level.5.body"/>
          <p:cNvSpPr txBox="1"/>
          <p:nvPr/>
        </p:nvSpPr>
        <p:spPr>
          <a:xfrm>
            <a:off x="8332414" y="3290011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Moves reach the field within one day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level.1.head"/>
          <p:cNvSpPr/>
          <p:nvPr/>
        </p:nvSpPr>
        <p:spPr>
          <a:xfrm>
            <a:off x="1478634" y="4034625"/>
            <a:ext cx="1476479" cy="384048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27432" lIns="384048" spcFirstLastPara="1" rIns="36576" wrap="square" tIns="27432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Anecdotal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level.1.desc"/>
          <p:cNvSpPr txBox="1"/>
          <p:nvPr/>
        </p:nvSpPr>
        <p:spPr>
          <a:xfrm>
            <a:off x="1478634" y="4455249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Reps hear of moves from customers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level.2.head"/>
          <p:cNvSpPr/>
          <p:nvPr/>
        </p:nvSpPr>
        <p:spPr>
          <a:xfrm>
            <a:off x="3173850" y="3746955"/>
            <a:ext cx="1476479" cy="384048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27432" lIns="384048" spcFirstLastPara="1" rIns="36576" wrap="square" tIns="27432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Collected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level.2.desc"/>
          <p:cNvSpPr txBox="1"/>
          <p:nvPr/>
        </p:nvSpPr>
        <p:spPr>
          <a:xfrm>
            <a:off x="3173850" y="4167579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Analysts gather signals by hand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level.3.head"/>
          <p:cNvSpPr/>
          <p:nvPr/>
        </p:nvSpPr>
        <p:spPr>
          <a:xfrm>
            <a:off x="4796155" y="3200381"/>
            <a:ext cx="1476479" cy="384048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27432" lIns="384048" spcFirstLastPara="1" rIns="36576" wrap="square" tIns="27432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level.3.desc"/>
          <p:cNvSpPr txBox="1"/>
          <p:nvPr/>
        </p:nvSpPr>
        <p:spPr>
          <a:xfrm>
            <a:off x="4796155" y="3621005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Six regions write six briefs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level.4.head"/>
          <p:cNvSpPr/>
          <p:nvPr/>
        </p:nvSpPr>
        <p:spPr>
          <a:xfrm>
            <a:off x="6454916" y="2495589"/>
            <a:ext cx="1476479" cy="384048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27432" lIns="384048" spcFirstLastPara="1" rIns="36576" wrap="square" tIns="27432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Drafted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level.4.desc"/>
          <p:cNvSpPr txBox="1"/>
          <p:nvPr/>
        </p:nvSpPr>
        <p:spPr>
          <a:xfrm>
            <a:off x="6454916" y="2916213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Agents draft one brief, medical signs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level.5.head"/>
          <p:cNvSpPr/>
          <p:nvPr/>
        </p:nvSpPr>
        <p:spPr>
          <a:xfrm>
            <a:off x="8104562" y="1388059"/>
            <a:ext cx="1476479" cy="384048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27432" lIns="384048" spcFirstLastPara="1" rIns="36576" wrap="square" tIns="27432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Governed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level.5.desc"/>
          <p:cNvSpPr txBox="1"/>
          <p:nvPr/>
        </p:nvSpPr>
        <p:spPr>
          <a:xfrm>
            <a:off x="8104562" y="1808683"/>
            <a:ext cx="1476479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27000" lIns="27000" spcFirstLastPara="1" rIns="27000" wrap="square" tIns="270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Rule-based release, every edit audited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rail.item.1"/>
          <p:cNvSpPr/>
          <p:nvPr/>
        </p:nvSpPr>
        <p:spPr>
          <a:xfrm>
            <a:off x="10100543" y="1865625"/>
            <a:ext cx="1640532" cy="760730"/>
          </a:xfrm>
          <a:prstGeom prst="roundRect">
            <a:avLst>
              <a:gd fmla="val 6010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4864" lIns="438912" spcFirstLastPara="1" rIns="36576" wrap="square" tIns="54864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list agreed by medical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rail.item.2"/>
          <p:cNvSpPr/>
          <p:nvPr/>
        </p:nvSpPr>
        <p:spPr>
          <a:xfrm>
            <a:off x="10100543" y="2736084"/>
            <a:ext cx="1640532" cy="760730"/>
          </a:xfrm>
          <a:prstGeom prst="roundRect">
            <a:avLst>
              <a:gd fmla="val 6010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4864" lIns="438912" spcFirstLastPara="1" rIns="36576" wrap="square" tIns="54864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named signer and deputy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rail.item.3"/>
          <p:cNvSpPr/>
          <p:nvPr/>
        </p:nvSpPr>
        <p:spPr>
          <a:xfrm>
            <a:off x="10100543" y="3606543"/>
            <a:ext cx="1640532" cy="760730"/>
          </a:xfrm>
          <a:prstGeom prst="roundRect">
            <a:avLst>
              <a:gd fmla="val 6010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4864" lIns="438912" spcFirstLastPara="1" rIns="36576" wrap="square" tIns="54864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governed signal store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rail.item.4"/>
          <p:cNvSpPr/>
          <p:nvPr/>
        </p:nvSpPr>
        <p:spPr>
          <a:xfrm>
            <a:off x="10100543" y="4477002"/>
            <a:ext cx="1640532" cy="760730"/>
          </a:xfrm>
          <a:prstGeom prst="roundRect">
            <a:avLst>
              <a:gd fmla="val 6010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4864" lIns="438912" spcFirstLastPara="1" rIns="36576" wrap="square" tIns="54864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Access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Briefs scoped by territory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rail.item.5"/>
          <p:cNvSpPr/>
          <p:nvPr/>
        </p:nvSpPr>
        <p:spPr>
          <a:xfrm>
            <a:off x="10100543" y="5347461"/>
            <a:ext cx="1640532" cy="760730"/>
          </a:xfrm>
          <a:prstGeom prst="roundRect">
            <a:avLst>
              <a:gd fmla="val 6010" name="adj"/>
            </a:avLst>
          </a:prstGeom>
          <a:solidFill>
            <a:schemeClr val="bg1"/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54864" lIns="438912" spcFirstLastPara="1" rIns="36576" wrap="square" tIns="54864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Skills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Reps trained to use it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rail.head"/>
          <p:cNvSpPr txBox="1"/>
          <p:nvPr/>
        </p:nvSpPr>
        <p:spPr>
          <a:xfrm>
            <a:off x="10592703" y="1207258"/>
            <a:ext cx="1184829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Groundwork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for each level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level.1.icon"/>
          <p:cNvSpPr/>
          <p:nvPr/>
        </p:nvSpPr>
        <p:spPr>
          <a:xfrm>
            <a:off x="1578440" y="408948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992" y="16342"/>
                </a:moveTo>
                <a:cubicBezTo>
                  <a:pt x="3139" y="16713"/>
                  <a:pt x="3172" y="17119"/>
                  <a:pt x="3086" y="17509"/>
                </a:cubicBezTo>
                <a:lnTo>
                  <a:pt x="2021" y="20799"/>
                </a:lnTo>
                <a:cubicBezTo>
                  <a:pt x="1951" y="21138"/>
                  <a:pt x="2062" y="21489"/>
                  <a:pt x="2314" y="21727"/>
                </a:cubicBezTo>
                <a:cubicBezTo>
                  <a:pt x="2565" y="21965"/>
                  <a:pt x="2922" y="22056"/>
                  <a:pt x="3257" y="21967"/>
                </a:cubicBezTo>
                <a:lnTo>
                  <a:pt x="6670" y="20969"/>
                </a:lnTo>
                <a:cubicBezTo>
                  <a:pt x="7038" y="20896"/>
                  <a:pt x="7419" y="20928"/>
                  <a:pt x="7769" y="21061"/>
                </a:cubicBezTo>
                <a:cubicBezTo>
                  <a:pt x="12178" y="23120"/>
                  <a:pt x="17428" y="21707"/>
                  <a:pt x="20208" y="17713"/>
                </a:cubicBezTo>
                <a:cubicBezTo>
                  <a:pt x="22987" y="13720"/>
                  <a:pt x="22489" y="8306"/>
                  <a:pt x="19028" y="4886"/>
                </a:cubicBezTo>
                <a:cubicBezTo>
                  <a:pt x="15567" y="1467"/>
                  <a:pt x="10147" y="1035"/>
                  <a:pt x="6187" y="3863"/>
                </a:cubicBezTo>
                <a:cubicBezTo>
                  <a:pt x="2228" y="6692"/>
                  <a:pt x="880" y="11959"/>
                  <a:pt x="2992" y="16342"/>
                </a:cubicBez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1" name="slot.level.2.icon"/>
          <p:cNvSpPr/>
          <p:nvPr/>
        </p:nvSpPr>
        <p:spPr>
          <a:xfrm>
            <a:off x="3273657" y="3801819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8000" y="13000"/>
                </a:moveTo>
                <a:lnTo>
                  <a:pt x="10000" y="13000"/>
                </a:lnTo>
                <a:moveTo>
                  <a:pt x="14000" y="13000"/>
                </a:moveTo>
                <a:lnTo>
                  <a:pt x="16000" y="13000"/>
                </a:lnTo>
                <a:moveTo>
                  <a:pt x="8000" y="17000"/>
                </a:moveTo>
                <a:lnTo>
                  <a:pt x="10000" y="17000"/>
                </a:lnTo>
                <a:moveTo>
                  <a:pt x="14000" y="17000"/>
                </a:moveTo>
                <a:lnTo>
                  <a:pt x="16000" y="17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2" name="slot.level.3.icon"/>
          <p:cNvSpPr/>
          <p:nvPr/>
        </p:nvSpPr>
        <p:spPr>
          <a:xfrm>
            <a:off x="4895961" y="325524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000"/>
                </a:moveTo>
                <a:lnTo>
                  <a:pt x="11000" y="2000"/>
                </a:lnTo>
                <a:cubicBezTo>
                  <a:pt x="9895" y="2000"/>
                  <a:pt x="9000" y="2895"/>
                  <a:pt x="9000" y="4000"/>
                </a:cubicBezTo>
                <a:lnTo>
                  <a:pt x="9000" y="15000"/>
                </a:lnTo>
                <a:cubicBezTo>
                  <a:pt x="9000" y="16105"/>
                  <a:pt x="9895" y="17000"/>
                  <a:pt x="11000" y="17000"/>
                </a:cubicBezTo>
                <a:lnTo>
                  <a:pt x="19000" y="17000"/>
                </a:lnTo>
                <a:cubicBezTo>
                  <a:pt x="20105" y="17000"/>
                  <a:pt x="21000" y="16105"/>
                  <a:pt x="21000" y="15000"/>
                </a:cubicBezTo>
                <a:lnTo>
                  <a:pt x="21000" y="8000"/>
                </a:lnTo>
                <a:moveTo>
                  <a:pt x="16706" y="2706"/>
                </a:moveTo>
                <a:cubicBezTo>
                  <a:pt x="16254" y="2253"/>
                  <a:pt x="15640" y="1998"/>
                  <a:pt x="15000" y="2000"/>
                </a:cubicBezTo>
                <a:lnTo>
                  <a:pt x="15000" y="7000"/>
                </a:lnTo>
                <a:cubicBezTo>
                  <a:pt x="15000" y="7552"/>
                  <a:pt x="15448" y="8000"/>
                  <a:pt x="16000" y="8000"/>
                </a:cubicBezTo>
                <a:lnTo>
                  <a:pt x="21000" y="8000"/>
                </a:lnTo>
                <a:cubicBezTo>
                  <a:pt x="21002" y="7360"/>
                  <a:pt x="20747" y="6746"/>
                  <a:pt x="20294" y="6294"/>
                </a:cubicBezTo>
                <a:close/>
                <a:moveTo>
                  <a:pt x="5000" y="7000"/>
                </a:moveTo>
                <a:cubicBezTo>
                  <a:pt x="3895" y="7000"/>
                  <a:pt x="3000" y="7895"/>
                  <a:pt x="3000" y="9000"/>
                </a:cubicBezTo>
                <a:lnTo>
                  <a:pt x="3000" y="20000"/>
                </a:lnTo>
                <a:cubicBezTo>
                  <a:pt x="3000" y="21105"/>
                  <a:pt x="3895" y="22000"/>
                  <a:pt x="5000" y="22000"/>
                </a:cubicBezTo>
                <a:lnTo>
                  <a:pt x="13000" y="22000"/>
                </a:lnTo>
                <a:cubicBezTo>
                  <a:pt x="13715" y="22000"/>
                  <a:pt x="14375" y="21619"/>
                  <a:pt x="14732" y="21000"/>
                </a:cubicBez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3" name="slot.level.4.icon"/>
          <p:cNvSpPr/>
          <p:nvPr/>
        </p:nvSpPr>
        <p:spPr>
          <a:xfrm>
            <a:off x="6554722" y="255045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4" name="slot.level.5.icon"/>
          <p:cNvSpPr/>
          <p:nvPr/>
        </p:nvSpPr>
        <p:spPr>
          <a:xfrm>
            <a:off x="8204368" y="1442923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5" name="slot.rail.icon"/>
          <p:cNvSpPr/>
          <p:nvPr/>
        </p:nvSpPr>
        <p:spPr>
          <a:xfrm>
            <a:off x="10154629" y="12712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6" name="slot.rail.item.1.icon"/>
          <p:cNvSpPr/>
          <p:nvPr/>
        </p:nvSpPr>
        <p:spPr>
          <a:xfrm>
            <a:off x="10182091" y="209968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7" name="slot.rail.item.2.icon"/>
          <p:cNvSpPr/>
          <p:nvPr/>
        </p:nvSpPr>
        <p:spPr>
          <a:xfrm>
            <a:off x="10182091" y="297014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8" name="slot.rail.item.3.icon"/>
          <p:cNvSpPr/>
          <p:nvPr/>
        </p:nvSpPr>
        <p:spPr>
          <a:xfrm>
            <a:off x="10182091" y="384060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9" name="slot.rail.item.4.icon"/>
          <p:cNvSpPr/>
          <p:nvPr/>
        </p:nvSpPr>
        <p:spPr>
          <a:xfrm>
            <a:off x="10182091" y="471106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0" name="slot.rail.item.5.icon"/>
          <p:cNvSpPr/>
          <p:nvPr/>
        </p:nvSpPr>
        <p:spPr>
          <a:xfrm>
            <a:off x="10182091" y="5581523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420" y="10922"/>
                </a:moveTo>
                <a:cubicBezTo>
                  <a:pt x="21786" y="10761"/>
                  <a:pt x="22020" y="10397"/>
                  <a:pt x="22016" y="9997"/>
                </a:cubicBezTo>
                <a:cubicBezTo>
                  <a:pt x="22012" y="9597"/>
                  <a:pt x="21770" y="9238"/>
                  <a:pt x="21401" y="9084"/>
                </a:cubicBezTo>
                <a:lnTo>
                  <a:pt x="12830" y="5180"/>
                </a:lnTo>
                <a:cubicBezTo>
                  <a:pt x="12303" y="4940"/>
                  <a:pt x="11697" y="4940"/>
                  <a:pt x="11170" y="5180"/>
                </a:cubicBezTo>
                <a:lnTo>
                  <a:pt x="2600" y="9080"/>
                </a:lnTo>
                <a:cubicBezTo>
                  <a:pt x="2236" y="9239"/>
                  <a:pt x="2001" y="9599"/>
                  <a:pt x="2001" y="9996"/>
                </a:cubicBezTo>
                <a:cubicBezTo>
                  <a:pt x="2001" y="10393"/>
                  <a:pt x="2236" y="10753"/>
                  <a:pt x="2600" y="10912"/>
                </a:cubicBezTo>
                <a:lnTo>
                  <a:pt x="11170" y="14820"/>
                </a:lnTo>
                <a:cubicBezTo>
                  <a:pt x="11697" y="15060"/>
                  <a:pt x="12303" y="15060"/>
                  <a:pt x="12830" y="14820"/>
                </a:cubicBezTo>
                <a:close/>
                <a:moveTo>
                  <a:pt x="22000" y="10000"/>
                </a:moveTo>
                <a:lnTo>
                  <a:pt x="22000" y="16000"/>
                </a:lnTo>
                <a:moveTo>
                  <a:pt x="6000" y="12500"/>
                </a:moveTo>
                <a:lnTo>
                  <a:pt x="6000" y="16000"/>
                </a:lnTo>
                <a:cubicBezTo>
                  <a:pt x="6000" y="17657"/>
                  <a:pt x="8686" y="19000"/>
                  <a:pt x="12000" y="19000"/>
                </a:cubicBezTo>
                <a:cubicBezTo>
                  <a:pt x="15314" y="19000"/>
                  <a:pt x="18000" y="17657"/>
                  <a:pt x="18000" y="16000"/>
                </a:cubicBezTo>
                <a:lnTo>
                  <a:pt x="18000" y="125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ection-divider:brand-block-numeral">
    <p:spTree>
      <p:nvGrpSpPr>
        <p:cNvPr id="1" name=""/>
        <p:cNvGrpSpPr/>
        <p:nvPr/>
      </p:nvGrpSpPr>
      <p:grpSpPr/>
      <p:sp>
        <p:nvSpPr>
          <p:cNvPr id="2" name="divider.block"/>
          <p:cNvSpPr/>
          <p:nvPr/>
        </p:nvSpPr>
        <p:spPr>
          <a:xfrm>
            <a:off x="457200" y="777240"/>
            <a:ext cx="4206240" cy="5477256"/>
          </a:xfrm>
          <a:prstGeom prst="roundRect">
            <a:avLst>
              <a:gd name="adj" fmla="val 108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" name="divider.numeral"/>
          <p:cNvSpPr txBox="1"/>
          <p:nvPr/>
        </p:nvSpPr>
        <p:spPr>
          <a:xfrm>
            <a:off x="786384" y="3541231"/>
            <a:ext cx="3657600" cy="243894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02</a:t>
            </a:r>
            <a:endParaRPr lang="en-US" sz="16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5394960" y="2556570"/>
            <a:ext cx="6403848" cy="82314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5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answer</a:t>
            </a:r>
            <a:endParaRPr lang="en-US" sz="5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" name="divider.track"/>
          <p:cNvCxnSpPr/>
          <p:nvPr/>
        </p:nvCxnSpPr>
        <p:spPr>
          <a:xfrm>
            <a:off x="5605272" y="4001506"/>
            <a:ext cx="310896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6" name="divider.pos.1"/>
          <p:cNvSpPr/>
          <p:nvPr/>
        </p:nvSpPr>
        <p:spPr>
          <a:xfrm>
            <a:off x="5394960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divider.pos.2"/>
          <p:cNvSpPr/>
          <p:nvPr/>
        </p:nvSpPr>
        <p:spPr>
          <a:xfrm>
            <a:off x="6016752" y="3791194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divider.pos.3"/>
          <p:cNvSpPr/>
          <p:nvPr/>
        </p:nvSpPr>
        <p:spPr>
          <a:xfrm>
            <a:off x="6638544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divider.pos.4"/>
          <p:cNvSpPr/>
          <p:nvPr/>
        </p:nvSpPr>
        <p:spPr>
          <a:xfrm>
            <a:off x="7260336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divider.pos.5"/>
          <p:cNvSpPr/>
          <p:nvPr/>
        </p:nvSpPr>
        <p:spPr>
          <a:xfrm>
            <a:off x="7882128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divider.pos.6"/>
          <p:cNvSpPr/>
          <p:nvPr/>
        </p:nvSpPr>
        <p:spPr>
          <a:xfrm>
            <a:off x="8503920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6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from-to-shift:channel-mesh-to-agent-hub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Competitor news moves from regional rewrites to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reviewed brief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shift.wedge"/>
          <p:cNvSpPr/>
          <p:nvPr/>
        </p:nvSpPr>
        <p:spPr>
          <a:xfrm rot="5400000">
            <a:off x="4095002" y="3419976"/>
            <a:ext cx="3730500" cy="48769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ot.from.channel.2"/>
          <p:cNvSpPr/>
          <p:nvPr/>
        </p:nvSpPr>
        <p:spPr>
          <a:xfrm>
            <a:off x="2427956" y="3170797"/>
            <a:ext cx="1372383" cy="502800"/>
          </a:xfrm>
          <a:prstGeom prst="roundRect">
            <a:avLst>
              <a:gd name="adj" fmla="val 9093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09728" tIns="18288" rIns="109728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Phone calls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from.channel.3"/>
          <p:cNvSpPr/>
          <p:nvPr/>
        </p:nvSpPr>
        <p:spPr>
          <a:xfrm>
            <a:off x="2427956" y="4177045"/>
            <a:ext cx="1372383" cy="502800"/>
          </a:xfrm>
          <a:prstGeom prst="roundRect">
            <a:avLst>
              <a:gd name="adj" fmla="val 9093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09728" tIns="18288" rIns="109728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Slide packs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from.channel.4"/>
          <p:cNvSpPr/>
          <p:nvPr/>
        </p:nvSpPr>
        <p:spPr>
          <a:xfrm>
            <a:off x="2427956" y="5183292"/>
            <a:ext cx="1372383" cy="502800"/>
          </a:xfrm>
          <a:prstGeom prst="roundRect">
            <a:avLst>
              <a:gd name="adj" fmla="val 9093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09728" tIns="18288" rIns="109728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Shared drives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truct.from.panel"/>
          <p:cNvSpPr/>
          <p:nvPr/>
        </p:nvSpPr>
        <p:spPr>
          <a:xfrm>
            <a:off x="459545" y="1737360"/>
            <a:ext cx="3850863" cy="4315968"/>
          </a:xfrm>
          <a:prstGeom prst="roundRect">
            <a:avLst>
              <a:gd name="adj" fmla="val 1184"/>
            </a:avLst>
          </a:prstGeom>
          <a:noFill/>
          <a:ln w="9525" cap="rnd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lot.from.header"/>
          <p:cNvSpPr/>
          <p:nvPr/>
        </p:nvSpPr>
        <p:spPr>
          <a:xfrm>
            <a:off x="457200" y="1015950"/>
            <a:ext cx="5127873" cy="525000"/>
          </a:xfrm>
          <a:prstGeom prst="roundRect">
            <a:avLst>
              <a:gd name="adj" fmla="val 1653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40" tIns="27432" rIns="91440" bIns="27432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Today, regional rewrites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from.label"/>
          <p:cNvSpPr txBox="1"/>
          <p:nvPr/>
        </p:nvSpPr>
        <p:spPr>
          <a:xfrm>
            <a:off x="970560" y="1801368"/>
            <a:ext cx="2828833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team writes its own version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from.channel.1"/>
          <p:cNvSpPr/>
          <p:nvPr/>
        </p:nvSpPr>
        <p:spPr>
          <a:xfrm>
            <a:off x="2427956" y="2164550"/>
            <a:ext cx="1372383" cy="502800"/>
          </a:xfrm>
          <a:prstGeom prst="roundRect">
            <a:avLst>
              <a:gd name="adj" fmla="val 9093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09728" tIns="18288" rIns="109728" bIns="18288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Email threads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struct.from.link.1"/>
          <p:cNvCxnSpPr/>
          <p:nvPr/>
        </p:nvCxnSpPr>
        <p:spPr>
          <a:xfrm>
            <a:off x="1109947" y="2415893"/>
            <a:ext cx="1317895" cy="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2" name="struct.from.link.2"/>
          <p:cNvCxnSpPr/>
          <p:nvPr/>
        </p:nvCxnSpPr>
        <p:spPr>
          <a:xfrm>
            <a:off x="1109947" y="2415893"/>
            <a:ext cx="1317895" cy="100637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3" name="struct.from.link.3"/>
          <p:cNvCxnSpPr/>
          <p:nvPr/>
        </p:nvCxnSpPr>
        <p:spPr>
          <a:xfrm>
            <a:off x="1109947" y="2415893"/>
            <a:ext cx="1317895" cy="2012399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4" name="struct.from.link.4"/>
          <p:cNvCxnSpPr/>
          <p:nvPr/>
        </p:nvCxnSpPr>
        <p:spPr>
          <a:xfrm rot="10800000" flipH="1">
            <a:off x="1109947" y="2416115"/>
            <a:ext cx="1317895" cy="100602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5" name="struct.from.link.5"/>
          <p:cNvCxnSpPr/>
          <p:nvPr/>
        </p:nvCxnSpPr>
        <p:spPr>
          <a:xfrm>
            <a:off x="1109947" y="3422140"/>
            <a:ext cx="1317895" cy="100637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6" name="struct.from.link.6"/>
          <p:cNvCxnSpPr/>
          <p:nvPr/>
        </p:nvCxnSpPr>
        <p:spPr>
          <a:xfrm rot="10800000" flipH="1">
            <a:off x="1109947" y="3422363"/>
            <a:ext cx="1317895" cy="100602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7" name="struct.from.link.7"/>
          <p:cNvCxnSpPr/>
          <p:nvPr/>
        </p:nvCxnSpPr>
        <p:spPr>
          <a:xfrm>
            <a:off x="1109947" y="4428388"/>
            <a:ext cx="1317895" cy="100637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8" name="struct.from.link.8"/>
          <p:cNvCxnSpPr/>
          <p:nvPr/>
        </p:nvCxnSpPr>
        <p:spPr>
          <a:xfrm rot="10800000" flipH="1">
            <a:off x="1109947" y="2415861"/>
            <a:ext cx="1317895" cy="301877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9" name="struct.from.link.9"/>
          <p:cNvCxnSpPr/>
          <p:nvPr/>
        </p:nvCxnSpPr>
        <p:spPr>
          <a:xfrm rot="10800000" flipH="1">
            <a:off x="1109947" y="4428610"/>
            <a:ext cx="1317895" cy="100602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0" name="struct.from.link.10"/>
          <p:cNvCxnSpPr/>
          <p:nvPr/>
        </p:nvCxnSpPr>
        <p:spPr>
          <a:xfrm>
            <a:off x="1109947" y="5434635"/>
            <a:ext cx="1317895" cy="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21" name="struct.from.handoff.1"/>
          <p:cNvSpPr/>
          <p:nvPr/>
        </p:nvSpPr>
        <p:spPr>
          <a:xfrm flipH="1">
            <a:off x="1393823" y="2367148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truct.from.handoff.2"/>
          <p:cNvSpPr/>
          <p:nvPr/>
        </p:nvSpPr>
        <p:spPr>
          <a:xfrm flipH="1">
            <a:off x="2105691" y="2367148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struct.from.handoff.3"/>
          <p:cNvSpPr/>
          <p:nvPr/>
        </p:nvSpPr>
        <p:spPr>
          <a:xfrm flipH="1">
            <a:off x="1571865" y="2743195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struct.from.handoff.4"/>
          <p:cNvSpPr/>
          <p:nvPr/>
        </p:nvSpPr>
        <p:spPr>
          <a:xfrm flipH="1">
            <a:off x="2156038" y="3209052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struct.from.handoff.5"/>
          <p:cNvSpPr/>
          <p:nvPr/>
        </p:nvSpPr>
        <p:spPr>
          <a:xfrm flipH="1">
            <a:off x="1917175" y="3387804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struct.from.handoff.6"/>
          <p:cNvSpPr/>
          <p:nvPr/>
        </p:nvSpPr>
        <p:spPr>
          <a:xfrm flipH="1">
            <a:off x="1367570" y="3137157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struct.from.handoff.7"/>
          <p:cNvSpPr/>
          <p:nvPr/>
        </p:nvSpPr>
        <p:spPr>
          <a:xfrm flipH="1">
            <a:off x="1367570" y="3605241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struct.from.handoff.8"/>
          <p:cNvSpPr/>
          <p:nvPr/>
        </p:nvSpPr>
        <p:spPr>
          <a:xfrm flipH="1">
            <a:off x="1335613" y="4140042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struct.from.handoff.9"/>
          <p:cNvSpPr/>
          <p:nvPr/>
        </p:nvSpPr>
        <p:spPr>
          <a:xfrm flipH="1">
            <a:off x="2182427" y="5228214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struct.from.handoff.10"/>
          <p:cNvSpPr/>
          <p:nvPr/>
        </p:nvSpPr>
        <p:spPr>
          <a:xfrm flipH="1">
            <a:off x="1393823" y="4611489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struct.from.handoff.11"/>
          <p:cNvSpPr/>
          <p:nvPr/>
        </p:nvSpPr>
        <p:spPr>
          <a:xfrm flipH="1">
            <a:off x="1416215" y="5131881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struct.from.handoff.12"/>
          <p:cNvSpPr/>
          <p:nvPr/>
        </p:nvSpPr>
        <p:spPr>
          <a:xfrm flipH="1">
            <a:off x="2057046" y="4644229"/>
            <a:ext cx="97500" cy="97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struct.from.role.1.disc"/>
          <p:cNvSpPr/>
          <p:nvPr/>
        </p:nvSpPr>
        <p:spPr>
          <a:xfrm>
            <a:off x="678390" y="2199893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struct.from.role.2.disc"/>
          <p:cNvSpPr/>
          <p:nvPr/>
        </p:nvSpPr>
        <p:spPr>
          <a:xfrm>
            <a:off x="678390" y="3206140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struct.from.role.3.disc"/>
          <p:cNvSpPr/>
          <p:nvPr/>
        </p:nvSpPr>
        <p:spPr>
          <a:xfrm>
            <a:off x="678390" y="4212388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struct.from.role.4.disc"/>
          <p:cNvSpPr/>
          <p:nvPr/>
        </p:nvSpPr>
        <p:spPr>
          <a:xfrm>
            <a:off x="678390" y="5218635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lot.from.role.1"/>
          <p:cNvSpPr txBox="1"/>
          <p:nvPr/>
        </p:nvSpPr>
        <p:spPr>
          <a:xfrm>
            <a:off x="505172" y="2725576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Brand lead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from.role.2"/>
          <p:cNvSpPr txBox="1"/>
          <p:nvPr/>
        </p:nvSpPr>
        <p:spPr>
          <a:xfrm>
            <a:off x="505172" y="3748373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Analyst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from.role.3"/>
          <p:cNvSpPr txBox="1"/>
          <p:nvPr/>
        </p:nvSpPr>
        <p:spPr>
          <a:xfrm>
            <a:off x="505172" y="4746701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from.role.4"/>
          <p:cNvSpPr txBox="1"/>
          <p:nvPr/>
        </p:nvSpPr>
        <p:spPr>
          <a:xfrm>
            <a:off x="505172" y="5760868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 head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from.customer.1"/>
          <p:cNvSpPr txBox="1"/>
          <p:nvPr/>
        </p:nvSpPr>
        <p:spPr>
          <a:xfrm>
            <a:off x="4565916" y="3616934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Reps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from.customer.2"/>
          <p:cNvSpPr txBox="1"/>
          <p:nvPr/>
        </p:nvSpPr>
        <p:spPr>
          <a:xfrm>
            <a:off x="4565916" y="4712084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Leads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struct.from.link.11"/>
          <p:cNvCxnSpPr/>
          <p:nvPr/>
        </p:nvCxnSpPr>
        <p:spPr>
          <a:xfrm>
            <a:off x="3800339" y="2415950"/>
            <a:ext cx="1021503" cy="84931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44" name="struct.from.link.12"/>
          <p:cNvCxnSpPr/>
          <p:nvPr/>
        </p:nvCxnSpPr>
        <p:spPr>
          <a:xfrm>
            <a:off x="3800339" y="3422197"/>
            <a:ext cx="1021503" cy="93676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45" name="struct.from.customer.2.disc"/>
          <p:cNvSpPr/>
          <p:nvPr/>
        </p:nvSpPr>
        <p:spPr>
          <a:xfrm>
            <a:off x="4821432" y="4142896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struct.from.customer.1.disc"/>
          <p:cNvSpPr/>
          <p:nvPr/>
        </p:nvSpPr>
        <p:spPr>
          <a:xfrm>
            <a:off x="4821432" y="3049137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struct.from.link.13"/>
          <p:cNvCxnSpPr/>
          <p:nvPr/>
        </p:nvCxnSpPr>
        <p:spPr>
          <a:xfrm rot="10800000" flipH="1">
            <a:off x="3805461" y="4358896"/>
            <a:ext cx="1016413" cy="1111314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48" name="struct.from.link.14"/>
          <p:cNvCxnSpPr/>
          <p:nvPr/>
        </p:nvCxnSpPr>
        <p:spPr>
          <a:xfrm rot="10800000" flipH="1">
            <a:off x="3814143" y="3265137"/>
            <a:ext cx="1007731" cy="1170080"/>
          </a:xfrm>
          <a:prstGeom prst="straightConnector1">
            <a:avLst/>
          </a:prstGeom>
          <a:noFill/>
          <a:ln w="9525" cap="rnd" cmpd="sng">
            <a:solidFill>
              <a:schemeClr val="bg1">
                <a:lumMod val="5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49" name="struct.to.panel"/>
          <p:cNvSpPr/>
          <p:nvPr/>
        </p:nvSpPr>
        <p:spPr>
          <a:xfrm>
            <a:off x="6317967" y="1755648"/>
            <a:ext cx="4015118" cy="4297680"/>
          </a:xfrm>
          <a:prstGeom prst="roundRect">
            <a:avLst>
              <a:gd name="adj" fmla="val 1136"/>
            </a:avLst>
          </a:prstGeom>
          <a:noFill/>
          <a:ln w="9525" cap="rnd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struct.key"/>
          <p:cNvSpPr/>
          <p:nvPr/>
        </p:nvSpPr>
        <p:spPr>
          <a:xfrm>
            <a:off x="10435896" y="5174228"/>
            <a:ext cx="1261311" cy="730200"/>
          </a:xfrm>
          <a:prstGeom prst="roundRect">
            <a:avLst>
              <a:gd name="adj" fmla="val 6280"/>
            </a:avLst>
          </a:prstGeom>
          <a:noFill/>
          <a:ln w="9525" cap="rnd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slot.key.3"/>
          <p:cNvSpPr txBox="1"/>
          <p:nvPr/>
        </p:nvSpPr>
        <p:spPr>
          <a:xfrm>
            <a:off x="10679845" y="5623418"/>
            <a:ext cx="976404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check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2" name="struct.key.line.3"/>
          <p:cNvCxnSpPr/>
          <p:nvPr/>
        </p:nvCxnSpPr>
        <p:spPr>
          <a:xfrm>
            <a:off x="10500912" y="5714858"/>
            <a:ext cx="18532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53" name="slot.to.header"/>
          <p:cNvSpPr/>
          <p:nvPr/>
        </p:nvSpPr>
        <p:spPr>
          <a:xfrm>
            <a:off x="6314740" y="1014877"/>
            <a:ext cx="5460137" cy="525000"/>
          </a:xfrm>
          <a:prstGeom prst="roundRect">
            <a:avLst>
              <a:gd name="adj" fmla="val 1653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40" tIns="27432" rIns="91440" bIns="27432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Target, one brief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to.label"/>
          <p:cNvSpPr txBox="1"/>
          <p:nvPr/>
        </p:nvSpPr>
        <p:spPr>
          <a:xfrm>
            <a:off x="6682978" y="1801368"/>
            <a:ext cx="3285096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 route each signal through one review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to.role.1"/>
          <p:cNvSpPr txBox="1"/>
          <p:nvPr/>
        </p:nvSpPr>
        <p:spPr>
          <a:xfrm>
            <a:off x="6354468" y="2500512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Brand lead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truct.to.role.1.disc"/>
          <p:cNvSpPr/>
          <p:nvPr/>
        </p:nvSpPr>
        <p:spPr>
          <a:xfrm>
            <a:off x="6567880" y="2061600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lot.to.role.2"/>
          <p:cNvSpPr txBox="1"/>
          <p:nvPr/>
        </p:nvSpPr>
        <p:spPr>
          <a:xfrm>
            <a:off x="6354468" y="3669329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Analyst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truct.to.role.2.disc"/>
          <p:cNvSpPr/>
          <p:nvPr/>
        </p:nvSpPr>
        <p:spPr>
          <a:xfrm>
            <a:off x="6567880" y="3230417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slot.to.role.3"/>
          <p:cNvSpPr txBox="1"/>
          <p:nvPr/>
        </p:nvSpPr>
        <p:spPr>
          <a:xfrm>
            <a:off x="6354468" y="4870845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truct.to.role.3.disc"/>
          <p:cNvSpPr/>
          <p:nvPr/>
        </p:nvSpPr>
        <p:spPr>
          <a:xfrm>
            <a:off x="6567880" y="4431934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slot.to.role.4"/>
          <p:cNvSpPr txBox="1"/>
          <p:nvPr/>
        </p:nvSpPr>
        <p:spPr>
          <a:xfrm>
            <a:off x="6354468" y="5791631"/>
            <a:ext cx="949028" cy="2194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 head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to.role.4.disc"/>
          <p:cNvSpPr/>
          <p:nvPr/>
        </p:nvSpPr>
        <p:spPr>
          <a:xfrm>
            <a:off x="6567880" y="5352719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struct.to.agent.1.disc"/>
          <p:cNvSpPr/>
          <p:nvPr/>
        </p:nvSpPr>
        <p:spPr>
          <a:xfrm>
            <a:off x="8572513" y="2061600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truct.to.agent.4.disc"/>
          <p:cNvSpPr/>
          <p:nvPr/>
        </p:nvSpPr>
        <p:spPr>
          <a:xfrm>
            <a:off x="8572513" y="5352719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struct.to.agent.2.disc"/>
          <p:cNvSpPr/>
          <p:nvPr/>
        </p:nvSpPr>
        <p:spPr>
          <a:xfrm>
            <a:off x="7409629" y="3230417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struct.to.agent.3.disc"/>
          <p:cNvSpPr/>
          <p:nvPr/>
        </p:nvSpPr>
        <p:spPr>
          <a:xfrm>
            <a:off x="9735398" y="3230417"/>
            <a:ext cx="432000" cy="43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struct.to.hub"/>
          <p:cNvSpPr/>
          <p:nvPr/>
        </p:nvSpPr>
        <p:spPr>
          <a:xfrm>
            <a:off x="8251819" y="3010172"/>
            <a:ext cx="1073297" cy="872400"/>
          </a:xfrm>
          <a:prstGeom prst="hexagon">
            <a:avLst>
              <a:gd name="adj" fmla="val 28852"/>
              <a:gd name="vf" fmla="val 115470"/>
            </a:avLst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struct.to.partner.1.disc"/>
          <p:cNvSpPr/>
          <p:nvPr/>
        </p:nvSpPr>
        <p:spPr>
          <a:xfrm>
            <a:off x="10527137" y="3036874"/>
            <a:ext cx="730200" cy="730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rnd" cmpd="sng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144"/>
              <a:buFont typeface="Arial"/>
              <a:buNone/>
            </a:pPr>
            <a:endParaRPr sz="1144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struct.to.partner.2.disc"/>
          <p:cNvSpPr/>
          <p:nvPr/>
        </p:nvSpPr>
        <p:spPr>
          <a:xfrm>
            <a:off x="10527137" y="4311237"/>
            <a:ext cx="730200" cy="730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rnd" cmpd="sng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144"/>
              <a:buFont typeface="Arial"/>
              <a:buNone/>
            </a:pPr>
            <a:endParaRPr sz="1144" b="0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struct.to.customer.2.disc"/>
          <p:cNvSpPr/>
          <p:nvPr/>
        </p:nvSpPr>
        <p:spPr>
          <a:xfrm>
            <a:off x="11403120" y="4095151"/>
            <a:ext cx="247018" cy="2470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52275" tIns="26150" rIns="52275" bIns="26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515"/>
              <a:buFont typeface="Arial"/>
              <a:buNone/>
            </a:pPr>
            <a:endParaRPr sz="515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struct.to.customer.1.disc"/>
          <p:cNvSpPr/>
          <p:nvPr/>
        </p:nvSpPr>
        <p:spPr>
          <a:xfrm>
            <a:off x="11356023" y="2444748"/>
            <a:ext cx="247018" cy="2470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52275" tIns="26150" rIns="52275" bIns="26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515"/>
              <a:buFont typeface="Arial"/>
              <a:buNone/>
            </a:pPr>
            <a:endParaRPr sz="515" b="1" i="0" u="none" strike="noStrike" cap="non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struct.to.link.1"/>
          <p:cNvCxnSpPr>
            <a:cxnSpLocks/>
          </p:cNvCxnSpPr>
          <p:nvPr/>
        </p:nvCxnSpPr>
        <p:spPr>
          <a:xfrm>
            <a:off x="6999438" y="2277600"/>
            <a:ext cx="1573570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73" name="struct.to.link.2.part1"/>
          <p:cNvCxnSpPr/>
          <p:nvPr/>
        </p:nvCxnSpPr>
        <p:spPr>
          <a:xfrm>
            <a:off x="9004081" y="2277588"/>
            <a:ext cx="1888200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4" name="struct.to.link.2.part2"/>
          <p:cNvCxnSpPr/>
          <p:nvPr/>
        </p:nvCxnSpPr>
        <p:spPr>
          <a:xfrm>
            <a:off x="10892281" y="2277588"/>
            <a:ext cx="0" cy="759318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5" name="struct.to.link.3"/>
          <p:cNvCxnSpPr>
            <a:cxnSpLocks/>
          </p:cNvCxnSpPr>
          <p:nvPr/>
        </p:nvCxnSpPr>
        <p:spPr>
          <a:xfrm>
            <a:off x="6999438" y="3446417"/>
            <a:ext cx="410757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76" name="struct.to.link.4"/>
          <p:cNvCxnSpPr>
            <a:cxnSpLocks/>
          </p:cNvCxnSpPr>
          <p:nvPr/>
        </p:nvCxnSpPr>
        <p:spPr>
          <a:xfrm>
            <a:off x="7841186" y="3446417"/>
            <a:ext cx="410757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77" name="slot.to.agent.1"/>
          <p:cNvSpPr txBox="1"/>
          <p:nvPr/>
        </p:nvSpPr>
        <p:spPr>
          <a:xfrm>
            <a:off x="8389403" y="2505456"/>
            <a:ext cx="730021" cy="192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Scan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8" name="struct.to.link.5"/>
          <p:cNvCxnSpPr/>
          <p:nvPr/>
        </p:nvCxnSpPr>
        <p:spPr>
          <a:xfrm>
            <a:off x="8788514" y="2691770"/>
            <a:ext cx="0" cy="29940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79" name="slot.to.agent.2"/>
          <p:cNvSpPr txBox="1"/>
          <p:nvPr/>
        </p:nvSpPr>
        <p:spPr>
          <a:xfrm>
            <a:off x="7266995" y="3685032"/>
            <a:ext cx="730021" cy="192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Rank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to.agent.3"/>
          <p:cNvSpPr txBox="1"/>
          <p:nvPr/>
        </p:nvSpPr>
        <p:spPr>
          <a:xfrm>
            <a:off x="9630439" y="3685032"/>
            <a:ext cx="638769" cy="192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1" name="struct.to.link.6"/>
          <p:cNvCxnSpPr>
            <a:cxnSpLocks/>
          </p:cNvCxnSpPr>
          <p:nvPr/>
        </p:nvCxnSpPr>
        <p:spPr>
          <a:xfrm>
            <a:off x="8788513" y="3889619"/>
            <a:ext cx="0" cy="146310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82" name="struct.to.link.7"/>
          <p:cNvCxnSpPr/>
          <p:nvPr/>
        </p:nvCxnSpPr>
        <p:spPr>
          <a:xfrm>
            <a:off x="9325208" y="3446417"/>
            <a:ext cx="410757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83" name="struct.to.link.8"/>
          <p:cNvCxnSpPr>
            <a:cxnSpLocks/>
          </p:cNvCxnSpPr>
          <p:nvPr/>
        </p:nvCxnSpPr>
        <p:spPr>
          <a:xfrm>
            <a:off x="6999438" y="5568719"/>
            <a:ext cx="1573570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84" name="struct.to.link.11.part1"/>
          <p:cNvCxnSpPr/>
          <p:nvPr/>
        </p:nvCxnSpPr>
        <p:spPr>
          <a:xfrm>
            <a:off x="9931573" y="3858768"/>
            <a:ext cx="0" cy="1719072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85" name="struct.to.link.11.part2"/>
          <p:cNvCxnSpPr/>
          <p:nvPr/>
        </p:nvCxnSpPr>
        <p:spPr>
          <a:xfrm flipH="1">
            <a:off x="9000796" y="5577840"/>
            <a:ext cx="930777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6" name="struct.to.link.12.part1"/>
          <p:cNvCxnSpPr/>
          <p:nvPr/>
        </p:nvCxnSpPr>
        <p:spPr>
          <a:xfrm flipV="1">
            <a:off x="9951374" y="2277588"/>
            <a:ext cx="0" cy="952805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87" name="struct.to.link.12.part2"/>
          <p:cNvCxnSpPr/>
          <p:nvPr/>
        </p:nvCxnSpPr>
        <p:spPr>
          <a:xfrm flipH="1">
            <a:off x="9004172" y="2277588"/>
            <a:ext cx="947203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8" name="struct.to.link.15.part1"/>
          <p:cNvCxnSpPr/>
          <p:nvPr/>
        </p:nvCxnSpPr>
        <p:spPr>
          <a:xfrm flipH="1">
            <a:off x="7539931" y="2384755"/>
            <a:ext cx="101436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89" name="struct.to.link.15.part2"/>
          <p:cNvCxnSpPr/>
          <p:nvPr/>
        </p:nvCxnSpPr>
        <p:spPr>
          <a:xfrm>
            <a:off x="7539931" y="2384755"/>
            <a:ext cx="0" cy="84572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0" name="struct.to.link.16"/>
          <p:cNvCxnSpPr>
            <a:cxnSpLocks/>
          </p:cNvCxnSpPr>
          <p:nvPr/>
        </p:nvCxnSpPr>
        <p:spPr>
          <a:xfrm flipH="1">
            <a:off x="6965861" y="3566160"/>
            <a:ext cx="428888" cy="0"/>
          </a:xfrm>
          <a:prstGeom prst="straightConnector1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1" name="struct.to.link.17.part1"/>
          <p:cNvCxnSpPr/>
          <p:nvPr/>
        </p:nvCxnSpPr>
        <p:spPr>
          <a:xfrm flipH="1">
            <a:off x="7805020" y="5418552"/>
            <a:ext cx="80548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2" name="struct.to.link.17.part2"/>
          <p:cNvCxnSpPr/>
          <p:nvPr/>
        </p:nvCxnSpPr>
        <p:spPr>
          <a:xfrm flipV="1">
            <a:off x="7805020" y="4757623"/>
            <a:ext cx="0" cy="66092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3" name="struct.to.link.17.part3"/>
          <p:cNvCxnSpPr/>
          <p:nvPr/>
        </p:nvCxnSpPr>
        <p:spPr>
          <a:xfrm flipH="1">
            <a:off x="6999442" y="4757623"/>
            <a:ext cx="80557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4" name="struct.to.link.18.part1"/>
          <p:cNvCxnSpPr/>
          <p:nvPr/>
        </p:nvCxnSpPr>
        <p:spPr>
          <a:xfrm flipH="1">
            <a:off x="9477773" y="3851819"/>
            <a:ext cx="26499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5" name="struct.to.link.18.part2"/>
          <p:cNvCxnSpPr/>
          <p:nvPr/>
        </p:nvCxnSpPr>
        <p:spPr>
          <a:xfrm>
            <a:off x="9477773" y="3851819"/>
            <a:ext cx="0" cy="66028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6" name="struct.to.link.18.part3"/>
          <p:cNvCxnSpPr/>
          <p:nvPr/>
        </p:nvCxnSpPr>
        <p:spPr>
          <a:xfrm flipH="1">
            <a:off x="6999533" y="4512107"/>
            <a:ext cx="2478241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7" name="struct.to.link.19.part1"/>
          <p:cNvCxnSpPr/>
          <p:nvPr/>
        </p:nvCxnSpPr>
        <p:spPr>
          <a:xfrm>
            <a:off x="7615671" y="4097884"/>
            <a:ext cx="0" cy="54992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98" name="struct.to.link.19.part2"/>
          <p:cNvCxnSpPr/>
          <p:nvPr/>
        </p:nvCxnSpPr>
        <p:spPr>
          <a:xfrm flipH="1">
            <a:off x="6999533" y="4647804"/>
            <a:ext cx="61613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99" name="slot.to.exception"/>
          <p:cNvSpPr/>
          <p:nvPr/>
        </p:nvSpPr>
        <p:spPr>
          <a:xfrm>
            <a:off x="6442693" y="4095155"/>
            <a:ext cx="800856" cy="265500"/>
          </a:xfrm>
          <a:prstGeom prst="snip1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Rejections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0" name="struct.to.link.20.part1"/>
          <p:cNvCxnSpPr/>
          <p:nvPr/>
        </p:nvCxnSpPr>
        <p:spPr>
          <a:xfrm>
            <a:off x="7615671" y="4097884"/>
            <a:ext cx="0" cy="12993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01" name="struct.to.link.20.part2"/>
          <p:cNvCxnSpPr/>
          <p:nvPr/>
        </p:nvCxnSpPr>
        <p:spPr>
          <a:xfrm flipH="1">
            <a:off x="7243543" y="4227820"/>
            <a:ext cx="37212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102" name="slot.to.hub.head"/>
          <p:cNvSpPr txBox="1"/>
          <p:nvPr/>
        </p:nvSpPr>
        <p:spPr>
          <a:xfrm>
            <a:off x="8362027" y="3163824"/>
            <a:ext cx="857775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slot.to.hub.body"/>
          <p:cNvSpPr txBox="1"/>
          <p:nvPr/>
        </p:nvSpPr>
        <p:spPr>
          <a:xfrm>
            <a:off x="8307275" y="3374136"/>
            <a:ext cx="967278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signs off</a:t>
            </a:r>
            <a:endParaRPr lang="en-US" sz="9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4" name="struct.to.link.21"/>
          <p:cNvCxnSpPr>
            <a:cxnSpLocks/>
          </p:cNvCxnSpPr>
          <p:nvPr/>
        </p:nvCxnSpPr>
        <p:spPr>
          <a:xfrm>
            <a:off x="10168830" y="3447288"/>
            <a:ext cx="365011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05" name="struct.to.link.22"/>
          <p:cNvCxnSpPr/>
          <p:nvPr/>
        </p:nvCxnSpPr>
        <p:spPr>
          <a:xfrm rot="10800000">
            <a:off x="10168830" y="3557016"/>
            <a:ext cx="392387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06" name="struct.to.link.25"/>
          <p:cNvCxnSpPr/>
          <p:nvPr/>
        </p:nvCxnSpPr>
        <p:spPr>
          <a:xfrm>
            <a:off x="10892237" y="3817777"/>
            <a:ext cx="0" cy="32820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07" name="slot.to.partner.1"/>
          <p:cNvSpPr txBox="1"/>
          <p:nvPr/>
        </p:nvSpPr>
        <p:spPr>
          <a:xfrm>
            <a:off x="10591762" y="3338626"/>
            <a:ext cx="602268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 ledger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slot.to.partner.2"/>
          <p:cNvSpPr txBox="1"/>
          <p:nvPr/>
        </p:nvSpPr>
        <p:spPr>
          <a:xfrm>
            <a:off x="10591762" y="4612989"/>
            <a:ext cx="602268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 map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slot.to.customer.1"/>
          <p:cNvSpPr txBox="1"/>
          <p:nvPr/>
        </p:nvSpPr>
        <p:spPr>
          <a:xfrm>
            <a:off x="11201147" y="2243580"/>
            <a:ext cx="547516" cy="173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slot.to.customer.2"/>
          <p:cNvSpPr txBox="1"/>
          <p:nvPr/>
        </p:nvSpPr>
        <p:spPr>
          <a:xfrm>
            <a:off x="11248244" y="3893983"/>
            <a:ext cx="547516" cy="173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Leads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1" name="struct.to.link.26"/>
          <p:cNvCxnSpPr>
            <a:cxnSpLocks/>
          </p:cNvCxnSpPr>
          <p:nvPr/>
        </p:nvCxnSpPr>
        <p:spPr>
          <a:xfrm rot="10800000" flipH="1">
            <a:off x="11149873" y="2647009"/>
            <a:ext cx="226036" cy="49680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2" name="struct.to.link.27"/>
          <p:cNvCxnSpPr>
            <a:cxnSpLocks/>
          </p:cNvCxnSpPr>
          <p:nvPr/>
        </p:nvCxnSpPr>
        <p:spPr>
          <a:xfrm rot="10800000" flipH="1">
            <a:off x="11149873" y="4218672"/>
            <a:ext cx="253579" cy="19950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3" name="struct.to.link.28"/>
          <p:cNvCxnSpPr>
            <a:cxnSpLocks/>
          </p:cNvCxnSpPr>
          <p:nvPr/>
        </p:nvCxnSpPr>
        <p:spPr>
          <a:xfrm>
            <a:off x="10132329" y="3849624"/>
            <a:ext cx="492764" cy="576072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14" name="slot.key.1"/>
          <p:cNvSpPr txBox="1"/>
          <p:nvPr/>
        </p:nvSpPr>
        <p:spPr>
          <a:xfrm>
            <a:off x="10679845" y="5226192"/>
            <a:ext cx="976404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Signal flow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5" name="struct.key.line.1"/>
          <p:cNvCxnSpPr/>
          <p:nvPr/>
        </p:nvCxnSpPr>
        <p:spPr>
          <a:xfrm>
            <a:off x="10500912" y="5317632"/>
            <a:ext cx="185320" cy="0"/>
          </a:xfrm>
          <a:prstGeom prst="straightConnector1">
            <a:avLst/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struct.key.line.2"/>
          <p:cNvCxnSpPr/>
          <p:nvPr/>
        </p:nvCxnSpPr>
        <p:spPr>
          <a:xfrm>
            <a:off x="10500912" y="5493162"/>
            <a:ext cx="18532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7" name="slot.key.2"/>
          <p:cNvSpPr txBox="1"/>
          <p:nvPr/>
        </p:nvSpPr>
        <p:spPr>
          <a:xfrm>
            <a:off x="10679845" y="5401722"/>
            <a:ext cx="976404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sync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slot.to.agent.4"/>
          <p:cNvSpPr txBox="1"/>
          <p:nvPr/>
        </p:nvSpPr>
        <p:spPr>
          <a:xfrm>
            <a:off x="8334651" y="5806440"/>
            <a:ext cx="912527" cy="192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Release</a:t>
            </a:r>
            <a:endParaRPr lang="en-US" sz="9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slot.to.flow.1"/>
          <p:cNvSpPr txBox="1"/>
          <p:nvPr/>
        </p:nvSpPr>
        <p:spPr>
          <a:xfrm>
            <a:off x="10479089" y="2487168"/>
            <a:ext cx="839525" cy="3108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 feed sync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slot.to.flow.2"/>
          <p:cNvSpPr txBox="1"/>
          <p:nvPr/>
        </p:nvSpPr>
        <p:spPr>
          <a:xfrm>
            <a:off x="10497339" y="4123944"/>
            <a:ext cx="784773" cy="1645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27432" tIns="9144" rIns="27432" bIns="9144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Map view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slot.from.channel.1.icon"/>
          <p:cNvSpPr/>
          <p:nvPr/>
        </p:nvSpPr>
        <p:spPr>
          <a:xfrm>
            <a:off x="3398546" y="227879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2286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48" name="slot.from.channel.2.icon"/>
          <p:cNvSpPr/>
          <p:nvPr/>
        </p:nvSpPr>
        <p:spPr>
          <a:xfrm>
            <a:off x="3398546" y="328503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832" y="16568"/>
                </a:moveTo>
                <a:cubicBezTo>
                  <a:pt x="14257" y="16763"/>
                  <a:pt x="14761" y="16637"/>
                  <a:pt x="15045" y="16265"/>
                </a:cubicBezTo>
                <a:lnTo>
                  <a:pt x="15400" y="15800"/>
                </a:lnTo>
                <a:cubicBezTo>
                  <a:pt x="15778" y="15296"/>
                  <a:pt x="16370" y="15000"/>
                  <a:pt x="17000" y="15000"/>
                </a:cubicBezTo>
                <a:lnTo>
                  <a:pt x="20000" y="15000"/>
                </a:lnTo>
                <a:cubicBezTo>
                  <a:pt x="21105" y="15000"/>
                  <a:pt x="22000" y="15895"/>
                  <a:pt x="22000" y="17000"/>
                </a:cubicBezTo>
                <a:lnTo>
                  <a:pt x="22000" y="20000"/>
                </a:lnTo>
                <a:cubicBezTo>
                  <a:pt x="22000" y="21105"/>
                  <a:pt x="21105" y="22000"/>
                  <a:pt x="20000" y="22000"/>
                </a:cubicBezTo>
                <a:cubicBezTo>
                  <a:pt x="10059" y="22000"/>
                  <a:pt x="2000" y="13941"/>
                  <a:pt x="2000" y="4000"/>
                </a:cubicBezTo>
                <a:cubicBezTo>
                  <a:pt x="2000" y="2895"/>
                  <a:pt x="2895" y="2000"/>
                  <a:pt x="4000" y="2000"/>
                </a:cubicBezTo>
                <a:lnTo>
                  <a:pt x="7000" y="2000"/>
                </a:lnTo>
                <a:cubicBezTo>
                  <a:pt x="8105" y="2000"/>
                  <a:pt x="9000" y="2895"/>
                  <a:pt x="9000" y="4000"/>
                </a:cubicBezTo>
                <a:lnTo>
                  <a:pt x="9000" y="7000"/>
                </a:lnTo>
                <a:cubicBezTo>
                  <a:pt x="9000" y="7630"/>
                  <a:pt x="8704" y="8222"/>
                  <a:pt x="8200" y="8600"/>
                </a:cubicBezTo>
                <a:lnTo>
                  <a:pt x="7732" y="8951"/>
                </a:lnTo>
                <a:cubicBezTo>
                  <a:pt x="7353" y="9240"/>
                  <a:pt x="7231" y="9756"/>
                  <a:pt x="7440" y="10184"/>
                </a:cubicBezTo>
                <a:cubicBezTo>
                  <a:pt x="8807" y="12960"/>
                  <a:pt x="11054" y="15205"/>
                  <a:pt x="13832" y="16568"/>
                </a:cubicBezTo>
              </a:path>
            </a:pathLst>
          </a:custGeom>
          <a:noFill/>
          <a:ln w="2286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49" name="slot.from.channel.3.icon"/>
          <p:cNvSpPr/>
          <p:nvPr/>
        </p:nvSpPr>
        <p:spPr>
          <a:xfrm>
            <a:off x="3398546" y="4291285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000"/>
                </a:moveTo>
                <a:lnTo>
                  <a:pt x="11000" y="2000"/>
                </a:lnTo>
                <a:cubicBezTo>
                  <a:pt x="9895" y="2000"/>
                  <a:pt x="9000" y="2895"/>
                  <a:pt x="9000" y="4000"/>
                </a:cubicBezTo>
                <a:lnTo>
                  <a:pt x="9000" y="15000"/>
                </a:lnTo>
                <a:cubicBezTo>
                  <a:pt x="9000" y="16105"/>
                  <a:pt x="9895" y="17000"/>
                  <a:pt x="11000" y="17000"/>
                </a:cubicBezTo>
                <a:lnTo>
                  <a:pt x="19000" y="17000"/>
                </a:lnTo>
                <a:cubicBezTo>
                  <a:pt x="20105" y="17000"/>
                  <a:pt x="21000" y="16105"/>
                  <a:pt x="21000" y="15000"/>
                </a:cubicBezTo>
                <a:lnTo>
                  <a:pt x="21000" y="8000"/>
                </a:lnTo>
                <a:moveTo>
                  <a:pt x="16706" y="2706"/>
                </a:moveTo>
                <a:cubicBezTo>
                  <a:pt x="16254" y="2253"/>
                  <a:pt x="15640" y="1998"/>
                  <a:pt x="15000" y="2000"/>
                </a:cubicBezTo>
                <a:lnTo>
                  <a:pt x="15000" y="7000"/>
                </a:lnTo>
                <a:cubicBezTo>
                  <a:pt x="15000" y="7552"/>
                  <a:pt x="15448" y="8000"/>
                  <a:pt x="16000" y="8000"/>
                </a:cubicBezTo>
                <a:lnTo>
                  <a:pt x="21000" y="8000"/>
                </a:lnTo>
                <a:cubicBezTo>
                  <a:pt x="21002" y="7360"/>
                  <a:pt x="20747" y="6746"/>
                  <a:pt x="20294" y="6294"/>
                </a:cubicBezTo>
                <a:close/>
                <a:moveTo>
                  <a:pt x="5000" y="7000"/>
                </a:moveTo>
                <a:cubicBezTo>
                  <a:pt x="3895" y="7000"/>
                  <a:pt x="3000" y="7895"/>
                  <a:pt x="3000" y="9000"/>
                </a:cubicBezTo>
                <a:lnTo>
                  <a:pt x="3000" y="20000"/>
                </a:lnTo>
                <a:cubicBezTo>
                  <a:pt x="3000" y="21105"/>
                  <a:pt x="3895" y="22000"/>
                  <a:pt x="5000" y="22000"/>
                </a:cubicBezTo>
                <a:lnTo>
                  <a:pt x="13000" y="22000"/>
                </a:lnTo>
                <a:cubicBezTo>
                  <a:pt x="13715" y="22000"/>
                  <a:pt x="14375" y="21619"/>
                  <a:pt x="14732" y="21000"/>
                </a:cubicBezTo>
              </a:path>
            </a:pathLst>
          </a:custGeom>
          <a:noFill/>
          <a:ln w="2286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50" name="slot.from.channel.4.icon"/>
          <p:cNvSpPr/>
          <p:nvPr/>
        </p:nvSpPr>
        <p:spPr>
          <a:xfrm>
            <a:off x="3398546" y="52975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20000"/>
                </a:moveTo>
                <a:cubicBezTo>
                  <a:pt x="21105" y="20000"/>
                  <a:pt x="22000" y="19105"/>
                  <a:pt x="22000" y="18000"/>
                </a:cubicBezTo>
                <a:lnTo>
                  <a:pt x="22000" y="8000"/>
                </a:lnTo>
                <a:cubicBezTo>
                  <a:pt x="22000" y="6895"/>
                  <a:pt x="21105" y="6000"/>
                  <a:pt x="20000" y="6000"/>
                </a:cubicBezTo>
                <a:lnTo>
                  <a:pt x="12100" y="6000"/>
                </a:lnTo>
                <a:cubicBezTo>
                  <a:pt x="11420" y="6007"/>
                  <a:pt x="10784" y="5668"/>
                  <a:pt x="10410" y="5100"/>
                </a:cubicBezTo>
                <a:lnTo>
                  <a:pt x="9600" y="3900"/>
                </a:lnTo>
                <a:cubicBezTo>
                  <a:pt x="9230" y="3338"/>
                  <a:pt x="8603" y="3000"/>
                  <a:pt x="7930" y="3000"/>
                </a:cubicBez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18000"/>
                </a:lnTo>
                <a:cubicBezTo>
                  <a:pt x="2000" y="19105"/>
                  <a:pt x="2895" y="20000"/>
                  <a:pt x="4000" y="20000"/>
                </a:cubicBezTo>
                <a:close/>
              </a:path>
            </a:pathLst>
          </a:custGeom>
          <a:noFill/>
          <a:ln w="2286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61" name="slot.to.partner.1.icon"/>
          <p:cNvSpPr/>
          <p:nvPr/>
        </p:nvSpPr>
        <p:spPr>
          <a:xfrm>
            <a:off x="10792311" y="312831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2" name="slot.to.partner.2.icon"/>
          <p:cNvSpPr/>
          <p:nvPr/>
        </p:nvSpPr>
        <p:spPr>
          <a:xfrm>
            <a:off x="10792311" y="4402677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0000"/>
                </a:moveTo>
                <a:cubicBezTo>
                  <a:pt x="20000" y="14993"/>
                  <a:pt x="14461" y="20193"/>
                  <a:pt x="12601" y="21799"/>
                </a:cubicBezTo>
                <a:cubicBezTo>
                  <a:pt x="12245" y="22067"/>
                  <a:pt x="11755" y="22067"/>
                  <a:pt x="11399" y="21799"/>
                </a:cubicBezTo>
                <a:cubicBezTo>
                  <a:pt x="9539" y="20193"/>
                  <a:pt x="4000" y="14993"/>
                  <a:pt x="4000" y="10000"/>
                </a:cubicBezTo>
                <a:cubicBezTo>
                  <a:pt x="4000" y="5582"/>
                  <a:pt x="7582" y="2000"/>
                  <a:pt x="12000" y="2000"/>
                </a:cubicBezTo>
                <a:cubicBezTo>
                  <a:pt x="16418" y="2000"/>
                  <a:pt x="20000" y="5582"/>
                  <a:pt x="20000" y="10000"/>
                </a:cubicBezTo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5" name="slot.from.role.1.icon"/>
          <p:cNvSpPr/>
          <p:nvPr/>
        </p:nvSpPr>
        <p:spPr>
          <a:xfrm>
            <a:off x="775518" y="2297021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66" name="slot.from.role.2.icon"/>
          <p:cNvSpPr/>
          <p:nvPr/>
        </p:nvSpPr>
        <p:spPr>
          <a:xfrm>
            <a:off x="775518" y="33032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67" name="slot.from.role.3.icon"/>
          <p:cNvSpPr/>
          <p:nvPr/>
        </p:nvSpPr>
        <p:spPr>
          <a:xfrm>
            <a:off x="775518" y="430951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68" name="slot.from.role.4.icon"/>
          <p:cNvSpPr/>
          <p:nvPr/>
        </p:nvSpPr>
        <p:spPr>
          <a:xfrm>
            <a:off x="775518" y="531576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69" name="slot.from.customer.1.icon"/>
          <p:cNvSpPr/>
          <p:nvPr/>
        </p:nvSpPr>
        <p:spPr>
          <a:xfrm>
            <a:off x="4918560" y="3146265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70" name="slot.from.customer.2.icon"/>
          <p:cNvSpPr/>
          <p:nvPr/>
        </p:nvSpPr>
        <p:spPr>
          <a:xfrm>
            <a:off x="4918560" y="424002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0000"/>
                </a:moveTo>
                <a:lnTo>
                  <a:pt x="16000" y="4000"/>
                </a:lnTo>
                <a:cubicBezTo>
                  <a:pt x="16000" y="2895"/>
                  <a:pt x="15105" y="2000"/>
                  <a:pt x="14000" y="2000"/>
                </a:cubicBezTo>
                <a:lnTo>
                  <a:pt x="10000" y="2000"/>
                </a:lnTo>
                <a:cubicBezTo>
                  <a:pt x="8895" y="2000"/>
                  <a:pt x="8000" y="2895"/>
                  <a:pt x="8000" y="4000"/>
                </a:cubicBezTo>
                <a:lnTo>
                  <a:pt x="8000" y="20000"/>
                </a:lnTo>
                <a:moveTo>
                  <a:pt x="4000" y="6000"/>
                </a:moveTo>
                <a:lnTo>
                  <a:pt x="20000" y="6000"/>
                </a:lnTo>
                <a:cubicBezTo>
                  <a:pt x="21105" y="6000"/>
                  <a:pt x="22000" y="6895"/>
                  <a:pt x="22000" y="8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8000"/>
                </a:lnTo>
                <a:cubicBezTo>
                  <a:pt x="2000" y="6895"/>
                  <a:pt x="2895" y="6000"/>
                  <a:pt x="4000" y="6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71" name="slot.to.role.1.icon"/>
          <p:cNvSpPr/>
          <p:nvPr/>
        </p:nvSpPr>
        <p:spPr>
          <a:xfrm>
            <a:off x="6665008" y="215872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72" name="slot.to.role.2.icon"/>
          <p:cNvSpPr/>
          <p:nvPr/>
        </p:nvSpPr>
        <p:spPr>
          <a:xfrm>
            <a:off x="6665008" y="3327545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73" name="slot.to.role.3.icon"/>
          <p:cNvSpPr/>
          <p:nvPr/>
        </p:nvSpPr>
        <p:spPr>
          <a:xfrm>
            <a:off x="6665008" y="452906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74" name="slot.to.role.4.icon"/>
          <p:cNvSpPr/>
          <p:nvPr/>
        </p:nvSpPr>
        <p:spPr>
          <a:xfrm>
            <a:off x="6665008" y="5449847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75" name="slot.to.agent.1.icon"/>
          <p:cNvSpPr/>
          <p:nvPr/>
        </p:nvSpPr>
        <p:spPr>
          <a:xfrm>
            <a:off x="8665069" y="2154156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2032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76" name="slot.to.agent.2.icon"/>
          <p:cNvSpPr/>
          <p:nvPr/>
        </p:nvSpPr>
        <p:spPr>
          <a:xfrm>
            <a:off x="7502185" y="3322973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5000"/>
                </a:moveTo>
                <a:lnTo>
                  <a:pt x="21000" y="5000"/>
                </a:lnTo>
                <a:moveTo>
                  <a:pt x="11000" y="12000"/>
                </a:moveTo>
                <a:lnTo>
                  <a:pt x="21000" y="12000"/>
                </a:lnTo>
                <a:moveTo>
                  <a:pt x="11000" y="19000"/>
                </a:moveTo>
                <a:lnTo>
                  <a:pt x="21000" y="19000"/>
                </a:lnTo>
                <a:moveTo>
                  <a:pt x="4000" y="4000"/>
                </a:moveTo>
                <a:lnTo>
                  <a:pt x="5000" y="4000"/>
                </a:lnTo>
                <a:lnTo>
                  <a:pt x="5000" y="9000"/>
                </a:lnTo>
                <a:moveTo>
                  <a:pt x="4000" y="9000"/>
                </a:moveTo>
                <a:lnTo>
                  <a:pt x="6000" y="9000"/>
                </a:lnTo>
                <a:moveTo>
                  <a:pt x="6500" y="20000"/>
                </a:moveTo>
                <a:lnTo>
                  <a:pt x="3400" y="20000"/>
                </a:lnTo>
                <a:cubicBezTo>
                  <a:pt x="3400" y="19000"/>
                  <a:pt x="6000" y="18075"/>
                  <a:pt x="6000" y="16500"/>
                </a:cubicBezTo>
                <a:cubicBezTo>
                  <a:pt x="6000" y="15883"/>
                  <a:pt x="5622" y="15329"/>
                  <a:pt x="5048" y="15103"/>
                </a:cubicBezTo>
                <a:cubicBezTo>
                  <a:pt x="4473" y="14878"/>
                  <a:pt x="3820" y="15027"/>
                  <a:pt x="3400" y="15480"/>
                </a:cubicBezTo>
              </a:path>
            </a:pathLst>
          </a:custGeom>
          <a:noFill/>
          <a:ln w="2032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77" name="slot.to.agent.3.icon"/>
          <p:cNvSpPr/>
          <p:nvPr/>
        </p:nvSpPr>
        <p:spPr>
          <a:xfrm>
            <a:off x="9827954" y="3322973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032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78" name="slot.to.agent.4.icon"/>
          <p:cNvSpPr/>
          <p:nvPr/>
        </p:nvSpPr>
        <p:spPr>
          <a:xfrm>
            <a:off x="8665069" y="5445275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536" y="21686"/>
                </a:moveTo>
                <a:cubicBezTo>
                  <a:pt x="14614" y="21880"/>
                  <a:pt x="14804" y="22005"/>
                  <a:pt x="15013" y="22000"/>
                </a:cubicBezTo>
                <a:cubicBezTo>
                  <a:pt x="15222" y="21994"/>
                  <a:pt x="15405" y="21860"/>
                  <a:pt x="15473" y="21662"/>
                </a:cubicBezTo>
                <a:lnTo>
                  <a:pt x="21973" y="2662"/>
                </a:lnTo>
                <a:cubicBezTo>
                  <a:pt x="22038" y="2481"/>
                  <a:pt x="21993" y="2279"/>
                  <a:pt x="21857" y="2143"/>
                </a:cubicBezTo>
                <a:cubicBezTo>
                  <a:pt x="21721" y="2007"/>
                  <a:pt x="21519" y="1962"/>
                  <a:pt x="21338" y="2027"/>
                </a:cubicBezTo>
                <a:lnTo>
                  <a:pt x="2338" y="8527"/>
                </a:lnTo>
                <a:cubicBezTo>
                  <a:pt x="2140" y="8595"/>
                  <a:pt x="2006" y="8778"/>
                  <a:pt x="2000" y="8987"/>
                </a:cubicBezTo>
                <a:cubicBezTo>
                  <a:pt x="1995" y="9196"/>
                  <a:pt x="2120" y="9386"/>
                  <a:pt x="2314" y="9464"/>
                </a:cubicBezTo>
                <a:lnTo>
                  <a:pt x="10244" y="12644"/>
                </a:lnTo>
                <a:cubicBezTo>
                  <a:pt x="10751" y="12847"/>
                  <a:pt x="11152" y="13248"/>
                  <a:pt x="11356" y="13754"/>
                </a:cubicBezTo>
                <a:close/>
                <a:moveTo>
                  <a:pt x="21854" y="2147"/>
                </a:moveTo>
                <a:lnTo>
                  <a:pt x="10914" y="13086"/>
                </a:lnTo>
              </a:path>
            </a:pathLst>
          </a:custGeom>
          <a:noFill/>
          <a:ln w="2032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79" name="slot.to.customer.1.icon"/>
          <p:cNvSpPr/>
          <p:nvPr/>
        </p:nvSpPr>
        <p:spPr>
          <a:xfrm>
            <a:off x="11401808" y="249053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0" name="slot.to.customer.2.icon"/>
          <p:cNvSpPr/>
          <p:nvPr/>
        </p:nvSpPr>
        <p:spPr>
          <a:xfrm>
            <a:off x="11448905" y="4140936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0000"/>
                </a:moveTo>
                <a:lnTo>
                  <a:pt x="16000" y="4000"/>
                </a:lnTo>
                <a:cubicBezTo>
                  <a:pt x="16000" y="2895"/>
                  <a:pt x="15105" y="2000"/>
                  <a:pt x="14000" y="2000"/>
                </a:cubicBezTo>
                <a:lnTo>
                  <a:pt x="10000" y="2000"/>
                </a:lnTo>
                <a:cubicBezTo>
                  <a:pt x="8895" y="2000"/>
                  <a:pt x="8000" y="2895"/>
                  <a:pt x="8000" y="4000"/>
                </a:cubicBezTo>
                <a:lnTo>
                  <a:pt x="8000" y="20000"/>
                </a:lnTo>
                <a:moveTo>
                  <a:pt x="4000" y="6000"/>
                </a:moveTo>
                <a:lnTo>
                  <a:pt x="20000" y="6000"/>
                </a:lnTo>
                <a:cubicBezTo>
                  <a:pt x="21105" y="6000"/>
                  <a:pt x="22000" y="6895"/>
                  <a:pt x="22000" y="8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8000"/>
                </a:lnTo>
                <a:cubicBezTo>
                  <a:pt x="2000" y="6895"/>
                  <a:pt x="2895" y="6000"/>
                  <a:pt x="4000" y="6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grpSp>
        <p:nvGrpSpPr>
          <p:cNvPr id="185" name="s11.stat.1" descr="stat kind illustrative"/>
          <p:cNvGrpSpPr/>
          <p:nvPr/>
        </p:nvGrpSpPr>
        <p:grpSpPr>
          <a:xfrm>
            <a:off x="4462272" y="1787551"/>
            <a:ext cx="1143000" cy="1134058"/>
            <a:chOff x="4462272" y="1787551"/>
            <a:chExt cx="1143000" cy="1134058"/>
          </a:xfrm>
          <a:effectLst/>
        </p:grpSpPr>
        <p:sp>
          <p:nvSpPr>
            <p:cNvPr id="181" name="s11.stat.1.value"/>
            <p:cNvSpPr txBox="1"/>
            <p:nvPr/>
          </p:nvSpPr>
          <p:spPr>
            <a:xfrm>
              <a:off x="4462272" y="1787551"/>
              <a:ext cx="1143000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6</a:t>
              </a:r>
              <a:endPara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82" name="s11.stat.1.rule"/>
            <p:cNvCxnSpPr/>
            <p:nvPr/>
          </p:nvCxnSpPr>
          <p:spPr>
            <a:xfrm>
              <a:off x="4462272" y="2144236"/>
              <a:ext cx="1143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83" name="s11.stat.1.label"/>
            <p:cNvSpPr txBox="1"/>
            <p:nvPr/>
          </p:nvSpPr>
          <p:spPr>
            <a:xfrm>
              <a:off x="4462272" y="2199100"/>
              <a:ext cx="1143000" cy="45730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regional versions of every competitor brief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84" name="s11.stat.1.basis"/>
            <p:cNvSpPr/>
            <p:nvPr/>
          </p:nvSpPr>
          <p:spPr>
            <a:xfrm>
              <a:off x="4462272" y="2711266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90" name="s11.stat.2" descr="stat kind illustrative"/>
          <p:cNvGrpSpPr/>
          <p:nvPr/>
        </p:nvGrpSpPr>
        <p:grpSpPr>
          <a:xfrm>
            <a:off x="4462272" y="5050452"/>
            <a:ext cx="1143000" cy="981624"/>
            <a:chOff x="4462272" y="5050452"/>
            <a:chExt cx="1143000" cy="981624"/>
          </a:xfrm>
          <a:effectLst/>
        </p:grpSpPr>
        <p:sp>
          <p:nvSpPr>
            <p:cNvPr id="186" name="s11.stat.2.value"/>
            <p:cNvSpPr txBox="1"/>
            <p:nvPr/>
          </p:nvSpPr>
          <p:spPr>
            <a:xfrm>
              <a:off x="4462272" y="5050452"/>
              <a:ext cx="1143000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5 days</a:t>
              </a:r>
              <a:endPara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87" name="s11.stat.2.rule"/>
            <p:cNvCxnSpPr/>
            <p:nvPr/>
          </p:nvCxnSpPr>
          <p:spPr>
            <a:xfrm>
              <a:off x="4462272" y="5407137"/>
              <a:ext cx="1143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88" name="s11.stat.2.label"/>
            <p:cNvSpPr txBox="1"/>
            <p:nvPr/>
          </p:nvSpPr>
          <p:spPr>
            <a:xfrm>
              <a:off x="4462272" y="5462001"/>
              <a:ext cx="1143000" cy="304868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from competitor move to the field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89" name="s11.stat.2.basis"/>
            <p:cNvSpPr/>
            <p:nvPr/>
          </p:nvSpPr>
          <p:spPr>
            <a:xfrm>
              <a:off x="4462272" y="5821733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91" name="s11.release"/>
          <p:cNvSpPr txBox="1"/>
          <p:nvPr/>
        </p:nvSpPr>
        <p:spPr>
          <a:xfrm>
            <a:off x="10442448" y="1645920"/>
            <a:ext cx="1353312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Monday release</a:t>
            </a:r>
            <a:endParaRPr lang="en-US" sz="100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Field app, email digest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ffering-pillars:pillar-artifact-wells">
    <p:spTree>
      <p:nvGrpSpPr>
        <p:cNvPr id="1" name=""/>
        <p:cNvGrpSpPr/>
        <p:nvPr/>
      </p:nvGrpSpPr>
      <p:grpSpPr/>
      <p:sp>
        <p:nvSpPr>
          <p:cNvPr id="2" name="slot.title"/>
          <p:cNvSpPr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Three parts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make up the service, each run by its own agent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pillar.1"/>
          <p:cNvSpPr/>
          <p:nvPr/>
        </p:nvSpPr>
        <p:spPr>
          <a:xfrm>
            <a:off x="457200" y="777240"/>
            <a:ext cx="3608832" cy="5477256"/>
          </a:xfrm>
          <a:prstGeom prst="roundRect">
            <a:avLst>
              <a:gd name="adj" fmla="val 126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4" name="struct.pillar.1.head"/>
          <p:cNvSpPr/>
          <p:nvPr/>
        </p:nvSpPr>
        <p:spPr>
          <a:xfrm>
            <a:off x="457200" y="777240"/>
            <a:ext cx="3608832" cy="512064"/>
          </a:xfrm>
          <a:prstGeom prst="roundRect">
            <a:avLst>
              <a:gd name="adj" fmla="val 892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" name="slot.pillar.1.name"/>
          <p:cNvSpPr txBox="1"/>
          <p:nvPr/>
        </p:nvSpPr>
        <p:spPr>
          <a:xfrm>
            <a:off x="1060704" y="850392"/>
            <a:ext cx="28041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Signal scan agent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pillar.1.head"/>
          <p:cNvSpPr txBox="1"/>
          <p:nvPr/>
        </p:nvSpPr>
        <p:spPr>
          <a:xfrm>
            <a:off x="658368" y="1453896"/>
            <a:ext cx="32064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Reads approved public feeds every weekday</a:t>
            </a:r>
            <a:endParaRPr lang="en-US" sz="15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" name="struct.pillar.1.rule"/>
          <p:cNvCxnSpPr/>
          <p:nvPr/>
        </p:nvCxnSpPr>
        <p:spPr>
          <a:xfrm>
            <a:off x="658368" y="2148840"/>
            <a:ext cx="3206496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9" name="struct.pillar.1.dot.1"/>
          <p:cNvSpPr/>
          <p:nvPr/>
        </p:nvSpPr>
        <p:spPr>
          <a:xfrm>
            <a:off x="676656" y="2368296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0" name="slot.pillar.1.lead.1"/>
          <p:cNvSpPr txBox="1"/>
          <p:nvPr/>
        </p:nvSpPr>
        <p:spPr>
          <a:xfrm>
            <a:off x="841248" y="2276856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Registries and trial notices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truct.pillar.1.dot.2"/>
          <p:cNvSpPr/>
          <p:nvPr/>
        </p:nvSpPr>
        <p:spPr>
          <a:xfrm>
            <a:off x="676656" y="2670048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2" name="slot.pillar.1.lead.2"/>
          <p:cNvSpPr txBox="1"/>
          <p:nvPr/>
        </p:nvSpPr>
        <p:spPr>
          <a:xfrm>
            <a:off x="841248" y="2578608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Press and congress abstracts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pillar.1.dot.3"/>
          <p:cNvSpPr/>
          <p:nvPr/>
        </p:nvSpPr>
        <p:spPr>
          <a:xfrm>
            <a:off x="676656" y="2971800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4" name="slot.pillar.1.lead.3"/>
          <p:cNvSpPr txBox="1"/>
          <p:nvPr/>
        </p:nvSpPr>
        <p:spPr>
          <a:xfrm>
            <a:off x="841248" y="2880360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Payer and pricing updates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truct.pillar.1.well"/>
          <p:cNvSpPr/>
          <p:nvPr/>
        </p:nvSpPr>
        <p:spPr>
          <a:xfrm>
            <a:off x="658368" y="3328416"/>
            <a:ext cx="3206496" cy="2724912"/>
          </a:xfrm>
          <a:prstGeom prst="roundRect">
            <a:avLst>
              <a:gd name="adj" fmla="val 1677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6" name="struct.pillar.2"/>
          <p:cNvSpPr/>
          <p:nvPr/>
        </p:nvSpPr>
        <p:spPr>
          <a:xfrm>
            <a:off x="4322064" y="777240"/>
            <a:ext cx="3608832" cy="5477256"/>
          </a:xfrm>
          <a:prstGeom prst="roundRect">
            <a:avLst>
              <a:gd name="adj" fmla="val 126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17" name="struct.pillar.2.head"/>
          <p:cNvSpPr/>
          <p:nvPr/>
        </p:nvSpPr>
        <p:spPr>
          <a:xfrm>
            <a:off x="4322064" y="777240"/>
            <a:ext cx="3608832" cy="512064"/>
          </a:xfrm>
          <a:prstGeom prst="roundRect">
            <a:avLst>
              <a:gd name="adj" fmla="val 892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9" name="slot.pillar.2.name"/>
          <p:cNvSpPr txBox="1"/>
          <p:nvPr/>
        </p:nvSpPr>
        <p:spPr>
          <a:xfrm>
            <a:off x="4925568" y="850392"/>
            <a:ext cx="28041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Brief writer agent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pillar.2.head"/>
          <p:cNvSpPr txBox="1"/>
          <p:nvPr/>
        </p:nvSpPr>
        <p:spPr>
          <a:xfrm>
            <a:off x="4523232" y="1453896"/>
            <a:ext cx="32064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page per territory, every claim sourced</a:t>
            </a:r>
            <a:endParaRPr lang="en-US" sz="15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" name="struct.pillar.2.rule"/>
          <p:cNvCxnSpPr/>
          <p:nvPr/>
        </p:nvCxnSpPr>
        <p:spPr>
          <a:xfrm>
            <a:off x="4523232" y="2148840"/>
            <a:ext cx="3206496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22" name="struct.pillar.2.dot.1"/>
          <p:cNvSpPr/>
          <p:nvPr/>
        </p:nvSpPr>
        <p:spPr>
          <a:xfrm>
            <a:off x="4541520" y="2368296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3" name="slot.pillar.2.lead.1"/>
          <p:cNvSpPr txBox="1"/>
          <p:nvPr/>
        </p:nvSpPr>
        <p:spPr>
          <a:xfrm>
            <a:off x="4706112" y="2276856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Ranked competitor moves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pillar.2.dot.2"/>
          <p:cNvSpPr/>
          <p:nvPr/>
        </p:nvSpPr>
        <p:spPr>
          <a:xfrm>
            <a:off x="4541520" y="2670048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5" name="slot.pillar.2.lead.2"/>
          <p:cNvSpPr txBox="1"/>
          <p:nvPr/>
        </p:nvSpPr>
        <p:spPr>
          <a:xfrm>
            <a:off x="4706112" y="2578608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Talking points by brand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truct.pillar.2.dot.3"/>
          <p:cNvSpPr/>
          <p:nvPr/>
        </p:nvSpPr>
        <p:spPr>
          <a:xfrm>
            <a:off x="4541520" y="2971800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7" name="slot.pillar.2.lead.3"/>
          <p:cNvSpPr txBox="1"/>
          <p:nvPr/>
        </p:nvSpPr>
        <p:spPr>
          <a:xfrm>
            <a:off x="4706112" y="2880360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link on every line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pillar.2.well"/>
          <p:cNvSpPr/>
          <p:nvPr/>
        </p:nvSpPr>
        <p:spPr>
          <a:xfrm>
            <a:off x="4523232" y="3328416"/>
            <a:ext cx="3206496" cy="2724912"/>
          </a:xfrm>
          <a:prstGeom prst="roundRect">
            <a:avLst>
              <a:gd name="adj" fmla="val 1677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29" name="struct.pillar.3"/>
          <p:cNvSpPr/>
          <p:nvPr/>
        </p:nvSpPr>
        <p:spPr>
          <a:xfrm>
            <a:off x="8186928" y="777240"/>
            <a:ext cx="3608832" cy="5477256"/>
          </a:xfrm>
          <a:prstGeom prst="roundRect">
            <a:avLst>
              <a:gd name="adj" fmla="val 126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30" name="struct.pillar.3.head"/>
          <p:cNvSpPr/>
          <p:nvPr/>
        </p:nvSpPr>
        <p:spPr>
          <a:xfrm>
            <a:off x="8186928" y="777240"/>
            <a:ext cx="3608832" cy="512064"/>
          </a:xfrm>
          <a:prstGeom prst="roundRect">
            <a:avLst>
              <a:gd name="adj" fmla="val 8928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2" name="slot.pillar.3.name"/>
          <p:cNvSpPr txBox="1"/>
          <p:nvPr/>
        </p:nvSpPr>
        <p:spPr>
          <a:xfrm>
            <a:off x="8790432" y="850392"/>
            <a:ext cx="28041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pillar.3.head"/>
          <p:cNvSpPr txBox="1"/>
          <p:nvPr/>
        </p:nvSpPr>
        <p:spPr>
          <a:xfrm>
            <a:off x="8388096" y="1453896"/>
            <a:ext cx="32064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Approve, edit or reject before release</a:t>
            </a:r>
            <a:endParaRPr lang="en-US" sz="15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" name="struct.pillar.3.rule"/>
          <p:cNvCxnSpPr/>
          <p:nvPr/>
        </p:nvCxnSpPr>
        <p:spPr>
          <a:xfrm>
            <a:off x="8388096" y="2148840"/>
            <a:ext cx="3206496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35" name="struct.pillar.3.dot.1"/>
          <p:cNvSpPr/>
          <p:nvPr/>
        </p:nvSpPr>
        <p:spPr>
          <a:xfrm>
            <a:off x="8406384" y="2368296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6" name="slot.pillar.3.lead.1"/>
          <p:cNvSpPr txBox="1"/>
          <p:nvPr/>
        </p:nvSpPr>
        <p:spPr>
          <a:xfrm>
            <a:off x="8570976" y="2276856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Reviewer signature on each brief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truct.pillar.3.dot.2"/>
          <p:cNvSpPr/>
          <p:nvPr/>
        </p:nvSpPr>
        <p:spPr>
          <a:xfrm>
            <a:off x="8406384" y="2670048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8" name="slot.pillar.3.lead.2"/>
          <p:cNvSpPr txBox="1"/>
          <p:nvPr/>
        </p:nvSpPr>
        <p:spPr>
          <a:xfrm>
            <a:off x="8570976" y="2578608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Reason kept for every edit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truct.pillar.3.dot.3"/>
          <p:cNvSpPr/>
          <p:nvPr/>
        </p:nvSpPr>
        <p:spPr>
          <a:xfrm>
            <a:off x="8406384" y="2971800"/>
            <a:ext cx="73152" cy="731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40" name="slot.pillar.3.lead.3"/>
          <p:cNvSpPr txBox="1"/>
          <p:nvPr/>
        </p:nvSpPr>
        <p:spPr>
          <a:xfrm>
            <a:off x="8570976" y="2880360"/>
            <a:ext cx="302361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Release log by territory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truct.pillar.3.well"/>
          <p:cNvSpPr/>
          <p:nvPr/>
        </p:nvSpPr>
        <p:spPr>
          <a:xfrm>
            <a:off x="8388096" y="3328416"/>
            <a:ext cx="3206496" cy="2724912"/>
          </a:xfrm>
          <a:prstGeom prst="roundRect">
            <a:avLst>
              <a:gd name="adj" fmla="val 1677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42" name="slot.well.1.label"/>
          <p:cNvSpPr txBox="1"/>
          <p:nvPr/>
        </p:nvSpPr>
        <p:spPr>
          <a:xfrm>
            <a:off x="804672" y="3438144"/>
            <a:ext cx="291388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Ranked signals this week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well.1.col.1"/>
          <p:cNvSpPr txBox="1"/>
          <p:nvPr/>
        </p:nvSpPr>
        <p:spPr>
          <a:xfrm>
            <a:off x="804672" y="3803904"/>
            <a:ext cx="786384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Region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well.1.col.2"/>
          <p:cNvSpPr txBox="1"/>
          <p:nvPr/>
        </p:nvSpPr>
        <p:spPr>
          <a:xfrm>
            <a:off x="1591056" y="3803904"/>
            <a:ext cx="1560576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Signal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well.1.col.3"/>
          <p:cNvSpPr txBox="1"/>
          <p:nvPr/>
        </p:nvSpPr>
        <p:spPr>
          <a:xfrm>
            <a:off x="3151632" y="3803904"/>
            <a:ext cx="566928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Priority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6" name="struct.well.1.rule.0"/>
          <p:cNvCxnSpPr/>
          <p:nvPr/>
        </p:nvCxnSpPr>
        <p:spPr>
          <a:xfrm>
            <a:off x="804672" y="4078224"/>
            <a:ext cx="2913888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47" name="slot.well.1.cell.1.1"/>
          <p:cNvSpPr txBox="1"/>
          <p:nvPr/>
        </p:nvSpPr>
        <p:spPr>
          <a:xfrm>
            <a:off x="804672" y="4169664"/>
            <a:ext cx="78638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North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well.1.cell.1.2"/>
          <p:cNvSpPr txBox="1"/>
          <p:nvPr/>
        </p:nvSpPr>
        <p:spPr>
          <a:xfrm>
            <a:off x="1591056" y="4169664"/>
            <a:ext cx="156057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Price change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well.1.cell.1.3"/>
          <p:cNvSpPr txBox="1"/>
          <p:nvPr/>
        </p:nvSpPr>
        <p:spPr>
          <a:xfrm>
            <a:off x="3151632" y="4169664"/>
            <a:ext cx="56692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High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0" name="struct.well.1.rule.1"/>
          <p:cNvCxnSpPr/>
          <p:nvPr/>
        </p:nvCxnSpPr>
        <p:spPr>
          <a:xfrm>
            <a:off x="804672" y="4517136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1" name="slot.well.1.cell.2.1"/>
          <p:cNvSpPr txBox="1"/>
          <p:nvPr/>
        </p:nvSpPr>
        <p:spPr>
          <a:xfrm>
            <a:off x="804672" y="4572000"/>
            <a:ext cx="78638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Coastal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well.1.cell.2.2"/>
          <p:cNvSpPr txBox="1"/>
          <p:nvPr/>
        </p:nvSpPr>
        <p:spPr>
          <a:xfrm>
            <a:off x="1591056" y="4572000"/>
            <a:ext cx="156057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New trial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well.1.cell.2.3"/>
          <p:cNvSpPr txBox="1"/>
          <p:nvPr/>
        </p:nvSpPr>
        <p:spPr>
          <a:xfrm>
            <a:off x="3151632" y="4572000"/>
            <a:ext cx="56692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High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4" name="struct.well.1.rule.2"/>
          <p:cNvCxnSpPr/>
          <p:nvPr/>
        </p:nvCxnSpPr>
        <p:spPr>
          <a:xfrm>
            <a:off x="804672" y="4919472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5" name="slot.well.1.cell.3.1"/>
          <p:cNvSpPr txBox="1"/>
          <p:nvPr/>
        </p:nvSpPr>
        <p:spPr>
          <a:xfrm>
            <a:off x="804672" y="4974336"/>
            <a:ext cx="78638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Inland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well.1.cell.3.2"/>
          <p:cNvSpPr txBox="1"/>
          <p:nvPr/>
        </p:nvSpPr>
        <p:spPr>
          <a:xfrm>
            <a:off x="1591056" y="4974336"/>
            <a:ext cx="156057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Label update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well.1.cell.3.3"/>
          <p:cNvSpPr txBox="1"/>
          <p:nvPr/>
        </p:nvSpPr>
        <p:spPr>
          <a:xfrm>
            <a:off x="3151632" y="4974336"/>
            <a:ext cx="56692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Mid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8" name="struct.well.1.rule.3"/>
          <p:cNvCxnSpPr/>
          <p:nvPr/>
        </p:nvCxnSpPr>
        <p:spPr>
          <a:xfrm>
            <a:off x="804672" y="5321808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9" name="slot.well.1.cell.4.1"/>
          <p:cNvSpPr txBox="1"/>
          <p:nvPr/>
        </p:nvSpPr>
        <p:spPr>
          <a:xfrm>
            <a:off x="804672" y="5376672"/>
            <a:ext cx="78638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Delta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well.1.cell.4.2"/>
          <p:cNvSpPr txBox="1"/>
          <p:nvPr/>
        </p:nvSpPr>
        <p:spPr>
          <a:xfrm>
            <a:off x="1591056" y="5376672"/>
            <a:ext cx="1560576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Congress abstract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well.1.cell.4.3"/>
          <p:cNvSpPr txBox="1"/>
          <p:nvPr/>
        </p:nvSpPr>
        <p:spPr>
          <a:xfrm>
            <a:off x="3151632" y="5376672"/>
            <a:ext cx="56692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Low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lot.well.1.basis"/>
          <p:cNvSpPr txBox="1"/>
          <p:nvPr/>
        </p:nvSpPr>
        <p:spPr>
          <a:xfrm>
            <a:off x="804672" y="5705856"/>
            <a:ext cx="2913888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Illustrative sample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lot.well.2.label"/>
          <p:cNvSpPr txBox="1"/>
          <p:nvPr/>
        </p:nvSpPr>
        <p:spPr>
          <a:xfrm>
            <a:off x="4669536" y="3438144"/>
            <a:ext cx="291388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Brief week, North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well.2.day.1"/>
          <p:cNvSpPr txBox="1"/>
          <p:nvPr/>
        </p:nvSpPr>
        <p:spPr>
          <a:xfrm>
            <a:off x="5364480" y="3803904"/>
            <a:ext cx="443789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Mon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lot.well.2.day.2"/>
          <p:cNvSpPr txBox="1"/>
          <p:nvPr/>
        </p:nvSpPr>
        <p:spPr>
          <a:xfrm>
            <a:off x="5808269" y="3803904"/>
            <a:ext cx="443789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Tue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well.2.day.3"/>
          <p:cNvSpPr txBox="1"/>
          <p:nvPr/>
        </p:nvSpPr>
        <p:spPr>
          <a:xfrm>
            <a:off x="6252058" y="3803904"/>
            <a:ext cx="443789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Wed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well.2.day.4"/>
          <p:cNvSpPr txBox="1"/>
          <p:nvPr/>
        </p:nvSpPr>
        <p:spPr>
          <a:xfrm>
            <a:off x="6695846" y="3803904"/>
            <a:ext cx="443789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Thu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well.2.day.5"/>
          <p:cNvSpPr txBox="1"/>
          <p:nvPr/>
        </p:nvSpPr>
        <p:spPr>
          <a:xfrm>
            <a:off x="7139635" y="3803904"/>
            <a:ext cx="443789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Fri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9" name="struct.well.2.rule.0"/>
          <p:cNvCxnSpPr/>
          <p:nvPr/>
        </p:nvCxnSpPr>
        <p:spPr>
          <a:xfrm>
            <a:off x="4669536" y="4078224"/>
            <a:ext cx="2913888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70" name="slot.well.2.lane.1"/>
          <p:cNvSpPr txBox="1"/>
          <p:nvPr/>
        </p:nvSpPr>
        <p:spPr>
          <a:xfrm>
            <a:off x="4669536" y="4213098"/>
            <a:ext cx="69494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Rank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truct.well.2.slot.1"/>
          <p:cNvSpPr/>
          <p:nvPr/>
        </p:nvSpPr>
        <p:spPr>
          <a:xfrm>
            <a:off x="5391912" y="4203954"/>
            <a:ext cx="832714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72" name="slot.well.2.slot.1"/>
          <p:cNvSpPr txBox="1"/>
          <p:nvPr/>
        </p:nvSpPr>
        <p:spPr>
          <a:xfrm>
            <a:off x="5428488" y="4203954"/>
            <a:ext cx="759562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Shortlist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3" name="struct.well.2.rule.1"/>
          <p:cNvCxnSpPr/>
          <p:nvPr/>
        </p:nvCxnSpPr>
        <p:spPr>
          <a:xfrm>
            <a:off x="4669536" y="4567428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74" name="slot.well.2.lane.2"/>
          <p:cNvSpPr txBox="1"/>
          <p:nvPr/>
        </p:nvSpPr>
        <p:spPr>
          <a:xfrm>
            <a:off x="4669536" y="4665726"/>
            <a:ext cx="69494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truct.well.2.slot.2"/>
          <p:cNvSpPr/>
          <p:nvPr/>
        </p:nvSpPr>
        <p:spPr>
          <a:xfrm>
            <a:off x="5835701" y="4656582"/>
            <a:ext cx="832714" cy="274320"/>
          </a:xfrm>
          <a:prstGeom prst="roundRect">
            <a:avLst>
              <a:gd name="adj" fmla="val 13333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6" name="slot.well.2.slot.2"/>
          <p:cNvSpPr txBox="1"/>
          <p:nvPr/>
        </p:nvSpPr>
        <p:spPr>
          <a:xfrm>
            <a:off x="5872277" y="4656582"/>
            <a:ext cx="759562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7" name="struct.well.2.rule.2"/>
          <p:cNvCxnSpPr/>
          <p:nvPr/>
        </p:nvCxnSpPr>
        <p:spPr>
          <a:xfrm>
            <a:off x="4669536" y="5020056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78" name="slot.well.2.lane.3"/>
          <p:cNvSpPr txBox="1"/>
          <p:nvPr/>
        </p:nvSpPr>
        <p:spPr>
          <a:xfrm>
            <a:off x="4669536" y="5118354"/>
            <a:ext cx="69494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truct.well.2.slot.3"/>
          <p:cNvSpPr/>
          <p:nvPr/>
        </p:nvSpPr>
        <p:spPr>
          <a:xfrm>
            <a:off x="6279490" y="5109210"/>
            <a:ext cx="832714" cy="274320"/>
          </a:xfrm>
          <a:prstGeom prst="roundRect">
            <a:avLst>
              <a:gd name="adj" fmla="val 13333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80" name="slot.well.2.slot.3"/>
          <p:cNvSpPr txBox="1"/>
          <p:nvPr/>
        </p:nvSpPr>
        <p:spPr>
          <a:xfrm>
            <a:off x="6316066" y="5109210"/>
            <a:ext cx="759562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Signed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1" name="struct.well.2.rule.3"/>
          <p:cNvCxnSpPr/>
          <p:nvPr/>
        </p:nvCxnSpPr>
        <p:spPr>
          <a:xfrm>
            <a:off x="4669536" y="5472684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82" name="slot.well.2.lane.4"/>
          <p:cNvSpPr txBox="1"/>
          <p:nvPr/>
        </p:nvSpPr>
        <p:spPr>
          <a:xfrm>
            <a:off x="4669536" y="5570982"/>
            <a:ext cx="69494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Release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truct.well.2.slot.4"/>
          <p:cNvSpPr/>
          <p:nvPr/>
        </p:nvSpPr>
        <p:spPr>
          <a:xfrm>
            <a:off x="6723278" y="5561838"/>
            <a:ext cx="832714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84" name="slot.well.2.slot.4"/>
          <p:cNvSpPr txBox="1"/>
          <p:nvPr/>
        </p:nvSpPr>
        <p:spPr>
          <a:xfrm>
            <a:off x="6759854" y="5561838"/>
            <a:ext cx="759562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To reps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lot.well.3.label"/>
          <p:cNvSpPr txBox="1"/>
          <p:nvPr/>
        </p:nvSpPr>
        <p:spPr>
          <a:xfrm>
            <a:off x="8534400" y="3438144"/>
            <a:ext cx="2913888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Review log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slot.well.3.row.1.lead"/>
          <p:cNvSpPr txBox="1"/>
          <p:nvPr/>
        </p:nvSpPr>
        <p:spPr>
          <a:xfrm>
            <a:off x="8827008" y="3803904"/>
            <a:ext cx="26212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North, pricing line signed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lot.well.3.row.1.why"/>
          <p:cNvSpPr txBox="1"/>
          <p:nvPr/>
        </p:nvSpPr>
        <p:spPr>
          <a:xfrm>
            <a:off x="8827008" y="3995928"/>
            <a:ext cx="262128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Payer notice linked and checked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9" name="struct.well.3.rule.1"/>
          <p:cNvCxnSpPr/>
          <p:nvPr/>
        </p:nvCxnSpPr>
        <p:spPr>
          <a:xfrm>
            <a:off x="8534400" y="4215384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91" name="slot.well.3.row.2.lead"/>
          <p:cNvSpPr txBox="1"/>
          <p:nvPr/>
        </p:nvSpPr>
        <p:spPr>
          <a:xfrm>
            <a:off x="8827008" y="4261104"/>
            <a:ext cx="26212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Coastal, trial line edited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lot.well.3.row.2.why"/>
          <p:cNvSpPr txBox="1"/>
          <p:nvPr/>
        </p:nvSpPr>
        <p:spPr>
          <a:xfrm>
            <a:off x="8827008" y="4453128"/>
            <a:ext cx="262128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Wording matched to the registry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3" name="struct.well.3.rule.2"/>
          <p:cNvCxnSpPr/>
          <p:nvPr/>
        </p:nvCxnSpPr>
        <p:spPr>
          <a:xfrm>
            <a:off x="8534400" y="4672584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95" name="slot.well.3.row.3.lead"/>
          <p:cNvSpPr txBox="1"/>
          <p:nvPr/>
        </p:nvSpPr>
        <p:spPr>
          <a:xfrm>
            <a:off x="8827008" y="4718304"/>
            <a:ext cx="26212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Inland, label line returned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slot.well.3.row.3.why"/>
          <p:cNvSpPr txBox="1"/>
          <p:nvPr/>
        </p:nvSpPr>
        <p:spPr>
          <a:xfrm>
            <a:off x="8827008" y="4910328"/>
            <a:ext cx="262128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not on approved list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7" name="struct.well.3.rule.3"/>
          <p:cNvCxnSpPr/>
          <p:nvPr/>
        </p:nvCxnSpPr>
        <p:spPr>
          <a:xfrm>
            <a:off x="8534400" y="5129784"/>
            <a:ext cx="291388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99" name="slot.well.3.row.4.lead"/>
          <p:cNvSpPr txBox="1"/>
          <p:nvPr/>
        </p:nvSpPr>
        <p:spPr>
          <a:xfrm>
            <a:off x="8827008" y="5175504"/>
            <a:ext cx="26212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Delta, congress line signed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slot.well.3.row.4.why"/>
          <p:cNvSpPr txBox="1"/>
          <p:nvPr/>
        </p:nvSpPr>
        <p:spPr>
          <a:xfrm>
            <a:off x="8827008" y="5367528"/>
            <a:ext cx="262128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Abstract linked to its session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slot.well.3.key.1"/>
          <p:cNvSpPr txBox="1"/>
          <p:nvPr/>
        </p:nvSpPr>
        <p:spPr>
          <a:xfrm>
            <a:off x="8735568" y="5705856"/>
            <a:ext cx="82296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Signed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slot.well.3.key.2"/>
          <p:cNvSpPr txBox="1"/>
          <p:nvPr/>
        </p:nvSpPr>
        <p:spPr>
          <a:xfrm>
            <a:off x="9832848" y="5705856"/>
            <a:ext cx="822960" cy="21945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Returned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slot.pillar.1.icon"/>
          <p:cNvSpPr/>
          <p:nvPr/>
        </p:nvSpPr>
        <p:spPr>
          <a:xfrm>
            <a:off x="658368" y="89611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2286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06" name="slot.pillar.2.icon"/>
          <p:cNvSpPr/>
          <p:nvPr/>
        </p:nvSpPr>
        <p:spPr>
          <a:xfrm>
            <a:off x="4523232" y="89611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286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07" name="slot.pillar.3.icon"/>
          <p:cNvSpPr/>
          <p:nvPr/>
        </p:nvSpPr>
        <p:spPr>
          <a:xfrm>
            <a:off x="8388096" y="89611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2860" cap="rnd">
            <a:solidFill>
              <a:schemeClr val="accent1">
                <a:lumMod val="50000"/>
                <a:lumOff val="5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08" name="slot.well.3.state.1"/>
          <p:cNvSpPr/>
          <p:nvPr/>
        </p:nvSpPr>
        <p:spPr>
          <a:xfrm>
            <a:off x="8534400" y="384048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9" name="slot.well.3.state.2"/>
          <p:cNvSpPr/>
          <p:nvPr/>
        </p:nvSpPr>
        <p:spPr>
          <a:xfrm>
            <a:off x="8534400" y="429768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0" name="slot.well.3.state.3"/>
          <p:cNvSpPr/>
          <p:nvPr/>
        </p:nvSpPr>
        <p:spPr>
          <a:xfrm>
            <a:off x="8534400" y="475488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5000" y="9000"/>
                </a:moveTo>
                <a:lnTo>
                  <a:pt x="9000" y="15000"/>
                </a:lnTo>
                <a:moveTo>
                  <a:pt x="9000" y="9000"/>
                </a:moveTo>
                <a:lnTo>
                  <a:pt x="15000" y="15000"/>
                </a:lnTo>
              </a:path>
            </a:pathLst>
          </a:custGeom>
          <a:noFill/>
          <a:ln w="1651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11" name="slot.well.3.state.4"/>
          <p:cNvSpPr/>
          <p:nvPr/>
        </p:nvSpPr>
        <p:spPr>
          <a:xfrm>
            <a:off x="8534400" y="521208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2" name="slot.well.3.key.1.icon"/>
          <p:cNvSpPr/>
          <p:nvPr/>
        </p:nvSpPr>
        <p:spPr>
          <a:xfrm>
            <a:off x="8534400" y="574243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3" name="slot.well.3.key.2.icon"/>
          <p:cNvSpPr/>
          <p:nvPr/>
        </p:nvSpPr>
        <p:spPr>
          <a:xfrm>
            <a:off x="9631680" y="574243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5000" y="9000"/>
                </a:moveTo>
                <a:lnTo>
                  <a:pt x="9000" y="15000"/>
                </a:lnTo>
                <a:moveTo>
                  <a:pt x="9000" y="9000"/>
                </a:moveTo>
                <a:lnTo>
                  <a:pt x="15000" y="15000"/>
                </a:lnTo>
              </a:path>
            </a:pathLst>
          </a:custGeom>
          <a:noFill/>
          <a:ln w="1206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hub-and-spoke:half-wheel-layered-base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reviewed brief core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serves every team that faces the field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fan"/>
          <p:cNvSpPr/>
          <p:nvPr/>
        </p:nvSpPr>
        <p:spPr>
          <a:xfrm>
            <a:off x="1805939" y="1161288"/>
            <a:ext cx="8540496" cy="2450592"/>
          </a:xfrm>
          <a:custGeom>
            <a:avLst/>
            <a:gdLst/>
            <a:ahLst/>
            <a:cxnLst/>
            <a:rect l="l" t="t" r="r" b="b"/>
            <a:pathLst>
              <a:path w="8540496" h="2450592">
                <a:moveTo>
                  <a:pt x="0" y="2450592"/>
                </a:moveTo>
                <a:arcTo wR="4270248" hR="2450592" stAng="10800000" swAng="10800000"/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1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struct.ring.outer"/>
          <p:cNvSpPr/>
          <p:nvPr/>
        </p:nvSpPr>
        <p:spPr>
          <a:xfrm>
            <a:off x="4658868" y="2194560"/>
            <a:ext cx="2834640" cy="1417320"/>
          </a:xfrm>
          <a:custGeom>
            <a:avLst/>
            <a:gdLst/>
            <a:ahLst/>
            <a:cxnLst/>
            <a:rect l="l" t="t" r="r" b="b"/>
            <a:pathLst>
              <a:path w="2834640" h="1417320">
                <a:moveTo>
                  <a:pt x="0" y="1417320"/>
                </a:moveTo>
                <a:arcTo wR="1417320" hR="1417320" stAng="10800000" swAng="10800000"/>
                <a:lnTo>
                  <a:pt x="2514600" y="1417320"/>
                </a:lnTo>
                <a:arcTo wR="1097280" hR="1097280" stAng="0" swAng="-10800000"/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3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truct.base.1"/>
          <p:cNvSpPr/>
          <p:nvPr/>
        </p:nvSpPr>
        <p:spPr>
          <a:xfrm>
            <a:off x="1700784" y="5358384"/>
            <a:ext cx="4197096" cy="932688"/>
          </a:xfrm>
          <a:prstGeom prst="roundRect">
            <a:avLst>
              <a:gd fmla="val 16667" name="adj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1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truct.base.2"/>
          <p:cNvSpPr/>
          <p:nvPr/>
        </p:nvSpPr>
        <p:spPr>
          <a:xfrm>
            <a:off x="6236208" y="5358384"/>
            <a:ext cx="4197096" cy="932688"/>
          </a:xfrm>
          <a:prstGeom prst="roundRect">
            <a:avLst>
              <a:gd fmla="val 16667" name="adj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1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truct.ring.inner"/>
          <p:cNvSpPr/>
          <p:nvPr/>
        </p:nvSpPr>
        <p:spPr>
          <a:xfrm>
            <a:off x="4978907" y="251460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0" y="1097280"/>
                </a:moveTo>
                <a:arcTo wR="1097280" hR="1097280" stAng="10800000" swAng="10800000"/>
                <a:lnTo>
                  <a:pt x="1993393" y="1097280"/>
                </a:lnTo>
                <a:arcTo wR="896113" hR="896113" stAng="0" swAng="-10800000"/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1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truct.hub"/>
          <p:cNvSpPr/>
          <p:nvPr/>
        </p:nvSpPr>
        <p:spPr>
          <a:xfrm>
            <a:off x="5180075" y="2715768"/>
            <a:ext cx="1792224" cy="896112"/>
          </a:xfrm>
          <a:custGeom>
            <a:avLst/>
            <a:gdLst/>
            <a:ahLst/>
            <a:cxnLst/>
            <a:rect l="l" t="t" r="r" b="b"/>
            <a:pathLst>
              <a:path w="1792224" h="896112">
                <a:moveTo>
                  <a:pt x="0" y="896112"/>
                </a:moveTo>
                <a:arcTo wR="896112" hR="896112" stAng="10800000" swAng="10800000"/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Ctr="0" anchor="ctr" bIns="40775" lIns="81600" spcFirstLastPara="1" rIns="81600" wrap="square" tIns="40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b="0" i="0" sz="11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slot.hub"/>
          <p:cNvSpPr txBox="1"/>
          <p:nvPr/>
        </p:nvSpPr>
        <p:spPr>
          <a:xfrm>
            <a:off x="5390388" y="2971800"/>
            <a:ext cx="1371600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b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Field brief core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" name="struct.spoke.1"/>
          <p:cNvCxnSpPr/>
          <p:nvPr/>
        </p:nvCxnSpPr>
        <p:spPr>
          <a:xfrm flipH="1" flipV="1">
            <a:off x="2621485" y="2171458"/>
            <a:ext cx="2146537" cy="894988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  <a:effectLst/>
        </p:spPr>
      </p:cxnSp>
      <p:cxnSp>
        <p:nvCxnSpPr>
          <p:cNvPr id="11" name="struct.spoke.2"/>
          <p:cNvCxnSpPr/>
          <p:nvPr/>
        </p:nvCxnSpPr>
        <p:spPr>
          <a:xfrm flipH="1" flipV="1">
            <a:off x="4756609" y="1281229"/>
            <a:ext cx="621272" cy="1097296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  <a:effectLst/>
        </p:spPr>
      </p:cxnSp>
      <p:cxnSp>
        <p:nvCxnSpPr>
          <p:cNvPr id="12" name="struct.spoke.3"/>
          <p:cNvCxnSpPr/>
          <p:nvPr/>
        </p:nvCxnSpPr>
        <p:spPr>
          <a:xfrm flipV="1">
            <a:off x="6774495" y="1281229"/>
            <a:ext cx="621272" cy="1097296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  <a:effectLst/>
        </p:spPr>
      </p:cxnSp>
      <p:cxnSp>
        <p:nvCxnSpPr>
          <p:cNvPr id="13" name="struct.spoke.4"/>
          <p:cNvCxnSpPr/>
          <p:nvPr/>
        </p:nvCxnSpPr>
        <p:spPr>
          <a:xfrm flipV="1">
            <a:off x="7384354" y="2171458"/>
            <a:ext cx="2146537" cy="894988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5" name="slot.sector.1.label"/>
          <p:cNvSpPr txBox="1"/>
          <p:nvPr/>
        </p:nvSpPr>
        <p:spPr>
          <a:xfrm>
            <a:off x="2666387" y="3109220"/>
            <a:ext cx="113385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sales reps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sector.2.label"/>
          <p:cNvSpPr txBox="1"/>
          <p:nvPr/>
        </p:nvSpPr>
        <p:spPr>
          <a:xfrm>
            <a:off x="3501269" y="2053256"/>
            <a:ext cx="113385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Regional managers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sector.3.label"/>
          <p:cNvSpPr txBox="1"/>
          <p:nvPr/>
        </p:nvSpPr>
        <p:spPr>
          <a:xfrm>
            <a:off x="5509260" y="1727850"/>
            <a:ext cx="113385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affairs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sector.4.label"/>
          <p:cNvSpPr txBox="1"/>
          <p:nvPr/>
        </p:nvSpPr>
        <p:spPr>
          <a:xfrm>
            <a:off x="7517251" y="2053256"/>
            <a:ext cx="113385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Brand teams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sector.5.label"/>
          <p:cNvSpPr txBox="1"/>
          <p:nvPr/>
        </p:nvSpPr>
        <p:spPr>
          <a:xfrm>
            <a:off x="8352133" y="3109220"/>
            <a:ext cx="113385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Market access teams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card.1.tab"/>
          <p:cNvSpPr/>
          <p:nvPr/>
        </p:nvSpPr>
        <p:spPr>
          <a:xfrm>
            <a:off x="1700784" y="3822192"/>
            <a:ext cx="365760" cy="987552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5" name="struct.card.1"/>
          <p:cNvSpPr/>
          <p:nvPr/>
        </p:nvSpPr>
        <p:spPr>
          <a:xfrm>
            <a:off x="2103120" y="3822192"/>
            <a:ext cx="3794760" cy="987552"/>
          </a:xfrm>
          <a:prstGeom prst="roundRect">
            <a:avLst>
              <a:gd name="adj" fmla="val 46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26" name="slot.card.1.tab"/>
          <p:cNvSpPr/>
          <p:nvPr/>
        </p:nvSpPr>
        <p:spPr>
          <a:xfrm rot="-5400000">
            <a:off x="1453896" y="4178807"/>
            <a:ext cx="859536" cy="27432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Scan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card.1.item.1.label"/>
          <p:cNvSpPr txBox="1"/>
          <p:nvPr/>
        </p:nvSpPr>
        <p:spPr>
          <a:xfrm>
            <a:off x="2231136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Approved feeds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card.1.item.2.label"/>
          <p:cNvSpPr txBox="1"/>
          <p:nvPr/>
        </p:nvSpPr>
        <p:spPr>
          <a:xfrm>
            <a:off x="3143250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Repeat filter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1" name="struct.card.1.rule.1"/>
          <p:cNvCxnSpPr/>
          <p:nvPr/>
        </p:nvCxnSpPr>
        <p:spPr>
          <a:xfrm>
            <a:off x="3088386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3" name="slot.card.1.item.3.label"/>
          <p:cNvSpPr txBox="1"/>
          <p:nvPr/>
        </p:nvSpPr>
        <p:spPr>
          <a:xfrm>
            <a:off x="4055364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Territory ranking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" name="struct.card.1.rule.2"/>
          <p:cNvCxnSpPr/>
          <p:nvPr/>
        </p:nvCxnSpPr>
        <p:spPr>
          <a:xfrm>
            <a:off x="4000500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6" name="slot.card.1.item.4.label"/>
          <p:cNvSpPr txBox="1"/>
          <p:nvPr/>
        </p:nvSpPr>
        <p:spPr>
          <a:xfrm>
            <a:off x="4967478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Signal log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7" name="struct.card.1.rule.3"/>
          <p:cNvCxnSpPr/>
          <p:nvPr/>
        </p:nvCxnSpPr>
        <p:spPr>
          <a:xfrm>
            <a:off x="4912614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8" name="struct.card.2.tab"/>
          <p:cNvSpPr/>
          <p:nvPr/>
        </p:nvSpPr>
        <p:spPr>
          <a:xfrm>
            <a:off x="10067544" y="3822192"/>
            <a:ext cx="365760" cy="987552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9" name="struct.card.2"/>
          <p:cNvSpPr/>
          <p:nvPr/>
        </p:nvSpPr>
        <p:spPr>
          <a:xfrm>
            <a:off x="6236208" y="3822192"/>
            <a:ext cx="3794760" cy="987552"/>
          </a:xfrm>
          <a:prstGeom prst="roundRect">
            <a:avLst>
              <a:gd name="adj" fmla="val 46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40" name="slot.card.2.tab"/>
          <p:cNvSpPr/>
          <p:nvPr/>
        </p:nvSpPr>
        <p:spPr>
          <a:xfrm flipH="1" rot="5400000">
            <a:off x="9820655" y="4178807"/>
            <a:ext cx="859536" cy="27432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card.2.item.1.label"/>
          <p:cNvSpPr txBox="1"/>
          <p:nvPr/>
        </p:nvSpPr>
        <p:spPr>
          <a:xfrm>
            <a:off x="6364224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signoff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card.2.item.2.label"/>
          <p:cNvSpPr txBox="1"/>
          <p:nvPr/>
        </p:nvSpPr>
        <p:spPr>
          <a:xfrm>
            <a:off x="7276338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links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5" name="struct.card.2.rule.1"/>
          <p:cNvCxnSpPr/>
          <p:nvPr/>
        </p:nvCxnSpPr>
        <p:spPr>
          <a:xfrm>
            <a:off x="7221474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47" name="slot.card.2.item.3.label"/>
          <p:cNvSpPr txBox="1"/>
          <p:nvPr/>
        </p:nvSpPr>
        <p:spPr>
          <a:xfrm>
            <a:off x="8188452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Edit history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8" name="struct.card.2.rule.2"/>
          <p:cNvCxnSpPr/>
          <p:nvPr/>
        </p:nvCxnSpPr>
        <p:spPr>
          <a:xfrm>
            <a:off x="8133588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0" name="slot.card.2.item.4.label"/>
          <p:cNvSpPr txBox="1"/>
          <p:nvPr/>
        </p:nvSpPr>
        <p:spPr>
          <a:xfrm>
            <a:off x="9100566" y="4315968"/>
            <a:ext cx="80238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Release rule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1" name="struct.card.2.rule.3"/>
          <p:cNvCxnSpPr/>
          <p:nvPr/>
        </p:nvCxnSpPr>
        <p:spPr>
          <a:xfrm>
            <a:off x="9045702" y="3968496"/>
            <a:ext cx="0" cy="69494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2" name="slot.base.1.head"/>
          <p:cNvSpPr txBox="1"/>
          <p:nvPr/>
        </p:nvSpPr>
        <p:spPr>
          <a:xfrm>
            <a:off x="1901952" y="5449824"/>
            <a:ext cx="27432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Public signal sources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base.1.item.1.label"/>
          <p:cNvSpPr txBox="1"/>
          <p:nvPr/>
        </p:nvSpPr>
        <p:spPr>
          <a:xfrm>
            <a:off x="2185416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Registries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base.1.item.2.label"/>
          <p:cNvSpPr txBox="1"/>
          <p:nvPr/>
        </p:nvSpPr>
        <p:spPr>
          <a:xfrm>
            <a:off x="3134106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Press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base.1.item.3.label"/>
          <p:cNvSpPr txBox="1"/>
          <p:nvPr/>
        </p:nvSpPr>
        <p:spPr>
          <a:xfrm>
            <a:off x="4082796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Congress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base.1.item.4.label"/>
          <p:cNvSpPr txBox="1"/>
          <p:nvPr/>
        </p:nvSpPr>
        <p:spPr>
          <a:xfrm>
            <a:off x="5031486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Payers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truct.funnel.1.top"/>
          <p:cNvSpPr/>
          <p:nvPr/>
        </p:nvSpPr>
        <p:spPr>
          <a:xfrm flipV="1">
            <a:off x="3387852" y="4809744"/>
            <a:ext cx="822960" cy="274320"/>
          </a:xfrm>
          <a:prstGeom prst="trapezoid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62" name="struct.funnel.1.stem"/>
          <p:cNvSpPr/>
          <p:nvPr/>
        </p:nvSpPr>
        <p:spPr>
          <a:xfrm>
            <a:off x="3671316" y="5084064"/>
            <a:ext cx="256032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63" name="slot.base.2.head"/>
          <p:cNvSpPr txBox="1"/>
          <p:nvPr/>
        </p:nvSpPr>
        <p:spPr>
          <a:xfrm>
            <a:off x="6437376" y="5449824"/>
            <a:ext cx="27432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Governed data foundation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lot.base.2.item.1.label"/>
          <p:cNvSpPr txBox="1"/>
          <p:nvPr/>
        </p:nvSpPr>
        <p:spPr>
          <a:xfrm>
            <a:off x="6720840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Ledger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base.2.item.2.label"/>
          <p:cNvSpPr txBox="1"/>
          <p:nvPr/>
        </p:nvSpPr>
        <p:spPr>
          <a:xfrm>
            <a:off x="7669530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Lineage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lot.base.2.item.3.label"/>
          <p:cNvSpPr txBox="1"/>
          <p:nvPr/>
        </p:nvSpPr>
        <p:spPr>
          <a:xfrm>
            <a:off x="8618220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Access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lot.base.2.item.4.label"/>
          <p:cNvSpPr txBox="1"/>
          <p:nvPr/>
        </p:nvSpPr>
        <p:spPr>
          <a:xfrm>
            <a:off x="9566910" y="5824728"/>
            <a:ext cx="66522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Audit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truct.funnel.2.top"/>
          <p:cNvSpPr/>
          <p:nvPr/>
        </p:nvSpPr>
        <p:spPr>
          <a:xfrm flipV="1">
            <a:off x="7923276" y="4809744"/>
            <a:ext cx="822960" cy="274320"/>
          </a:xfrm>
          <a:prstGeom prst="trapezoid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73" name="struct.funnel.2.stem"/>
          <p:cNvSpPr/>
          <p:nvPr/>
        </p:nvSpPr>
        <p:spPr>
          <a:xfrm>
            <a:off x="8206740" y="5084064"/>
            <a:ext cx="256032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74" name="slot.sector.1.icon"/>
          <p:cNvSpPr/>
          <p:nvPr/>
        </p:nvSpPr>
        <p:spPr>
          <a:xfrm>
            <a:off x="3059579" y="2716028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5" name="slot.sector.2.icon"/>
          <p:cNvSpPr/>
          <p:nvPr/>
        </p:nvSpPr>
        <p:spPr>
          <a:xfrm>
            <a:off x="3894461" y="166006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106" y="5553"/>
                </a:moveTo>
                <a:cubicBezTo>
                  <a:pt x="14669" y="5834"/>
                  <a:pt x="15331" y="5834"/>
                  <a:pt x="15894" y="5553"/>
                </a:cubicBezTo>
                <a:lnTo>
                  <a:pt x="19553" y="3723"/>
                </a:lnTo>
                <a:cubicBezTo>
                  <a:pt x="19863" y="3568"/>
                  <a:pt x="20232" y="3585"/>
                  <a:pt x="20526" y="3767"/>
                </a:cubicBezTo>
                <a:cubicBezTo>
                  <a:pt x="20821" y="3950"/>
                  <a:pt x="21001" y="4272"/>
                  <a:pt x="21000" y="4619"/>
                </a:cubicBezTo>
                <a:lnTo>
                  <a:pt x="21000" y="17383"/>
                </a:lnTo>
                <a:cubicBezTo>
                  <a:pt x="21000" y="17762"/>
                  <a:pt x="20786" y="18108"/>
                  <a:pt x="20447" y="18277"/>
                </a:cubicBezTo>
                <a:lnTo>
                  <a:pt x="15894" y="20554"/>
                </a:lnTo>
                <a:cubicBezTo>
                  <a:pt x="15331" y="20835"/>
                  <a:pt x="14669" y="20835"/>
                  <a:pt x="14106" y="20554"/>
                </a:cubicBezTo>
                <a:lnTo>
                  <a:pt x="9894" y="18448"/>
                </a:lnTo>
                <a:cubicBezTo>
                  <a:pt x="9331" y="18167"/>
                  <a:pt x="8669" y="18167"/>
                  <a:pt x="8106" y="18448"/>
                </a:cubicBezTo>
                <a:lnTo>
                  <a:pt x="4447" y="20278"/>
                </a:lnTo>
                <a:cubicBezTo>
                  <a:pt x="4137" y="20433"/>
                  <a:pt x="3768" y="20416"/>
                  <a:pt x="3473" y="20233"/>
                </a:cubicBezTo>
                <a:cubicBezTo>
                  <a:pt x="3178" y="20051"/>
                  <a:pt x="2999" y="19728"/>
                  <a:pt x="3000" y="19381"/>
                </a:cubicBezTo>
                <a:lnTo>
                  <a:pt x="3000" y="6618"/>
                </a:lnTo>
                <a:cubicBezTo>
                  <a:pt x="3000" y="6239"/>
                  <a:pt x="3214" y="5893"/>
                  <a:pt x="3553" y="5724"/>
                </a:cubicBezTo>
                <a:lnTo>
                  <a:pt x="8106" y="3447"/>
                </a:lnTo>
                <a:cubicBezTo>
                  <a:pt x="8669" y="3166"/>
                  <a:pt x="9331" y="3166"/>
                  <a:pt x="9894" y="3447"/>
                </a:cubicBezTo>
                <a:close/>
                <a:moveTo>
                  <a:pt x="15000" y="5764"/>
                </a:moveTo>
                <a:lnTo>
                  <a:pt x="15000" y="20764"/>
                </a:lnTo>
                <a:moveTo>
                  <a:pt x="9000" y="3236"/>
                </a:moveTo>
                <a:lnTo>
                  <a:pt x="9000" y="18236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6" name="slot.sector.3.icon"/>
          <p:cNvSpPr/>
          <p:nvPr/>
        </p:nvSpPr>
        <p:spPr>
          <a:xfrm>
            <a:off x="5902452" y="1334658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2000"/>
                </a:moveTo>
                <a:lnTo>
                  <a:pt x="11000" y="4000"/>
                </a:lnTo>
                <a:moveTo>
                  <a:pt x="5000" y="2000"/>
                </a:moveTo>
                <a:lnTo>
                  <a:pt x="5000" y="4000"/>
                </a:lnTo>
                <a:moveTo>
                  <a:pt x="5000" y="3000"/>
                </a:move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9000"/>
                </a:lnTo>
                <a:cubicBezTo>
                  <a:pt x="2000" y="12314"/>
                  <a:pt x="4686" y="15000"/>
                  <a:pt x="8000" y="15000"/>
                </a:cubicBezTo>
                <a:cubicBezTo>
                  <a:pt x="11314" y="15000"/>
                  <a:pt x="14000" y="12314"/>
                  <a:pt x="14000" y="9000"/>
                </a:cubicBezTo>
                <a:lnTo>
                  <a:pt x="14000" y="5000"/>
                </a:lnTo>
                <a:cubicBezTo>
                  <a:pt x="14000" y="3895"/>
                  <a:pt x="13105" y="3000"/>
                  <a:pt x="12000" y="3000"/>
                </a:cubicBezTo>
                <a:lnTo>
                  <a:pt x="11000" y="3000"/>
                </a:lnTo>
                <a:moveTo>
                  <a:pt x="8000" y="15000"/>
                </a:moveTo>
                <a:cubicBezTo>
                  <a:pt x="8000" y="18314"/>
                  <a:pt x="10686" y="21000"/>
                  <a:pt x="14000" y="21000"/>
                </a:cubicBezTo>
                <a:cubicBezTo>
                  <a:pt x="17314" y="21000"/>
                  <a:pt x="20000" y="18314"/>
                  <a:pt x="20000" y="15000"/>
                </a:cubicBezTo>
                <a:lnTo>
                  <a:pt x="20000" y="12000"/>
                </a:lnTo>
                <a:moveTo>
                  <a:pt x="22000" y="10000"/>
                </a:moveTo>
                <a:cubicBezTo>
                  <a:pt x="22000" y="11105"/>
                  <a:pt x="21105" y="12000"/>
                  <a:pt x="20000" y="12000"/>
                </a:cubicBezTo>
                <a:cubicBezTo>
                  <a:pt x="18895" y="12000"/>
                  <a:pt x="18000" y="11105"/>
                  <a:pt x="18000" y="10000"/>
                </a:cubicBezTo>
                <a:cubicBezTo>
                  <a:pt x="18000" y="8895"/>
                  <a:pt x="18895" y="8000"/>
                  <a:pt x="20000" y="8000"/>
                </a:cubicBezTo>
                <a:cubicBezTo>
                  <a:pt x="21105" y="8000"/>
                  <a:pt x="22000" y="8895"/>
                  <a:pt x="22000" y="10000"/>
                </a:cubicBezTo>
                <a:close/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7" name="slot.sector.4.icon"/>
          <p:cNvSpPr/>
          <p:nvPr/>
        </p:nvSpPr>
        <p:spPr>
          <a:xfrm>
            <a:off x="7910443" y="166006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8" name="slot.sector.5.icon"/>
          <p:cNvSpPr/>
          <p:nvPr/>
        </p:nvSpPr>
        <p:spPr>
          <a:xfrm>
            <a:off x="8745325" y="2716028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9" name="slot.card.1.item.1.icon"/>
          <p:cNvSpPr/>
          <p:nvPr/>
        </p:nvSpPr>
        <p:spPr>
          <a:xfrm>
            <a:off x="2476881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0" name="slot.card.1.item.2.icon"/>
          <p:cNvSpPr/>
          <p:nvPr/>
        </p:nvSpPr>
        <p:spPr>
          <a:xfrm>
            <a:off x="3388995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20000"/>
                </a:moveTo>
                <a:cubicBezTo>
                  <a:pt x="10000" y="20379"/>
                  <a:pt x="10214" y="20726"/>
                  <a:pt x="10553" y="20895"/>
                </a:cubicBezTo>
                <a:lnTo>
                  <a:pt x="12553" y="21895"/>
                </a:lnTo>
                <a:cubicBezTo>
                  <a:pt x="12863" y="22050"/>
                  <a:pt x="13231" y="22033"/>
                  <a:pt x="13526" y="21851"/>
                </a:cubicBezTo>
                <a:cubicBezTo>
                  <a:pt x="13821" y="21669"/>
                  <a:pt x="14000" y="21347"/>
                  <a:pt x="14000" y="21000"/>
                </a:cubicBezTo>
                <a:lnTo>
                  <a:pt x="14000" y="14000"/>
                </a:lnTo>
                <a:cubicBezTo>
                  <a:pt x="14000" y="13504"/>
                  <a:pt x="14184" y="13027"/>
                  <a:pt x="14517" y="12659"/>
                </a:cubicBezTo>
                <a:lnTo>
                  <a:pt x="21740" y="4670"/>
                </a:lnTo>
                <a:cubicBezTo>
                  <a:pt x="22004" y="4377"/>
                  <a:pt x="22072" y="3956"/>
                  <a:pt x="21912" y="3595"/>
                </a:cubicBezTo>
                <a:cubicBezTo>
                  <a:pt x="21752" y="3234"/>
                  <a:pt x="21395" y="3001"/>
                  <a:pt x="21000" y="3000"/>
                </a:cubicBezTo>
                <a:lnTo>
                  <a:pt x="3000" y="3000"/>
                </a:lnTo>
                <a:cubicBezTo>
                  <a:pt x="2605" y="3000"/>
                  <a:pt x="2247" y="3233"/>
                  <a:pt x="2087" y="3594"/>
                </a:cubicBezTo>
                <a:cubicBezTo>
                  <a:pt x="1926" y="3955"/>
                  <a:pt x="1993" y="4377"/>
                  <a:pt x="2258" y="4670"/>
                </a:cubicBezTo>
                <a:lnTo>
                  <a:pt x="9483" y="12659"/>
                </a:lnTo>
                <a:cubicBezTo>
                  <a:pt x="9816" y="13027"/>
                  <a:pt x="10000" y="13504"/>
                  <a:pt x="10000" y="14000"/>
                </a:cubicBezTo>
                <a:close/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1" name="slot.card.1.item.3.icon"/>
          <p:cNvSpPr/>
          <p:nvPr/>
        </p:nvSpPr>
        <p:spPr>
          <a:xfrm>
            <a:off x="4301109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5000"/>
                </a:moveTo>
                <a:lnTo>
                  <a:pt x="21000" y="5000"/>
                </a:lnTo>
                <a:moveTo>
                  <a:pt x="11000" y="12000"/>
                </a:moveTo>
                <a:lnTo>
                  <a:pt x="21000" y="12000"/>
                </a:lnTo>
                <a:moveTo>
                  <a:pt x="11000" y="19000"/>
                </a:moveTo>
                <a:lnTo>
                  <a:pt x="21000" y="19000"/>
                </a:lnTo>
                <a:moveTo>
                  <a:pt x="4000" y="4000"/>
                </a:moveTo>
                <a:lnTo>
                  <a:pt x="5000" y="4000"/>
                </a:lnTo>
                <a:lnTo>
                  <a:pt x="5000" y="9000"/>
                </a:lnTo>
                <a:moveTo>
                  <a:pt x="4000" y="9000"/>
                </a:moveTo>
                <a:lnTo>
                  <a:pt x="6000" y="9000"/>
                </a:lnTo>
                <a:moveTo>
                  <a:pt x="6500" y="20000"/>
                </a:moveTo>
                <a:lnTo>
                  <a:pt x="3400" y="20000"/>
                </a:lnTo>
                <a:cubicBezTo>
                  <a:pt x="3400" y="19000"/>
                  <a:pt x="6000" y="18075"/>
                  <a:pt x="6000" y="16500"/>
                </a:cubicBezTo>
                <a:cubicBezTo>
                  <a:pt x="6000" y="15883"/>
                  <a:pt x="5622" y="15329"/>
                  <a:pt x="5048" y="15103"/>
                </a:cubicBezTo>
                <a:cubicBezTo>
                  <a:pt x="4473" y="14878"/>
                  <a:pt x="3820" y="15027"/>
                  <a:pt x="3400" y="15480"/>
                </a:cubicBez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2" name="slot.card.1.item.4.icon"/>
          <p:cNvSpPr/>
          <p:nvPr/>
        </p:nvSpPr>
        <p:spPr>
          <a:xfrm>
            <a:off x="5213223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3" name="slot.card.2.item.1.icon"/>
          <p:cNvSpPr/>
          <p:nvPr/>
        </p:nvSpPr>
        <p:spPr>
          <a:xfrm>
            <a:off x="6609969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4" name="slot.card.2.item.2.icon"/>
          <p:cNvSpPr/>
          <p:nvPr/>
        </p:nvSpPr>
        <p:spPr>
          <a:xfrm>
            <a:off x="7522083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3000"/>
                </a:moveTo>
                <a:cubicBezTo>
                  <a:pt x="10869" y="14162"/>
                  <a:pt x="12200" y="14889"/>
                  <a:pt x="13647" y="14992"/>
                </a:cubicBezTo>
                <a:cubicBezTo>
                  <a:pt x="15094" y="15096"/>
                  <a:pt x="16514" y="14566"/>
                  <a:pt x="17540" y="13540"/>
                </a:cubicBezTo>
                <a:lnTo>
                  <a:pt x="20540" y="10540"/>
                </a:lnTo>
                <a:cubicBezTo>
                  <a:pt x="22435" y="8578"/>
                  <a:pt x="22408" y="5460"/>
                  <a:pt x="20479" y="3531"/>
                </a:cubicBezTo>
                <a:cubicBezTo>
                  <a:pt x="18550" y="1602"/>
                  <a:pt x="15432" y="1575"/>
                  <a:pt x="13470" y="3470"/>
                </a:cubicBezTo>
                <a:lnTo>
                  <a:pt x="11750" y="5180"/>
                </a:lnTo>
                <a:moveTo>
                  <a:pt x="14000" y="11000"/>
                </a:moveTo>
                <a:cubicBezTo>
                  <a:pt x="13131" y="9838"/>
                  <a:pt x="11800" y="9111"/>
                  <a:pt x="10353" y="9008"/>
                </a:cubicBezTo>
                <a:cubicBezTo>
                  <a:pt x="8906" y="8904"/>
                  <a:pt x="7486" y="9434"/>
                  <a:pt x="6460" y="10460"/>
                </a:cubicBezTo>
                <a:lnTo>
                  <a:pt x="3460" y="13460"/>
                </a:lnTo>
                <a:cubicBezTo>
                  <a:pt x="1565" y="15422"/>
                  <a:pt x="1592" y="18540"/>
                  <a:pt x="3521" y="20469"/>
                </a:cubicBezTo>
                <a:cubicBezTo>
                  <a:pt x="5450" y="22398"/>
                  <a:pt x="8568" y="22425"/>
                  <a:pt x="10530" y="20530"/>
                </a:cubicBezTo>
                <a:lnTo>
                  <a:pt x="12240" y="1882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5" name="slot.card.2.item.3.icon"/>
          <p:cNvSpPr/>
          <p:nvPr/>
        </p:nvSpPr>
        <p:spPr>
          <a:xfrm>
            <a:off x="8434197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6000"/>
                </a:moveTo>
                <a:cubicBezTo>
                  <a:pt x="10029" y="6000"/>
                  <a:pt x="6000" y="10029"/>
                  <a:pt x="6000" y="15000"/>
                </a:cubicBezTo>
                <a:lnTo>
                  <a:pt x="6000" y="3000"/>
                </a:lnTo>
                <a:moveTo>
                  <a:pt x="21000" y="6000"/>
                </a:moveTo>
                <a:cubicBezTo>
                  <a:pt x="21000" y="7657"/>
                  <a:pt x="19657" y="9000"/>
                  <a:pt x="18000" y="9000"/>
                </a:cubicBezTo>
                <a:cubicBezTo>
                  <a:pt x="16343" y="9000"/>
                  <a:pt x="15000" y="7657"/>
                  <a:pt x="15000" y="6000"/>
                </a:cubicBezTo>
                <a:cubicBezTo>
                  <a:pt x="15000" y="4343"/>
                  <a:pt x="16343" y="3000"/>
                  <a:pt x="18000" y="3000"/>
                </a:cubicBezTo>
                <a:cubicBezTo>
                  <a:pt x="19657" y="3000"/>
                  <a:pt x="21000" y="4343"/>
                  <a:pt x="21000" y="6000"/>
                </a:cubicBezTo>
                <a:close/>
                <a:moveTo>
                  <a:pt x="9000" y="18000"/>
                </a:moveTo>
                <a:cubicBezTo>
                  <a:pt x="9000" y="19657"/>
                  <a:pt x="7657" y="21000"/>
                  <a:pt x="6000" y="21000"/>
                </a:cubicBezTo>
                <a:cubicBezTo>
                  <a:pt x="4343" y="21000"/>
                  <a:pt x="3000" y="19657"/>
                  <a:pt x="3000" y="18000"/>
                </a:cubicBezTo>
                <a:cubicBezTo>
                  <a:pt x="3000" y="16343"/>
                  <a:pt x="4343" y="15000"/>
                  <a:pt x="6000" y="15000"/>
                </a:cubicBezTo>
                <a:cubicBezTo>
                  <a:pt x="7657" y="15000"/>
                  <a:pt x="9000" y="16343"/>
                  <a:pt x="9000" y="18000"/>
                </a:cubicBezTo>
                <a:close/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6" name="slot.card.2.item.4.icon"/>
          <p:cNvSpPr/>
          <p:nvPr/>
        </p:nvSpPr>
        <p:spPr>
          <a:xfrm>
            <a:off x="9346311" y="39502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5" name="slot.base.1.item.1.icon"/>
          <p:cNvSpPr/>
          <p:nvPr/>
        </p:nvSpPr>
        <p:spPr>
          <a:xfrm>
            <a:off x="1901952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2000"/>
                </a:moveTo>
                <a:lnTo>
                  <a:pt x="14000" y="8000"/>
                </a:lnTo>
                <a:cubicBezTo>
                  <a:pt x="14000" y="8335"/>
                  <a:pt x="14084" y="8666"/>
                  <a:pt x="14245" y="8960"/>
                </a:cubicBezTo>
                <a:lnTo>
                  <a:pt x="19755" y="19040"/>
                </a:lnTo>
                <a:cubicBezTo>
                  <a:pt x="20094" y="19660"/>
                  <a:pt x="20081" y="20412"/>
                  <a:pt x="19721" y="21020"/>
                </a:cubicBezTo>
                <a:cubicBezTo>
                  <a:pt x="19361" y="21628"/>
                  <a:pt x="18706" y="22000"/>
                  <a:pt x="18000" y="22000"/>
                </a:cubicBezTo>
                <a:lnTo>
                  <a:pt x="6000" y="22000"/>
                </a:lnTo>
                <a:cubicBezTo>
                  <a:pt x="5294" y="22000"/>
                  <a:pt x="4639" y="21628"/>
                  <a:pt x="4279" y="21020"/>
                </a:cubicBezTo>
                <a:cubicBezTo>
                  <a:pt x="3919" y="20412"/>
                  <a:pt x="3906" y="19660"/>
                  <a:pt x="4245" y="19040"/>
                </a:cubicBezTo>
                <a:lnTo>
                  <a:pt x="9755" y="8960"/>
                </a:lnTo>
                <a:cubicBezTo>
                  <a:pt x="9916" y="8666"/>
                  <a:pt x="10000" y="8335"/>
                  <a:pt x="10000" y="8000"/>
                </a:cubicBezTo>
                <a:lnTo>
                  <a:pt x="10000" y="2000"/>
                </a:lnTo>
                <a:moveTo>
                  <a:pt x="6453" y="15000"/>
                </a:moveTo>
                <a:lnTo>
                  <a:pt x="17547" y="15000"/>
                </a:lnTo>
                <a:moveTo>
                  <a:pt x="8500" y="2000"/>
                </a:moveTo>
                <a:lnTo>
                  <a:pt x="15500" y="2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96" name="slot.base.1.item.2.icon"/>
          <p:cNvSpPr/>
          <p:nvPr/>
        </p:nvSpPr>
        <p:spPr>
          <a:xfrm>
            <a:off x="2850642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97" name="slot.base.1.item.3.icon"/>
          <p:cNvSpPr/>
          <p:nvPr/>
        </p:nvSpPr>
        <p:spPr>
          <a:xfrm>
            <a:off x="3799332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0000"/>
                </a:moveTo>
                <a:cubicBezTo>
                  <a:pt x="16000" y="11105"/>
                  <a:pt x="15105" y="12000"/>
                  <a:pt x="14000" y="12000"/>
                </a:cubicBezTo>
                <a:lnTo>
                  <a:pt x="6828" y="12000"/>
                </a:lnTo>
                <a:cubicBezTo>
                  <a:pt x="6298" y="12000"/>
                  <a:pt x="5789" y="12211"/>
                  <a:pt x="5414" y="12586"/>
                </a:cubicBezTo>
                <a:lnTo>
                  <a:pt x="3212" y="14788"/>
                </a:lnTo>
                <a:cubicBezTo>
                  <a:pt x="3009" y="14991"/>
                  <a:pt x="2704" y="15052"/>
                  <a:pt x="2438" y="14942"/>
                </a:cubicBezTo>
                <a:cubicBezTo>
                  <a:pt x="2173" y="14832"/>
                  <a:pt x="2000" y="14573"/>
                  <a:pt x="2000" y="14286"/>
                </a:cubicBezTo>
                <a:lnTo>
                  <a:pt x="2000" y="4000"/>
                </a:lnTo>
                <a:cubicBezTo>
                  <a:pt x="2000" y="2895"/>
                  <a:pt x="2895" y="2000"/>
                  <a:pt x="4000" y="2000"/>
                </a:cubicBezTo>
                <a:lnTo>
                  <a:pt x="14000" y="2000"/>
                </a:lnTo>
                <a:cubicBezTo>
                  <a:pt x="15105" y="2000"/>
                  <a:pt x="16000" y="2895"/>
                  <a:pt x="16000" y="4000"/>
                </a:cubicBezTo>
                <a:close/>
                <a:moveTo>
                  <a:pt x="20000" y="9000"/>
                </a:moveTo>
                <a:cubicBezTo>
                  <a:pt x="21105" y="9000"/>
                  <a:pt x="22000" y="9895"/>
                  <a:pt x="22000" y="11000"/>
                </a:cubicBezTo>
                <a:lnTo>
                  <a:pt x="22000" y="21286"/>
                </a:lnTo>
                <a:cubicBezTo>
                  <a:pt x="22000" y="21573"/>
                  <a:pt x="21827" y="21832"/>
                  <a:pt x="21562" y="21942"/>
                </a:cubicBezTo>
                <a:cubicBezTo>
                  <a:pt x="21296" y="22052"/>
                  <a:pt x="20991" y="21991"/>
                  <a:pt x="20788" y="21788"/>
                </a:cubicBezTo>
                <a:lnTo>
                  <a:pt x="18586" y="19586"/>
                </a:lnTo>
                <a:cubicBezTo>
                  <a:pt x="18211" y="19211"/>
                  <a:pt x="17702" y="19000"/>
                  <a:pt x="17172" y="19000"/>
                </a:cubicBezTo>
                <a:lnTo>
                  <a:pt x="10000" y="19000"/>
                </a:lnTo>
                <a:cubicBezTo>
                  <a:pt x="8895" y="19000"/>
                  <a:pt x="8000" y="18105"/>
                  <a:pt x="8000" y="17000"/>
                </a:cubicBezTo>
                <a:lnTo>
                  <a:pt x="8000" y="16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98" name="slot.base.1.item.4.icon"/>
          <p:cNvSpPr/>
          <p:nvPr/>
        </p:nvSpPr>
        <p:spPr>
          <a:xfrm>
            <a:off x="4748022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99" name="slot.base.2.item.1.icon"/>
          <p:cNvSpPr/>
          <p:nvPr/>
        </p:nvSpPr>
        <p:spPr>
          <a:xfrm>
            <a:off x="6437376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00" name="slot.base.2.item.2.icon"/>
          <p:cNvSpPr/>
          <p:nvPr/>
        </p:nvSpPr>
        <p:spPr>
          <a:xfrm>
            <a:off x="7386066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18000"/>
                </a:moveTo>
                <a:cubicBezTo>
                  <a:pt x="21000" y="19657"/>
                  <a:pt x="19657" y="21000"/>
                  <a:pt x="18000" y="21000"/>
                </a:cubicBezTo>
                <a:cubicBezTo>
                  <a:pt x="16343" y="21000"/>
                  <a:pt x="15000" y="19657"/>
                  <a:pt x="15000" y="18000"/>
                </a:cubicBezTo>
                <a:cubicBezTo>
                  <a:pt x="15000" y="16343"/>
                  <a:pt x="16343" y="15000"/>
                  <a:pt x="18000" y="15000"/>
                </a:cubicBezTo>
                <a:cubicBezTo>
                  <a:pt x="19657" y="15000"/>
                  <a:pt x="21000" y="16343"/>
                  <a:pt x="21000" y="18000"/>
                </a:cubicBezTo>
                <a:close/>
                <a:moveTo>
                  <a:pt x="9000" y="6000"/>
                </a:moveTo>
                <a:cubicBezTo>
                  <a:pt x="9000" y="7657"/>
                  <a:pt x="7657" y="9000"/>
                  <a:pt x="6000" y="9000"/>
                </a:cubicBezTo>
                <a:cubicBezTo>
                  <a:pt x="4343" y="9000"/>
                  <a:pt x="3000" y="7657"/>
                  <a:pt x="3000" y="6000"/>
                </a:cubicBezTo>
                <a:cubicBezTo>
                  <a:pt x="3000" y="4343"/>
                  <a:pt x="4343" y="3000"/>
                  <a:pt x="6000" y="3000"/>
                </a:cubicBezTo>
                <a:cubicBezTo>
                  <a:pt x="7657" y="3000"/>
                  <a:pt x="9000" y="4343"/>
                  <a:pt x="9000" y="6000"/>
                </a:cubicBezTo>
                <a:close/>
                <a:moveTo>
                  <a:pt x="6000" y="21000"/>
                </a:moveTo>
                <a:lnTo>
                  <a:pt x="6000" y="9000"/>
                </a:lnTo>
                <a:cubicBezTo>
                  <a:pt x="6000" y="13971"/>
                  <a:pt x="10029" y="18000"/>
                  <a:pt x="15000" y="18000"/>
                </a:cubicBez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01" name="slot.base.2.item.3.icon"/>
          <p:cNvSpPr/>
          <p:nvPr/>
        </p:nvSpPr>
        <p:spPr>
          <a:xfrm>
            <a:off x="8334756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02" name="slot.base.2.item.4.icon"/>
          <p:cNvSpPr/>
          <p:nvPr/>
        </p:nvSpPr>
        <p:spPr>
          <a:xfrm>
            <a:off x="9283446" y="58521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62" y="12348"/>
                </a:moveTo>
                <a:cubicBezTo>
                  <a:pt x="1979" y="12123"/>
                  <a:pt x="1979" y="11877"/>
                  <a:pt x="2062" y="11652"/>
                </a:cubicBezTo>
                <a:cubicBezTo>
                  <a:pt x="3722" y="7627"/>
                  <a:pt x="7646" y="5001"/>
                  <a:pt x="12000" y="5001"/>
                </a:cubicBezTo>
                <a:cubicBezTo>
                  <a:pt x="16354" y="5001"/>
                  <a:pt x="20278" y="7627"/>
                  <a:pt x="21938" y="11652"/>
                </a:cubicBezTo>
                <a:cubicBezTo>
                  <a:pt x="22021" y="11877"/>
                  <a:pt x="22021" y="12123"/>
                  <a:pt x="21938" y="12348"/>
                </a:cubicBezTo>
                <a:cubicBezTo>
                  <a:pt x="20278" y="16373"/>
                  <a:pt x="16354" y="18999"/>
                  <a:pt x="12000" y="18999"/>
                </a:cubicBezTo>
                <a:cubicBezTo>
                  <a:pt x="7646" y="18999"/>
                  <a:pt x="3722" y="16373"/>
                  <a:pt x="2062" y="12348"/>
                </a:cubicBez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grpSp>
        <p:nvGrpSpPr>
          <p:cNvPr id="107" name="s13.stat.1" descr="stat kind illustrative"/>
          <p:cNvGrpSpPr/>
          <p:nvPr/>
        </p:nvGrpSpPr>
        <p:grpSpPr>
          <a:xfrm>
            <a:off x="457200" y="1680237"/>
            <a:ext cx="1143000" cy="1348686"/>
            <a:chOff x="457200" y="1680237"/>
            <a:chExt cx="1143000" cy="1348686"/>
          </a:xfrm>
          <a:effectLst/>
        </p:grpSpPr>
        <p:sp>
          <p:nvSpPr>
            <p:cNvPr id="103" name="s13.stat.1.value"/>
            <p:cNvSpPr txBox="1"/>
            <p:nvPr/>
          </p:nvSpPr>
          <p:spPr>
            <a:xfrm>
              <a:off x="457200" y="1680237"/>
              <a:ext cx="1143000" cy="37315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40+</a:t>
              </a:r>
              <a:endPara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04" name="s13.stat.1.rule"/>
            <p:cNvCxnSpPr/>
            <p:nvPr/>
          </p:nvCxnSpPr>
          <p:spPr>
            <a:xfrm>
              <a:off x="457200" y="2099116"/>
              <a:ext cx="1143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05" name="s13.stat.1.label"/>
            <p:cNvSpPr txBox="1"/>
            <p:nvPr/>
          </p:nvSpPr>
          <p:spPr>
            <a:xfrm>
              <a:off x="457200" y="2153980"/>
              <a:ext cx="1143000" cy="609736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public signals scanned and ranked each week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06" name="s13.stat.1.basis"/>
            <p:cNvSpPr/>
            <p:nvPr/>
          </p:nvSpPr>
          <p:spPr>
            <a:xfrm>
              <a:off x="457200" y="2818580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12" name="s13.stat.2" descr="stat kind illustrative"/>
          <p:cNvGrpSpPr/>
          <p:nvPr/>
        </p:nvGrpSpPr>
        <p:grpSpPr>
          <a:xfrm>
            <a:off x="457200" y="4458506"/>
            <a:ext cx="1143000" cy="1196252"/>
            <a:chOff x="457200" y="4458506"/>
            <a:chExt cx="1143000" cy="1196252"/>
          </a:xfrm>
          <a:effectLst/>
        </p:grpSpPr>
        <p:sp>
          <p:nvSpPr>
            <p:cNvPr id="108" name="s13.stat.2.value"/>
            <p:cNvSpPr txBox="1"/>
            <p:nvPr/>
          </p:nvSpPr>
          <p:spPr>
            <a:xfrm>
              <a:off x="457200" y="4458506"/>
              <a:ext cx="1143000" cy="37315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6</a:t>
              </a:r>
              <a:endPara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09" name="s13.stat.2.rule"/>
            <p:cNvCxnSpPr/>
            <p:nvPr/>
          </p:nvCxnSpPr>
          <p:spPr>
            <a:xfrm>
              <a:off x="457200" y="4877385"/>
              <a:ext cx="114300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10" name="s13.stat.2.label"/>
            <p:cNvSpPr txBox="1"/>
            <p:nvPr/>
          </p:nvSpPr>
          <p:spPr>
            <a:xfrm>
              <a:off x="457200" y="4932249"/>
              <a:ext cx="1143000" cy="45730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regional rewrites folded into one reviewed brief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1" name="s13.stat.2.basis"/>
            <p:cNvSpPr/>
            <p:nvPr/>
          </p:nvSpPr>
          <p:spPr>
            <a:xfrm>
              <a:off x="457200" y="5444415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17" name="s13.stat.3" descr="stat kind illustrative"/>
          <p:cNvGrpSpPr/>
          <p:nvPr/>
        </p:nvGrpSpPr>
        <p:grpSpPr>
          <a:xfrm>
            <a:off x="10588752" y="1756454"/>
            <a:ext cx="1188720" cy="1196252"/>
            <a:chOff x="10588752" y="1756454"/>
            <a:chExt cx="1188720" cy="1196252"/>
          </a:xfrm>
          <a:effectLst/>
        </p:grpSpPr>
        <p:sp>
          <p:nvSpPr>
            <p:cNvPr id="113" name="s13.stat.3.value"/>
            <p:cNvSpPr txBox="1"/>
            <p:nvPr/>
          </p:nvSpPr>
          <p:spPr>
            <a:xfrm>
              <a:off x="10588752" y="1756454"/>
              <a:ext cx="1188720" cy="37315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1,200</a:t>
              </a:r>
              <a:endPara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14" name="s13.stat.3.rule"/>
            <p:cNvCxnSpPr/>
            <p:nvPr/>
          </p:nvCxnSpPr>
          <p:spPr>
            <a:xfrm>
              <a:off x="10588752" y="2175333"/>
              <a:ext cx="118872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15" name="s13.stat.3.label"/>
            <p:cNvSpPr txBox="1"/>
            <p:nvPr/>
          </p:nvSpPr>
          <p:spPr>
            <a:xfrm>
              <a:off x="10588752" y="2230197"/>
              <a:ext cx="1188720" cy="45730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field reps reading the same reviewed page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6" name="s13.stat.3.basis"/>
            <p:cNvSpPr/>
            <p:nvPr/>
          </p:nvSpPr>
          <p:spPr>
            <a:xfrm>
              <a:off x="10588752" y="2742363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22" name="s13.stat.4" descr="stat kind illustrative"/>
          <p:cNvGrpSpPr/>
          <p:nvPr/>
        </p:nvGrpSpPr>
        <p:grpSpPr>
          <a:xfrm>
            <a:off x="10588752" y="4534723"/>
            <a:ext cx="1188720" cy="1043818"/>
            <a:chOff x="10588752" y="4534723"/>
            <a:chExt cx="1188720" cy="1043818"/>
          </a:xfrm>
          <a:effectLst/>
        </p:grpSpPr>
        <p:sp>
          <p:nvSpPr>
            <p:cNvPr id="118" name="s13.stat.4.value"/>
            <p:cNvSpPr txBox="1"/>
            <p:nvPr/>
          </p:nvSpPr>
          <p:spPr>
            <a:xfrm>
              <a:off x="10588752" y="4534723"/>
              <a:ext cx="1188720" cy="373159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100%</a:t>
              </a:r>
              <a:endParaRPr lang="en-US" sz="2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19" name="s13.stat.4.rule"/>
            <p:cNvCxnSpPr/>
            <p:nvPr/>
          </p:nvCxnSpPr>
          <p:spPr>
            <a:xfrm>
              <a:off x="10588752" y="4953602"/>
              <a:ext cx="118872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20" name="s13.stat.4.label"/>
            <p:cNvSpPr txBox="1"/>
            <p:nvPr/>
          </p:nvSpPr>
          <p:spPr>
            <a:xfrm>
              <a:off x="10588752" y="5008466"/>
              <a:ext cx="1188720" cy="304868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of claims linked to a public source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1" name="s13.stat.4.basis"/>
            <p:cNvSpPr/>
            <p:nvPr/>
          </p:nvSpPr>
          <p:spPr>
            <a:xfrm>
              <a:off x="10588752" y="5368198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inciples:principle-columns-proof-diagrams">
    <p:spTree>
      <p:nvGrpSpPr>
        <p:cNvPr id="1" name=""/>
        <p:cNvGrpSpPr/>
        <p:nvPr/>
      </p:nvGrpSpPr>
      <p:grpSpPr/>
      <p:cxnSp>
        <p:nvCxnSpPr>
          <p:cNvPr id="2" name="struct.proof.3.row.2"/>
          <p:cNvCxnSpPr>
            <a:cxnSpLocks/>
          </p:cNvCxnSpPr>
          <p:nvPr/>
        </p:nvCxnSpPr>
        <p:spPr>
          <a:xfrm>
            <a:off x="10757317" y="2975330"/>
            <a:ext cx="600028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3" name="struct.proof.3.row.1"/>
          <p:cNvCxnSpPr>
            <a:cxnSpLocks/>
          </p:cNvCxnSpPr>
          <p:nvPr/>
        </p:nvCxnSpPr>
        <p:spPr>
          <a:xfrm>
            <a:off x="10757317" y="2513632"/>
            <a:ext cx="600028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sp>
        <p:nvSpPr>
          <p:cNvPr id="4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Three principles keep every brief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sourced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reviewed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and useful to reps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" name="struct.principle.1.rule"/>
          <p:cNvCxnSpPr>
            <a:cxnSpLocks/>
          </p:cNvCxnSpPr>
          <p:nvPr/>
        </p:nvCxnSpPr>
        <p:spPr>
          <a:xfrm>
            <a:off x="458247" y="1400175"/>
            <a:ext cx="3385034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</p:cxnSp>
      <p:cxnSp>
        <p:nvCxnSpPr>
          <p:cNvPr id="6" name="struct.principle.2.rule"/>
          <p:cNvCxnSpPr>
            <a:cxnSpLocks/>
          </p:cNvCxnSpPr>
          <p:nvPr/>
        </p:nvCxnSpPr>
        <p:spPr>
          <a:xfrm>
            <a:off x="4296167" y="1400175"/>
            <a:ext cx="3385034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</p:cxnSp>
      <p:cxnSp>
        <p:nvCxnSpPr>
          <p:cNvPr id="7" name="struct.principle.3.rule"/>
          <p:cNvCxnSpPr>
            <a:cxnSpLocks/>
          </p:cNvCxnSpPr>
          <p:nvPr/>
        </p:nvCxnSpPr>
        <p:spPr>
          <a:xfrm>
            <a:off x="8134088" y="1400175"/>
            <a:ext cx="3385034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</p:cxnSp>
      <p:grpSp>
        <p:nvGrpSpPr>
          <p:cNvPr id="8" name="struct.dividers"/>
          <p:cNvGrpSpPr/>
          <p:nvPr/>
        </p:nvGrpSpPr>
        <p:grpSpPr>
          <a:xfrm>
            <a:off x="4069724" y="971549"/>
            <a:ext cx="3837920" cy="5310701"/>
            <a:chOff x="4066326" y="971549"/>
            <a:chExt cx="3837920" cy="5310701"/>
          </a:xfrm>
          <a:effectLst/>
        </p:grpSpPr>
        <p:cxnSp>
          <p:nvCxnSpPr>
            <p:cNvPr id="9" name="struct.divider.1"/>
            <p:cNvCxnSpPr/>
            <p:nvPr/>
          </p:nvCxnSpPr>
          <p:spPr>
            <a:xfrm>
              <a:off x="4066326" y="971549"/>
              <a:ext cx="0" cy="53107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</p:cxnSp>
        <p:cxnSp>
          <p:nvCxnSpPr>
            <p:cNvPr id="10" name="struct.divider.2"/>
            <p:cNvCxnSpPr/>
            <p:nvPr/>
          </p:nvCxnSpPr>
          <p:spPr>
            <a:xfrm>
              <a:off x="7904246" y="971549"/>
              <a:ext cx="0" cy="53107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</p:cxnSp>
      </p:grpSp>
      <p:sp>
        <p:nvSpPr>
          <p:cNvPr id="11" name="slot.principle.1.head"/>
          <p:cNvSpPr txBox="1"/>
          <p:nvPr/>
        </p:nvSpPr>
        <p:spPr>
          <a:xfrm>
            <a:off x="459281" y="1112785"/>
            <a:ext cx="3384000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b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Source every claim publicly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principle.2.head"/>
          <p:cNvSpPr txBox="1"/>
          <p:nvPr/>
        </p:nvSpPr>
        <p:spPr>
          <a:xfrm>
            <a:off x="4297201" y="1112785"/>
            <a:ext cx="3384000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b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Medical decides before release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ot.principle.3.head"/>
          <p:cNvSpPr txBox="1"/>
          <p:nvPr/>
        </p:nvSpPr>
        <p:spPr>
          <a:xfrm>
            <a:off x="8135122" y="1112785"/>
            <a:ext cx="3384000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b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Start small, learn every week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card.1"/>
          <p:cNvSpPr txBox="1"/>
          <p:nvPr/>
        </p:nvSpPr>
        <p:spPr>
          <a:xfrm>
            <a:off x="459281" y="4067248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 claim without a source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line links to a public notice, registry or abstract.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card.3"/>
          <p:cNvSpPr txBox="1"/>
          <p:nvPr/>
        </p:nvSpPr>
        <p:spPr>
          <a:xfrm>
            <a:off x="4297201" y="4067248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Signature before the field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 brief reaches a rep until a medical reviewer approves it.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card.5"/>
          <p:cNvSpPr txBox="1"/>
          <p:nvPr/>
        </p:nvSpPr>
        <p:spPr>
          <a:xfrm>
            <a:off x="8135122" y="4067248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region first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North runs the pilot before any other region receives a brief.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card.2"/>
          <p:cNvSpPr txBox="1"/>
          <p:nvPr/>
        </p:nvSpPr>
        <p:spPr>
          <a:xfrm>
            <a:off x="459281" y="5149711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ledger for every region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All agents read the same feeds, so regions never disagree.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card.4"/>
          <p:cNvSpPr txBox="1"/>
          <p:nvPr/>
        </p:nvSpPr>
        <p:spPr>
          <a:xfrm>
            <a:off x="4297201" y="5149711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Rejections carry a reason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Each edit or rejection is kept, so the next draft learns.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card.6"/>
          <p:cNvSpPr txBox="1"/>
          <p:nvPr/>
        </p:nvSpPr>
        <p:spPr>
          <a:xfrm>
            <a:off x="8135122" y="5149711"/>
            <a:ext cx="3384000" cy="882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/>
        </p:spPr>
        <p:txBody>
          <a:bodyPr spcFirstLastPara="1" wrap="square" lIns="108000" tIns="72000" rIns="108000" bIns="720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Reps rank what helps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Field ratings each week decide what the next release changes.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" name="struct.proof.1.link.1"/>
          <p:cNvCxnSpPr>
            <a:cxnSpLocks/>
          </p:cNvCxnSpPr>
          <p:nvPr/>
        </p:nvCxnSpPr>
        <p:spPr>
          <a:xfrm>
            <a:off x="2347470" y="2051004"/>
            <a:ext cx="0" cy="42872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</p:cxnSp>
      <p:cxnSp>
        <p:nvCxnSpPr>
          <p:cNvPr id="21" name="struct.proof.1.link.2"/>
          <p:cNvCxnSpPr>
            <a:cxnSpLocks/>
          </p:cNvCxnSpPr>
          <p:nvPr/>
        </p:nvCxnSpPr>
        <p:spPr>
          <a:xfrm>
            <a:off x="1238587" y="2055355"/>
            <a:ext cx="0" cy="42437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</p:cxnSp>
      <p:grpSp>
        <p:nvGrpSpPr>
          <p:cNvPr id="22" name="struct.proof.1"/>
          <p:cNvGrpSpPr/>
          <p:nvPr/>
        </p:nvGrpSpPr>
        <p:grpSpPr>
          <a:xfrm>
            <a:off x="457200" y="1626629"/>
            <a:ext cx="2457564" cy="2130463"/>
            <a:chOff x="453802" y="1626629"/>
            <a:chExt cx="2457564" cy="2130463"/>
          </a:xfrm>
          <a:effectLst/>
        </p:grpSpPr>
        <p:sp>
          <p:nvSpPr>
            <p:cNvPr id="23" name="slot.proof.1.top"/>
            <p:cNvSpPr/>
            <p:nvPr/>
          </p:nvSpPr>
          <p:spPr>
            <a:xfrm>
              <a:off x="453802" y="1626629"/>
              <a:ext cx="2457560" cy="428726"/>
            </a:xfrm>
            <a:prstGeom prst="roundRect">
              <a:avLst>
                <a:gd name="adj" fmla="val 10664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1"/>
              </a:solidFill>
            </a:ln>
          </p:spPr>
          <p:txBody>
            <a:bodyPr rtlCol="0" anchor="ctr" wrap="square" lIns="91440" tIns="45720" rIns="91440" bIns="4572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Shared source ledger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4" name="slot.proof.1.base"/>
            <p:cNvSpPr/>
            <p:nvPr/>
          </p:nvSpPr>
          <p:spPr>
            <a:xfrm>
              <a:off x="453802" y="3328366"/>
              <a:ext cx="2457557" cy="428726"/>
            </a:xfrm>
            <a:prstGeom prst="roundRect">
              <a:avLst>
                <a:gd name="adj" fmla="val 10664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1"/>
              </a:solidFill>
            </a:ln>
          </p:spPr>
          <p:txBody>
            <a:bodyPr rtlCol="0" anchor="ctr" wrap="square" lIns="91440" tIns="45720" rIns="91440" bIns="4572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Approved public feeds</a:t>
              </a:r>
              <a:endParaRPr lang="en-US" sz="10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grpSp>
          <p:nvGrpSpPr>
            <p:cNvPr id="25" name="struct.proof.1.engines"/>
            <p:cNvGrpSpPr/>
            <p:nvPr/>
          </p:nvGrpSpPr>
          <p:grpSpPr>
            <a:xfrm>
              <a:off x="453802" y="2479730"/>
              <a:ext cx="2457564" cy="634878"/>
              <a:chOff x="453802" y="2479730"/>
              <a:chExt cx="2457564" cy="634878"/>
            </a:xfrm>
          </p:grpSpPr>
          <p:sp>
            <p:nvSpPr>
              <p:cNvPr id="26" name="slot.proof.1.engine.1"/>
              <p:cNvSpPr/>
              <p:nvPr/>
            </p:nvSpPr>
            <p:spPr>
              <a:xfrm>
                <a:off x="453802" y="2479730"/>
                <a:ext cx="1134589" cy="634878"/>
              </a:xfrm>
              <a:prstGeom prst="roundRect">
                <a:avLst>
                  <a:gd name="adj" fmla="val 7201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accent1"/>
                </a:solidFill>
              </a:ln>
            </p:spPr>
            <p:txBody>
              <a:bodyPr rtlCol="0" anchor="ctr" wrap="square" lIns="91440" tIns="45720" rIns="91440" bIns="45720">
                <a:noAutofit/>
              </a:bodyPr>
              <a:lstStyle/>
              <a:p>
                <a:pPr marL="0" indent="0" lv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kern="0" dirty="0">
                    <a:solidFill>
                      <a:schemeClr val="tx1">
                        <a:lumMod val="80000"/>
                        <a:lumOff val="20000"/>
                      </a:schemeClr>
                    </a:solidFill>
                    <a:latin typeface="Arial"/>
                    <a:ea typeface="Arial"/>
                    <a:cs typeface="Arial"/>
                  </a:rPr>
                  <a:t>Scan</a:t>
                </a:r>
                <a:endPara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endParaRPr>
              </a:p>
              <a:p>
                <a:pPr marL="0" indent="0" lv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kern="0" dirty="0">
                    <a:solidFill>
                      <a:schemeClr val="tx1">
                        <a:lumMod val="80000"/>
                        <a:lumOff val="20000"/>
                      </a:schemeClr>
                    </a:solidFill>
                    <a:latin typeface="Arial"/>
                    <a:ea typeface="Arial"/>
                    <a:cs typeface="Arial"/>
                  </a:rPr>
                  <a:t>agent</a:t>
                </a:r>
                <a:endPara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27" name="slot.proof.1.engine.2"/>
              <p:cNvSpPr/>
              <p:nvPr/>
            </p:nvSpPr>
            <p:spPr>
              <a:xfrm>
                <a:off x="1776777" y="2479730"/>
                <a:ext cx="1134589" cy="634878"/>
              </a:xfrm>
              <a:prstGeom prst="roundRect">
                <a:avLst>
                  <a:gd name="adj" fmla="val 7201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accent1"/>
                </a:solidFill>
              </a:ln>
            </p:spPr>
            <p:txBody>
              <a:bodyPr rtlCol="0" anchor="ctr" wrap="square" lIns="91440" tIns="45720" rIns="91440" bIns="45720">
                <a:noAutofit/>
              </a:bodyPr>
              <a:lstStyle/>
              <a:p>
                <a:pPr marL="0" indent="0" lv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kern="0" dirty="0">
                    <a:solidFill>
                      <a:schemeClr val="tx1">
                        <a:lumMod val="80000"/>
                        <a:lumOff val="20000"/>
                      </a:schemeClr>
                    </a:solidFill>
                    <a:latin typeface="Arial"/>
                    <a:ea typeface="Arial"/>
                    <a:cs typeface="Arial"/>
                  </a:rPr>
                  <a:t>Writer</a:t>
                </a:r>
                <a:endPara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endParaRPr>
              </a:p>
              <a:p>
                <a:pPr marL="0" indent="0" lv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0" i="0" kern="0" dirty="0">
                    <a:solidFill>
                      <a:schemeClr val="tx1">
                        <a:lumMod val="80000"/>
                        <a:lumOff val="20000"/>
                      </a:schemeClr>
                    </a:solidFill>
                    <a:latin typeface="Arial"/>
                    <a:ea typeface="Arial"/>
                    <a:cs typeface="Arial"/>
                  </a:rPr>
                  <a:t>agent</a:t>
                </a:r>
                <a:endPara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28" name="slot.proof.1.policy"/>
          <p:cNvSpPr txBox="1"/>
          <p:nvPr/>
        </p:nvSpPr>
        <p:spPr>
          <a:xfrm>
            <a:off x="3130646" y="2880360"/>
            <a:ext cx="822960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list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" name="struct.proof.1.policy.link"/>
          <p:cNvCxnSpPr>
            <a:cxnSpLocks/>
          </p:cNvCxnSpPr>
          <p:nvPr/>
        </p:nvCxnSpPr>
        <p:spPr>
          <a:xfrm>
            <a:off x="2943112" y="2699402"/>
            <a:ext cx="45845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30" name="slot.proof.2.caption"/>
          <p:cNvSpPr txBox="1"/>
          <p:nvPr/>
        </p:nvSpPr>
        <p:spPr>
          <a:xfrm>
            <a:off x="4529678" y="3611880"/>
            <a:ext cx="2862072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Only a signed brief reaches reps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1" name="struct.proof.2.steps"/>
          <p:cNvGrpSpPr/>
          <p:nvPr/>
        </p:nvGrpSpPr>
        <p:grpSpPr>
          <a:xfrm>
            <a:off x="4482499" y="2685031"/>
            <a:ext cx="2954567" cy="812153"/>
            <a:chOff x="4479101" y="2685031"/>
            <a:chExt cx="2954567" cy="812153"/>
          </a:xfrm>
          <a:effectLst/>
        </p:grpSpPr>
        <p:sp>
          <p:nvSpPr>
            <p:cNvPr id="32" name="slot.proof.2.step.1"/>
            <p:cNvSpPr/>
            <p:nvPr/>
          </p:nvSpPr>
          <p:spPr>
            <a:xfrm>
              <a:off x="4479101" y="3172169"/>
              <a:ext cx="965976" cy="324759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Draft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" name="slot.proof.2.step.2"/>
            <p:cNvSpPr/>
            <p:nvPr/>
          </p:nvSpPr>
          <p:spPr>
            <a:xfrm>
              <a:off x="5444988" y="2928600"/>
              <a:ext cx="1022883" cy="56820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Edited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" name="slot.proof.2.step.3"/>
            <p:cNvSpPr/>
            <p:nvPr/>
          </p:nvSpPr>
          <p:spPr>
            <a:xfrm>
              <a:off x="6467692" y="2685031"/>
              <a:ext cx="965976" cy="8121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Signed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cxnSp>
        <p:nvCxnSpPr>
          <p:cNvPr id="35" name="struct.proof.2.axis"/>
          <p:cNvCxnSpPr>
            <a:cxnSpLocks/>
          </p:cNvCxnSpPr>
          <p:nvPr/>
        </p:nvCxnSpPr>
        <p:spPr>
          <a:xfrm>
            <a:off x="4296167" y="3497184"/>
            <a:ext cx="3327231" cy="0"/>
          </a:xfrm>
          <a:prstGeom prst="straightConnector1">
            <a:avLst/>
          </a:prstGeom>
          <a:ln w="19050">
            <a:tailEnd type="triangle"/>
          </a:ln>
          <a:effectLst/>
        </p:spPr>
      </p:cxnSp>
      <p:grpSp>
        <p:nvGrpSpPr>
          <p:cNvPr id="36" name="struct.proof.2.loop"/>
          <p:cNvGrpSpPr/>
          <p:nvPr/>
        </p:nvGrpSpPr>
        <p:grpSpPr>
          <a:xfrm>
            <a:off x="4601227" y="1689926"/>
            <a:ext cx="2775949" cy="735312"/>
            <a:chOff x="4597829" y="1689926"/>
            <a:chExt cx="2775949" cy="735312"/>
          </a:xfrm>
          <a:effectLst/>
        </p:grpSpPr>
        <p:sp>
          <p:nvSpPr>
            <p:cNvPr id="37" name="slot.proof.2.actor.2"/>
            <p:cNvSpPr txBox="1"/>
            <p:nvPr/>
          </p:nvSpPr>
          <p:spPr>
            <a:xfrm>
              <a:off x="5138928" y="2121408"/>
              <a:ext cx="841248" cy="329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Draft brief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8" name="slot.proof.2.link"/>
            <p:cNvSpPr txBox="1"/>
            <p:nvPr/>
          </p:nvSpPr>
          <p:spPr>
            <a:xfrm>
              <a:off x="5751576" y="1609344"/>
              <a:ext cx="1188720" cy="201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Edit or reject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9" name="slot.proof.2.actor.3"/>
            <p:cNvSpPr txBox="1"/>
            <p:nvPr/>
          </p:nvSpPr>
          <p:spPr>
            <a:xfrm>
              <a:off x="6812280" y="212140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Reviewer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0" name="slot.proof.2.actor.1"/>
            <p:cNvSpPr txBox="1"/>
            <p:nvPr/>
          </p:nvSpPr>
          <p:spPr>
            <a:xfrm>
              <a:off x="4462272" y="2121408"/>
              <a:ext cx="658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Agent</a:t>
              </a:r>
              <a:endPara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41" name="struct.proof.2.arrow"/>
            <p:cNvCxnSpPr>
              <a:cxnSpLocks/>
            </p:cNvCxnSpPr>
            <p:nvPr/>
          </p:nvCxnSpPr>
          <p:spPr>
            <a:xfrm flipH="1">
              <a:off x="5678424" y="1901952"/>
              <a:ext cx="1325880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triangle"/>
            </a:ln>
          </p:spPr>
        </p:cxnSp>
      </p:grpSp>
      <p:sp>
        <p:nvSpPr>
          <p:cNvPr id="42" name="struct.proof.3.pipeline"/>
          <p:cNvSpPr/>
          <p:nvPr/>
        </p:nvSpPr>
        <p:spPr>
          <a:xfrm>
            <a:off x="8134087" y="2239882"/>
            <a:ext cx="2069219" cy="1009199"/>
          </a:xfrm>
          <a:prstGeom prst="roundRect">
            <a:avLst>
              <a:gd name="adj" fmla="val 453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truct.proof.3.stage.1"/>
          <p:cNvSpPr/>
          <p:nvPr/>
        </p:nvSpPr>
        <p:spPr>
          <a:xfrm>
            <a:off x="8246948" y="2320977"/>
            <a:ext cx="276606" cy="276606"/>
          </a:xfrm>
          <a:prstGeom prst="ellipse">
            <a:avLst/>
          </a:prstGeom>
          <a:solidFill>
            <a:schemeClr val="bg1"/>
          </a:solidFill>
          <a:ln w="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struct.proof.3.stage.2"/>
          <p:cNvSpPr/>
          <p:nvPr/>
        </p:nvSpPr>
        <p:spPr>
          <a:xfrm>
            <a:off x="8735293" y="2320977"/>
            <a:ext cx="276606" cy="276606"/>
          </a:xfrm>
          <a:prstGeom prst="ellipse">
            <a:avLst/>
          </a:prstGeom>
          <a:solidFill>
            <a:schemeClr val="bg1"/>
          </a:solidFill>
          <a:ln w="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truct.proof.3.stage.3"/>
          <p:cNvSpPr/>
          <p:nvPr/>
        </p:nvSpPr>
        <p:spPr>
          <a:xfrm>
            <a:off x="9223638" y="2320977"/>
            <a:ext cx="276606" cy="276606"/>
          </a:xfrm>
          <a:prstGeom prst="ellipse">
            <a:avLst/>
          </a:prstGeom>
          <a:solidFill>
            <a:schemeClr val="bg1"/>
          </a:solidFill>
          <a:ln w="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truct.proof.3.stage.4"/>
          <p:cNvSpPr/>
          <p:nvPr/>
        </p:nvSpPr>
        <p:spPr>
          <a:xfrm>
            <a:off x="9734151" y="2320977"/>
            <a:ext cx="276606" cy="276606"/>
          </a:xfrm>
          <a:prstGeom prst="ellipse">
            <a:avLst/>
          </a:prstGeom>
          <a:solidFill>
            <a:schemeClr val="bg1"/>
          </a:solidFill>
          <a:ln w="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slot.proof.3.stage.1"/>
          <p:cNvSpPr txBox="1"/>
          <p:nvPr/>
        </p:nvSpPr>
        <p:spPr>
          <a:xfrm>
            <a:off x="8150702" y="2633472"/>
            <a:ext cx="475488" cy="12801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proof.3.stage.2"/>
          <p:cNvSpPr txBox="1"/>
          <p:nvPr/>
        </p:nvSpPr>
        <p:spPr>
          <a:xfrm>
            <a:off x="8635334" y="2633472"/>
            <a:ext cx="475488" cy="12801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proof.3.stage.3"/>
          <p:cNvSpPr txBox="1"/>
          <p:nvPr/>
        </p:nvSpPr>
        <p:spPr>
          <a:xfrm>
            <a:off x="9119966" y="2633472"/>
            <a:ext cx="475488" cy="12801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proof.3.stage.4"/>
          <p:cNvSpPr txBox="1"/>
          <p:nvPr/>
        </p:nvSpPr>
        <p:spPr>
          <a:xfrm>
            <a:off x="9632030" y="2633472"/>
            <a:ext cx="475488" cy="12801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Release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truct.proof.3.env.1"/>
          <p:cNvSpPr/>
          <p:nvPr/>
        </p:nvSpPr>
        <p:spPr>
          <a:xfrm>
            <a:off x="10595541" y="2432743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truct.proof.3.env.2"/>
          <p:cNvSpPr/>
          <p:nvPr/>
        </p:nvSpPr>
        <p:spPr>
          <a:xfrm>
            <a:off x="10849476" y="2432743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struct.proof.3.env.3"/>
          <p:cNvSpPr/>
          <p:nvPr/>
        </p:nvSpPr>
        <p:spPr>
          <a:xfrm>
            <a:off x="11103410" y="2432743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struct.proof.3.env.4"/>
          <p:cNvSpPr/>
          <p:nvPr/>
        </p:nvSpPr>
        <p:spPr>
          <a:xfrm>
            <a:off x="11357345" y="2432743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struct.proof.3.env.5"/>
          <p:cNvSpPr/>
          <p:nvPr/>
        </p:nvSpPr>
        <p:spPr>
          <a:xfrm>
            <a:off x="10595541" y="2894442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struct.proof.3.env.6"/>
          <p:cNvSpPr/>
          <p:nvPr/>
        </p:nvSpPr>
        <p:spPr>
          <a:xfrm>
            <a:off x="10849476" y="2894442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struct.proof.3.env.7"/>
          <p:cNvSpPr/>
          <p:nvPr/>
        </p:nvSpPr>
        <p:spPr>
          <a:xfrm>
            <a:off x="11103410" y="2894442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struct.proof.3.env.8"/>
          <p:cNvSpPr/>
          <p:nvPr/>
        </p:nvSpPr>
        <p:spPr>
          <a:xfrm>
            <a:off x="11357345" y="2894442"/>
            <a:ext cx="161776" cy="161777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" name="struct.proof.3.loop.line.part1"/>
          <p:cNvCxnSpPr/>
          <p:nvPr/>
        </p:nvCxnSpPr>
        <p:spPr>
          <a:xfrm>
            <a:off x="9878827" y="2801447"/>
            <a:ext cx="0" cy="274594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60" name="struct.proof.3.loop.line.part2"/>
          <p:cNvCxnSpPr/>
          <p:nvPr/>
        </p:nvCxnSpPr>
        <p:spPr>
          <a:xfrm flipH="1">
            <a:off x="8391646" y="3076042"/>
            <a:ext cx="1487180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61" name="struct.proof.3.loop.line.part3"/>
          <p:cNvCxnSpPr/>
          <p:nvPr/>
        </p:nvCxnSpPr>
        <p:spPr>
          <a:xfrm flipV="1">
            <a:off x="8391646" y="2814157"/>
            <a:ext cx="0" cy="261884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cxnSp>
        <p:nvCxnSpPr>
          <p:cNvPr id="62" name="struct.proof.3.link.1"/>
          <p:cNvCxnSpPr>
            <a:cxnSpLocks/>
          </p:cNvCxnSpPr>
          <p:nvPr/>
        </p:nvCxnSpPr>
        <p:spPr>
          <a:xfrm>
            <a:off x="8523554" y="2459280"/>
            <a:ext cx="211739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cxnSp>
        <p:nvCxnSpPr>
          <p:cNvPr id="63" name="struct.proof.3.link.2"/>
          <p:cNvCxnSpPr>
            <a:cxnSpLocks/>
          </p:cNvCxnSpPr>
          <p:nvPr/>
        </p:nvCxnSpPr>
        <p:spPr>
          <a:xfrm>
            <a:off x="9011899" y="2459280"/>
            <a:ext cx="211739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cxnSp>
        <p:nvCxnSpPr>
          <p:cNvPr id="64" name="struct.proof.3.link.3"/>
          <p:cNvCxnSpPr>
            <a:cxnSpLocks/>
          </p:cNvCxnSpPr>
          <p:nvPr/>
        </p:nvCxnSpPr>
        <p:spPr>
          <a:xfrm>
            <a:off x="9500244" y="2459280"/>
            <a:ext cx="233907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cxnSp>
        <p:nvCxnSpPr>
          <p:cNvPr id="65" name="struct.proof.3.fan.1.part1"/>
          <p:cNvCxnSpPr/>
          <p:nvPr/>
        </p:nvCxnSpPr>
        <p:spPr>
          <a:xfrm>
            <a:off x="10203347" y="2744480"/>
            <a:ext cx="196047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66" name="struct.proof.3.fan.1.part2"/>
          <p:cNvCxnSpPr/>
          <p:nvPr/>
        </p:nvCxnSpPr>
        <p:spPr>
          <a:xfrm flipV="1">
            <a:off x="10399394" y="2513594"/>
            <a:ext cx="0" cy="230886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67" name="struct.proof.3.fan.1.part3"/>
          <p:cNvCxnSpPr/>
          <p:nvPr/>
        </p:nvCxnSpPr>
        <p:spPr>
          <a:xfrm>
            <a:off x="10399394" y="2513594"/>
            <a:ext cx="196139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cxnSp>
        <p:nvCxnSpPr>
          <p:cNvPr id="68" name="struct.proof.3.fan.2.part1"/>
          <p:cNvCxnSpPr/>
          <p:nvPr/>
        </p:nvCxnSpPr>
        <p:spPr>
          <a:xfrm>
            <a:off x="10203347" y="2744480"/>
            <a:ext cx="196047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69" name="struct.proof.3.fan.2.part2"/>
          <p:cNvCxnSpPr/>
          <p:nvPr/>
        </p:nvCxnSpPr>
        <p:spPr>
          <a:xfrm>
            <a:off x="10399394" y="2744480"/>
            <a:ext cx="0" cy="230886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none" w="sm" len="sm"/>
          </a:ln>
          <a:effectLst/>
        </p:spPr>
      </p:cxnSp>
      <p:cxnSp>
        <p:nvCxnSpPr>
          <p:cNvPr id="70" name="struct.proof.3.fan.2.part3"/>
          <p:cNvCxnSpPr/>
          <p:nvPr/>
        </p:nvCxnSpPr>
        <p:spPr>
          <a:xfrm>
            <a:off x="10399394" y="2975366"/>
            <a:ext cx="196139" cy="0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sm" len="sm"/>
          </a:ln>
          <a:effectLst/>
        </p:spPr>
      </p:cxnSp>
      <p:sp>
        <p:nvSpPr>
          <p:cNvPr id="71" name="slot.proof.3.reach"/>
          <p:cNvSpPr txBox="1"/>
          <p:nvPr/>
        </p:nvSpPr>
        <p:spPr>
          <a:xfrm>
            <a:off x="9714326" y="1536192"/>
            <a:ext cx="1755648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Pilot first, then every region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truct.proof.3.brace"/>
          <p:cNvSpPr/>
          <p:nvPr/>
        </p:nvSpPr>
        <p:spPr>
          <a:xfrm rot="5400000">
            <a:off x="10512193" y="1091520"/>
            <a:ext cx="161771" cy="1852082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slot.proof.3.loop"/>
          <p:cNvSpPr txBox="1"/>
          <p:nvPr/>
        </p:nvSpPr>
        <p:spPr>
          <a:xfrm>
            <a:off x="8832870" y="3003213"/>
            <a:ext cx="671653" cy="123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Ratings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lot.proof.1.base.icon"/>
          <p:cNvSpPr/>
          <p:nvPr/>
        </p:nvSpPr>
        <p:spPr>
          <a:xfrm>
            <a:off x="2558689" y="3414370"/>
            <a:ext cx="256946" cy="25694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6" name="slot.proof.1.engine.1.icon"/>
          <p:cNvSpPr/>
          <p:nvPr/>
        </p:nvSpPr>
        <p:spPr>
          <a:xfrm>
            <a:off x="1210406" y="2657246"/>
            <a:ext cx="279806" cy="27980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2349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7" name="slot.proof.1.engine.2.icon"/>
          <p:cNvSpPr/>
          <p:nvPr/>
        </p:nvSpPr>
        <p:spPr>
          <a:xfrm>
            <a:off x="2549088" y="2653589"/>
            <a:ext cx="276149" cy="27614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8" name="slot.proof.1.policy.icon"/>
          <p:cNvSpPr/>
          <p:nvPr/>
        </p:nvSpPr>
        <p:spPr>
          <a:xfrm>
            <a:off x="3401308" y="2558491"/>
            <a:ext cx="281635" cy="28163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2349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9" name="slot.proof.2.actor.1.icon"/>
          <p:cNvSpPr/>
          <p:nvPr/>
        </p:nvSpPr>
        <p:spPr>
          <a:xfrm>
            <a:off x="4633005" y="1736446"/>
            <a:ext cx="332842" cy="33284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79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0" name="slot.proof.2.actor.2.icon"/>
          <p:cNvSpPr/>
          <p:nvPr/>
        </p:nvSpPr>
        <p:spPr>
          <a:xfrm>
            <a:off x="5386471" y="1736446"/>
            <a:ext cx="332842" cy="33284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12000" y="11000"/>
                </a:moveTo>
                <a:lnTo>
                  <a:pt x="16000" y="11000"/>
                </a:lnTo>
                <a:moveTo>
                  <a:pt x="12000" y="16000"/>
                </a:moveTo>
                <a:lnTo>
                  <a:pt x="16000" y="16000"/>
                </a:lnTo>
                <a:moveTo>
                  <a:pt x="8000" y="11000"/>
                </a:moveTo>
                <a:lnTo>
                  <a:pt x="8010" y="11000"/>
                </a:lnTo>
                <a:moveTo>
                  <a:pt x="8000" y="16000"/>
                </a:moveTo>
                <a:lnTo>
                  <a:pt x="8010" y="16000"/>
                </a:lnTo>
              </a:path>
            </a:pathLst>
          </a:custGeom>
          <a:noFill/>
          <a:ln w="279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1" name="slot.proof.2.actor.3.icon"/>
          <p:cNvSpPr/>
          <p:nvPr/>
        </p:nvSpPr>
        <p:spPr>
          <a:xfrm>
            <a:off x="7025076" y="1749247"/>
            <a:ext cx="308153" cy="308153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54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2" name="slot.proof.3.stage.1.icon"/>
          <p:cNvSpPr/>
          <p:nvPr/>
        </p:nvSpPr>
        <p:spPr>
          <a:xfrm>
            <a:off x="8312551" y="2386584"/>
            <a:ext cx="145390" cy="14539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3" name="slot.proof.3.stage.2.icon"/>
          <p:cNvSpPr/>
          <p:nvPr/>
        </p:nvSpPr>
        <p:spPr>
          <a:xfrm>
            <a:off x="8799926" y="2385670"/>
            <a:ext cx="147218" cy="14721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4" name="slot.proof.3.stage.3.icon"/>
          <p:cNvSpPr/>
          <p:nvPr/>
        </p:nvSpPr>
        <p:spPr>
          <a:xfrm>
            <a:off x="9288216" y="2385670"/>
            <a:ext cx="147218" cy="14721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5" name="slot.proof.3.stage.4.icon"/>
          <p:cNvSpPr/>
          <p:nvPr/>
        </p:nvSpPr>
        <p:spPr>
          <a:xfrm>
            <a:off x="9798451" y="2385670"/>
            <a:ext cx="147218" cy="14721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536" y="21686"/>
                </a:moveTo>
                <a:cubicBezTo>
                  <a:pt x="14614" y="21880"/>
                  <a:pt x="14804" y="22005"/>
                  <a:pt x="15013" y="22000"/>
                </a:cubicBezTo>
                <a:cubicBezTo>
                  <a:pt x="15222" y="21994"/>
                  <a:pt x="15405" y="21860"/>
                  <a:pt x="15473" y="21662"/>
                </a:cubicBezTo>
                <a:lnTo>
                  <a:pt x="21973" y="2662"/>
                </a:lnTo>
                <a:cubicBezTo>
                  <a:pt x="22038" y="2481"/>
                  <a:pt x="21993" y="2279"/>
                  <a:pt x="21857" y="2143"/>
                </a:cubicBezTo>
                <a:cubicBezTo>
                  <a:pt x="21721" y="2007"/>
                  <a:pt x="21519" y="1962"/>
                  <a:pt x="21338" y="2027"/>
                </a:cubicBezTo>
                <a:lnTo>
                  <a:pt x="2338" y="8527"/>
                </a:lnTo>
                <a:cubicBezTo>
                  <a:pt x="2140" y="8595"/>
                  <a:pt x="2006" y="8778"/>
                  <a:pt x="2000" y="8987"/>
                </a:cubicBezTo>
                <a:cubicBezTo>
                  <a:pt x="1995" y="9196"/>
                  <a:pt x="2120" y="9386"/>
                  <a:pt x="2314" y="9464"/>
                </a:cubicBezTo>
                <a:lnTo>
                  <a:pt x="10244" y="12644"/>
                </a:lnTo>
                <a:cubicBezTo>
                  <a:pt x="10751" y="12847"/>
                  <a:pt x="11152" y="13248"/>
                  <a:pt x="11356" y="13754"/>
                </a:cubicBezTo>
                <a:close/>
                <a:moveTo>
                  <a:pt x="21854" y="2147"/>
                </a:moveTo>
                <a:lnTo>
                  <a:pt x="10914" y="13086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use-case-map:domain-tabs-agent-mesh">
    <p:spTree>
      <p:nvGrpSpPr>
        <p:cNvPr id="1" name=""/>
        <p:cNvGrpSpPr/>
        <p:nvPr/>
      </p:nvGrpSpPr>
      <p:grpSpPr/>
      <p:sp>
        <p:nvSpPr>
          <p:cNvPr id="2" name="struct.domain.1.panel"/>
          <p:cNvSpPr/>
          <p:nvPr/>
        </p:nvSpPr>
        <p:spPr>
          <a:xfrm>
            <a:off x="926152" y="2478024"/>
            <a:ext cx="1816800" cy="18470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txBody>
          <a:bodyPr/>
          <a:p/>
        </p:txBody>
      </p:sp>
      <p:sp>
        <p:nvSpPr>
          <p:cNvPr id="3" name="struct.domain.2.panel"/>
          <p:cNvSpPr/>
          <p:nvPr/>
        </p:nvSpPr>
        <p:spPr>
          <a:xfrm>
            <a:off x="2999100" y="2478024"/>
            <a:ext cx="1961200" cy="18470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txBody>
          <a:bodyPr/>
          <a:p/>
        </p:txBody>
      </p:sp>
      <p:sp>
        <p:nvSpPr>
          <p:cNvPr id="4" name="state.spotlight"/>
          <p:cNvSpPr/>
          <p:nvPr/>
        </p:nvSpPr>
        <p:spPr>
          <a:xfrm>
            <a:off x="5170547" y="2478024"/>
            <a:ext cx="1816800" cy="1847088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struct.domain.4.panel"/>
          <p:cNvSpPr/>
          <p:nvPr/>
        </p:nvSpPr>
        <p:spPr>
          <a:xfrm>
            <a:off x="7281020" y="2478024"/>
            <a:ext cx="1816800" cy="18470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txBody>
          <a:bodyPr/>
          <a:p/>
        </p:txBody>
      </p:sp>
      <p:sp>
        <p:nvSpPr>
          <p:cNvPr id="6" name="struct.domain.5.panel"/>
          <p:cNvSpPr/>
          <p:nvPr/>
        </p:nvSpPr>
        <p:spPr>
          <a:xfrm>
            <a:off x="9391493" y="2478024"/>
            <a:ext cx="1816800" cy="18470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txBody>
          <a:bodyPr/>
          <a:p/>
        </p:txBody>
      </p:sp>
      <p:sp>
        <p:nvSpPr>
          <p:cNvPr id="7" name="struct.platform"/>
          <p:cNvSpPr txBox="1"/>
          <p:nvPr/>
        </p:nvSpPr>
        <p:spPr>
          <a:xfrm flipH="1">
            <a:off x="548640" y="4809744"/>
            <a:ext cx="11073384" cy="1325880"/>
          </a:xfrm>
          <a:prstGeom prst="rect">
            <a:avLst/>
          </a:prstGeom>
          <a:noFill/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40200" tIns="93467" rIns="140200" bIns="93467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grpSp>
        <p:nvGrpSpPr>
          <p:cNvPr id="8" name="struct.platform.chips"/>
          <p:cNvGrpSpPr/>
          <p:nvPr/>
        </p:nvGrpSpPr>
        <p:grpSpPr>
          <a:xfrm>
            <a:off x="714264" y="5197063"/>
            <a:ext cx="10729960" cy="871820"/>
            <a:chOff x="714264" y="5425663"/>
            <a:chExt cx="10729960" cy="871820"/>
          </a:xfrm>
          <a:effectLst/>
        </p:grpSpPr>
        <p:sp>
          <p:nvSpPr>
            <p:cNvPr id="9" name="slot.platform.chip.1"/>
            <p:cNvSpPr/>
            <p:nvPr/>
          </p:nvSpPr>
          <p:spPr>
            <a:xfrm>
              <a:off x="714265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Source ledger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0" name="slot.platform.chip.4"/>
            <p:cNvSpPr/>
            <p:nvPr/>
          </p:nvSpPr>
          <p:spPr>
            <a:xfrm>
              <a:off x="4284573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Rep roster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" name="slot.platform.chip.7"/>
            <p:cNvSpPr/>
            <p:nvPr/>
          </p:nvSpPr>
          <p:spPr>
            <a:xfrm>
              <a:off x="7854881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Agent catalog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" name="slot.platform.chip.2"/>
            <p:cNvSpPr/>
            <p:nvPr/>
          </p:nvSpPr>
          <p:spPr>
            <a:xfrm>
              <a:off x="1904368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Brand master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3" name="slot.platform.chip.5"/>
            <p:cNvSpPr/>
            <p:nvPr/>
          </p:nvSpPr>
          <p:spPr>
            <a:xfrm>
              <a:off x="5474676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Brief archive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4" name="slot.platform.chip.8"/>
            <p:cNvSpPr/>
            <p:nvPr/>
          </p:nvSpPr>
          <p:spPr>
            <a:xfrm>
              <a:off x="9044984" y="5425663"/>
              <a:ext cx="1209211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Quality tests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5" name="slot.platform.chip.3"/>
            <p:cNvSpPr/>
            <p:nvPr/>
          </p:nvSpPr>
          <p:spPr>
            <a:xfrm>
              <a:off x="3094471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Territory map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" name="slot.platform.chip.6"/>
            <p:cNvSpPr/>
            <p:nvPr/>
          </p:nvSpPr>
          <p:spPr>
            <a:xfrm>
              <a:off x="6664779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Claim library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7" name="slot.platform.chip.9"/>
            <p:cNvSpPr/>
            <p:nvPr/>
          </p:nvSpPr>
          <p:spPr>
            <a:xfrm>
              <a:off x="10386505" y="5425663"/>
              <a:ext cx="1057719" cy="3789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0" tIns="18288" rIns="45720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rial"/>
                  <a:ea typeface="Arial"/>
                  <a:cs typeface="Arial"/>
                </a:rPr>
                <a:t>Run history</a:t>
              </a:r>
              <a:endParaRPr lang="en-US" sz="9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8" name="slot.platform.service.1"/>
            <p:cNvSpPr/>
            <p:nvPr/>
          </p:nvSpPr>
          <p:spPr>
            <a:xfrm>
              <a:off x="714264" y="5920894"/>
              <a:ext cx="3437976" cy="376589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3152" tIns="18288" rIns="73152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Governed data for every domain</a:t>
              </a:r>
              <a:endPara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9" name="slot.platform.service.2"/>
            <p:cNvSpPr/>
            <p:nvPr/>
          </p:nvSpPr>
          <p:spPr>
            <a:xfrm>
              <a:off x="4284573" y="5920894"/>
              <a:ext cx="3437976" cy="376589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3152" tIns="18288" rIns="73152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One agent runtime, tested every week</a:t>
              </a:r>
              <a:endPara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0" name="slot.platform.service.3"/>
            <p:cNvSpPr/>
            <p:nvPr/>
          </p:nvSpPr>
          <p:spPr>
            <a:xfrm>
              <a:off x="7854883" y="5920894"/>
              <a:ext cx="3589079" cy="376589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27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3152" tIns="18288" rIns="73152" bIns="18288" anchor="ctr" anchorCtr="0" rtlCol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0" dirty="0">
                  <a:solidFill>
                    <a:schemeClr val="tx1">
                      <a:lumMod val="80000"/>
                      <a:lumOff val="20000"/>
                    </a:schemeClr>
                  </a:solidFill>
                  <a:latin typeface="Arial"/>
                  <a:ea typeface="Arial"/>
                  <a:cs typeface="Arial"/>
                </a:rPr>
                <a:t>Access, review and audit on every call</a:t>
              </a:r>
              <a:endPara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1" name="slot.header"/>
          <p:cNvSpPr txBox="1"/>
          <p:nvPr/>
        </p:nvSpPr>
        <p:spPr>
          <a:xfrm flipH="1">
            <a:off x="544600" y="989904"/>
            <a:ext cx="11069200" cy="28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Commercial use cases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key"/>
          <p:cNvSpPr txBox="1"/>
          <p:nvPr/>
        </p:nvSpPr>
        <p:spPr>
          <a:xfrm flipH="1">
            <a:off x="544600" y="1328663"/>
            <a:ext cx="11069200" cy="533200"/>
          </a:xfrm>
          <a:prstGeom prst="rect">
            <a:avLst/>
          </a:prstGeom>
          <a:solidFill>
            <a:schemeClr val="bg1"/>
          </a:solidFill>
          <a:ln w="927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40200" tIns="93467" rIns="140200" bIns="93467" anchor="ctr" anchorCtr="0">
            <a:noAutofit/>
          </a:bodyPr>
          <a:lstStyle/>
          <a:p>
            <a:pPr algn="ctr">
              <a:buSzPts val="1400"/>
            </a:pPr>
            <a:endParaRPr sz="1867"/>
          </a:p>
        </p:txBody>
      </p:sp>
      <p:sp>
        <p:nvSpPr>
          <p:cNvPr id="23" name="struct.legend.disc.3"/>
          <p:cNvSpPr/>
          <p:nvPr/>
        </p:nvSpPr>
        <p:spPr>
          <a:xfrm>
            <a:off x="7269480" y="1499616"/>
            <a:ext cx="182880" cy="182880"/>
          </a:xfrm>
          <a:prstGeom prst="ellipse">
            <a:avLst/>
          </a:prstGeom>
          <a:solidFill>
            <a:schemeClr val="bg1">
              <a:lumMod val="55000"/>
            </a:schemeClr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24" name="struct.legend.disc.2"/>
          <p:cNvSpPr/>
          <p:nvPr/>
        </p:nvSpPr>
        <p:spPr>
          <a:xfrm>
            <a:off x="6126480" y="1499616"/>
            <a:ext cx="182880" cy="182880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25" name="struct.legend.disc.1"/>
          <p:cNvSpPr/>
          <p:nvPr/>
        </p:nvSpPr>
        <p:spPr>
          <a:xfrm>
            <a:off x="4983480" y="1499616"/>
            <a:ext cx="182880" cy="182880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26" name="slot.domain.1"/>
          <p:cNvSpPr txBox="1"/>
          <p:nvPr/>
        </p:nvSpPr>
        <p:spPr>
          <a:xfrm flipH="1">
            <a:off x="926152" y="1947903"/>
            <a:ext cx="1816800" cy="4636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Market access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domain.3"/>
          <p:cNvSpPr txBox="1"/>
          <p:nvPr/>
        </p:nvSpPr>
        <p:spPr>
          <a:xfrm flipH="1">
            <a:off x="5170547" y="1947903"/>
            <a:ext cx="1816800" cy="463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 sales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domain.4"/>
          <p:cNvSpPr txBox="1"/>
          <p:nvPr/>
        </p:nvSpPr>
        <p:spPr>
          <a:xfrm flipH="1">
            <a:off x="7281020" y="1947903"/>
            <a:ext cx="1816800" cy="4636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Brand marketing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domain.5"/>
          <p:cNvSpPr txBox="1"/>
          <p:nvPr/>
        </p:nvSpPr>
        <p:spPr>
          <a:xfrm flipH="1">
            <a:off x="9391493" y="1947903"/>
            <a:ext cx="1816800" cy="4636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information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domain.2"/>
          <p:cNvSpPr txBox="1"/>
          <p:nvPr/>
        </p:nvSpPr>
        <p:spPr>
          <a:xfrm flipH="1">
            <a:off x="2999100" y="1947900"/>
            <a:ext cx="1961200" cy="46360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spcFirstLastPara="1" wrap="square" lIns="54864" tIns="18288" rIns="54864" bIns="18288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affairs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key.1.label"/>
          <p:cNvSpPr txBox="1"/>
          <p:nvPr/>
        </p:nvSpPr>
        <p:spPr>
          <a:xfrm>
            <a:off x="2029968" y="1344168"/>
            <a:ext cx="932688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Serves reps and medical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key.2.label"/>
          <p:cNvSpPr txBox="1"/>
          <p:nvPr/>
        </p:nvSpPr>
        <p:spPr>
          <a:xfrm>
            <a:off x="3712463" y="1344168"/>
            <a:ext cx="100584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stage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legend.1"/>
          <p:cNvSpPr txBox="1"/>
          <p:nvPr/>
        </p:nvSpPr>
        <p:spPr>
          <a:xfrm>
            <a:off x="5212080" y="1426464"/>
            <a:ext cx="86868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Ready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legend.3"/>
          <p:cNvSpPr txBox="1"/>
          <p:nvPr/>
        </p:nvSpPr>
        <p:spPr>
          <a:xfrm>
            <a:off x="7498079" y="1426464"/>
            <a:ext cx="86868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Shared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legend.2"/>
          <p:cNvSpPr txBox="1"/>
          <p:nvPr/>
        </p:nvSpPr>
        <p:spPr>
          <a:xfrm>
            <a:off x="6355080" y="1426464"/>
            <a:ext cx="86868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Planned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6" name="struct.key.divider.1"/>
          <p:cNvCxnSpPr/>
          <p:nvPr/>
        </p:nvCxnSpPr>
        <p:spPr>
          <a:xfrm>
            <a:off x="2999243" y="1409257"/>
            <a:ext cx="0" cy="372000"/>
          </a:xfrm>
          <a:prstGeom prst="straightConnector1">
            <a:avLst/>
          </a:prstGeom>
          <a:noFill/>
          <a:ln w="9275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7" name="struct.key.divider.2"/>
          <p:cNvCxnSpPr/>
          <p:nvPr/>
        </p:nvCxnSpPr>
        <p:spPr>
          <a:xfrm>
            <a:off x="8806669" y="1409257"/>
            <a:ext cx="0" cy="372000"/>
          </a:xfrm>
          <a:prstGeom prst="straightConnector1">
            <a:avLst/>
          </a:prstGeom>
          <a:noFill/>
          <a:ln w="9275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38" name="slot.key.3.label"/>
          <p:cNvSpPr txBox="1"/>
          <p:nvPr/>
        </p:nvSpPr>
        <p:spPr>
          <a:xfrm>
            <a:off x="9509760" y="1344168"/>
            <a:ext cx="2011680" cy="49377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Start where sources and owners are ready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platform.label"/>
          <p:cNvSpPr/>
          <p:nvPr/>
        </p:nvSpPr>
        <p:spPr>
          <a:xfrm>
            <a:off x="2770632" y="4873752"/>
            <a:ext cx="6629400" cy="31089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3467" tIns="46733" rIns="93467" bIns="46733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Shared foundation services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title"/>
          <p:cNvSpPr txBox="1">
            <a:spLocks noGrp="1"/>
          </p:cNvSpPr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Field sales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goes first, because its brief agents feed every other domain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truct.agent.1.disc"/>
          <p:cNvSpPr/>
          <p:nvPr/>
        </p:nvSpPr>
        <p:spPr>
          <a:xfrm>
            <a:off x="981016" y="2587751"/>
            <a:ext cx="329184" cy="329184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47" name="slot.agent.1.name"/>
          <p:cNvSpPr txBox="1"/>
          <p:nvPr/>
        </p:nvSpPr>
        <p:spPr>
          <a:xfrm>
            <a:off x="1365064" y="2560320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Payer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agent.1.task"/>
          <p:cNvSpPr txBox="1"/>
          <p:nvPr/>
        </p:nvSpPr>
        <p:spPr>
          <a:xfrm>
            <a:off x="1365064" y="2761488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Formulary changes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truct.agent.2.disc"/>
          <p:cNvSpPr/>
          <p:nvPr/>
        </p:nvSpPr>
        <p:spPr>
          <a:xfrm>
            <a:off x="981016" y="3026663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51" name="slot.agent.2.name"/>
          <p:cNvSpPr txBox="1"/>
          <p:nvPr/>
        </p:nvSpPr>
        <p:spPr>
          <a:xfrm>
            <a:off x="1365064" y="2999232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Tender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agent.2.task"/>
          <p:cNvSpPr txBox="1"/>
          <p:nvPr/>
        </p:nvSpPr>
        <p:spPr>
          <a:xfrm>
            <a:off x="1365064" y="3200400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Bid summaries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truct.agent.3.disc"/>
          <p:cNvSpPr/>
          <p:nvPr/>
        </p:nvSpPr>
        <p:spPr>
          <a:xfrm>
            <a:off x="981016" y="3465575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55" name="slot.agent.3.name"/>
          <p:cNvSpPr txBox="1"/>
          <p:nvPr/>
        </p:nvSpPr>
        <p:spPr>
          <a:xfrm>
            <a:off x="1365064" y="3438144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Contract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agent.3.task"/>
          <p:cNvSpPr txBox="1"/>
          <p:nvPr/>
        </p:nvSpPr>
        <p:spPr>
          <a:xfrm>
            <a:off x="1365064" y="3639312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Contract alerts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truct.agent.4.disc"/>
          <p:cNvSpPr/>
          <p:nvPr/>
        </p:nvSpPr>
        <p:spPr>
          <a:xfrm>
            <a:off x="981016" y="3904488"/>
            <a:ext cx="329184" cy="329184"/>
          </a:xfrm>
          <a:prstGeom prst="ellipse">
            <a:avLst/>
          </a:prstGeom>
          <a:solidFill>
            <a:schemeClr val="bg1">
              <a:lumMod val="55000"/>
            </a:schemeClr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59" name="slot.agent.4.name"/>
          <p:cNvSpPr txBox="1"/>
          <p:nvPr/>
        </p:nvSpPr>
        <p:spPr>
          <a:xfrm>
            <a:off x="1365064" y="3877056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 scan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agent.4.task"/>
          <p:cNvSpPr txBox="1"/>
          <p:nvPr/>
        </p:nvSpPr>
        <p:spPr>
          <a:xfrm>
            <a:off x="1365064" y="4078224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Payer notices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truct.agent.5.disc"/>
          <p:cNvSpPr/>
          <p:nvPr/>
        </p:nvSpPr>
        <p:spPr>
          <a:xfrm>
            <a:off x="3053964" y="2587751"/>
            <a:ext cx="329184" cy="329184"/>
          </a:xfrm>
          <a:prstGeom prst="ellipse">
            <a:avLst/>
          </a:prstGeom>
          <a:solidFill>
            <a:schemeClr val="bg1">
              <a:lumMod val="55000"/>
            </a:schemeClr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63" name="slot.agent.5.name"/>
          <p:cNvSpPr txBox="1"/>
          <p:nvPr/>
        </p:nvSpPr>
        <p:spPr>
          <a:xfrm>
            <a:off x="3438012" y="2560320"/>
            <a:ext cx="14857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agent.5.task"/>
          <p:cNvSpPr txBox="1"/>
          <p:nvPr/>
        </p:nvSpPr>
        <p:spPr>
          <a:xfrm>
            <a:off x="3438012" y="2761488"/>
            <a:ext cx="14857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signoff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truct.agent.6.disc"/>
          <p:cNvSpPr/>
          <p:nvPr/>
        </p:nvSpPr>
        <p:spPr>
          <a:xfrm>
            <a:off x="3053964" y="3026663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67" name="slot.agent.6.name"/>
          <p:cNvSpPr txBox="1"/>
          <p:nvPr/>
        </p:nvSpPr>
        <p:spPr>
          <a:xfrm>
            <a:off x="3438012" y="2999232"/>
            <a:ext cx="14857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Trial scan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agent.6.task"/>
          <p:cNvSpPr txBox="1"/>
          <p:nvPr/>
        </p:nvSpPr>
        <p:spPr>
          <a:xfrm>
            <a:off x="3438012" y="3200400"/>
            <a:ext cx="14857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Registry updates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truct.agent.7.disc"/>
          <p:cNvSpPr/>
          <p:nvPr/>
        </p:nvSpPr>
        <p:spPr>
          <a:xfrm>
            <a:off x="3053964" y="3465575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71" name="slot.agent.7.name"/>
          <p:cNvSpPr txBox="1"/>
          <p:nvPr/>
        </p:nvSpPr>
        <p:spPr>
          <a:xfrm>
            <a:off x="3438012" y="3438144"/>
            <a:ext cx="14857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Congress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lot.agent.7.task"/>
          <p:cNvSpPr txBox="1"/>
          <p:nvPr/>
        </p:nvSpPr>
        <p:spPr>
          <a:xfrm>
            <a:off x="3438012" y="3639312"/>
            <a:ext cx="14857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Congress abstracts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truct.agent.8.disc"/>
          <p:cNvSpPr/>
          <p:nvPr/>
        </p:nvSpPr>
        <p:spPr>
          <a:xfrm>
            <a:off x="3053964" y="3904488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75" name="slot.agent.8.name"/>
          <p:cNvSpPr txBox="1"/>
          <p:nvPr/>
        </p:nvSpPr>
        <p:spPr>
          <a:xfrm>
            <a:off x="3438012" y="3877056"/>
            <a:ext cx="14857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Evidence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lot.agent.8.task"/>
          <p:cNvSpPr txBox="1"/>
          <p:nvPr/>
        </p:nvSpPr>
        <p:spPr>
          <a:xfrm>
            <a:off x="3438012" y="4078224"/>
            <a:ext cx="14857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Study summaries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truct.agent.9.disc"/>
          <p:cNvSpPr/>
          <p:nvPr/>
        </p:nvSpPr>
        <p:spPr>
          <a:xfrm>
            <a:off x="5225410" y="2587751"/>
            <a:ext cx="329184" cy="329184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79" name="slot.agent.9.name"/>
          <p:cNvSpPr txBox="1"/>
          <p:nvPr/>
        </p:nvSpPr>
        <p:spPr>
          <a:xfrm>
            <a:off x="5609459" y="2560320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 scan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agent.9.task"/>
          <p:cNvSpPr txBox="1"/>
          <p:nvPr/>
        </p:nvSpPr>
        <p:spPr>
          <a:xfrm>
            <a:off x="5609459" y="2761488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Public feeds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truct.agent.10.disc"/>
          <p:cNvSpPr/>
          <p:nvPr/>
        </p:nvSpPr>
        <p:spPr>
          <a:xfrm>
            <a:off x="5225410" y="3026663"/>
            <a:ext cx="329184" cy="329184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83" name="slot.agent.10.name"/>
          <p:cNvSpPr txBox="1"/>
          <p:nvPr/>
        </p:nvSpPr>
        <p:spPr>
          <a:xfrm>
            <a:off x="5609459" y="2999232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writer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agent.10.task"/>
          <p:cNvSpPr txBox="1"/>
          <p:nvPr/>
        </p:nvSpPr>
        <p:spPr>
          <a:xfrm>
            <a:off x="5609459" y="3200400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Territory pages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truct.agent.11.disc"/>
          <p:cNvSpPr/>
          <p:nvPr/>
        </p:nvSpPr>
        <p:spPr>
          <a:xfrm>
            <a:off x="5225410" y="3465575"/>
            <a:ext cx="329184" cy="329184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87" name="slot.agent.11.name"/>
          <p:cNvSpPr txBox="1"/>
          <p:nvPr/>
        </p:nvSpPr>
        <p:spPr>
          <a:xfrm>
            <a:off x="5609459" y="3438144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slot.agent.11.task"/>
          <p:cNvSpPr txBox="1"/>
          <p:nvPr/>
        </p:nvSpPr>
        <p:spPr>
          <a:xfrm>
            <a:off x="5609459" y="3639312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signoff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struct.agent.12.disc"/>
          <p:cNvSpPr/>
          <p:nvPr/>
        </p:nvSpPr>
        <p:spPr>
          <a:xfrm>
            <a:off x="5225410" y="3904488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91" name="slot.agent.12.name"/>
          <p:cNvSpPr txBox="1"/>
          <p:nvPr/>
        </p:nvSpPr>
        <p:spPr>
          <a:xfrm>
            <a:off x="5609459" y="3877056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Message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lot.agent.12.task"/>
          <p:cNvSpPr txBox="1"/>
          <p:nvPr/>
        </p:nvSpPr>
        <p:spPr>
          <a:xfrm>
            <a:off x="5609459" y="4078224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Talking points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struct.agent.13.disc"/>
          <p:cNvSpPr/>
          <p:nvPr/>
        </p:nvSpPr>
        <p:spPr>
          <a:xfrm>
            <a:off x="7335884" y="2587751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95" name="slot.agent.13.name"/>
          <p:cNvSpPr txBox="1"/>
          <p:nvPr/>
        </p:nvSpPr>
        <p:spPr>
          <a:xfrm>
            <a:off x="7719932" y="2560320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Launch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slot.agent.13.task"/>
          <p:cNvSpPr txBox="1"/>
          <p:nvPr/>
        </p:nvSpPr>
        <p:spPr>
          <a:xfrm>
            <a:off x="7719932" y="2761488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New entrants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struct.agent.14.disc"/>
          <p:cNvSpPr/>
          <p:nvPr/>
        </p:nvSpPr>
        <p:spPr>
          <a:xfrm>
            <a:off x="7335884" y="3026663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99" name="slot.agent.14.name"/>
          <p:cNvSpPr txBox="1"/>
          <p:nvPr/>
        </p:nvSpPr>
        <p:spPr>
          <a:xfrm>
            <a:off x="7719932" y="2999232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Campaign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slot.agent.14.task"/>
          <p:cNvSpPr txBox="1"/>
          <p:nvPr/>
        </p:nvSpPr>
        <p:spPr>
          <a:xfrm>
            <a:off x="7719932" y="3200400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Campaign changes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struct.agent.15.disc"/>
          <p:cNvSpPr/>
          <p:nvPr/>
        </p:nvSpPr>
        <p:spPr>
          <a:xfrm>
            <a:off x="7335884" y="3465575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03" name="slot.agent.15.name"/>
          <p:cNvSpPr txBox="1"/>
          <p:nvPr/>
        </p:nvSpPr>
        <p:spPr>
          <a:xfrm>
            <a:off x="7719932" y="3438144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Brand plan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slot.agent.15.task"/>
          <p:cNvSpPr txBox="1"/>
          <p:nvPr/>
        </p:nvSpPr>
        <p:spPr>
          <a:xfrm>
            <a:off x="7719932" y="3639312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 refresh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struct.agent.16.disc"/>
          <p:cNvSpPr/>
          <p:nvPr/>
        </p:nvSpPr>
        <p:spPr>
          <a:xfrm>
            <a:off x="7335884" y="3904488"/>
            <a:ext cx="329184" cy="329184"/>
          </a:xfrm>
          <a:prstGeom prst="ellipse">
            <a:avLst/>
          </a:prstGeom>
          <a:solidFill>
            <a:schemeClr val="bg1">
              <a:lumMod val="55000"/>
            </a:schemeClr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07" name="slot.agent.16.name"/>
          <p:cNvSpPr txBox="1"/>
          <p:nvPr/>
        </p:nvSpPr>
        <p:spPr>
          <a:xfrm>
            <a:off x="7719932" y="3877056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writer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slot.agent.16.task"/>
          <p:cNvSpPr txBox="1"/>
          <p:nvPr/>
        </p:nvSpPr>
        <p:spPr>
          <a:xfrm>
            <a:off x="7719932" y="4078224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Brand summaries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struct.agent.17.disc"/>
          <p:cNvSpPr/>
          <p:nvPr/>
        </p:nvSpPr>
        <p:spPr>
          <a:xfrm>
            <a:off x="9446357" y="2587751"/>
            <a:ext cx="329184" cy="329184"/>
          </a:xfrm>
          <a:prstGeom prst="ellipse">
            <a:avLst/>
          </a:prstGeom>
          <a:solidFill>
            <a:schemeClr val="accent1"/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11" name="slot.agent.17.name"/>
          <p:cNvSpPr txBox="1"/>
          <p:nvPr/>
        </p:nvSpPr>
        <p:spPr>
          <a:xfrm>
            <a:off x="9830405" y="2560320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Inquiry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slot.agent.17.task"/>
          <p:cNvSpPr txBox="1"/>
          <p:nvPr/>
        </p:nvSpPr>
        <p:spPr>
          <a:xfrm>
            <a:off x="9830405" y="2761488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Question triage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struct.agent.18.disc"/>
          <p:cNvSpPr/>
          <p:nvPr/>
        </p:nvSpPr>
        <p:spPr>
          <a:xfrm>
            <a:off x="9446357" y="3026663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15" name="slot.agent.18.name"/>
          <p:cNvSpPr txBox="1"/>
          <p:nvPr/>
        </p:nvSpPr>
        <p:spPr>
          <a:xfrm>
            <a:off x="9830405" y="2999232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Answer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slot.agent.18.task"/>
          <p:cNvSpPr txBox="1"/>
          <p:nvPr/>
        </p:nvSpPr>
        <p:spPr>
          <a:xfrm>
            <a:off x="9830405" y="3200400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Answer drafts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struct.agent.19.disc"/>
          <p:cNvSpPr/>
          <p:nvPr/>
        </p:nvSpPr>
        <p:spPr>
          <a:xfrm>
            <a:off x="9446357" y="3465575"/>
            <a:ext cx="329184" cy="329184"/>
          </a:xfrm>
          <a:prstGeom prst="ellipse">
            <a:avLst/>
          </a:prstGeom>
          <a:solidFill>
            <a:schemeClr val="bg1">
              <a:lumMod val="55000"/>
            </a:schemeClr>
          </a:solidFill>
          <a:ln w="9275" cap="flat" cmpd="sng">
            <a:solidFill>
              <a:schemeClr val="bg1">
                <a:lumMod val="5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19" name="slot.agent.19.name"/>
          <p:cNvSpPr txBox="1"/>
          <p:nvPr/>
        </p:nvSpPr>
        <p:spPr>
          <a:xfrm>
            <a:off x="9830405" y="3438144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lot.agent.19.task"/>
          <p:cNvSpPr txBox="1"/>
          <p:nvPr/>
        </p:nvSpPr>
        <p:spPr>
          <a:xfrm>
            <a:off x="9830405" y="3639312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Answer signoff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struct.agent.20.disc"/>
          <p:cNvSpPr/>
          <p:nvPr/>
        </p:nvSpPr>
        <p:spPr>
          <a:xfrm>
            <a:off x="9446357" y="3904488"/>
            <a:ext cx="329184" cy="329184"/>
          </a:xfrm>
          <a:prstGeom prst="ellipse">
            <a:avLst/>
          </a:prstGeom>
          <a:solidFill>
            <a:schemeClr val="bg1"/>
          </a:solidFill>
          <a:ln w="92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18667" tIns="59333" rIns="118667" bIns="59333" anchor="ctr" anchorCtr="0">
            <a:noAutofit/>
          </a:bodyPr>
          <a:lstStyle/>
          <a:p>
            <a:pPr algn="ctr">
              <a:buSzPts val="1400"/>
            </a:pPr>
            <a:endParaRPr sz="1867">
              <a:solidFill>
                <a:schemeClr val="bg1"/>
              </a:solidFill>
            </a:endParaRPr>
          </a:p>
        </p:txBody>
      </p:sp>
      <p:sp>
        <p:nvSpPr>
          <p:cNvPr id="123" name="slot.agent.20.name"/>
          <p:cNvSpPr txBox="1"/>
          <p:nvPr/>
        </p:nvSpPr>
        <p:spPr>
          <a:xfrm>
            <a:off x="9830405" y="3877056"/>
            <a:ext cx="1341312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Safety agent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lot.agent.20.task"/>
          <p:cNvSpPr txBox="1"/>
          <p:nvPr/>
        </p:nvSpPr>
        <p:spPr>
          <a:xfrm>
            <a:off x="9830405" y="4078224"/>
            <a:ext cx="1341312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Event routing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struct.feed.1"/>
          <p:cNvSpPr/>
          <p:nvPr/>
        </p:nvSpPr>
        <p:spPr>
          <a:xfrm>
            <a:off x="1834552" y="4325112"/>
            <a:ext cx="4244395" cy="237744"/>
          </a:xfrm>
          <a:custGeom>
            <a:avLst/>
            <a:gdLst/>
            <a:ahLst/>
            <a:cxnLst/>
            <a:rect l="l" t="t" r="r" b="b"/>
            <a:pathLst>
              <a:path w="4244395" h="237744" fill="none">
                <a:moveTo>
                  <a:pt x="4244395" y="0"/>
                </a:moveTo>
                <a:lnTo>
                  <a:pt x="4244395" y="237744"/>
                </a:lnTo>
                <a:lnTo>
                  <a:pt x="0" y="23774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126" name="struct.feed.2"/>
          <p:cNvSpPr/>
          <p:nvPr/>
        </p:nvSpPr>
        <p:spPr>
          <a:xfrm>
            <a:off x="3979700" y="4325112"/>
            <a:ext cx="2099247" cy="237744"/>
          </a:xfrm>
          <a:custGeom>
            <a:avLst/>
            <a:gdLst/>
            <a:ahLst/>
            <a:cxnLst/>
            <a:rect l="l" t="t" r="r" b="b"/>
            <a:pathLst>
              <a:path w="2099247" h="237744" fill="none">
                <a:moveTo>
                  <a:pt x="2099247" y="0"/>
                </a:moveTo>
                <a:lnTo>
                  <a:pt x="2099247" y="237744"/>
                </a:lnTo>
                <a:lnTo>
                  <a:pt x="0" y="23774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127" name="struct.feed.4"/>
          <p:cNvSpPr/>
          <p:nvPr/>
        </p:nvSpPr>
        <p:spPr>
          <a:xfrm>
            <a:off x="6078947" y="4325112"/>
            <a:ext cx="2110473" cy="237744"/>
          </a:xfrm>
          <a:custGeom>
            <a:avLst/>
            <a:gdLst/>
            <a:ahLst/>
            <a:cxnLst/>
            <a:rect l="l" t="t" r="r" b="b"/>
            <a:pathLst>
              <a:path w="2110473" h="237744" fill="none">
                <a:moveTo>
                  <a:pt x="0" y="0"/>
                </a:moveTo>
                <a:lnTo>
                  <a:pt x="0" y="237744"/>
                </a:lnTo>
                <a:lnTo>
                  <a:pt x="2110473" y="237744"/>
                </a:lnTo>
                <a:lnTo>
                  <a:pt x="2110473" y="0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128" name="struct.feed.5"/>
          <p:cNvSpPr/>
          <p:nvPr/>
        </p:nvSpPr>
        <p:spPr>
          <a:xfrm>
            <a:off x="6078947" y="4325112"/>
            <a:ext cx="4220946" cy="237744"/>
          </a:xfrm>
          <a:custGeom>
            <a:avLst/>
            <a:gdLst/>
            <a:ahLst/>
            <a:cxnLst/>
            <a:rect l="l" t="t" r="r" b="b"/>
            <a:pathLst>
              <a:path w="4220946" h="237744" fill="none">
                <a:moveTo>
                  <a:pt x="0" y="0"/>
                </a:moveTo>
                <a:lnTo>
                  <a:pt x="0" y="237744"/>
                </a:lnTo>
                <a:lnTo>
                  <a:pt x="4220946" y="237744"/>
                </a:lnTo>
                <a:lnTo>
                  <a:pt x="4220946" y="0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129" name="slot.key.1.icon.1"/>
          <p:cNvSpPr/>
          <p:nvPr/>
        </p:nvSpPr>
        <p:spPr>
          <a:xfrm>
            <a:off x="1098194" y="1420520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30" name="slot.key.1.icon.2"/>
          <p:cNvSpPr/>
          <p:nvPr/>
        </p:nvSpPr>
        <p:spPr>
          <a:xfrm>
            <a:off x="1580998" y="1430579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2000"/>
                </a:moveTo>
                <a:lnTo>
                  <a:pt x="11000" y="4000"/>
                </a:lnTo>
                <a:moveTo>
                  <a:pt x="5000" y="2000"/>
                </a:moveTo>
                <a:lnTo>
                  <a:pt x="5000" y="4000"/>
                </a:lnTo>
                <a:moveTo>
                  <a:pt x="5000" y="3000"/>
                </a:move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9000"/>
                </a:lnTo>
                <a:cubicBezTo>
                  <a:pt x="2000" y="12314"/>
                  <a:pt x="4686" y="15000"/>
                  <a:pt x="8000" y="15000"/>
                </a:cubicBezTo>
                <a:cubicBezTo>
                  <a:pt x="11314" y="15000"/>
                  <a:pt x="14000" y="12314"/>
                  <a:pt x="14000" y="9000"/>
                </a:cubicBezTo>
                <a:lnTo>
                  <a:pt x="14000" y="5000"/>
                </a:lnTo>
                <a:cubicBezTo>
                  <a:pt x="14000" y="3895"/>
                  <a:pt x="13105" y="3000"/>
                  <a:pt x="12000" y="3000"/>
                </a:cubicBezTo>
                <a:lnTo>
                  <a:pt x="11000" y="3000"/>
                </a:lnTo>
                <a:moveTo>
                  <a:pt x="8000" y="15000"/>
                </a:moveTo>
                <a:cubicBezTo>
                  <a:pt x="8000" y="18314"/>
                  <a:pt x="10686" y="21000"/>
                  <a:pt x="14000" y="21000"/>
                </a:cubicBezTo>
                <a:cubicBezTo>
                  <a:pt x="17314" y="21000"/>
                  <a:pt x="20000" y="18314"/>
                  <a:pt x="20000" y="15000"/>
                </a:cubicBezTo>
                <a:lnTo>
                  <a:pt x="20000" y="12000"/>
                </a:lnTo>
                <a:moveTo>
                  <a:pt x="22000" y="10000"/>
                </a:moveTo>
                <a:cubicBezTo>
                  <a:pt x="22000" y="11105"/>
                  <a:pt x="21105" y="12000"/>
                  <a:pt x="20000" y="12000"/>
                </a:cubicBezTo>
                <a:cubicBezTo>
                  <a:pt x="18895" y="12000"/>
                  <a:pt x="18000" y="11105"/>
                  <a:pt x="18000" y="10000"/>
                </a:cubicBezTo>
                <a:cubicBezTo>
                  <a:pt x="18000" y="8895"/>
                  <a:pt x="18895" y="8000"/>
                  <a:pt x="20000" y="8000"/>
                </a:cubicBezTo>
                <a:cubicBezTo>
                  <a:pt x="21105" y="8000"/>
                  <a:pt x="22000" y="8895"/>
                  <a:pt x="22000" y="10000"/>
                </a:cubicBezTo>
                <a:close/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31" name="slot.key.2.icon"/>
          <p:cNvSpPr/>
          <p:nvPr/>
        </p:nvSpPr>
        <p:spPr>
          <a:xfrm>
            <a:off x="3296412" y="1430122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3000"/>
                </a:moveTo>
                <a:lnTo>
                  <a:pt x="12000" y="21000"/>
                </a:lnTo>
                <a:moveTo>
                  <a:pt x="19000" y="8000"/>
                </a:moveTo>
                <a:lnTo>
                  <a:pt x="22000" y="16000"/>
                </a:lnTo>
                <a:cubicBezTo>
                  <a:pt x="20222" y="17333"/>
                  <a:pt x="17778" y="17333"/>
                  <a:pt x="16000" y="16000"/>
                </a:cubicBezTo>
                <a:close/>
                <a:moveTo>
                  <a:pt x="19000" y="8000"/>
                </a:moveTo>
                <a:lnTo>
                  <a:pt x="19000" y="7000"/>
                </a:lnTo>
                <a:moveTo>
                  <a:pt x="3000" y="7000"/>
                </a:moveTo>
                <a:lnTo>
                  <a:pt x="4000" y="7000"/>
                </a:lnTo>
                <a:cubicBezTo>
                  <a:pt x="6790" y="7000"/>
                  <a:pt x="9538" y="6313"/>
                  <a:pt x="12000" y="5000"/>
                </a:cubicBezTo>
                <a:cubicBezTo>
                  <a:pt x="14462" y="6313"/>
                  <a:pt x="17210" y="7000"/>
                  <a:pt x="20000" y="7000"/>
                </a:cubicBezTo>
                <a:lnTo>
                  <a:pt x="21000" y="7000"/>
                </a:lnTo>
                <a:moveTo>
                  <a:pt x="5000" y="8000"/>
                </a:moveTo>
                <a:lnTo>
                  <a:pt x="8000" y="16000"/>
                </a:lnTo>
                <a:cubicBezTo>
                  <a:pt x="6222" y="17333"/>
                  <a:pt x="3778" y="17333"/>
                  <a:pt x="2000" y="16000"/>
                </a:cubicBezTo>
                <a:close/>
                <a:moveTo>
                  <a:pt x="5000" y="8000"/>
                </a:moveTo>
                <a:lnTo>
                  <a:pt x="5000" y="7000"/>
                </a:lnTo>
                <a:moveTo>
                  <a:pt x="7000" y="21000"/>
                </a:moveTo>
                <a:lnTo>
                  <a:pt x="17000" y="21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32" name="slot.key.3.icon"/>
          <p:cNvSpPr/>
          <p:nvPr/>
        </p:nvSpPr>
        <p:spPr>
          <a:xfrm>
            <a:off x="9005011" y="141183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34" name="slot.agent.2.icon"/>
          <p:cNvSpPr/>
          <p:nvPr/>
        </p:nvSpPr>
        <p:spPr>
          <a:xfrm>
            <a:off x="1045024" y="309067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35" name="slot.agent.3.icon"/>
          <p:cNvSpPr/>
          <p:nvPr/>
        </p:nvSpPr>
        <p:spPr>
          <a:xfrm>
            <a:off x="1045024" y="352958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36" name="slot.agent.4.icon"/>
          <p:cNvSpPr/>
          <p:nvPr/>
        </p:nvSpPr>
        <p:spPr>
          <a:xfrm>
            <a:off x="1045024" y="3968496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37" name="slot.agent.5.icon"/>
          <p:cNvSpPr/>
          <p:nvPr/>
        </p:nvSpPr>
        <p:spPr>
          <a:xfrm>
            <a:off x="3117972" y="265176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38" name="slot.agent.6.icon"/>
          <p:cNvSpPr/>
          <p:nvPr/>
        </p:nvSpPr>
        <p:spPr>
          <a:xfrm>
            <a:off x="3117972" y="309067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39" name="slot.agent.7.icon"/>
          <p:cNvSpPr/>
          <p:nvPr/>
        </p:nvSpPr>
        <p:spPr>
          <a:xfrm>
            <a:off x="3117972" y="352958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40" name="slot.agent.8.icon"/>
          <p:cNvSpPr/>
          <p:nvPr/>
        </p:nvSpPr>
        <p:spPr>
          <a:xfrm>
            <a:off x="3117972" y="3968496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44" name="slot.agent.12.icon"/>
          <p:cNvSpPr/>
          <p:nvPr/>
        </p:nvSpPr>
        <p:spPr>
          <a:xfrm>
            <a:off x="5289419" y="3968496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45" name="slot.agent.13.icon"/>
          <p:cNvSpPr/>
          <p:nvPr/>
        </p:nvSpPr>
        <p:spPr>
          <a:xfrm>
            <a:off x="7399892" y="265176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46" name="slot.agent.14.icon"/>
          <p:cNvSpPr/>
          <p:nvPr/>
        </p:nvSpPr>
        <p:spPr>
          <a:xfrm>
            <a:off x="7399892" y="309067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47" name="slot.agent.15.icon"/>
          <p:cNvSpPr/>
          <p:nvPr/>
        </p:nvSpPr>
        <p:spPr>
          <a:xfrm>
            <a:off x="7399892" y="352958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48" name="slot.agent.16.icon"/>
          <p:cNvSpPr/>
          <p:nvPr/>
        </p:nvSpPr>
        <p:spPr>
          <a:xfrm>
            <a:off x="7399892" y="3968496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50" name="slot.agent.18.icon"/>
          <p:cNvSpPr/>
          <p:nvPr/>
        </p:nvSpPr>
        <p:spPr>
          <a:xfrm>
            <a:off x="9510365" y="309067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51" name="slot.agent.19.icon"/>
          <p:cNvSpPr/>
          <p:nvPr/>
        </p:nvSpPr>
        <p:spPr>
          <a:xfrm>
            <a:off x="9510365" y="352958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52" name="slot.agent.20.icon"/>
          <p:cNvSpPr/>
          <p:nvPr/>
        </p:nvSpPr>
        <p:spPr>
          <a:xfrm>
            <a:off x="9510365" y="3968496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53" name="slot.agent.1.icon"/>
          <p:cNvSpPr/>
          <p:nvPr/>
        </p:nvSpPr>
        <p:spPr>
          <a:xfrm>
            <a:off x="1045024" y="265176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54" name="slot.agent.9.icon"/>
          <p:cNvSpPr/>
          <p:nvPr/>
        </p:nvSpPr>
        <p:spPr>
          <a:xfrm>
            <a:off x="5289419" y="265176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55" name="slot.agent.10.icon"/>
          <p:cNvSpPr/>
          <p:nvPr/>
        </p:nvSpPr>
        <p:spPr>
          <a:xfrm>
            <a:off x="5289419" y="3090672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56" name="slot.agent.11.icon"/>
          <p:cNvSpPr/>
          <p:nvPr/>
        </p:nvSpPr>
        <p:spPr>
          <a:xfrm>
            <a:off x="5289419" y="3529584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57" name="slot.agent.17.icon"/>
          <p:cNvSpPr/>
          <p:nvPr/>
        </p:nvSpPr>
        <p:spPr>
          <a:xfrm>
            <a:off x="9510365" y="2651760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651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eep-dive:stage-band-brief-rail">
    <p:spTree>
      <p:nvGrpSpPr>
        <p:cNvPr id="1" name=""/>
        <p:cNvGrpSpPr/>
        <p:nvPr/>
      </p:nvGrpSpPr>
      <p:grpSpPr/>
      <p:cxnSp>
        <p:nvCxnSpPr>
          <p:cNvPr id="2" name="struct.capture.link"/>
          <p:cNvCxnSpPr/>
          <p:nvPr/>
        </p:nvCxnSpPr>
        <p:spPr>
          <a:xfrm>
            <a:off x="1126307" y="3719078"/>
            <a:ext cx="12297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3" name="struct.capture.node"/>
          <p:cNvSpPr/>
          <p:nvPr/>
        </p:nvSpPr>
        <p:spPr>
          <a:xfrm>
            <a:off x="1427888" y="3291840"/>
            <a:ext cx="626610" cy="7890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truct.outcomes"/>
          <p:cNvSpPr/>
          <p:nvPr/>
        </p:nvSpPr>
        <p:spPr>
          <a:xfrm>
            <a:off x="6144755" y="4371340"/>
            <a:ext cx="2354748" cy="7909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rtlCol="0" anchor="ctr">
            <a:noAutofit/>
          </a:bodyPr>
          <a:lstStyle/>
          <a:p>
            <a:pPr>
              <a:lnSpc>
                <a:spcPct val="110000"/>
              </a:lnSpc>
            </a:pP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5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claim in the weekly brief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traces to a source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before medical signs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uct.brief"/>
          <p:cNvSpPr/>
          <p:nvPr/>
        </p:nvSpPr>
        <p:spPr>
          <a:xfrm>
            <a:off x="9089273" y="727788"/>
            <a:ext cx="2706487" cy="5523723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12700">
            <a:solidFill>
              <a:schemeClr val="accent1"/>
            </a:solidFill>
          </a:ln>
          <a:effectLst/>
        </p:spPr>
        <p:txBody>
          <a:bodyPr wrap="square" tIns="72000" bIns="7200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7" name="slot.brief.head"/>
          <p:cNvSpPr txBox="1"/>
          <p:nvPr/>
        </p:nvSpPr>
        <p:spPr>
          <a:xfrm>
            <a:off x="9243868" y="939800"/>
            <a:ext cx="2397296" cy="2308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Field brief</a:t>
            </a:r>
            <a:endParaRPr lang="en-US" sz="15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brief.problem"/>
          <p:cNvSpPr txBox="1"/>
          <p:nvPr/>
        </p:nvSpPr>
        <p:spPr>
          <a:xfrm>
            <a:off x="9245821" y="1298448"/>
            <a:ext cx="2395425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Competitor moves reach reps five days late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brief.why"/>
          <p:cNvSpPr txBox="1"/>
          <p:nvPr/>
        </p:nvSpPr>
        <p:spPr>
          <a:xfrm>
            <a:off x="9245821" y="2011680"/>
            <a:ext cx="2395425" cy="8046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Why now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Customers tell reps about competitor moves first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brief.approach"/>
          <p:cNvSpPr txBox="1"/>
          <p:nvPr/>
        </p:nvSpPr>
        <p:spPr>
          <a:xfrm>
            <a:off x="9245821" y="3017520"/>
            <a:ext cx="2395425" cy="8046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Method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Agents draft from approved feeds and medical signs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brief.scope"/>
          <p:cNvSpPr txBox="1"/>
          <p:nvPr/>
        </p:nvSpPr>
        <p:spPr>
          <a:xfrm>
            <a:off x="9245821" y="4023360"/>
            <a:ext cx="2395425" cy="8046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Scope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North pilot, then six regions by January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brief.decision"/>
          <p:cNvSpPr/>
          <p:nvPr/>
        </p:nvSpPr>
        <p:spPr>
          <a:xfrm>
            <a:off x="9245821" y="5084064"/>
            <a:ext cx="2395425" cy="98755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txBody>
          <a:bodyPr lIns="108000" rIns="108000" anchor="ctr" wrap="square" tIns="45720" bIns="4572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Decision asked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Fund the pilot from 2 Nov 2026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challenge"/>
          <p:cNvSpPr/>
          <p:nvPr/>
        </p:nvSpPr>
        <p:spPr>
          <a:xfrm>
            <a:off x="459550" y="914400"/>
            <a:ext cx="8237701" cy="1005840"/>
          </a:xfrm>
          <a:prstGeom prst="rect">
            <a:avLst/>
          </a:prstGeom>
          <a:noFill/>
          <a:ln w="12700">
            <a:solidFill>
              <a:schemeClr val="accent1"/>
            </a:solidFill>
          </a:ln>
          <a:effectLst/>
        </p:spPr>
        <p:txBody>
          <a:bodyPr wrap="square" tIns="72000" bIns="7200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4" name="slot.challenge.label"/>
          <p:cNvSpPr txBox="1"/>
          <p:nvPr/>
        </p:nvSpPr>
        <p:spPr>
          <a:xfrm>
            <a:off x="459550" y="658368"/>
            <a:ext cx="1673140" cy="219456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Today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pain.1.body"/>
          <p:cNvSpPr txBox="1"/>
          <p:nvPr/>
        </p:nvSpPr>
        <p:spPr>
          <a:xfrm>
            <a:off x="1446977" y="1024128"/>
            <a:ext cx="2011425" cy="78638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5 days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from competitor move to field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pain.2.body"/>
          <p:cNvSpPr txBox="1"/>
          <p:nvPr/>
        </p:nvSpPr>
        <p:spPr>
          <a:xfrm>
            <a:off x="4528114" y="1024128"/>
            <a:ext cx="1554283" cy="78638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Six regions rebuild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the same brief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pain.3.body"/>
          <p:cNvSpPr txBox="1"/>
          <p:nvPr/>
        </p:nvSpPr>
        <p:spPr>
          <a:xfrm>
            <a:off x="7097253" y="1024128"/>
            <a:ext cx="1526855" cy="78638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Notes reach reps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with no source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" name="struct.challenge.rule.1"/>
          <p:cNvCxnSpPr>
            <a:cxnSpLocks/>
          </p:cNvCxnSpPr>
          <p:nvPr/>
        </p:nvCxnSpPr>
        <p:spPr>
          <a:xfrm>
            <a:off x="3540687" y="1133856"/>
            <a:ext cx="0" cy="5760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9" name="struct.challenge.rule.2"/>
          <p:cNvCxnSpPr>
            <a:cxnSpLocks/>
          </p:cNvCxnSpPr>
          <p:nvPr/>
        </p:nvCxnSpPr>
        <p:spPr>
          <a:xfrm>
            <a:off x="6137255" y="1133856"/>
            <a:ext cx="0" cy="5760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20" name="slot.work.head"/>
          <p:cNvSpPr/>
          <p:nvPr/>
        </p:nvSpPr>
        <p:spPr>
          <a:xfrm>
            <a:off x="457200" y="2047678"/>
            <a:ext cx="8239220" cy="38735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txBody>
          <a:bodyPr wrap="square" tIns="72000" bIns="72000" rtlCol="0" anchor="ctr" lIns="91440" rIns="9144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How the weekly brief works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truct.stage.1"/>
          <p:cNvSpPr/>
          <p:nvPr/>
        </p:nvSpPr>
        <p:spPr>
          <a:xfrm>
            <a:off x="457200" y="2531750"/>
            <a:ext cx="2882882" cy="506506"/>
          </a:xfrm>
          <a:prstGeom prst="homePlate">
            <a:avLst>
              <a:gd name="adj" fmla="val 33575"/>
            </a:avLst>
          </a:prstGeom>
          <a:solidFill>
            <a:schemeClr val="bg1">
              <a:lumMod val="85000"/>
            </a:schemeClr>
          </a:solidFill>
          <a:ln w="9525"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struct.stage.2"/>
          <p:cNvSpPr/>
          <p:nvPr/>
        </p:nvSpPr>
        <p:spPr>
          <a:xfrm>
            <a:off x="3220029" y="2531750"/>
            <a:ext cx="2882882" cy="506506"/>
          </a:xfrm>
          <a:prstGeom prst="chevron">
            <a:avLst>
              <a:gd name="adj" fmla="val 33575"/>
            </a:avLst>
          </a:prstGeom>
          <a:solidFill>
            <a:schemeClr val="bg1">
              <a:lumMod val="85000"/>
            </a:schemeClr>
          </a:solidFill>
          <a:ln w="9525"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struct.stage.3"/>
          <p:cNvSpPr/>
          <p:nvPr/>
        </p:nvSpPr>
        <p:spPr>
          <a:xfrm>
            <a:off x="5982859" y="2531750"/>
            <a:ext cx="2882882" cy="506506"/>
          </a:xfrm>
          <a:prstGeom prst="chevron">
            <a:avLst>
              <a:gd name="adj" fmla="val 33575"/>
            </a:avLst>
          </a:prstGeom>
          <a:solidFill>
            <a:schemeClr val="bg1">
              <a:lumMod val="85000"/>
            </a:schemeClr>
          </a:solidFill>
          <a:ln w="9525"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slot.value.label"/>
          <p:cNvSpPr/>
          <p:nvPr/>
        </p:nvSpPr>
        <p:spPr>
          <a:xfrm>
            <a:off x="457200" y="5655395"/>
            <a:ext cx="8239220" cy="50903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txBody>
          <a:bodyPr wrap="square" lIns="144000" tIns="72000" rIns="144000" bIns="7200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Gains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truct.value.panel"/>
          <p:cNvSpPr/>
          <p:nvPr/>
        </p:nvSpPr>
        <p:spPr>
          <a:xfrm>
            <a:off x="1692131" y="5655395"/>
            <a:ext cx="7004288" cy="50903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txBody>
          <a:bodyPr wrap="square" tIns="72000" bIns="72000" rtlCol="0" anchor="ctr">
            <a:noAutofit/>
          </a:bodyPr>
          <a:lstStyle/>
          <a:p>
            <a:pPr algn="just">
              <a:lnSpc>
                <a:spcPct val="110000"/>
              </a:lnSpc>
            </a:pP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26" name="struct.column.rule.1"/>
          <p:cNvCxnSpPr/>
          <p:nvPr/>
        </p:nvCxnSpPr>
        <p:spPr>
          <a:xfrm>
            <a:off x="3220029" y="3084750"/>
            <a:ext cx="0" cy="20775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7" name="struct.column.rule.2"/>
          <p:cNvCxnSpPr/>
          <p:nvPr/>
        </p:nvCxnSpPr>
        <p:spPr>
          <a:xfrm>
            <a:off x="5949908" y="3084750"/>
            <a:ext cx="0" cy="207757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28" name="slot.stage.1.num"/>
          <p:cNvSpPr txBox="1"/>
          <p:nvPr/>
        </p:nvSpPr>
        <p:spPr>
          <a:xfrm>
            <a:off x="532692" y="2660904"/>
            <a:ext cx="32914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01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stage.1.head"/>
          <p:cNvSpPr txBox="1"/>
          <p:nvPr/>
        </p:nvSpPr>
        <p:spPr>
          <a:xfrm>
            <a:off x="1017395" y="2677281"/>
            <a:ext cx="2057526" cy="20005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0" name="struct.stage.1.rule"/>
          <p:cNvCxnSpPr>
            <a:cxnSpLocks/>
          </p:cNvCxnSpPr>
          <p:nvPr/>
        </p:nvCxnSpPr>
        <p:spPr>
          <a:xfrm>
            <a:off x="894500" y="2615965"/>
            <a:ext cx="0" cy="338076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  <a:effectLst/>
        </p:spPr>
      </p:cxnSp>
      <p:sp>
        <p:nvSpPr>
          <p:cNvPr id="31" name="slot.stage.2.num"/>
          <p:cNvSpPr txBox="1"/>
          <p:nvPr/>
        </p:nvSpPr>
        <p:spPr>
          <a:xfrm>
            <a:off x="3540095" y="2661893"/>
            <a:ext cx="28586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stage.2.head"/>
          <p:cNvSpPr txBox="1"/>
          <p:nvPr/>
        </p:nvSpPr>
        <p:spPr>
          <a:xfrm>
            <a:off x="4064110" y="2677281"/>
            <a:ext cx="1773640" cy="20005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Check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" name="struct.stage.2.rule"/>
          <p:cNvCxnSpPr>
            <a:cxnSpLocks/>
          </p:cNvCxnSpPr>
          <p:nvPr/>
        </p:nvCxnSpPr>
        <p:spPr>
          <a:xfrm>
            <a:off x="3930960" y="2615965"/>
            <a:ext cx="0" cy="338076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  <a:effectLst/>
        </p:spPr>
      </p:cxnSp>
      <p:sp>
        <p:nvSpPr>
          <p:cNvPr id="34" name="slot.stage.3.num"/>
          <p:cNvSpPr txBox="1"/>
          <p:nvPr/>
        </p:nvSpPr>
        <p:spPr>
          <a:xfrm>
            <a:off x="6317045" y="2661893"/>
            <a:ext cx="28586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03</a:t>
            </a:r>
            <a:endParaRPr lang="en-US" sz="1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stage.3.head"/>
          <p:cNvSpPr txBox="1"/>
          <p:nvPr/>
        </p:nvSpPr>
        <p:spPr>
          <a:xfrm>
            <a:off x="6841061" y="2677281"/>
            <a:ext cx="1773640" cy="20005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6" name="struct.stage.3.rule"/>
          <p:cNvCxnSpPr>
            <a:cxnSpLocks/>
          </p:cNvCxnSpPr>
          <p:nvPr/>
        </p:nvCxnSpPr>
        <p:spPr>
          <a:xfrm>
            <a:off x="6707910" y="2615965"/>
            <a:ext cx="0" cy="338076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  <a:effectLst/>
        </p:spPr>
      </p:cxnSp>
      <p:sp>
        <p:nvSpPr>
          <p:cNvPr id="37" name="slot.rule.1"/>
          <p:cNvSpPr txBox="1"/>
          <p:nvPr/>
        </p:nvSpPr>
        <p:spPr>
          <a:xfrm>
            <a:off x="3373928" y="3331426"/>
            <a:ext cx="2422083" cy="376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5000"/>
              </a:schemeClr>
            </a:solidFill>
          </a:ln>
          <a:effectLst/>
        </p:spPr>
        <p:txBody>
          <a:bodyPr wrap="square" lIns="72000" tIns="72000" rIns="72000" bIns="7200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is on the approved list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rule.2"/>
          <p:cNvSpPr txBox="1"/>
          <p:nvPr/>
        </p:nvSpPr>
        <p:spPr>
          <a:xfrm>
            <a:off x="3373928" y="3864710"/>
            <a:ext cx="2422083" cy="376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5000"/>
              </a:schemeClr>
            </a:solidFill>
          </a:ln>
          <a:effectLst/>
        </p:spPr>
        <p:txBody>
          <a:bodyPr wrap="square" lIns="72000" tIns="72000" rIns="72000" bIns="7200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Brand and territory confirmed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rule.3"/>
          <p:cNvSpPr txBox="1"/>
          <p:nvPr/>
        </p:nvSpPr>
        <p:spPr>
          <a:xfrm>
            <a:off x="3373928" y="4397994"/>
            <a:ext cx="2422083" cy="376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5000"/>
              </a:schemeClr>
            </a:solidFill>
          </a:ln>
          <a:effectLst/>
        </p:spPr>
        <p:txBody>
          <a:bodyPr wrap="square" lIns="72000" tIns="72000" rIns="72000" bIns="7200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Not repeated from last week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review.body"/>
          <p:cNvSpPr txBox="1"/>
          <p:nvPr/>
        </p:nvSpPr>
        <p:spPr>
          <a:xfrm>
            <a:off x="6144755" y="3662491"/>
            <a:ext cx="2354748" cy="1692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Passed claims reach medical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outcome.1"/>
          <p:cNvSpPr txBox="1"/>
          <p:nvPr/>
        </p:nvSpPr>
        <p:spPr>
          <a:xfrm>
            <a:off x="6219540" y="4489704"/>
            <a:ext cx="1051427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and release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outcome.2"/>
          <p:cNvSpPr txBox="1"/>
          <p:nvPr/>
        </p:nvSpPr>
        <p:spPr>
          <a:xfrm>
            <a:off x="7380681" y="4489704"/>
            <a:ext cx="1051427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Reject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with a note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struct.outcomes.rule"/>
          <p:cNvCxnSpPr>
            <a:cxnSpLocks/>
          </p:cNvCxnSpPr>
          <p:nvPr/>
        </p:nvCxnSpPr>
        <p:spPr>
          <a:xfrm>
            <a:off x="7325824" y="4489704"/>
            <a:ext cx="0" cy="5669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44" name="struct.exceptions"/>
          <p:cNvSpPr/>
          <p:nvPr/>
        </p:nvSpPr>
        <p:spPr>
          <a:xfrm>
            <a:off x="797835" y="4133087"/>
            <a:ext cx="1599997" cy="65836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rtlCol="0" anchor="ctr">
            <a:noAutofit/>
          </a:bodyPr>
          <a:lstStyle/>
          <a:p>
            <a:pPr>
              <a:lnSpc>
                <a:spcPct val="110000"/>
              </a:lnSpc>
            </a:pP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45" name="slot.exceptions.body"/>
          <p:cNvSpPr txBox="1"/>
          <p:nvPr/>
        </p:nvSpPr>
        <p:spPr>
          <a:xfrm>
            <a:off x="852692" y="4187952"/>
            <a:ext cx="1490283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Unsourced claims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return to the scan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capture.label.1"/>
          <p:cNvSpPr txBox="1"/>
          <p:nvPr/>
        </p:nvSpPr>
        <p:spPr>
          <a:xfrm>
            <a:off x="457201" y="3911600"/>
            <a:ext cx="871684" cy="1692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Signals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capture.label.2"/>
          <p:cNvSpPr txBox="1"/>
          <p:nvPr/>
        </p:nvSpPr>
        <p:spPr>
          <a:xfrm>
            <a:off x="2153500" y="3911600"/>
            <a:ext cx="871684" cy="1692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value.1.body"/>
          <p:cNvSpPr txBox="1"/>
          <p:nvPr/>
        </p:nvSpPr>
        <p:spPr>
          <a:xfrm>
            <a:off x="2379547" y="5788152"/>
            <a:ext cx="132571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Field in a day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value.2.body"/>
          <p:cNvSpPr txBox="1"/>
          <p:nvPr/>
        </p:nvSpPr>
        <p:spPr>
          <a:xfrm>
            <a:off x="4500686" y="5788152"/>
            <a:ext cx="1371426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Sourced claims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value.3.body"/>
          <p:cNvSpPr txBox="1"/>
          <p:nvPr/>
        </p:nvSpPr>
        <p:spPr>
          <a:xfrm>
            <a:off x="6649254" y="5788152"/>
            <a:ext cx="1919997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shared brief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1" name="struct.value.rule.2"/>
          <p:cNvCxnSpPr/>
          <p:nvPr/>
        </p:nvCxnSpPr>
        <p:spPr>
          <a:xfrm>
            <a:off x="5905980" y="5745951"/>
            <a:ext cx="0" cy="327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52" name="struct.value.rule.1"/>
          <p:cNvCxnSpPr/>
          <p:nvPr/>
        </p:nvCxnSpPr>
        <p:spPr>
          <a:xfrm>
            <a:off x="3789834" y="5745951"/>
            <a:ext cx="0" cy="327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53" name="slot.work.tag"/>
          <p:cNvSpPr txBox="1"/>
          <p:nvPr/>
        </p:nvSpPr>
        <p:spPr>
          <a:xfrm>
            <a:off x="7431290" y="2156717"/>
            <a:ext cx="1063159" cy="16927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Sample week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rule.caption"/>
          <p:cNvSpPr txBox="1"/>
          <p:nvPr/>
        </p:nvSpPr>
        <p:spPr>
          <a:xfrm>
            <a:off x="3297728" y="4890266"/>
            <a:ext cx="2574483" cy="1692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claim must pass all three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truct.capture.fan.1"/>
          <p:cNvSpPr/>
          <p:nvPr/>
        </p:nvSpPr>
        <p:spPr>
          <a:xfrm>
            <a:off x="2736117" y="3519726"/>
            <a:ext cx="637810" cy="197310"/>
          </a:xfrm>
          <a:custGeom>
            <a:avLst/>
            <a:gdLst/>
            <a:ahLst/>
            <a:cxnLst/>
            <a:rect l="l" t="t" r="r" b="b"/>
            <a:pathLst>
              <a:path w="637891" h="197310" fill="none">
                <a:moveTo>
                  <a:pt x="0" y="197310"/>
                </a:moveTo>
                <a:lnTo>
                  <a:pt x="320040" y="197310"/>
                </a:lnTo>
                <a:lnTo>
                  <a:pt x="320040" y="0"/>
                </a:lnTo>
                <a:lnTo>
                  <a:pt x="637891" y="0"/>
                </a:lnTo>
              </a:path>
            </a:pathLst>
          </a:custGeom>
          <a:noFill/>
          <a:ln w="12700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62" name="struct.capture.fan.2"/>
          <p:cNvSpPr/>
          <p:nvPr/>
        </p:nvSpPr>
        <p:spPr>
          <a:xfrm>
            <a:off x="2736117" y="3717036"/>
            <a:ext cx="637810" cy="335974"/>
          </a:xfrm>
          <a:custGeom>
            <a:avLst/>
            <a:gdLst/>
            <a:ahLst/>
            <a:cxnLst/>
            <a:rect l="l" t="t" r="r" b="b"/>
            <a:pathLst>
              <a:path w="637891" h="335974" fill="none">
                <a:moveTo>
                  <a:pt x="0" y="0"/>
                </a:moveTo>
                <a:lnTo>
                  <a:pt x="320040" y="0"/>
                </a:lnTo>
                <a:lnTo>
                  <a:pt x="320040" y="335974"/>
                </a:lnTo>
                <a:lnTo>
                  <a:pt x="637891" y="335974"/>
                </a:lnTo>
              </a:path>
            </a:pathLst>
          </a:custGeom>
          <a:noFill/>
          <a:ln w="12700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63" name="struct.capture.fan.3"/>
          <p:cNvSpPr/>
          <p:nvPr/>
        </p:nvSpPr>
        <p:spPr>
          <a:xfrm>
            <a:off x="2736117" y="3717036"/>
            <a:ext cx="637810" cy="869258"/>
          </a:xfrm>
          <a:custGeom>
            <a:avLst/>
            <a:gdLst/>
            <a:ahLst/>
            <a:cxnLst/>
            <a:rect l="l" t="t" r="r" b="b"/>
            <a:pathLst>
              <a:path w="637891" h="869258" fill="none">
                <a:moveTo>
                  <a:pt x="0" y="0"/>
                </a:moveTo>
                <a:lnTo>
                  <a:pt x="320040" y="0"/>
                </a:lnTo>
                <a:lnTo>
                  <a:pt x="320040" y="869258"/>
                </a:lnTo>
                <a:lnTo>
                  <a:pt x="637891" y="869258"/>
                </a:lnTo>
              </a:path>
            </a:pathLst>
          </a:custGeom>
          <a:noFill/>
          <a:ln w="12700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65" name="struct.review.arrow"/>
          <p:cNvSpPr/>
          <p:nvPr/>
        </p:nvSpPr>
        <p:spPr>
          <a:xfrm>
            <a:off x="7188665" y="405079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lnTo>
                  <a:pt x="12000" y="19000"/>
                </a:lnTo>
                <a:moveTo>
                  <a:pt x="19000" y="12000"/>
                </a:moveTo>
                <a:lnTo>
                  <a:pt x="12000" y="19000"/>
                </a:lnTo>
                <a:lnTo>
                  <a:pt x="5000" y="12000"/>
                </a:lnTo>
              </a:path>
            </a:pathLst>
          </a:custGeom>
          <a:noFill/>
          <a:ln w="2159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6" name="struct.loop"/>
          <p:cNvSpPr/>
          <p:nvPr/>
        </p:nvSpPr>
        <p:spPr>
          <a:xfrm>
            <a:off x="1597834" y="4791455"/>
            <a:ext cx="5724295" cy="589789"/>
          </a:xfrm>
          <a:custGeom>
            <a:avLst/>
            <a:gdLst/>
            <a:ahLst/>
            <a:cxnLst/>
            <a:rect l="l" t="t" r="r" b="b"/>
            <a:pathLst>
              <a:path w="5725020" h="589789" fill="none">
                <a:moveTo>
                  <a:pt x="5725020" y="370872"/>
                </a:moveTo>
                <a:lnTo>
                  <a:pt x="5725020" y="589789"/>
                </a:lnTo>
                <a:lnTo>
                  <a:pt x="0" y="589789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accent1"/>
            </a:solidFill>
            <a:prstDash val="dash"/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67" name="slot.loop.label"/>
          <p:cNvSpPr txBox="1"/>
          <p:nvPr/>
        </p:nvSpPr>
        <p:spPr>
          <a:xfrm>
            <a:off x="3165831" y="5294376"/>
            <a:ext cx="2834281" cy="173736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Rejections retune source rules</a:t>
            </a:r>
            <a:endParaRPr lang="en-US" sz="1100" b="0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lot.pain.1.icon"/>
          <p:cNvSpPr/>
          <p:nvPr/>
        </p:nvSpPr>
        <p:spPr>
          <a:xfrm>
            <a:off x="770373" y="115214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22000"/>
                </a:moveTo>
                <a:lnTo>
                  <a:pt x="19000" y="22000"/>
                </a:lnTo>
                <a:moveTo>
                  <a:pt x="5000" y="2000"/>
                </a:moveTo>
                <a:lnTo>
                  <a:pt x="19000" y="2000"/>
                </a:lnTo>
                <a:moveTo>
                  <a:pt x="17000" y="22000"/>
                </a:moveTo>
                <a:lnTo>
                  <a:pt x="17000" y="17828"/>
                </a:lnTo>
                <a:cubicBezTo>
                  <a:pt x="17000" y="17298"/>
                  <a:pt x="16789" y="16789"/>
                  <a:pt x="16414" y="16414"/>
                </a:cubicBezTo>
                <a:lnTo>
                  <a:pt x="12000" y="12000"/>
                </a:lnTo>
                <a:lnTo>
                  <a:pt x="7586" y="16414"/>
                </a:lnTo>
                <a:cubicBezTo>
                  <a:pt x="7211" y="16789"/>
                  <a:pt x="7000" y="17298"/>
                  <a:pt x="7000" y="17828"/>
                </a:cubicBezTo>
                <a:lnTo>
                  <a:pt x="7000" y="22000"/>
                </a:lnTo>
                <a:moveTo>
                  <a:pt x="7000" y="2000"/>
                </a:moveTo>
                <a:lnTo>
                  <a:pt x="7000" y="6172"/>
                </a:lnTo>
                <a:cubicBezTo>
                  <a:pt x="7000" y="6702"/>
                  <a:pt x="7211" y="7211"/>
                  <a:pt x="7586" y="7586"/>
                </a:cubicBezTo>
                <a:lnTo>
                  <a:pt x="12000" y="12000"/>
                </a:lnTo>
                <a:lnTo>
                  <a:pt x="16414" y="7586"/>
                </a:lnTo>
                <a:cubicBezTo>
                  <a:pt x="16789" y="7211"/>
                  <a:pt x="17000" y="6702"/>
                  <a:pt x="17000" y="6172"/>
                </a:cubicBezTo>
                <a:lnTo>
                  <a:pt x="17000" y="2000"/>
                </a:lnTo>
              </a:path>
            </a:pathLst>
          </a:custGeom>
          <a:noFill/>
          <a:ln w="4445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2" name="slot.pain.2.icon"/>
          <p:cNvSpPr/>
          <p:nvPr/>
        </p:nvSpPr>
        <p:spPr>
          <a:xfrm>
            <a:off x="3851511" y="115214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000"/>
                </a:moveTo>
                <a:lnTo>
                  <a:pt x="11000" y="2000"/>
                </a:lnTo>
                <a:cubicBezTo>
                  <a:pt x="9895" y="2000"/>
                  <a:pt x="9000" y="2895"/>
                  <a:pt x="9000" y="4000"/>
                </a:cubicBezTo>
                <a:lnTo>
                  <a:pt x="9000" y="15000"/>
                </a:lnTo>
                <a:cubicBezTo>
                  <a:pt x="9000" y="16105"/>
                  <a:pt x="9895" y="17000"/>
                  <a:pt x="11000" y="17000"/>
                </a:cubicBezTo>
                <a:lnTo>
                  <a:pt x="19000" y="17000"/>
                </a:lnTo>
                <a:cubicBezTo>
                  <a:pt x="20105" y="17000"/>
                  <a:pt x="21000" y="16105"/>
                  <a:pt x="21000" y="15000"/>
                </a:cubicBezTo>
                <a:lnTo>
                  <a:pt x="21000" y="8000"/>
                </a:lnTo>
                <a:moveTo>
                  <a:pt x="16706" y="2706"/>
                </a:moveTo>
                <a:cubicBezTo>
                  <a:pt x="16254" y="2253"/>
                  <a:pt x="15640" y="1998"/>
                  <a:pt x="15000" y="2000"/>
                </a:cubicBezTo>
                <a:lnTo>
                  <a:pt x="15000" y="7000"/>
                </a:lnTo>
                <a:cubicBezTo>
                  <a:pt x="15000" y="7552"/>
                  <a:pt x="15448" y="8000"/>
                  <a:pt x="16000" y="8000"/>
                </a:cubicBezTo>
                <a:lnTo>
                  <a:pt x="21000" y="8000"/>
                </a:lnTo>
                <a:cubicBezTo>
                  <a:pt x="21002" y="7360"/>
                  <a:pt x="20747" y="6746"/>
                  <a:pt x="20294" y="6294"/>
                </a:cubicBezTo>
                <a:close/>
                <a:moveTo>
                  <a:pt x="5000" y="7000"/>
                </a:moveTo>
                <a:cubicBezTo>
                  <a:pt x="3895" y="7000"/>
                  <a:pt x="3000" y="7895"/>
                  <a:pt x="3000" y="9000"/>
                </a:cubicBezTo>
                <a:lnTo>
                  <a:pt x="3000" y="20000"/>
                </a:lnTo>
                <a:cubicBezTo>
                  <a:pt x="3000" y="21105"/>
                  <a:pt x="3895" y="22000"/>
                  <a:pt x="5000" y="22000"/>
                </a:cubicBezTo>
                <a:lnTo>
                  <a:pt x="13000" y="22000"/>
                </a:lnTo>
                <a:cubicBezTo>
                  <a:pt x="13715" y="22000"/>
                  <a:pt x="14375" y="21619"/>
                  <a:pt x="14732" y="21000"/>
                </a:cubicBezTo>
              </a:path>
            </a:pathLst>
          </a:custGeom>
          <a:noFill/>
          <a:ln w="4445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3" name="slot.pain.3.icon"/>
          <p:cNvSpPr/>
          <p:nvPr/>
        </p:nvSpPr>
        <p:spPr>
          <a:xfrm>
            <a:off x="6448078" y="1152144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8000"/>
                </a:moveTo>
                <a:lnTo>
                  <a:pt x="12000" y="12000"/>
                </a:lnTo>
                <a:moveTo>
                  <a:pt x="12000" y="16000"/>
                </a:moveTo>
                <a:lnTo>
                  <a:pt x="12010" y="16000"/>
                </a:lnTo>
              </a:path>
            </a:pathLst>
          </a:custGeom>
          <a:noFill/>
          <a:ln w="4445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4" name="slot.capture.icon.1"/>
          <p:cNvSpPr/>
          <p:nvPr/>
        </p:nvSpPr>
        <p:spPr>
          <a:xfrm>
            <a:off x="742959" y="356616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540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75" name="slot.capture.icon.2"/>
          <p:cNvSpPr/>
          <p:nvPr/>
        </p:nvSpPr>
        <p:spPr>
          <a:xfrm>
            <a:off x="1474372" y="3447288"/>
            <a:ext cx="530352" cy="5303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4445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6" name="slot.capture.icon.3"/>
          <p:cNvSpPr/>
          <p:nvPr/>
        </p:nvSpPr>
        <p:spPr>
          <a:xfrm>
            <a:off x="2434384" y="356616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540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77" name="slot.review.icon"/>
          <p:cNvSpPr/>
          <p:nvPr/>
        </p:nvSpPr>
        <p:spPr>
          <a:xfrm>
            <a:off x="7133801" y="3191256"/>
            <a:ext cx="374904" cy="3749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111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78" name="slot.value.1.icon"/>
          <p:cNvSpPr/>
          <p:nvPr/>
        </p:nvSpPr>
        <p:spPr>
          <a:xfrm>
            <a:off x="1958955" y="5742432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6000"/>
                </a:moveTo>
                <a:lnTo>
                  <a:pt x="12000" y="12000"/>
                </a:lnTo>
                <a:lnTo>
                  <a:pt x="16000" y="14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9" name="slot.value.2.icon"/>
          <p:cNvSpPr/>
          <p:nvPr/>
        </p:nvSpPr>
        <p:spPr>
          <a:xfrm>
            <a:off x="4116666" y="5742432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3000"/>
                </a:moveTo>
                <a:cubicBezTo>
                  <a:pt x="10869" y="14162"/>
                  <a:pt x="12200" y="14889"/>
                  <a:pt x="13647" y="14992"/>
                </a:cubicBezTo>
                <a:cubicBezTo>
                  <a:pt x="15094" y="15096"/>
                  <a:pt x="16514" y="14566"/>
                  <a:pt x="17540" y="13540"/>
                </a:cubicBezTo>
                <a:lnTo>
                  <a:pt x="20540" y="10540"/>
                </a:lnTo>
                <a:cubicBezTo>
                  <a:pt x="22435" y="8578"/>
                  <a:pt x="22408" y="5460"/>
                  <a:pt x="20479" y="3531"/>
                </a:cubicBezTo>
                <a:cubicBezTo>
                  <a:pt x="18550" y="1602"/>
                  <a:pt x="15432" y="1575"/>
                  <a:pt x="13470" y="3470"/>
                </a:cubicBezTo>
                <a:lnTo>
                  <a:pt x="11750" y="5180"/>
                </a:lnTo>
                <a:moveTo>
                  <a:pt x="14000" y="11000"/>
                </a:moveTo>
                <a:cubicBezTo>
                  <a:pt x="13131" y="9838"/>
                  <a:pt x="11800" y="9111"/>
                  <a:pt x="10353" y="9008"/>
                </a:cubicBezTo>
                <a:cubicBezTo>
                  <a:pt x="8906" y="8904"/>
                  <a:pt x="7486" y="9434"/>
                  <a:pt x="6460" y="10460"/>
                </a:cubicBezTo>
                <a:lnTo>
                  <a:pt x="3460" y="13460"/>
                </a:lnTo>
                <a:cubicBezTo>
                  <a:pt x="1565" y="15422"/>
                  <a:pt x="1592" y="18540"/>
                  <a:pt x="3521" y="20469"/>
                </a:cubicBezTo>
                <a:cubicBezTo>
                  <a:pt x="5450" y="22398"/>
                  <a:pt x="8568" y="22425"/>
                  <a:pt x="10530" y="20530"/>
                </a:cubicBezTo>
                <a:lnTo>
                  <a:pt x="12240" y="1882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0" name="slot.value.3.icon"/>
          <p:cNvSpPr/>
          <p:nvPr/>
        </p:nvSpPr>
        <p:spPr>
          <a:xfrm>
            <a:off x="6228662" y="5742432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ptions-comparison:scored-option-columns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Only the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shared brief service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meets all four tests the field sets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verdict"/>
          <p:cNvSpPr/>
          <p:nvPr/>
        </p:nvSpPr>
        <p:spPr>
          <a:xfrm>
            <a:off x="457200" y="777240"/>
            <a:ext cx="2514600" cy="1755648"/>
          </a:xfrm>
          <a:prstGeom prst="roundRect">
            <a:avLst>
              <a:gd name="adj" fmla="val 2604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verdict.text"/>
          <p:cNvSpPr txBox="1"/>
          <p:nvPr/>
        </p:nvSpPr>
        <p:spPr>
          <a:xfrm>
            <a:off x="640080" y="960120"/>
            <a:ext cx="2148840" cy="13898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Decision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Fund the shared service, the one option that clears every test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" name="row.0.rule"/>
          <p:cNvCxnSpPr/>
          <p:nvPr/>
        </p:nvCxnSpPr>
        <p:spPr>
          <a:xfrm>
            <a:off x="457200" y="2642616"/>
            <a:ext cx="1134160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6" name="crit.0.icon"/>
          <p:cNvSpPr/>
          <p:nvPr/>
        </p:nvSpPr>
        <p:spPr>
          <a:xfrm>
            <a:off x="502920" y="294779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2000"/>
                </a:moveTo>
                <a:lnTo>
                  <a:pt x="14000" y="2000"/>
                </a:lnTo>
                <a:moveTo>
                  <a:pt x="12000" y="14000"/>
                </a:moveTo>
                <a:lnTo>
                  <a:pt x="15000" y="11000"/>
                </a:lnTo>
                <a:moveTo>
                  <a:pt x="20000" y="14000"/>
                </a:moveTo>
                <a:cubicBezTo>
                  <a:pt x="20000" y="18418"/>
                  <a:pt x="16418" y="22000"/>
                  <a:pt x="12000" y="22000"/>
                </a:cubicBezTo>
                <a:cubicBezTo>
                  <a:pt x="7582" y="22000"/>
                  <a:pt x="4000" y="18418"/>
                  <a:pt x="4000" y="14000"/>
                </a:cubicBezTo>
                <a:cubicBezTo>
                  <a:pt x="4000" y="9582"/>
                  <a:pt x="7582" y="6000"/>
                  <a:pt x="12000" y="6000"/>
                </a:cubicBezTo>
                <a:cubicBezTo>
                  <a:pt x="16418" y="6000"/>
                  <a:pt x="20000" y="9582"/>
                  <a:pt x="20000" y="14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" name="crit.0"/>
          <p:cNvSpPr txBox="1"/>
          <p:nvPr/>
        </p:nvSpPr>
        <p:spPr>
          <a:xfrm>
            <a:off x="914400" y="2715768"/>
            <a:ext cx="1965960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Speed to field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" name="row.1.rule"/>
          <p:cNvCxnSpPr/>
          <p:nvPr/>
        </p:nvCxnSpPr>
        <p:spPr>
          <a:xfrm>
            <a:off x="457200" y="3545586"/>
            <a:ext cx="1134160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9" name="crit.1.icon"/>
          <p:cNvSpPr/>
          <p:nvPr/>
        </p:nvSpPr>
        <p:spPr>
          <a:xfrm>
            <a:off x="502920" y="385076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3000"/>
                </a:moveTo>
                <a:cubicBezTo>
                  <a:pt x="10869" y="14162"/>
                  <a:pt x="12200" y="14889"/>
                  <a:pt x="13647" y="14992"/>
                </a:cubicBezTo>
                <a:cubicBezTo>
                  <a:pt x="15094" y="15096"/>
                  <a:pt x="16514" y="14566"/>
                  <a:pt x="17540" y="13540"/>
                </a:cubicBezTo>
                <a:lnTo>
                  <a:pt x="20540" y="10540"/>
                </a:lnTo>
                <a:cubicBezTo>
                  <a:pt x="22435" y="8578"/>
                  <a:pt x="22408" y="5460"/>
                  <a:pt x="20479" y="3531"/>
                </a:cubicBezTo>
                <a:cubicBezTo>
                  <a:pt x="18550" y="1602"/>
                  <a:pt x="15432" y="1575"/>
                  <a:pt x="13470" y="3470"/>
                </a:cubicBezTo>
                <a:lnTo>
                  <a:pt x="11750" y="5180"/>
                </a:lnTo>
                <a:moveTo>
                  <a:pt x="14000" y="11000"/>
                </a:moveTo>
                <a:cubicBezTo>
                  <a:pt x="13131" y="9838"/>
                  <a:pt x="11800" y="9111"/>
                  <a:pt x="10353" y="9008"/>
                </a:cubicBezTo>
                <a:cubicBezTo>
                  <a:pt x="8906" y="8904"/>
                  <a:pt x="7486" y="9434"/>
                  <a:pt x="6460" y="10460"/>
                </a:cubicBezTo>
                <a:lnTo>
                  <a:pt x="3460" y="13460"/>
                </a:lnTo>
                <a:cubicBezTo>
                  <a:pt x="1565" y="15422"/>
                  <a:pt x="1592" y="18540"/>
                  <a:pt x="3521" y="20469"/>
                </a:cubicBezTo>
                <a:cubicBezTo>
                  <a:pt x="5450" y="22398"/>
                  <a:pt x="8568" y="22425"/>
                  <a:pt x="10530" y="20530"/>
                </a:cubicBezTo>
                <a:lnTo>
                  <a:pt x="12240" y="1882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" name="crit.1"/>
          <p:cNvSpPr txBox="1"/>
          <p:nvPr/>
        </p:nvSpPr>
        <p:spPr>
          <a:xfrm>
            <a:off x="914400" y="3618738"/>
            <a:ext cx="1965960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claim sourced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row.2.rule"/>
          <p:cNvCxnSpPr/>
          <p:nvPr/>
        </p:nvCxnSpPr>
        <p:spPr>
          <a:xfrm>
            <a:off x="457200" y="4448556"/>
            <a:ext cx="1134160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2" name="crit.2.icon"/>
          <p:cNvSpPr/>
          <p:nvPr/>
        </p:nvSpPr>
        <p:spPr>
          <a:xfrm>
            <a:off x="502920" y="475373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3" name="crit.2"/>
          <p:cNvSpPr txBox="1"/>
          <p:nvPr/>
        </p:nvSpPr>
        <p:spPr>
          <a:xfrm>
            <a:off x="914400" y="4521708"/>
            <a:ext cx="1965960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signs first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" name="row.3.rule"/>
          <p:cNvCxnSpPr/>
          <p:nvPr/>
        </p:nvCxnSpPr>
        <p:spPr>
          <a:xfrm>
            <a:off x="457200" y="5351526"/>
            <a:ext cx="1134160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5" name="crit.3.icon"/>
          <p:cNvSpPr/>
          <p:nvPr/>
        </p:nvSpPr>
        <p:spPr>
          <a:xfrm>
            <a:off x="502920" y="565670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" name="crit.3"/>
          <p:cNvSpPr txBox="1"/>
          <p:nvPr/>
        </p:nvSpPr>
        <p:spPr>
          <a:xfrm>
            <a:off x="914400" y="5424678"/>
            <a:ext cx="1965960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brief, six regions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opt.0.panel"/>
          <p:cNvSpPr/>
          <p:nvPr/>
        </p:nvSpPr>
        <p:spPr>
          <a:xfrm>
            <a:off x="3154680" y="1307592"/>
            <a:ext cx="2759456" cy="4946904"/>
          </a:xfrm>
          <a:prstGeom prst="roundRect">
            <a:avLst>
              <a:gd name="adj" fmla="val 165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8" name="opt.0.head"/>
          <p:cNvSpPr/>
          <p:nvPr/>
        </p:nvSpPr>
        <p:spPr>
          <a:xfrm>
            <a:off x="3154680" y="777240"/>
            <a:ext cx="2759456" cy="475488"/>
          </a:xfrm>
          <a:prstGeom prst="roundRect">
            <a:avLst>
              <a:gd name="adj" fmla="val 1153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9" name="opt.0.name"/>
          <p:cNvSpPr txBox="1"/>
          <p:nvPr/>
        </p:nvSpPr>
        <p:spPr>
          <a:xfrm>
            <a:off x="3319272" y="777240"/>
            <a:ext cx="2430272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Keep regional notes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4" name="s17.opt1.score" descr="stat kind illustrative"/>
          <p:cNvGrpSpPr/>
          <p:nvPr/>
        </p:nvGrpSpPr>
        <p:grpSpPr>
          <a:xfrm>
            <a:off x="3429000" y="1527048"/>
            <a:ext cx="2210816" cy="953577"/>
            <a:chOff x="3429000" y="1527048"/>
            <a:chExt cx="2210816" cy="953577"/>
          </a:xfrm>
          <a:effectLst/>
        </p:grpSpPr>
        <p:sp>
          <p:nvSpPr>
            <p:cNvPr id="20" name="s17.opt1.score.value"/>
            <p:cNvSpPr txBox="1"/>
            <p:nvPr/>
          </p:nvSpPr>
          <p:spPr>
            <a:xfrm>
              <a:off x="3429000" y="1527048"/>
              <a:ext cx="2210816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0 of 4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21" name="s17.opt1.score.rule"/>
            <p:cNvCxnSpPr/>
            <p:nvPr/>
          </p:nvCxnSpPr>
          <p:spPr>
            <a:xfrm>
              <a:off x="3429000" y="2008120"/>
              <a:ext cx="22108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22" name="s17.opt1.score.label"/>
            <p:cNvSpPr txBox="1"/>
            <p:nvPr/>
          </p:nvSpPr>
          <p:spPr>
            <a:xfrm>
              <a:off x="3429000" y="2062984"/>
              <a:ext cx="2210816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tests met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3" name="s17.opt1.score.basis"/>
            <p:cNvSpPr/>
            <p:nvPr/>
          </p:nvSpPr>
          <p:spPr>
            <a:xfrm>
              <a:off x="3429000" y="2270282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5" name="opt.0.cell.0.mark"/>
          <p:cNvSpPr/>
          <p:nvPr/>
        </p:nvSpPr>
        <p:spPr>
          <a:xfrm>
            <a:off x="3300984" y="297522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5000" y="9000"/>
                </a:moveTo>
                <a:lnTo>
                  <a:pt x="9000" y="15000"/>
                </a:lnTo>
                <a:moveTo>
                  <a:pt x="9000" y="9000"/>
                </a:moveTo>
                <a:lnTo>
                  <a:pt x="15000" y="15000"/>
                </a:lnTo>
              </a:path>
            </a:pathLst>
          </a:custGeom>
          <a:noFill/>
          <a:ln w="1968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26" name="opt.0.cell.0.text"/>
          <p:cNvSpPr txBox="1"/>
          <p:nvPr/>
        </p:nvSpPr>
        <p:spPr>
          <a:xfrm>
            <a:off x="3648456" y="271576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 days from a move to reps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opt.0.cell.1.mark"/>
          <p:cNvSpPr/>
          <p:nvPr/>
        </p:nvSpPr>
        <p:spPr>
          <a:xfrm>
            <a:off x="3300984" y="387819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5000" y="9000"/>
                </a:moveTo>
                <a:lnTo>
                  <a:pt x="9000" y="15000"/>
                </a:lnTo>
                <a:moveTo>
                  <a:pt x="9000" y="9000"/>
                </a:moveTo>
                <a:lnTo>
                  <a:pt x="15000" y="15000"/>
                </a:lnTo>
              </a:path>
            </a:pathLst>
          </a:custGeom>
          <a:noFill/>
          <a:ln w="1968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28" name="opt.0.cell.1.text"/>
          <p:cNvSpPr txBox="1"/>
          <p:nvPr/>
        </p:nvSpPr>
        <p:spPr>
          <a:xfrm>
            <a:off x="3648456" y="361873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Ad hoc notes, no source list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opt.0.cell.2.mark"/>
          <p:cNvSpPr/>
          <p:nvPr/>
        </p:nvSpPr>
        <p:spPr>
          <a:xfrm>
            <a:off x="3300984" y="478116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5000" y="9000"/>
                </a:moveTo>
                <a:lnTo>
                  <a:pt x="9000" y="15000"/>
                </a:lnTo>
                <a:moveTo>
                  <a:pt x="9000" y="9000"/>
                </a:moveTo>
                <a:lnTo>
                  <a:pt x="15000" y="15000"/>
                </a:lnTo>
              </a:path>
            </a:pathLst>
          </a:custGeom>
          <a:noFill/>
          <a:ln w="1968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30" name="opt.0.cell.2.text"/>
          <p:cNvSpPr txBox="1"/>
          <p:nvPr/>
        </p:nvSpPr>
        <p:spPr>
          <a:xfrm>
            <a:off x="3648456" y="452170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 after reps use it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opt.0.cell.3.mark"/>
          <p:cNvSpPr/>
          <p:nvPr/>
        </p:nvSpPr>
        <p:spPr>
          <a:xfrm>
            <a:off x="3300984" y="568413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5000" y="9000"/>
                </a:moveTo>
                <a:lnTo>
                  <a:pt x="9000" y="15000"/>
                </a:lnTo>
                <a:moveTo>
                  <a:pt x="9000" y="9000"/>
                </a:moveTo>
                <a:lnTo>
                  <a:pt x="15000" y="15000"/>
                </a:lnTo>
              </a:path>
            </a:pathLst>
          </a:custGeom>
          <a:noFill/>
          <a:ln w="1968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32" name="opt.0.cell.3.text"/>
          <p:cNvSpPr txBox="1"/>
          <p:nvPr/>
        </p:nvSpPr>
        <p:spPr>
          <a:xfrm>
            <a:off x="3648456" y="542467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6 versions of the same brief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opt.1.panel"/>
          <p:cNvSpPr/>
          <p:nvPr/>
        </p:nvSpPr>
        <p:spPr>
          <a:xfrm>
            <a:off x="6097016" y="1307592"/>
            <a:ext cx="2759456" cy="4946904"/>
          </a:xfrm>
          <a:prstGeom prst="roundRect">
            <a:avLst>
              <a:gd name="adj" fmla="val 165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4" name="opt.1.head"/>
          <p:cNvSpPr/>
          <p:nvPr/>
        </p:nvSpPr>
        <p:spPr>
          <a:xfrm>
            <a:off x="6097016" y="777240"/>
            <a:ext cx="2759456" cy="475488"/>
          </a:xfrm>
          <a:prstGeom prst="roundRect">
            <a:avLst>
              <a:gd name="adj" fmla="val 1153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5" name="opt.1.name"/>
          <p:cNvSpPr txBox="1"/>
          <p:nvPr/>
        </p:nvSpPr>
        <p:spPr>
          <a:xfrm>
            <a:off x="6261608" y="777240"/>
            <a:ext cx="2430272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Central analyst desk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40" name="s17.opt2.score" descr="stat kind illustrative"/>
          <p:cNvGrpSpPr/>
          <p:nvPr/>
        </p:nvGrpSpPr>
        <p:grpSpPr>
          <a:xfrm>
            <a:off x="6371336" y="1527048"/>
            <a:ext cx="2210816" cy="953577"/>
            <a:chOff x="6371336" y="1527048"/>
            <a:chExt cx="2210816" cy="953577"/>
          </a:xfrm>
          <a:effectLst/>
        </p:grpSpPr>
        <p:sp>
          <p:nvSpPr>
            <p:cNvPr id="36" name="s17.opt2.score.value"/>
            <p:cNvSpPr txBox="1"/>
            <p:nvPr/>
          </p:nvSpPr>
          <p:spPr>
            <a:xfrm>
              <a:off x="6371336" y="1527048"/>
              <a:ext cx="2210816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2 of 4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37" name="s17.opt2.score.rule"/>
            <p:cNvCxnSpPr/>
            <p:nvPr/>
          </p:nvCxnSpPr>
          <p:spPr>
            <a:xfrm>
              <a:off x="6371336" y="2008120"/>
              <a:ext cx="22108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38" name="s17.opt2.score.label"/>
            <p:cNvSpPr txBox="1"/>
            <p:nvPr/>
          </p:nvSpPr>
          <p:spPr>
            <a:xfrm>
              <a:off x="6371336" y="2062984"/>
              <a:ext cx="2210816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tests met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9" name="s17.opt2.score.basis"/>
            <p:cNvSpPr/>
            <p:nvPr/>
          </p:nvSpPr>
          <p:spPr>
            <a:xfrm>
              <a:off x="6371336" y="2270282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1" name="opt.1.cell.0.mark"/>
          <p:cNvSpPr/>
          <p:nvPr/>
        </p:nvSpPr>
        <p:spPr>
          <a:xfrm>
            <a:off x="6243320" y="297522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8000"/>
                </a:moveTo>
                <a:lnTo>
                  <a:pt x="12000" y="12000"/>
                </a:lnTo>
                <a:moveTo>
                  <a:pt x="12000" y="16000"/>
                </a:moveTo>
                <a:lnTo>
                  <a:pt x="12010" y="16000"/>
                </a:lnTo>
              </a:path>
            </a:pathLst>
          </a:custGeom>
          <a:noFill/>
          <a:ln w="1968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2" name="opt.1.cell.0.text"/>
          <p:cNvSpPr txBox="1"/>
          <p:nvPr/>
        </p:nvSpPr>
        <p:spPr>
          <a:xfrm>
            <a:off x="6590792" y="271576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40+ signals a week triaged by hand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opt.1.cell.1.mark"/>
          <p:cNvSpPr/>
          <p:nvPr/>
        </p:nvSpPr>
        <p:spPr>
          <a:xfrm>
            <a:off x="6243320" y="387819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5000" y="9000"/>
                </a:moveTo>
                <a:lnTo>
                  <a:pt x="9000" y="15000"/>
                </a:lnTo>
                <a:moveTo>
                  <a:pt x="9000" y="9000"/>
                </a:moveTo>
                <a:lnTo>
                  <a:pt x="15000" y="15000"/>
                </a:lnTo>
              </a:path>
            </a:pathLst>
          </a:custGeom>
          <a:noFill/>
          <a:ln w="1968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4" name="opt.1.cell.1.text"/>
          <p:cNvSpPr txBox="1"/>
          <p:nvPr/>
        </p:nvSpPr>
        <p:spPr>
          <a:xfrm>
            <a:off x="6590792" y="361873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Sources kept in personal notes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opt.1.cell.2.mark"/>
          <p:cNvSpPr/>
          <p:nvPr/>
        </p:nvSpPr>
        <p:spPr>
          <a:xfrm>
            <a:off x="6243320" y="478116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6" name="opt.1.cell.2.text"/>
          <p:cNvSpPr txBox="1"/>
          <p:nvPr/>
        </p:nvSpPr>
        <p:spPr>
          <a:xfrm>
            <a:off x="6590792" y="452170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reviews before release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opt.1.cell.3.mark"/>
          <p:cNvSpPr/>
          <p:nvPr/>
        </p:nvSpPr>
        <p:spPr>
          <a:xfrm>
            <a:off x="6243320" y="568413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8" name="opt.1.cell.3.text"/>
          <p:cNvSpPr txBox="1"/>
          <p:nvPr/>
        </p:nvSpPr>
        <p:spPr>
          <a:xfrm>
            <a:off x="6590792" y="542467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central version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opt.2.panel"/>
          <p:cNvSpPr/>
          <p:nvPr/>
        </p:nvSpPr>
        <p:spPr>
          <a:xfrm>
            <a:off x="9039352" y="1307592"/>
            <a:ext cx="2759456" cy="4946904"/>
          </a:xfrm>
          <a:prstGeom prst="roundRect">
            <a:avLst>
              <a:gd name="adj" fmla="val 1656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50" name="opt.2.head"/>
          <p:cNvSpPr/>
          <p:nvPr/>
        </p:nvSpPr>
        <p:spPr>
          <a:xfrm>
            <a:off x="9039352" y="777240"/>
            <a:ext cx="2759456" cy="475488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51" name="opt.2.name"/>
          <p:cNvSpPr txBox="1"/>
          <p:nvPr/>
        </p:nvSpPr>
        <p:spPr>
          <a:xfrm>
            <a:off x="9203944" y="777240"/>
            <a:ext cx="2430272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 brief service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56" name="s17.opt3.score" descr="stat kind illustrative"/>
          <p:cNvGrpSpPr/>
          <p:nvPr/>
        </p:nvGrpSpPr>
        <p:grpSpPr>
          <a:xfrm>
            <a:off x="9313672" y="1527048"/>
            <a:ext cx="2210816" cy="953577"/>
            <a:chOff x="9313672" y="1527048"/>
            <a:chExt cx="2210816" cy="953577"/>
          </a:xfrm>
          <a:effectLst/>
        </p:grpSpPr>
        <p:sp>
          <p:nvSpPr>
            <p:cNvPr id="52" name="s17.opt3.score.value"/>
            <p:cNvSpPr txBox="1"/>
            <p:nvPr/>
          </p:nvSpPr>
          <p:spPr>
            <a:xfrm>
              <a:off x="9313672" y="1527048"/>
              <a:ext cx="2210816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4 of 4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3" name="s17.opt3.score.rule"/>
            <p:cNvCxnSpPr/>
            <p:nvPr/>
          </p:nvCxnSpPr>
          <p:spPr>
            <a:xfrm>
              <a:off x="9313672" y="2008120"/>
              <a:ext cx="22108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4" name="s17.opt3.score.label"/>
            <p:cNvSpPr txBox="1"/>
            <p:nvPr/>
          </p:nvSpPr>
          <p:spPr>
            <a:xfrm>
              <a:off x="9313672" y="2062984"/>
              <a:ext cx="2210816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tests met, the choice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5" name="s17.opt3.score.basis"/>
            <p:cNvSpPr/>
            <p:nvPr/>
          </p:nvSpPr>
          <p:spPr>
            <a:xfrm>
              <a:off x="9313672" y="2270282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7" name="opt.2.cell.0.mark"/>
          <p:cNvSpPr/>
          <p:nvPr/>
        </p:nvSpPr>
        <p:spPr>
          <a:xfrm>
            <a:off x="9185656" y="297522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8" name="opt.2.cell.0.text"/>
          <p:cNvSpPr txBox="1"/>
          <p:nvPr/>
        </p:nvSpPr>
        <p:spPr>
          <a:xfrm>
            <a:off x="9533128" y="271576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 day from a move to reps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opt.2.cell.1.mark"/>
          <p:cNvSpPr/>
          <p:nvPr/>
        </p:nvSpPr>
        <p:spPr>
          <a:xfrm>
            <a:off x="9185656" y="387819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0" name="opt.2.cell.1.text"/>
          <p:cNvSpPr txBox="1"/>
          <p:nvPr/>
        </p:nvSpPr>
        <p:spPr>
          <a:xfrm>
            <a:off x="9533128" y="361873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100% of claims linked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opt.2.cell.2.mark"/>
          <p:cNvSpPr/>
          <p:nvPr/>
        </p:nvSpPr>
        <p:spPr>
          <a:xfrm>
            <a:off x="9185656" y="478116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2" name="opt.2.cell.2.text"/>
          <p:cNvSpPr txBox="1"/>
          <p:nvPr/>
        </p:nvSpPr>
        <p:spPr>
          <a:xfrm>
            <a:off x="9533128" y="452170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signs every brief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opt.2.cell.3.mark"/>
          <p:cNvSpPr/>
          <p:nvPr/>
        </p:nvSpPr>
        <p:spPr>
          <a:xfrm>
            <a:off x="9185656" y="5684139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4" name="opt.2.cell.3.text"/>
          <p:cNvSpPr txBox="1"/>
          <p:nvPr/>
        </p:nvSpPr>
        <p:spPr>
          <a:xfrm>
            <a:off x="9533128" y="5424678"/>
            <a:ext cx="2137664" cy="75666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brief, cut by territory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ioritization-matrix:value-effort-scatter-key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Four capabilities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give most of the value for the least effort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3" name="prio" descr="Scatter of 12 items, Value to the field, 1 to 5 against Effort to build (chart kind illustrative)"/>
          <p:cNvGraphicFramePr>
            <a:graphicFrameLocks noGrp="1"/>
          </p:cNvGraphicFramePr>
          <p:nvPr/>
        </p:nvGraphicFramePr>
        <p:xfrm>
          <a:off x="457200" y="777240"/>
          <a:ext cx="6812280" cy="54772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prio.axis.y"/>
          <p:cNvSpPr txBox="1"/>
          <p:nvPr/>
        </p:nvSpPr>
        <p:spPr>
          <a:xfrm>
            <a:off x="512064" y="1024159"/>
            <a:ext cx="1667729" cy="189010"/>
          </a:xfrm>
          <a:prstGeom prst="rect">
            <a:avLst/>
          </a:prstGeom>
          <a:noFill/>
          <a:effectLst/>
        </p:spPr>
        <p:txBody>
          <a:bodyPr wrap="square" lIns="0" tIns="0" rIns="0" bIns="0" anchor="b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Value to the field, 1 to 5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rio.axis.x"/>
          <p:cNvSpPr txBox="1"/>
          <p:nvPr/>
        </p:nvSpPr>
        <p:spPr>
          <a:xfrm>
            <a:off x="6143669" y="6010622"/>
            <a:ext cx="993745" cy="18901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Effort to build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" name="prio.split.x"/>
          <p:cNvCxnSpPr/>
          <p:nvPr/>
        </p:nvCxnSpPr>
        <p:spPr>
          <a:xfrm>
            <a:off x="3920229" y="1344250"/>
            <a:ext cx="0" cy="4385922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7" name="prio.split.y"/>
          <p:cNvCxnSpPr/>
          <p:nvPr/>
        </p:nvCxnSpPr>
        <p:spPr>
          <a:xfrm>
            <a:off x="703042" y="3537211"/>
            <a:ext cx="6434373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8" name="prio.quad.1"/>
          <p:cNvSpPr txBox="1"/>
          <p:nvPr/>
        </p:nvSpPr>
        <p:spPr>
          <a:xfrm>
            <a:off x="776194" y="1399114"/>
            <a:ext cx="718119" cy="18901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Build first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prio.quad.2"/>
          <p:cNvSpPr txBox="1"/>
          <p:nvPr/>
        </p:nvSpPr>
        <p:spPr>
          <a:xfrm>
            <a:off x="6483993" y="1399114"/>
            <a:ext cx="580270" cy="18901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Plan for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prio.quad.3"/>
          <p:cNvSpPr txBox="1"/>
          <p:nvPr/>
        </p:nvSpPr>
        <p:spPr>
          <a:xfrm>
            <a:off x="776194" y="5486298"/>
            <a:ext cx="417889" cy="18901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Fill in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prio.quad.4"/>
          <p:cNvSpPr txBox="1"/>
          <p:nvPr/>
        </p:nvSpPr>
        <p:spPr>
          <a:xfrm>
            <a:off x="6703210" y="5486298"/>
            <a:ext cx="361052" cy="18901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Hold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rio.point.1"/>
          <p:cNvSpPr txBox="1"/>
          <p:nvPr/>
        </p:nvSpPr>
        <p:spPr>
          <a:xfrm>
            <a:off x="1610209" y="1697481"/>
            <a:ext cx="117802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rio.point.2"/>
          <p:cNvSpPr txBox="1"/>
          <p:nvPr/>
        </p:nvSpPr>
        <p:spPr>
          <a:xfrm>
            <a:off x="2414506" y="2355369"/>
            <a:ext cx="117802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rio.point.3"/>
          <p:cNvSpPr txBox="1"/>
          <p:nvPr/>
        </p:nvSpPr>
        <p:spPr>
          <a:xfrm>
            <a:off x="3379661" y="1916777"/>
            <a:ext cx="117802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rio.point.4"/>
          <p:cNvSpPr txBox="1"/>
          <p:nvPr/>
        </p:nvSpPr>
        <p:spPr>
          <a:xfrm>
            <a:off x="1127631" y="2903610"/>
            <a:ext cx="117802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prio.point.5"/>
          <p:cNvSpPr txBox="1"/>
          <p:nvPr/>
        </p:nvSpPr>
        <p:spPr>
          <a:xfrm>
            <a:off x="4666536" y="2136073"/>
            <a:ext cx="117826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prio.point.6"/>
          <p:cNvSpPr txBox="1"/>
          <p:nvPr/>
        </p:nvSpPr>
        <p:spPr>
          <a:xfrm>
            <a:off x="3057943" y="3890442"/>
            <a:ext cx="117826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6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prio.point.7"/>
          <p:cNvSpPr txBox="1"/>
          <p:nvPr/>
        </p:nvSpPr>
        <p:spPr>
          <a:xfrm>
            <a:off x="5953410" y="2793961"/>
            <a:ext cx="117826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7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prio.point.8"/>
          <p:cNvSpPr txBox="1"/>
          <p:nvPr/>
        </p:nvSpPr>
        <p:spPr>
          <a:xfrm>
            <a:off x="4988254" y="3232554"/>
            <a:ext cx="117826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8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prio.point.9"/>
          <p:cNvSpPr txBox="1"/>
          <p:nvPr/>
        </p:nvSpPr>
        <p:spPr>
          <a:xfrm>
            <a:off x="6435988" y="4109738"/>
            <a:ext cx="117826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9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prio.point.10"/>
          <p:cNvSpPr txBox="1"/>
          <p:nvPr/>
        </p:nvSpPr>
        <p:spPr>
          <a:xfrm>
            <a:off x="4344817" y="4767626"/>
            <a:ext cx="199077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10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rio.point.11"/>
          <p:cNvSpPr txBox="1"/>
          <p:nvPr/>
        </p:nvSpPr>
        <p:spPr>
          <a:xfrm>
            <a:off x="2092787" y="5096571"/>
            <a:ext cx="199077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11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prio.point.12"/>
          <p:cNvSpPr txBox="1"/>
          <p:nvPr/>
        </p:nvSpPr>
        <p:spPr>
          <a:xfrm>
            <a:off x="6596848" y="5206219"/>
            <a:ext cx="199077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12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prio.basis"/>
          <p:cNvSpPr txBox="1"/>
          <p:nvPr/>
        </p:nvSpPr>
        <p:spPr>
          <a:xfrm>
            <a:off x="6154991" y="832104"/>
            <a:ext cx="1059625" cy="15547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Illustrative figures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key.1.swatch"/>
          <p:cNvSpPr/>
          <p:nvPr/>
        </p:nvSpPr>
        <p:spPr>
          <a:xfrm>
            <a:off x="7635240" y="832104"/>
            <a:ext cx="128016" cy="1280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6" name="key.1.text"/>
          <p:cNvSpPr txBox="1"/>
          <p:nvPr/>
        </p:nvSpPr>
        <p:spPr>
          <a:xfrm>
            <a:off x="7891272" y="777240"/>
            <a:ext cx="3907536" cy="123975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Wave 1, by Jan 2027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Highest value for the least effort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  Signal intake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registries, press, congress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  Source ledger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every claim to its source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3  Brief writer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one page a week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4  Review queue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medical sign-off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key.2.swatch"/>
          <p:cNvSpPr/>
          <p:nvPr/>
        </p:nvSpPr>
        <p:spPr>
          <a:xfrm>
            <a:off x="7635240" y="2950856"/>
            <a:ext cx="128016" cy="12801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/>
          <a:p/>
        </p:txBody>
      </p:sp>
      <p:sp>
        <p:nvSpPr>
          <p:cNvPr id="28" name="key.2.text"/>
          <p:cNvSpPr txBox="1"/>
          <p:nvPr/>
        </p:nvSpPr>
        <p:spPr>
          <a:xfrm>
            <a:off x="7891272" y="2895992"/>
            <a:ext cx="3907536" cy="123975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Wave 2, by Sep 2027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Regional depth and new sources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5  Regional notes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one local line each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6  Field app card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the brief in the app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7  Payer feeds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formulary moves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8  Congress tracker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abstracts and posters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key.3.swatch"/>
          <p:cNvSpPr/>
          <p:nvPr/>
        </p:nvSpPr>
        <p:spPr>
          <a:xfrm>
            <a:off x="7635240" y="5069608"/>
            <a:ext cx="128016" cy="128016"/>
          </a:xfrm>
          <a:prstGeom prst="rect">
            <a:avLst/>
          </a:prstGeom>
          <a:solidFill>
            <a:schemeClr val="bg1">
              <a:lumMod val="5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0" name="key.3.text"/>
          <p:cNvSpPr txBox="1"/>
          <p:nvPr/>
        </p:nvSpPr>
        <p:spPr>
          <a:xfrm>
            <a:off x="7891272" y="5014744"/>
            <a:ext cx="3907536" cy="123975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Later, after Sep 2027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Low value for the effort today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9  Rep questions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answers from the brief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10  Brand dashboards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trends by brand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11  Archive search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past briefs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12  Translation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, local languages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ection-divider:brand-block-numeral">
    <p:spTree>
      <p:nvGrpSpPr>
        <p:cNvPr id="1" name=""/>
        <p:cNvGrpSpPr/>
        <p:nvPr/>
      </p:nvGrpSpPr>
      <p:grpSpPr/>
      <p:sp>
        <p:nvSpPr>
          <p:cNvPr id="2" name="divider.block"/>
          <p:cNvSpPr/>
          <p:nvPr/>
        </p:nvSpPr>
        <p:spPr>
          <a:xfrm>
            <a:off x="457200" y="777240"/>
            <a:ext cx="4206240" cy="5477256"/>
          </a:xfrm>
          <a:prstGeom prst="roundRect">
            <a:avLst>
              <a:gd name="adj" fmla="val 108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" name="divider.numeral"/>
          <p:cNvSpPr txBox="1"/>
          <p:nvPr/>
        </p:nvSpPr>
        <p:spPr>
          <a:xfrm>
            <a:off x="786384" y="3541231"/>
            <a:ext cx="3657600" cy="243894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03</a:t>
            </a:r>
            <a:endParaRPr lang="en-US" sz="16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5394960" y="2556570"/>
            <a:ext cx="6403848" cy="82314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How it </a:t>
            </a:r>
            <a:r>
              <a:rPr lang="en-US" sz="5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works</a:t>
            </a:r>
            <a:endParaRPr lang="en-US" sz="5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" name="divider.track"/>
          <p:cNvCxnSpPr/>
          <p:nvPr/>
        </p:nvCxnSpPr>
        <p:spPr>
          <a:xfrm>
            <a:off x="5605272" y="4001506"/>
            <a:ext cx="310896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6" name="divider.pos.1"/>
          <p:cNvSpPr/>
          <p:nvPr/>
        </p:nvSpPr>
        <p:spPr>
          <a:xfrm>
            <a:off x="5394960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divider.pos.2"/>
          <p:cNvSpPr/>
          <p:nvPr/>
        </p:nvSpPr>
        <p:spPr>
          <a:xfrm>
            <a:off x="6016752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divider.pos.3"/>
          <p:cNvSpPr/>
          <p:nvPr/>
        </p:nvSpPr>
        <p:spPr>
          <a:xfrm>
            <a:off x="6638544" y="3791194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divider.pos.4"/>
          <p:cNvSpPr/>
          <p:nvPr/>
        </p:nvSpPr>
        <p:spPr>
          <a:xfrm>
            <a:off x="7260336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divider.pos.5"/>
          <p:cNvSpPr/>
          <p:nvPr/>
        </p:nvSpPr>
        <p:spPr>
          <a:xfrm>
            <a:off x="7882128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divider.pos.6"/>
          <p:cNvSpPr/>
          <p:nvPr/>
        </p:nvSpPr>
        <p:spPr>
          <a:xfrm>
            <a:off x="8503920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6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cess-flow:chevron-stages-detail-panel">
    <p:spTree>
      <p:nvGrpSpPr>
        <p:cNvPr id="1" name=""/>
        <p:cNvGrpSpPr/>
        <p:nvPr/>
      </p:nvGrpSpPr>
      <p:grpSpPr/>
      <p:sp>
        <p:nvSpPr>
          <p:cNvPr id="2" name="struct.current"/>
          <p:cNvSpPr/>
          <p:nvPr/>
        </p:nvSpPr>
        <p:spPr>
          <a:xfrm>
            <a:off x="6137106" y="1847088"/>
            <a:ext cx="1699326" cy="1298448"/>
          </a:xfrm>
          <a:prstGeom prst="roundRect">
            <a:avLst>
              <a:gd name="adj" fmla="val 352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  <a:prstDash val="solid"/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Medical review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is the gate every weekly brief passes before release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ot.stage.1.label"/>
          <p:cNvSpPr/>
          <p:nvPr/>
        </p:nvSpPr>
        <p:spPr>
          <a:xfrm>
            <a:off x="457200" y="1393292"/>
            <a:ext cx="1983680" cy="416791"/>
          </a:xfrm>
          <a:prstGeom prst="homePlate">
            <a:avLst>
              <a:gd name="adj" fmla="val 34771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Scan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stage.2.label"/>
          <p:cNvSpPr/>
          <p:nvPr/>
        </p:nvSpPr>
        <p:spPr>
          <a:xfrm>
            <a:off x="2328175" y="1393292"/>
            <a:ext cx="1983680" cy="416791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Rank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stage.3.label"/>
          <p:cNvSpPr/>
          <p:nvPr/>
        </p:nvSpPr>
        <p:spPr>
          <a:xfrm>
            <a:off x="4199152" y="1393292"/>
            <a:ext cx="1983680" cy="416791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Draft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stage.4.label"/>
          <p:cNvSpPr/>
          <p:nvPr/>
        </p:nvSpPr>
        <p:spPr>
          <a:xfrm>
            <a:off x="6070127" y="1393292"/>
            <a:ext cx="1983680" cy="416791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stage.5.label"/>
          <p:cNvSpPr/>
          <p:nvPr/>
        </p:nvSpPr>
        <p:spPr>
          <a:xfrm>
            <a:off x="7941103" y="1393292"/>
            <a:ext cx="1983680" cy="416791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Release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stage.6.label"/>
          <p:cNvSpPr/>
          <p:nvPr/>
        </p:nvSpPr>
        <p:spPr>
          <a:xfrm>
            <a:off x="9812080" y="1393292"/>
            <a:ext cx="1983680" cy="416791"/>
          </a:xfrm>
          <a:prstGeom prst="chevron">
            <a:avLst>
              <a:gd name="adj" fmla="val 33079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Learn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" name="struct.stage.sep.1"/>
          <p:cNvCxnSpPr/>
          <p:nvPr/>
        </p:nvCxnSpPr>
        <p:spPr>
          <a:xfrm>
            <a:off x="2317027" y="1865376"/>
            <a:ext cx="0" cy="12618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1" name="struct.stage.sep.2"/>
          <p:cNvCxnSpPr/>
          <p:nvPr/>
        </p:nvCxnSpPr>
        <p:spPr>
          <a:xfrm>
            <a:off x="4199151" y="1865376"/>
            <a:ext cx="0" cy="12618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2" name="struct.stage.sep.3"/>
          <p:cNvCxnSpPr/>
          <p:nvPr/>
        </p:nvCxnSpPr>
        <p:spPr>
          <a:xfrm>
            <a:off x="6053141" y="1865376"/>
            <a:ext cx="0" cy="12618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3" name="struct.stage.sep.4"/>
          <p:cNvCxnSpPr/>
          <p:nvPr/>
        </p:nvCxnSpPr>
        <p:spPr>
          <a:xfrm>
            <a:off x="7920396" y="1865376"/>
            <a:ext cx="0" cy="12618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4" name="struct.stage.sep.5"/>
          <p:cNvCxnSpPr/>
          <p:nvPr/>
        </p:nvCxnSpPr>
        <p:spPr>
          <a:xfrm>
            <a:off x="9799807" y="1865376"/>
            <a:ext cx="0" cy="126187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15" name="slot.stage.1.action"/>
          <p:cNvSpPr txBox="1"/>
          <p:nvPr/>
        </p:nvSpPr>
        <p:spPr>
          <a:xfrm>
            <a:off x="599580" y="1938528"/>
            <a:ext cx="1575065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 approved public feeds every weekday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stage.2.action"/>
          <p:cNvSpPr txBox="1"/>
          <p:nvPr/>
        </p:nvSpPr>
        <p:spPr>
          <a:xfrm>
            <a:off x="2459408" y="1938528"/>
            <a:ext cx="1594646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Score each signal by brand and territory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stage.3.action"/>
          <p:cNvSpPr txBox="1"/>
          <p:nvPr/>
        </p:nvSpPr>
        <p:spPr>
          <a:xfrm>
            <a:off x="4342892" y="1938528"/>
            <a:ext cx="1566510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Write one page with every claim sourced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stage.4.action"/>
          <p:cNvSpPr txBox="1"/>
          <p:nvPr/>
        </p:nvSpPr>
        <p:spPr>
          <a:xfrm>
            <a:off x="6196883" y="1938528"/>
            <a:ext cx="1579773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approves, edits or rejects each claim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stage.5.action"/>
          <p:cNvSpPr txBox="1"/>
          <p:nvPr/>
        </p:nvSpPr>
        <p:spPr>
          <a:xfrm>
            <a:off x="8064138" y="1938528"/>
            <a:ext cx="1591930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Ship each territory cut before Monday calls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stage.6.action"/>
          <p:cNvSpPr txBox="1"/>
          <p:nvPr/>
        </p:nvSpPr>
        <p:spPr>
          <a:xfrm>
            <a:off x="9943548" y="1938528"/>
            <a:ext cx="1591929" cy="56692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Feed rejections back into the source rules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" name="struct.stage.1.rule"/>
          <p:cNvCxnSpPr>
            <a:cxnSpLocks/>
          </p:cNvCxnSpPr>
          <p:nvPr/>
        </p:nvCxnSpPr>
        <p:spPr>
          <a:xfrm flipH="1">
            <a:off x="599580" y="2578608"/>
            <a:ext cx="157506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2" name="struct.stage.2.rule"/>
          <p:cNvCxnSpPr>
            <a:cxnSpLocks/>
          </p:cNvCxnSpPr>
          <p:nvPr/>
        </p:nvCxnSpPr>
        <p:spPr>
          <a:xfrm flipH="1">
            <a:off x="2459408" y="2578608"/>
            <a:ext cx="159464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3" name="struct.stage.3.rule"/>
          <p:cNvCxnSpPr>
            <a:cxnSpLocks/>
          </p:cNvCxnSpPr>
          <p:nvPr/>
        </p:nvCxnSpPr>
        <p:spPr>
          <a:xfrm flipH="1">
            <a:off x="4342892" y="2578608"/>
            <a:ext cx="15665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4" name="struct.stage.4.rule"/>
          <p:cNvCxnSpPr>
            <a:cxnSpLocks/>
          </p:cNvCxnSpPr>
          <p:nvPr/>
        </p:nvCxnSpPr>
        <p:spPr>
          <a:xfrm flipH="1">
            <a:off x="6196883" y="2578608"/>
            <a:ext cx="157977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5" name="struct.stage.5.rule"/>
          <p:cNvCxnSpPr>
            <a:cxnSpLocks/>
          </p:cNvCxnSpPr>
          <p:nvPr/>
        </p:nvCxnSpPr>
        <p:spPr>
          <a:xfrm flipH="1">
            <a:off x="8064138" y="2578608"/>
            <a:ext cx="15919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6" name="struct.stage.6.rule"/>
          <p:cNvCxnSpPr>
            <a:cxnSpLocks/>
          </p:cNvCxnSpPr>
          <p:nvPr/>
        </p:nvCxnSpPr>
        <p:spPr>
          <a:xfrm flipH="1">
            <a:off x="9943548" y="2578608"/>
            <a:ext cx="159192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27" name="slot.stage.1.output"/>
          <p:cNvSpPr txBox="1"/>
          <p:nvPr/>
        </p:nvSpPr>
        <p:spPr>
          <a:xfrm>
            <a:off x="599580" y="2670048"/>
            <a:ext cx="1575065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New signals, repeats dropped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stage.2.output"/>
          <p:cNvSpPr txBox="1"/>
          <p:nvPr/>
        </p:nvSpPr>
        <p:spPr>
          <a:xfrm>
            <a:off x="2459408" y="2670048"/>
            <a:ext cx="1594646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ranked weekly shortlist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stage.3.output"/>
          <p:cNvSpPr txBox="1"/>
          <p:nvPr/>
        </p:nvSpPr>
        <p:spPr>
          <a:xfrm>
            <a:off x="4342892" y="2670048"/>
            <a:ext cx="1566510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Draft brief with source links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stage.4.output"/>
          <p:cNvSpPr txBox="1"/>
          <p:nvPr/>
        </p:nvSpPr>
        <p:spPr>
          <a:xfrm>
            <a:off x="6196883" y="2670048"/>
            <a:ext cx="1579773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Signed brief and decision log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stage.5.output"/>
          <p:cNvSpPr txBox="1"/>
          <p:nvPr/>
        </p:nvSpPr>
        <p:spPr>
          <a:xfrm>
            <a:off x="8064138" y="2670048"/>
            <a:ext cx="1591930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in every rep's app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stage.6.output"/>
          <p:cNvSpPr txBox="1"/>
          <p:nvPr/>
        </p:nvSpPr>
        <p:spPr>
          <a:xfrm>
            <a:off x="9943548" y="2670048"/>
            <a:ext cx="1591929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Tuned rules for next week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truct.panel"/>
          <p:cNvSpPr/>
          <p:nvPr/>
        </p:nvSpPr>
        <p:spPr>
          <a:xfrm>
            <a:off x="457200" y="3481756"/>
            <a:ext cx="11338554" cy="2909816"/>
          </a:xfrm>
          <a:prstGeom prst="roundRect">
            <a:avLst>
              <a:gd name="adj" fmla="val 1571"/>
            </a:avLst>
          </a:prstGeom>
          <a:solidFill>
            <a:schemeClr val="bg1">
              <a:lumMod val="95000"/>
            </a:schemeClr>
          </a:solidFill>
          <a:ln/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4" name="slot.panel.head"/>
          <p:cNvSpPr txBox="1"/>
          <p:nvPr/>
        </p:nvSpPr>
        <p:spPr>
          <a:xfrm>
            <a:off x="675254" y="3639312"/>
            <a:ext cx="10907407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passes when a named medical reviewer signs every claim against its live source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col.1.head"/>
          <p:cNvSpPr txBox="1"/>
          <p:nvPr/>
        </p:nvSpPr>
        <p:spPr>
          <a:xfrm>
            <a:off x="672458" y="4067126"/>
            <a:ext cx="3375699" cy="18466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Pass criteria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criterion.1"/>
          <p:cNvSpPr txBox="1"/>
          <p:nvPr/>
        </p:nvSpPr>
        <p:spPr>
          <a:xfrm>
            <a:off x="675254" y="4425696"/>
            <a:ext cx="3364565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claim links to a live feed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criterion.2"/>
          <p:cNvSpPr txBox="1"/>
          <p:nvPr/>
        </p:nvSpPr>
        <p:spPr>
          <a:xfrm>
            <a:off x="675254" y="4690872"/>
            <a:ext cx="3364565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Comparisons backed by a source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criterion.3"/>
          <p:cNvSpPr txBox="1"/>
          <p:nvPr/>
        </p:nvSpPr>
        <p:spPr>
          <a:xfrm>
            <a:off x="675254" y="4956048"/>
            <a:ext cx="3364565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Only the three approved brands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criterion.4"/>
          <p:cNvSpPr txBox="1"/>
          <p:nvPr/>
        </p:nvSpPr>
        <p:spPr>
          <a:xfrm>
            <a:off x="675254" y="5221224"/>
            <a:ext cx="3364565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signs by Friday noon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criterion.5"/>
          <p:cNvSpPr txBox="1"/>
          <p:nvPr/>
        </p:nvSpPr>
        <p:spPr>
          <a:xfrm>
            <a:off x="675254" y="5486400"/>
            <a:ext cx="3364565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Each decision logged with a reason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lot.criterion.6"/>
          <p:cNvSpPr txBox="1"/>
          <p:nvPr/>
        </p:nvSpPr>
        <p:spPr>
          <a:xfrm>
            <a:off x="675254" y="5751576"/>
            <a:ext cx="3364565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Release log keeps each signed edit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col.3.head"/>
          <p:cNvSpPr txBox="1"/>
          <p:nvPr/>
        </p:nvSpPr>
        <p:spPr>
          <a:xfrm>
            <a:off x="8947002" y="4067126"/>
            <a:ext cx="2629564" cy="18466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Risks to watch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risk.3"/>
          <p:cNvSpPr/>
          <p:nvPr/>
        </p:nvSpPr>
        <p:spPr>
          <a:xfrm>
            <a:off x="8947003" y="5652975"/>
            <a:ext cx="2633496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Regional teams keep writing their own notes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risk.2"/>
          <p:cNvSpPr/>
          <p:nvPr/>
        </p:nvSpPr>
        <p:spPr>
          <a:xfrm>
            <a:off x="8947003" y="5031722"/>
            <a:ext cx="2633496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Payer notices arrive after the weekly cutoff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risk.1"/>
          <p:cNvSpPr/>
          <p:nvPr/>
        </p:nvSpPr>
        <p:spPr>
          <a:xfrm>
            <a:off x="8947003" y="4410469"/>
            <a:ext cx="2633496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Reviewer cover thin during congress weeks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5" name="struct.col.3.rule"/>
          <p:cNvCxnSpPr>
            <a:cxnSpLocks/>
          </p:cNvCxnSpPr>
          <p:nvPr/>
        </p:nvCxnSpPr>
        <p:spPr>
          <a:xfrm flipH="1">
            <a:off x="8947003" y="4313351"/>
            <a:ext cx="2633496" cy="0"/>
          </a:xfrm>
          <a:prstGeom prst="line">
            <a:avLst/>
          </a:prstGeom>
          <a:ln w="1270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46" name="struct.col.sep.2"/>
          <p:cNvCxnSpPr>
            <a:cxnSpLocks/>
          </p:cNvCxnSpPr>
          <p:nvPr/>
        </p:nvCxnSpPr>
        <p:spPr>
          <a:xfrm flipH="1" flipV="1">
            <a:off x="8716493" y="4067126"/>
            <a:ext cx="1967" cy="2105719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47" name="slot.col.2.head"/>
          <p:cNvSpPr txBox="1"/>
          <p:nvPr/>
        </p:nvSpPr>
        <p:spPr>
          <a:xfrm>
            <a:off x="4505241" y="4067126"/>
            <a:ext cx="3982711" cy="18466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Owners and duties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truct.owner.3"/>
          <p:cNvSpPr/>
          <p:nvPr/>
        </p:nvSpPr>
        <p:spPr>
          <a:xfrm>
            <a:off x="4505241" y="5652975"/>
            <a:ext cx="3982711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>
            <a:noAutofit/>
          </a:bodyPr>
          <a:lstStyle/>
          <a:p>
            <a:pPr>
              <a:lnSpc>
                <a:spcPts val="1350"/>
              </a:lnSpc>
            </a:pPr>
            <a:endParaRPr lang="en-US" sz="1100">
              <a:solidFill>
                <a:schemeClr val="tx1">
                  <a:lumMod val="90000"/>
                  <a:lumOff val="10000"/>
                </a:schemeClr>
              </a:solidFill>
              <a:latin typeface="+mn-lt"/>
              <a:cs typeface="Calibri" pitchFamily="34" charset="-120"/>
            </a:endParaRPr>
          </a:p>
        </p:txBody>
      </p:sp>
      <p:sp>
        <p:nvSpPr>
          <p:cNvPr id="49" name="struct.owner.2"/>
          <p:cNvSpPr/>
          <p:nvPr/>
        </p:nvSpPr>
        <p:spPr>
          <a:xfrm>
            <a:off x="4505241" y="5031722"/>
            <a:ext cx="3982711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>
            <a:noAutofit/>
          </a:bodyPr>
          <a:lstStyle/>
          <a:p>
            <a:pPr>
              <a:lnSpc>
                <a:spcPts val="1350"/>
              </a:lnSpc>
            </a:pPr>
            <a:endParaRPr lang="en-US" sz="1100">
              <a:solidFill>
                <a:schemeClr val="tx1">
                  <a:lumMod val="90000"/>
                  <a:lumOff val="10000"/>
                </a:schemeClr>
              </a:solidFill>
              <a:latin typeface="+mn-lt"/>
              <a:cs typeface="Calibri" pitchFamily="34" charset="-120"/>
            </a:endParaRPr>
          </a:p>
        </p:txBody>
      </p:sp>
      <p:sp>
        <p:nvSpPr>
          <p:cNvPr id="50" name="struct.owner.1"/>
          <p:cNvSpPr/>
          <p:nvPr/>
        </p:nvSpPr>
        <p:spPr>
          <a:xfrm>
            <a:off x="4505241" y="4410469"/>
            <a:ext cx="3982711" cy="519870"/>
          </a:xfrm>
          <a:prstGeom prst="roundRect">
            <a:avLst>
              <a:gd name="adj" fmla="val 8795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wrap="square" tIns="72000" bIns="72000" anchor="ctr">
            <a:noAutofit/>
          </a:bodyPr>
          <a:lstStyle/>
          <a:p>
            <a:pPr>
              <a:lnSpc>
                <a:spcPts val="1350"/>
              </a:lnSpc>
            </a:pPr>
            <a:endParaRPr lang="en-US" sz="11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1" name="struct.col.2.rule"/>
          <p:cNvCxnSpPr>
            <a:cxnSpLocks/>
          </p:cNvCxnSpPr>
          <p:nvPr/>
        </p:nvCxnSpPr>
        <p:spPr>
          <a:xfrm flipH="1">
            <a:off x="4505241" y="4313351"/>
            <a:ext cx="3982711" cy="0"/>
          </a:xfrm>
          <a:prstGeom prst="line">
            <a:avLst/>
          </a:prstGeom>
          <a:ln w="1270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52" name="struct.col.1.rule"/>
          <p:cNvCxnSpPr>
            <a:cxnSpLocks/>
          </p:cNvCxnSpPr>
          <p:nvPr/>
        </p:nvCxnSpPr>
        <p:spPr>
          <a:xfrm flipH="1">
            <a:off x="677206" y="4313351"/>
            <a:ext cx="3368986" cy="0"/>
          </a:xfrm>
          <a:prstGeom prst="line">
            <a:avLst/>
          </a:prstGeom>
          <a:ln w="1270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53" name="struct.col.sep.1"/>
          <p:cNvCxnSpPr>
            <a:cxnSpLocks/>
          </p:cNvCxnSpPr>
          <p:nvPr/>
        </p:nvCxnSpPr>
        <p:spPr>
          <a:xfrm flipH="1" flipV="1">
            <a:off x="4274733" y="4067126"/>
            <a:ext cx="1967" cy="2105719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54" name="slot.owner.1.tag"/>
          <p:cNvSpPr/>
          <p:nvPr/>
        </p:nvSpPr>
        <p:spPr>
          <a:xfrm>
            <a:off x="4579023" y="4485323"/>
            <a:ext cx="951568" cy="370162"/>
          </a:xfrm>
          <a:prstGeom prst="roundRect">
            <a:avLst>
              <a:gd name="adj" fmla="val 13641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owner.2.tag"/>
          <p:cNvSpPr/>
          <p:nvPr/>
        </p:nvSpPr>
        <p:spPr>
          <a:xfrm>
            <a:off x="4579023" y="5106576"/>
            <a:ext cx="951568" cy="370162"/>
          </a:xfrm>
          <a:prstGeom prst="roundRect">
            <a:avLst>
              <a:gd name="adj" fmla="val 13641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Brand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owner.3.tag"/>
          <p:cNvSpPr/>
          <p:nvPr/>
        </p:nvSpPr>
        <p:spPr>
          <a:xfrm>
            <a:off x="4579023" y="5727829"/>
            <a:ext cx="951568" cy="370162"/>
          </a:xfrm>
          <a:prstGeom prst="roundRect">
            <a:avLst>
              <a:gd name="adj" fmla="val 13641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tIns="72000" bIns="72000" anchor="ctr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owner.1.body"/>
          <p:cNvSpPr txBox="1"/>
          <p:nvPr/>
        </p:nvSpPr>
        <p:spPr>
          <a:xfrm>
            <a:off x="5713715" y="4500486"/>
            <a:ext cx="2626672" cy="339837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 or reject each claim within one day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owner.2.body"/>
          <p:cNvSpPr txBox="1"/>
          <p:nvPr/>
        </p:nvSpPr>
        <p:spPr>
          <a:xfrm>
            <a:off x="5713715" y="5121739"/>
            <a:ext cx="2626672" cy="339837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Confirm territory priorities before each weekly run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owner.3.body"/>
          <p:cNvSpPr txBox="1"/>
          <p:nvPr/>
        </p:nvSpPr>
        <p:spPr>
          <a:xfrm>
            <a:off x="5713715" y="5742992"/>
            <a:ext cx="2626672" cy="339837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Flag claims customers challenge back to medical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stage.1.icon"/>
          <p:cNvSpPr/>
          <p:nvPr/>
        </p:nvSpPr>
        <p:spPr>
          <a:xfrm>
            <a:off x="1253971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7" name="slot.stage.2.icon"/>
          <p:cNvSpPr/>
          <p:nvPr/>
        </p:nvSpPr>
        <p:spPr>
          <a:xfrm>
            <a:off x="3121853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5000"/>
                </a:moveTo>
                <a:lnTo>
                  <a:pt x="21000" y="5000"/>
                </a:lnTo>
                <a:moveTo>
                  <a:pt x="11000" y="12000"/>
                </a:moveTo>
                <a:lnTo>
                  <a:pt x="21000" y="12000"/>
                </a:lnTo>
                <a:moveTo>
                  <a:pt x="11000" y="19000"/>
                </a:moveTo>
                <a:lnTo>
                  <a:pt x="21000" y="19000"/>
                </a:lnTo>
                <a:moveTo>
                  <a:pt x="4000" y="4000"/>
                </a:moveTo>
                <a:lnTo>
                  <a:pt x="5000" y="4000"/>
                </a:lnTo>
                <a:lnTo>
                  <a:pt x="5000" y="9000"/>
                </a:lnTo>
                <a:moveTo>
                  <a:pt x="4000" y="9000"/>
                </a:moveTo>
                <a:lnTo>
                  <a:pt x="6000" y="9000"/>
                </a:lnTo>
                <a:moveTo>
                  <a:pt x="6500" y="20000"/>
                </a:moveTo>
                <a:lnTo>
                  <a:pt x="3400" y="20000"/>
                </a:lnTo>
                <a:cubicBezTo>
                  <a:pt x="3400" y="19000"/>
                  <a:pt x="6000" y="18075"/>
                  <a:pt x="6000" y="16500"/>
                </a:cubicBezTo>
                <a:cubicBezTo>
                  <a:pt x="6000" y="15883"/>
                  <a:pt x="5622" y="15329"/>
                  <a:pt x="5048" y="15103"/>
                </a:cubicBezTo>
                <a:cubicBezTo>
                  <a:pt x="4473" y="14878"/>
                  <a:pt x="3820" y="15027"/>
                  <a:pt x="3400" y="1548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8" name="slot.stage.3.icon"/>
          <p:cNvSpPr/>
          <p:nvPr/>
        </p:nvSpPr>
        <p:spPr>
          <a:xfrm>
            <a:off x="4994307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9" name="slot.stage.4.icon"/>
          <p:cNvSpPr/>
          <p:nvPr/>
        </p:nvSpPr>
        <p:spPr>
          <a:xfrm>
            <a:off x="6865846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0" name="slot.stage.5.icon"/>
          <p:cNvSpPr/>
          <p:nvPr/>
        </p:nvSpPr>
        <p:spPr>
          <a:xfrm>
            <a:off x="8738300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536" y="21686"/>
                </a:moveTo>
                <a:cubicBezTo>
                  <a:pt x="14614" y="21880"/>
                  <a:pt x="14804" y="22005"/>
                  <a:pt x="15013" y="22000"/>
                </a:cubicBezTo>
                <a:cubicBezTo>
                  <a:pt x="15222" y="21994"/>
                  <a:pt x="15405" y="21860"/>
                  <a:pt x="15473" y="21662"/>
                </a:cubicBezTo>
                <a:lnTo>
                  <a:pt x="21973" y="2662"/>
                </a:lnTo>
                <a:cubicBezTo>
                  <a:pt x="22038" y="2481"/>
                  <a:pt x="21993" y="2279"/>
                  <a:pt x="21857" y="2143"/>
                </a:cubicBezTo>
                <a:cubicBezTo>
                  <a:pt x="21721" y="2007"/>
                  <a:pt x="21519" y="1962"/>
                  <a:pt x="21338" y="2027"/>
                </a:cubicBezTo>
                <a:lnTo>
                  <a:pt x="2338" y="8527"/>
                </a:lnTo>
                <a:cubicBezTo>
                  <a:pt x="2140" y="8595"/>
                  <a:pt x="2006" y="8778"/>
                  <a:pt x="2000" y="8987"/>
                </a:cubicBezTo>
                <a:cubicBezTo>
                  <a:pt x="1995" y="9196"/>
                  <a:pt x="2120" y="9386"/>
                  <a:pt x="2314" y="9464"/>
                </a:cubicBezTo>
                <a:lnTo>
                  <a:pt x="10244" y="12644"/>
                </a:lnTo>
                <a:cubicBezTo>
                  <a:pt x="10751" y="12847"/>
                  <a:pt x="11152" y="13248"/>
                  <a:pt x="11356" y="13754"/>
                </a:cubicBezTo>
                <a:close/>
                <a:moveTo>
                  <a:pt x="21854" y="2147"/>
                </a:moveTo>
                <a:lnTo>
                  <a:pt x="10914" y="13086"/>
                </a:ln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1" name="slot.stage.6.icon"/>
          <p:cNvSpPr/>
          <p:nvPr/>
        </p:nvSpPr>
        <p:spPr>
          <a:xfrm>
            <a:off x="10605267" y="90525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7029"/>
                  <a:pt x="7029" y="3000"/>
                  <a:pt x="12000" y="3000"/>
                </a:cubicBezTo>
                <a:cubicBezTo>
                  <a:pt x="14516" y="3009"/>
                  <a:pt x="16931" y="3991"/>
                  <a:pt x="18740" y="5740"/>
                </a:cubicBezTo>
                <a:lnTo>
                  <a:pt x="21000" y="8000"/>
                </a:lnTo>
                <a:moveTo>
                  <a:pt x="21000" y="3000"/>
                </a:moveTo>
                <a:lnTo>
                  <a:pt x="21000" y="8000"/>
                </a:lnTo>
                <a:lnTo>
                  <a:pt x="16000" y="8000"/>
                </a:lnTo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9484" y="20991"/>
                  <a:pt x="7069" y="20009"/>
                  <a:pt x="5260" y="18260"/>
                </a:cubicBezTo>
                <a:lnTo>
                  <a:pt x="3000" y="16000"/>
                </a:lnTo>
                <a:moveTo>
                  <a:pt x="8000" y="16000"/>
                </a:moveTo>
                <a:lnTo>
                  <a:pt x="3000" y="16000"/>
                </a:lnTo>
                <a:lnTo>
                  <a:pt x="3000" y="21000"/>
                </a:lnTo>
              </a:path>
            </a:pathLst>
          </a:custGeom>
          <a:noFill/>
          <a:ln w="3175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2" name="stage.1.proof"/>
          <p:cNvSpPr txBox="1"/>
          <p:nvPr/>
        </p:nvSpPr>
        <p:spPr>
          <a:xfrm>
            <a:off x="526428" y="3145536"/>
            <a:ext cx="1721369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40+ signals a week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tage.2.proof"/>
          <p:cNvSpPr txBox="1"/>
          <p:nvPr/>
        </p:nvSpPr>
        <p:spPr>
          <a:xfrm>
            <a:off x="2386256" y="3145536"/>
            <a:ext cx="1740950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6 regions, 3 brands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tage.3.proof"/>
          <p:cNvSpPr txBox="1"/>
          <p:nvPr/>
        </p:nvSpPr>
        <p:spPr>
          <a:xfrm>
            <a:off x="4269740" y="3145536"/>
            <a:ext cx="171281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page per territory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tage.4.proof"/>
          <p:cNvSpPr txBox="1"/>
          <p:nvPr/>
        </p:nvSpPr>
        <p:spPr>
          <a:xfrm>
            <a:off x="6123731" y="3145536"/>
            <a:ext cx="1726077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100% of claims signed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tage.5.proof"/>
          <p:cNvSpPr txBox="1"/>
          <p:nvPr/>
        </p:nvSpPr>
        <p:spPr>
          <a:xfrm>
            <a:off x="7990986" y="3145536"/>
            <a:ext cx="1738234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1,200 reps by Monday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tage.6.proof"/>
          <p:cNvSpPr txBox="1"/>
          <p:nvPr/>
        </p:nvSpPr>
        <p:spPr>
          <a:xfrm>
            <a:off x="9870396" y="3145536"/>
            <a:ext cx="1738233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Rules retuned weekly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nput-process-output:gated-pipeline-stage-cards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40+ public signals in,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signed page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per territory out each week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uct.rail"/>
          <p:cNvSpPr/>
          <p:nvPr/>
        </p:nvSpPr>
        <p:spPr>
          <a:xfrm>
            <a:off x="459554" y="5486400"/>
            <a:ext cx="11336206" cy="749808"/>
          </a:xfrm>
          <a:prstGeom prst="roundRect">
            <a:avLst>
              <a:gd name="adj" fmla="val 6098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ot.rail.label"/>
          <p:cNvSpPr/>
          <p:nvPr/>
        </p:nvSpPr>
        <p:spPr>
          <a:xfrm>
            <a:off x="578401" y="5577840"/>
            <a:ext cx="1874130" cy="566928"/>
          </a:xfrm>
          <a:prstGeom prst="roundRect">
            <a:avLst>
              <a:gd name="adj" fmla="val 10722"/>
            </a:avLst>
          </a:prstGeom>
          <a:solidFill>
            <a:schemeClr val="tx1">
              <a:lumMod val="90000"/>
              <a:lumOff val="10000"/>
            </a:schemeClr>
          </a:solidFill>
          <a:ln w="9525">
            <a:noFill/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Runs under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every step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rail.item.1"/>
          <p:cNvSpPr txBox="1"/>
          <p:nvPr/>
        </p:nvSpPr>
        <p:spPr>
          <a:xfrm>
            <a:off x="3147332" y="5605272"/>
            <a:ext cx="1398741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Release log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edit kept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rail.item.2"/>
          <p:cNvSpPr txBox="1"/>
          <p:nvPr/>
        </p:nvSpPr>
        <p:spPr>
          <a:xfrm>
            <a:off x="5478568" y="5605272"/>
            <a:ext cx="1325604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Access by role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Per brand and region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rail.item.3"/>
          <p:cNvSpPr txBox="1"/>
          <p:nvPr/>
        </p:nvSpPr>
        <p:spPr>
          <a:xfrm>
            <a:off x="7736666" y="5605272"/>
            <a:ext cx="1289036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Sourcing check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 every week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rail.item.4"/>
          <p:cNvSpPr txBox="1"/>
          <p:nvPr/>
        </p:nvSpPr>
        <p:spPr>
          <a:xfrm>
            <a:off x="9958197" y="5605272"/>
            <a:ext cx="1727856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Signed only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Enforced by rule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" name="struct.rail.rule.3"/>
          <p:cNvCxnSpPr>
            <a:cxnSpLocks/>
          </p:cNvCxnSpPr>
          <p:nvPr/>
        </p:nvCxnSpPr>
        <p:spPr>
          <a:xfrm>
            <a:off x="9098840" y="5632704"/>
            <a:ext cx="0" cy="45720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10" name="struct.rail.rule.2"/>
          <p:cNvCxnSpPr>
            <a:cxnSpLocks/>
          </p:cNvCxnSpPr>
          <p:nvPr/>
        </p:nvCxnSpPr>
        <p:spPr>
          <a:xfrm>
            <a:off x="6877309" y="5632704"/>
            <a:ext cx="0" cy="45720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11" name="struct.rail.rule.1"/>
          <p:cNvCxnSpPr>
            <a:cxnSpLocks/>
          </p:cNvCxnSpPr>
          <p:nvPr/>
        </p:nvCxnSpPr>
        <p:spPr>
          <a:xfrm>
            <a:off x="4619210" y="5632704"/>
            <a:ext cx="0" cy="45720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12" name="struct.flow.input"/>
          <p:cNvSpPr/>
          <p:nvPr/>
        </p:nvSpPr>
        <p:spPr>
          <a:xfrm>
            <a:off x="457202" y="1267702"/>
            <a:ext cx="1484609" cy="578734"/>
          </a:xfrm>
          <a:prstGeom prst="roundRect">
            <a:avLst>
              <a:gd name="adj" fmla="val 79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struct.flow.group"/>
          <p:cNvSpPr/>
          <p:nvPr/>
        </p:nvSpPr>
        <p:spPr>
          <a:xfrm>
            <a:off x="3167466" y="1267702"/>
            <a:ext cx="5619349" cy="578734"/>
          </a:xfrm>
          <a:prstGeom prst="roundRect">
            <a:avLst>
              <a:gd name="adj" fmla="val 79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struct.flow.output"/>
          <p:cNvSpPr/>
          <p:nvPr/>
        </p:nvSpPr>
        <p:spPr>
          <a:xfrm>
            <a:off x="10012471" y="1267702"/>
            <a:ext cx="1782378" cy="578734"/>
          </a:xfrm>
          <a:prstGeom prst="roundRect">
            <a:avLst>
              <a:gd name="adj" fmla="val 79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struct.flow.gate.2"/>
          <p:cNvSpPr/>
          <p:nvPr/>
        </p:nvSpPr>
        <p:spPr>
          <a:xfrm>
            <a:off x="9156646" y="1312919"/>
            <a:ext cx="485994" cy="4883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struct.flow.gate.1"/>
          <p:cNvSpPr/>
          <p:nvPr/>
        </p:nvSpPr>
        <p:spPr>
          <a:xfrm>
            <a:off x="2311642" y="1312919"/>
            <a:ext cx="485994" cy="4883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7" name="struct.flow.link.1"/>
          <p:cNvCxnSpPr/>
          <p:nvPr/>
        </p:nvCxnSpPr>
        <p:spPr>
          <a:xfrm>
            <a:off x="1941811" y="1557069"/>
            <a:ext cx="36988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cxnSp>
        <p:nvCxnSpPr>
          <p:cNvPr id="18" name="struct.flow.link.2"/>
          <p:cNvCxnSpPr>
            <a:cxnSpLocks/>
          </p:cNvCxnSpPr>
          <p:nvPr/>
        </p:nvCxnSpPr>
        <p:spPr>
          <a:xfrm>
            <a:off x="2797585" y="1557069"/>
            <a:ext cx="36988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cxnSp>
        <p:nvCxnSpPr>
          <p:cNvPr id="19" name="struct.flow.link.5"/>
          <p:cNvCxnSpPr>
            <a:cxnSpLocks/>
          </p:cNvCxnSpPr>
          <p:nvPr/>
        </p:nvCxnSpPr>
        <p:spPr>
          <a:xfrm>
            <a:off x="8786816" y="1557069"/>
            <a:ext cx="36988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cxnSp>
        <p:nvCxnSpPr>
          <p:cNvPr id="20" name="struct.flow.link.6"/>
          <p:cNvCxnSpPr>
            <a:cxnSpLocks/>
          </p:cNvCxnSpPr>
          <p:nvPr/>
        </p:nvCxnSpPr>
        <p:spPr>
          <a:xfrm>
            <a:off x="9642590" y="1557069"/>
            <a:ext cx="369881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sp>
        <p:nvSpPr>
          <p:cNvPr id="21" name="slot.flow.input.label"/>
          <p:cNvSpPr txBox="1"/>
          <p:nvPr/>
        </p:nvSpPr>
        <p:spPr>
          <a:xfrm>
            <a:off x="1026364" y="1344168"/>
            <a:ext cx="859358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flow.gate.1.label"/>
          <p:cNvSpPr txBox="1"/>
          <p:nvPr/>
        </p:nvSpPr>
        <p:spPr>
          <a:xfrm>
            <a:off x="2006111" y="1883664"/>
            <a:ext cx="1097052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Source gate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flow.check.1.label"/>
          <p:cNvSpPr txBox="1"/>
          <p:nvPr/>
        </p:nvSpPr>
        <p:spPr>
          <a:xfrm>
            <a:off x="4508290" y="1883664"/>
            <a:ext cx="822789" cy="201168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Ranked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lot.flow.check.2.label"/>
          <p:cNvSpPr txBox="1"/>
          <p:nvPr/>
        </p:nvSpPr>
        <p:spPr>
          <a:xfrm>
            <a:off x="6623203" y="1883664"/>
            <a:ext cx="822789" cy="201168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Sourced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lot.flow.stage.1"/>
          <p:cNvSpPr txBox="1"/>
          <p:nvPr/>
        </p:nvSpPr>
        <p:spPr>
          <a:xfrm>
            <a:off x="3222280" y="1400015"/>
            <a:ext cx="1279894" cy="314108"/>
          </a:xfrm>
          <a:prstGeom prst="roundRect">
            <a:avLst>
              <a:gd name="adj" fmla="val 14556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72000" tIns="72000" rIns="72000" bIns="7200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Scan feeds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flow.stage.2"/>
          <p:cNvSpPr txBox="1"/>
          <p:nvPr/>
        </p:nvSpPr>
        <p:spPr>
          <a:xfrm>
            <a:off x="5337194" y="1400015"/>
            <a:ext cx="1279894" cy="314108"/>
          </a:xfrm>
          <a:prstGeom prst="roundRect">
            <a:avLst>
              <a:gd name="adj" fmla="val 14556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72000" tIns="72000" rIns="72000" bIns="7200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Rank signals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flow.stage.3"/>
          <p:cNvSpPr txBox="1"/>
          <p:nvPr/>
        </p:nvSpPr>
        <p:spPr>
          <a:xfrm>
            <a:off x="7452107" y="1400015"/>
            <a:ext cx="1279894" cy="314108"/>
          </a:xfrm>
          <a:prstGeom prst="roundRect">
            <a:avLst>
              <a:gd name="adj" fmla="val 14556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 lIns="72000" tIns="72000" rIns="72000" bIns="72000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Draft brief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flow.output.label"/>
          <p:cNvSpPr txBox="1"/>
          <p:nvPr/>
        </p:nvSpPr>
        <p:spPr>
          <a:xfrm>
            <a:off x="10735276" y="1344168"/>
            <a:ext cx="1005631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Signed brief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per territory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flow.gate.2.label"/>
          <p:cNvSpPr txBox="1"/>
          <p:nvPr/>
        </p:nvSpPr>
        <p:spPr>
          <a:xfrm>
            <a:off x="8851117" y="1883664"/>
            <a:ext cx="1097052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Medical gate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0" name="struct.flow.link.4"/>
          <p:cNvCxnSpPr>
            <a:cxnSpLocks/>
          </p:cNvCxnSpPr>
          <p:nvPr/>
        </p:nvCxnSpPr>
        <p:spPr>
          <a:xfrm>
            <a:off x="6617088" y="1557069"/>
            <a:ext cx="83501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cxnSp>
        <p:nvCxnSpPr>
          <p:cNvPr id="31" name="struct.flow.link.3"/>
          <p:cNvCxnSpPr>
            <a:cxnSpLocks/>
          </p:cNvCxnSpPr>
          <p:nvPr/>
        </p:nvCxnSpPr>
        <p:spPr>
          <a:xfrm>
            <a:off x="4502174" y="1557069"/>
            <a:ext cx="835020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  <a:effectLst/>
        </p:spPr>
      </p:cxnSp>
      <p:sp>
        <p:nvSpPr>
          <p:cNvPr id="32" name="struct.flow.check.1"/>
          <p:cNvSpPr/>
          <p:nvPr/>
        </p:nvSpPr>
        <p:spPr>
          <a:xfrm>
            <a:off x="4813507" y="1448402"/>
            <a:ext cx="212356" cy="2133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struct.flow.check.2"/>
          <p:cNvSpPr/>
          <p:nvPr/>
        </p:nvSpPr>
        <p:spPr>
          <a:xfrm>
            <a:off x="6928419" y="1448402"/>
            <a:ext cx="212356" cy="2133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slot.flow.group.label"/>
          <p:cNvSpPr txBox="1"/>
          <p:nvPr/>
        </p:nvSpPr>
        <p:spPr>
          <a:xfrm>
            <a:off x="4902615" y="932688"/>
            <a:ext cx="2376947" cy="237744"/>
          </a:xfrm>
          <a:prstGeom prst="rect">
            <a:avLst/>
          </a:prstGeom>
          <a:solidFill>
            <a:schemeClr val="bg1"/>
          </a:solidFill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Agent-built weekly draft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5" name="struct.flow.output.rule"/>
          <p:cNvCxnSpPr/>
          <p:nvPr/>
        </p:nvCxnSpPr>
        <p:spPr>
          <a:xfrm>
            <a:off x="10646194" y="1312919"/>
            <a:ext cx="0" cy="459678"/>
          </a:xfrm>
          <a:prstGeom prst="line">
            <a:avLst/>
          </a:prstGeom>
          <a:effectLst/>
        </p:spPr>
      </p:cxnSp>
      <p:sp>
        <p:nvSpPr>
          <p:cNvPr id="36" name="struct.card.1"/>
          <p:cNvSpPr/>
          <p:nvPr/>
        </p:nvSpPr>
        <p:spPr>
          <a:xfrm>
            <a:off x="457200" y="2194560"/>
            <a:ext cx="2164726" cy="3127248"/>
          </a:xfrm>
          <a:prstGeom prst="roundRect">
            <a:avLst>
              <a:gd name="adj" fmla="val 21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7" name="struct.card.2"/>
          <p:cNvSpPr/>
          <p:nvPr/>
        </p:nvSpPr>
        <p:spPr>
          <a:xfrm>
            <a:off x="2798999" y="2194560"/>
            <a:ext cx="2164726" cy="3127248"/>
          </a:xfrm>
          <a:prstGeom prst="roundRect">
            <a:avLst>
              <a:gd name="adj" fmla="val 21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8" name="struct.card.3"/>
          <p:cNvSpPr/>
          <p:nvPr/>
        </p:nvSpPr>
        <p:spPr>
          <a:xfrm>
            <a:off x="5140799" y="2194560"/>
            <a:ext cx="4312248" cy="3127248"/>
          </a:xfrm>
          <a:prstGeom prst="roundRect">
            <a:avLst>
              <a:gd name="adj" fmla="val 14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9" name="struct.card.4"/>
          <p:cNvSpPr/>
          <p:nvPr/>
        </p:nvSpPr>
        <p:spPr>
          <a:xfrm>
            <a:off x="9630120" y="2194560"/>
            <a:ext cx="2164726" cy="3127248"/>
          </a:xfrm>
          <a:prstGeom prst="roundRect">
            <a:avLst>
              <a:gd name="adj" fmla="val 211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>
            <a:noAutofit/>
          </a:bodyPr>
          <a:lstStyle/>
          <a:p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0" name="slot.card.1.row.1"/>
          <p:cNvSpPr txBox="1"/>
          <p:nvPr/>
        </p:nvSpPr>
        <p:spPr>
          <a:xfrm>
            <a:off x="640042" y="3200400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Notices, registries and press releases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card.1.row.2"/>
          <p:cNvSpPr txBox="1"/>
          <p:nvPr/>
        </p:nvSpPr>
        <p:spPr>
          <a:xfrm>
            <a:off x="640042" y="3968496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Congress abstracts and payer updates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card.1.row.3"/>
          <p:cNvSpPr txBox="1"/>
          <p:nvPr/>
        </p:nvSpPr>
        <p:spPr>
          <a:xfrm>
            <a:off x="640042" y="4736592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Only feeds on the approved list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card.2.row.1"/>
          <p:cNvSpPr txBox="1"/>
          <p:nvPr/>
        </p:nvSpPr>
        <p:spPr>
          <a:xfrm>
            <a:off x="2981841" y="3200400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Each signal tied to its public source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card.2.row.2"/>
          <p:cNvSpPr txBox="1"/>
          <p:nvPr/>
        </p:nvSpPr>
        <p:spPr>
          <a:xfrm>
            <a:off x="2981841" y="3968496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Repeats from last week dropped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card.2.row.3"/>
          <p:cNvSpPr txBox="1"/>
          <p:nvPr/>
        </p:nvSpPr>
        <p:spPr>
          <a:xfrm>
            <a:off x="2981841" y="4736592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Off-brand signals parked, not deleted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card.4.row.1"/>
          <p:cNvSpPr txBox="1"/>
          <p:nvPr/>
        </p:nvSpPr>
        <p:spPr>
          <a:xfrm>
            <a:off x="9812961" y="3200400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page per territory before Monday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card.4.row.2"/>
          <p:cNvSpPr txBox="1"/>
          <p:nvPr/>
        </p:nvSpPr>
        <p:spPr>
          <a:xfrm>
            <a:off x="9812961" y="3968496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claim links to its source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card.4.row.3"/>
          <p:cNvSpPr txBox="1"/>
          <p:nvPr/>
        </p:nvSpPr>
        <p:spPr>
          <a:xfrm>
            <a:off x="9812961" y="4736592"/>
            <a:ext cx="1800994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1,200 reps read the same facts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card.1.head"/>
          <p:cNvSpPr txBox="1"/>
          <p:nvPr/>
        </p:nvSpPr>
        <p:spPr>
          <a:xfrm>
            <a:off x="640042" y="2779776"/>
            <a:ext cx="1800994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Signals in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card.2.head"/>
          <p:cNvSpPr txBox="1"/>
          <p:nvPr/>
        </p:nvSpPr>
        <p:spPr>
          <a:xfrm>
            <a:off x="2981841" y="2779776"/>
            <a:ext cx="1800994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 gate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card.4.head"/>
          <p:cNvSpPr txBox="1"/>
          <p:nvPr/>
        </p:nvSpPr>
        <p:spPr>
          <a:xfrm>
            <a:off x="9812961" y="2779776"/>
            <a:ext cx="1800994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out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card.3.head"/>
          <p:cNvSpPr txBox="1"/>
          <p:nvPr/>
        </p:nvSpPr>
        <p:spPr>
          <a:xfrm>
            <a:off x="5323152" y="2779776"/>
            <a:ext cx="3949388" cy="23774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Two agents draft, one queue signs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card.3.body"/>
          <p:cNvSpPr txBox="1"/>
          <p:nvPr/>
        </p:nvSpPr>
        <p:spPr>
          <a:xfrm>
            <a:off x="5323152" y="3145536"/>
            <a:ext cx="3949388" cy="42062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 agent and brief writer agent feed the review queue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4" name="struct.card.1.rule.1"/>
          <p:cNvCxnSpPr>
            <a:cxnSpLocks/>
          </p:cNvCxnSpPr>
          <p:nvPr/>
        </p:nvCxnSpPr>
        <p:spPr>
          <a:xfrm>
            <a:off x="640042" y="3813048"/>
            <a:ext cx="1800994" cy="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55" name="struct.card.1.rule.2"/>
          <p:cNvCxnSpPr>
            <a:cxnSpLocks/>
          </p:cNvCxnSpPr>
          <p:nvPr/>
        </p:nvCxnSpPr>
        <p:spPr>
          <a:xfrm>
            <a:off x="640042" y="4581144"/>
            <a:ext cx="1800994" cy="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56" name="struct.card.2.rule.1"/>
          <p:cNvCxnSpPr>
            <a:cxnSpLocks/>
          </p:cNvCxnSpPr>
          <p:nvPr/>
        </p:nvCxnSpPr>
        <p:spPr>
          <a:xfrm>
            <a:off x="2981841" y="3813048"/>
            <a:ext cx="1800994" cy="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57" name="struct.card.2.rule.2"/>
          <p:cNvCxnSpPr>
            <a:cxnSpLocks/>
          </p:cNvCxnSpPr>
          <p:nvPr/>
        </p:nvCxnSpPr>
        <p:spPr>
          <a:xfrm>
            <a:off x="2981841" y="4581144"/>
            <a:ext cx="1800994" cy="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58" name="struct.card.4.rule.1"/>
          <p:cNvCxnSpPr>
            <a:cxnSpLocks/>
          </p:cNvCxnSpPr>
          <p:nvPr/>
        </p:nvCxnSpPr>
        <p:spPr>
          <a:xfrm>
            <a:off x="9812961" y="3813048"/>
            <a:ext cx="1800994" cy="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59" name="struct.card.4.rule.2"/>
          <p:cNvCxnSpPr>
            <a:cxnSpLocks/>
          </p:cNvCxnSpPr>
          <p:nvPr/>
        </p:nvCxnSpPr>
        <p:spPr>
          <a:xfrm>
            <a:off x="9812961" y="4581144"/>
            <a:ext cx="1800994" cy="0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  <a:effectLst/>
        </p:spPr>
      </p:cxnSp>
      <p:sp>
        <p:nvSpPr>
          <p:cNvPr id="60" name="slot.card.3.step.1.label"/>
          <p:cNvSpPr txBox="1"/>
          <p:nvPr/>
        </p:nvSpPr>
        <p:spPr>
          <a:xfrm>
            <a:off x="5314010" y="4297680"/>
            <a:ext cx="731368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Scan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card.3.step.2.label"/>
          <p:cNvSpPr txBox="1"/>
          <p:nvPr/>
        </p:nvSpPr>
        <p:spPr>
          <a:xfrm>
            <a:off x="6118515" y="4297680"/>
            <a:ext cx="731368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Rank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lot.card.3.step.3.label"/>
          <p:cNvSpPr txBox="1"/>
          <p:nvPr/>
        </p:nvSpPr>
        <p:spPr>
          <a:xfrm>
            <a:off x="6932162" y="4297680"/>
            <a:ext cx="731368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lot.card.3.step.4.label"/>
          <p:cNvSpPr txBox="1"/>
          <p:nvPr/>
        </p:nvSpPr>
        <p:spPr>
          <a:xfrm>
            <a:off x="7745809" y="4297680"/>
            <a:ext cx="731368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Queue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card.3.step.5.label"/>
          <p:cNvSpPr txBox="1"/>
          <p:nvPr/>
        </p:nvSpPr>
        <p:spPr>
          <a:xfrm>
            <a:off x="8559456" y="4297680"/>
            <a:ext cx="731368" cy="20116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lot.card.3.step.1.desc"/>
          <p:cNvSpPr txBox="1"/>
          <p:nvPr/>
        </p:nvSpPr>
        <p:spPr>
          <a:xfrm>
            <a:off x="5368861" y="4535424"/>
            <a:ext cx="621663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Daily feeds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card.3.step.2.desc"/>
          <p:cNvSpPr txBox="1"/>
          <p:nvPr/>
        </p:nvSpPr>
        <p:spPr>
          <a:xfrm>
            <a:off x="6173367" y="4535424"/>
            <a:ext cx="621663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By territory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card.3.step.3.desc"/>
          <p:cNvSpPr txBox="1"/>
          <p:nvPr/>
        </p:nvSpPr>
        <p:spPr>
          <a:xfrm>
            <a:off x="6987014" y="4535424"/>
            <a:ext cx="621663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Sourced page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card.3.step.4.desc"/>
          <p:cNvSpPr txBox="1"/>
          <p:nvPr/>
        </p:nvSpPr>
        <p:spPr>
          <a:xfrm>
            <a:off x="7800661" y="4535424"/>
            <a:ext cx="621663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Per claim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lot.card.3.step.5.desc"/>
          <p:cNvSpPr txBox="1"/>
          <p:nvPr/>
        </p:nvSpPr>
        <p:spPr>
          <a:xfrm>
            <a:off x="8614309" y="4535424"/>
            <a:ext cx="621663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By medical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0" name="struct.card.3.rule.1"/>
          <p:cNvCxnSpPr>
            <a:cxnSpLocks/>
          </p:cNvCxnSpPr>
          <p:nvPr/>
        </p:nvCxnSpPr>
        <p:spPr>
          <a:xfrm>
            <a:off x="6077375" y="4297680"/>
            <a:ext cx="0" cy="73152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71" name="struct.card.3.rule.2"/>
          <p:cNvCxnSpPr>
            <a:cxnSpLocks/>
          </p:cNvCxnSpPr>
          <p:nvPr/>
        </p:nvCxnSpPr>
        <p:spPr>
          <a:xfrm>
            <a:off x="6891022" y="4297680"/>
            <a:ext cx="0" cy="73152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72" name="struct.card.3.rule.3"/>
          <p:cNvCxnSpPr>
            <a:cxnSpLocks/>
          </p:cNvCxnSpPr>
          <p:nvPr/>
        </p:nvCxnSpPr>
        <p:spPr>
          <a:xfrm>
            <a:off x="7704669" y="4297680"/>
            <a:ext cx="0" cy="73152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73" name="struct.card.3.rule.4"/>
          <p:cNvCxnSpPr>
            <a:cxnSpLocks/>
          </p:cNvCxnSpPr>
          <p:nvPr/>
        </p:nvCxnSpPr>
        <p:spPr>
          <a:xfrm>
            <a:off x="8518316" y="4297680"/>
            <a:ext cx="0" cy="731520"/>
          </a:xfrm>
          <a:prstGeom prst="line">
            <a:avLst/>
          </a:prstGeom>
          <a:ln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74" name="slot.card.3.step.1.num"/>
          <p:cNvSpPr/>
          <p:nvPr/>
        </p:nvSpPr>
        <p:spPr>
          <a:xfrm>
            <a:off x="5542534" y="387705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lot.card.3.step.2.num"/>
          <p:cNvSpPr/>
          <p:nvPr/>
        </p:nvSpPr>
        <p:spPr>
          <a:xfrm>
            <a:off x="6347039" y="387705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lot.card.3.step.3.num"/>
          <p:cNvSpPr/>
          <p:nvPr/>
        </p:nvSpPr>
        <p:spPr>
          <a:xfrm>
            <a:off x="7160686" y="387705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lot.card.3.step.4.num"/>
          <p:cNvSpPr/>
          <p:nvPr/>
        </p:nvSpPr>
        <p:spPr>
          <a:xfrm>
            <a:off x="7974333" y="387705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lot.card.3.step.5.num"/>
          <p:cNvSpPr/>
          <p:nvPr/>
        </p:nvSpPr>
        <p:spPr>
          <a:xfrm>
            <a:off x="8787980" y="387705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truct.card.3.arrow.1"/>
          <p:cNvSpPr/>
          <p:nvPr/>
        </p:nvSpPr>
        <p:spPr>
          <a:xfrm>
            <a:off x="5825967" y="3959352"/>
            <a:ext cx="511958" cy="109728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80" name="struct.card.3.arrow.2"/>
          <p:cNvSpPr/>
          <p:nvPr/>
        </p:nvSpPr>
        <p:spPr>
          <a:xfrm>
            <a:off x="6630472" y="3959352"/>
            <a:ext cx="521099" cy="109728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81" name="struct.card.3.arrow.3"/>
          <p:cNvSpPr/>
          <p:nvPr/>
        </p:nvSpPr>
        <p:spPr>
          <a:xfrm>
            <a:off x="7444119" y="3959352"/>
            <a:ext cx="521100" cy="109728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82" name="struct.card.3.arrow.4"/>
          <p:cNvSpPr/>
          <p:nvPr/>
        </p:nvSpPr>
        <p:spPr>
          <a:xfrm>
            <a:off x="8257767" y="3959352"/>
            <a:ext cx="521099" cy="109728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 sz="900"/>
          </a:p>
        </p:txBody>
      </p:sp>
      <p:sp>
        <p:nvSpPr>
          <p:cNvPr id="83" name="slot.card.1.num"/>
          <p:cNvSpPr txBox="1"/>
          <p:nvPr/>
        </p:nvSpPr>
        <p:spPr>
          <a:xfrm>
            <a:off x="640042" y="2359152"/>
            <a:ext cx="548526" cy="32918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01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card.2.num"/>
          <p:cNvSpPr txBox="1"/>
          <p:nvPr/>
        </p:nvSpPr>
        <p:spPr>
          <a:xfrm>
            <a:off x="2981841" y="2359152"/>
            <a:ext cx="548526" cy="32918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lot.card.4.num"/>
          <p:cNvSpPr txBox="1"/>
          <p:nvPr/>
        </p:nvSpPr>
        <p:spPr>
          <a:xfrm>
            <a:off x="9812961" y="2359152"/>
            <a:ext cx="548526" cy="32918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04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slot.card.3.num"/>
          <p:cNvSpPr txBox="1"/>
          <p:nvPr/>
        </p:nvSpPr>
        <p:spPr>
          <a:xfrm>
            <a:off x="5323152" y="2359152"/>
            <a:ext cx="548526" cy="32918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03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slot.flow.input.icon"/>
          <p:cNvSpPr/>
          <p:nvPr/>
        </p:nvSpPr>
        <p:spPr>
          <a:xfrm>
            <a:off x="605791" y="138074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4" name="slot.flow.group.icon"/>
          <p:cNvSpPr/>
          <p:nvPr/>
        </p:nvSpPr>
        <p:spPr>
          <a:xfrm>
            <a:off x="4555187" y="9144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5" name="slot.flow.check.1.icon"/>
          <p:cNvSpPr/>
          <p:nvPr/>
        </p:nvSpPr>
        <p:spPr>
          <a:xfrm>
            <a:off x="4813507" y="1448402"/>
            <a:ext cx="212356" cy="2123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77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6" name="slot.flow.check.2.icon"/>
          <p:cNvSpPr/>
          <p:nvPr/>
        </p:nvSpPr>
        <p:spPr>
          <a:xfrm>
            <a:off x="6928419" y="1448402"/>
            <a:ext cx="212356" cy="2123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77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8" name="slot.flow.output.icon"/>
          <p:cNvSpPr/>
          <p:nvPr/>
        </p:nvSpPr>
        <p:spPr>
          <a:xfrm>
            <a:off x="10159288" y="138074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7000" y="2000"/>
                </a:moveTo>
                <a:lnTo>
                  <a:pt x="17000" y="2000"/>
                </a:lnTo>
                <a:cubicBezTo>
                  <a:pt x="18105" y="2000"/>
                  <a:pt x="19000" y="2895"/>
                  <a:pt x="19000" y="4000"/>
                </a:cubicBezTo>
                <a:lnTo>
                  <a:pt x="19000" y="20000"/>
                </a:lnTo>
                <a:cubicBezTo>
                  <a:pt x="19000" y="21105"/>
                  <a:pt x="18105" y="22000"/>
                  <a:pt x="17000" y="22000"/>
                </a:cubicBezTo>
                <a:lnTo>
                  <a:pt x="7000" y="22000"/>
                </a:lnTo>
                <a:cubicBezTo>
                  <a:pt x="5895" y="22000"/>
                  <a:pt x="5000" y="21105"/>
                  <a:pt x="5000" y="20000"/>
                </a:cubicBezTo>
                <a:lnTo>
                  <a:pt x="5000" y="4000"/>
                </a:lnTo>
                <a:cubicBezTo>
                  <a:pt x="5000" y="2895"/>
                  <a:pt x="5895" y="2000"/>
                  <a:pt x="7000" y="2000"/>
                </a:cubicBezTo>
                <a:close/>
                <a:moveTo>
                  <a:pt x="12000" y="18000"/>
                </a:moveTo>
                <a:lnTo>
                  <a:pt x="12010" y="18000"/>
                </a:lnTo>
              </a:path>
            </a:pathLst>
          </a:custGeom>
          <a:noFill/>
          <a:ln w="292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9" name="slot.card.1.icon"/>
          <p:cNvSpPr/>
          <p:nvPr/>
        </p:nvSpPr>
        <p:spPr>
          <a:xfrm>
            <a:off x="1359099" y="2340864"/>
            <a:ext cx="360274" cy="36027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2000"/>
                </a:moveTo>
                <a:cubicBezTo>
                  <a:pt x="6667" y="7600"/>
                  <a:pt x="6667" y="16400"/>
                  <a:pt x="12000" y="22000"/>
                </a:cubicBezTo>
                <a:cubicBezTo>
                  <a:pt x="17333" y="16400"/>
                  <a:pt x="17333" y="7600"/>
                  <a:pt x="12000" y="2000"/>
                </a:cubicBezTo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2984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10" name="slot.card.2.icon"/>
          <p:cNvSpPr/>
          <p:nvPr/>
        </p:nvSpPr>
        <p:spPr>
          <a:xfrm>
            <a:off x="3701305" y="2340864"/>
            <a:ext cx="360274" cy="36027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984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11" name="slot.card.3.icon"/>
          <p:cNvSpPr/>
          <p:nvPr/>
        </p:nvSpPr>
        <p:spPr>
          <a:xfrm>
            <a:off x="7116795" y="2340864"/>
            <a:ext cx="360274" cy="36027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984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12" name="slot.card.4.icon"/>
          <p:cNvSpPr/>
          <p:nvPr/>
        </p:nvSpPr>
        <p:spPr>
          <a:xfrm>
            <a:off x="10532284" y="2340864"/>
            <a:ext cx="360274" cy="36027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536" y="21686"/>
                </a:moveTo>
                <a:cubicBezTo>
                  <a:pt x="14614" y="21880"/>
                  <a:pt x="14804" y="22005"/>
                  <a:pt x="15013" y="22000"/>
                </a:cubicBezTo>
                <a:cubicBezTo>
                  <a:pt x="15222" y="21994"/>
                  <a:pt x="15405" y="21860"/>
                  <a:pt x="15473" y="21662"/>
                </a:cubicBezTo>
                <a:lnTo>
                  <a:pt x="21973" y="2662"/>
                </a:lnTo>
                <a:cubicBezTo>
                  <a:pt x="22038" y="2481"/>
                  <a:pt x="21993" y="2279"/>
                  <a:pt x="21857" y="2143"/>
                </a:cubicBezTo>
                <a:cubicBezTo>
                  <a:pt x="21721" y="2007"/>
                  <a:pt x="21519" y="1962"/>
                  <a:pt x="21338" y="2027"/>
                </a:cubicBezTo>
                <a:lnTo>
                  <a:pt x="2338" y="8527"/>
                </a:lnTo>
                <a:cubicBezTo>
                  <a:pt x="2140" y="8595"/>
                  <a:pt x="2006" y="8778"/>
                  <a:pt x="2000" y="8987"/>
                </a:cubicBezTo>
                <a:cubicBezTo>
                  <a:pt x="1995" y="9196"/>
                  <a:pt x="2120" y="9386"/>
                  <a:pt x="2314" y="9464"/>
                </a:cubicBezTo>
                <a:lnTo>
                  <a:pt x="10244" y="12644"/>
                </a:lnTo>
                <a:cubicBezTo>
                  <a:pt x="10751" y="12847"/>
                  <a:pt x="11152" y="13248"/>
                  <a:pt x="11356" y="13754"/>
                </a:cubicBezTo>
                <a:close/>
                <a:moveTo>
                  <a:pt x="21854" y="2147"/>
                </a:moveTo>
                <a:lnTo>
                  <a:pt x="10914" y="13086"/>
                </a:lnTo>
              </a:path>
            </a:pathLst>
          </a:custGeom>
          <a:noFill/>
          <a:ln w="2984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13" name="slot.rail.item.1.icon"/>
          <p:cNvSpPr/>
          <p:nvPr/>
        </p:nvSpPr>
        <p:spPr>
          <a:xfrm>
            <a:off x="2617052" y="567842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3048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14" name="slot.rail.item.2.icon"/>
          <p:cNvSpPr/>
          <p:nvPr/>
        </p:nvSpPr>
        <p:spPr>
          <a:xfrm>
            <a:off x="4948288" y="567842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048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15" name="slot.rail.item.3.icon"/>
          <p:cNvSpPr/>
          <p:nvPr/>
        </p:nvSpPr>
        <p:spPr>
          <a:xfrm>
            <a:off x="7206387" y="567842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3048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16" name="slot.rail.item.4.icon"/>
          <p:cNvSpPr/>
          <p:nvPr/>
        </p:nvSpPr>
        <p:spPr>
          <a:xfrm>
            <a:off x="9427918" y="567842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3048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17" name="slot.flow.gate.1.icon"/>
          <p:cNvSpPr/>
          <p:nvPr/>
        </p:nvSpPr>
        <p:spPr>
          <a:xfrm>
            <a:off x="2408335" y="140817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18" name="slot.flow.gate.2.icon"/>
          <p:cNvSpPr/>
          <p:nvPr/>
        </p:nvSpPr>
        <p:spPr>
          <a:xfrm>
            <a:off x="9253339" y="140817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ered-architecture:arch-c4-container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Eight containers carry the service, and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only the writer agent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calls the model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4ctr.bound.svc"/>
          <p:cNvSpPr/>
          <p:nvPr/>
        </p:nvSpPr>
        <p:spPr>
          <a:xfrm>
            <a:off x="2267878" y="2219554"/>
            <a:ext cx="7720252" cy="3705758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4" name="c4ctr.node.reviewer"/>
          <p:cNvSpPr/>
          <p:nvPr/>
        </p:nvSpPr>
        <p:spPr>
          <a:xfrm>
            <a:off x="2717911" y="1057290"/>
            <a:ext cx="1600200" cy="827349"/>
          </a:xfrm>
          <a:prstGeom prst="roundRect">
            <a:avLst>
              <a:gd name="adj" fmla="val 5526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c4ctr.node.reviewer.mark.icon"/>
          <p:cNvSpPr/>
          <p:nvPr/>
        </p:nvSpPr>
        <p:spPr>
          <a:xfrm>
            <a:off x="2809351" y="135209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" name="c4ctr.node.reviewer.text"/>
          <p:cNvSpPr txBox="1"/>
          <p:nvPr/>
        </p:nvSpPr>
        <p:spPr>
          <a:xfrm>
            <a:off x="3120247" y="1130442"/>
            <a:ext cx="1106424" cy="68104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reviewer</a:t>
            </a:r>
            <a:endParaRPr lang="en-US" sz="9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Person</a:t>
            </a:r>
            <a:endParaRPr lang="en-US" sz="8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Approves held claims</a:t>
            </a:r>
            <a:endParaRPr lang="en-US" sz="8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4ctr.node.rep"/>
          <p:cNvSpPr/>
          <p:nvPr/>
        </p:nvSpPr>
        <p:spPr>
          <a:xfrm>
            <a:off x="10120801" y="2575538"/>
            <a:ext cx="1600200" cy="640080"/>
          </a:xfrm>
          <a:prstGeom prst="roundRect">
            <a:avLst>
              <a:gd name="adj" fmla="val 7142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8" name="c4ctr.node.rep.mark.icon"/>
          <p:cNvSpPr/>
          <p:nvPr/>
        </p:nvSpPr>
        <p:spPr>
          <a:xfrm>
            <a:off x="10212241" y="277670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9" name="c4ctr.node.rep.text"/>
          <p:cNvSpPr txBox="1"/>
          <p:nvPr/>
        </p:nvSpPr>
        <p:spPr>
          <a:xfrm>
            <a:off x="10523137" y="2648690"/>
            <a:ext cx="1106424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 rep</a:t>
            </a:r>
            <a:endParaRPr lang="en-US" sz="9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Person</a:t>
            </a:r>
            <a:endParaRPr lang="en-US" sz="8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Reads the brief</a:t>
            </a:r>
            <a:endParaRPr lang="en-US" sz="8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4ctr.node.app"/>
          <p:cNvSpPr/>
          <p:nvPr/>
        </p:nvSpPr>
        <p:spPr>
          <a:xfrm>
            <a:off x="7937897" y="1150925"/>
            <a:ext cx="1600200" cy="640080"/>
          </a:xfrm>
          <a:prstGeom prst="roundRect">
            <a:avLst>
              <a:gd name="adj" fmla="val 71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pic>
        <p:nvPicPr>
          <p:cNvPr id="11" name="vendor.programming/framework/react.c4ctr-node-app-mark" descr="Field app (vendor mark programming/framework/react)"/>
          <p:cNvPicPr>
            <a:picLocks noChangeAspect="1"/>
          </p:cNvPicPr>
          <p:nvPr/>
        </p:nvPicPr>
        <p:blipFill>
          <a:blip r:embed="rId2"/>
          <a:srcRect l="5078" t="9766" r="5078" b="9766"/>
          <a:stretch>
            <a:fillRect/>
          </a:stretch>
        </p:blipFill>
        <p:spPr>
          <a:xfrm>
            <a:off x="8029337" y="1356307"/>
            <a:ext cx="256032" cy="229316"/>
          </a:xfrm>
          <a:prstGeom prst="rect">
            <a:avLst/>
          </a:prstGeom>
          <a:effectLst/>
        </p:spPr>
      </p:pic>
      <p:sp>
        <p:nvSpPr>
          <p:cNvPr id="12" name="c4ctr.node.app.text"/>
          <p:cNvSpPr txBox="1"/>
          <p:nvPr/>
        </p:nvSpPr>
        <p:spPr>
          <a:xfrm>
            <a:off x="8358521" y="1224077"/>
            <a:ext cx="1088136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Field app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External system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Existing mobile app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c4ctr.node.web"/>
          <p:cNvSpPr/>
          <p:nvPr/>
        </p:nvSpPr>
        <p:spPr>
          <a:xfrm>
            <a:off x="535007" y="5121260"/>
            <a:ext cx="1600200" cy="640080"/>
          </a:xfrm>
          <a:prstGeom prst="roundRect">
            <a:avLst>
              <a:gd name="adj" fmla="val 71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4" name="c4ctr.node.web.text"/>
          <p:cNvSpPr txBox="1"/>
          <p:nvPr/>
        </p:nvSpPr>
        <p:spPr>
          <a:xfrm>
            <a:off x="626447" y="5194412"/>
            <a:ext cx="1417320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Public web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External system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Press, trials, congresses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c4ctr.node.bedrock"/>
          <p:cNvSpPr/>
          <p:nvPr/>
        </p:nvSpPr>
        <p:spPr>
          <a:xfrm>
            <a:off x="10120801" y="5088616"/>
            <a:ext cx="1600200" cy="705368"/>
          </a:xfrm>
          <a:prstGeom prst="roundRect">
            <a:avLst>
              <a:gd name="adj" fmla="val 648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pic>
        <p:nvPicPr>
          <p:cNvPr id="16" name="vendor.aws/ml/bedrock.c4ctr-node-bedrock-mark" descr="Amazon Bedrock (vendor mark aws/ml/bedrock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241" y="5313284"/>
            <a:ext cx="256032" cy="256032"/>
          </a:xfrm>
          <a:prstGeom prst="rect">
            <a:avLst/>
          </a:prstGeom>
          <a:effectLst/>
        </p:spPr>
      </p:pic>
      <p:sp>
        <p:nvSpPr>
          <p:cNvPr id="17" name="c4ctr.node.bedrock.text"/>
          <p:cNvSpPr txBox="1"/>
          <p:nvPr/>
        </p:nvSpPr>
        <p:spPr>
          <a:xfrm>
            <a:off x="10541425" y="5161768"/>
            <a:ext cx="1088136" cy="5590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Amazon Bedrock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External system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Claude models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4ctr.node.review"/>
          <p:cNvSpPr/>
          <p:nvPr/>
        </p:nvSpPr>
        <p:spPr>
          <a:xfrm>
            <a:off x="2649331" y="2529818"/>
            <a:ext cx="1737360" cy="731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pic>
        <p:nvPicPr>
          <p:cNvPr id="19" name="vendor.programming/framework/react.c4ctr-node-review-mark" descr="Review app (vendor mark programming/framework/react)"/>
          <p:cNvPicPr>
            <a:picLocks noChangeAspect="1"/>
          </p:cNvPicPr>
          <p:nvPr/>
        </p:nvPicPr>
        <p:blipFill>
          <a:blip r:embed="rId2"/>
          <a:srcRect l="5078" t="9766" r="5078" b="9766"/>
          <a:stretch>
            <a:fillRect/>
          </a:stretch>
        </p:blipFill>
        <p:spPr>
          <a:xfrm>
            <a:off x="2740771" y="2780920"/>
            <a:ext cx="256032" cy="229316"/>
          </a:xfrm>
          <a:prstGeom prst="rect">
            <a:avLst/>
          </a:prstGeom>
          <a:effectLst/>
        </p:spPr>
      </p:pic>
      <p:sp>
        <p:nvSpPr>
          <p:cNvPr id="20" name="c4ctr.node.review.text"/>
          <p:cNvSpPr txBox="1"/>
          <p:nvPr/>
        </p:nvSpPr>
        <p:spPr>
          <a:xfrm>
            <a:off x="3069955" y="2602970"/>
            <a:ext cx="12252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 app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Container · React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Held claims, one by one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4ctr.node.ledger"/>
          <p:cNvSpPr/>
          <p:nvPr/>
        </p:nvSpPr>
        <p:spPr>
          <a:xfrm>
            <a:off x="5259324" y="2529818"/>
            <a:ext cx="1737360" cy="731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pic>
        <p:nvPicPr>
          <p:cNvPr id="22" name="vendor.aws/database/rds.c4ctr-node-ledger-mark" descr="Source ledger (vendor mark aws/database/rds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764" y="2767562"/>
            <a:ext cx="256032" cy="256032"/>
          </a:xfrm>
          <a:prstGeom prst="rect">
            <a:avLst/>
          </a:prstGeom>
          <a:effectLst/>
        </p:spPr>
      </p:pic>
      <p:sp>
        <p:nvSpPr>
          <p:cNvPr id="23" name="c4ctr.node.ledger.text"/>
          <p:cNvSpPr txBox="1"/>
          <p:nvPr/>
        </p:nvSpPr>
        <p:spPr>
          <a:xfrm>
            <a:off x="5679948" y="2602970"/>
            <a:ext cx="12252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ledger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Container · Amazon RDS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Sources and reviews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4ctr.node.api"/>
          <p:cNvSpPr/>
          <p:nvPr/>
        </p:nvSpPr>
        <p:spPr>
          <a:xfrm>
            <a:off x="7869317" y="2529818"/>
            <a:ext cx="1737360" cy="731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pic>
        <p:nvPicPr>
          <p:cNvPr id="25" name="vendor.aws/network/api-gateway.c4ctr-node-api-mark" descr="Brief API (vendor mark aws/network/api-gateway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0757" y="2767562"/>
            <a:ext cx="256032" cy="256032"/>
          </a:xfrm>
          <a:prstGeom prst="rect">
            <a:avLst/>
          </a:prstGeom>
          <a:effectLst/>
        </p:spPr>
      </p:pic>
      <p:sp>
        <p:nvSpPr>
          <p:cNvPr id="26" name="c4ctr.node.api.text"/>
          <p:cNvSpPr txBox="1"/>
          <p:nvPr/>
        </p:nvSpPr>
        <p:spPr>
          <a:xfrm>
            <a:off x="8289941" y="2602970"/>
            <a:ext cx="12252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 API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Container · API Gateway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Serves briefs and holds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c4ctr.node.collect"/>
          <p:cNvSpPr/>
          <p:nvPr/>
        </p:nvSpPr>
        <p:spPr>
          <a:xfrm>
            <a:off x="2649331" y="3898686"/>
            <a:ext cx="1737360" cy="731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pic>
        <p:nvPicPr>
          <p:cNvPr id="28" name="vendor.aws/compute/lambda.c4ctr-node-collect-mark" descr="Collectors (vendor mark aws/compute/lambda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0771" y="4136430"/>
            <a:ext cx="256032" cy="256032"/>
          </a:xfrm>
          <a:prstGeom prst="rect">
            <a:avLst/>
          </a:prstGeom>
          <a:effectLst/>
        </p:spPr>
      </p:pic>
      <p:sp>
        <p:nvSpPr>
          <p:cNvPr id="29" name="c4ctr.node.collect.text"/>
          <p:cNvSpPr txBox="1"/>
          <p:nvPr/>
        </p:nvSpPr>
        <p:spPr>
          <a:xfrm>
            <a:off x="3069955" y="3971838"/>
            <a:ext cx="12252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Collectors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Container · AWS Lambda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Pull public signals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c4ctr.node.scan"/>
          <p:cNvSpPr/>
          <p:nvPr/>
        </p:nvSpPr>
        <p:spPr>
          <a:xfrm>
            <a:off x="5259324" y="3898686"/>
            <a:ext cx="1737360" cy="731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pic>
        <p:nvPicPr>
          <p:cNvPr id="31" name="vendor.aws/compute/elastic-container-service-task.c4ctr-node-scan-mark" descr="Scan agent (vendor mark aws/compute/elastic-container-service-task)"/>
          <p:cNvPicPr>
            <a:picLocks noChangeAspect="1"/>
          </p:cNvPicPr>
          <p:nvPr/>
        </p:nvPicPr>
        <p:blipFill>
          <a:blip r:embed="rId7"/>
          <a:srcRect l="14453" t="3906" r="15625" b="3906"/>
          <a:stretch>
            <a:fillRect/>
          </a:stretch>
        </p:blipFill>
        <p:spPr>
          <a:xfrm>
            <a:off x="5381683" y="4136430"/>
            <a:ext cx="194194" cy="256032"/>
          </a:xfrm>
          <a:prstGeom prst="rect">
            <a:avLst/>
          </a:prstGeom>
          <a:effectLst/>
        </p:spPr>
      </p:pic>
      <p:sp>
        <p:nvSpPr>
          <p:cNvPr id="32" name="c4ctr.node.scan.text"/>
          <p:cNvSpPr txBox="1"/>
          <p:nvPr/>
        </p:nvSpPr>
        <p:spPr>
          <a:xfrm>
            <a:off x="5679948" y="3971838"/>
            <a:ext cx="12252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 agent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Container · LangGraph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Extracts cited 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c4ctr.node.writer"/>
          <p:cNvSpPr/>
          <p:nvPr/>
        </p:nvSpPr>
        <p:spPr>
          <a:xfrm>
            <a:off x="7869317" y="3898686"/>
            <a:ext cx="1737360" cy="731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pic>
        <p:nvPicPr>
          <p:cNvPr id="34" name="vendor.aws/compute/elastic-container-service-task.c4ctr-node-writer-mark" descr="Writer agent (vendor mark aws/compute/elastic-container-service-task)"/>
          <p:cNvPicPr>
            <a:picLocks noChangeAspect="1"/>
          </p:cNvPicPr>
          <p:nvPr/>
        </p:nvPicPr>
        <p:blipFill>
          <a:blip r:embed="rId7"/>
          <a:srcRect l="14453" t="3906" r="15625" b="3906"/>
          <a:stretch>
            <a:fillRect/>
          </a:stretch>
        </p:blipFill>
        <p:spPr>
          <a:xfrm>
            <a:off x="7991677" y="4136430"/>
            <a:ext cx="194194" cy="256032"/>
          </a:xfrm>
          <a:prstGeom prst="rect">
            <a:avLst/>
          </a:prstGeom>
          <a:effectLst/>
        </p:spPr>
      </p:pic>
      <p:sp>
        <p:nvSpPr>
          <p:cNvPr id="35" name="c4ctr.node.writer.text"/>
          <p:cNvSpPr txBox="1"/>
          <p:nvPr/>
        </p:nvSpPr>
        <p:spPr>
          <a:xfrm>
            <a:off x="8289941" y="3971838"/>
            <a:ext cx="12252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Writer agent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Container · LangGraph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Drafts the brief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c4ctr.node.lake"/>
          <p:cNvSpPr/>
          <p:nvPr/>
        </p:nvSpPr>
        <p:spPr>
          <a:xfrm>
            <a:off x="3954327" y="5075540"/>
            <a:ext cx="1737360" cy="731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pic>
        <p:nvPicPr>
          <p:cNvPr id="37" name="vendor.aws/storage/simple-storage-service-s3.c4ctr-node-lake-mark" descr="Signal lake (vendor mark aws/storage/simple-storage-service-s3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5767" y="5313284"/>
            <a:ext cx="256032" cy="256032"/>
          </a:xfrm>
          <a:prstGeom prst="rect">
            <a:avLst/>
          </a:prstGeom>
          <a:effectLst/>
        </p:spPr>
      </p:pic>
      <p:sp>
        <p:nvSpPr>
          <p:cNvPr id="38" name="c4ctr.node.lake.text"/>
          <p:cNvSpPr txBox="1"/>
          <p:nvPr/>
        </p:nvSpPr>
        <p:spPr>
          <a:xfrm>
            <a:off x="4374951" y="5148692"/>
            <a:ext cx="12252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Signal lake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Container · Amazon S3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Raw and refined signals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c4ctr.node.claims"/>
          <p:cNvSpPr/>
          <p:nvPr/>
        </p:nvSpPr>
        <p:spPr>
          <a:xfrm>
            <a:off x="6564321" y="5075540"/>
            <a:ext cx="1737360" cy="73152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pic>
        <p:nvPicPr>
          <p:cNvPr id="40" name="vendor.aws/analytics/amazon-opensearch-service.c4ctr-node-claims-mark" descr="Claim index (vendor mark aws/analytics/amazon-opensearch-servic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5761" y="5313284"/>
            <a:ext cx="256032" cy="256032"/>
          </a:xfrm>
          <a:prstGeom prst="rect">
            <a:avLst/>
          </a:prstGeom>
          <a:effectLst/>
        </p:spPr>
      </p:pic>
      <p:sp>
        <p:nvSpPr>
          <p:cNvPr id="41" name="c4ctr.node.claims.text"/>
          <p:cNvSpPr txBox="1"/>
          <p:nvPr/>
        </p:nvSpPr>
        <p:spPr>
          <a:xfrm>
            <a:off x="6984945" y="5148692"/>
            <a:ext cx="1225296" cy="58521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Claim index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Container · OpenSearch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Claims with source ids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c4ctr.bound.svc.label"/>
          <p:cNvSpPr txBox="1"/>
          <p:nvPr/>
        </p:nvSpPr>
        <p:spPr>
          <a:xfrm>
            <a:off x="2359318" y="2265274"/>
            <a:ext cx="124923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 service · AWS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c4ctr.flow.1"/>
          <p:cNvCxnSpPr/>
          <p:nvPr/>
        </p:nvCxnSpPr>
        <p:spPr>
          <a:xfrm>
            <a:off x="3808750" y="1884670"/>
            <a:ext cx="0" cy="645109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44" name="c4ctr.flow.2"/>
          <p:cNvSpPr/>
          <p:nvPr/>
        </p:nvSpPr>
        <p:spPr>
          <a:xfrm>
            <a:off x="9538106" y="1663019"/>
            <a:ext cx="902696" cy="912480"/>
          </a:xfrm>
          <a:custGeom>
            <a:avLst/>
            <a:gdLst/>
            <a:ahLst/>
            <a:cxnLst/>
            <a:rect l="l" t="t" r="r" b="b"/>
            <a:pathLst>
              <a:path w="902696" h="912480" fill="none">
                <a:moveTo>
                  <a:pt x="902696" y="912480"/>
                </a:moveTo>
                <a:lnTo>
                  <a:pt x="902696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45" name="c4ctr.flow.3"/>
          <p:cNvCxnSpPr/>
          <p:nvPr/>
        </p:nvCxnSpPr>
        <p:spPr>
          <a:xfrm>
            <a:off x="8738006" y="1791035"/>
            <a:ext cx="0" cy="73874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46" name="c4ctr.flow.4"/>
          <p:cNvCxnSpPr/>
          <p:nvPr/>
        </p:nvCxnSpPr>
        <p:spPr>
          <a:xfrm>
            <a:off x="4386651" y="2895539"/>
            <a:ext cx="87270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47" name="c4ctr.flow.5"/>
          <p:cNvCxnSpPr/>
          <p:nvPr/>
        </p:nvCxnSpPr>
        <p:spPr>
          <a:xfrm flipH="1">
            <a:off x="6996714" y="2895539"/>
            <a:ext cx="87261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48" name="c4ctr.flow.6"/>
          <p:cNvSpPr/>
          <p:nvPr/>
        </p:nvSpPr>
        <p:spPr>
          <a:xfrm>
            <a:off x="1815175" y="4483943"/>
            <a:ext cx="834116" cy="637337"/>
          </a:xfrm>
          <a:custGeom>
            <a:avLst/>
            <a:gdLst/>
            <a:ahLst/>
            <a:cxnLst/>
            <a:rect l="l" t="t" r="r" b="b"/>
            <a:pathLst>
              <a:path w="834116" h="637337" fill="none">
                <a:moveTo>
                  <a:pt x="834116" y="0"/>
                </a:moveTo>
                <a:lnTo>
                  <a:pt x="0" y="0"/>
                </a:lnTo>
                <a:lnTo>
                  <a:pt x="0" y="637337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49" name="c4ctr.flow.7"/>
          <p:cNvCxnSpPr/>
          <p:nvPr/>
        </p:nvCxnSpPr>
        <p:spPr>
          <a:xfrm>
            <a:off x="4170487" y="4630247"/>
            <a:ext cx="0" cy="44531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50" name="c4ctr.flow.8"/>
          <p:cNvCxnSpPr/>
          <p:nvPr/>
        </p:nvCxnSpPr>
        <p:spPr>
          <a:xfrm>
            <a:off x="5475519" y="4630247"/>
            <a:ext cx="0" cy="44531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51" name="c4ctr.flow.9"/>
          <p:cNvCxnSpPr/>
          <p:nvPr/>
        </p:nvCxnSpPr>
        <p:spPr>
          <a:xfrm>
            <a:off x="6780459" y="4630247"/>
            <a:ext cx="0" cy="44531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52" name="c4ctr.flow.10"/>
          <p:cNvCxnSpPr/>
          <p:nvPr/>
        </p:nvCxnSpPr>
        <p:spPr>
          <a:xfrm>
            <a:off x="8085491" y="4630247"/>
            <a:ext cx="0" cy="445313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53" name="c4ctr.flow.11"/>
          <p:cNvSpPr/>
          <p:nvPr/>
        </p:nvSpPr>
        <p:spPr>
          <a:xfrm>
            <a:off x="6996714" y="3114995"/>
            <a:ext cx="872612" cy="930036"/>
          </a:xfrm>
          <a:custGeom>
            <a:avLst/>
            <a:gdLst/>
            <a:ahLst/>
            <a:cxnLst/>
            <a:rect l="l" t="t" r="r" b="b"/>
            <a:pathLst>
              <a:path w="872612" h="930036" fill="none">
                <a:moveTo>
                  <a:pt x="872612" y="930036"/>
                </a:moveTo>
                <a:lnTo>
                  <a:pt x="436261" y="930036"/>
                </a:lnTo>
                <a:lnTo>
                  <a:pt x="436261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54" name="c4ctr.flow.12"/>
          <p:cNvSpPr/>
          <p:nvPr/>
        </p:nvSpPr>
        <p:spPr>
          <a:xfrm>
            <a:off x="9606686" y="4447367"/>
            <a:ext cx="834116" cy="641269"/>
          </a:xfrm>
          <a:custGeom>
            <a:avLst/>
            <a:gdLst/>
            <a:ahLst/>
            <a:cxnLst/>
            <a:rect l="l" t="t" r="r" b="b"/>
            <a:pathLst>
              <a:path w="834116" h="641269" fill="none">
                <a:moveTo>
                  <a:pt x="0" y="0"/>
                </a:moveTo>
                <a:lnTo>
                  <a:pt x="834116" y="0"/>
                </a:lnTo>
                <a:lnTo>
                  <a:pt x="834116" y="641269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55" name="c4ctr.flow.1.label"/>
          <p:cNvSpPr txBox="1"/>
          <p:nvPr/>
        </p:nvSpPr>
        <p:spPr>
          <a:xfrm>
            <a:off x="3854470" y="2007565"/>
            <a:ext cx="91758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approves 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c4ctr.flow.2.label"/>
          <p:cNvSpPr txBox="1"/>
          <p:nvPr/>
        </p:nvSpPr>
        <p:spPr>
          <a:xfrm>
            <a:off x="10486522" y="2049079"/>
            <a:ext cx="82028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reads the brief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c4ctr.flow.3.label"/>
          <p:cNvSpPr txBox="1"/>
          <p:nvPr/>
        </p:nvSpPr>
        <p:spPr>
          <a:xfrm>
            <a:off x="8783726" y="2019416"/>
            <a:ext cx="115110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GET /briefs · HTTPS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c4ctr.flow.4.label"/>
          <p:cNvSpPr txBox="1"/>
          <p:nvPr/>
        </p:nvSpPr>
        <p:spPr>
          <a:xfrm>
            <a:off x="4443951" y="2825359"/>
            <a:ext cx="70323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reads · SQL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c4ctr.flow.5.label"/>
          <p:cNvSpPr txBox="1"/>
          <p:nvPr/>
        </p:nvSpPr>
        <p:spPr>
          <a:xfrm>
            <a:off x="7108833" y="2825359"/>
            <a:ext cx="70323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reads · SQL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c4ctr.flow.6.label"/>
          <p:cNvSpPr txBox="1"/>
          <p:nvPr/>
        </p:nvSpPr>
        <p:spPr>
          <a:xfrm>
            <a:off x="819626" y="4704999"/>
            <a:ext cx="94982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collects · HTTPS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c4ctr.flow.7.label"/>
          <p:cNvSpPr txBox="1"/>
          <p:nvPr/>
        </p:nvSpPr>
        <p:spPr>
          <a:xfrm>
            <a:off x="4216207" y="4755291"/>
            <a:ext cx="774631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writes signals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c4ctr.flow.8.label"/>
          <p:cNvSpPr txBox="1"/>
          <p:nvPr/>
        </p:nvSpPr>
        <p:spPr>
          <a:xfrm>
            <a:off x="5521239" y="4755291"/>
            <a:ext cx="85269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reads new files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c4ctr.flow.9.label"/>
          <p:cNvSpPr txBox="1"/>
          <p:nvPr/>
        </p:nvSpPr>
        <p:spPr>
          <a:xfrm>
            <a:off x="6826179" y="4755291"/>
            <a:ext cx="74198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writes 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c4ctr.flow.10.label"/>
          <p:cNvSpPr txBox="1"/>
          <p:nvPr/>
        </p:nvSpPr>
        <p:spPr>
          <a:xfrm>
            <a:off x="8131211" y="4755291"/>
            <a:ext cx="911023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searches 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c4ctr.flow.11.label"/>
          <p:cNvSpPr txBox="1"/>
          <p:nvPr/>
        </p:nvSpPr>
        <p:spPr>
          <a:xfrm>
            <a:off x="7478695" y="3509833"/>
            <a:ext cx="83312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writes the brief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c4ctr.flow.12.label"/>
          <p:cNvSpPr txBox="1"/>
          <p:nvPr/>
        </p:nvSpPr>
        <p:spPr>
          <a:xfrm>
            <a:off x="10486522" y="4670389"/>
            <a:ext cx="852414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drafts · HTTPS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tate.c4ctr.legend.key.person"/>
          <p:cNvSpPr/>
          <p:nvPr/>
        </p:nvSpPr>
        <p:spPr>
          <a:xfrm>
            <a:off x="512064" y="6021415"/>
            <a:ext cx="301752" cy="16459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68" name="c4ctr.legend.key.person.text"/>
          <p:cNvSpPr txBox="1"/>
          <p:nvPr/>
        </p:nvSpPr>
        <p:spPr>
          <a:xfrm>
            <a:off x="941832" y="6035040"/>
            <a:ext cx="45317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Person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tate.c4ctr.legend.key.external"/>
          <p:cNvSpPr/>
          <p:nvPr/>
        </p:nvSpPr>
        <p:spPr>
          <a:xfrm>
            <a:off x="1724195" y="6021415"/>
            <a:ext cx="301752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0" name="c4ctr.legend.key.external.text"/>
          <p:cNvSpPr txBox="1"/>
          <p:nvPr/>
        </p:nvSpPr>
        <p:spPr>
          <a:xfrm>
            <a:off x="2153963" y="6035040"/>
            <a:ext cx="97186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External system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tate.c4ctr.legend.key.container"/>
          <p:cNvSpPr/>
          <p:nvPr/>
        </p:nvSpPr>
        <p:spPr>
          <a:xfrm>
            <a:off x="3455009" y="6021415"/>
            <a:ext cx="301752" cy="1645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72" name="c4ctr.legend.key.container.text"/>
          <p:cNvSpPr txBox="1"/>
          <p:nvPr/>
        </p:nvSpPr>
        <p:spPr>
          <a:xfrm>
            <a:off x="3884777" y="6035040"/>
            <a:ext cx="60668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Container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3" name="state.c4ctr.legend.key.bound-system"/>
          <p:cNvCxnSpPr/>
          <p:nvPr/>
        </p:nvCxnSpPr>
        <p:spPr>
          <a:xfrm>
            <a:off x="4765781" y="6103711"/>
            <a:ext cx="41148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dash"/>
          </a:ln>
          <a:effectLst/>
        </p:spPr>
      </p:cxnSp>
      <p:sp>
        <p:nvSpPr>
          <p:cNvPr id="74" name="c4ctr.legend.key.bound-system.text"/>
          <p:cNvSpPr txBox="1"/>
          <p:nvPr/>
        </p:nvSpPr>
        <p:spPr>
          <a:xfrm>
            <a:off x="5250413" y="6035040"/>
            <a:ext cx="105975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System boundary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wimlane-handoff:stage-tabs-lanes-handoff-band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 draft and route, but nothing ships until a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medical reviewer signs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8" name="stages"/>
          <p:cNvGrpSpPr/>
          <p:nvPr/>
        </p:nvGrpSpPr>
        <p:grpSpPr>
          <a:xfrm>
            <a:off x="2194560" y="777240"/>
            <a:ext cx="9494520" cy="420624"/>
            <a:chOff x="2194560" y="777240"/>
            <a:chExt cx="9494520" cy="420624"/>
          </a:xfrm>
          <a:effectLst/>
        </p:grpSpPr>
        <p:sp>
          <p:nvSpPr>
            <p:cNvPr id="3" name="stages.1"/>
            <p:cNvSpPr/>
            <p:nvPr/>
          </p:nvSpPr>
          <p:spPr>
            <a:xfrm>
              <a:off x="2194560" y="777240"/>
              <a:ext cx="1980688" cy="420624"/>
            </a:xfrm>
            <a:prstGeom prst="homePlate">
              <a:avLst>
                <a:gd name="adj" fmla="val 33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rtlCol="0" anchor="ctr" wrap="square" lIns="54864" tIns="0" rIns="54864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Scan</a:t>
              </a:r>
              <a:endPara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" name="stages.2"/>
            <p:cNvSpPr/>
            <p:nvPr/>
          </p:nvSpPr>
          <p:spPr>
            <a:xfrm>
              <a:off x="4073018" y="777240"/>
              <a:ext cx="1980688" cy="420624"/>
            </a:xfrm>
            <a:prstGeom prst="chevron">
              <a:avLst>
                <a:gd name="adj" fmla="val 33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rtlCol="0" anchor="ctr" wrap="square" lIns="54864" tIns="0" rIns="54864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Draft</a:t>
              </a:r>
              <a:endPara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" name="stages.3"/>
            <p:cNvSpPr/>
            <p:nvPr/>
          </p:nvSpPr>
          <p:spPr>
            <a:xfrm>
              <a:off x="5951476" y="777240"/>
              <a:ext cx="1980688" cy="420624"/>
            </a:xfrm>
            <a:prstGeom prst="chevron">
              <a:avLst>
                <a:gd name="adj" fmla="val 33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rtlCol="0" anchor="ctr" wrap="square" lIns="54864" tIns="0" rIns="54864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Review</a:t>
              </a:r>
              <a:endPara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" name="stages.4"/>
            <p:cNvSpPr/>
            <p:nvPr/>
          </p:nvSpPr>
          <p:spPr>
            <a:xfrm>
              <a:off x="7829934" y="777240"/>
              <a:ext cx="1980688" cy="420624"/>
            </a:xfrm>
            <a:prstGeom prst="chevron">
              <a:avLst>
                <a:gd name="adj" fmla="val 33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rtlCol="0" anchor="ctr" wrap="square" lIns="54864" tIns="0" rIns="54864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Release</a:t>
              </a:r>
              <a:endPara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" name="stages.5"/>
            <p:cNvSpPr/>
            <p:nvPr/>
          </p:nvSpPr>
          <p:spPr>
            <a:xfrm>
              <a:off x="9708392" y="777240"/>
              <a:ext cx="1980688" cy="420624"/>
            </a:xfrm>
            <a:prstGeom prst="chevron">
              <a:avLst>
                <a:gd name="adj" fmla="val 33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 rtlCol="0" anchor="ctr" wrap="square" lIns="54864" tIns="0" rIns="54864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Use</a:t>
              </a:r>
              <a:endPara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9" name="lane.0"/>
          <p:cNvSpPr/>
          <p:nvPr/>
        </p:nvSpPr>
        <p:spPr>
          <a:xfrm>
            <a:off x="457200" y="1344168"/>
            <a:ext cx="11341608" cy="886968"/>
          </a:xfrm>
          <a:prstGeom prst="roundRect">
            <a:avLst>
              <a:gd name="adj" fmla="val 515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0" name="lane.0.label.block"/>
          <p:cNvSpPr/>
          <p:nvPr/>
        </p:nvSpPr>
        <p:spPr>
          <a:xfrm>
            <a:off x="457200" y="1344168"/>
            <a:ext cx="1600200" cy="886968"/>
          </a:xfrm>
          <a:prstGeom prst="roundRect">
            <a:avLst>
              <a:gd name="adj" fmla="val 515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1" name="lane.0.glyph"/>
          <p:cNvSpPr/>
          <p:nvPr/>
        </p:nvSpPr>
        <p:spPr>
          <a:xfrm>
            <a:off x="621792" y="139903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2" name="lane.0.label"/>
          <p:cNvSpPr txBox="1"/>
          <p:nvPr/>
        </p:nvSpPr>
        <p:spPr>
          <a:xfrm>
            <a:off x="603504" y="1627632"/>
            <a:ext cx="132588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 Amazon Bedrock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cell.0.0"/>
          <p:cNvSpPr/>
          <p:nvPr/>
        </p:nvSpPr>
        <p:spPr>
          <a:xfrm>
            <a:off x="2194560" y="1389888"/>
            <a:ext cx="1767230" cy="795528"/>
          </a:xfrm>
          <a:prstGeom prst="roundRect">
            <a:avLst>
              <a:gd name="adj" fmla="val 5747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4" name="cell.0.0.text"/>
          <p:cNvSpPr txBox="1"/>
          <p:nvPr/>
        </p:nvSpPr>
        <p:spPr>
          <a:xfrm>
            <a:off x="2304288" y="1417320"/>
            <a:ext cx="1547774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Signal scan agent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Reads every approved feed each weekday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cell.0.1"/>
          <p:cNvSpPr/>
          <p:nvPr/>
        </p:nvSpPr>
        <p:spPr>
          <a:xfrm>
            <a:off x="4126382" y="1389888"/>
            <a:ext cx="1767230" cy="795528"/>
          </a:xfrm>
          <a:prstGeom prst="roundRect">
            <a:avLst>
              <a:gd name="adj" fmla="val 5747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6" name="cell.0.1.text"/>
          <p:cNvSpPr txBox="1"/>
          <p:nvPr/>
        </p:nvSpPr>
        <p:spPr>
          <a:xfrm>
            <a:off x="4236110" y="1417320"/>
            <a:ext cx="1547774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Brief writer agent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page per territory, each claim sourced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cell.0.2"/>
          <p:cNvSpPr/>
          <p:nvPr/>
        </p:nvSpPr>
        <p:spPr>
          <a:xfrm>
            <a:off x="6058205" y="1389888"/>
            <a:ext cx="1767230" cy="795528"/>
          </a:xfrm>
          <a:prstGeom prst="roundRect">
            <a:avLst>
              <a:gd name="adj" fmla="val 5747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8" name="cell.0.2.text"/>
          <p:cNvSpPr txBox="1"/>
          <p:nvPr/>
        </p:nvSpPr>
        <p:spPr>
          <a:xfrm>
            <a:off x="6167933" y="1417320"/>
            <a:ext cx="1547774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Claim checks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Holds any claim without a public source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ell.0.3"/>
          <p:cNvSpPr/>
          <p:nvPr/>
        </p:nvSpPr>
        <p:spPr>
          <a:xfrm>
            <a:off x="7990027" y="1389888"/>
            <a:ext cx="1767230" cy="795528"/>
          </a:xfrm>
          <a:prstGeom prst="roundRect">
            <a:avLst>
              <a:gd name="adj" fmla="val 5747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0" name="cell.0.3.text"/>
          <p:cNvSpPr txBox="1"/>
          <p:nvPr/>
        </p:nvSpPr>
        <p:spPr>
          <a:xfrm>
            <a:off x="8099755" y="1417320"/>
            <a:ext cx="1547774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Territory routing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Each rep gets the moves that matter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ell.0.4"/>
          <p:cNvSpPr/>
          <p:nvPr/>
        </p:nvSpPr>
        <p:spPr>
          <a:xfrm>
            <a:off x="9921850" y="1389888"/>
            <a:ext cx="1767230" cy="795528"/>
          </a:xfrm>
          <a:prstGeom prst="roundRect">
            <a:avLst>
              <a:gd name="adj" fmla="val 5747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2" name="cell.0.4.text"/>
          <p:cNvSpPr txBox="1"/>
          <p:nvPr/>
        </p:nvSpPr>
        <p:spPr>
          <a:xfrm>
            <a:off x="10031578" y="1417320"/>
            <a:ext cx="1547774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Ranking update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Ratings reweight next week's relevance scores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lane.1"/>
          <p:cNvSpPr/>
          <p:nvPr/>
        </p:nvSpPr>
        <p:spPr>
          <a:xfrm>
            <a:off x="457200" y="2596896"/>
            <a:ext cx="11341608" cy="886968"/>
          </a:xfrm>
          <a:prstGeom prst="roundRect">
            <a:avLst>
              <a:gd name="adj" fmla="val 515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4" name="lane.1.label.block"/>
          <p:cNvSpPr/>
          <p:nvPr/>
        </p:nvSpPr>
        <p:spPr>
          <a:xfrm>
            <a:off x="457200" y="2596896"/>
            <a:ext cx="1600200" cy="886968"/>
          </a:xfrm>
          <a:prstGeom prst="roundRect">
            <a:avLst>
              <a:gd name="adj" fmla="val 515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5" name="lane.1.glyph"/>
          <p:cNvSpPr/>
          <p:nvPr/>
        </p:nvSpPr>
        <p:spPr>
          <a:xfrm>
            <a:off x="621792" y="26517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6" name="lane.1.label"/>
          <p:cNvSpPr txBox="1"/>
          <p:nvPr/>
        </p:nvSpPr>
        <p:spPr>
          <a:xfrm>
            <a:off x="603504" y="2880360"/>
            <a:ext cx="132588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reviewer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Signs every brief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cell.1.1"/>
          <p:cNvSpPr/>
          <p:nvPr/>
        </p:nvSpPr>
        <p:spPr>
          <a:xfrm>
            <a:off x="4126382" y="2642616"/>
            <a:ext cx="1767230" cy="795528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28" name="cell.1.1.text"/>
          <p:cNvSpPr txBox="1"/>
          <p:nvPr/>
        </p:nvSpPr>
        <p:spPr>
          <a:xfrm>
            <a:off x="4236110" y="2670048"/>
            <a:ext cx="1547774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Rejected drafts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Back to the writer with the reason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cell.1.2"/>
          <p:cNvSpPr/>
          <p:nvPr/>
        </p:nvSpPr>
        <p:spPr>
          <a:xfrm>
            <a:off x="6058205" y="2642616"/>
            <a:ext cx="1767230" cy="795528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30" name="cell.1.2.text"/>
          <p:cNvSpPr txBox="1"/>
          <p:nvPr/>
        </p:nvSpPr>
        <p:spPr>
          <a:xfrm>
            <a:off x="6167933" y="2670048"/>
            <a:ext cx="1547774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Approve, edit or reject with a stated reason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lane.2"/>
          <p:cNvSpPr/>
          <p:nvPr/>
        </p:nvSpPr>
        <p:spPr>
          <a:xfrm>
            <a:off x="457200" y="3593592"/>
            <a:ext cx="11341608" cy="886968"/>
          </a:xfrm>
          <a:prstGeom prst="roundRect">
            <a:avLst>
              <a:gd name="adj" fmla="val 515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2" name="lane.2.label.block"/>
          <p:cNvSpPr/>
          <p:nvPr/>
        </p:nvSpPr>
        <p:spPr>
          <a:xfrm>
            <a:off x="457200" y="3593592"/>
            <a:ext cx="1600200" cy="886968"/>
          </a:xfrm>
          <a:prstGeom prst="roundRect">
            <a:avLst>
              <a:gd name="adj" fmla="val 515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3" name="lane.2.glyph"/>
          <p:cNvSpPr/>
          <p:nvPr/>
        </p:nvSpPr>
        <p:spPr>
          <a:xfrm>
            <a:off x="621792" y="364845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34" name="lane.2.label"/>
          <p:cNvSpPr txBox="1"/>
          <p:nvPr/>
        </p:nvSpPr>
        <p:spPr>
          <a:xfrm>
            <a:off x="603504" y="3877056"/>
            <a:ext cx="132588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 reps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Across six regions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cell.2.0"/>
          <p:cNvSpPr/>
          <p:nvPr/>
        </p:nvSpPr>
        <p:spPr>
          <a:xfrm>
            <a:off x="2194560" y="3639312"/>
            <a:ext cx="1767230" cy="795528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36" name="cell.2.0.text"/>
          <p:cNvSpPr txBox="1"/>
          <p:nvPr/>
        </p:nvSpPr>
        <p:spPr>
          <a:xfrm>
            <a:off x="2304288" y="3666744"/>
            <a:ext cx="1547774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Call notes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What reps hear joins the next scan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cell.2.3"/>
          <p:cNvSpPr/>
          <p:nvPr/>
        </p:nvSpPr>
        <p:spPr>
          <a:xfrm>
            <a:off x="7990027" y="3639312"/>
            <a:ext cx="1767230" cy="795528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38" name="cell.2.3.text"/>
          <p:cNvSpPr txBox="1"/>
          <p:nvPr/>
        </p:nvSpPr>
        <p:spPr>
          <a:xfrm>
            <a:off x="8099755" y="3666744"/>
            <a:ext cx="1547774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Monday brief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 every rep's phone before the first call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cell.2.4"/>
          <p:cNvSpPr/>
          <p:nvPr/>
        </p:nvSpPr>
        <p:spPr>
          <a:xfrm>
            <a:off x="9921850" y="3639312"/>
            <a:ext cx="1767230" cy="795528"/>
          </a:xfrm>
          <a:prstGeom prst="roundRect">
            <a:avLst>
              <a:gd name="adj" fmla="val 5747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40" name="cell.2.4.text"/>
          <p:cNvSpPr txBox="1"/>
          <p:nvPr/>
        </p:nvSpPr>
        <p:spPr>
          <a:xfrm>
            <a:off x="10031578" y="3666744"/>
            <a:ext cx="1547774" cy="7406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Rate each move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Ratings tune next week's ranking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ecords"/>
          <p:cNvSpPr/>
          <p:nvPr/>
        </p:nvSpPr>
        <p:spPr>
          <a:xfrm>
            <a:off x="457200" y="4590288"/>
            <a:ext cx="11341608" cy="658368"/>
          </a:xfrm>
          <a:prstGeom prst="roundRect">
            <a:avLst>
              <a:gd name="adj" fmla="val 694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2" name="records.label.block"/>
          <p:cNvSpPr/>
          <p:nvPr/>
        </p:nvSpPr>
        <p:spPr>
          <a:xfrm>
            <a:off x="457200" y="4590288"/>
            <a:ext cx="1600200" cy="658368"/>
          </a:xfrm>
          <a:prstGeom prst="roundRect">
            <a:avLst>
              <a:gd name="adj" fmla="val 694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3" name="records.label"/>
          <p:cNvSpPr txBox="1"/>
          <p:nvPr/>
        </p:nvSpPr>
        <p:spPr>
          <a:xfrm>
            <a:off x="603504" y="4645152"/>
            <a:ext cx="1307592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Records kept per stage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records.0"/>
          <p:cNvSpPr/>
          <p:nvPr/>
        </p:nvSpPr>
        <p:spPr>
          <a:xfrm>
            <a:off x="2194560" y="4636008"/>
            <a:ext cx="1767230" cy="566928"/>
          </a:xfrm>
          <a:prstGeom prst="roundRect">
            <a:avLst>
              <a:gd name="adj" fmla="val 806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45" name="records.0.text"/>
          <p:cNvSpPr txBox="1"/>
          <p:nvPr/>
        </p:nvSpPr>
        <p:spPr>
          <a:xfrm>
            <a:off x="2304288" y="4645152"/>
            <a:ext cx="1547774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Raw signal kept per feed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records.1"/>
          <p:cNvSpPr/>
          <p:nvPr/>
        </p:nvSpPr>
        <p:spPr>
          <a:xfrm>
            <a:off x="4126382" y="4636008"/>
            <a:ext cx="1767230" cy="566928"/>
          </a:xfrm>
          <a:prstGeom prst="roundRect">
            <a:avLst>
              <a:gd name="adj" fmla="val 806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47" name="records.1.text"/>
          <p:cNvSpPr txBox="1"/>
          <p:nvPr/>
        </p:nvSpPr>
        <p:spPr>
          <a:xfrm>
            <a:off x="4236110" y="4645152"/>
            <a:ext cx="1547774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OpenSearch index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link for every claim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records.2"/>
          <p:cNvSpPr/>
          <p:nvPr/>
        </p:nvSpPr>
        <p:spPr>
          <a:xfrm>
            <a:off x="6058205" y="4636008"/>
            <a:ext cx="1767230" cy="566928"/>
          </a:xfrm>
          <a:prstGeom prst="roundRect">
            <a:avLst>
              <a:gd name="adj" fmla="val 806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49" name="records.2.text"/>
          <p:cNvSpPr txBox="1"/>
          <p:nvPr/>
        </p:nvSpPr>
        <p:spPr>
          <a:xfrm>
            <a:off x="6167933" y="4645152"/>
            <a:ext cx="1547774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RDS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Reviewer, decision and reason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records.3"/>
          <p:cNvSpPr/>
          <p:nvPr/>
        </p:nvSpPr>
        <p:spPr>
          <a:xfrm>
            <a:off x="7990027" y="4636008"/>
            <a:ext cx="1767230" cy="566928"/>
          </a:xfrm>
          <a:prstGeom prst="roundRect">
            <a:avLst>
              <a:gd name="adj" fmla="val 806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51" name="records.3.text"/>
          <p:cNvSpPr txBox="1"/>
          <p:nvPr/>
        </p:nvSpPr>
        <p:spPr>
          <a:xfrm>
            <a:off x="8099755" y="4645152"/>
            <a:ext cx="1547774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API Gateway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Release log per territory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records.4"/>
          <p:cNvSpPr/>
          <p:nvPr/>
        </p:nvSpPr>
        <p:spPr>
          <a:xfrm>
            <a:off x="9921850" y="4636008"/>
            <a:ext cx="1767230" cy="566928"/>
          </a:xfrm>
          <a:prstGeom prst="roundRect">
            <a:avLst>
              <a:gd name="adj" fmla="val 806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53" name="records.4.text"/>
          <p:cNvSpPr txBox="1"/>
          <p:nvPr/>
        </p:nvSpPr>
        <p:spPr>
          <a:xfrm>
            <a:off x="10031578" y="4645152"/>
            <a:ext cx="1547774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Langfuse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Rating and trace per move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4" name="handoff.1"/>
          <p:cNvCxnSpPr/>
          <p:nvPr/>
        </p:nvCxnSpPr>
        <p:spPr>
          <a:xfrm>
            <a:off x="3961790" y="1787652"/>
            <a:ext cx="164592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  <a:effectLst/>
        </p:spPr>
      </p:cxnSp>
      <p:cxnSp>
        <p:nvCxnSpPr>
          <p:cNvPr id="55" name="handoff.2"/>
          <p:cNvCxnSpPr/>
          <p:nvPr/>
        </p:nvCxnSpPr>
        <p:spPr>
          <a:xfrm>
            <a:off x="5893613" y="1787652"/>
            <a:ext cx="164592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  <a:effectLst/>
        </p:spPr>
      </p:cxnSp>
      <p:cxnSp>
        <p:nvCxnSpPr>
          <p:cNvPr id="56" name="handoff.3"/>
          <p:cNvCxnSpPr/>
          <p:nvPr/>
        </p:nvCxnSpPr>
        <p:spPr>
          <a:xfrm flipH="1">
            <a:off x="5893613" y="3040380"/>
            <a:ext cx="164592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  <a:effectLst/>
        </p:spPr>
      </p:cxnSp>
      <p:cxnSp>
        <p:nvCxnSpPr>
          <p:cNvPr id="57" name="handoff.4"/>
          <p:cNvCxnSpPr/>
          <p:nvPr/>
        </p:nvCxnSpPr>
        <p:spPr>
          <a:xfrm>
            <a:off x="9757258" y="4037076"/>
            <a:ext cx="164592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  <a:effectLst/>
        </p:spPr>
      </p:cxnSp>
      <p:cxnSp>
        <p:nvCxnSpPr>
          <p:cNvPr id="58" name="handoff.5"/>
          <p:cNvCxnSpPr/>
          <p:nvPr/>
        </p:nvCxnSpPr>
        <p:spPr>
          <a:xfrm>
            <a:off x="6941820" y="2185416"/>
            <a:ext cx="0" cy="457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  <a:effectLst/>
        </p:spPr>
      </p:cxnSp>
      <p:sp>
        <p:nvSpPr>
          <p:cNvPr id="59" name="handoff.1.disc"/>
          <p:cNvSpPr/>
          <p:nvPr/>
        </p:nvSpPr>
        <p:spPr>
          <a:xfrm>
            <a:off x="7014972" y="2276856"/>
            <a:ext cx="274320" cy="2743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handoff.6"/>
          <p:cNvSpPr/>
          <p:nvPr/>
        </p:nvSpPr>
        <p:spPr>
          <a:xfrm>
            <a:off x="7825435" y="2185416"/>
            <a:ext cx="682447" cy="854964"/>
          </a:xfrm>
          <a:custGeom>
            <a:avLst/>
            <a:gdLst/>
            <a:ahLst/>
            <a:cxnLst/>
            <a:rect l="l" t="t" r="r" b="b"/>
            <a:pathLst>
              <a:path w="682447" h="854964" fill="none">
                <a:moveTo>
                  <a:pt x="0" y="854964"/>
                </a:moveTo>
                <a:lnTo>
                  <a:pt x="682447" y="854964"/>
                </a:lnTo>
                <a:lnTo>
                  <a:pt x="682447" y="0"/>
                </a:lnTo>
              </a:path>
            </a:pathLst>
          </a:custGeom>
          <a:noFill/>
          <a:ln w="15875">
            <a:solidFill>
              <a:schemeClr val="tx1">
                <a:lumMod val="75000"/>
                <a:lumOff val="2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61" name="handoff.2.disc"/>
          <p:cNvSpPr/>
          <p:nvPr/>
        </p:nvSpPr>
        <p:spPr>
          <a:xfrm>
            <a:off x="8160410" y="2276856"/>
            <a:ext cx="274320" cy="2743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2" name="handoff.7"/>
          <p:cNvCxnSpPr/>
          <p:nvPr/>
        </p:nvCxnSpPr>
        <p:spPr>
          <a:xfrm>
            <a:off x="9239402" y="2185416"/>
            <a:ext cx="0" cy="1453896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  <a:effectLst/>
        </p:spPr>
      </p:cxnSp>
      <p:sp>
        <p:nvSpPr>
          <p:cNvPr id="63" name="handoff.3.disc"/>
          <p:cNvSpPr/>
          <p:nvPr/>
        </p:nvSpPr>
        <p:spPr>
          <a:xfrm>
            <a:off x="9312554" y="2276856"/>
            <a:ext cx="274320" cy="2743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4" name="handoff.8"/>
          <p:cNvCxnSpPr/>
          <p:nvPr/>
        </p:nvCxnSpPr>
        <p:spPr>
          <a:xfrm flipV="1">
            <a:off x="5009998" y="2185416"/>
            <a:ext cx="0" cy="457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  <a:effectLst/>
        </p:spPr>
      </p:cxnSp>
      <p:sp>
        <p:nvSpPr>
          <p:cNvPr id="65" name="handoff.4.disc"/>
          <p:cNvSpPr/>
          <p:nvPr/>
        </p:nvSpPr>
        <p:spPr>
          <a:xfrm>
            <a:off x="5083150" y="2276856"/>
            <a:ext cx="274320" cy="2743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6" name="handoff.9"/>
          <p:cNvCxnSpPr/>
          <p:nvPr/>
        </p:nvCxnSpPr>
        <p:spPr>
          <a:xfrm flipV="1">
            <a:off x="3078175" y="2185416"/>
            <a:ext cx="0" cy="1453896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  <a:effectLst/>
        </p:spPr>
      </p:cxnSp>
      <p:sp>
        <p:nvSpPr>
          <p:cNvPr id="67" name="handoff.5.disc"/>
          <p:cNvSpPr/>
          <p:nvPr/>
        </p:nvSpPr>
        <p:spPr>
          <a:xfrm>
            <a:off x="3151327" y="2276856"/>
            <a:ext cx="274320" cy="2743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8" name="handoff.10"/>
          <p:cNvCxnSpPr/>
          <p:nvPr/>
        </p:nvCxnSpPr>
        <p:spPr>
          <a:xfrm flipV="1">
            <a:off x="10805465" y="2185416"/>
            <a:ext cx="0" cy="1453896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  <a:effectLst/>
        </p:spPr>
      </p:cxnSp>
      <p:sp>
        <p:nvSpPr>
          <p:cNvPr id="69" name="handoff.6.disc"/>
          <p:cNvSpPr/>
          <p:nvPr/>
        </p:nvSpPr>
        <p:spPr>
          <a:xfrm>
            <a:off x="10878617" y="2276856"/>
            <a:ext cx="274320" cy="27432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rules.band"/>
          <p:cNvSpPr/>
          <p:nvPr/>
        </p:nvSpPr>
        <p:spPr>
          <a:xfrm>
            <a:off x="457200" y="5340096"/>
            <a:ext cx="11341608" cy="914400"/>
          </a:xfrm>
          <a:prstGeom prst="roundRect">
            <a:avLst>
              <a:gd name="adj" fmla="val 5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1" name="rules.label.block"/>
          <p:cNvSpPr/>
          <p:nvPr/>
        </p:nvSpPr>
        <p:spPr>
          <a:xfrm>
            <a:off x="457200" y="5340096"/>
            <a:ext cx="1600200" cy="914400"/>
          </a:xfrm>
          <a:prstGeom prst="roundRect">
            <a:avLst>
              <a:gd name="adj" fmla="val 5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2" name="rules.label"/>
          <p:cNvSpPr txBox="1"/>
          <p:nvPr/>
        </p:nvSpPr>
        <p:spPr>
          <a:xfrm>
            <a:off x="603504" y="5431536"/>
            <a:ext cx="1307592" cy="73152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Hand-off rules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rules.1.text"/>
          <p:cNvSpPr txBox="1"/>
          <p:nvPr/>
        </p:nvSpPr>
        <p:spPr>
          <a:xfrm>
            <a:off x="2258568" y="5435269"/>
            <a:ext cx="1366012" cy="72405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  Draft to review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Every claim carries its public source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rules.2.text"/>
          <p:cNvSpPr txBox="1"/>
          <p:nvPr/>
        </p:nvSpPr>
        <p:spPr>
          <a:xfrm>
            <a:off x="3853180" y="5435269"/>
            <a:ext cx="1366012" cy="72405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  Review to release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Only a signed brief can ship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rules.3.text"/>
          <p:cNvSpPr txBox="1"/>
          <p:nvPr/>
        </p:nvSpPr>
        <p:spPr>
          <a:xfrm>
            <a:off x="5447792" y="5435269"/>
            <a:ext cx="1366012" cy="72405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  Release to field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Delivered before the Monday calls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rules.4.text"/>
          <p:cNvSpPr txBox="1"/>
          <p:nvPr/>
        </p:nvSpPr>
        <p:spPr>
          <a:xfrm>
            <a:off x="7042404" y="5435269"/>
            <a:ext cx="1366012" cy="72405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  Rejected to writer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reason travels with the draft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rules.5.text"/>
          <p:cNvSpPr txBox="1"/>
          <p:nvPr/>
        </p:nvSpPr>
        <p:spPr>
          <a:xfrm>
            <a:off x="8637016" y="5435269"/>
            <a:ext cx="1366012" cy="70118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  Field to scan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Notes enter as signals, never claims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rules.6.text"/>
          <p:cNvSpPr txBox="1"/>
          <p:nvPr/>
        </p:nvSpPr>
        <p:spPr>
          <a:xfrm>
            <a:off x="10231628" y="5435269"/>
            <a:ext cx="1366012" cy="72405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  Ratings to ranking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New weights apply next Monday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worked-example:stage-columns-hub-trace">
    <p:spTree>
      <p:nvGrpSpPr>
        <p:cNvPr id="1" name=""/>
        <p:cNvGrpSpPr/>
        <p:nvPr/>
      </p:nvGrpSpPr>
      <p:grpSpPr/>
      <p:sp>
        <p:nvSpPr>
          <p:cNvPr id="2" name="struct.paths.frame"/>
          <p:cNvSpPr/>
          <p:nvPr/>
        </p:nvSpPr>
        <p:spPr>
          <a:xfrm>
            <a:off x="468520" y="5081911"/>
            <a:ext cx="9094107" cy="1188000"/>
          </a:xfrm>
          <a:prstGeom prst="roundRect">
            <a:avLst>
              <a:gd name="adj" fmla="val 3848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cxnSp>
        <p:nvCxnSpPr>
          <p:cNvPr id="3" name="struct.paths.divider"/>
          <p:cNvCxnSpPr/>
          <p:nvPr/>
        </p:nvCxnSpPr>
        <p:spPr>
          <a:xfrm>
            <a:off x="5015574" y="5081911"/>
            <a:ext cx="0" cy="11880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4" name="struct.stage.3.frame"/>
          <p:cNvSpPr/>
          <p:nvPr/>
        </p:nvSpPr>
        <p:spPr>
          <a:xfrm>
            <a:off x="6218627" y="1181141"/>
            <a:ext cx="3344000" cy="3811483"/>
          </a:xfrm>
          <a:prstGeom prst="roundRect">
            <a:avLst>
              <a:gd name="adj" fmla="val 1367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" name="struct.stage.2.frame"/>
          <p:cNvSpPr/>
          <p:nvPr/>
        </p:nvSpPr>
        <p:spPr>
          <a:xfrm>
            <a:off x="2137597" y="1181141"/>
            <a:ext cx="3965600" cy="3811483"/>
          </a:xfrm>
          <a:prstGeom prst="roundRect">
            <a:avLst>
              <a:gd name="adj" fmla="val 120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6" name="struct.stage.4.frame"/>
          <p:cNvSpPr/>
          <p:nvPr/>
        </p:nvSpPr>
        <p:spPr>
          <a:xfrm>
            <a:off x="9678393" y="1181141"/>
            <a:ext cx="2117240" cy="5088770"/>
          </a:xfrm>
          <a:prstGeom prst="roundRect">
            <a:avLst>
              <a:gd name="adj" fmla="val 2028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7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competitor signal reached North reps in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day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with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claim held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uct.stage.1.frame"/>
          <p:cNvSpPr/>
          <p:nvPr/>
        </p:nvSpPr>
        <p:spPr>
          <a:xfrm>
            <a:off x="468519" y="1181141"/>
            <a:ext cx="1553600" cy="3811483"/>
          </a:xfrm>
          <a:prstGeom prst="roundRect">
            <a:avLst>
              <a:gd name="adj" fmla="val 294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9" name="slot.stage.1.head"/>
          <p:cNvSpPr/>
          <p:nvPr/>
        </p:nvSpPr>
        <p:spPr>
          <a:xfrm>
            <a:off x="468520" y="1181141"/>
            <a:ext cx="1553600" cy="4452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Signal in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Week 46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field.1"/>
          <p:cNvSpPr txBox="1"/>
          <p:nvPr/>
        </p:nvSpPr>
        <p:spPr>
          <a:xfrm>
            <a:off x="556404" y="1719072"/>
            <a:ext cx="1380744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72000" tIns="72000" rIns="72000" bIns="720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Found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Mon, 07:40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field.2"/>
          <p:cNvSpPr txBox="1"/>
          <p:nvPr/>
        </p:nvSpPr>
        <p:spPr>
          <a:xfrm>
            <a:off x="556404" y="2359152"/>
            <a:ext cx="1380744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72000" tIns="72000" rIns="72000" bIns="720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Public trial registry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field.3"/>
          <p:cNvSpPr txBox="1"/>
          <p:nvPr/>
        </p:nvSpPr>
        <p:spPr>
          <a:xfrm>
            <a:off x="556404" y="2999232"/>
            <a:ext cx="1380744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72000" tIns="72000" rIns="72000" bIns="720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Competitor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Rival A, new arm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ot.field.4"/>
          <p:cNvSpPr txBox="1"/>
          <p:nvPr/>
        </p:nvSpPr>
        <p:spPr>
          <a:xfrm>
            <a:off x="556404" y="3639311"/>
            <a:ext cx="1380744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72000" tIns="72000" rIns="72000" bIns="720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Brand at risk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Quillmont brand 2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field.5"/>
          <p:cNvSpPr txBox="1"/>
          <p:nvPr/>
        </p:nvSpPr>
        <p:spPr>
          <a:xfrm>
            <a:off x="556404" y="4279392"/>
            <a:ext cx="1380744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spcFirstLastPara="1" wrap="square" lIns="72000" tIns="72000" rIns="72000" bIns="720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Claim 4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 public source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stage.2.head"/>
          <p:cNvSpPr/>
          <p:nvPr/>
        </p:nvSpPr>
        <p:spPr>
          <a:xfrm>
            <a:off x="2137597" y="1181141"/>
            <a:ext cx="3965600" cy="4452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Claims drafted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Brief writer agent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6" name="slot.lines.table"/>
          <p:cNvGraphicFramePr/>
          <p:nvPr/>
        </p:nvGraphicFramePr>
        <p:xfrm>
          <a:off x="2239325" y="2421888"/>
          <a:ext cx="3758184" cy="19151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267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Claim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Hours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Link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67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Claim 1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Trial registry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Linked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067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Claim 2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Press release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Linked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67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Claim 3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Congress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Linked</a:t>
                      </a:r>
                      <a:endParaRPr lang="en-US" sz="10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736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Claim 4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lang="en-US" sz="1000" b="0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Rep mention</a:t>
                      </a:r>
                      <a:endParaRPr lang="en-US" sz="1000" b="0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Held</a:t>
                      </a:r>
                      <a:endParaRPr lang="en-US" sz="10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000" marR="54000" marT="36000" marB="36000" anchor="ctr">
                    <a:lnL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lot.stage.3.head"/>
          <p:cNvSpPr/>
          <p:nvPr/>
        </p:nvSpPr>
        <p:spPr>
          <a:xfrm>
            <a:off x="6218627" y="1181141"/>
            <a:ext cx="3344000" cy="4452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Claim checked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Five sources around one claim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stage.4.head"/>
          <p:cNvSpPr/>
          <p:nvPr/>
        </p:nvSpPr>
        <p:spPr>
          <a:xfrm>
            <a:off x="9678393" y="1181141"/>
            <a:ext cx="2117240" cy="4452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Brief released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Each step on record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outcome.1"/>
          <p:cNvSpPr txBox="1"/>
          <p:nvPr/>
        </p:nvSpPr>
        <p:spPr>
          <a:xfrm>
            <a:off x="10029588" y="1737360"/>
            <a:ext cx="1691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Claims 1 to 3 shipped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live Tue, 07:40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outcome.2"/>
          <p:cNvSpPr txBox="1"/>
          <p:nvPr/>
        </p:nvSpPr>
        <p:spPr>
          <a:xfrm>
            <a:off x="10029588" y="2683046"/>
            <a:ext cx="1691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Claim 4 held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Cut from the field brief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outcome.3"/>
          <p:cNvSpPr txBox="1"/>
          <p:nvPr/>
        </p:nvSpPr>
        <p:spPr>
          <a:xfrm>
            <a:off x="10029588" y="3628732"/>
            <a:ext cx="1691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decision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Signed with one edit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outcome.4"/>
          <p:cNvSpPr txBox="1"/>
          <p:nvPr/>
        </p:nvSpPr>
        <p:spPr>
          <a:xfrm>
            <a:off x="10029588" y="4574417"/>
            <a:ext cx="1691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 list tuned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notes flagged on arrival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outcome.5"/>
          <p:cNvSpPr txBox="1"/>
          <p:nvPr/>
        </p:nvSpPr>
        <p:spPr>
          <a:xfrm>
            <a:off x="10029588" y="5520103"/>
            <a:ext cx="1691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Record kept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claim tied to its source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4" name="struct.outcome.rule.1"/>
          <p:cNvCxnSpPr/>
          <p:nvPr/>
        </p:nvCxnSpPr>
        <p:spPr>
          <a:xfrm>
            <a:off x="9810132" y="2484523"/>
            <a:ext cx="1847088" cy="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5" name="struct.outcome.rule.2"/>
          <p:cNvCxnSpPr/>
          <p:nvPr/>
        </p:nvCxnSpPr>
        <p:spPr>
          <a:xfrm>
            <a:off x="9810132" y="3430209"/>
            <a:ext cx="1847088" cy="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6" name="struct.outcome.rule.3"/>
          <p:cNvCxnSpPr/>
          <p:nvPr/>
        </p:nvCxnSpPr>
        <p:spPr>
          <a:xfrm>
            <a:off x="9810132" y="4375894"/>
            <a:ext cx="1847088" cy="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7" name="struct.outcome.rule.4"/>
          <p:cNvCxnSpPr/>
          <p:nvPr/>
        </p:nvCxnSpPr>
        <p:spPr>
          <a:xfrm>
            <a:off x="9810132" y="5321580"/>
            <a:ext cx="1847088" cy="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28" name="slot.check.1.label"/>
          <p:cNvSpPr txBox="1"/>
          <p:nvPr/>
        </p:nvSpPr>
        <p:spPr>
          <a:xfrm>
            <a:off x="2239325" y="2021011"/>
            <a:ext cx="620000" cy="27084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check.2.label"/>
          <p:cNvSpPr txBox="1"/>
          <p:nvPr/>
        </p:nvSpPr>
        <p:spPr>
          <a:xfrm>
            <a:off x="3011888" y="2021011"/>
            <a:ext cx="620000" cy="27084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Date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check.3.label"/>
          <p:cNvSpPr txBox="1"/>
          <p:nvPr/>
        </p:nvSpPr>
        <p:spPr>
          <a:xfrm>
            <a:off x="3784451" y="2021011"/>
            <a:ext cx="620000" cy="27084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Brand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check.4.label"/>
          <p:cNvSpPr txBox="1"/>
          <p:nvPr/>
        </p:nvSpPr>
        <p:spPr>
          <a:xfrm>
            <a:off x="4557012" y="2021011"/>
            <a:ext cx="620000" cy="27084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check.5.label"/>
          <p:cNvSpPr txBox="1"/>
          <p:nvPr/>
        </p:nvSpPr>
        <p:spPr>
          <a:xfrm>
            <a:off x="5329571" y="2021011"/>
            <a:ext cx="671600" cy="270843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Tone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" name="struct.check.rule.1"/>
          <p:cNvCxnSpPr/>
          <p:nvPr/>
        </p:nvCxnSpPr>
        <p:spPr>
          <a:xfrm rot="10800000">
            <a:off x="2935692" y="2020795"/>
            <a:ext cx="0" cy="26920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4" name="struct.check.rule.2"/>
          <p:cNvCxnSpPr/>
          <p:nvPr/>
        </p:nvCxnSpPr>
        <p:spPr>
          <a:xfrm rot="10800000">
            <a:off x="3708255" y="2020795"/>
            <a:ext cx="0" cy="26920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struct.check.rule.3"/>
          <p:cNvCxnSpPr/>
          <p:nvPr/>
        </p:nvCxnSpPr>
        <p:spPr>
          <a:xfrm rot="10800000">
            <a:off x="4480816" y="2020795"/>
            <a:ext cx="0" cy="26920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36" name="struct.check.rule.4"/>
          <p:cNvCxnSpPr/>
          <p:nvPr/>
        </p:nvCxnSpPr>
        <p:spPr>
          <a:xfrm rot="10800000">
            <a:off x="5253379" y="2020795"/>
            <a:ext cx="0" cy="269200"/>
          </a:xfrm>
          <a:prstGeom prst="straightConnector1">
            <a:avLst/>
          </a:prstGeom>
          <a:noFill/>
          <a:ln w="71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37" name="struct.note.frame"/>
          <p:cNvSpPr/>
          <p:nvPr/>
        </p:nvSpPr>
        <p:spPr>
          <a:xfrm>
            <a:off x="2239325" y="4471360"/>
            <a:ext cx="3761600" cy="406400"/>
          </a:xfrm>
          <a:prstGeom prst="roundRect">
            <a:avLst>
              <a:gd name="adj" fmla="val 979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38" name="slot.note"/>
          <p:cNvSpPr txBox="1"/>
          <p:nvPr/>
        </p:nvSpPr>
        <p:spPr>
          <a:xfrm>
            <a:off x="2314052" y="4540069"/>
            <a:ext cx="3612400" cy="28071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Claim 4 has no public source, so it is held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9" name="struct.flag.1.disc"/>
          <p:cNvGrpSpPr/>
          <p:nvPr/>
        </p:nvGrpSpPr>
        <p:grpSpPr>
          <a:xfrm>
            <a:off x="2178279" y="4407575"/>
            <a:ext cx="135936" cy="135936"/>
            <a:chOff x="2179659" y="4407575"/>
            <a:chExt cx="135936" cy="135936"/>
          </a:xfrm>
          <a:effectLst/>
        </p:grpSpPr>
        <p:sp>
          <p:nvSpPr>
            <p:cNvPr id="40" name="struct.flag.1.star"/>
            <p:cNvSpPr/>
            <p:nvPr/>
          </p:nvSpPr>
          <p:spPr>
            <a:xfrm>
              <a:off x="2204553" y="4432469"/>
              <a:ext cx="86124" cy="86124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</p:grpSp>
      <p:sp>
        <p:nvSpPr>
          <p:cNvPr id="41" name="struct.flag.2.disc"/>
          <p:cNvSpPr/>
          <p:nvPr/>
        </p:nvSpPr>
        <p:spPr>
          <a:xfrm>
            <a:off x="5923540" y="4039627"/>
            <a:ext cx="136000" cy="136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42" name="struct.flag.2.star"/>
          <p:cNvSpPr/>
          <p:nvPr/>
        </p:nvSpPr>
        <p:spPr>
          <a:xfrm>
            <a:off x="5948431" y="4064519"/>
            <a:ext cx="86000" cy="86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43" name="slot.source.3"/>
          <p:cNvSpPr txBox="1"/>
          <p:nvPr/>
        </p:nvSpPr>
        <p:spPr>
          <a:xfrm>
            <a:off x="8648844" y="2286000"/>
            <a:ext cx="841248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notes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rep mention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4" name="struct.hub.spoke.1"/>
          <p:cNvCxnSpPr/>
          <p:nvPr/>
        </p:nvCxnSpPr>
        <p:spPr>
          <a:xfrm rot="10800000">
            <a:off x="7837533" y="2674283"/>
            <a:ext cx="0" cy="3496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45" name="struct.hub.spoke.2"/>
          <p:cNvCxnSpPr/>
          <p:nvPr/>
        </p:nvCxnSpPr>
        <p:spPr>
          <a:xfrm rot="10800000" flipH="1">
            <a:off x="8036772" y="3175663"/>
            <a:ext cx="398000" cy="1372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46" name="struct.hub.spoke.3"/>
          <p:cNvCxnSpPr/>
          <p:nvPr/>
        </p:nvCxnSpPr>
        <p:spPr>
          <a:xfrm>
            <a:off x="7275987" y="3211668"/>
            <a:ext cx="360800" cy="1008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47" name="struct.hub.spoke.4"/>
          <p:cNvCxnSpPr/>
          <p:nvPr/>
        </p:nvCxnSpPr>
        <p:spPr>
          <a:xfrm>
            <a:off x="7959428" y="3585175"/>
            <a:ext cx="274800" cy="2980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48" name="struct.hub.spoke.5"/>
          <p:cNvCxnSpPr/>
          <p:nvPr/>
        </p:nvCxnSpPr>
        <p:spPr>
          <a:xfrm flipH="1">
            <a:off x="7441024" y="3545456"/>
            <a:ext cx="328400" cy="34440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49" name="struct.hub.ring"/>
          <p:cNvSpPr/>
          <p:nvPr/>
        </p:nvSpPr>
        <p:spPr>
          <a:xfrm>
            <a:off x="7013707" y="2552781"/>
            <a:ext cx="1648000" cy="1648000"/>
          </a:xfrm>
          <a:custGeom>
            <a:avLst/>
            <a:gdLst/>
            <a:ahLst/>
            <a:cxnLst/>
            <a:rect l="0" t="0" r="r" b="b"/>
            <a:pathLst>
              <a:path w="1648000" h="1648000" fill="none">
                <a:moveTo>
                  <a:pt x="824000" y="0"/>
                </a:moveTo>
                <a:cubicBezTo>
                  <a:pt x="1279095" y="0"/>
                  <a:pt x="1648000" y="368905"/>
                  <a:pt x="1648000" y="824000"/>
                </a:cubicBezTo>
                <a:cubicBezTo>
                  <a:pt x="1648000" y="1279095"/>
                  <a:pt x="1279095" y="1648000"/>
                  <a:pt x="824000" y="1648000"/>
                </a:cubicBezTo>
                <a:cubicBezTo>
                  <a:pt x="368905" y="1648000"/>
                  <a:pt x="0" y="1279095"/>
                  <a:pt x="0" y="824000"/>
                </a:cubicBezTo>
                <a:cubicBezTo>
                  <a:pt x="0" y="368905"/>
                  <a:pt x="368905" y="0"/>
                  <a:pt x="824001" y="0"/>
                </a:cubicBezTo>
              </a:path>
            </a:pathLst>
          </a:custGeom>
          <a:noFill/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0" name="struct.hub.core"/>
          <p:cNvSpPr/>
          <p:nvPr/>
        </p:nvSpPr>
        <p:spPr>
          <a:xfrm>
            <a:off x="7500933" y="3023883"/>
            <a:ext cx="673200" cy="673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1" name="struct.source.1.disc"/>
          <p:cNvSpPr/>
          <p:nvPr/>
        </p:nvSpPr>
        <p:spPr>
          <a:xfrm>
            <a:off x="7646031" y="2280705"/>
            <a:ext cx="409600" cy="409600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2" name="struct.source.3.disc"/>
          <p:cNvSpPr/>
          <p:nvPr/>
        </p:nvSpPr>
        <p:spPr>
          <a:xfrm>
            <a:off x="8434772" y="2970863"/>
            <a:ext cx="409600" cy="409600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3" name="struct.source.5.disc"/>
          <p:cNvSpPr/>
          <p:nvPr/>
        </p:nvSpPr>
        <p:spPr>
          <a:xfrm>
            <a:off x="8174243" y="3823191"/>
            <a:ext cx="409600" cy="409600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4" name="struct.source.4.disc"/>
          <p:cNvSpPr/>
          <p:nvPr/>
        </p:nvSpPr>
        <p:spPr>
          <a:xfrm>
            <a:off x="7091409" y="3829872"/>
            <a:ext cx="409600" cy="409600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5" name="struct.source.2.disc"/>
          <p:cNvSpPr/>
          <p:nvPr/>
        </p:nvSpPr>
        <p:spPr>
          <a:xfrm>
            <a:off x="6866387" y="3006868"/>
            <a:ext cx="409600" cy="409600"/>
          </a:xfrm>
          <a:prstGeom prst="ellipse">
            <a:avLst/>
          </a:prstGeom>
          <a:solidFill>
            <a:schemeClr val="bg1"/>
          </a:solidFill>
          <a:ln w="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SzPts val="1100"/>
            </a:pPr>
            <a:endParaRPr sz="1467">
              <a:solidFill>
                <a:schemeClr val="bg1"/>
              </a:solidFill>
            </a:endParaRPr>
          </a:p>
        </p:txBody>
      </p:sp>
      <p:sp>
        <p:nvSpPr>
          <p:cNvPr id="56" name="slot.source.2"/>
          <p:cNvSpPr txBox="1"/>
          <p:nvPr/>
        </p:nvSpPr>
        <p:spPr>
          <a:xfrm>
            <a:off x="6289692" y="2212848"/>
            <a:ext cx="896112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Trial registry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Silent on access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source.4"/>
          <p:cNvSpPr txBox="1"/>
          <p:nvPr/>
        </p:nvSpPr>
        <p:spPr>
          <a:xfrm>
            <a:off x="6435996" y="4315968"/>
            <a:ext cx="1298448" cy="53035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Press archive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Nothing found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source.5"/>
          <p:cNvSpPr txBox="1"/>
          <p:nvPr/>
        </p:nvSpPr>
        <p:spPr>
          <a:xfrm>
            <a:off x="7990476" y="4315968"/>
            <a:ext cx="1298448" cy="53035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Sent with evidence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source.1"/>
          <p:cNvSpPr txBox="1"/>
          <p:nvPr/>
        </p:nvSpPr>
        <p:spPr>
          <a:xfrm>
            <a:off x="7130940" y="1719072"/>
            <a:ext cx="144475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Approved feeds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 match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paths.head"/>
          <p:cNvSpPr/>
          <p:nvPr/>
        </p:nvSpPr>
        <p:spPr>
          <a:xfrm>
            <a:off x="3865974" y="5149416"/>
            <a:ext cx="2299200" cy="257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Same signal, two paths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paths.versus"/>
          <p:cNvSpPr/>
          <p:nvPr/>
        </p:nvSpPr>
        <p:spPr>
          <a:xfrm>
            <a:off x="4791574" y="5512183"/>
            <a:ext cx="448000" cy="448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0" tIns="45700" rIns="0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vs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paths.before.disc"/>
          <p:cNvSpPr/>
          <p:nvPr/>
        </p:nvSpPr>
        <p:spPr>
          <a:xfrm>
            <a:off x="4040054" y="5567083"/>
            <a:ext cx="488000" cy="488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0" tIns="45700" rIns="0" bIns="45700" anchor="ctr" anchorCtr="0">
            <a:noAutofit/>
          </a:bodyPr>
          <a:lstStyle/>
          <a:p/>
        </p:txBody>
      </p:sp>
      <p:sp>
        <p:nvSpPr>
          <p:cNvPr id="63" name="slot.before.body"/>
          <p:cNvSpPr txBox="1"/>
          <p:nvPr/>
        </p:nvSpPr>
        <p:spPr>
          <a:xfrm>
            <a:off x="1996216" y="5552452"/>
            <a:ext cx="1915822" cy="524365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Read and rewritten by hand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Six regions write six versions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lot.before.stat.1"/>
          <p:cNvSpPr/>
          <p:nvPr/>
        </p:nvSpPr>
        <p:spPr>
          <a:xfrm>
            <a:off x="614824" y="5489377"/>
            <a:ext cx="1216800" cy="268400"/>
          </a:xfrm>
          <a:prstGeom prst="roundRect">
            <a:avLst>
              <a:gd name="adj" fmla="val 686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5 days to field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truct.paths.after.disc"/>
          <p:cNvSpPr/>
          <p:nvPr/>
        </p:nvSpPr>
        <p:spPr>
          <a:xfrm>
            <a:off x="5503094" y="5567083"/>
            <a:ext cx="488000" cy="488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0" tIns="45700" rIns="0" bIns="45700" anchor="ctr" anchorCtr="0">
            <a:noAutofit/>
          </a:bodyPr>
          <a:lstStyle/>
          <a:p/>
        </p:txBody>
      </p:sp>
      <p:sp>
        <p:nvSpPr>
          <p:cNvPr id="66" name="slot.after.body"/>
          <p:cNvSpPr txBox="1"/>
          <p:nvPr/>
        </p:nvSpPr>
        <p:spPr>
          <a:xfrm>
            <a:off x="6119110" y="5518719"/>
            <a:ext cx="1915821" cy="58689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Drafted on arrival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Only the held claim needs a person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after.stat.1"/>
          <p:cNvSpPr/>
          <p:nvPr/>
        </p:nvSpPr>
        <p:spPr>
          <a:xfrm>
            <a:off x="8199523" y="5489377"/>
            <a:ext cx="1216800" cy="268400"/>
          </a:xfrm>
          <a:prstGeom prst="roundRect">
            <a:avLst>
              <a:gd name="adj" fmla="val 686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day to field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stage.1.num"/>
          <p:cNvSpPr txBox="1"/>
          <p:nvPr/>
        </p:nvSpPr>
        <p:spPr>
          <a:xfrm>
            <a:off x="940727" y="830700"/>
            <a:ext cx="527200" cy="32752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01</a:t>
            </a:r>
            <a:endParaRPr lang="en-US" sz="1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lot.stage.2.num"/>
          <p:cNvSpPr txBox="1"/>
          <p:nvPr/>
        </p:nvSpPr>
        <p:spPr>
          <a:xfrm>
            <a:off x="3783800" y="830700"/>
            <a:ext cx="558800" cy="32752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1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lot.stage.3.num"/>
          <p:cNvSpPr txBox="1"/>
          <p:nvPr/>
        </p:nvSpPr>
        <p:spPr>
          <a:xfrm>
            <a:off x="7608225" y="830700"/>
            <a:ext cx="504800" cy="32752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03</a:t>
            </a:r>
            <a:endParaRPr lang="en-US" sz="1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lot.stage.4.num"/>
          <p:cNvSpPr txBox="1"/>
          <p:nvPr/>
        </p:nvSpPr>
        <p:spPr>
          <a:xfrm>
            <a:off x="10465719" y="830700"/>
            <a:ext cx="562400" cy="32752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04</a:t>
            </a:r>
            <a:endParaRPr lang="en-US" sz="18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72" name="struct.chevron.1.1"/>
          <p:cNvGrpSpPr/>
          <p:nvPr/>
        </p:nvGrpSpPr>
        <p:grpSpPr>
          <a:xfrm>
            <a:off x="2025576" y="877447"/>
            <a:ext cx="152585" cy="187200"/>
            <a:chOff x="2026956" y="877447"/>
            <a:chExt cx="152585" cy="187200"/>
          </a:xfrm>
          <a:effectLst/>
        </p:grpSpPr>
        <p:sp>
          <p:nvSpPr>
            <p:cNvPr id="73" name="struct.chevron.1.2"/>
            <p:cNvSpPr/>
            <p:nvPr/>
          </p:nvSpPr>
          <p:spPr>
            <a:xfrm rot="5400000">
              <a:off x="2034041" y="919147"/>
              <a:ext cx="187200" cy="1038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  <p:sp>
          <p:nvSpPr>
            <p:cNvPr id="74" name="struct.chevron.1.3"/>
            <p:cNvSpPr/>
            <p:nvPr/>
          </p:nvSpPr>
          <p:spPr>
            <a:xfrm rot="5400000">
              <a:off x="1987206" y="921369"/>
              <a:ext cx="178800" cy="99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</p:grpSp>
      <p:grpSp>
        <p:nvGrpSpPr>
          <p:cNvPr id="75" name="struct.chevron.2.1"/>
          <p:cNvGrpSpPr/>
          <p:nvPr/>
        </p:nvGrpSpPr>
        <p:grpSpPr>
          <a:xfrm>
            <a:off x="6084404" y="877447"/>
            <a:ext cx="152585" cy="187200"/>
            <a:chOff x="6085784" y="877447"/>
            <a:chExt cx="152585" cy="187200"/>
          </a:xfrm>
          <a:effectLst/>
        </p:grpSpPr>
        <p:sp>
          <p:nvSpPr>
            <p:cNvPr id="76" name="struct.chevron.2.2"/>
            <p:cNvSpPr/>
            <p:nvPr/>
          </p:nvSpPr>
          <p:spPr>
            <a:xfrm rot="5400000">
              <a:off x="6092869" y="919147"/>
              <a:ext cx="187200" cy="1038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  <p:sp>
          <p:nvSpPr>
            <p:cNvPr id="77" name="struct.chevron.2.3"/>
            <p:cNvSpPr/>
            <p:nvPr/>
          </p:nvSpPr>
          <p:spPr>
            <a:xfrm rot="5400000">
              <a:off x="6046034" y="921369"/>
              <a:ext cx="178800" cy="99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</p:grpSp>
      <p:grpSp>
        <p:nvGrpSpPr>
          <p:cNvPr id="78" name="struct.chevron.3.1"/>
          <p:cNvGrpSpPr/>
          <p:nvPr/>
        </p:nvGrpSpPr>
        <p:grpSpPr>
          <a:xfrm>
            <a:off x="9544172" y="877447"/>
            <a:ext cx="152585" cy="187200"/>
            <a:chOff x="9545552" y="877447"/>
            <a:chExt cx="152585" cy="187200"/>
          </a:xfrm>
          <a:effectLst/>
        </p:grpSpPr>
        <p:sp>
          <p:nvSpPr>
            <p:cNvPr id="79" name="struct.chevron.3.2"/>
            <p:cNvSpPr/>
            <p:nvPr/>
          </p:nvSpPr>
          <p:spPr>
            <a:xfrm rot="5400000">
              <a:off x="9552637" y="919147"/>
              <a:ext cx="187200" cy="1038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  <p:sp>
          <p:nvSpPr>
            <p:cNvPr id="80" name="struct.chevron.3.3"/>
            <p:cNvSpPr/>
            <p:nvPr/>
          </p:nvSpPr>
          <p:spPr>
            <a:xfrm rot="5400000">
              <a:off x="9505802" y="921369"/>
              <a:ext cx="178800" cy="99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71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>
                <a:buSzPts val="1100"/>
              </a:pPr>
              <a:endParaRPr sz="1467">
                <a:solidFill>
                  <a:schemeClr val="bg1"/>
                </a:solidFill>
              </a:endParaRPr>
            </a:p>
          </p:txBody>
        </p:sp>
      </p:grpSp>
      <p:sp>
        <p:nvSpPr>
          <p:cNvPr id="81" name="slot.before.head"/>
          <p:cNvSpPr txBox="1"/>
          <p:nvPr/>
        </p:nvSpPr>
        <p:spPr>
          <a:xfrm>
            <a:off x="678832" y="5157216"/>
            <a:ext cx="2341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Today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slot.after.head"/>
          <p:cNvSpPr txBox="1"/>
          <p:nvPr/>
        </p:nvSpPr>
        <p:spPr>
          <a:xfrm>
            <a:off x="7393915" y="5157216"/>
            <a:ext cx="1958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With the service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lot.before.stat.2"/>
          <p:cNvSpPr/>
          <p:nvPr/>
        </p:nvSpPr>
        <p:spPr>
          <a:xfrm>
            <a:off x="614824" y="5856161"/>
            <a:ext cx="1216800" cy="268400"/>
          </a:xfrm>
          <a:prstGeom prst="roundRect">
            <a:avLst>
              <a:gd name="adj" fmla="val 686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6 versions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slot.after.stat.2"/>
          <p:cNvSpPr/>
          <p:nvPr/>
        </p:nvSpPr>
        <p:spPr>
          <a:xfrm>
            <a:off x="8199523" y="5856161"/>
            <a:ext cx="1216800" cy="268400"/>
          </a:xfrm>
          <a:prstGeom prst="roundRect">
            <a:avLst>
              <a:gd name="adj" fmla="val 6866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page</a:t>
            </a:r>
            <a:endParaRPr lang="en-US" sz="1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slot.field.5.icon"/>
          <p:cNvSpPr/>
          <p:nvPr/>
        </p:nvSpPr>
        <p:spPr>
          <a:xfrm>
            <a:off x="1735980" y="4325112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730" y="18000"/>
                </a:moveTo>
                <a:lnTo>
                  <a:pt x="13730" y="4000"/>
                </a:lnTo>
                <a:cubicBezTo>
                  <a:pt x="13375" y="3373"/>
                  <a:pt x="12710" y="2986"/>
                  <a:pt x="11990" y="2986"/>
                </a:cubicBezTo>
                <a:cubicBezTo>
                  <a:pt x="11270" y="2986"/>
                  <a:pt x="10605" y="3373"/>
                  <a:pt x="10250" y="4000"/>
                </a:cubicBezTo>
                <a:lnTo>
                  <a:pt x="2250" y="18000"/>
                </a:lnTo>
                <a:cubicBezTo>
                  <a:pt x="1891" y="18622"/>
                  <a:pt x="1893" y="19388"/>
                  <a:pt x="2254" y="20008"/>
                </a:cubicBezTo>
                <a:cubicBezTo>
                  <a:pt x="2616" y="20628"/>
                  <a:pt x="3282" y="21006"/>
                  <a:pt x="4000" y="21000"/>
                </a:cubicBezTo>
                <a:lnTo>
                  <a:pt x="20000" y="21000"/>
                </a:lnTo>
                <a:cubicBezTo>
                  <a:pt x="20714" y="20999"/>
                  <a:pt x="21374" y="20618"/>
                  <a:pt x="21731" y="19999"/>
                </a:cubicBezTo>
                <a:cubicBezTo>
                  <a:pt x="22087" y="19380"/>
                  <a:pt x="22087" y="18618"/>
                  <a:pt x="21730" y="18000"/>
                </a:cubicBezTo>
                <a:moveTo>
                  <a:pt x="12000" y="9000"/>
                </a:moveTo>
                <a:lnTo>
                  <a:pt x="12000" y="13000"/>
                </a:ln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1397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5" name="slot.check.1.icon"/>
          <p:cNvSpPr/>
          <p:nvPr/>
        </p:nvSpPr>
        <p:spPr>
          <a:xfrm>
            <a:off x="2440068" y="172638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3000"/>
                </a:moveTo>
                <a:cubicBezTo>
                  <a:pt x="10869" y="14162"/>
                  <a:pt x="12200" y="14889"/>
                  <a:pt x="13647" y="14992"/>
                </a:cubicBezTo>
                <a:cubicBezTo>
                  <a:pt x="15094" y="15096"/>
                  <a:pt x="16514" y="14566"/>
                  <a:pt x="17540" y="13540"/>
                </a:cubicBezTo>
                <a:lnTo>
                  <a:pt x="20540" y="10540"/>
                </a:lnTo>
                <a:cubicBezTo>
                  <a:pt x="22435" y="8578"/>
                  <a:pt x="22408" y="5460"/>
                  <a:pt x="20479" y="3531"/>
                </a:cubicBezTo>
                <a:cubicBezTo>
                  <a:pt x="18550" y="1602"/>
                  <a:pt x="15432" y="1575"/>
                  <a:pt x="13470" y="3470"/>
                </a:cubicBezTo>
                <a:lnTo>
                  <a:pt x="11750" y="5180"/>
                </a:lnTo>
                <a:moveTo>
                  <a:pt x="14000" y="11000"/>
                </a:moveTo>
                <a:cubicBezTo>
                  <a:pt x="13131" y="9838"/>
                  <a:pt x="11800" y="9111"/>
                  <a:pt x="10353" y="9008"/>
                </a:cubicBezTo>
                <a:cubicBezTo>
                  <a:pt x="8906" y="8904"/>
                  <a:pt x="7486" y="9434"/>
                  <a:pt x="6460" y="10460"/>
                </a:cubicBezTo>
                <a:lnTo>
                  <a:pt x="3460" y="13460"/>
                </a:lnTo>
                <a:cubicBezTo>
                  <a:pt x="1565" y="15422"/>
                  <a:pt x="1592" y="18540"/>
                  <a:pt x="3521" y="20469"/>
                </a:cubicBezTo>
                <a:cubicBezTo>
                  <a:pt x="5450" y="22398"/>
                  <a:pt x="8568" y="22425"/>
                  <a:pt x="10530" y="20530"/>
                </a:cubicBezTo>
                <a:lnTo>
                  <a:pt x="12240" y="1882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6" name="slot.check.2.icon"/>
          <p:cNvSpPr/>
          <p:nvPr/>
        </p:nvSpPr>
        <p:spPr>
          <a:xfrm>
            <a:off x="3211822" y="172638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7" name="slot.check.3.icon"/>
          <p:cNvSpPr/>
          <p:nvPr/>
        </p:nvSpPr>
        <p:spPr>
          <a:xfrm>
            <a:off x="3984490" y="172638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586" y="2586"/>
                </a:moveTo>
                <a:cubicBezTo>
                  <a:pt x="12211" y="2211"/>
                  <a:pt x="11702" y="2000"/>
                  <a:pt x="11172" y="2000"/>
                </a:cubicBezTo>
                <a:lnTo>
                  <a:pt x="4000" y="2000"/>
                </a:lnTo>
                <a:cubicBezTo>
                  <a:pt x="2895" y="2000"/>
                  <a:pt x="2000" y="2895"/>
                  <a:pt x="2000" y="4000"/>
                </a:cubicBezTo>
                <a:lnTo>
                  <a:pt x="2000" y="11172"/>
                </a:lnTo>
                <a:cubicBezTo>
                  <a:pt x="2000" y="11702"/>
                  <a:pt x="2211" y="12211"/>
                  <a:pt x="2586" y="12586"/>
                </a:cubicBezTo>
                <a:lnTo>
                  <a:pt x="11290" y="21290"/>
                </a:lnTo>
                <a:cubicBezTo>
                  <a:pt x="12236" y="22230"/>
                  <a:pt x="13764" y="22230"/>
                  <a:pt x="14710" y="21290"/>
                </a:cubicBezTo>
                <a:lnTo>
                  <a:pt x="21290" y="14710"/>
                </a:lnTo>
                <a:cubicBezTo>
                  <a:pt x="22230" y="13764"/>
                  <a:pt x="22230" y="12236"/>
                  <a:pt x="21290" y="11290"/>
                </a:cubicBezTo>
                <a:close/>
              </a:path>
              <a:path w="24000" h="24000">
                <a:moveTo>
                  <a:pt x="8000" y="7500"/>
                </a:moveTo>
                <a:cubicBezTo>
                  <a:pt x="8000" y="7776"/>
                  <a:pt x="7776" y="8000"/>
                  <a:pt x="7500" y="8000"/>
                </a:cubicBezTo>
                <a:cubicBezTo>
                  <a:pt x="7224" y="8000"/>
                  <a:pt x="7000" y="7776"/>
                  <a:pt x="7000" y="7500"/>
                </a:cubicBezTo>
                <a:cubicBezTo>
                  <a:pt x="7000" y="7224"/>
                  <a:pt x="7224" y="7000"/>
                  <a:pt x="7500" y="7000"/>
                </a:cubicBezTo>
                <a:cubicBezTo>
                  <a:pt x="7776" y="7000"/>
                  <a:pt x="8000" y="7224"/>
                  <a:pt x="8000" y="7500"/>
                </a:cubicBezTo>
                <a:close/>
              </a:path>
            </a:pathLst>
          </a:custGeom>
          <a:solidFill>
            <a:schemeClr val="accent1"/>
          </a:solidFill>
          <a:ln w="1841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8" name="slot.check.4.icon"/>
          <p:cNvSpPr/>
          <p:nvPr/>
        </p:nvSpPr>
        <p:spPr>
          <a:xfrm>
            <a:off x="4757158" y="172638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0000"/>
                </a:moveTo>
                <a:cubicBezTo>
                  <a:pt x="20000" y="14993"/>
                  <a:pt x="14461" y="20193"/>
                  <a:pt x="12601" y="21799"/>
                </a:cubicBezTo>
                <a:cubicBezTo>
                  <a:pt x="12245" y="22067"/>
                  <a:pt x="11755" y="22067"/>
                  <a:pt x="11399" y="21799"/>
                </a:cubicBezTo>
                <a:cubicBezTo>
                  <a:pt x="9539" y="20193"/>
                  <a:pt x="4000" y="14993"/>
                  <a:pt x="4000" y="10000"/>
                </a:cubicBezTo>
                <a:cubicBezTo>
                  <a:pt x="4000" y="5582"/>
                  <a:pt x="7582" y="2000"/>
                  <a:pt x="12000" y="2000"/>
                </a:cubicBezTo>
                <a:cubicBezTo>
                  <a:pt x="16418" y="2000"/>
                  <a:pt x="20000" y="5582"/>
                  <a:pt x="20000" y="10000"/>
                </a:cubicBezTo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9" name="slot.check.5.icon"/>
          <p:cNvSpPr/>
          <p:nvPr/>
        </p:nvSpPr>
        <p:spPr>
          <a:xfrm>
            <a:off x="5555429" y="172638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3000"/>
                </a:moveTo>
                <a:lnTo>
                  <a:pt x="12000" y="21000"/>
                </a:lnTo>
                <a:moveTo>
                  <a:pt x="19000" y="8000"/>
                </a:moveTo>
                <a:lnTo>
                  <a:pt x="22000" y="16000"/>
                </a:lnTo>
                <a:cubicBezTo>
                  <a:pt x="20222" y="17333"/>
                  <a:pt x="17778" y="17333"/>
                  <a:pt x="16000" y="16000"/>
                </a:cubicBezTo>
                <a:close/>
                <a:moveTo>
                  <a:pt x="19000" y="8000"/>
                </a:moveTo>
                <a:lnTo>
                  <a:pt x="19000" y="7000"/>
                </a:lnTo>
                <a:moveTo>
                  <a:pt x="3000" y="7000"/>
                </a:moveTo>
                <a:lnTo>
                  <a:pt x="4000" y="7000"/>
                </a:lnTo>
                <a:cubicBezTo>
                  <a:pt x="6790" y="7000"/>
                  <a:pt x="9538" y="6313"/>
                  <a:pt x="12000" y="5000"/>
                </a:cubicBezTo>
                <a:cubicBezTo>
                  <a:pt x="14462" y="6313"/>
                  <a:pt x="17210" y="7000"/>
                  <a:pt x="20000" y="7000"/>
                </a:cubicBezTo>
                <a:lnTo>
                  <a:pt x="21000" y="7000"/>
                </a:lnTo>
                <a:moveTo>
                  <a:pt x="5000" y="8000"/>
                </a:moveTo>
                <a:lnTo>
                  <a:pt x="8000" y="16000"/>
                </a:lnTo>
                <a:cubicBezTo>
                  <a:pt x="6222" y="17333"/>
                  <a:pt x="3778" y="17333"/>
                  <a:pt x="2000" y="16000"/>
                </a:cubicBezTo>
                <a:close/>
                <a:moveTo>
                  <a:pt x="5000" y="8000"/>
                </a:moveTo>
                <a:lnTo>
                  <a:pt x="5000" y="7000"/>
                </a:lnTo>
                <a:moveTo>
                  <a:pt x="7000" y="21000"/>
                </a:moveTo>
                <a:lnTo>
                  <a:pt x="17000" y="21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1" name="slot.source.1.icon"/>
          <p:cNvSpPr/>
          <p:nvPr/>
        </p:nvSpPr>
        <p:spPr>
          <a:xfrm>
            <a:off x="7749074" y="2383841"/>
            <a:ext cx="202997" cy="20299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1714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2" name="slot.source.2.icon"/>
          <p:cNvSpPr/>
          <p:nvPr/>
        </p:nvSpPr>
        <p:spPr>
          <a:xfrm>
            <a:off x="6969091" y="3109874"/>
            <a:ext cx="202997" cy="20299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11693"/>
                </a:moveTo>
                <a:lnTo>
                  <a:pt x="21000" y="5000"/>
                </a:lnTo>
                <a:moveTo>
                  <a:pt x="22000" y="22000"/>
                </a:moveTo>
                <a:lnTo>
                  <a:pt x="20125" y="20125"/>
                </a:lnTo>
                <a:moveTo>
                  <a:pt x="3000" y="12000"/>
                </a:moveTo>
                <a:cubicBezTo>
                  <a:pt x="3000" y="13617"/>
                  <a:pt x="6847" y="14944"/>
                  <a:pt x="11697" y="14998"/>
                </a:cubicBezTo>
                <a:moveTo>
                  <a:pt x="3000" y="5000"/>
                </a:moveTo>
                <a:lnTo>
                  <a:pt x="3000" y="19000"/>
                </a:lnTo>
                <a:cubicBezTo>
                  <a:pt x="3000" y="19812"/>
                  <a:pt x="3987" y="20589"/>
                  <a:pt x="5735" y="21154"/>
                </a:cubicBezTo>
                <a:cubicBezTo>
                  <a:pt x="7484" y="21720"/>
                  <a:pt x="9845" y="22024"/>
                  <a:pt x="12280" y="21999"/>
                </a:cubicBezTo>
                <a:moveTo>
                  <a:pt x="21000" y="18000"/>
                </a:moveTo>
                <a:cubicBezTo>
                  <a:pt x="21000" y="19657"/>
                  <a:pt x="19657" y="21000"/>
                  <a:pt x="18000" y="21000"/>
                </a:cubicBezTo>
                <a:cubicBezTo>
                  <a:pt x="16343" y="21000"/>
                  <a:pt x="15000" y="19657"/>
                  <a:pt x="15000" y="18000"/>
                </a:cubicBezTo>
                <a:cubicBezTo>
                  <a:pt x="15000" y="16343"/>
                  <a:pt x="16343" y="15000"/>
                  <a:pt x="18000" y="15000"/>
                </a:cubicBezTo>
                <a:cubicBezTo>
                  <a:pt x="19657" y="15000"/>
                  <a:pt x="21000" y="16343"/>
                  <a:pt x="21000" y="18000"/>
                </a:cubicBezTo>
                <a:close/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</a:path>
            </a:pathLst>
          </a:custGeom>
          <a:noFill/>
          <a:ln w="1714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3" name="slot.source.3.icon"/>
          <p:cNvSpPr/>
          <p:nvPr/>
        </p:nvSpPr>
        <p:spPr>
          <a:xfrm>
            <a:off x="8538202" y="3074213"/>
            <a:ext cx="202997" cy="20299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7000"/>
                </a:moveTo>
                <a:cubicBezTo>
                  <a:pt x="22000" y="18105"/>
                  <a:pt x="21105" y="19000"/>
                  <a:pt x="20000" y="19000"/>
                </a:cubicBezTo>
                <a:lnTo>
                  <a:pt x="6828" y="19000"/>
                </a:lnTo>
                <a:cubicBezTo>
                  <a:pt x="6298" y="19000"/>
                  <a:pt x="5789" y="19211"/>
                  <a:pt x="5414" y="19586"/>
                </a:cubicBezTo>
                <a:lnTo>
                  <a:pt x="3212" y="21788"/>
                </a:lnTo>
                <a:cubicBezTo>
                  <a:pt x="3009" y="21991"/>
                  <a:pt x="2704" y="22052"/>
                  <a:pt x="2438" y="21942"/>
                </a:cubicBezTo>
                <a:cubicBezTo>
                  <a:pt x="2173" y="21832"/>
                  <a:pt x="2000" y="21573"/>
                  <a:pt x="2000" y="21286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close/>
              </a:path>
            </a:pathLst>
          </a:custGeom>
          <a:noFill/>
          <a:ln w="1714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4" name="slot.source.4.icon"/>
          <p:cNvSpPr/>
          <p:nvPr/>
        </p:nvSpPr>
        <p:spPr>
          <a:xfrm>
            <a:off x="7194948" y="3932834"/>
            <a:ext cx="202997" cy="20299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2000"/>
                </a:moveTo>
                <a:cubicBezTo>
                  <a:pt x="6667" y="7600"/>
                  <a:pt x="6667" y="16400"/>
                  <a:pt x="12000" y="22000"/>
                </a:cubicBezTo>
                <a:cubicBezTo>
                  <a:pt x="17333" y="16400"/>
                  <a:pt x="17333" y="7600"/>
                  <a:pt x="12000" y="2000"/>
                </a:cubicBezTo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1714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5" name="slot.source.5.icon"/>
          <p:cNvSpPr/>
          <p:nvPr/>
        </p:nvSpPr>
        <p:spPr>
          <a:xfrm>
            <a:off x="8277598" y="3926434"/>
            <a:ext cx="202997" cy="202997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714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6" name="slot.outcome.1.icon"/>
          <p:cNvSpPr/>
          <p:nvPr/>
        </p:nvSpPr>
        <p:spPr>
          <a:xfrm>
            <a:off x="9718692" y="189280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7" name="slot.outcome.2.icon"/>
          <p:cNvSpPr/>
          <p:nvPr/>
        </p:nvSpPr>
        <p:spPr>
          <a:xfrm>
            <a:off x="9718692" y="283849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12000" y="8000"/>
                </a:moveTo>
                <a:lnTo>
                  <a:pt x="12000" y="12000"/>
                </a:lnTo>
                <a:moveTo>
                  <a:pt x="12000" y="16000"/>
                </a:moveTo>
                <a:lnTo>
                  <a:pt x="12010" y="16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8" name="slot.outcome.3.icon"/>
          <p:cNvSpPr/>
          <p:nvPr/>
        </p:nvSpPr>
        <p:spPr>
          <a:xfrm>
            <a:off x="9718692" y="378418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19" name="slot.outcome.4.icon"/>
          <p:cNvSpPr/>
          <p:nvPr/>
        </p:nvSpPr>
        <p:spPr>
          <a:xfrm>
            <a:off x="9718692" y="4729865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5000"/>
                </a:moveTo>
                <a:lnTo>
                  <a:pt x="3000" y="5000"/>
                </a:lnTo>
                <a:moveTo>
                  <a:pt x="12000" y="19000"/>
                </a:moveTo>
                <a:lnTo>
                  <a:pt x="3000" y="19000"/>
                </a:lnTo>
                <a:moveTo>
                  <a:pt x="14000" y="3000"/>
                </a:moveTo>
                <a:lnTo>
                  <a:pt x="14000" y="7000"/>
                </a:lnTo>
                <a:moveTo>
                  <a:pt x="16000" y="17000"/>
                </a:moveTo>
                <a:lnTo>
                  <a:pt x="16000" y="21000"/>
                </a:lnTo>
                <a:moveTo>
                  <a:pt x="21000" y="12000"/>
                </a:moveTo>
                <a:lnTo>
                  <a:pt x="12000" y="12000"/>
                </a:lnTo>
                <a:moveTo>
                  <a:pt x="21000" y="19000"/>
                </a:moveTo>
                <a:lnTo>
                  <a:pt x="16000" y="19000"/>
                </a:lnTo>
                <a:moveTo>
                  <a:pt x="21000" y="5000"/>
                </a:moveTo>
                <a:lnTo>
                  <a:pt x="14000" y="5000"/>
                </a:lnTo>
                <a:moveTo>
                  <a:pt x="8000" y="10000"/>
                </a:moveTo>
                <a:lnTo>
                  <a:pt x="8000" y="14000"/>
                </a:lnTo>
                <a:moveTo>
                  <a:pt x="8000" y="12000"/>
                </a:moveTo>
                <a:lnTo>
                  <a:pt x="3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20" name="slot.outcome.5.icon"/>
          <p:cNvSpPr/>
          <p:nvPr/>
        </p:nvSpPr>
        <p:spPr>
          <a:xfrm>
            <a:off x="9718692" y="5675551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21" name="slot.paths.before.icon"/>
          <p:cNvSpPr/>
          <p:nvPr/>
        </p:nvSpPr>
        <p:spPr>
          <a:xfrm>
            <a:off x="4147414" y="5674443"/>
            <a:ext cx="273280" cy="2732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22" name="slot.paths.after.icon"/>
          <p:cNvSpPr/>
          <p:nvPr/>
        </p:nvSpPr>
        <p:spPr>
          <a:xfrm>
            <a:off x="5610454" y="5674443"/>
            <a:ext cx="273280" cy="2732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23" name="slot.hub.icon"/>
          <p:cNvSpPr/>
          <p:nvPr/>
        </p:nvSpPr>
        <p:spPr>
          <a:xfrm>
            <a:off x="7632031" y="315468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3429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nvergence-hub:nested-core-feeders-outcomes">
    <p:spTree>
      <p:nvGrpSpPr>
        <p:cNvPr id="1" name=""/>
        <p:cNvGrpSpPr/>
        <p:nvPr/>
      </p:nvGrpSpPr>
      <p:grpSpPr/>
      <p:sp>
        <p:nvSpPr>
          <p:cNvPr id="2" name="struct.hub.outer"/>
          <p:cNvSpPr/>
          <p:nvPr/>
        </p:nvSpPr>
        <p:spPr>
          <a:xfrm>
            <a:off x="4123944" y="978408"/>
            <a:ext cx="3950208" cy="5111496"/>
          </a:xfrm>
          <a:prstGeom prst="roundRect">
            <a:avLst>
              <a:gd name="adj" fmla="val 1157"/>
            </a:avLst>
          </a:prstGeom>
          <a:solidFill>
            <a:schemeClr val="bg1">
              <a:lumMod val="95000"/>
            </a:schemeClr>
          </a:solidFill>
          <a:ln cap="flat" cmpd="sng" w="9525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truct.hub.inner"/>
          <p:cNvSpPr/>
          <p:nvPr/>
        </p:nvSpPr>
        <p:spPr>
          <a:xfrm>
            <a:off x="4425696" y="1344168"/>
            <a:ext cx="3337560" cy="4645152"/>
          </a:xfrm>
          <a:prstGeom prst="roundRect">
            <a:avLst>
              <a:gd name="adj" fmla="val 1369"/>
            </a:avLst>
          </a:prstGeom>
          <a:solidFill>
            <a:schemeClr val="bg1">
              <a:lumMod val="95000"/>
            </a:schemeClr>
          </a:solidFill>
          <a:ln cap="flat" cmpd="sng" w="9525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truct.hub.core"/>
          <p:cNvSpPr/>
          <p:nvPr/>
        </p:nvSpPr>
        <p:spPr>
          <a:xfrm>
            <a:off x="4727448" y="1801368"/>
            <a:ext cx="2743200" cy="4087368"/>
          </a:xfrm>
          <a:prstGeom prst="roundRect">
            <a:avLst>
              <a:gd name="adj" fmla="val 166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struct.step.rule.1"/>
          <p:cNvSpPr/>
          <p:nvPr/>
        </p:nvSpPr>
        <p:spPr>
          <a:xfrm>
            <a:off x="4846320" y="3131820"/>
            <a:ext cx="2496312" cy="91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struct.step.rule.2"/>
          <p:cNvSpPr/>
          <p:nvPr/>
        </p:nvSpPr>
        <p:spPr>
          <a:xfrm>
            <a:off x="4846320" y="4027932"/>
            <a:ext cx="2496312" cy="91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truct.step.rule.3"/>
          <p:cNvSpPr/>
          <p:nvPr/>
        </p:nvSpPr>
        <p:spPr>
          <a:xfrm>
            <a:off x="4846320" y="4924044"/>
            <a:ext cx="2496312" cy="914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truct.feeder.1"/>
          <p:cNvSpPr/>
          <p:nvPr/>
        </p:nvSpPr>
        <p:spPr>
          <a:xfrm>
            <a:off x="457200" y="97840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struct.feeder.1.tile"/>
          <p:cNvSpPr/>
          <p:nvPr/>
        </p:nvSpPr>
        <p:spPr>
          <a:xfrm>
            <a:off x="590550" y="111823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truct.feeder.2"/>
          <p:cNvSpPr/>
          <p:nvPr/>
        </p:nvSpPr>
        <p:spPr>
          <a:xfrm>
            <a:off x="457200" y="184708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truct.feeder.2.tile"/>
          <p:cNvSpPr/>
          <p:nvPr/>
        </p:nvSpPr>
        <p:spPr>
          <a:xfrm>
            <a:off x="590550" y="198691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struct.feeder.3"/>
          <p:cNvSpPr/>
          <p:nvPr/>
        </p:nvSpPr>
        <p:spPr>
          <a:xfrm>
            <a:off x="457200" y="271576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struct.feeder.3.tile"/>
          <p:cNvSpPr/>
          <p:nvPr/>
        </p:nvSpPr>
        <p:spPr>
          <a:xfrm>
            <a:off x="590550" y="285559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struct.feeder.4"/>
          <p:cNvSpPr/>
          <p:nvPr/>
        </p:nvSpPr>
        <p:spPr>
          <a:xfrm>
            <a:off x="457200" y="358444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truct.feeder.4.tile"/>
          <p:cNvSpPr/>
          <p:nvPr/>
        </p:nvSpPr>
        <p:spPr>
          <a:xfrm>
            <a:off x="590550" y="372427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truct.feeder.5"/>
          <p:cNvSpPr/>
          <p:nvPr/>
        </p:nvSpPr>
        <p:spPr>
          <a:xfrm>
            <a:off x="457200" y="445312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truct.feeder.5.tile"/>
          <p:cNvSpPr/>
          <p:nvPr/>
        </p:nvSpPr>
        <p:spPr>
          <a:xfrm>
            <a:off x="590550" y="459295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struct.feeder.6"/>
          <p:cNvSpPr/>
          <p:nvPr/>
        </p:nvSpPr>
        <p:spPr>
          <a:xfrm>
            <a:off x="457200" y="5321808"/>
            <a:ext cx="27432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truct.feeder.6.tile"/>
          <p:cNvSpPr/>
          <p:nvPr/>
        </p:nvSpPr>
        <p:spPr>
          <a:xfrm>
            <a:off x="590550" y="5461635"/>
            <a:ext cx="476250" cy="476250"/>
          </a:xfrm>
          <a:prstGeom prst="roundRect">
            <a:avLst>
              <a:gd fmla="val 15385" name="adj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struct.outcome.1"/>
          <p:cNvSpPr/>
          <p:nvPr/>
        </p:nvSpPr>
        <p:spPr>
          <a:xfrm>
            <a:off x="8668512" y="978408"/>
            <a:ext cx="3127248" cy="890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18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truct.outcome.2"/>
          <p:cNvSpPr/>
          <p:nvPr/>
        </p:nvSpPr>
        <p:spPr>
          <a:xfrm>
            <a:off x="8668512" y="2033625"/>
            <a:ext cx="3127248" cy="890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9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truct.outcome.3"/>
          <p:cNvSpPr/>
          <p:nvPr/>
        </p:nvSpPr>
        <p:spPr>
          <a:xfrm>
            <a:off x="8668512" y="3088843"/>
            <a:ext cx="3127248" cy="890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9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struct.outcome.4"/>
          <p:cNvSpPr/>
          <p:nvPr/>
        </p:nvSpPr>
        <p:spPr>
          <a:xfrm>
            <a:off x="8668512" y="4144060"/>
            <a:ext cx="3127248" cy="890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9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struct.outcome.5"/>
          <p:cNvSpPr/>
          <p:nvPr/>
        </p:nvSpPr>
        <p:spPr>
          <a:xfrm>
            <a:off x="8668512" y="5199278"/>
            <a:ext cx="3127248" cy="890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  <a:endParaRPr sz="900">
              <a:solidFill>
                <a:schemeClr val="tx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slot.title"/>
          <p:cNvSpPr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Six feeds converge on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governed signal ledger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behind every brief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hub.outer.label"/>
          <p:cNvSpPr/>
          <p:nvPr/>
        </p:nvSpPr>
        <p:spPr>
          <a:xfrm>
            <a:off x="4187952" y="1042415"/>
            <a:ext cx="381304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Governed signal ledger on RDS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hub.inner.label"/>
          <p:cNvSpPr/>
          <p:nvPr/>
        </p:nvSpPr>
        <p:spPr>
          <a:xfrm>
            <a:off x="4480560" y="1408176"/>
            <a:ext cx="3218688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Approved sources, Cognito role access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hub.core.label"/>
          <p:cNvSpPr/>
          <p:nvPr/>
        </p:nvSpPr>
        <p:spPr>
          <a:xfrm>
            <a:off x="4782312" y="1865376"/>
            <a:ext cx="263347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Brief services on Bedrock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feeder.1.text"/>
          <p:cNvSpPr/>
          <p:nvPr/>
        </p:nvSpPr>
        <p:spPr>
          <a:xfrm>
            <a:off x="1161288" y="103327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Regulatory notices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Label changes and safety alerts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feeder.2.text"/>
          <p:cNvSpPr/>
          <p:nvPr/>
        </p:nvSpPr>
        <p:spPr>
          <a:xfrm>
            <a:off x="1161288" y="190195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Trial registries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New arms, endpoints and status changes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feeder.3.text"/>
          <p:cNvSpPr/>
          <p:nvPr/>
        </p:nvSpPr>
        <p:spPr>
          <a:xfrm>
            <a:off x="1161288" y="277063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Congress abstracts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Posters and late-breaking data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feeder.4.text"/>
          <p:cNvSpPr/>
          <p:nvPr/>
        </p:nvSpPr>
        <p:spPr>
          <a:xfrm>
            <a:off x="1161288" y="363931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Press and payer news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Launch timing and access decisions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lot.feeder.5.text"/>
          <p:cNvSpPr/>
          <p:nvPr/>
        </p:nvSpPr>
        <p:spPr>
          <a:xfrm>
            <a:off x="1161288" y="450799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Field notes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What reps hear on calls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lot.feeder.6.text"/>
          <p:cNvSpPr/>
          <p:nvPr/>
        </p:nvSpPr>
        <p:spPr>
          <a:xfrm>
            <a:off x="1161288" y="5376672"/>
            <a:ext cx="1965960" cy="6492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Brand plans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Priorities for all three brands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step.1.num"/>
          <p:cNvSpPr/>
          <p:nvPr/>
        </p:nvSpPr>
        <p:spPr>
          <a:xfrm>
            <a:off x="4791456" y="2459736"/>
            <a:ext cx="420624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</a:t>
            </a:r>
            <a:endParaRPr lang="en-US" sz="1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step.1.head"/>
          <p:cNvSpPr/>
          <p:nvPr/>
        </p:nvSpPr>
        <p:spPr>
          <a:xfrm>
            <a:off x="5239512" y="2432304"/>
            <a:ext cx="18288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Scan once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lot.step.1.body"/>
          <p:cNvSpPr/>
          <p:nvPr/>
        </p:nvSpPr>
        <p:spPr>
          <a:xfrm>
            <a:off x="5239512" y="2679192"/>
            <a:ext cx="2157984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daily pass per feed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step.2.num"/>
          <p:cNvSpPr/>
          <p:nvPr/>
        </p:nvSpPr>
        <p:spPr>
          <a:xfrm>
            <a:off x="4791456" y="3355848"/>
            <a:ext cx="420624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02</a:t>
            </a:r>
            <a:endParaRPr lang="en-US" sz="1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step.2.head"/>
          <p:cNvSpPr/>
          <p:nvPr/>
        </p:nvSpPr>
        <p:spPr>
          <a:xfrm>
            <a:off x="5239512" y="3328416"/>
            <a:ext cx="18288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Match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step.2.body"/>
          <p:cNvSpPr/>
          <p:nvPr/>
        </p:nvSpPr>
        <p:spPr>
          <a:xfrm>
            <a:off x="5239512" y="3575304"/>
            <a:ext cx="2157984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Each signal tied to a brand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step.3.num"/>
          <p:cNvSpPr/>
          <p:nvPr/>
        </p:nvSpPr>
        <p:spPr>
          <a:xfrm>
            <a:off x="4791456" y="4251960"/>
            <a:ext cx="420624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03</a:t>
            </a:r>
            <a:endParaRPr lang="en-US" sz="1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step.3.head"/>
          <p:cNvSpPr/>
          <p:nvPr/>
        </p:nvSpPr>
        <p:spPr>
          <a:xfrm>
            <a:off x="5239512" y="4224528"/>
            <a:ext cx="18288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Control access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step.3.body"/>
          <p:cNvSpPr/>
          <p:nvPr/>
        </p:nvSpPr>
        <p:spPr>
          <a:xfrm>
            <a:off x="5239512" y="4471416"/>
            <a:ext cx="2157984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Role rules per territory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step.4.num"/>
          <p:cNvSpPr/>
          <p:nvPr/>
        </p:nvSpPr>
        <p:spPr>
          <a:xfrm>
            <a:off x="4791456" y="5148072"/>
            <a:ext cx="420624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04</a:t>
            </a:r>
            <a:endParaRPr lang="en-US" sz="1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step.4.head"/>
          <p:cNvSpPr/>
          <p:nvPr/>
        </p:nvSpPr>
        <p:spPr>
          <a:xfrm>
            <a:off x="5239512" y="5120640"/>
            <a:ext cx="182880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Serve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step.4.body"/>
          <p:cNvSpPr/>
          <p:nvPr/>
        </p:nvSpPr>
        <p:spPr>
          <a:xfrm>
            <a:off x="5239512" y="5367527"/>
            <a:ext cx="2157984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brief per territory</a:t>
            </a:r>
            <a:endParaRPr lang="en-US" sz="10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outcome.1.head"/>
          <p:cNvSpPr/>
          <p:nvPr/>
        </p:nvSpPr>
        <p:spPr>
          <a:xfrm>
            <a:off x="9198864" y="1115568"/>
            <a:ext cx="250545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Faster field briefs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lot.outcome.1.body"/>
          <p:cNvSpPr/>
          <p:nvPr/>
        </p:nvSpPr>
        <p:spPr>
          <a:xfrm>
            <a:off x="8796528" y="1417320"/>
            <a:ext cx="290779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competitor move reaches reps in one day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outcome.2.head"/>
          <p:cNvSpPr/>
          <p:nvPr/>
        </p:nvSpPr>
        <p:spPr>
          <a:xfrm>
            <a:off x="9198864" y="2170785"/>
            <a:ext cx="250545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version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lot.outcome.2.body"/>
          <p:cNvSpPr/>
          <p:nvPr/>
        </p:nvSpPr>
        <p:spPr>
          <a:xfrm>
            <a:off x="8796528" y="2472537"/>
            <a:ext cx="290779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brief replaces six regional rewrites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outcome.3.head"/>
          <p:cNvSpPr/>
          <p:nvPr/>
        </p:nvSpPr>
        <p:spPr>
          <a:xfrm>
            <a:off x="9198864" y="3226003"/>
            <a:ext cx="250545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Cleaner reviews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outcome.3.body"/>
          <p:cNvSpPr/>
          <p:nvPr/>
        </p:nvSpPr>
        <p:spPr>
          <a:xfrm>
            <a:off x="8796528" y="3527755"/>
            <a:ext cx="290779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sees every claim beside its source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outcome.4.head"/>
          <p:cNvSpPr/>
          <p:nvPr/>
        </p:nvSpPr>
        <p:spPr>
          <a:xfrm>
            <a:off x="9198864" y="4281220"/>
            <a:ext cx="250545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shared view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outcome.4.body"/>
          <p:cNvSpPr/>
          <p:nvPr/>
        </p:nvSpPr>
        <p:spPr>
          <a:xfrm>
            <a:off x="8796528" y="4582972"/>
            <a:ext cx="290779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review reads the same signal ledger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outcome.5.head"/>
          <p:cNvSpPr/>
          <p:nvPr/>
        </p:nvSpPr>
        <p:spPr>
          <a:xfrm>
            <a:off x="9198864" y="5336438"/>
            <a:ext cx="250545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Reusable foundation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outcome.5.body"/>
          <p:cNvSpPr/>
          <p:nvPr/>
        </p:nvSpPr>
        <p:spPr>
          <a:xfrm>
            <a:off x="8796528" y="5638190"/>
            <a:ext cx="2907792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next agent starts on governed data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truct.feeder.1.arrow"/>
          <p:cNvSpPr/>
          <p:nvPr/>
        </p:nvSpPr>
        <p:spPr>
          <a:xfrm>
            <a:off x="3200400" y="1359408"/>
            <a:ext cx="923544" cy="868680"/>
          </a:xfrm>
          <a:custGeom>
            <a:avLst/>
            <a:gdLst/>
            <a:ahLst/>
            <a:cxnLst/>
            <a:rect l="l" t="t" r="r" b="b"/>
            <a:pathLst>
              <a:path w="923544" h="868680" fill="none">
                <a:moveTo>
                  <a:pt x="0" y="0"/>
                </a:moveTo>
                <a:lnTo>
                  <a:pt x="457200" y="0"/>
                </a:lnTo>
                <a:lnTo>
                  <a:pt x="457200" y="868680"/>
                </a:lnTo>
                <a:lnTo>
                  <a:pt x="923544" y="86868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73" name="struct.feeder.2.arrow"/>
          <p:cNvSpPr/>
          <p:nvPr/>
        </p:nvSpPr>
        <p:spPr>
          <a:xfrm>
            <a:off x="3200400" y="2228088"/>
            <a:ext cx="923544" cy="1"/>
          </a:xfrm>
          <a:custGeom>
            <a:avLst/>
            <a:gdLst/>
            <a:ahLst/>
            <a:cxnLst/>
            <a:rect l="l" t="t" r="r" b="b"/>
            <a:pathLst>
              <a:path w="923544" h="1" fill="none">
                <a:moveTo>
                  <a:pt x="0" y="0"/>
                </a:moveTo>
                <a:lnTo>
                  <a:pt x="923544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74" name="struct.feeder.3.arrow"/>
          <p:cNvSpPr/>
          <p:nvPr/>
        </p:nvSpPr>
        <p:spPr>
          <a:xfrm>
            <a:off x="3200400" y="2228088"/>
            <a:ext cx="923544" cy="868680"/>
          </a:xfrm>
          <a:custGeom>
            <a:avLst/>
            <a:gdLst/>
            <a:ahLst/>
            <a:cxnLst/>
            <a:rect l="l" t="t" r="r" b="b"/>
            <a:pathLst>
              <a:path w="923544" h="868680" fill="none">
                <a:moveTo>
                  <a:pt x="0" y="868680"/>
                </a:moveTo>
                <a:lnTo>
                  <a:pt x="457200" y="868680"/>
                </a:lnTo>
                <a:lnTo>
                  <a:pt x="457200" y="0"/>
                </a:lnTo>
                <a:lnTo>
                  <a:pt x="923544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75" name="struct.feeder.4.arrow"/>
          <p:cNvSpPr/>
          <p:nvPr/>
        </p:nvSpPr>
        <p:spPr>
          <a:xfrm>
            <a:off x="3200400" y="3965448"/>
            <a:ext cx="923544" cy="868680"/>
          </a:xfrm>
          <a:custGeom>
            <a:avLst/>
            <a:gdLst/>
            <a:ahLst/>
            <a:cxnLst/>
            <a:rect l="l" t="t" r="r" b="b"/>
            <a:pathLst>
              <a:path w="923544" h="868680" fill="none">
                <a:moveTo>
                  <a:pt x="0" y="0"/>
                </a:moveTo>
                <a:lnTo>
                  <a:pt x="457200" y="0"/>
                </a:lnTo>
                <a:lnTo>
                  <a:pt x="457200" y="868680"/>
                </a:lnTo>
                <a:lnTo>
                  <a:pt x="923544" y="86868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76" name="struct.feeder.5.arrow"/>
          <p:cNvSpPr/>
          <p:nvPr/>
        </p:nvSpPr>
        <p:spPr>
          <a:xfrm>
            <a:off x="3200400" y="4834128"/>
            <a:ext cx="923544" cy="1"/>
          </a:xfrm>
          <a:custGeom>
            <a:avLst/>
            <a:gdLst/>
            <a:ahLst/>
            <a:cxnLst/>
            <a:rect l="l" t="t" r="r" b="b"/>
            <a:pathLst>
              <a:path w="923544" h="1" fill="none">
                <a:moveTo>
                  <a:pt x="0" y="0"/>
                </a:moveTo>
                <a:lnTo>
                  <a:pt x="923544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77" name="struct.feeder.6.arrow"/>
          <p:cNvSpPr/>
          <p:nvPr/>
        </p:nvSpPr>
        <p:spPr>
          <a:xfrm>
            <a:off x="3200400" y="4834128"/>
            <a:ext cx="923544" cy="868680"/>
          </a:xfrm>
          <a:custGeom>
            <a:avLst/>
            <a:gdLst/>
            <a:ahLst/>
            <a:cxnLst/>
            <a:rect l="l" t="t" r="r" b="b"/>
            <a:pathLst>
              <a:path w="923544" h="868680" fill="none">
                <a:moveTo>
                  <a:pt x="0" y="868680"/>
                </a:moveTo>
                <a:lnTo>
                  <a:pt x="457200" y="868680"/>
                </a:lnTo>
                <a:lnTo>
                  <a:pt x="457200" y="0"/>
                </a:lnTo>
                <a:lnTo>
                  <a:pt x="923544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78" name="struct.outcome.1.arrow"/>
          <p:cNvSpPr/>
          <p:nvPr/>
        </p:nvSpPr>
        <p:spPr>
          <a:xfrm>
            <a:off x="8074152" y="1423720"/>
            <a:ext cx="594360" cy="2110436"/>
          </a:xfrm>
          <a:custGeom>
            <a:avLst/>
            <a:gdLst/>
            <a:ahLst/>
            <a:cxnLst/>
            <a:rect l="l" t="t" r="r" b="b"/>
            <a:pathLst>
              <a:path w="594360" h="2110436" fill="none">
                <a:moveTo>
                  <a:pt x="0" y="2110436"/>
                </a:moveTo>
                <a:lnTo>
                  <a:pt x="292608" y="2110436"/>
                </a:lnTo>
                <a:lnTo>
                  <a:pt x="292608" y="0"/>
                </a:lnTo>
                <a:lnTo>
                  <a:pt x="594360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79" name="struct.outcome.2.arrow"/>
          <p:cNvSpPr/>
          <p:nvPr/>
        </p:nvSpPr>
        <p:spPr>
          <a:xfrm>
            <a:off x="8074152" y="2478938"/>
            <a:ext cx="594360" cy="1055218"/>
          </a:xfrm>
          <a:custGeom>
            <a:avLst/>
            <a:gdLst/>
            <a:ahLst/>
            <a:cxnLst/>
            <a:rect l="l" t="t" r="r" b="b"/>
            <a:pathLst>
              <a:path w="594360" h="1055218" fill="none">
                <a:moveTo>
                  <a:pt x="0" y="1055218"/>
                </a:moveTo>
                <a:lnTo>
                  <a:pt x="292608" y="1055218"/>
                </a:lnTo>
                <a:lnTo>
                  <a:pt x="292608" y="0"/>
                </a:lnTo>
                <a:lnTo>
                  <a:pt x="594360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80" name="struct.outcome.3.arrow"/>
          <p:cNvSpPr/>
          <p:nvPr/>
        </p:nvSpPr>
        <p:spPr>
          <a:xfrm>
            <a:off x="8074152" y="3534156"/>
            <a:ext cx="594360" cy="1"/>
          </a:xfrm>
          <a:custGeom>
            <a:avLst/>
            <a:gdLst/>
            <a:ahLst/>
            <a:cxnLst/>
            <a:rect l="l" t="t" r="r" b="b"/>
            <a:pathLst>
              <a:path w="594360" h="1" fill="none">
                <a:moveTo>
                  <a:pt x="0" y="0"/>
                </a:moveTo>
                <a:lnTo>
                  <a:pt x="594360" y="0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81" name="struct.outcome.4.arrow"/>
          <p:cNvSpPr/>
          <p:nvPr/>
        </p:nvSpPr>
        <p:spPr>
          <a:xfrm>
            <a:off x="8074152" y="3534156"/>
            <a:ext cx="594360" cy="1055216"/>
          </a:xfrm>
          <a:custGeom>
            <a:avLst/>
            <a:gdLst/>
            <a:ahLst/>
            <a:cxnLst/>
            <a:rect l="l" t="t" r="r" b="b"/>
            <a:pathLst>
              <a:path w="594360" h="1055216" fill="none">
                <a:moveTo>
                  <a:pt x="0" y="0"/>
                </a:moveTo>
                <a:lnTo>
                  <a:pt x="292608" y="0"/>
                </a:lnTo>
                <a:lnTo>
                  <a:pt x="292608" y="1055216"/>
                </a:lnTo>
                <a:lnTo>
                  <a:pt x="594360" y="1055216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82" name="struct.outcome.5.arrow"/>
          <p:cNvSpPr/>
          <p:nvPr/>
        </p:nvSpPr>
        <p:spPr>
          <a:xfrm>
            <a:off x="8074152" y="3534156"/>
            <a:ext cx="594360" cy="2110434"/>
          </a:xfrm>
          <a:custGeom>
            <a:avLst/>
            <a:gdLst/>
            <a:ahLst/>
            <a:cxnLst/>
            <a:rect l="l" t="t" r="r" b="b"/>
            <a:pathLst>
              <a:path w="594360" h="2110434" fill="none">
                <a:moveTo>
                  <a:pt x="0" y="0"/>
                </a:moveTo>
                <a:lnTo>
                  <a:pt x="292608" y="0"/>
                </a:lnTo>
                <a:lnTo>
                  <a:pt x="292608" y="2110434"/>
                </a:lnTo>
                <a:lnTo>
                  <a:pt x="594360" y="2110434"/>
                </a:lnTo>
              </a:path>
            </a:pathLst>
          </a:custGeom>
          <a:noFill/>
          <a:ln w="15875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87" name="slot.feeder.1.icon"/>
          <p:cNvSpPr/>
          <p:nvPr/>
        </p:nvSpPr>
        <p:spPr>
          <a:xfrm>
            <a:off x="657454" y="118506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8" name="slot.feeder.2.icon"/>
          <p:cNvSpPr/>
          <p:nvPr/>
        </p:nvSpPr>
        <p:spPr>
          <a:xfrm>
            <a:off x="657454" y="205374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11693"/>
                </a:moveTo>
                <a:lnTo>
                  <a:pt x="21000" y="5000"/>
                </a:lnTo>
                <a:moveTo>
                  <a:pt x="22000" y="22000"/>
                </a:moveTo>
                <a:lnTo>
                  <a:pt x="20125" y="20125"/>
                </a:lnTo>
                <a:moveTo>
                  <a:pt x="3000" y="12000"/>
                </a:moveTo>
                <a:cubicBezTo>
                  <a:pt x="3000" y="13617"/>
                  <a:pt x="6847" y="14944"/>
                  <a:pt x="11697" y="14998"/>
                </a:cubicBezTo>
                <a:moveTo>
                  <a:pt x="3000" y="5000"/>
                </a:moveTo>
                <a:lnTo>
                  <a:pt x="3000" y="19000"/>
                </a:lnTo>
                <a:cubicBezTo>
                  <a:pt x="3000" y="19812"/>
                  <a:pt x="3987" y="20589"/>
                  <a:pt x="5735" y="21154"/>
                </a:cubicBezTo>
                <a:cubicBezTo>
                  <a:pt x="7484" y="21720"/>
                  <a:pt x="9845" y="22024"/>
                  <a:pt x="12280" y="21999"/>
                </a:cubicBezTo>
                <a:moveTo>
                  <a:pt x="21000" y="18000"/>
                </a:moveTo>
                <a:cubicBezTo>
                  <a:pt x="21000" y="19657"/>
                  <a:pt x="19657" y="21000"/>
                  <a:pt x="18000" y="21000"/>
                </a:cubicBezTo>
                <a:cubicBezTo>
                  <a:pt x="16343" y="21000"/>
                  <a:pt x="15000" y="19657"/>
                  <a:pt x="15000" y="18000"/>
                </a:cubicBezTo>
                <a:cubicBezTo>
                  <a:pt x="15000" y="16343"/>
                  <a:pt x="16343" y="15000"/>
                  <a:pt x="18000" y="15000"/>
                </a:cubicBezTo>
                <a:cubicBezTo>
                  <a:pt x="19657" y="15000"/>
                  <a:pt x="21000" y="16343"/>
                  <a:pt x="21000" y="18000"/>
                </a:cubicBezTo>
                <a:close/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9" name="slot.feeder.3.icon"/>
          <p:cNvSpPr/>
          <p:nvPr/>
        </p:nvSpPr>
        <p:spPr>
          <a:xfrm>
            <a:off x="657454" y="292242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0" name="slot.feeder.4.icon"/>
          <p:cNvSpPr/>
          <p:nvPr/>
        </p:nvSpPr>
        <p:spPr>
          <a:xfrm>
            <a:off x="657454" y="379110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2000"/>
                </a:moveTo>
                <a:cubicBezTo>
                  <a:pt x="6667" y="7600"/>
                  <a:pt x="6667" y="16400"/>
                  <a:pt x="12000" y="22000"/>
                </a:cubicBezTo>
                <a:cubicBezTo>
                  <a:pt x="17333" y="16400"/>
                  <a:pt x="17333" y="7600"/>
                  <a:pt x="12000" y="2000"/>
                </a:cubicBezTo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1" name="slot.feeder.5.icon"/>
          <p:cNvSpPr/>
          <p:nvPr/>
        </p:nvSpPr>
        <p:spPr>
          <a:xfrm>
            <a:off x="657454" y="465978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7000"/>
                </a:moveTo>
                <a:cubicBezTo>
                  <a:pt x="22000" y="18105"/>
                  <a:pt x="21105" y="19000"/>
                  <a:pt x="20000" y="19000"/>
                </a:cubicBezTo>
                <a:lnTo>
                  <a:pt x="6828" y="19000"/>
                </a:lnTo>
                <a:cubicBezTo>
                  <a:pt x="6298" y="19000"/>
                  <a:pt x="5789" y="19211"/>
                  <a:pt x="5414" y="19586"/>
                </a:cubicBezTo>
                <a:lnTo>
                  <a:pt x="3212" y="21788"/>
                </a:lnTo>
                <a:cubicBezTo>
                  <a:pt x="3009" y="21991"/>
                  <a:pt x="2704" y="22052"/>
                  <a:pt x="2438" y="21942"/>
                </a:cubicBezTo>
                <a:cubicBezTo>
                  <a:pt x="2173" y="21832"/>
                  <a:pt x="2000" y="21573"/>
                  <a:pt x="2000" y="21286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close/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2" name="slot.feeder.6.icon"/>
          <p:cNvSpPr/>
          <p:nvPr/>
        </p:nvSpPr>
        <p:spPr>
          <a:xfrm>
            <a:off x="657454" y="552846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2857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3" name="slot.outcome.1.icon"/>
          <p:cNvSpPr/>
          <p:nvPr/>
        </p:nvSpPr>
        <p:spPr>
          <a:xfrm>
            <a:off x="8808415" y="1129284"/>
            <a:ext cx="267005" cy="2670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2000"/>
                </a:moveTo>
                <a:lnTo>
                  <a:pt x="14000" y="2000"/>
                </a:lnTo>
                <a:moveTo>
                  <a:pt x="12000" y="14000"/>
                </a:moveTo>
                <a:lnTo>
                  <a:pt x="15000" y="11000"/>
                </a:lnTo>
                <a:moveTo>
                  <a:pt x="20000" y="14000"/>
                </a:moveTo>
                <a:cubicBezTo>
                  <a:pt x="20000" y="18418"/>
                  <a:pt x="16418" y="22000"/>
                  <a:pt x="12000" y="22000"/>
                </a:cubicBezTo>
                <a:cubicBezTo>
                  <a:pt x="7582" y="22000"/>
                  <a:pt x="4000" y="18418"/>
                  <a:pt x="4000" y="14000"/>
                </a:cubicBezTo>
                <a:cubicBezTo>
                  <a:pt x="4000" y="9582"/>
                  <a:pt x="7582" y="6000"/>
                  <a:pt x="12000" y="6000"/>
                </a:cubicBezTo>
                <a:cubicBezTo>
                  <a:pt x="16418" y="6000"/>
                  <a:pt x="20000" y="9582"/>
                  <a:pt x="20000" y="14000"/>
                </a:cubicBezTo>
                <a:close/>
              </a:path>
            </a:pathLst>
          </a:custGeom>
          <a:noFill/>
          <a:ln w="222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4" name="slot.outcome.2.icon"/>
          <p:cNvSpPr/>
          <p:nvPr/>
        </p:nvSpPr>
        <p:spPr>
          <a:xfrm>
            <a:off x="8808415" y="2184502"/>
            <a:ext cx="267005" cy="2670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2000"/>
                </a:moveTo>
                <a:lnTo>
                  <a:pt x="11000" y="2000"/>
                </a:lnTo>
                <a:cubicBezTo>
                  <a:pt x="9895" y="2000"/>
                  <a:pt x="9000" y="2895"/>
                  <a:pt x="9000" y="4000"/>
                </a:cubicBezTo>
                <a:lnTo>
                  <a:pt x="9000" y="15000"/>
                </a:lnTo>
                <a:cubicBezTo>
                  <a:pt x="9000" y="16105"/>
                  <a:pt x="9895" y="17000"/>
                  <a:pt x="11000" y="17000"/>
                </a:cubicBezTo>
                <a:lnTo>
                  <a:pt x="19000" y="17000"/>
                </a:lnTo>
                <a:cubicBezTo>
                  <a:pt x="20105" y="17000"/>
                  <a:pt x="21000" y="16105"/>
                  <a:pt x="21000" y="15000"/>
                </a:cubicBezTo>
                <a:lnTo>
                  <a:pt x="21000" y="8000"/>
                </a:lnTo>
                <a:moveTo>
                  <a:pt x="16706" y="2706"/>
                </a:moveTo>
                <a:cubicBezTo>
                  <a:pt x="16254" y="2253"/>
                  <a:pt x="15640" y="1998"/>
                  <a:pt x="15000" y="2000"/>
                </a:cubicBezTo>
                <a:lnTo>
                  <a:pt x="15000" y="7000"/>
                </a:lnTo>
                <a:cubicBezTo>
                  <a:pt x="15000" y="7552"/>
                  <a:pt x="15448" y="8000"/>
                  <a:pt x="16000" y="8000"/>
                </a:cubicBezTo>
                <a:lnTo>
                  <a:pt x="21000" y="8000"/>
                </a:lnTo>
                <a:cubicBezTo>
                  <a:pt x="21002" y="7360"/>
                  <a:pt x="20747" y="6746"/>
                  <a:pt x="20294" y="6294"/>
                </a:cubicBezTo>
                <a:close/>
                <a:moveTo>
                  <a:pt x="5000" y="7000"/>
                </a:moveTo>
                <a:cubicBezTo>
                  <a:pt x="3895" y="7000"/>
                  <a:pt x="3000" y="7895"/>
                  <a:pt x="3000" y="9000"/>
                </a:cubicBezTo>
                <a:lnTo>
                  <a:pt x="3000" y="20000"/>
                </a:lnTo>
                <a:cubicBezTo>
                  <a:pt x="3000" y="21105"/>
                  <a:pt x="3895" y="22000"/>
                  <a:pt x="5000" y="22000"/>
                </a:cubicBezTo>
                <a:lnTo>
                  <a:pt x="13000" y="22000"/>
                </a:lnTo>
                <a:cubicBezTo>
                  <a:pt x="13715" y="22000"/>
                  <a:pt x="14375" y="21619"/>
                  <a:pt x="14732" y="21000"/>
                </a:cubicBezTo>
              </a:path>
            </a:pathLst>
          </a:custGeom>
          <a:noFill/>
          <a:ln w="222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5" name="slot.outcome.3.icon"/>
          <p:cNvSpPr/>
          <p:nvPr/>
        </p:nvSpPr>
        <p:spPr>
          <a:xfrm>
            <a:off x="8808415" y="3239719"/>
            <a:ext cx="267005" cy="2670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2000"/>
                </a:moveTo>
                <a:lnTo>
                  <a:pt x="11000" y="4000"/>
                </a:lnTo>
                <a:moveTo>
                  <a:pt x="5000" y="2000"/>
                </a:moveTo>
                <a:lnTo>
                  <a:pt x="5000" y="4000"/>
                </a:lnTo>
                <a:moveTo>
                  <a:pt x="5000" y="3000"/>
                </a:move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9000"/>
                </a:lnTo>
                <a:cubicBezTo>
                  <a:pt x="2000" y="12314"/>
                  <a:pt x="4686" y="15000"/>
                  <a:pt x="8000" y="15000"/>
                </a:cubicBezTo>
                <a:cubicBezTo>
                  <a:pt x="11314" y="15000"/>
                  <a:pt x="14000" y="12314"/>
                  <a:pt x="14000" y="9000"/>
                </a:cubicBezTo>
                <a:lnTo>
                  <a:pt x="14000" y="5000"/>
                </a:lnTo>
                <a:cubicBezTo>
                  <a:pt x="14000" y="3895"/>
                  <a:pt x="13105" y="3000"/>
                  <a:pt x="12000" y="3000"/>
                </a:cubicBezTo>
                <a:lnTo>
                  <a:pt x="11000" y="3000"/>
                </a:lnTo>
                <a:moveTo>
                  <a:pt x="8000" y="15000"/>
                </a:moveTo>
                <a:cubicBezTo>
                  <a:pt x="8000" y="18314"/>
                  <a:pt x="10686" y="21000"/>
                  <a:pt x="14000" y="21000"/>
                </a:cubicBezTo>
                <a:cubicBezTo>
                  <a:pt x="17314" y="21000"/>
                  <a:pt x="20000" y="18314"/>
                  <a:pt x="20000" y="15000"/>
                </a:cubicBezTo>
                <a:lnTo>
                  <a:pt x="20000" y="12000"/>
                </a:lnTo>
                <a:moveTo>
                  <a:pt x="22000" y="10000"/>
                </a:moveTo>
                <a:cubicBezTo>
                  <a:pt x="22000" y="11105"/>
                  <a:pt x="21105" y="12000"/>
                  <a:pt x="20000" y="12000"/>
                </a:cubicBezTo>
                <a:cubicBezTo>
                  <a:pt x="18895" y="12000"/>
                  <a:pt x="18000" y="11105"/>
                  <a:pt x="18000" y="10000"/>
                </a:cubicBezTo>
                <a:cubicBezTo>
                  <a:pt x="18000" y="8895"/>
                  <a:pt x="18895" y="8000"/>
                  <a:pt x="20000" y="8000"/>
                </a:cubicBezTo>
                <a:cubicBezTo>
                  <a:pt x="21105" y="8000"/>
                  <a:pt x="22000" y="8895"/>
                  <a:pt x="22000" y="10000"/>
                </a:cubicBezTo>
                <a:close/>
              </a:path>
            </a:pathLst>
          </a:custGeom>
          <a:noFill/>
          <a:ln w="222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6" name="slot.outcome.4.icon"/>
          <p:cNvSpPr/>
          <p:nvPr/>
        </p:nvSpPr>
        <p:spPr>
          <a:xfrm>
            <a:off x="8808415" y="4294937"/>
            <a:ext cx="267005" cy="2670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3000"/>
                </a:moveTo>
                <a:lnTo>
                  <a:pt x="9000" y="3000"/>
                </a:lnTo>
                <a:cubicBezTo>
                  <a:pt x="9552" y="3000"/>
                  <a:pt x="10000" y="3448"/>
                  <a:pt x="10000" y="4000"/>
                </a:cubicBezTo>
                <a:lnTo>
                  <a:pt x="10000" y="11000"/>
                </a:lnTo>
                <a:cubicBezTo>
                  <a:pt x="10000" y="11552"/>
                  <a:pt x="9552" y="12000"/>
                  <a:pt x="9000" y="12000"/>
                </a:cubicBezTo>
                <a:lnTo>
                  <a:pt x="4000" y="12000"/>
                </a:lnTo>
                <a:cubicBezTo>
                  <a:pt x="3448" y="12000"/>
                  <a:pt x="3000" y="11552"/>
                  <a:pt x="3000" y="11000"/>
                </a:cubicBezTo>
                <a:lnTo>
                  <a:pt x="3000" y="4000"/>
                </a:lnTo>
                <a:cubicBezTo>
                  <a:pt x="3000" y="3448"/>
                  <a:pt x="3448" y="3000"/>
                  <a:pt x="4000" y="3000"/>
                </a:cubicBezTo>
                <a:close/>
                <a:moveTo>
                  <a:pt x="15000" y="3000"/>
                </a:moveTo>
                <a:lnTo>
                  <a:pt x="20000" y="3000"/>
                </a:lnTo>
                <a:cubicBezTo>
                  <a:pt x="20552" y="3000"/>
                  <a:pt x="21000" y="3448"/>
                  <a:pt x="21000" y="4000"/>
                </a:cubicBezTo>
                <a:lnTo>
                  <a:pt x="21000" y="7000"/>
                </a:lnTo>
                <a:cubicBezTo>
                  <a:pt x="21000" y="7552"/>
                  <a:pt x="20552" y="8000"/>
                  <a:pt x="20000" y="8000"/>
                </a:cubicBezTo>
                <a:lnTo>
                  <a:pt x="15000" y="8000"/>
                </a:lnTo>
                <a:cubicBezTo>
                  <a:pt x="14448" y="8000"/>
                  <a:pt x="14000" y="7552"/>
                  <a:pt x="14000" y="7000"/>
                </a:cubicBezTo>
                <a:lnTo>
                  <a:pt x="14000" y="4000"/>
                </a:lnTo>
                <a:cubicBezTo>
                  <a:pt x="14000" y="3448"/>
                  <a:pt x="14448" y="3000"/>
                  <a:pt x="15000" y="3000"/>
                </a:cubicBezTo>
                <a:close/>
                <a:moveTo>
                  <a:pt x="15000" y="12000"/>
                </a:moveTo>
                <a:lnTo>
                  <a:pt x="20000" y="12000"/>
                </a:lnTo>
                <a:cubicBezTo>
                  <a:pt x="20552" y="12000"/>
                  <a:pt x="21000" y="12448"/>
                  <a:pt x="21000" y="13000"/>
                </a:cubicBezTo>
                <a:lnTo>
                  <a:pt x="21000" y="20000"/>
                </a:lnTo>
                <a:cubicBezTo>
                  <a:pt x="21000" y="20552"/>
                  <a:pt x="20552" y="21000"/>
                  <a:pt x="20000" y="21000"/>
                </a:cubicBezTo>
                <a:lnTo>
                  <a:pt x="15000" y="21000"/>
                </a:lnTo>
                <a:cubicBezTo>
                  <a:pt x="14448" y="21000"/>
                  <a:pt x="14000" y="20552"/>
                  <a:pt x="14000" y="20000"/>
                </a:cubicBezTo>
                <a:lnTo>
                  <a:pt x="14000" y="13000"/>
                </a:lnTo>
                <a:cubicBezTo>
                  <a:pt x="14000" y="12448"/>
                  <a:pt x="14448" y="12000"/>
                  <a:pt x="15000" y="12000"/>
                </a:cubicBezTo>
                <a:close/>
                <a:moveTo>
                  <a:pt x="4000" y="16000"/>
                </a:moveTo>
                <a:lnTo>
                  <a:pt x="9000" y="16000"/>
                </a:lnTo>
                <a:cubicBezTo>
                  <a:pt x="9552" y="16000"/>
                  <a:pt x="10000" y="16448"/>
                  <a:pt x="10000" y="17000"/>
                </a:cubicBezTo>
                <a:lnTo>
                  <a:pt x="10000" y="20000"/>
                </a:lnTo>
                <a:cubicBezTo>
                  <a:pt x="10000" y="20552"/>
                  <a:pt x="9552" y="21000"/>
                  <a:pt x="9000" y="21000"/>
                </a:cubicBezTo>
                <a:lnTo>
                  <a:pt x="4000" y="21000"/>
                </a:lnTo>
                <a:cubicBezTo>
                  <a:pt x="3448" y="21000"/>
                  <a:pt x="3000" y="20552"/>
                  <a:pt x="3000" y="20000"/>
                </a:cubicBezTo>
                <a:lnTo>
                  <a:pt x="3000" y="17000"/>
                </a:lnTo>
                <a:cubicBezTo>
                  <a:pt x="3000" y="16448"/>
                  <a:pt x="3448" y="16000"/>
                  <a:pt x="4000" y="16000"/>
                </a:cubicBezTo>
                <a:close/>
              </a:path>
            </a:pathLst>
          </a:custGeom>
          <a:noFill/>
          <a:ln w="222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7" name="slot.outcome.5.icon"/>
          <p:cNvSpPr/>
          <p:nvPr/>
        </p:nvSpPr>
        <p:spPr>
          <a:xfrm>
            <a:off x="8808415" y="5350154"/>
            <a:ext cx="267005" cy="267005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2222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8" name="slot.step.1.icon"/>
          <p:cNvSpPr/>
          <p:nvPr/>
        </p:nvSpPr>
        <p:spPr>
          <a:xfrm>
            <a:off x="7132320" y="244144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99" name="slot.step.2.icon"/>
          <p:cNvSpPr/>
          <p:nvPr/>
        </p:nvSpPr>
        <p:spPr>
          <a:xfrm>
            <a:off x="7132320" y="333756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18000"/>
                </a:moveTo>
                <a:cubicBezTo>
                  <a:pt x="21000" y="19657"/>
                  <a:pt x="19657" y="21000"/>
                  <a:pt x="18000" y="21000"/>
                </a:cubicBezTo>
                <a:cubicBezTo>
                  <a:pt x="16343" y="21000"/>
                  <a:pt x="15000" y="19657"/>
                  <a:pt x="15000" y="18000"/>
                </a:cubicBezTo>
                <a:cubicBezTo>
                  <a:pt x="15000" y="16343"/>
                  <a:pt x="16343" y="15000"/>
                  <a:pt x="18000" y="15000"/>
                </a:cubicBezTo>
                <a:cubicBezTo>
                  <a:pt x="19657" y="15000"/>
                  <a:pt x="21000" y="16343"/>
                  <a:pt x="21000" y="18000"/>
                </a:cubicBezTo>
                <a:close/>
                <a:moveTo>
                  <a:pt x="9000" y="6000"/>
                </a:moveTo>
                <a:cubicBezTo>
                  <a:pt x="9000" y="7657"/>
                  <a:pt x="7657" y="9000"/>
                  <a:pt x="6000" y="9000"/>
                </a:cubicBezTo>
                <a:cubicBezTo>
                  <a:pt x="4343" y="9000"/>
                  <a:pt x="3000" y="7657"/>
                  <a:pt x="3000" y="6000"/>
                </a:cubicBezTo>
                <a:cubicBezTo>
                  <a:pt x="3000" y="4343"/>
                  <a:pt x="4343" y="3000"/>
                  <a:pt x="6000" y="3000"/>
                </a:cubicBezTo>
                <a:cubicBezTo>
                  <a:pt x="7657" y="3000"/>
                  <a:pt x="9000" y="4343"/>
                  <a:pt x="9000" y="6000"/>
                </a:cubicBezTo>
                <a:close/>
                <a:moveTo>
                  <a:pt x="6000" y="21000"/>
                </a:moveTo>
                <a:lnTo>
                  <a:pt x="6000" y="9000"/>
                </a:lnTo>
                <a:cubicBezTo>
                  <a:pt x="6000" y="13971"/>
                  <a:pt x="10029" y="18000"/>
                  <a:pt x="15000" y="18000"/>
                </a:cubicBez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00" name="slot.step.3.icon"/>
          <p:cNvSpPr/>
          <p:nvPr/>
        </p:nvSpPr>
        <p:spPr>
          <a:xfrm>
            <a:off x="7132320" y="423367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01" name="slot.step.4.icon"/>
          <p:cNvSpPr/>
          <p:nvPr/>
        </p:nvSpPr>
        <p:spPr>
          <a:xfrm>
            <a:off x="7132320" y="512978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536" y="21686"/>
                </a:moveTo>
                <a:cubicBezTo>
                  <a:pt x="14614" y="21880"/>
                  <a:pt x="14804" y="22005"/>
                  <a:pt x="15013" y="22000"/>
                </a:cubicBezTo>
                <a:cubicBezTo>
                  <a:pt x="15222" y="21994"/>
                  <a:pt x="15405" y="21860"/>
                  <a:pt x="15473" y="21662"/>
                </a:cubicBezTo>
                <a:lnTo>
                  <a:pt x="21973" y="2662"/>
                </a:lnTo>
                <a:cubicBezTo>
                  <a:pt x="22038" y="2481"/>
                  <a:pt x="21993" y="2279"/>
                  <a:pt x="21857" y="2143"/>
                </a:cubicBezTo>
                <a:cubicBezTo>
                  <a:pt x="21721" y="2007"/>
                  <a:pt x="21519" y="1962"/>
                  <a:pt x="21338" y="2027"/>
                </a:cubicBezTo>
                <a:lnTo>
                  <a:pt x="2338" y="8527"/>
                </a:lnTo>
                <a:cubicBezTo>
                  <a:pt x="2140" y="8595"/>
                  <a:pt x="2006" y="8778"/>
                  <a:pt x="2000" y="8987"/>
                </a:cubicBezTo>
                <a:cubicBezTo>
                  <a:pt x="1995" y="9196"/>
                  <a:pt x="2120" y="9386"/>
                  <a:pt x="2314" y="9464"/>
                </a:cubicBezTo>
                <a:lnTo>
                  <a:pt x="10244" y="12644"/>
                </a:lnTo>
                <a:cubicBezTo>
                  <a:pt x="10751" y="12847"/>
                  <a:pt x="11152" y="13248"/>
                  <a:pt x="11356" y="13754"/>
                </a:cubicBezTo>
                <a:close/>
                <a:moveTo>
                  <a:pt x="21854" y="2147"/>
                </a:moveTo>
                <a:lnTo>
                  <a:pt x="10914" y="13086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ecision-logic:slanted-lanes">
    <p:spTree>
      <p:nvGrpSpPr>
        <p:cNvPr id="1" name=""/>
        <p:cNvGrpSpPr/>
        <p:nvPr/>
      </p:nvGrpSpPr>
      <p:grpSpPr/>
      <p:sp>
        <p:nvSpPr>
          <p:cNvPr id="2" name="struct.controls.panel"/>
          <p:cNvSpPr/>
          <p:nvPr/>
        </p:nvSpPr>
        <p:spPr>
          <a:xfrm>
            <a:off x="458736" y="5458967"/>
            <a:ext cx="5532468" cy="896112"/>
          </a:xfrm>
          <a:prstGeom prst="roundRect">
            <a:avLst>
              <a:gd fmla="val 5102" name="adj"/>
            </a:avLst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400"/>
              <a:buFont typeface="Arial"/>
              <a:buNone/>
            </a:pPr>
            <a:r>
              <a:rPr sz="140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" name="slot.signals.label"/>
          <p:cNvSpPr/>
          <p:nvPr/>
        </p:nvSpPr>
        <p:spPr>
          <a:xfrm>
            <a:off x="458736" y="896112"/>
            <a:ext cx="2720885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Checks on every signal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uct.signal.1.disc"/>
          <p:cNvSpPr/>
          <p:nvPr/>
        </p:nvSpPr>
        <p:spPr>
          <a:xfrm>
            <a:off x="457174" y="1207008"/>
            <a:ext cx="384048" cy="384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" name="struct.signal.2.disc"/>
          <p:cNvSpPr/>
          <p:nvPr/>
        </p:nvSpPr>
        <p:spPr>
          <a:xfrm>
            <a:off x="3740376" y="1207008"/>
            <a:ext cx="384048" cy="38404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" name="slot.signal.1.head"/>
          <p:cNvSpPr/>
          <p:nvPr/>
        </p:nvSpPr>
        <p:spPr>
          <a:xfrm>
            <a:off x="912215" y="1170432"/>
            <a:ext cx="2720885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Relevance score per signal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signal.1.body"/>
          <p:cNvSpPr/>
          <p:nvPr/>
        </p:nvSpPr>
        <p:spPr>
          <a:xfrm>
            <a:off x="912215" y="1389888"/>
            <a:ext cx="2720885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Fit to brand, territory and timing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signal.2.head"/>
          <p:cNvSpPr/>
          <p:nvPr/>
        </p:nvSpPr>
        <p:spPr>
          <a:xfrm>
            <a:off x="4195419" y="1170432"/>
            <a:ext cx="2720885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Claim type from source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signal.2.body"/>
          <p:cNvSpPr/>
          <p:nvPr/>
        </p:nvSpPr>
        <p:spPr>
          <a:xfrm>
            <a:off x="4195419" y="1389888"/>
            <a:ext cx="2720885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Clinical, safety, access or general news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uct.note.panel"/>
          <p:cNvSpPr/>
          <p:nvPr/>
        </p:nvSpPr>
        <p:spPr>
          <a:xfrm>
            <a:off x="7614665" y="1097280"/>
            <a:ext cx="4181095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" name="slot.note.body"/>
          <p:cNvSpPr/>
          <p:nvPr/>
        </p:nvSpPr>
        <p:spPr>
          <a:xfrm>
            <a:off x="7723501" y="1161288"/>
            <a:ext cx="3963424" cy="43891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Checks run in lane order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first matching rule decides the lane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lanes.label"/>
          <p:cNvSpPr/>
          <p:nvPr/>
        </p:nvSpPr>
        <p:spPr>
          <a:xfrm>
            <a:off x="458736" y="1956816"/>
            <a:ext cx="8162657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Five lanes, tested top to bottom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lane.1.shape"/>
          <p:cNvSpPr/>
          <p:nvPr/>
        </p:nvSpPr>
        <p:spPr>
          <a:xfrm>
            <a:off x="458736" y="2304288"/>
            <a:ext cx="2095082" cy="2057400"/>
          </a:xfrm>
          <a:prstGeom prst="parallelogram">
            <a:avLst>
              <a:gd fmla="val 25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" name="struct.lane.2.shape"/>
          <p:cNvSpPr/>
          <p:nvPr/>
        </p:nvSpPr>
        <p:spPr>
          <a:xfrm>
            <a:off x="2753350" y="2304288"/>
            <a:ext cx="2095082" cy="2057400"/>
          </a:xfrm>
          <a:prstGeom prst="parallelogram">
            <a:avLst>
              <a:gd fmla="val 25000" name="adj"/>
            </a:avLst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" name="struct.lane.3.shape"/>
          <p:cNvSpPr/>
          <p:nvPr/>
        </p:nvSpPr>
        <p:spPr>
          <a:xfrm>
            <a:off x="5047963" y="2304288"/>
            <a:ext cx="2095082" cy="2057400"/>
          </a:xfrm>
          <a:prstGeom prst="parallelogram">
            <a:avLst>
              <a:gd fmla="val 25000" name="adj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" name="struct.lane.4.shape"/>
          <p:cNvSpPr/>
          <p:nvPr/>
        </p:nvSpPr>
        <p:spPr>
          <a:xfrm>
            <a:off x="7342577" y="2304288"/>
            <a:ext cx="2095082" cy="2057400"/>
          </a:xfrm>
          <a:prstGeom prst="parallelogram">
            <a:avLst>
              <a:gd fmla="val 25000" name="adj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" name="struct.lane.5.shape"/>
          <p:cNvSpPr/>
          <p:nvPr/>
        </p:nvSpPr>
        <p:spPr>
          <a:xfrm>
            <a:off x="9637190" y="2304288"/>
            <a:ext cx="2095082" cy="2057400"/>
          </a:xfrm>
          <a:prstGeom prst="parallelogram">
            <a:avLst>
              <a:gd fmla="val 25000" name="adj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" name="struct.lane.1.numeral"/>
          <p:cNvSpPr/>
          <p:nvPr/>
        </p:nvSpPr>
        <p:spPr>
          <a:xfrm>
            <a:off x="1133287" y="2505456"/>
            <a:ext cx="816265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</a:t>
            </a:r>
            <a:endParaRPr lang="en-US" sz="36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lane.1.head"/>
          <p:cNvSpPr/>
          <p:nvPr/>
        </p:nvSpPr>
        <p:spPr>
          <a:xfrm>
            <a:off x="779573" y="3182112"/>
            <a:ext cx="14148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Ready for brief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truct.lane.1.pill"/>
          <p:cNvSpPr/>
          <p:nvPr/>
        </p:nvSpPr>
        <p:spPr>
          <a:xfrm>
            <a:off x="920152" y="3730752"/>
            <a:ext cx="906962" cy="274320"/>
          </a:xfrm>
          <a:prstGeom prst="roundRect">
            <a:avLst>
              <a:gd fmla="val 50000" name="adj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" name="slot.lane.1.owner"/>
          <p:cNvSpPr/>
          <p:nvPr/>
        </p:nvSpPr>
        <p:spPr>
          <a:xfrm>
            <a:off x="920152" y="3730752"/>
            <a:ext cx="90696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Writer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lane.2.numeral"/>
          <p:cNvSpPr/>
          <p:nvPr/>
        </p:nvSpPr>
        <p:spPr>
          <a:xfrm>
            <a:off x="3427903" y="2505456"/>
            <a:ext cx="816265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36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lot.lane.2.head"/>
          <p:cNvSpPr/>
          <p:nvPr/>
        </p:nvSpPr>
        <p:spPr>
          <a:xfrm>
            <a:off x="3074187" y="3182112"/>
            <a:ext cx="14148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claim review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lane.2.pill"/>
          <p:cNvSpPr/>
          <p:nvPr/>
        </p:nvSpPr>
        <p:spPr>
          <a:xfrm>
            <a:off x="3214766" y="3730752"/>
            <a:ext cx="906962" cy="274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" name="slot.lane.2.owner"/>
          <p:cNvSpPr/>
          <p:nvPr/>
        </p:nvSpPr>
        <p:spPr>
          <a:xfrm>
            <a:off x="3214766" y="3730752"/>
            <a:ext cx="90696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truct.lane.3.numeral"/>
          <p:cNvSpPr/>
          <p:nvPr/>
        </p:nvSpPr>
        <p:spPr>
          <a:xfrm>
            <a:off x="5722516" y="2505456"/>
            <a:ext cx="816265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03</a:t>
            </a:r>
            <a:endParaRPr lang="en-US" sz="36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lane.3.head"/>
          <p:cNvSpPr/>
          <p:nvPr/>
        </p:nvSpPr>
        <p:spPr>
          <a:xfrm>
            <a:off x="5368801" y="3182112"/>
            <a:ext cx="14148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Payer access change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lane.3.pill"/>
          <p:cNvSpPr/>
          <p:nvPr/>
        </p:nvSpPr>
        <p:spPr>
          <a:xfrm>
            <a:off x="5509380" y="3730752"/>
            <a:ext cx="906962" cy="274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" name="slot.lane.3.owner"/>
          <p:cNvSpPr/>
          <p:nvPr/>
        </p:nvSpPr>
        <p:spPr>
          <a:xfrm>
            <a:off x="5509380" y="3730752"/>
            <a:ext cx="90696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Access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truct.lane.4.numeral"/>
          <p:cNvSpPr/>
          <p:nvPr/>
        </p:nvSpPr>
        <p:spPr>
          <a:xfrm>
            <a:off x="8017129" y="2505456"/>
            <a:ext cx="816265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04</a:t>
            </a:r>
            <a:endParaRPr lang="en-US" sz="3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lane.4.head"/>
          <p:cNvSpPr/>
          <p:nvPr/>
        </p:nvSpPr>
        <p:spPr>
          <a:xfrm>
            <a:off x="7663415" y="3182112"/>
            <a:ext cx="14148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Watch list only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lane.4.pill"/>
          <p:cNvSpPr/>
          <p:nvPr/>
        </p:nvSpPr>
        <p:spPr>
          <a:xfrm>
            <a:off x="7803993" y="3730752"/>
            <a:ext cx="906962" cy="274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" name="slot.lane.4.owner"/>
          <p:cNvSpPr/>
          <p:nvPr/>
        </p:nvSpPr>
        <p:spPr>
          <a:xfrm>
            <a:off x="7803993" y="3730752"/>
            <a:ext cx="90696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Scanner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ruct.lane.5.numeral"/>
          <p:cNvSpPr/>
          <p:nvPr/>
        </p:nvSpPr>
        <p:spPr>
          <a:xfrm>
            <a:off x="10311743" y="2505456"/>
            <a:ext cx="816265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05</a:t>
            </a:r>
            <a:endParaRPr lang="en-US" sz="3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lane.5.head"/>
          <p:cNvSpPr/>
          <p:nvPr/>
        </p:nvSpPr>
        <p:spPr>
          <a:xfrm>
            <a:off x="9958027" y="3182112"/>
            <a:ext cx="14148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Out of scope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uct.lane.5.pill"/>
          <p:cNvSpPr/>
          <p:nvPr/>
        </p:nvSpPr>
        <p:spPr>
          <a:xfrm>
            <a:off x="10098607" y="3730752"/>
            <a:ext cx="906962" cy="274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ts val="1800"/>
              <a:buFont typeface="Arial"/>
              <a:buNone/>
            </a:pPr>
            <a:r>
              <a:rPr sz="1400"/>
              <a:t/>
            </a:r>
            <a:endParaRPr b="0" i="0" sz="2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" name="slot.lane.5.owner"/>
          <p:cNvSpPr/>
          <p:nvPr/>
        </p:nvSpPr>
        <p:spPr>
          <a:xfrm>
            <a:off x="10098607" y="3730752"/>
            <a:ext cx="906962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45700" lIns="91425" spcFirstLastPara="1" rIns="91425" wrap="square" tIns="4570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Ledger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rules.label"/>
          <p:cNvSpPr/>
          <p:nvPr/>
        </p:nvSpPr>
        <p:spPr>
          <a:xfrm>
            <a:off x="458736" y="4526279"/>
            <a:ext cx="1127353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one rule that sends a signal to each lane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rule.1.head"/>
          <p:cNvSpPr/>
          <p:nvPr/>
        </p:nvSpPr>
        <p:spPr>
          <a:xfrm>
            <a:off x="458736" y="4818888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High score, general news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rule.1.body"/>
          <p:cNvSpPr/>
          <p:nvPr/>
        </p:nvSpPr>
        <p:spPr>
          <a:xfrm>
            <a:off x="458736" y="5038344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Drafted into Monday brief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" name="struct.rule.divider.1"/>
          <p:cNvCxnSpPr/>
          <p:nvPr/>
        </p:nvCxnSpPr>
        <p:spPr>
          <a:xfrm>
            <a:off x="2635445" y="4837175"/>
            <a:ext cx="0" cy="40233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2" name="slot.rule.2.head"/>
          <p:cNvSpPr/>
          <p:nvPr/>
        </p:nvSpPr>
        <p:spPr>
          <a:xfrm>
            <a:off x="2753350" y="4818888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Efficacy or safety claim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rule.2.body"/>
          <p:cNvSpPr/>
          <p:nvPr/>
        </p:nvSpPr>
        <p:spPr>
          <a:xfrm>
            <a:off x="2753350" y="5038344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Medical signs before release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4" name="struct.rule.divider.2"/>
          <p:cNvCxnSpPr/>
          <p:nvPr/>
        </p:nvCxnSpPr>
        <p:spPr>
          <a:xfrm>
            <a:off x="4930058" y="4837175"/>
            <a:ext cx="0" cy="40233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5" name="slot.rule.3.head"/>
          <p:cNvSpPr/>
          <p:nvPr/>
        </p:nvSpPr>
        <p:spPr>
          <a:xfrm>
            <a:off x="5047963" y="4818888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Price or formulary notice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rule.3.body"/>
          <p:cNvSpPr/>
          <p:nvPr/>
        </p:nvSpPr>
        <p:spPr>
          <a:xfrm>
            <a:off x="5047963" y="5038344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Access team checks region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7" name="struct.rule.divider.3"/>
          <p:cNvCxnSpPr/>
          <p:nvPr/>
        </p:nvCxnSpPr>
        <p:spPr>
          <a:xfrm>
            <a:off x="7224672" y="4837175"/>
            <a:ext cx="0" cy="40233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8" name="slot.rule.4.head"/>
          <p:cNvSpPr/>
          <p:nvPr/>
        </p:nvSpPr>
        <p:spPr>
          <a:xfrm>
            <a:off x="7342577" y="4818888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Medium score, no claim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rule.4.body"/>
          <p:cNvSpPr/>
          <p:nvPr/>
        </p:nvSpPr>
        <p:spPr>
          <a:xfrm>
            <a:off x="7342577" y="5038344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Rescanned by agent weekly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0" name="struct.rule.divider.4"/>
          <p:cNvCxnSpPr/>
          <p:nvPr/>
        </p:nvCxnSpPr>
        <p:spPr>
          <a:xfrm>
            <a:off x="9519284" y="4837175"/>
            <a:ext cx="0" cy="40233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1" name="slot.rule.5.head"/>
          <p:cNvSpPr/>
          <p:nvPr/>
        </p:nvSpPr>
        <p:spPr>
          <a:xfrm>
            <a:off x="9637190" y="4818888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Low score or off-brand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rule.5.body"/>
          <p:cNvSpPr/>
          <p:nvPr/>
        </p:nvSpPr>
        <p:spPr>
          <a:xfrm>
            <a:off x="9637190" y="5038344"/>
            <a:ext cx="199531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Logged with a reason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3" name="struct.rule.top"/>
          <p:cNvCxnSpPr/>
          <p:nvPr/>
        </p:nvCxnSpPr>
        <p:spPr>
          <a:xfrm>
            <a:off x="458736" y="1828800"/>
            <a:ext cx="11337024" cy="0"/>
          </a:xfrm>
          <a:prstGeom prst="straightConnector1">
            <a:avLst/>
          </a:prstGeom>
          <a:noFill/>
          <a:ln cap="flat" cmpd="sng" w="127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54" name="struct.clock.rule"/>
          <p:cNvCxnSpPr/>
          <p:nvPr/>
        </p:nvCxnSpPr>
        <p:spPr>
          <a:xfrm>
            <a:off x="6245153" y="5458967"/>
            <a:ext cx="5550607" cy="0"/>
          </a:xfrm>
          <a:prstGeom prst="straightConnector1">
            <a:avLst/>
          </a:prstGeom>
          <a:noFill/>
          <a:ln cap="flat" cmpd="sng" w="127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5" name="slot.controls.label"/>
          <p:cNvSpPr/>
          <p:nvPr/>
        </p:nvSpPr>
        <p:spPr>
          <a:xfrm>
            <a:off x="585711" y="5550407"/>
            <a:ext cx="5260379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Kept on every lane, every week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clock.label"/>
          <p:cNvSpPr/>
          <p:nvPr/>
        </p:nvSpPr>
        <p:spPr>
          <a:xfrm>
            <a:off x="6245153" y="5550407"/>
            <a:ext cx="3627848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Clock from routing to field reps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clock.1.text"/>
          <p:cNvSpPr/>
          <p:nvPr/>
        </p:nvSpPr>
        <p:spPr>
          <a:xfrm>
            <a:off x="6036551" y="6172199"/>
            <a:ext cx="117905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Hour 0 routed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clock.2.text"/>
          <p:cNvSpPr/>
          <p:nvPr/>
        </p:nvSpPr>
        <p:spPr>
          <a:xfrm>
            <a:off x="7714430" y="6172199"/>
            <a:ext cx="117905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Hour 4 drafted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clock.3.text"/>
          <p:cNvSpPr/>
          <p:nvPr/>
        </p:nvSpPr>
        <p:spPr>
          <a:xfrm>
            <a:off x="9392311" y="6172199"/>
            <a:ext cx="117905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Hour 8 signed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0" name="struct.clock.line"/>
          <p:cNvCxnSpPr/>
          <p:nvPr/>
        </p:nvCxnSpPr>
        <p:spPr>
          <a:xfrm>
            <a:off x="6626077" y="5989319"/>
            <a:ext cx="500643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61" name="struct.clock.dot.1"/>
          <p:cNvSpPr/>
          <p:nvPr/>
        </p:nvSpPr>
        <p:spPr>
          <a:xfrm>
            <a:off x="6498061" y="5861303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clock.dot.2"/>
          <p:cNvSpPr/>
          <p:nvPr/>
        </p:nvSpPr>
        <p:spPr>
          <a:xfrm>
            <a:off x="8175940" y="5861303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truct.clock.dot.3"/>
          <p:cNvSpPr/>
          <p:nvPr/>
        </p:nvSpPr>
        <p:spPr>
          <a:xfrm>
            <a:off x="9853820" y="5861303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truct.clock.dot.4"/>
          <p:cNvSpPr/>
          <p:nvPr/>
        </p:nvSpPr>
        <p:spPr>
          <a:xfrm>
            <a:off x="11504490" y="5861303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lot.clock.4.text"/>
          <p:cNvSpPr/>
          <p:nvPr/>
        </p:nvSpPr>
        <p:spPr>
          <a:xfrm>
            <a:off x="10616710" y="6172199"/>
            <a:ext cx="117905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t" bIns="0" lIns="0" spcFirstLastPara="1" rIns="0" wrap="square" tIns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Day 1 in field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lot.control.1.text"/>
          <p:cNvSpPr/>
          <p:nvPr/>
        </p:nvSpPr>
        <p:spPr>
          <a:xfrm>
            <a:off x="875938" y="5861303"/>
            <a:ext cx="90242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 link kept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lot.control.2.text"/>
          <p:cNvSpPr/>
          <p:nvPr/>
        </p:nvSpPr>
        <p:spPr>
          <a:xfrm>
            <a:off x="2195568" y="5861303"/>
            <a:ext cx="90242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Reason code recorded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8" name="struct.controls.divider.1"/>
          <p:cNvCxnSpPr/>
          <p:nvPr/>
        </p:nvCxnSpPr>
        <p:spPr>
          <a:xfrm>
            <a:off x="1832783" y="5888735"/>
            <a:ext cx="0" cy="31089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69" name="slot.control.3.text"/>
          <p:cNvSpPr/>
          <p:nvPr/>
        </p:nvSpPr>
        <p:spPr>
          <a:xfrm>
            <a:off x="3515198" y="5861303"/>
            <a:ext cx="90242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Owner on record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0" name="struct.controls.divider.2"/>
          <p:cNvCxnSpPr/>
          <p:nvPr/>
        </p:nvCxnSpPr>
        <p:spPr>
          <a:xfrm>
            <a:off x="3152413" y="5888735"/>
            <a:ext cx="0" cy="31089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71" name="slot.control.4.text"/>
          <p:cNvSpPr/>
          <p:nvPr/>
        </p:nvSpPr>
        <p:spPr>
          <a:xfrm>
            <a:off x="4834827" y="5861303"/>
            <a:ext cx="902427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Weekly spot check</a:t>
            </a:r>
            <a:endParaRPr lang="en-US" sz="10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2" name="struct.controls.divider.3"/>
          <p:cNvCxnSpPr/>
          <p:nvPr/>
        </p:nvCxnSpPr>
        <p:spPr>
          <a:xfrm>
            <a:off x="4472042" y="5888735"/>
            <a:ext cx="0" cy="310896"/>
          </a:xfrm>
          <a:prstGeom prst="straightConnector1">
            <a:avLst/>
          </a:prstGeom>
          <a:noFill/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73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Two checks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route every competitor signal to one of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five lanes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truct.lane.order.1"/>
          <p:cNvSpPr/>
          <p:nvPr/>
        </p:nvSpPr>
        <p:spPr>
          <a:xfrm>
            <a:off x="2525567" y="3204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2159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82" name="struct.lane.order.2"/>
          <p:cNvSpPr/>
          <p:nvPr/>
        </p:nvSpPr>
        <p:spPr>
          <a:xfrm>
            <a:off x="4820182" y="3204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2159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83" name="struct.lane.order.3"/>
          <p:cNvSpPr/>
          <p:nvPr/>
        </p:nvSpPr>
        <p:spPr>
          <a:xfrm>
            <a:off x="7114795" y="3204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2159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84" name="struct.lane.order.4"/>
          <p:cNvSpPr/>
          <p:nvPr/>
        </p:nvSpPr>
        <p:spPr>
          <a:xfrm>
            <a:off x="9409409" y="3204972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8000"/>
                </a:moveTo>
                <a:lnTo>
                  <a:pt x="15000" y="12000"/>
                </a:lnTo>
                <a:lnTo>
                  <a:pt x="9000" y="6000"/>
                </a:lnTo>
              </a:path>
            </a:pathLst>
          </a:custGeom>
          <a:noFill/>
          <a:ln w="21590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89" name="slot.signal.1.icon"/>
          <p:cNvSpPr/>
          <p:nvPr/>
        </p:nvSpPr>
        <p:spPr>
          <a:xfrm>
            <a:off x="548614" y="1298448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0" name="slot.signal.2.icon"/>
          <p:cNvSpPr/>
          <p:nvPr/>
        </p:nvSpPr>
        <p:spPr>
          <a:xfrm>
            <a:off x="3831816" y="1298448"/>
            <a:ext cx="201168" cy="20116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2000"/>
                </a:moveTo>
                <a:lnTo>
                  <a:pt x="11000" y="4000"/>
                </a:lnTo>
                <a:moveTo>
                  <a:pt x="5000" y="2000"/>
                </a:moveTo>
                <a:lnTo>
                  <a:pt x="5000" y="4000"/>
                </a:lnTo>
                <a:moveTo>
                  <a:pt x="5000" y="3000"/>
                </a:move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9000"/>
                </a:lnTo>
                <a:cubicBezTo>
                  <a:pt x="2000" y="12314"/>
                  <a:pt x="4686" y="15000"/>
                  <a:pt x="8000" y="15000"/>
                </a:cubicBezTo>
                <a:cubicBezTo>
                  <a:pt x="11314" y="15000"/>
                  <a:pt x="14000" y="12314"/>
                  <a:pt x="14000" y="9000"/>
                </a:cubicBezTo>
                <a:lnTo>
                  <a:pt x="14000" y="5000"/>
                </a:lnTo>
                <a:cubicBezTo>
                  <a:pt x="14000" y="3895"/>
                  <a:pt x="13105" y="3000"/>
                  <a:pt x="12000" y="3000"/>
                </a:cubicBezTo>
                <a:lnTo>
                  <a:pt x="11000" y="3000"/>
                </a:lnTo>
                <a:moveTo>
                  <a:pt x="8000" y="15000"/>
                </a:moveTo>
                <a:cubicBezTo>
                  <a:pt x="8000" y="18314"/>
                  <a:pt x="10686" y="21000"/>
                  <a:pt x="14000" y="21000"/>
                </a:cubicBezTo>
                <a:cubicBezTo>
                  <a:pt x="17314" y="21000"/>
                  <a:pt x="20000" y="18314"/>
                  <a:pt x="20000" y="15000"/>
                </a:cubicBezTo>
                <a:lnTo>
                  <a:pt x="20000" y="12000"/>
                </a:lnTo>
                <a:moveTo>
                  <a:pt x="22000" y="10000"/>
                </a:moveTo>
                <a:cubicBezTo>
                  <a:pt x="22000" y="11105"/>
                  <a:pt x="21105" y="12000"/>
                  <a:pt x="20000" y="12000"/>
                </a:cubicBezTo>
                <a:cubicBezTo>
                  <a:pt x="18895" y="12000"/>
                  <a:pt x="18000" y="11105"/>
                  <a:pt x="18000" y="10000"/>
                </a:cubicBezTo>
                <a:cubicBezTo>
                  <a:pt x="18000" y="8895"/>
                  <a:pt x="18895" y="8000"/>
                  <a:pt x="20000" y="8000"/>
                </a:cubicBezTo>
                <a:cubicBezTo>
                  <a:pt x="21105" y="8000"/>
                  <a:pt x="22000" y="8895"/>
                  <a:pt x="22000" y="10000"/>
                </a:cubicBezTo>
                <a:close/>
              </a:path>
            </a:pathLst>
          </a:custGeom>
          <a:noFill/>
          <a:ln w="165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1" name="slot.lane.1.icon"/>
          <p:cNvSpPr/>
          <p:nvPr/>
        </p:nvSpPr>
        <p:spPr>
          <a:xfrm>
            <a:off x="1990311" y="24505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92" name="slot.lane.2.icon"/>
          <p:cNvSpPr/>
          <p:nvPr/>
        </p:nvSpPr>
        <p:spPr>
          <a:xfrm>
            <a:off x="4284925" y="24505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3" name="slot.lane.3.icon"/>
          <p:cNvSpPr/>
          <p:nvPr/>
        </p:nvSpPr>
        <p:spPr>
          <a:xfrm>
            <a:off x="6579539" y="24505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94" name="slot.lane.4.icon"/>
          <p:cNvSpPr/>
          <p:nvPr/>
        </p:nvSpPr>
        <p:spPr>
          <a:xfrm>
            <a:off x="8874153" y="24505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62" y="12348"/>
                </a:moveTo>
                <a:cubicBezTo>
                  <a:pt x="1979" y="12123"/>
                  <a:pt x="1979" y="11877"/>
                  <a:pt x="2062" y="11652"/>
                </a:cubicBezTo>
                <a:cubicBezTo>
                  <a:pt x="3722" y="7627"/>
                  <a:pt x="7646" y="5001"/>
                  <a:pt x="12000" y="5001"/>
                </a:cubicBezTo>
                <a:cubicBezTo>
                  <a:pt x="16354" y="5001"/>
                  <a:pt x="20278" y="7627"/>
                  <a:pt x="21938" y="11652"/>
                </a:cubicBezTo>
                <a:cubicBezTo>
                  <a:pt x="22021" y="11877"/>
                  <a:pt x="22021" y="12123"/>
                  <a:pt x="21938" y="12348"/>
                </a:cubicBezTo>
                <a:cubicBezTo>
                  <a:pt x="20278" y="16373"/>
                  <a:pt x="16354" y="18999"/>
                  <a:pt x="12000" y="18999"/>
                </a:cubicBezTo>
                <a:cubicBezTo>
                  <a:pt x="7646" y="18999"/>
                  <a:pt x="3722" y="16373"/>
                  <a:pt x="2062" y="12348"/>
                </a:cubicBez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</a:path>
            </a:pathLst>
          </a:custGeom>
          <a:noFill/>
          <a:ln w="2413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95" name="slot.lane.5.icon"/>
          <p:cNvSpPr/>
          <p:nvPr/>
        </p:nvSpPr>
        <p:spPr>
          <a:xfrm>
            <a:off x="11168766" y="24505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21000" y="3000"/>
                </a:lnTo>
                <a:cubicBezTo>
                  <a:pt x="21552" y="3000"/>
                  <a:pt x="22000" y="3448"/>
                  <a:pt x="22000" y="4000"/>
                </a:cubicBezTo>
                <a:lnTo>
                  <a:pt x="22000" y="7000"/>
                </a:lnTo>
                <a:cubicBezTo>
                  <a:pt x="22000" y="7552"/>
                  <a:pt x="21552" y="8000"/>
                  <a:pt x="21000" y="8000"/>
                </a:cubicBezTo>
                <a:lnTo>
                  <a:pt x="3000" y="8000"/>
                </a:lnTo>
                <a:cubicBezTo>
                  <a:pt x="2448" y="8000"/>
                  <a:pt x="2000" y="7552"/>
                  <a:pt x="2000" y="7000"/>
                </a:cubicBezTo>
                <a:lnTo>
                  <a:pt x="2000" y="4000"/>
                </a:lnTo>
                <a:cubicBezTo>
                  <a:pt x="2000" y="3448"/>
                  <a:pt x="2448" y="3000"/>
                  <a:pt x="3000" y="3000"/>
                </a:cubicBezTo>
                <a:close/>
                <a:moveTo>
                  <a:pt x="4000" y="8000"/>
                </a:moveTo>
                <a:lnTo>
                  <a:pt x="4000" y="19000"/>
                </a:lnTo>
                <a:cubicBezTo>
                  <a:pt x="4000" y="20105"/>
                  <a:pt x="4895" y="21000"/>
                  <a:pt x="6000" y="21000"/>
                </a:cubicBezTo>
                <a:lnTo>
                  <a:pt x="18000" y="21000"/>
                </a:lnTo>
                <a:cubicBezTo>
                  <a:pt x="19105" y="21000"/>
                  <a:pt x="20000" y="20105"/>
                  <a:pt x="20000" y="19000"/>
                </a:cubicBezTo>
                <a:lnTo>
                  <a:pt x="20000" y="8000"/>
                </a:lnTo>
                <a:moveTo>
                  <a:pt x="10000" y="12000"/>
                </a:moveTo>
                <a:lnTo>
                  <a:pt x="14000" y="12000"/>
                </a:lnTo>
              </a:path>
            </a:pathLst>
          </a:custGeom>
          <a:noFill/>
          <a:ln w="24130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96" name="slot.control.1.icon"/>
          <p:cNvSpPr/>
          <p:nvPr/>
        </p:nvSpPr>
        <p:spPr>
          <a:xfrm>
            <a:off x="584744" y="59161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3000"/>
                </a:moveTo>
                <a:cubicBezTo>
                  <a:pt x="10869" y="14162"/>
                  <a:pt x="12200" y="14889"/>
                  <a:pt x="13647" y="14992"/>
                </a:cubicBezTo>
                <a:cubicBezTo>
                  <a:pt x="15094" y="15096"/>
                  <a:pt x="16514" y="14566"/>
                  <a:pt x="17540" y="13540"/>
                </a:cubicBezTo>
                <a:lnTo>
                  <a:pt x="20540" y="10540"/>
                </a:lnTo>
                <a:cubicBezTo>
                  <a:pt x="22435" y="8578"/>
                  <a:pt x="22408" y="5460"/>
                  <a:pt x="20479" y="3531"/>
                </a:cubicBezTo>
                <a:cubicBezTo>
                  <a:pt x="18550" y="1602"/>
                  <a:pt x="15432" y="1575"/>
                  <a:pt x="13470" y="3470"/>
                </a:cubicBezTo>
                <a:lnTo>
                  <a:pt x="11750" y="5180"/>
                </a:lnTo>
                <a:moveTo>
                  <a:pt x="14000" y="11000"/>
                </a:moveTo>
                <a:cubicBezTo>
                  <a:pt x="13131" y="9838"/>
                  <a:pt x="11800" y="9111"/>
                  <a:pt x="10353" y="9008"/>
                </a:cubicBezTo>
                <a:cubicBezTo>
                  <a:pt x="8906" y="8904"/>
                  <a:pt x="7486" y="9434"/>
                  <a:pt x="6460" y="10460"/>
                </a:cubicBezTo>
                <a:lnTo>
                  <a:pt x="3460" y="13460"/>
                </a:lnTo>
                <a:cubicBezTo>
                  <a:pt x="1565" y="15422"/>
                  <a:pt x="1592" y="18540"/>
                  <a:pt x="3521" y="20469"/>
                </a:cubicBezTo>
                <a:cubicBezTo>
                  <a:pt x="5450" y="22398"/>
                  <a:pt x="8568" y="22425"/>
                  <a:pt x="10530" y="20530"/>
                </a:cubicBezTo>
                <a:lnTo>
                  <a:pt x="12240" y="18820"/>
                </a:lnTo>
              </a:path>
            </a:pathLst>
          </a:custGeom>
          <a:noFill/>
          <a:ln w="1968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97" name="slot.control.2.icon"/>
          <p:cNvSpPr/>
          <p:nvPr/>
        </p:nvSpPr>
        <p:spPr>
          <a:xfrm>
            <a:off x="1904373" y="59161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586" y="2586"/>
                </a:moveTo>
                <a:cubicBezTo>
                  <a:pt x="12211" y="2211"/>
                  <a:pt x="11702" y="2000"/>
                  <a:pt x="11172" y="2000"/>
                </a:cubicBezTo>
                <a:lnTo>
                  <a:pt x="4000" y="2000"/>
                </a:lnTo>
                <a:cubicBezTo>
                  <a:pt x="2895" y="2000"/>
                  <a:pt x="2000" y="2895"/>
                  <a:pt x="2000" y="4000"/>
                </a:cubicBezTo>
                <a:lnTo>
                  <a:pt x="2000" y="11172"/>
                </a:lnTo>
                <a:cubicBezTo>
                  <a:pt x="2000" y="11702"/>
                  <a:pt x="2211" y="12211"/>
                  <a:pt x="2586" y="12586"/>
                </a:cubicBezTo>
                <a:lnTo>
                  <a:pt x="11290" y="21290"/>
                </a:lnTo>
                <a:cubicBezTo>
                  <a:pt x="12236" y="22230"/>
                  <a:pt x="13764" y="22230"/>
                  <a:pt x="14710" y="21290"/>
                </a:cubicBezTo>
                <a:lnTo>
                  <a:pt x="21290" y="14710"/>
                </a:lnTo>
                <a:cubicBezTo>
                  <a:pt x="22230" y="13764"/>
                  <a:pt x="22230" y="12236"/>
                  <a:pt x="21290" y="11290"/>
                </a:cubicBezTo>
                <a:close/>
              </a:path>
              <a:path w="24000" h="24000">
                <a:moveTo>
                  <a:pt x="8000" y="7500"/>
                </a:moveTo>
                <a:cubicBezTo>
                  <a:pt x="8000" y="7776"/>
                  <a:pt x="7776" y="8000"/>
                  <a:pt x="7500" y="8000"/>
                </a:cubicBezTo>
                <a:cubicBezTo>
                  <a:pt x="7224" y="8000"/>
                  <a:pt x="7000" y="7776"/>
                  <a:pt x="7000" y="7500"/>
                </a:cubicBezTo>
                <a:cubicBezTo>
                  <a:pt x="7000" y="7224"/>
                  <a:pt x="7224" y="7000"/>
                  <a:pt x="7500" y="7000"/>
                </a:cubicBezTo>
                <a:cubicBezTo>
                  <a:pt x="7776" y="7000"/>
                  <a:pt x="8000" y="7224"/>
                  <a:pt x="8000" y="7500"/>
                </a:cubicBezTo>
                <a:close/>
              </a:path>
            </a:pathLst>
          </a:custGeom>
          <a:solidFill>
            <a:schemeClr val="tx1">
              <a:lumMod val="90000"/>
              <a:lumOff val="10000"/>
            </a:schemeClr>
          </a:solidFill>
          <a:ln w="1968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98" name="slot.control.3.icon"/>
          <p:cNvSpPr/>
          <p:nvPr/>
        </p:nvSpPr>
        <p:spPr>
          <a:xfrm>
            <a:off x="3224003" y="59161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99" name="slot.control.4.icon"/>
          <p:cNvSpPr/>
          <p:nvPr/>
        </p:nvSpPr>
        <p:spPr>
          <a:xfrm>
            <a:off x="4543632" y="59161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19685" cap="rnd">
            <a:solidFill>
              <a:schemeClr val="tx1">
                <a:lumMod val="90000"/>
                <a:lumOff val="10000"/>
              </a:schemeClr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duct-screen:device-on-band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signs sourced claims in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queue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bleed.band"/>
          <p:cNvSpPr/>
          <p:nvPr/>
        </p:nvSpPr>
        <p:spPr>
          <a:xfrm>
            <a:off x="0" y="2605946"/>
            <a:ext cx="12192000" cy="181984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screen.window"/>
          <p:cNvSpPr/>
          <p:nvPr/>
        </p:nvSpPr>
        <p:spPr>
          <a:xfrm>
            <a:off x="457200" y="786102"/>
            <a:ext cx="7485461" cy="5459531"/>
          </a:xfrm>
          <a:prstGeom prst="roundRect">
            <a:avLst>
              <a:gd name="adj" fmla="val 83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5" name="screen.dot.1"/>
          <p:cNvSpPr/>
          <p:nvPr/>
        </p:nvSpPr>
        <p:spPr>
          <a:xfrm>
            <a:off x="621792" y="936978"/>
            <a:ext cx="100584" cy="100584"/>
          </a:xfrm>
          <a:prstGeom prst="ellipse">
            <a:avLst/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6" name="screen.dot.2"/>
          <p:cNvSpPr/>
          <p:nvPr/>
        </p:nvSpPr>
        <p:spPr>
          <a:xfrm>
            <a:off x="795528" y="936978"/>
            <a:ext cx="100584" cy="100584"/>
          </a:xfrm>
          <a:prstGeom prst="ellipse">
            <a:avLst/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7" name="screen.dot.3"/>
          <p:cNvSpPr/>
          <p:nvPr/>
        </p:nvSpPr>
        <p:spPr>
          <a:xfrm>
            <a:off x="969264" y="936978"/>
            <a:ext cx="100584" cy="100584"/>
          </a:xfrm>
          <a:prstGeom prst="ellipse">
            <a:avLst/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8" name="screen.address"/>
          <p:cNvSpPr/>
          <p:nvPr/>
        </p:nvSpPr>
        <p:spPr>
          <a:xfrm>
            <a:off x="2627984" y="877542"/>
            <a:ext cx="3143894" cy="219456"/>
          </a:xfrm>
          <a:prstGeom prst="roundRect">
            <a:avLst>
              <a:gd name="adj" fmla="val 20833"/>
            </a:avLst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9" name="screen.address.lock"/>
          <p:cNvSpPr/>
          <p:nvPr/>
        </p:nvSpPr>
        <p:spPr>
          <a:xfrm>
            <a:off x="2719424" y="923262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10795" cap="rnd">
            <a:solidFill>
              <a:schemeClr val="tx1">
                <a:lumMod val="65000"/>
                <a:lumOff val="35000"/>
              </a:schemeClr>
            </a:solidFill>
            <a:round/>
          </a:ln>
          <a:effectLst/>
        </p:spPr>
        <p:txBody>
          <a:bodyPr/>
          <a:p/>
        </p:txBody>
      </p:sp>
      <p:pic>
        <p:nvPicPr>
          <p:cNvPr id="10" name="screen.screen" descr="Review queue, week 46: North brief, claims 1 to 3 linked, claim 4 held (capture, smallest type 8.6pt as placed)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188438"/>
            <a:ext cx="7302581" cy="4965755"/>
          </a:xfrm>
          <a:prstGeom prst="rect">
            <a:avLst/>
          </a:prstGeom>
          <a:effectLst/>
        </p:spPr>
      </p:pic>
      <p:sp>
        <p:nvSpPr>
          <p:cNvPr id="11" name="screen.pill"/>
          <p:cNvSpPr/>
          <p:nvPr/>
        </p:nvSpPr>
        <p:spPr>
          <a:xfrm>
            <a:off x="8936416" y="3305556"/>
            <a:ext cx="2142957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Unsourced claim held</a:t>
            </a:r>
            <a:endParaRPr lang="en-US" sz="12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utput-capture:parallel-pages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weekly brief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per region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every claim sourced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ages.ground"/>
          <p:cNvSpPr/>
          <p:nvPr/>
        </p:nvSpPr>
        <p:spPr>
          <a:xfrm>
            <a:off x="457200" y="822960"/>
            <a:ext cx="11341608" cy="5431536"/>
          </a:xfrm>
          <a:prstGeom prst="roundRect">
            <a:avLst>
              <a:gd name="adj" fmla="val 84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page.1.edge"/>
          <p:cNvSpPr/>
          <p:nvPr/>
        </p:nvSpPr>
        <p:spPr>
          <a:xfrm>
            <a:off x="713232" y="1054649"/>
            <a:ext cx="5250180" cy="496815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pic>
        <p:nvPicPr>
          <p:cNvPr id="5" name="page.1.capture" descr="Signed one-page field brief for the North region, week of 6 Dec 20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72937"/>
            <a:ext cx="5213604" cy="4931582"/>
          </a:xfrm>
          <a:prstGeom prst="rect">
            <a:avLst/>
          </a:prstGeom>
        </p:spPr>
      </p:pic>
      <p:sp>
        <p:nvSpPr>
          <p:cNvPr id="6" name="page.2.edge"/>
          <p:cNvSpPr/>
          <p:nvPr/>
        </p:nvSpPr>
        <p:spPr>
          <a:xfrm>
            <a:off x="6292596" y="1054649"/>
            <a:ext cx="5250180" cy="496815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pic>
        <p:nvPicPr>
          <p:cNvPr id="7" name="page.2.capture" descr="Signed one-page field brief for the Coastal region, week of 6 Dec 20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884" y="1072937"/>
            <a:ext cx="5213604" cy="4931582"/>
          </a:xfrm>
          <a:prstGeom prst="rect">
            <a:avLst/>
          </a:prstGeom>
        </p:spPr>
      </p:pic>
      <p:sp>
        <p:nvSpPr>
          <p:cNvPr id="8" name="pages.compare"/>
          <p:cNvSpPr/>
          <p:nvPr/>
        </p:nvSpPr>
        <p:spPr>
          <a:xfrm>
            <a:off x="5990844" y="3401568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3000"/>
                </a:moveTo>
                <a:lnTo>
                  <a:pt x="20000" y="7000"/>
                </a:lnTo>
                <a:lnTo>
                  <a:pt x="16000" y="11000"/>
                </a:lnTo>
                <a:moveTo>
                  <a:pt x="20000" y="7000"/>
                </a:moveTo>
                <a:lnTo>
                  <a:pt x="4000" y="7000"/>
                </a:lnTo>
                <a:moveTo>
                  <a:pt x="8000" y="21000"/>
                </a:moveTo>
                <a:lnTo>
                  <a:pt x="4000" y="17000"/>
                </a:lnTo>
                <a:lnTo>
                  <a:pt x="8000" y="13000"/>
                </a:lnTo>
                <a:moveTo>
                  <a:pt x="4000" y="17000"/>
                </a:moveTo>
                <a:lnTo>
                  <a:pt x="20000" y="17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ference-table:row-table-question-panel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Six approved source types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feed the scan, each with a cadence and lane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1024128" y="777240"/>
          <a:ext cx="7757160" cy="547725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74520"/>
                <a:gridCol w="2514600"/>
                <a:gridCol w="1051560"/>
                <a:gridCol w="1234440"/>
                <a:gridCol w="1082040"/>
              </a:tblGrid>
              <a:tr h="566928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kern="0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  <a:endParaRPr lang="en-US" sz="1100" b="1" i="0" kern="0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kern="0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What it yields</a:t>
                      </a:r>
                      <a:endParaRPr lang="en-US" sz="1100" b="1" i="0" kern="0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kern="0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Scan cadence</a:t>
                      </a:r>
                      <a:endParaRPr lang="en-US" sz="1100" b="1" i="0" kern="0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kern="0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Usual lane</a:t>
                      </a:r>
                      <a:endParaRPr lang="en-US" sz="1100" b="1" i="0" kern="0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kern="0" dirty="0">
                          <a:solidFill>
                            <a:schemeClr val="bg1"/>
                          </a:solidFill>
                          <a:latin typeface="Arial"/>
                          <a:ea typeface="Arial"/>
                          <a:cs typeface="Arial"/>
                        </a:rPr>
                        <a:t>Approved by</a:t>
                      </a:r>
                      <a:endParaRPr lang="en-US" sz="1100" b="1" i="0" kern="0" dirty="0">
                        <a:solidFill>
                          <a:schemeClr val="bg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818388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Regulatory notices</a:t>
                      </a:r>
                      <a:endParaRPr lang="en-US" sz="11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FDA, EMA and MHRA</a:t>
                      </a:r>
                      <a:endParaRPr lang="en-US" sz="1000" b="0" i="0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Label changes, approvals, safety letters, recalls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Daily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Medical claim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Medical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18388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Trial registries</a:t>
                      </a:r>
                      <a:endParaRPr lang="en-US" sz="11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ClinicalTrials.gov, EU CTR</a:t>
                      </a:r>
                      <a:endParaRPr lang="en-US" sz="1000" b="0" i="0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New trials, endpoints, status and enrollment changes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Daily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Medical claim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Medical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18388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Press releases</a:t>
                      </a:r>
                      <a:endParaRPr lang="en-US" sz="11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Newsrooms and newswires</a:t>
                      </a:r>
                      <a:endParaRPr lang="en-US" sz="1000" b="0" i="0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Launches, deals, data readouts, guidance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Daily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Brief ready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Field excellence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18388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Congress abstracts</a:t>
                      </a:r>
                      <a:endParaRPr lang="en-US" sz="11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Major society meetings</a:t>
                      </a:r>
                      <a:endParaRPr lang="en-US" sz="1000" b="0" i="0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Data ahead of publication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Per congress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Medical claim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Medical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18388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Payer and formulary notices</a:t>
                      </a:r>
                      <a:endParaRPr lang="en-US" sz="11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National and regional plans</a:t>
                      </a:r>
                      <a:endParaRPr lang="en-US" sz="1000" b="0" i="0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Coverage and price changes by plan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Weekly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Access change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Market access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18388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kern="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Competitor websites</a:t>
                      </a:r>
                      <a:endParaRPr lang="en-US" sz="1100" b="1" i="0" kern="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kern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Product and HCP pages</a:t>
                      </a:r>
                      <a:endParaRPr lang="en-US" sz="1000" b="0" i="0" kern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Messaging and program changes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Weekly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Watch only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marL="0" indent="0"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kern="0" dirty="0">
                          <a:solidFill>
                            <a:schemeClr val="tx1">
                              <a:lumMod val="80000"/>
                              <a:lumOff val="20000"/>
                            </a:schemeClr>
                          </a:solidFill>
                          <a:latin typeface="Arial"/>
                          <a:ea typeface="Arial"/>
                          <a:cs typeface="Arial"/>
                        </a:rPr>
                        <a:t>Field excellence</a:t>
                      </a:r>
                      <a:endParaRPr lang="en-US" sz="1100" b="0" i="0" kern="0" dirty="0">
                        <a:solidFill>
                          <a:schemeClr val="tx1">
                            <a:lumMod val="80000"/>
                            <a:lumOff val="20000"/>
                          </a:schemeClr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able.icon.1"/>
          <p:cNvSpPr/>
          <p:nvPr/>
        </p:nvSpPr>
        <p:spPr>
          <a:xfrm>
            <a:off x="521208" y="1588770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" name="table.icon.2"/>
          <p:cNvSpPr/>
          <p:nvPr/>
        </p:nvSpPr>
        <p:spPr>
          <a:xfrm>
            <a:off x="521208" y="2407158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2000"/>
                </a:moveTo>
                <a:lnTo>
                  <a:pt x="14000" y="8000"/>
                </a:lnTo>
                <a:cubicBezTo>
                  <a:pt x="14000" y="8335"/>
                  <a:pt x="14084" y="8666"/>
                  <a:pt x="14245" y="8960"/>
                </a:cubicBezTo>
                <a:lnTo>
                  <a:pt x="19755" y="19040"/>
                </a:lnTo>
                <a:cubicBezTo>
                  <a:pt x="20094" y="19660"/>
                  <a:pt x="20081" y="20412"/>
                  <a:pt x="19721" y="21020"/>
                </a:cubicBezTo>
                <a:cubicBezTo>
                  <a:pt x="19361" y="21628"/>
                  <a:pt x="18706" y="22000"/>
                  <a:pt x="18000" y="22000"/>
                </a:cubicBezTo>
                <a:lnTo>
                  <a:pt x="6000" y="22000"/>
                </a:lnTo>
                <a:cubicBezTo>
                  <a:pt x="5294" y="22000"/>
                  <a:pt x="4639" y="21628"/>
                  <a:pt x="4279" y="21020"/>
                </a:cubicBezTo>
                <a:cubicBezTo>
                  <a:pt x="3919" y="20412"/>
                  <a:pt x="3906" y="19660"/>
                  <a:pt x="4245" y="19040"/>
                </a:cubicBezTo>
                <a:lnTo>
                  <a:pt x="9755" y="8960"/>
                </a:lnTo>
                <a:cubicBezTo>
                  <a:pt x="9916" y="8666"/>
                  <a:pt x="10000" y="8335"/>
                  <a:pt x="10000" y="8000"/>
                </a:cubicBezTo>
                <a:lnTo>
                  <a:pt x="10000" y="2000"/>
                </a:lnTo>
                <a:moveTo>
                  <a:pt x="6453" y="15000"/>
                </a:moveTo>
                <a:lnTo>
                  <a:pt x="17547" y="15000"/>
                </a:lnTo>
                <a:moveTo>
                  <a:pt x="8500" y="2000"/>
                </a:moveTo>
                <a:lnTo>
                  <a:pt x="15500" y="2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" name="table.icon.3"/>
          <p:cNvSpPr/>
          <p:nvPr/>
        </p:nvSpPr>
        <p:spPr>
          <a:xfrm>
            <a:off x="521208" y="3225546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" name="table.icon.4"/>
          <p:cNvSpPr/>
          <p:nvPr/>
        </p:nvSpPr>
        <p:spPr>
          <a:xfrm>
            <a:off x="521208" y="404393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" name="table.icon.5"/>
          <p:cNvSpPr/>
          <p:nvPr/>
        </p:nvSpPr>
        <p:spPr>
          <a:xfrm>
            <a:off x="521208" y="4862322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7000"/>
                </a:moveTo>
                <a:lnTo>
                  <a:pt x="12000" y="7000"/>
                </a:lnTo>
                <a:moveTo>
                  <a:pt x="16000" y="8000"/>
                </a:moveTo>
                <a:lnTo>
                  <a:pt x="10000" y="8000"/>
                </a:lnTo>
                <a:cubicBezTo>
                  <a:pt x="8895" y="8000"/>
                  <a:pt x="8000" y="8895"/>
                  <a:pt x="8000" y="10000"/>
                </a:cubicBezTo>
                <a:cubicBezTo>
                  <a:pt x="8000" y="11105"/>
                  <a:pt x="8895" y="12000"/>
                  <a:pt x="10000" y="12000"/>
                </a:cubicBezTo>
                <a:lnTo>
                  <a:pt x="14000" y="12000"/>
                </a:lnTo>
                <a:cubicBezTo>
                  <a:pt x="15105" y="12000"/>
                  <a:pt x="16000" y="12895"/>
                  <a:pt x="16000" y="14000"/>
                </a:cubicBezTo>
                <a:cubicBezTo>
                  <a:pt x="16000" y="15105"/>
                  <a:pt x="15105" y="16000"/>
                  <a:pt x="14000" y="16000"/>
                </a:cubicBezTo>
                <a:lnTo>
                  <a:pt x="8000" y="16000"/>
                </a:lnTo>
                <a:moveTo>
                  <a:pt x="4000" y="3000"/>
                </a:moveTo>
                <a:cubicBezTo>
                  <a:pt x="4000" y="2448"/>
                  <a:pt x="4448" y="2000"/>
                  <a:pt x="5000" y="2000"/>
                </a:cubicBezTo>
                <a:cubicBezTo>
                  <a:pt x="5248" y="1999"/>
                  <a:pt x="5490" y="2068"/>
                  <a:pt x="5700" y="2200"/>
                </a:cubicBezTo>
                <a:lnTo>
                  <a:pt x="6633" y="2800"/>
                </a:lnTo>
                <a:cubicBezTo>
                  <a:pt x="7060" y="3073"/>
                  <a:pt x="7606" y="3073"/>
                  <a:pt x="8033" y="2800"/>
                </a:cubicBezTo>
                <a:lnTo>
                  <a:pt x="8967" y="2200"/>
                </a:lnTo>
                <a:cubicBezTo>
                  <a:pt x="9394" y="1927"/>
                  <a:pt x="9940" y="1927"/>
                  <a:pt x="10367" y="2200"/>
                </a:cubicBezTo>
                <a:lnTo>
                  <a:pt x="11300" y="2800"/>
                </a:lnTo>
                <a:cubicBezTo>
                  <a:pt x="11727" y="3073"/>
                  <a:pt x="12273" y="3073"/>
                  <a:pt x="12700" y="2800"/>
                </a:cubicBezTo>
                <a:lnTo>
                  <a:pt x="13633" y="2200"/>
                </a:lnTo>
                <a:cubicBezTo>
                  <a:pt x="14060" y="1927"/>
                  <a:pt x="14606" y="1927"/>
                  <a:pt x="15033" y="2200"/>
                </a:cubicBezTo>
                <a:lnTo>
                  <a:pt x="15967" y="2800"/>
                </a:lnTo>
                <a:cubicBezTo>
                  <a:pt x="16394" y="3073"/>
                  <a:pt x="16940" y="3073"/>
                  <a:pt x="17367" y="2800"/>
                </a:cubicBezTo>
                <a:lnTo>
                  <a:pt x="18300" y="2200"/>
                </a:lnTo>
                <a:cubicBezTo>
                  <a:pt x="18510" y="2068"/>
                  <a:pt x="18752" y="1999"/>
                  <a:pt x="19000" y="2000"/>
                </a:cubicBezTo>
                <a:cubicBezTo>
                  <a:pt x="19552" y="2000"/>
                  <a:pt x="20000" y="2448"/>
                  <a:pt x="20000" y="3000"/>
                </a:cubicBezTo>
                <a:lnTo>
                  <a:pt x="20000" y="21000"/>
                </a:lnTo>
                <a:cubicBezTo>
                  <a:pt x="20000" y="21552"/>
                  <a:pt x="19552" y="22000"/>
                  <a:pt x="19000" y="22000"/>
                </a:cubicBezTo>
                <a:cubicBezTo>
                  <a:pt x="18752" y="22001"/>
                  <a:pt x="18510" y="21932"/>
                  <a:pt x="18300" y="21800"/>
                </a:cubicBezTo>
                <a:lnTo>
                  <a:pt x="17367" y="21200"/>
                </a:lnTo>
                <a:cubicBezTo>
                  <a:pt x="16940" y="20927"/>
                  <a:pt x="16394" y="20927"/>
                  <a:pt x="15967" y="21200"/>
                </a:cubicBezTo>
                <a:lnTo>
                  <a:pt x="15033" y="21800"/>
                </a:lnTo>
                <a:cubicBezTo>
                  <a:pt x="14606" y="22073"/>
                  <a:pt x="14060" y="22073"/>
                  <a:pt x="13633" y="21800"/>
                </a:cubicBezTo>
                <a:lnTo>
                  <a:pt x="12700" y="21200"/>
                </a:lnTo>
                <a:cubicBezTo>
                  <a:pt x="12273" y="20927"/>
                  <a:pt x="11727" y="20927"/>
                  <a:pt x="11300" y="21200"/>
                </a:cubicBezTo>
                <a:lnTo>
                  <a:pt x="10367" y="21800"/>
                </a:lnTo>
                <a:cubicBezTo>
                  <a:pt x="9940" y="22073"/>
                  <a:pt x="9394" y="22073"/>
                  <a:pt x="8967" y="21800"/>
                </a:cubicBezTo>
                <a:lnTo>
                  <a:pt x="8033" y="21200"/>
                </a:lnTo>
                <a:cubicBezTo>
                  <a:pt x="7606" y="20927"/>
                  <a:pt x="7060" y="20927"/>
                  <a:pt x="6633" y="21200"/>
                </a:cubicBezTo>
                <a:lnTo>
                  <a:pt x="5700" y="21800"/>
                </a:lnTo>
                <a:cubicBezTo>
                  <a:pt x="5490" y="21932"/>
                  <a:pt x="5248" y="22001"/>
                  <a:pt x="5000" y="22000"/>
                </a:cubicBezTo>
                <a:cubicBezTo>
                  <a:pt x="4448" y="22000"/>
                  <a:pt x="4000" y="21552"/>
                  <a:pt x="4000" y="21000"/>
                </a:cubicBezTo>
                <a:close/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9" name="table.icon.6"/>
          <p:cNvSpPr/>
          <p:nvPr/>
        </p:nvSpPr>
        <p:spPr>
          <a:xfrm>
            <a:off x="521208" y="5680710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2000"/>
                </a:moveTo>
                <a:cubicBezTo>
                  <a:pt x="6667" y="7600"/>
                  <a:pt x="6667" y="16400"/>
                  <a:pt x="12000" y="22000"/>
                </a:cubicBezTo>
                <a:cubicBezTo>
                  <a:pt x="17333" y="16400"/>
                  <a:pt x="17333" y="7600"/>
                  <a:pt x="12000" y="2000"/>
                </a:cubicBezTo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" name="panel"/>
          <p:cNvSpPr/>
          <p:nvPr/>
        </p:nvSpPr>
        <p:spPr>
          <a:xfrm>
            <a:off x="9055608" y="777240"/>
            <a:ext cx="2743200" cy="5477256"/>
          </a:xfrm>
          <a:prstGeom prst="roundRect">
            <a:avLst>
              <a:gd name="adj" fmla="val 166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1" name="panel.head"/>
          <p:cNvSpPr txBox="1"/>
          <p:nvPr/>
        </p:nvSpPr>
        <p:spPr>
          <a:xfrm>
            <a:off x="9284208" y="1033272"/>
            <a:ext cx="2286000" cy="42681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Questions each brief answers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anel.q.1.icon"/>
          <p:cNvSpPr/>
          <p:nvPr/>
        </p:nvSpPr>
        <p:spPr>
          <a:xfrm>
            <a:off x="9284208" y="1734407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9090" y="9000"/>
                </a:moveTo>
                <a:cubicBezTo>
                  <a:pt x="9575" y="7620"/>
                  <a:pt x="10985" y="6791"/>
                  <a:pt x="12427" y="7039"/>
                </a:cubicBezTo>
                <a:cubicBezTo>
                  <a:pt x="13869" y="7286"/>
                  <a:pt x="14922" y="8537"/>
                  <a:pt x="14920" y="10000"/>
                </a:cubicBezTo>
                <a:cubicBezTo>
                  <a:pt x="14920" y="12000"/>
                  <a:pt x="11920" y="13000"/>
                  <a:pt x="11920" y="13000"/>
                </a:cubicBez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3" name="panel.q.1.text"/>
          <p:cNvSpPr txBox="1"/>
          <p:nvPr/>
        </p:nvSpPr>
        <p:spPr>
          <a:xfrm>
            <a:off x="9723120" y="1734407"/>
            <a:ext cx="1847088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What moved this week?</a:t>
            </a:r>
            <a:endParaRPr lang="en-US" sz="12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Lead item at the page top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" name="panel.q.1.rule"/>
          <p:cNvCxnSpPr/>
          <p:nvPr/>
        </p:nvCxnSpPr>
        <p:spPr>
          <a:xfrm>
            <a:off x="9284208" y="2478915"/>
            <a:ext cx="228600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5" name="panel.q.2.icon"/>
          <p:cNvSpPr/>
          <p:nvPr/>
        </p:nvSpPr>
        <p:spPr>
          <a:xfrm>
            <a:off x="9284208" y="2664503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9090" y="9000"/>
                </a:moveTo>
                <a:cubicBezTo>
                  <a:pt x="9575" y="7620"/>
                  <a:pt x="10985" y="6791"/>
                  <a:pt x="12427" y="7039"/>
                </a:cubicBezTo>
                <a:cubicBezTo>
                  <a:pt x="13869" y="7286"/>
                  <a:pt x="14922" y="8537"/>
                  <a:pt x="14920" y="10000"/>
                </a:cubicBezTo>
                <a:cubicBezTo>
                  <a:pt x="14920" y="12000"/>
                  <a:pt x="11920" y="13000"/>
                  <a:pt x="11920" y="13000"/>
                </a:cubicBez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" name="panel.q.2.text"/>
          <p:cNvSpPr txBox="1"/>
          <p:nvPr/>
        </p:nvSpPr>
        <p:spPr>
          <a:xfrm>
            <a:off x="9723120" y="2664503"/>
            <a:ext cx="1847088" cy="72659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Which accounts does it touch?</a:t>
            </a:r>
            <a:endParaRPr lang="en-US" sz="12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Named accounts by territory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" name="panel.q.2.rule"/>
          <p:cNvCxnSpPr/>
          <p:nvPr/>
        </p:nvCxnSpPr>
        <p:spPr>
          <a:xfrm>
            <a:off x="9284208" y="3576687"/>
            <a:ext cx="228600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8" name="panel.q.3.icon"/>
          <p:cNvSpPr/>
          <p:nvPr/>
        </p:nvSpPr>
        <p:spPr>
          <a:xfrm>
            <a:off x="9284208" y="376227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9090" y="9000"/>
                </a:moveTo>
                <a:cubicBezTo>
                  <a:pt x="9575" y="7620"/>
                  <a:pt x="10985" y="6791"/>
                  <a:pt x="12427" y="7039"/>
                </a:cubicBezTo>
                <a:cubicBezTo>
                  <a:pt x="13869" y="7286"/>
                  <a:pt x="14922" y="8537"/>
                  <a:pt x="14920" y="10000"/>
                </a:cubicBezTo>
                <a:cubicBezTo>
                  <a:pt x="14920" y="12000"/>
                  <a:pt x="11920" y="13000"/>
                  <a:pt x="11920" y="13000"/>
                </a:cubicBez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9" name="panel.q.3.text"/>
          <p:cNvSpPr txBox="1"/>
          <p:nvPr/>
        </p:nvSpPr>
        <p:spPr>
          <a:xfrm>
            <a:off x="9723120" y="3762275"/>
            <a:ext cx="1847088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What may a rep say, and not say?</a:t>
            </a:r>
            <a:endParaRPr lang="en-US" sz="12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Approved lines and limits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" name="panel.q.3.rule"/>
          <p:cNvCxnSpPr/>
          <p:nvPr/>
        </p:nvCxnSpPr>
        <p:spPr>
          <a:xfrm>
            <a:off x="9284208" y="4506782"/>
            <a:ext cx="228600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1" name="panel.q.4.icon"/>
          <p:cNvSpPr/>
          <p:nvPr/>
        </p:nvSpPr>
        <p:spPr>
          <a:xfrm>
            <a:off x="9284208" y="469237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9090" y="9000"/>
                </a:moveTo>
                <a:cubicBezTo>
                  <a:pt x="9575" y="7620"/>
                  <a:pt x="10985" y="6791"/>
                  <a:pt x="12427" y="7039"/>
                </a:cubicBezTo>
                <a:cubicBezTo>
                  <a:pt x="13869" y="7286"/>
                  <a:pt x="14922" y="8537"/>
                  <a:pt x="14920" y="10000"/>
                </a:cubicBezTo>
                <a:cubicBezTo>
                  <a:pt x="14920" y="12000"/>
                  <a:pt x="11920" y="13000"/>
                  <a:pt x="11920" y="13000"/>
                </a:cubicBez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2" name="panel.q.4.text"/>
          <p:cNvSpPr txBox="1"/>
          <p:nvPr/>
        </p:nvSpPr>
        <p:spPr>
          <a:xfrm>
            <a:off x="9723120" y="4692370"/>
            <a:ext cx="1847088" cy="3759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Where is the source?</a:t>
            </a:r>
            <a:endParaRPr lang="en-US" sz="12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Link beside every claim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3" name="panel.q.4.rule"/>
          <p:cNvCxnSpPr/>
          <p:nvPr/>
        </p:nvCxnSpPr>
        <p:spPr>
          <a:xfrm>
            <a:off x="9284208" y="5253957"/>
            <a:ext cx="228600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4" name="panel.q.5.icon"/>
          <p:cNvSpPr/>
          <p:nvPr/>
        </p:nvSpPr>
        <p:spPr>
          <a:xfrm>
            <a:off x="9284208" y="5439545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9090" y="9000"/>
                </a:moveTo>
                <a:cubicBezTo>
                  <a:pt x="9575" y="7620"/>
                  <a:pt x="10985" y="6791"/>
                  <a:pt x="12427" y="7039"/>
                </a:cubicBezTo>
                <a:cubicBezTo>
                  <a:pt x="13869" y="7286"/>
                  <a:pt x="14922" y="8537"/>
                  <a:pt x="14920" y="10000"/>
                </a:cubicBezTo>
                <a:cubicBezTo>
                  <a:pt x="14920" y="12000"/>
                  <a:pt x="11920" y="13000"/>
                  <a:pt x="11920" y="13000"/>
                </a:cubicBezTo>
                <a:moveTo>
                  <a:pt x="12000" y="17000"/>
                </a:moveTo>
                <a:lnTo>
                  <a:pt x="12010" y="17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5" name="panel.q.5.text"/>
          <p:cNvSpPr txBox="1"/>
          <p:nvPr/>
        </p:nvSpPr>
        <p:spPr>
          <a:xfrm>
            <a:off x="9723120" y="5439545"/>
            <a:ext cx="1847088" cy="5589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Who signed it, and when?</a:t>
            </a:r>
            <a:endParaRPr lang="en-US" sz="12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Reviewer name and date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ection-divider:brand-block-numeral">
    <p:spTree>
      <p:nvGrpSpPr>
        <p:cNvPr id="1" name=""/>
        <p:cNvGrpSpPr/>
        <p:nvPr/>
      </p:nvGrpSpPr>
      <p:grpSpPr/>
      <p:sp>
        <p:nvSpPr>
          <p:cNvPr id="2" name="divider.block"/>
          <p:cNvSpPr/>
          <p:nvPr/>
        </p:nvSpPr>
        <p:spPr>
          <a:xfrm>
            <a:off x="457200" y="777240"/>
            <a:ext cx="4206240" cy="5477256"/>
          </a:xfrm>
          <a:prstGeom prst="roundRect">
            <a:avLst>
              <a:gd name="adj" fmla="val 108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" name="divider.numeral"/>
          <p:cNvSpPr txBox="1"/>
          <p:nvPr/>
        </p:nvSpPr>
        <p:spPr>
          <a:xfrm>
            <a:off x="786384" y="3541231"/>
            <a:ext cx="3657600" cy="243894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04</a:t>
            </a:r>
            <a:endParaRPr lang="en-US" sz="16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5394960" y="2556570"/>
            <a:ext cx="6403848" cy="82314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How it is </a:t>
            </a:r>
            <a:r>
              <a:rPr lang="en-US" sz="5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built</a:t>
            </a:r>
            <a:endParaRPr lang="en-US" sz="5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" name="divider.track"/>
          <p:cNvCxnSpPr/>
          <p:nvPr/>
        </p:nvCxnSpPr>
        <p:spPr>
          <a:xfrm>
            <a:off x="5605272" y="4001506"/>
            <a:ext cx="310896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6" name="divider.pos.1"/>
          <p:cNvSpPr/>
          <p:nvPr/>
        </p:nvSpPr>
        <p:spPr>
          <a:xfrm>
            <a:off x="5394960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divider.pos.2"/>
          <p:cNvSpPr/>
          <p:nvPr/>
        </p:nvSpPr>
        <p:spPr>
          <a:xfrm>
            <a:off x="6016752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divider.pos.3"/>
          <p:cNvSpPr/>
          <p:nvPr/>
        </p:nvSpPr>
        <p:spPr>
          <a:xfrm>
            <a:off x="6638544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divider.pos.4"/>
          <p:cNvSpPr/>
          <p:nvPr/>
        </p:nvSpPr>
        <p:spPr>
          <a:xfrm>
            <a:off x="7260336" y="3791194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divider.pos.5"/>
          <p:cNvSpPr/>
          <p:nvPr/>
        </p:nvSpPr>
        <p:spPr>
          <a:xfrm>
            <a:off x="7882128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divider.pos.6"/>
          <p:cNvSpPr/>
          <p:nvPr/>
        </p:nvSpPr>
        <p:spPr>
          <a:xfrm>
            <a:off x="8503920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6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ayered-architecture:l0-house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Four platform layers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carry every brief from public signal to field rep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l0.g.sources.frame"/>
          <p:cNvSpPr/>
          <p:nvPr/>
        </p:nvSpPr>
        <p:spPr>
          <a:xfrm>
            <a:off x="502920" y="822960"/>
            <a:ext cx="914670" cy="5385816"/>
          </a:xfrm>
          <a:prstGeom prst="roundRect">
            <a:avLst>
              <a:gd name="adj" fmla="val 4998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4" name="l0.g.sources.bar"/>
          <p:cNvSpPr/>
          <p:nvPr/>
        </p:nvSpPr>
        <p:spPr>
          <a:xfrm>
            <a:off x="502920" y="822960"/>
            <a:ext cx="914670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l0.g.sources.label"/>
          <p:cNvSpPr txBox="1"/>
          <p:nvPr/>
        </p:nvSpPr>
        <p:spPr>
          <a:xfrm>
            <a:off x="594360" y="883813"/>
            <a:ext cx="731790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l0.g.field.frame"/>
          <p:cNvSpPr/>
          <p:nvPr/>
        </p:nvSpPr>
        <p:spPr>
          <a:xfrm>
            <a:off x="10838418" y="822960"/>
            <a:ext cx="914670" cy="5385816"/>
          </a:xfrm>
          <a:prstGeom prst="roundRect">
            <a:avLst>
              <a:gd name="adj" fmla="val 4998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7" name="l0.g.field.bar"/>
          <p:cNvSpPr/>
          <p:nvPr/>
        </p:nvSpPr>
        <p:spPr>
          <a:xfrm>
            <a:off x="10838418" y="822960"/>
            <a:ext cx="914670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8" name="l0.g.field.label"/>
          <p:cNvSpPr txBox="1"/>
          <p:nvPr/>
        </p:nvSpPr>
        <p:spPr>
          <a:xfrm>
            <a:off x="10929858" y="883813"/>
            <a:ext cx="731790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l0.g.plat.frame"/>
          <p:cNvSpPr/>
          <p:nvPr/>
        </p:nvSpPr>
        <p:spPr>
          <a:xfrm>
            <a:off x="1509030" y="822960"/>
            <a:ext cx="9237947" cy="5385816"/>
          </a:xfrm>
          <a:prstGeom prst="rect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10" name="l0.g.plat.label"/>
          <p:cNvSpPr txBox="1"/>
          <p:nvPr/>
        </p:nvSpPr>
        <p:spPr>
          <a:xfrm>
            <a:off x="1582182" y="877824"/>
            <a:ext cx="279352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platform · one AWS account, eu-west-1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l0.g.idrail.frame"/>
          <p:cNvSpPr/>
          <p:nvPr/>
        </p:nvSpPr>
        <p:spPr>
          <a:xfrm>
            <a:off x="1646190" y="1191041"/>
            <a:ext cx="960411" cy="3926553"/>
          </a:xfrm>
          <a:prstGeom prst="roundRect">
            <a:avLst>
              <a:gd name="adj" fmla="val 476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12" name="l0.g.idrail.label"/>
          <p:cNvSpPr txBox="1"/>
          <p:nvPr/>
        </p:nvSpPr>
        <p:spPr>
          <a:xfrm>
            <a:off x="1719342" y="1245905"/>
            <a:ext cx="48566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Identity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l0.g.obsrail.frame"/>
          <p:cNvSpPr/>
          <p:nvPr/>
        </p:nvSpPr>
        <p:spPr>
          <a:xfrm>
            <a:off x="9649406" y="1191041"/>
            <a:ext cx="960411" cy="3926553"/>
          </a:xfrm>
          <a:prstGeom prst="roundRect">
            <a:avLst>
              <a:gd name="adj" fmla="val 476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14" name="l0.g.obsrail.label"/>
          <p:cNvSpPr txBox="1"/>
          <p:nvPr/>
        </p:nvSpPr>
        <p:spPr>
          <a:xfrm>
            <a:off x="9722558" y="1245905"/>
            <a:ext cx="71216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Operations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l0.g.ingest.frame"/>
          <p:cNvSpPr/>
          <p:nvPr/>
        </p:nvSpPr>
        <p:spPr>
          <a:xfrm>
            <a:off x="2698042" y="1191041"/>
            <a:ext cx="2972648" cy="1948038"/>
          </a:xfrm>
          <a:prstGeom prst="roundRect">
            <a:avLst>
              <a:gd name="adj" fmla="val 2346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6" name="l0.g.ingest.bar"/>
          <p:cNvSpPr/>
          <p:nvPr/>
        </p:nvSpPr>
        <p:spPr>
          <a:xfrm>
            <a:off x="2698042" y="1191041"/>
            <a:ext cx="2972648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17" name="l0.g.ingest.label"/>
          <p:cNvSpPr txBox="1"/>
          <p:nvPr/>
        </p:nvSpPr>
        <p:spPr>
          <a:xfrm>
            <a:off x="2789482" y="1251895"/>
            <a:ext cx="2789768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Ingest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l0.g.store.frame"/>
          <p:cNvSpPr/>
          <p:nvPr/>
        </p:nvSpPr>
        <p:spPr>
          <a:xfrm>
            <a:off x="5762130" y="1191041"/>
            <a:ext cx="3795836" cy="1948038"/>
          </a:xfrm>
          <a:prstGeom prst="roundRect">
            <a:avLst>
              <a:gd name="adj" fmla="val 2346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9" name="l0.g.store.bar"/>
          <p:cNvSpPr/>
          <p:nvPr/>
        </p:nvSpPr>
        <p:spPr>
          <a:xfrm>
            <a:off x="5762130" y="1191041"/>
            <a:ext cx="3795836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20" name="l0.g.store.label"/>
          <p:cNvSpPr txBox="1"/>
          <p:nvPr/>
        </p:nvSpPr>
        <p:spPr>
          <a:xfrm>
            <a:off x="5853570" y="1251895"/>
            <a:ext cx="3612956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Store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l0.g.agents.frame"/>
          <p:cNvSpPr/>
          <p:nvPr/>
        </p:nvSpPr>
        <p:spPr>
          <a:xfrm>
            <a:off x="2698042" y="3306717"/>
            <a:ext cx="4847688" cy="1810878"/>
          </a:xfrm>
          <a:prstGeom prst="roundRect">
            <a:avLst>
              <a:gd name="adj" fmla="val 2524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22" name="l0.g.agents.bar"/>
          <p:cNvSpPr/>
          <p:nvPr/>
        </p:nvSpPr>
        <p:spPr>
          <a:xfrm>
            <a:off x="2698042" y="3306717"/>
            <a:ext cx="4847688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23" name="l0.g.agents.label"/>
          <p:cNvSpPr txBox="1"/>
          <p:nvPr/>
        </p:nvSpPr>
        <p:spPr>
          <a:xfrm>
            <a:off x="2789482" y="3367570"/>
            <a:ext cx="4664808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l0.g.review.frame"/>
          <p:cNvSpPr/>
          <p:nvPr/>
        </p:nvSpPr>
        <p:spPr>
          <a:xfrm>
            <a:off x="7637169" y="3306717"/>
            <a:ext cx="1920797" cy="1810878"/>
          </a:xfrm>
          <a:prstGeom prst="roundRect">
            <a:avLst>
              <a:gd name="adj" fmla="val 2524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25" name="l0.g.review.bar"/>
          <p:cNvSpPr/>
          <p:nvPr/>
        </p:nvSpPr>
        <p:spPr>
          <a:xfrm>
            <a:off x="7637169" y="3306717"/>
            <a:ext cx="1920797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26" name="l0.g.review.label"/>
          <p:cNvSpPr txBox="1"/>
          <p:nvPr/>
        </p:nvSpPr>
        <p:spPr>
          <a:xfrm>
            <a:off x="7728609" y="3367570"/>
            <a:ext cx="1737917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 and serve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l0.g.band.band"/>
          <p:cNvSpPr/>
          <p:nvPr/>
        </p:nvSpPr>
        <p:spPr>
          <a:xfrm>
            <a:off x="1646190" y="5285232"/>
            <a:ext cx="8963627" cy="804672"/>
          </a:xfrm>
          <a:prstGeom prst="roundRect">
            <a:avLst>
              <a:gd name="adj" fmla="val 568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28" name="l0.g.band.bar"/>
          <p:cNvSpPr/>
          <p:nvPr/>
        </p:nvSpPr>
        <p:spPr>
          <a:xfrm>
            <a:off x="1646190" y="5285232"/>
            <a:ext cx="8963627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29" name="l0.g.band.label"/>
          <p:cNvSpPr txBox="1"/>
          <p:nvPr/>
        </p:nvSpPr>
        <p:spPr>
          <a:xfrm>
            <a:off x="1737630" y="5346085"/>
            <a:ext cx="8780747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Delivery: build, test, release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l0.g.lake.label"/>
          <p:cNvSpPr txBox="1"/>
          <p:nvPr/>
        </p:nvSpPr>
        <p:spPr>
          <a:xfrm>
            <a:off x="5899290" y="1727914"/>
            <a:ext cx="31789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Lake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l0.g.index.label"/>
          <p:cNvSpPr txBox="1"/>
          <p:nvPr/>
        </p:nvSpPr>
        <p:spPr>
          <a:xfrm>
            <a:off x="7470141" y="1727914"/>
            <a:ext cx="50780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Indexes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l0.g.models.label"/>
          <p:cNvSpPr txBox="1"/>
          <p:nvPr/>
        </p:nvSpPr>
        <p:spPr>
          <a:xfrm>
            <a:off x="2835202" y="3843635"/>
            <a:ext cx="47109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Models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l0.g.runtime.label"/>
          <p:cNvSpPr txBox="1"/>
          <p:nvPr/>
        </p:nvSpPr>
        <p:spPr>
          <a:xfrm>
            <a:off x="5634086" y="3843635"/>
            <a:ext cx="96767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 on ECS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4" name="vendor.aws/general/internet-alt1.l0-n-web" descr="Public web (vendor mark aws/general/internet-alt1)"/>
          <p:cNvPicPr>
            <a:picLocks noChangeAspect="1"/>
          </p:cNvPicPr>
          <p:nvPr/>
        </p:nvPicPr>
        <p:blipFill>
          <a:blip r:embed="rId2"/>
          <a:srcRect l="2734" t="3906" r="2734" b="3906"/>
          <a:stretch>
            <a:fillRect/>
          </a:stretch>
        </p:blipFill>
        <p:spPr>
          <a:xfrm>
            <a:off x="777375" y="1229830"/>
            <a:ext cx="365760" cy="356692"/>
          </a:xfrm>
          <a:prstGeom prst="rect">
            <a:avLst/>
          </a:prstGeom>
          <a:effectLst/>
        </p:spPr>
      </p:pic>
      <p:sp>
        <p:nvSpPr>
          <p:cNvPr id="35" name="l0.n.web.caption"/>
          <p:cNvSpPr txBox="1"/>
          <p:nvPr/>
        </p:nvSpPr>
        <p:spPr>
          <a:xfrm>
            <a:off x="753601" y="1636776"/>
            <a:ext cx="413309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Public web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l0.n.registries.icon"/>
          <p:cNvSpPr/>
          <p:nvPr/>
        </p:nvSpPr>
        <p:spPr>
          <a:xfrm>
            <a:off x="777375" y="23111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3048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37" name="l0.n.registries.caption"/>
          <p:cNvSpPr txBox="1"/>
          <p:nvPr/>
        </p:nvSpPr>
        <p:spPr>
          <a:xfrm>
            <a:off x="779204" y="2722580"/>
            <a:ext cx="362102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Trial feeds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l0.n.payers.icon"/>
          <p:cNvSpPr/>
          <p:nvPr/>
        </p:nvSpPr>
        <p:spPr>
          <a:xfrm>
            <a:off x="777375" y="339690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3048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39" name="l0.n.payers.caption"/>
          <p:cNvSpPr txBox="1"/>
          <p:nvPr/>
        </p:nvSpPr>
        <p:spPr>
          <a:xfrm>
            <a:off x="735313" y="3808385"/>
            <a:ext cx="44988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Payers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l0.n.media.icon"/>
          <p:cNvSpPr/>
          <p:nvPr/>
        </p:nvSpPr>
        <p:spPr>
          <a:xfrm>
            <a:off x="777375" y="4345549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3048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1" name="l0.n.media.caption"/>
          <p:cNvSpPr txBox="1"/>
          <p:nvPr/>
        </p:nvSpPr>
        <p:spPr>
          <a:xfrm>
            <a:off x="649224" y="4757029"/>
            <a:ext cx="622062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Congress media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l0.n.partners.icon"/>
          <p:cNvSpPr/>
          <p:nvPr/>
        </p:nvSpPr>
        <p:spPr>
          <a:xfrm>
            <a:off x="777375" y="543135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14000"/>
                </a:moveTo>
                <a:lnTo>
                  <a:pt x="7500" y="11100"/>
                </a:lnTo>
                <a:cubicBezTo>
                  <a:pt x="7832" y="10440"/>
                  <a:pt x="8501" y="10017"/>
                  <a:pt x="9240" y="10000"/>
                </a:cubicBezTo>
                <a:lnTo>
                  <a:pt x="20000" y="10000"/>
                </a:lnTo>
                <a:cubicBezTo>
                  <a:pt x="20619" y="9999"/>
                  <a:pt x="21204" y="10285"/>
                  <a:pt x="21584" y="10774"/>
                </a:cubicBezTo>
                <a:cubicBezTo>
                  <a:pt x="21963" y="11263"/>
                  <a:pt x="22095" y="11900"/>
                  <a:pt x="21940" y="12500"/>
                </a:cubicBezTo>
                <a:lnTo>
                  <a:pt x="20400" y="18500"/>
                </a:lnTo>
                <a:cubicBezTo>
                  <a:pt x="20171" y="19388"/>
                  <a:pt x="19367" y="20006"/>
                  <a:pt x="1845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7900" y="3000"/>
                </a:lnTo>
                <a:cubicBezTo>
                  <a:pt x="8580" y="2993"/>
                  <a:pt x="9216" y="3332"/>
                  <a:pt x="9590" y="3900"/>
                </a:cubicBezTo>
                <a:lnTo>
                  <a:pt x="10400" y="5100"/>
                </a:lnTo>
                <a:cubicBezTo>
                  <a:pt x="10770" y="5662"/>
                  <a:pt x="11397" y="6000"/>
                  <a:pt x="12070" y="6000"/>
                </a:cubicBezTo>
                <a:lnTo>
                  <a:pt x="18000" y="6000"/>
                </a:lnTo>
                <a:cubicBezTo>
                  <a:pt x="19105" y="6000"/>
                  <a:pt x="20000" y="6895"/>
                  <a:pt x="20000" y="8000"/>
                </a:cubicBezTo>
                <a:lnTo>
                  <a:pt x="20000" y="10000"/>
                </a:lnTo>
              </a:path>
            </a:pathLst>
          </a:custGeom>
          <a:noFill/>
          <a:ln w="3048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3" name="l0.n.partners.caption"/>
          <p:cNvSpPr txBox="1"/>
          <p:nvPr/>
        </p:nvSpPr>
        <p:spPr>
          <a:xfrm>
            <a:off x="720682" y="5842833"/>
            <a:ext cx="479146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Partner feeds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" name="vendor.aws/general/users.l0-n-reps" descr="Field reps (vendor mark aws/general/users)"/>
          <p:cNvPicPr>
            <a:picLocks noChangeAspect="1"/>
          </p:cNvPicPr>
          <p:nvPr/>
        </p:nvPicPr>
        <p:blipFill>
          <a:blip r:embed="rId3"/>
          <a:srcRect l="3000" t="3000" r="3000" b="3000"/>
          <a:stretch>
            <a:fillRect/>
          </a:stretch>
        </p:blipFill>
        <p:spPr>
          <a:xfrm>
            <a:off x="11112873" y="1225296"/>
            <a:ext cx="365760" cy="365760"/>
          </a:xfrm>
          <a:prstGeom prst="rect">
            <a:avLst/>
          </a:prstGeom>
          <a:effectLst/>
        </p:spPr>
      </p:pic>
      <p:sp>
        <p:nvSpPr>
          <p:cNvPr id="45" name="l0.n.reps.caption"/>
          <p:cNvSpPr txBox="1"/>
          <p:nvPr/>
        </p:nvSpPr>
        <p:spPr>
          <a:xfrm>
            <a:off x="10984722" y="1636776"/>
            <a:ext cx="62206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reps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" name="vendor.programming/framework/react.l0-n-app" descr="Field app (vendor mark programming/framework/react)"/>
          <p:cNvPicPr>
            <a:picLocks noChangeAspect="1"/>
          </p:cNvPicPr>
          <p:nvPr/>
        </p:nvPicPr>
        <p:blipFill>
          <a:blip r:embed="rId4"/>
          <a:srcRect l="5078" t="9766" r="5078" b="9766"/>
          <a:stretch>
            <a:fillRect/>
          </a:stretch>
        </p:blipFill>
        <p:spPr>
          <a:xfrm>
            <a:off x="11112873" y="2261603"/>
            <a:ext cx="365760" cy="327594"/>
          </a:xfrm>
          <a:prstGeom prst="rect">
            <a:avLst/>
          </a:prstGeom>
          <a:effectLst/>
        </p:spPr>
      </p:pic>
      <p:sp>
        <p:nvSpPr>
          <p:cNvPr id="47" name="l0.n.app.caption"/>
          <p:cNvSpPr txBox="1"/>
          <p:nvPr/>
        </p:nvSpPr>
        <p:spPr>
          <a:xfrm>
            <a:off x="10998116" y="2654000"/>
            <a:ext cx="59527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app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8" name="vendor.programming/framework/nextjs.l0-n-portal" descr="Web portal (vendor mark programming/framework/nextj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2873" y="3259745"/>
            <a:ext cx="365760" cy="365760"/>
          </a:xfrm>
          <a:prstGeom prst="rect">
            <a:avLst/>
          </a:prstGeom>
          <a:effectLst/>
        </p:spPr>
      </p:pic>
      <p:sp>
        <p:nvSpPr>
          <p:cNvPr id="49" name="l0.n.portal.caption"/>
          <p:cNvSpPr txBox="1"/>
          <p:nvPr/>
        </p:nvSpPr>
        <p:spPr>
          <a:xfrm>
            <a:off x="11103729" y="3671225"/>
            <a:ext cx="384048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Web portal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vendor.saas/chat/teams.l0-n-teams" descr="Microsoft Teams (vendor mark saas/chat/teams)"/>
          <p:cNvPicPr>
            <a:picLocks noChangeAspect="1"/>
          </p:cNvPicPr>
          <p:nvPr/>
        </p:nvPicPr>
        <p:blipFill>
          <a:blip r:embed="rId6"/>
          <a:srcRect l="23438" t="25781" r="23438" b="25000"/>
          <a:stretch>
            <a:fillRect/>
          </a:stretch>
        </p:blipFill>
        <p:spPr>
          <a:xfrm>
            <a:off x="11112873" y="4427576"/>
            <a:ext cx="365760" cy="338866"/>
          </a:xfrm>
          <a:prstGeom prst="rect">
            <a:avLst/>
          </a:prstGeom>
          <a:effectLst/>
        </p:spPr>
      </p:pic>
      <p:sp>
        <p:nvSpPr>
          <p:cNvPr id="51" name="l0.n.teams.caption"/>
          <p:cNvSpPr txBox="1"/>
          <p:nvPr/>
        </p:nvSpPr>
        <p:spPr>
          <a:xfrm>
            <a:off x="10990800" y="4825609"/>
            <a:ext cx="609905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Microsoft Teams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l0.n.crm.icon"/>
          <p:cNvSpPr/>
          <p:nvPr/>
        </p:nvSpPr>
        <p:spPr>
          <a:xfrm>
            <a:off x="11112873" y="556851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000"/>
                </a:moveTo>
                <a:lnTo>
                  <a:pt x="16000" y="4000"/>
                </a:lnTo>
                <a:moveTo>
                  <a:pt x="7000" y="21000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1000"/>
                </a:lnTo>
                <a:moveTo>
                  <a:pt x="8000" y="2000"/>
                </a:moveTo>
                <a:lnTo>
                  <a:pt x="8000" y="4000"/>
                </a:lnTo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</a:pathLst>
          </a:custGeom>
          <a:noFill/>
          <a:ln w="3048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53" name="l0.n.crm.caption"/>
          <p:cNvSpPr txBox="1"/>
          <p:nvPr/>
        </p:nvSpPr>
        <p:spPr>
          <a:xfrm>
            <a:off x="11136647" y="5979993"/>
            <a:ext cx="31821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CRM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4" name="vendor.aws/security/cognito.l0-n-cognito" descr="Cognito (vendor mark aws/security/cognito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0948" y="1531690"/>
            <a:ext cx="310896" cy="310896"/>
          </a:xfrm>
          <a:prstGeom prst="rect">
            <a:avLst/>
          </a:prstGeom>
          <a:effectLst/>
        </p:spPr>
      </p:pic>
      <p:sp>
        <p:nvSpPr>
          <p:cNvPr id="55" name="l0.n.cognito.caption"/>
          <p:cNvSpPr txBox="1"/>
          <p:nvPr/>
        </p:nvSpPr>
        <p:spPr>
          <a:xfrm>
            <a:off x="1868992" y="1888306"/>
            <a:ext cx="51480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Cognito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vendor.aws/security/identity-and-access-management-iam.l0-n-iam" descr="AWS IAM (vendor mark aws/security/identity-and-access-management-iam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0948" y="2531859"/>
            <a:ext cx="310896" cy="310896"/>
          </a:xfrm>
          <a:prstGeom prst="rect">
            <a:avLst/>
          </a:prstGeom>
          <a:effectLst/>
        </p:spPr>
      </p:pic>
      <p:sp>
        <p:nvSpPr>
          <p:cNvPr id="57" name="l0.n.iam.caption"/>
          <p:cNvSpPr txBox="1"/>
          <p:nvPr/>
        </p:nvSpPr>
        <p:spPr>
          <a:xfrm>
            <a:off x="1825101" y="2888475"/>
            <a:ext cx="60259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IAM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8" name="vendor.aws/security/key-management-service.l0-n-kms" descr="AWS KMS (vendor mark aws/security/key-management-servic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0948" y="3532027"/>
            <a:ext cx="310896" cy="310896"/>
          </a:xfrm>
          <a:prstGeom prst="rect">
            <a:avLst/>
          </a:prstGeom>
          <a:effectLst/>
        </p:spPr>
      </p:pic>
      <p:sp>
        <p:nvSpPr>
          <p:cNvPr id="59" name="l0.n.kms.caption"/>
          <p:cNvSpPr txBox="1"/>
          <p:nvPr/>
        </p:nvSpPr>
        <p:spPr>
          <a:xfrm>
            <a:off x="1799498" y="3888643"/>
            <a:ext cx="65379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KMS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0" name="vendor.aws/security/secrets-manager.l0-n-secrets" descr="Secrets (vendor mark aws/security/secrets-manager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0948" y="4532195"/>
            <a:ext cx="310896" cy="310896"/>
          </a:xfrm>
          <a:prstGeom prst="rect">
            <a:avLst/>
          </a:prstGeom>
          <a:effectLst/>
        </p:spPr>
      </p:pic>
      <p:sp>
        <p:nvSpPr>
          <p:cNvPr id="61" name="l0.n.secrets.caption"/>
          <p:cNvSpPr txBox="1"/>
          <p:nvPr/>
        </p:nvSpPr>
        <p:spPr>
          <a:xfrm>
            <a:off x="1879508" y="4888811"/>
            <a:ext cx="49377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Secrets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2" name="mark.langfuse-icon.l0-n-langfuse" descr="Langfuse (brand mark langfuse-icon)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10547" t="25391" r="10547" b="25391"/>
          <a:stretch>
            <a:fillRect/>
          </a:stretch>
        </p:blipFill>
        <p:spPr>
          <a:xfrm>
            <a:off x="9974164" y="1590176"/>
            <a:ext cx="310896" cy="193925"/>
          </a:xfrm>
          <a:prstGeom prst="rect">
            <a:avLst/>
          </a:prstGeom>
          <a:effectLst/>
        </p:spPr>
      </p:pic>
      <p:sp>
        <p:nvSpPr>
          <p:cNvPr id="63" name="l0.n.langfuse.caption"/>
          <p:cNvSpPr txBox="1"/>
          <p:nvPr/>
        </p:nvSpPr>
        <p:spPr>
          <a:xfrm>
            <a:off x="9828317" y="1888306"/>
            <a:ext cx="60259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Langfuse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vendor.aws/devtools/x-ray.l0-n-xray" descr="AWS X-Ray (vendor mark aws/devtools/x-ray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74164" y="2440419"/>
            <a:ext cx="310896" cy="310896"/>
          </a:xfrm>
          <a:prstGeom prst="rect">
            <a:avLst/>
          </a:prstGeom>
          <a:effectLst/>
        </p:spPr>
      </p:pic>
      <p:sp>
        <p:nvSpPr>
          <p:cNvPr id="65" name="l0.n.xray.caption"/>
          <p:cNvSpPr txBox="1"/>
          <p:nvPr/>
        </p:nvSpPr>
        <p:spPr>
          <a:xfrm>
            <a:off x="9933930" y="2797035"/>
            <a:ext cx="391363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X-Ray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6" name="vendor.aws/management/cloudtrail.l0-n-trail" descr="CloudTrail (vendor mark aws/management/cloudtrail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74164" y="3486307"/>
            <a:ext cx="310896" cy="310896"/>
          </a:xfrm>
          <a:prstGeom prst="rect">
            <a:avLst/>
          </a:prstGeom>
          <a:effectLst/>
        </p:spPr>
      </p:pic>
      <p:sp>
        <p:nvSpPr>
          <p:cNvPr id="67" name="l0.n.trail.caption"/>
          <p:cNvSpPr txBox="1"/>
          <p:nvPr/>
        </p:nvSpPr>
        <p:spPr>
          <a:xfrm>
            <a:off x="9795710" y="3842923"/>
            <a:ext cx="66780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CloudTrail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8" name="vendor.aws/management/config.l0-n-config" descr="AWS Config (vendor mark aws/management/config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74164" y="4395035"/>
            <a:ext cx="310896" cy="310896"/>
          </a:xfrm>
          <a:prstGeom prst="rect">
            <a:avLst/>
          </a:prstGeom>
          <a:effectLst/>
        </p:spPr>
      </p:pic>
      <p:sp>
        <p:nvSpPr>
          <p:cNvPr id="69" name="l0.n.config.caption"/>
          <p:cNvSpPr txBox="1"/>
          <p:nvPr/>
        </p:nvSpPr>
        <p:spPr>
          <a:xfrm>
            <a:off x="9911985" y="4751651"/>
            <a:ext cx="435254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Config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0" name="vendor.aws/integration/eventbridge-scheduler.l0-n-sched" descr="EventBridge (vendor mark aws/integration/eventbridge-scheduler)"/>
          <p:cNvPicPr>
            <a:picLocks noChangeAspect="1"/>
          </p:cNvPicPr>
          <p:nvPr/>
        </p:nvPicPr>
        <p:blipFill>
          <a:blip r:embed="rId16"/>
          <a:srcRect l="3906" t="3906" r="3906" b="6250"/>
          <a:stretch>
            <a:fillRect/>
          </a:stretch>
        </p:blipFill>
        <p:spPr>
          <a:xfrm>
            <a:off x="3071563" y="1598027"/>
            <a:ext cx="365760" cy="356461"/>
          </a:xfrm>
          <a:prstGeom prst="rect">
            <a:avLst/>
          </a:prstGeom>
          <a:effectLst/>
        </p:spPr>
      </p:pic>
      <p:sp>
        <p:nvSpPr>
          <p:cNvPr id="71" name="l0.n.sched.caption"/>
          <p:cNvSpPr txBox="1"/>
          <p:nvPr/>
        </p:nvSpPr>
        <p:spPr>
          <a:xfrm>
            <a:off x="2858051" y="2004857"/>
            <a:ext cx="79278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EventBridge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2" name="vendor.aws/compute/lambda.l0-n-collect" descr="Lambda (vendor mark aws/compute/lambda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01486" y="1593377"/>
            <a:ext cx="365760" cy="365760"/>
          </a:xfrm>
          <a:prstGeom prst="rect">
            <a:avLst/>
          </a:prstGeom>
          <a:effectLst/>
        </p:spPr>
      </p:pic>
      <p:sp>
        <p:nvSpPr>
          <p:cNvPr id="73" name="l0.n.collect.caption"/>
          <p:cNvSpPr txBox="1"/>
          <p:nvPr/>
        </p:nvSpPr>
        <p:spPr>
          <a:xfrm>
            <a:off x="3922847" y="2004857"/>
            <a:ext cx="52303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Lambda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4" name="vendor.aws/integration/step-functions.l0-n-flow" descr="Step Functions (vendor mark aws/integration/step-functions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31409" y="1593377"/>
            <a:ext cx="365760" cy="365760"/>
          </a:xfrm>
          <a:prstGeom prst="rect">
            <a:avLst/>
          </a:prstGeom>
          <a:effectLst/>
        </p:spPr>
      </p:pic>
      <p:sp>
        <p:nvSpPr>
          <p:cNvPr id="75" name="l0.n.flow.caption"/>
          <p:cNvSpPr txBox="1"/>
          <p:nvPr/>
        </p:nvSpPr>
        <p:spPr>
          <a:xfrm>
            <a:off x="4791048" y="2004857"/>
            <a:ext cx="646481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Step Functions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vendor.aws/integration/simple-queue-service-sqs.l0-n-queue" descr="Amazon SQS (vendor mark aws/integration/simple-queue-service-sqs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71563" y="2361656"/>
            <a:ext cx="365760" cy="365760"/>
          </a:xfrm>
          <a:prstGeom prst="rect">
            <a:avLst/>
          </a:prstGeom>
          <a:effectLst/>
        </p:spPr>
      </p:pic>
      <p:sp>
        <p:nvSpPr>
          <p:cNvPr id="77" name="l0.n.queue.caption"/>
          <p:cNvSpPr txBox="1"/>
          <p:nvPr/>
        </p:nvSpPr>
        <p:spPr>
          <a:xfrm>
            <a:off x="2989267" y="2773136"/>
            <a:ext cx="530352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SQS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8" name="vendor.aws/ml/textract.l0-n-ocr" descr="Textract (vendor mark aws/ml/textract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01486" y="2361656"/>
            <a:ext cx="365760" cy="365760"/>
          </a:xfrm>
          <a:prstGeom prst="rect">
            <a:avLst/>
          </a:prstGeom>
          <a:effectLst/>
        </p:spPr>
      </p:pic>
      <p:sp>
        <p:nvSpPr>
          <p:cNvPr id="79" name="l0.n.ocr.caption"/>
          <p:cNvSpPr txBox="1"/>
          <p:nvPr/>
        </p:nvSpPr>
        <p:spPr>
          <a:xfrm>
            <a:off x="3919190" y="2773136"/>
            <a:ext cx="53035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Textract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0" name="vendor.aws/ml/comprehend.l0-n-nlp" descr="Comprehend (vendor mark aws/ml/comprehend)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31409" y="2361656"/>
            <a:ext cx="365760" cy="365760"/>
          </a:xfrm>
          <a:prstGeom prst="rect">
            <a:avLst/>
          </a:prstGeom>
          <a:effectLst/>
        </p:spPr>
      </p:pic>
      <p:sp>
        <p:nvSpPr>
          <p:cNvPr id="81" name="l0.n.nlp.caption"/>
          <p:cNvSpPr txBox="1"/>
          <p:nvPr/>
        </p:nvSpPr>
        <p:spPr>
          <a:xfrm>
            <a:off x="4704191" y="2773136"/>
            <a:ext cx="82019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Comprehend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vendor.aws/storage/simple-storage-service-s3.l0-n-s3" descr="Amazon S3 (vendor mark aws/storage/simple-storage-service-s3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85679" y="1949691"/>
            <a:ext cx="566928" cy="566928"/>
          </a:xfrm>
          <a:prstGeom prst="rect">
            <a:avLst/>
          </a:prstGeom>
          <a:effectLst/>
        </p:spPr>
      </p:pic>
      <p:sp>
        <p:nvSpPr>
          <p:cNvPr id="83" name="l0.n.s3.caption"/>
          <p:cNvSpPr txBox="1"/>
          <p:nvPr/>
        </p:nvSpPr>
        <p:spPr>
          <a:xfrm>
            <a:off x="5983850" y="2562339"/>
            <a:ext cx="570586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signal lake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4" name="vendor.aws/analytics/glue.l0-n-glue" descr="AWS Glue (vendor mark aws/analytics/glue)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25968" y="2050275"/>
            <a:ext cx="365760" cy="365760"/>
          </a:xfrm>
          <a:prstGeom prst="rect">
            <a:avLst/>
          </a:prstGeom>
          <a:effectLst/>
        </p:spPr>
      </p:pic>
      <p:sp>
        <p:nvSpPr>
          <p:cNvPr id="85" name="l0.n.glue.caption"/>
          <p:cNvSpPr txBox="1"/>
          <p:nvPr/>
        </p:nvSpPr>
        <p:spPr>
          <a:xfrm>
            <a:off x="6810880" y="2461755"/>
            <a:ext cx="395935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Glue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catalog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vendor.aws/analytics/amazon-opensearch-service.l0-n-search" descr="OpenSearch (vendor mark aws/analytics/amazon-opensearch-service)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74343" y="2018317"/>
            <a:ext cx="566928" cy="566928"/>
          </a:xfrm>
          <a:prstGeom prst="rect">
            <a:avLst/>
          </a:prstGeom>
          <a:effectLst/>
        </p:spPr>
      </p:pic>
      <p:sp>
        <p:nvSpPr>
          <p:cNvPr id="87" name="l0.n.search.caption"/>
          <p:cNvSpPr txBox="1"/>
          <p:nvPr/>
        </p:nvSpPr>
        <p:spPr>
          <a:xfrm>
            <a:off x="7561415" y="2630965"/>
            <a:ext cx="79278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OpenSearch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claim index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" name="vendor.aws/database/rds.l0-n-rds" descr="RDS (vendor mark aws/database/rds)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50260" y="2118901"/>
            <a:ext cx="365760" cy="365760"/>
          </a:xfrm>
          <a:prstGeom prst="rect">
            <a:avLst/>
          </a:prstGeom>
          <a:effectLst/>
        </p:spPr>
      </p:pic>
      <p:sp>
        <p:nvSpPr>
          <p:cNvPr id="89" name="l0.n.rds.caption"/>
          <p:cNvSpPr txBox="1"/>
          <p:nvPr/>
        </p:nvSpPr>
        <p:spPr>
          <a:xfrm>
            <a:off x="8631388" y="2530381"/>
            <a:ext cx="603504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RDS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ledger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vendor.aws/ml/bedrock.l0-n-bedrock" descr="Bedrock (vendor mark aws/ml/bedrock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02978" y="4065412"/>
            <a:ext cx="566928" cy="566928"/>
          </a:xfrm>
          <a:prstGeom prst="rect">
            <a:avLst/>
          </a:prstGeom>
          <a:effectLst/>
        </p:spPr>
      </p:pic>
      <p:sp>
        <p:nvSpPr>
          <p:cNvPr id="91" name="l0.n.bedrock.caption"/>
          <p:cNvSpPr txBox="1"/>
          <p:nvPr/>
        </p:nvSpPr>
        <p:spPr>
          <a:xfrm>
            <a:off x="2919768" y="4678060"/>
            <a:ext cx="73334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Bedrock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model access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2" name="mark.claude-spark.l0-n-claude" descr="Claude (brand mark claude-spark)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006758" y="4165996"/>
            <a:ext cx="364331" cy="365760"/>
          </a:xfrm>
          <a:prstGeom prst="rect">
            <a:avLst/>
          </a:prstGeom>
          <a:effectLst/>
        </p:spPr>
      </p:pic>
      <p:sp>
        <p:nvSpPr>
          <p:cNvPr id="93" name="l0.n.claude.caption"/>
          <p:cNvSpPr txBox="1"/>
          <p:nvPr/>
        </p:nvSpPr>
        <p:spPr>
          <a:xfrm>
            <a:off x="3809448" y="4577476"/>
            <a:ext cx="75895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Claude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drafting model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4" name="mark.langgraph-logo.l0-n-graph" descr="LangGraph (brand mark langgraph-logo)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735806" y="4272644"/>
            <a:ext cx="711200" cy="152465"/>
          </a:xfrm>
          <a:prstGeom prst="rect">
            <a:avLst/>
          </a:prstGeom>
          <a:effectLst/>
        </p:spPr>
      </p:pic>
      <p:sp>
        <p:nvSpPr>
          <p:cNvPr id="95" name="l0.n.graph.caption"/>
          <p:cNvSpPr txBox="1"/>
          <p:nvPr/>
        </p:nvSpPr>
        <p:spPr>
          <a:xfrm>
            <a:off x="4731589" y="4577476"/>
            <a:ext cx="719633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LangGraph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agent graphs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6" name="vendor.aws/compute/elastic-container-service-task.l0-n-scan" descr="Scan agent (vendor mark aws/compute/elastic-container-service-task)"/>
          <p:cNvPicPr>
            <a:picLocks noChangeAspect="1"/>
          </p:cNvPicPr>
          <p:nvPr/>
        </p:nvPicPr>
        <p:blipFill>
          <a:blip r:embed="rId31"/>
          <a:srcRect l="14453" t="3906" r="15625" b="3906"/>
          <a:stretch>
            <a:fillRect/>
          </a:stretch>
        </p:blipFill>
        <p:spPr>
          <a:xfrm>
            <a:off x="5938997" y="4226941"/>
            <a:ext cx="277420" cy="365760"/>
          </a:xfrm>
          <a:prstGeom prst="rect">
            <a:avLst/>
          </a:prstGeom>
          <a:effectLst/>
        </p:spPr>
      </p:pic>
      <p:sp>
        <p:nvSpPr>
          <p:cNvPr id="97" name="l0.n.scan.caption"/>
          <p:cNvSpPr txBox="1"/>
          <p:nvPr/>
        </p:nvSpPr>
        <p:spPr>
          <a:xfrm>
            <a:off x="5717891" y="4638421"/>
            <a:ext cx="71963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Scan agent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8" name="vendor.aws/compute/elastic-container-service-task.l0-n-writer" descr="Writer agent (vendor mark aws/compute/elastic-container-service-task)"/>
          <p:cNvPicPr>
            <a:picLocks noChangeAspect="1"/>
          </p:cNvPicPr>
          <p:nvPr/>
        </p:nvPicPr>
        <p:blipFill>
          <a:blip r:embed="rId31"/>
          <a:srcRect l="14453" t="3906" r="15625" b="3906"/>
          <a:stretch>
            <a:fillRect/>
          </a:stretch>
        </p:blipFill>
        <p:spPr>
          <a:xfrm>
            <a:off x="6826239" y="4226941"/>
            <a:ext cx="277420" cy="365760"/>
          </a:xfrm>
          <a:prstGeom prst="rect">
            <a:avLst/>
          </a:prstGeom>
          <a:effectLst/>
        </p:spPr>
      </p:pic>
      <p:sp>
        <p:nvSpPr>
          <p:cNvPr id="99" name="l0.n.writer.caption"/>
          <p:cNvSpPr txBox="1"/>
          <p:nvPr/>
        </p:nvSpPr>
        <p:spPr>
          <a:xfrm>
            <a:off x="6576192" y="4638421"/>
            <a:ext cx="77751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Writer agent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0" name="vendor.aws/network/api-gateway.l0-n-api" descr="API Gateway (vendor mark aws/network/api-gateway)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980208" y="3709053"/>
            <a:ext cx="365760" cy="365760"/>
          </a:xfrm>
          <a:prstGeom prst="rect">
            <a:avLst/>
          </a:prstGeom>
          <a:effectLst/>
        </p:spPr>
      </p:pic>
      <p:sp>
        <p:nvSpPr>
          <p:cNvPr id="101" name="l0.n.api.caption"/>
          <p:cNvSpPr txBox="1"/>
          <p:nvPr/>
        </p:nvSpPr>
        <p:spPr>
          <a:xfrm>
            <a:off x="7883282" y="4120533"/>
            <a:ext cx="559613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API Gateway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" name="vendor.programming/framework/react.l0-n-ui" descr="Review app (vendor mark programming/framework/react)"/>
          <p:cNvPicPr>
            <a:picLocks noChangeAspect="1"/>
          </p:cNvPicPr>
          <p:nvPr/>
        </p:nvPicPr>
        <p:blipFill>
          <a:blip r:embed="rId4"/>
          <a:srcRect l="5078" t="9766" r="5078" b="9766"/>
          <a:stretch>
            <a:fillRect/>
          </a:stretch>
        </p:blipFill>
        <p:spPr>
          <a:xfrm>
            <a:off x="8849167" y="3728136"/>
            <a:ext cx="365760" cy="327594"/>
          </a:xfrm>
          <a:prstGeom prst="rect">
            <a:avLst/>
          </a:prstGeom>
          <a:effectLst/>
        </p:spPr>
      </p:pic>
      <p:sp>
        <p:nvSpPr>
          <p:cNvPr id="103" name="l0.n.ui.caption"/>
          <p:cNvSpPr txBox="1"/>
          <p:nvPr/>
        </p:nvSpPr>
        <p:spPr>
          <a:xfrm>
            <a:off x="8661258" y="4120533"/>
            <a:ext cx="74157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app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4" name="vendor.aws/database/dynamodb.l0-n-ddb" descr="DynamoDB (vendor mark aws/database/dynamodb)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980208" y="4477331"/>
            <a:ext cx="365760" cy="365760"/>
          </a:xfrm>
          <a:prstGeom prst="rect">
            <a:avLst/>
          </a:prstGeom>
          <a:effectLst/>
        </p:spPr>
      </p:pic>
      <p:sp>
        <p:nvSpPr>
          <p:cNvPr id="105" name="l0.n.ddb.caption"/>
          <p:cNvSpPr txBox="1"/>
          <p:nvPr/>
        </p:nvSpPr>
        <p:spPr>
          <a:xfrm>
            <a:off x="7799614" y="4888811"/>
            <a:ext cx="72694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DynamoDB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6" name="vendor.aws/network/cloudfront.l0-n-cdn" descr="CloudFront (vendor mark aws/network/cloudfront)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849167" y="4477331"/>
            <a:ext cx="365760" cy="365760"/>
          </a:xfrm>
          <a:prstGeom prst="rect">
            <a:avLst/>
          </a:prstGeom>
          <a:effectLst/>
        </p:spPr>
      </p:pic>
      <p:sp>
        <p:nvSpPr>
          <p:cNvPr id="107" name="l0.n.cdn.caption"/>
          <p:cNvSpPr txBox="1"/>
          <p:nvPr/>
        </p:nvSpPr>
        <p:spPr>
          <a:xfrm>
            <a:off x="8668573" y="4888811"/>
            <a:ext cx="72694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CloudFront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" name="vendor.onprem/ci/github-actions.l0-n-actions" descr="GitHub Actions (vendor mark onprem/ci/github-actions)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798647" y="5687568"/>
            <a:ext cx="310896" cy="310896"/>
          </a:xfrm>
          <a:prstGeom prst="rect">
            <a:avLst/>
          </a:prstGeom>
          <a:effectLst/>
        </p:spPr>
      </p:pic>
      <p:sp>
        <p:nvSpPr>
          <p:cNvPr id="109" name="l0.n.actions.caption"/>
          <p:cNvSpPr txBox="1"/>
          <p:nvPr/>
        </p:nvSpPr>
        <p:spPr>
          <a:xfrm>
            <a:off x="2164407" y="5774345"/>
            <a:ext cx="97566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GitHub Actions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0" name="vendor.aws/devtools/codepipeline.l0-n-pipeline" descr="CodePipeline (vendor mark aws/devtools/codepipeline)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324284" y="5687568"/>
            <a:ext cx="310896" cy="310896"/>
          </a:xfrm>
          <a:prstGeom prst="rect">
            <a:avLst/>
          </a:prstGeom>
          <a:effectLst/>
        </p:spPr>
      </p:pic>
      <p:sp>
        <p:nvSpPr>
          <p:cNvPr id="111" name="l0.n.pipeline.caption"/>
          <p:cNvSpPr txBox="1"/>
          <p:nvPr/>
        </p:nvSpPr>
        <p:spPr>
          <a:xfrm>
            <a:off x="3690044" y="5774345"/>
            <a:ext cx="85130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CodePipeline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2" name="vendor.aws/compute/ec2-container-registry.l0-n-ecr" descr="Amazon ECR (vendor mark aws/compute/ec2-container-registry)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791399" y="5687568"/>
            <a:ext cx="310896" cy="310896"/>
          </a:xfrm>
          <a:prstGeom prst="rect">
            <a:avLst/>
          </a:prstGeom>
          <a:effectLst/>
        </p:spPr>
      </p:pic>
      <p:sp>
        <p:nvSpPr>
          <p:cNvPr id="113" name="l0.n.ecr.caption"/>
          <p:cNvSpPr txBox="1"/>
          <p:nvPr/>
        </p:nvSpPr>
        <p:spPr>
          <a:xfrm>
            <a:off x="5157159" y="5774345"/>
            <a:ext cx="84399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ECR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4" name="vendor.onprem/iac/terraform.l0-n-tf" descr="Terraform (vendor mark onprem/iac/terraform)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356813" y="5687568"/>
            <a:ext cx="310896" cy="310896"/>
          </a:xfrm>
          <a:prstGeom prst="rect">
            <a:avLst/>
          </a:prstGeom>
          <a:effectLst/>
        </p:spPr>
      </p:pic>
      <p:sp>
        <p:nvSpPr>
          <p:cNvPr id="115" name="l0.n.tf.caption"/>
          <p:cNvSpPr txBox="1"/>
          <p:nvPr/>
        </p:nvSpPr>
        <p:spPr>
          <a:xfrm>
            <a:off x="6722573" y="5774345"/>
            <a:ext cx="64008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Terraform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6" name="vendor.programming/language/python.l0-n-py" descr="Python (vendor mark programming/language/python)"/>
          <p:cNvPicPr>
            <a:picLocks noChangeAspect="1"/>
          </p:cNvPicPr>
          <p:nvPr/>
        </p:nvPicPr>
        <p:blipFill>
          <a:blip r:embed="rId39"/>
          <a:srcRect l="3906" t="4297" r="3906" b="4297"/>
          <a:stretch>
            <a:fillRect/>
          </a:stretch>
        </p:blipFill>
        <p:spPr>
          <a:xfrm>
            <a:off x="7908053" y="5688885"/>
            <a:ext cx="310896" cy="308261"/>
          </a:xfrm>
          <a:prstGeom prst="rect">
            <a:avLst/>
          </a:prstGeom>
          <a:effectLst/>
        </p:spPr>
      </p:pic>
      <p:sp>
        <p:nvSpPr>
          <p:cNvPr id="117" name="l0.n.py.caption"/>
          <p:cNvSpPr txBox="1"/>
          <p:nvPr/>
        </p:nvSpPr>
        <p:spPr>
          <a:xfrm>
            <a:off x="8273813" y="5774345"/>
            <a:ext cx="46451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Python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8" name="vendor.aws/management/cloudwatch.l0-n-watch" descr="CloudWatch (vendor mark aws/management/cloudwatch)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11034" y="5687568"/>
            <a:ext cx="310896" cy="310896"/>
          </a:xfrm>
          <a:prstGeom prst="rect">
            <a:avLst/>
          </a:prstGeom>
          <a:effectLst/>
        </p:spPr>
      </p:pic>
      <p:sp>
        <p:nvSpPr>
          <p:cNvPr id="119" name="l0.n.watch.caption"/>
          <p:cNvSpPr txBox="1"/>
          <p:nvPr/>
        </p:nvSpPr>
        <p:spPr>
          <a:xfrm>
            <a:off x="9576794" y="5774345"/>
            <a:ext cx="78547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CloudWatch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aws-reference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AWS Region runs the brief service behind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private endpoints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ws.g.saas.frame"/>
          <p:cNvSpPr/>
          <p:nvPr/>
        </p:nvSpPr>
        <p:spPr>
          <a:xfrm>
            <a:off x="10884150" y="3327963"/>
            <a:ext cx="868938" cy="2487621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txBody>
          <a:bodyPr/>
          <a:p/>
        </p:txBody>
      </p:sp>
      <p:sp>
        <p:nvSpPr>
          <p:cNvPr id="4" name="aws.g.saas.label"/>
          <p:cNvSpPr txBox="1"/>
          <p:nvPr/>
        </p:nvSpPr>
        <p:spPr>
          <a:xfrm>
            <a:off x="10957302" y="3382827"/>
            <a:ext cx="58826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SaaS · CI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aws.g.cloud.tab"/>
          <p:cNvSpPr/>
          <p:nvPr/>
        </p:nvSpPr>
        <p:spPr>
          <a:xfrm>
            <a:off x="1371834" y="822960"/>
            <a:ext cx="237744" cy="23774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txBody>
          <a:bodyPr/>
          <a:p/>
        </p:txBody>
      </p:sp>
      <p:sp>
        <p:nvSpPr>
          <p:cNvPr id="6" name="aws.g.cloud.frame"/>
          <p:cNvSpPr/>
          <p:nvPr/>
        </p:nvSpPr>
        <p:spPr>
          <a:xfrm>
            <a:off x="1371834" y="822960"/>
            <a:ext cx="9420876" cy="4992624"/>
          </a:xfrm>
          <a:prstGeom prst="rect">
            <a:avLst/>
          </a:prstGeom>
          <a:noFill/>
          <a:ln w="15875">
            <a:solidFill>
              <a:srgbClr val="232F3E"/>
            </a:solidFill>
          </a:ln>
          <a:effectLst/>
        </p:spPr>
        <p:txBody>
          <a:bodyPr/>
          <a:p/>
        </p:txBody>
      </p:sp>
      <p:sp>
        <p:nvSpPr>
          <p:cNvPr id="7" name="aws.g.cloud.tab.icon"/>
          <p:cNvSpPr/>
          <p:nvPr/>
        </p:nvSpPr>
        <p:spPr>
          <a:xfrm>
            <a:off x="1412982" y="864108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500" y="19000"/>
                </a:moveTo>
                <a:lnTo>
                  <a:pt x="9000" y="19000"/>
                </a:lnTo>
                <a:cubicBezTo>
                  <a:pt x="5396" y="18999"/>
                  <a:pt x="2381" y="16261"/>
                  <a:pt x="2034" y="12674"/>
                </a:cubicBezTo>
                <a:cubicBezTo>
                  <a:pt x="1687" y="9086"/>
                  <a:pt x="4121" y="5822"/>
                  <a:pt x="7659" y="5130"/>
                </a:cubicBezTo>
                <a:cubicBezTo>
                  <a:pt x="11196" y="4438"/>
                  <a:pt x="14680" y="6546"/>
                  <a:pt x="15710" y="10000"/>
                </a:cubicBezTo>
                <a:lnTo>
                  <a:pt x="17500" y="10000"/>
                </a:lnTo>
                <a:cubicBezTo>
                  <a:pt x="19985" y="10000"/>
                  <a:pt x="22000" y="12015"/>
                  <a:pt x="22000" y="14500"/>
                </a:cubicBezTo>
                <a:cubicBezTo>
                  <a:pt x="22000" y="16985"/>
                  <a:pt x="19985" y="19000"/>
                  <a:pt x="17500" y="19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8" name="aws.g.cloud.label"/>
          <p:cNvSpPr txBox="1"/>
          <p:nvPr/>
        </p:nvSpPr>
        <p:spPr>
          <a:xfrm>
            <a:off x="1673586" y="873161"/>
            <a:ext cx="192577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Cloud · production account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ws.g.region.tab"/>
          <p:cNvSpPr/>
          <p:nvPr/>
        </p:nvSpPr>
        <p:spPr>
          <a:xfrm>
            <a:off x="1508994" y="1225296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10" name="aws.g.region.frame"/>
          <p:cNvSpPr/>
          <p:nvPr/>
        </p:nvSpPr>
        <p:spPr>
          <a:xfrm>
            <a:off x="1508994" y="1225296"/>
            <a:ext cx="8318623" cy="4471416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  <a:effectLst/>
        </p:spPr>
        <p:txBody>
          <a:bodyPr/>
          <a:p/>
        </p:txBody>
      </p:sp>
      <p:sp>
        <p:nvSpPr>
          <p:cNvPr id="11" name="aws.g.region.tab.icon"/>
          <p:cNvSpPr/>
          <p:nvPr/>
        </p:nvSpPr>
        <p:spPr>
          <a:xfrm>
            <a:off x="1550142" y="1266444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22000"/>
                </a:moveTo>
                <a:lnTo>
                  <a:pt x="4000" y="4000"/>
                </a:lnTo>
                <a:cubicBezTo>
                  <a:pt x="4000" y="3685"/>
                  <a:pt x="4148" y="3389"/>
                  <a:pt x="4400" y="3200"/>
                </a:cubicBezTo>
                <a:cubicBezTo>
                  <a:pt x="5439" y="2421"/>
                  <a:pt x="6702" y="2000"/>
                  <a:pt x="8000" y="2000"/>
                </a:cubicBezTo>
                <a:cubicBezTo>
                  <a:pt x="11000" y="2000"/>
                  <a:pt x="13000" y="4000"/>
                  <a:pt x="15333" y="4000"/>
                </a:cubicBezTo>
                <a:cubicBezTo>
                  <a:pt x="16666" y="4000"/>
                  <a:pt x="17689" y="3733"/>
                  <a:pt x="18400" y="3200"/>
                </a:cubicBezTo>
                <a:cubicBezTo>
                  <a:pt x="18703" y="2973"/>
                  <a:pt x="19108" y="2936"/>
                  <a:pt x="19447" y="3106"/>
                </a:cubicBezTo>
                <a:cubicBezTo>
                  <a:pt x="19786" y="3275"/>
                  <a:pt x="20000" y="3621"/>
                  <a:pt x="20000" y="4000"/>
                </a:cubicBezTo>
                <a:lnTo>
                  <a:pt x="20000" y="14000"/>
                </a:lnTo>
                <a:cubicBezTo>
                  <a:pt x="20000" y="14315"/>
                  <a:pt x="19852" y="14611"/>
                  <a:pt x="19600" y="14800"/>
                </a:cubicBezTo>
                <a:cubicBezTo>
                  <a:pt x="18561" y="15579"/>
                  <a:pt x="17298" y="16000"/>
                  <a:pt x="16000" y="16000"/>
                </a:cubicBezTo>
                <a:cubicBezTo>
                  <a:pt x="13000" y="16000"/>
                  <a:pt x="11000" y="14000"/>
                  <a:pt x="8000" y="14000"/>
                </a:cubicBezTo>
                <a:cubicBezTo>
                  <a:pt x="6524" y="14000"/>
                  <a:pt x="5100" y="14544"/>
                  <a:pt x="4000" y="15528"/>
                </a:cubicBez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2" name="aws.g.region.label"/>
          <p:cNvSpPr txBox="1"/>
          <p:nvPr/>
        </p:nvSpPr>
        <p:spPr>
          <a:xfrm>
            <a:off x="1810746" y="1275497"/>
            <a:ext cx="150904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 eu-west-1 · 2 AZs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" name="vendor.aws/network/vpc.aws-g-vpc-tab" descr="VPC group (vendor mark aws/network/vpc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719" y="1627632"/>
            <a:ext cx="237744" cy="237744"/>
          </a:xfrm>
          <a:prstGeom prst="rect">
            <a:avLst/>
          </a:prstGeom>
          <a:effectLst/>
        </p:spPr>
      </p:pic>
      <p:sp>
        <p:nvSpPr>
          <p:cNvPr id="14" name="aws.g.vpc.frame"/>
          <p:cNvSpPr/>
          <p:nvPr/>
        </p:nvSpPr>
        <p:spPr>
          <a:xfrm>
            <a:off x="3210719" y="1627632"/>
            <a:ext cx="5764507" cy="3029836"/>
          </a:xfrm>
          <a:prstGeom prst="rect">
            <a:avLst/>
          </a:prstGeom>
          <a:noFill/>
          <a:ln w="15875">
            <a:solidFill>
              <a:srgbClr val="8C4FFF"/>
            </a:solidFill>
          </a:ln>
          <a:effectLst/>
        </p:spPr>
        <p:txBody>
          <a:bodyPr/>
          <a:p/>
        </p:txBody>
      </p:sp>
      <p:sp>
        <p:nvSpPr>
          <p:cNvPr id="15" name="aws.g.vpc.label"/>
          <p:cNvSpPr txBox="1"/>
          <p:nvPr/>
        </p:nvSpPr>
        <p:spPr>
          <a:xfrm>
            <a:off x="3512471" y="1677833"/>
            <a:ext cx="105629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VPC 10.20.0.0/16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aws.g.ops.band"/>
          <p:cNvSpPr/>
          <p:nvPr/>
        </p:nvSpPr>
        <p:spPr>
          <a:xfrm>
            <a:off x="1646154" y="4825711"/>
            <a:ext cx="8044303" cy="752129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txBody>
          <a:bodyPr/>
          <a:p/>
        </p:txBody>
      </p:sp>
      <p:sp>
        <p:nvSpPr>
          <p:cNvPr id="17" name="aws.g.ops.label"/>
          <p:cNvSpPr txBox="1"/>
          <p:nvPr/>
        </p:nvSpPr>
        <p:spPr>
          <a:xfrm>
            <a:off x="1719306" y="4880575"/>
            <a:ext cx="139970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Security and operations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aws.g.az1.frame"/>
          <p:cNvSpPr/>
          <p:nvPr/>
        </p:nvSpPr>
        <p:spPr>
          <a:xfrm>
            <a:off x="3521615" y="2029968"/>
            <a:ext cx="2784987" cy="2508628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  <a:effectLst/>
        </p:spPr>
        <p:txBody>
          <a:bodyPr/>
          <a:p/>
        </p:txBody>
      </p:sp>
      <p:sp>
        <p:nvSpPr>
          <p:cNvPr id="19" name="aws.g.az1.label"/>
          <p:cNvSpPr txBox="1"/>
          <p:nvPr/>
        </p:nvSpPr>
        <p:spPr>
          <a:xfrm>
            <a:off x="4371452" y="1961297"/>
            <a:ext cx="1085315" cy="137343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Availability Zone 1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aws.g.az2.frame"/>
          <p:cNvSpPr/>
          <p:nvPr/>
        </p:nvSpPr>
        <p:spPr>
          <a:xfrm>
            <a:off x="6398043" y="2029968"/>
            <a:ext cx="2266287" cy="2508628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  <a:effectLst/>
        </p:spPr>
        <p:txBody>
          <a:bodyPr/>
          <a:p/>
        </p:txBody>
      </p:sp>
      <p:sp>
        <p:nvSpPr>
          <p:cNvPr id="21" name="aws.g.az2.label"/>
          <p:cNvSpPr txBox="1"/>
          <p:nvPr/>
        </p:nvSpPr>
        <p:spPr>
          <a:xfrm>
            <a:off x="6988529" y="1961297"/>
            <a:ext cx="1085315" cy="137343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Availability Zone 2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aws.g.app1.tab"/>
          <p:cNvSpPr/>
          <p:nvPr/>
        </p:nvSpPr>
        <p:spPr>
          <a:xfrm>
            <a:off x="3658775" y="2218581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23" name="aws.g.app1.frame"/>
          <p:cNvSpPr/>
          <p:nvPr/>
        </p:nvSpPr>
        <p:spPr>
          <a:xfrm>
            <a:off x="3658775" y="2218581"/>
            <a:ext cx="1180701" cy="2201144"/>
          </a:xfrm>
          <a:prstGeom prst="rect">
            <a:avLst/>
          </a:prstGeom>
          <a:noFill/>
          <a:ln w="15875">
            <a:solidFill>
              <a:srgbClr val="00A4A6"/>
            </a:solidFill>
          </a:ln>
          <a:effectLst/>
        </p:spPr>
        <p:txBody>
          <a:bodyPr/>
          <a:p/>
        </p:txBody>
      </p:sp>
      <p:sp>
        <p:nvSpPr>
          <p:cNvPr id="24" name="aws.g.app1.tab.icon"/>
          <p:cNvSpPr/>
          <p:nvPr/>
        </p:nvSpPr>
        <p:spPr>
          <a:xfrm>
            <a:off x="3699923" y="225972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5" name="aws.g.app1.label"/>
          <p:cNvSpPr txBox="1"/>
          <p:nvPr/>
        </p:nvSpPr>
        <p:spPr>
          <a:xfrm>
            <a:off x="3960527" y="2268781"/>
            <a:ext cx="42763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aws.g.data1.tab"/>
          <p:cNvSpPr/>
          <p:nvPr/>
        </p:nvSpPr>
        <p:spPr>
          <a:xfrm>
            <a:off x="4930917" y="2218581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27" name="aws.g.data1.frame"/>
          <p:cNvSpPr/>
          <p:nvPr/>
        </p:nvSpPr>
        <p:spPr>
          <a:xfrm>
            <a:off x="4930917" y="2218581"/>
            <a:ext cx="1238526" cy="2201144"/>
          </a:xfrm>
          <a:prstGeom prst="rect">
            <a:avLst/>
          </a:prstGeom>
          <a:noFill/>
          <a:ln w="15875">
            <a:solidFill>
              <a:srgbClr val="00A4A6"/>
            </a:solidFill>
          </a:ln>
          <a:effectLst/>
        </p:spPr>
        <p:txBody>
          <a:bodyPr/>
          <a:p/>
        </p:txBody>
      </p:sp>
      <p:sp>
        <p:nvSpPr>
          <p:cNvPr id="28" name="aws.g.data1.tab.icon"/>
          <p:cNvSpPr/>
          <p:nvPr/>
        </p:nvSpPr>
        <p:spPr>
          <a:xfrm>
            <a:off x="4972065" y="225972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9" name="aws.g.data1.label"/>
          <p:cNvSpPr txBox="1"/>
          <p:nvPr/>
        </p:nvSpPr>
        <p:spPr>
          <a:xfrm>
            <a:off x="5232669" y="2268781"/>
            <a:ext cx="29602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aws.g.data2.tab"/>
          <p:cNvSpPr/>
          <p:nvPr/>
        </p:nvSpPr>
        <p:spPr>
          <a:xfrm>
            <a:off x="6535203" y="2218581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31" name="aws.g.data2.frame"/>
          <p:cNvSpPr/>
          <p:nvPr/>
        </p:nvSpPr>
        <p:spPr>
          <a:xfrm>
            <a:off x="6535203" y="2218581"/>
            <a:ext cx="1044964" cy="2201144"/>
          </a:xfrm>
          <a:prstGeom prst="rect">
            <a:avLst/>
          </a:prstGeom>
          <a:noFill/>
          <a:ln w="15875">
            <a:solidFill>
              <a:srgbClr val="00A4A6"/>
            </a:solidFill>
          </a:ln>
          <a:effectLst/>
        </p:spPr>
        <p:txBody>
          <a:bodyPr/>
          <a:p/>
        </p:txBody>
      </p:sp>
      <p:sp>
        <p:nvSpPr>
          <p:cNvPr id="32" name="aws.g.data2.tab.icon"/>
          <p:cNvSpPr/>
          <p:nvPr/>
        </p:nvSpPr>
        <p:spPr>
          <a:xfrm>
            <a:off x="6576351" y="225972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33" name="aws.g.data2.label"/>
          <p:cNvSpPr txBox="1"/>
          <p:nvPr/>
        </p:nvSpPr>
        <p:spPr>
          <a:xfrm>
            <a:off x="6836955" y="2268781"/>
            <a:ext cx="29602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aws.g.app2.tab"/>
          <p:cNvSpPr/>
          <p:nvPr/>
        </p:nvSpPr>
        <p:spPr>
          <a:xfrm>
            <a:off x="7671607" y="2218581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35" name="aws.g.app2.frame"/>
          <p:cNvSpPr/>
          <p:nvPr/>
        </p:nvSpPr>
        <p:spPr>
          <a:xfrm>
            <a:off x="7671607" y="2218581"/>
            <a:ext cx="855563" cy="2201144"/>
          </a:xfrm>
          <a:prstGeom prst="rect">
            <a:avLst/>
          </a:prstGeom>
          <a:noFill/>
          <a:ln w="15875">
            <a:solidFill>
              <a:srgbClr val="00A4A6"/>
            </a:solidFill>
          </a:ln>
          <a:effectLst/>
        </p:spPr>
        <p:txBody>
          <a:bodyPr/>
          <a:p/>
        </p:txBody>
      </p:sp>
      <p:sp>
        <p:nvSpPr>
          <p:cNvPr id="36" name="aws.g.app2.tab.icon"/>
          <p:cNvSpPr/>
          <p:nvPr/>
        </p:nvSpPr>
        <p:spPr>
          <a:xfrm>
            <a:off x="7712755" y="225972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37" name="aws.g.app2.label"/>
          <p:cNvSpPr txBox="1"/>
          <p:nvPr/>
        </p:nvSpPr>
        <p:spPr>
          <a:xfrm>
            <a:off x="7973359" y="2268781"/>
            <a:ext cx="42763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8" name="aws.f.1"/>
          <p:cNvCxnSpPr/>
          <p:nvPr/>
        </p:nvCxnSpPr>
        <p:spPr>
          <a:xfrm>
            <a:off x="896112" y="1837944"/>
            <a:ext cx="804946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39" name="aws.f.2"/>
          <p:cNvCxnSpPr/>
          <p:nvPr/>
        </p:nvCxnSpPr>
        <p:spPr>
          <a:xfrm>
            <a:off x="1893082" y="2029968"/>
            <a:ext cx="0" cy="563545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40" name="aws.f.3"/>
          <p:cNvCxnSpPr/>
          <p:nvPr/>
        </p:nvCxnSpPr>
        <p:spPr>
          <a:xfrm>
            <a:off x="2085106" y="2785537"/>
            <a:ext cx="933603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41" name="aws.f.4"/>
          <p:cNvCxnSpPr/>
          <p:nvPr/>
        </p:nvCxnSpPr>
        <p:spPr>
          <a:xfrm>
            <a:off x="3402757" y="2785537"/>
            <a:ext cx="700704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42" name="aws.f.5"/>
          <p:cNvCxnSpPr/>
          <p:nvPr/>
        </p:nvCxnSpPr>
        <p:spPr>
          <a:xfrm>
            <a:off x="4394789" y="2785537"/>
            <a:ext cx="682417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43" name="aws.f.6"/>
          <p:cNvCxnSpPr/>
          <p:nvPr/>
        </p:nvCxnSpPr>
        <p:spPr>
          <a:xfrm flipH="1">
            <a:off x="3402757" y="3953226"/>
            <a:ext cx="700704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44" name="aws.f.7"/>
          <p:cNvCxnSpPr/>
          <p:nvPr/>
        </p:nvCxnSpPr>
        <p:spPr>
          <a:xfrm flipH="1">
            <a:off x="2085106" y="3953226"/>
            <a:ext cx="933603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sp>
        <p:nvSpPr>
          <p:cNvPr id="45" name="aws.f.8"/>
          <p:cNvSpPr/>
          <p:nvPr/>
        </p:nvSpPr>
        <p:spPr>
          <a:xfrm>
            <a:off x="4394789" y="3831336"/>
            <a:ext cx="963412" cy="121890"/>
          </a:xfrm>
          <a:custGeom>
            <a:avLst/>
            <a:gdLst/>
            <a:ahLst/>
            <a:cxnLst/>
            <a:rect l="l" t="t" r="r" b="b"/>
            <a:pathLst>
              <a:path w="963412" h="121890" fill="none">
                <a:moveTo>
                  <a:pt x="0" y="121890"/>
                </a:moveTo>
                <a:lnTo>
                  <a:pt x="222291" y="121890"/>
                </a:lnTo>
                <a:lnTo>
                  <a:pt x="222291" y="0"/>
                </a:lnTo>
                <a:lnTo>
                  <a:pt x="963412" y="0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46" name="aws.f.9"/>
          <p:cNvSpPr/>
          <p:nvPr/>
        </p:nvSpPr>
        <p:spPr>
          <a:xfrm>
            <a:off x="5742249" y="3694085"/>
            <a:ext cx="939272" cy="137251"/>
          </a:xfrm>
          <a:custGeom>
            <a:avLst/>
            <a:gdLst/>
            <a:ahLst/>
            <a:cxnLst/>
            <a:rect l="l" t="t" r="r" b="b"/>
            <a:pathLst>
              <a:path w="939272" h="137251" fill="none">
                <a:moveTo>
                  <a:pt x="0" y="137251"/>
                </a:moveTo>
                <a:lnTo>
                  <a:pt x="213604" y="137251"/>
                </a:lnTo>
                <a:lnTo>
                  <a:pt x="213604" y="0"/>
                </a:lnTo>
                <a:lnTo>
                  <a:pt x="939272" y="0"/>
                </a:lnTo>
              </a:path>
            </a:pathLst>
          </a:custGeom>
          <a:noFill/>
          <a:ln w="15875">
            <a:solidFill>
              <a:srgbClr val="232F3E"/>
            </a:solidFill>
            <a:prstDash val="dash"/>
            <a:miter lim="800000"/>
            <a:tailEnd type="arrow" w="med" len="sm"/>
          </a:ln>
          <a:effectLst/>
        </p:spPr>
        <p:txBody>
          <a:bodyPr/>
          <a:p/>
        </p:txBody>
      </p:sp>
      <p:cxnSp>
        <p:nvCxnSpPr>
          <p:cNvPr id="47" name="aws.f.10"/>
          <p:cNvCxnSpPr/>
          <p:nvPr/>
        </p:nvCxnSpPr>
        <p:spPr>
          <a:xfrm flipH="1">
            <a:off x="10479298" y="2785537"/>
            <a:ext cx="647304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sp>
        <p:nvSpPr>
          <p:cNvPr id="48" name="aws.f.11"/>
          <p:cNvSpPr/>
          <p:nvPr/>
        </p:nvSpPr>
        <p:spPr>
          <a:xfrm>
            <a:off x="10479298" y="1151047"/>
            <a:ext cx="647304" cy="1515618"/>
          </a:xfrm>
          <a:custGeom>
            <a:avLst/>
            <a:gdLst/>
            <a:ahLst/>
            <a:cxnLst/>
            <a:rect l="l" t="t" r="r" b="b"/>
            <a:pathLst>
              <a:path w="647304" h="1515618" fill="none">
                <a:moveTo>
                  <a:pt x="647304" y="0"/>
                </a:moveTo>
                <a:lnTo>
                  <a:pt x="156728" y="0"/>
                </a:lnTo>
                <a:lnTo>
                  <a:pt x="156728" y="1515618"/>
                </a:lnTo>
                <a:lnTo>
                  <a:pt x="0" y="1515618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cxnSp>
        <p:nvCxnSpPr>
          <p:cNvPr id="49" name="aws.f.12"/>
          <p:cNvCxnSpPr/>
          <p:nvPr/>
        </p:nvCxnSpPr>
        <p:spPr>
          <a:xfrm flipH="1">
            <a:off x="9167226" y="2785537"/>
            <a:ext cx="928024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50" name="aws.f.13"/>
          <p:cNvCxnSpPr/>
          <p:nvPr/>
        </p:nvCxnSpPr>
        <p:spPr>
          <a:xfrm flipH="1">
            <a:off x="8334482" y="2785537"/>
            <a:ext cx="448696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51" name="aws.f.14"/>
          <p:cNvCxnSpPr/>
          <p:nvPr/>
        </p:nvCxnSpPr>
        <p:spPr>
          <a:xfrm flipH="1">
            <a:off x="7065569" y="2785537"/>
            <a:ext cx="977585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sp>
        <p:nvSpPr>
          <p:cNvPr id="52" name="aws.f.15"/>
          <p:cNvSpPr/>
          <p:nvPr/>
        </p:nvSpPr>
        <p:spPr>
          <a:xfrm>
            <a:off x="9167226" y="3694085"/>
            <a:ext cx="1959376" cy="175656"/>
          </a:xfrm>
          <a:custGeom>
            <a:avLst/>
            <a:gdLst/>
            <a:ahLst/>
            <a:cxnLst/>
            <a:rect l="l" t="t" r="r" b="b"/>
            <a:pathLst>
              <a:path w="1959376" h="175656" fill="none">
                <a:moveTo>
                  <a:pt x="0" y="0"/>
                </a:moveTo>
                <a:lnTo>
                  <a:pt x="1142908" y="0"/>
                </a:lnTo>
                <a:lnTo>
                  <a:pt x="1142908" y="175656"/>
                </a:lnTo>
                <a:lnTo>
                  <a:pt x="1959376" y="175656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53" name="aws.f.16"/>
          <p:cNvSpPr/>
          <p:nvPr/>
        </p:nvSpPr>
        <p:spPr>
          <a:xfrm>
            <a:off x="8508675" y="4968027"/>
            <a:ext cx="2617927" cy="207477"/>
          </a:xfrm>
          <a:custGeom>
            <a:avLst/>
            <a:gdLst/>
            <a:ahLst/>
            <a:cxnLst/>
            <a:rect l="l" t="t" r="r" b="b"/>
            <a:pathLst>
              <a:path w="2617927" h="207477" fill="none">
                <a:moveTo>
                  <a:pt x="2617927" y="0"/>
                </a:moveTo>
                <a:lnTo>
                  <a:pt x="0" y="0"/>
                </a:lnTo>
                <a:lnTo>
                  <a:pt x="0" y="207477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pic>
        <p:nvPicPr>
          <p:cNvPr id="54" name="vendor.aws/general/internet-alt1.aws-n-sources" descr="Public sources (vendor mark aws/general/internet-alt1)"/>
          <p:cNvPicPr>
            <a:picLocks noChangeAspect="1"/>
          </p:cNvPicPr>
          <p:nvPr/>
        </p:nvPicPr>
        <p:blipFill>
          <a:blip r:embed="rId3"/>
          <a:srcRect l="2734" t="3906" r="2734" b="3906"/>
          <a:stretch>
            <a:fillRect/>
          </a:stretch>
        </p:blipFill>
        <p:spPr>
          <a:xfrm>
            <a:off x="512064" y="1650681"/>
            <a:ext cx="384048" cy="374526"/>
          </a:xfrm>
          <a:prstGeom prst="rect">
            <a:avLst/>
          </a:prstGeom>
          <a:effectLst/>
        </p:spPr>
      </p:pic>
      <p:sp>
        <p:nvSpPr>
          <p:cNvPr id="55" name="aws.n.sources.caption"/>
          <p:cNvSpPr txBox="1"/>
          <p:nvPr/>
        </p:nvSpPr>
        <p:spPr>
          <a:xfrm>
            <a:off x="512064" y="2075688"/>
            <a:ext cx="479146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Public sources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vendor.aws/general/users.aws-n-reps" descr="Field reps (vendor mark aws/general/users)"/>
          <p:cNvPicPr>
            <a:picLocks noChangeAspect="1"/>
          </p:cNvPicPr>
          <p:nvPr/>
        </p:nvPicPr>
        <p:blipFill>
          <a:blip r:embed="rId4"/>
          <a:srcRect l="3000" t="3000" r="3000" b="3000"/>
          <a:stretch>
            <a:fillRect/>
          </a:stretch>
        </p:blipFill>
        <p:spPr>
          <a:xfrm>
            <a:off x="11126595" y="959003"/>
            <a:ext cx="384048" cy="384048"/>
          </a:xfrm>
          <a:prstGeom prst="rect">
            <a:avLst/>
          </a:prstGeom>
          <a:effectLst/>
        </p:spPr>
      </p:pic>
      <p:sp>
        <p:nvSpPr>
          <p:cNvPr id="57" name="aws.n.reps.caption"/>
          <p:cNvSpPr txBox="1"/>
          <p:nvPr/>
        </p:nvSpPr>
        <p:spPr>
          <a:xfrm>
            <a:off x="11020525" y="1388771"/>
            <a:ext cx="59618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reps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8" name="vendor.aws/general/user.aws-n-medical" descr="Medical reviewers (vendor mark aws/general/user)"/>
          <p:cNvPicPr>
            <a:picLocks noChangeAspect="1"/>
          </p:cNvPicPr>
          <p:nvPr/>
        </p:nvPicPr>
        <p:blipFill>
          <a:blip r:embed="rId5"/>
          <a:srcRect l="3000" t="3000" r="3000" b="3000"/>
          <a:stretch>
            <a:fillRect/>
          </a:stretch>
        </p:blipFill>
        <p:spPr>
          <a:xfrm>
            <a:off x="11126595" y="2593485"/>
            <a:ext cx="384048" cy="384048"/>
          </a:xfrm>
          <a:prstGeom prst="rect">
            <a:avLst/>
          </a:prstGeom>
          <a:effectLst/>
        </p:spPr>
      </p:pic>
      <p:sp>
        <p:nvSpPr>
          <p:cNvPr id="59" name="aws.n.medical.caption"/>
          <p:cNvSpPr txBox="1"/>
          <p:nvPr/>
        </p:nvSpPr>
        <p:spPr>
          <a:xfrm>
            <a:off x="11027840" y="3023253"/>
            <a:ext cx="581558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reviewers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0" name="mark.langfuse-icon.aws-n-langfuse" descr="Langfuse (brand mark langfuse-icon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0547" t="25391" r="10547" b="25391"/>
          <a:stretch>
            <a:fillRect/>
          </a:stretch>
        </p:blipFill>
        <p:spPr>
          <a:xfrm>
            <a:off x="11126595" y="3750003"/>
            <a:ext cx="384048" cy="239555"/>
          </a:xfrm>
          <a:prstGeom prst="rect">
            <a:avLst/>
          </a:prstGeom>
          <a:effectLst/>
        </p:spPr>
      </p:pic>
      <p:sp>
        <p:nvSpPr>
          <p:cNvPr id="61" name="aws.n.langfuse.caption"/>
          <p:cNvSpPr txBox="1"/>
          <p:nvPr/>
        </p:nvSpPr>
        <p:spPr>
          <a:xfrm>
            <a:off x="11038813" y="4107525"/>
            <a:ext cx="559613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Langfuse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traces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2" name="vendor.onprem/ci/github-actions.aws-n-actions" descr="GitHub Actions (vendor mark onprem/ci/github-actions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6595" y="4776003"/>
            <a:ext cx="384048" cy="384048"/>
          </a:xfrm>
          <a:prstGeom prst="rect">
            <a:avLst/>
          </a:prstGeom>
          <a:effectLst/>
        </p:spPr>
      </p:pic>
      <p:sp>
        <p:nvSpPr>
          <p:cNvPr id="63" name="aws.n.actions.caption"/>
          <p:cNvSpPr txBox="1"/>
          <p:nvPr/>
        </p:nvSpPr>
        <p:spPr>
          <a:xfrm>
            <a:off x="11093677" y="5205771"/>
            <a:ext cx="449885" cy="51837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GitHub Actions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image builds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vendor.aws/network/cloudfront.aws-n-cdn" descr="Amazon CloudFront (vendor mark aws/network/cloudfront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5279" y="2593485"/>
            <a:ext cx="384048" cy="384048"/>
          </a:xfrm>
          <a:prstGeom prst="rect">
            <a:avLst/>
          </a:prstGeom>
          <a:effectLst/>
        </p:spPr>
      </p:pic>
      <p:sp>
        <p:nvSpPr>
          <p:cNvPr id="65" name="aws.n.cdn.caption"/>
          <p:cNvSpPr txBox="1"/>
          <p:nvPr/>
        </p:nvSpPr>
        <p:spPr>
          <a:xfrm>
            <a:off x="9952633" y="3023253"/>
            <a:ext cx="669341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CloudFront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6" name="vendor.aws/compute/lambda.aws-n-collect" descr="AWS Lambda (vendor mark aws/compute/lambda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1018" y="1645920"/>
            <a:ext cx="384048" cy="384048"/>
          </a:xfrm>
          <a:prstGeom prst="rect">
            <a:avLst/>
          </a:prstGeom>
          <a:effectLst/>
        </p:spPr>
      </p:pic>
      <p:sp>
        <p:nvSpPr>
          <p:cNvPr id="67" name="aws.n.collect.caption"/>
          <p:cNvSpPr txBox="1"/>
          <p:nvPr/>
        </p:nvSpPr>
        <p:spPr>
          <a:xfrm>
            <a:off x="2139930" y="1708328"/>
            <a:ext cx="83027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Lambda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collectors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8" name="vendor.aws/storage/simple-storage-service-s3.aws-n-s3" descr="Amazon S3 (vendor mark aws/storage/simple-storage-service-s3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1018" y="2593485"/>
            <a:ext cx="384048" cy="384048"/>
          </a:xfrm>
          <a:prstGeom prst="rect">
            <a:avLst/>
          </a:prstGeom>
          <a:effectLst/>
        </p:spPr>
      </p:pic>
      <p:sp>
        <p:nvSpPr>
          <p:cNvPr id="69" name="aws.n.s3.caption"/>
          <p:cNvSpPr txBox="1"/>
          <p:nvPr/>
        </p:nvSpPr>
        <p:spPr>
          <a:xfrm>
            <a:off x="1701018" y="3023253"/>
            <a:ext cx="69860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0" name="vendor.aws/ml/bedrock.aws-n-bedrock" descr="Amazon Bedrock (vendor mark aws/ml/bedrock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1018" y="3761173"/>
            <a:ext cx="384048" cy="384048"/>
          </a:xfrm>
          <a:prstGeom prst="rect">
            <a:avLst/>
          </a:prstGeom>
          <a:effectLst/>
        </p:spPr>
      </p:pic>
      <p:sp>
        <p:nvSpPr>
          <p:cNvPr id="71" name="aws.n.bedrock.caption"/>
          <p:cNvSpPr txBox="1"/>
          <p:nvPr/>
        </p:nvSpPr>
        <p:spPr>
          <a:xfrm>
            <a:off x="1701018" y="4190941"/>
            <a:ext cx="101955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Bedrock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Claude models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2" name="vendor.aws/analytics/amazon-opensearch-service.aws-n-search" descr="OpenSearch Service (vendor mark aws/analytics/amazon-opensearch-servic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77221" y="2593485"/>
            <a:ext cx="384048" cy="384048"/>
          </a:xfrm>
          <a:prstGeom prst="rect">
            <a:avLst/>
          </a:prstGeom>
          <a:effectLst/>
        </p:spPr>
      </p:pic>
      <p:sp>
        <p:nvSpPr>
          <p:cNvPr id="73" name="aws.n.search.caption"/>
          <p:cNvSpPr txBox="1"/>
          <p:nvPr/>
        </p:nvSpPr>
        <p:spPr>
          <a:xfrm>
            <a:off x="5077221" y="3023253"/>
            <a:ext cx="757123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OpenSearch Service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claim index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4" name="vendor.aws/database/rds.aws-n-standby" descr="Amazon RDS (vendor mark aws/database/rds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81507" y="3502032"/>
            <a:ext cx="384048" cy="384048"/>
          </a:xfrm>
          <a:prstGeom prst="rect">
            <a:avLst/>
          </a:prstGeom>
          <a:effectLst/>
        </p:spPr>
      </p:pic>
      <p:sp>
        <p:nvSpPr>
          <p:cNvPr id="75" name="aws.n.standby.caption"/>
          <p:cNvSpPr txBox="1"/>
          <p:nvPr/>
        </p:nvSpPr>
        <p:spPr>
          <a:xfrm>
            <a:off x="6681507" y="3931800"/>
            <a:ext cx="501091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RDS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standby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vendor.aws/database/elasticache-for-redis.aws-n-cache" descr="Amazon ElastiCache (vendor mark aws/database/elasticache-for-redis)"/>
          <p:cNvPicPr>
            <a:picLocks noChangeAspect="1"/>
          </p:cNvPicPr>
          <p:nvPr/>
        </p:nvPicPr>
        <p:blipFill>
          <a:blip r:embed="rId15"/>
          <a:srcRect l="1953" t="7422" r="1953" b="7422"/>
          <a:stretch>
            <a:fillRect/>
          </a:stretch>
        </p:blipFill>
        <p:spPr>
          <a:xfrm>
            <a:off x="6681507" y="2615341"/>
            <a:ext cx="384048" cy="340335"/>
          </a:xfrm>
          <a:prstGeom prst="rect">
            <a:avLst/>
          </a:prstGeom>
          <a:effectLst/>
        </p:spPr>
      </p:pic>
      <p:sp>
        <p:nvSpPr>
          <p:cNvPr id="77" name="aws.n.cache.caption"/>
          <p:cNvSpPr txBox="1"/>
          <p:nvPr/>
        </p:nvSpPr>
        <p:spPr>
          <a:xfrm>
            <a:off x="6681507" y="3023253"/>
            <a:ext cx="720547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ElastiCache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review state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8" name="vendor.aws/database/rds.aws-n-rds" descr="Amazon RDS (vendor mark aws/database/rds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8156" y="3639284"/>
            <a:ext cx="384048" cy="384048"/>
          </a:xfrm>
          <a:prstGeom prst="rect">
            <a:avLst/>
          </a:prstGeom>
          <a:effectLst/>
        </p:spPr>
      </p:pic>
      <p:sp>
        <p:nvSpPr>
          <p:cNvPr id="79" name="aws.n.rds.caption"/>
          <p:cNvSpPr txBox="1"/>
          <p:nvPr/>
        </p:nvSpPr>
        <p:spPr>
          <a:xfrm>
            <a:off x="5142357" y="4069052"/>
            <a:ext cx="81564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RDS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ledger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0" name="vendor.aws/compute/elastic-container-service-task.aws-n-scan" descr="Scan agent (vendor mark aws/compute/elastic-container-service-task)"/>
          <p:cNvPicPr>
            <a:picLocks noChangeAspect="1"/>
          </p:cNvPicPr>
          <p:nvPr/>
        </p:nvPicPr>
        <p:blipFill>
          <a:blip r:embed="rId16"/>
          <a:srcRect l="14453" t="3906" r="15625" b="3906"/>
          <a:stretch>
            <a:fillRect/>
          </a:stretch>
        </p:blipFill>
        <p:spPr>
          <a:xfrm>
            <a:off x="4103481" y="2593485"/>
            <a:ext cx="291291" cy="384048"/>
          </a:xfrm>
          <a:prstGeom prst="rect">
            <a:avLst/>
          </a:prstGeom>
          <a:effectLst/>
        </p:spPr>
      </p:pic>
      <p:sp>
        <p:nvSpPr>
          <p:cNvPr id="81" name="aws.n.scan.caption"/>
          <p:cNvSpPr txBox="1"/>
          <p:nvPr/>
        </p:nvSpPr>
        <p:spPr>
          <a:xfrm>
            <a:off x="3907141" y="3023253"/>
            <a:ext cx="68397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Scan agent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vendor.aws/compute/elastic-container-service-task.aws-n-writer" descr="Writer agent (vendor mark aws/compute/elastic-container-service-task)"/>
          <p:cNvPicPr>
            <a:picLocks noChangeAspect="1"/>
          </p:cNvPicPr>
          <p:nvPr/>
        </p:nvPicPr>
        <p:blipFill>
          <a:blip r:embed="rId16"/>
          <a:srcRect l="14453" t="3906" r="15625" b="3906"/>
          <a:stretch>
            <a:fillRect/>
          </a:stretch>
        </p:blipFill>
        <p:spPr>
          <a:xfrm>
            <a:off x="4103481" y="3761173"/>
            <a:ext cx="291291" cy="384048"/>
          </a:xfrm>
          <a:prstGeom prst="rect">
            <a:avLst/>
          </a:prstGeom>
          <a:effectLst/>
        </p:spPr>
      </p:pic>
      <p:sp>
        <p:nvSpPr>
          <p:cNvPr id="83" name="aws.n.writer.caption"/>
          <p:cNvSpPr txBox="1"/>
          <p:nvPr/>
        </p:nvSpPr>
        <p:spPr>
          <a:xfrm>
            <a:off x="3881537" y="4190941"/>
            <a:ext cx="73517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Writer agent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4" name="vendor.aws/compute/elastic-container-service-task.aws-n-review" descr="Review app (vendor mark aws/compute/elastic-container-service-task)"/>
          <p:cNvPicPr>
            <a:picLocks noChangeAspect="1"/>
          </p:cNvPicPr>
          <p:nvPr/>
        </p:nvPicPr>
        <p:blipFill>
          <a:blip r:embed="rId16"/>
          <a:srcRect l="14453" t="3906" r="15625" b="3906"/>
          <a:stretch>
            <a:fillRect/>
          </a:stretch>
        </p:blipFill>
        <p:spPr>
          <a:xfrm>
            <a:off x="8043197" y="2593485"/>
            <a:ext cx="291291" cy="384048"/>
          </a:xfrm>
          <a:prstGeom prst="rect">
            <a:avLst/>
          </a:prstGeom>
          <a:effectLst/>
        </p:spPr>
      </p:pic>
      <p:sp>
        <p:nvSpPr>
          <p:cNvPr id="85" name="aws.n.review.caption"/>
          <p:cNvSpPr txBox="1"/>
          <p:nvPr/>
        </p:nvSpPr>
        <p:spPr>
          <a:xfrm>
            <a:off x="7930981" y="3023253"/>
            <a:ext cx="449885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app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vendor.aws/network/endpoint.aws-n-s3ep" descr="S3 endpoint (vendor mark aws/network/endpoint)"/>
          <p:cNvPicPr>
            <a:picLocks noChangeAspect="1"/>
          </p:cNvPicPr>
          <p:nvPr/>
        </p:nvPicPr>
        <p:blipFill>
          <a:blip r:embed="rId17"/>
          <a:srcRect l="3000" t="3000" r="2500" b="3000"/>
          <a:stretch>
            <a:fillRect/>
          </a:stretch>
        </p:blipFill>
        <p:spPr>
          <a:xfrm>
            <a:off x="3018695" y="2594501"/>
            <a:ext cx="384048" cy="382016"/>
          </a:xfrm>
          <a:prstGeom prst="rect">
            <a:avLst/>
          </a:prstGeom>
          <a:effectLst/>
        </p:spPr>
      </p:pic>
      <p:sp>
        <p:nvSpPr>
          <p:cNvPr id="87" name="aws.n.s3ep.caption"/>
          <p:cNvSpPr txBox="1"/>
          <p:nvPr/>
        </p:nvSpPr>
        <p:spPr>
          <a:xfrm>
            <a:off x="2570639" y="2151281"/>
            <a:ext cx="594360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S3 endpoint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PrivateLink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" name="vendor.aws/network/endpoint.aws-n-brep" descr="Bedrock endpoint (vendor mark aws/network/endpoint)"/>
          <p:cNvPicPr>
            <a:picLocks noChangeAspect="1"/>
          </p:cNvPicPr>
          <p:nvPr/>
        </p:nvPicPr>
        <p:blipFill>
          <a:blip r:embed="rId17"/>
          <a:srcRect l="3000" t="3000" r="2500" b="3000"/>
          <a:stretch>
            <a:fillRect/>
          </a:stretch>
        </p:blipFill>
        <p:spPr>
          <a:xfrm>
            <a:off x="3018695" y="3762189"/>
            <a:ext cx="384048" cy="382016"/>
          </a:xfrm>
          <a:prstGeom prst="rect">
            <a:avLst/>
          </a:prstGeom>
          <a:effectLst/>
        </p:spPr>
      </p:pic>
      <p:sp>
        <p:nvSpPr>
          <p:cNvPr id="89" name="aws.n.brep.caption"/>
          <p:cNvSpPr txBox="1"/>
          <p:nvPr/>
        </p:nvSpPr>
        <p:spPr>
          <a:xfrm>
            <a:off x="2570639" y="3318970"/>
            <a:ext cx="594360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Bedrock endpoint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PrivateLink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vendor.aws/network/elb-application-load-balancer.aws-n-alb" descr="Load balancer (vendor mark aws/network/elb-application-load-balancer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83202" y="2593485"/>
            <a:ext cx="384048" cy="384048"/>
          </a:xfrm>
          <a:prstGeom prst="rect">
            <a:avLst/>
          </a:prstGeom>
          <a:effectLst/>
        </p:spPr>
      </p:pic>
      <p:sp>
        <p:nvSpPr>
          <p:cNvPr id="91" name="aws.n.alb.caption"/>
          <p:cNvSpPr txBox="1"/>
          <p:nvPr/>
        </p:nvSpPr>
        <p:spPr>
          <a:xfrm>
            <a:off x="9020946" y="2151281"/>
            <a:ext cx="523037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Load balancer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ALB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2" name="vendor.aws/network/nat-gateway.aws-n-nat" descr="NAT gateway (vendor mark aws/network/nat-gateway)"/>
          <p:cNvPicPr>
            <a:picLocks noChangeAspect="1"/>
          </p:cNvPicPr>
          <p:nvPr/>
        </p:nvPicPr>
        <p:blipFill>
          <a:blip r:embed="rId19"/>
          <a:srcRect l="3000" t="3000" r="2500" b="3000"/>
          <a:stretch>
            <a:fillRect/>
          </a:stretch>
        </p:blipFill>
        <p:spPr>
          <a:xfrm>
            <a:off x="8783202" y="3503048"/>
            <a:ext cx="384048" cy="382016"/>
          </a:xfrm>
          <a:prstGeom prst="rect">
            <a:avLst/>
          </a:prstGeom>
          <a:effectLst/>
        </p:spPr>
      </p:pic>
      <p:sp>
        <p:nvSpPr>
          <p:cNvPr id="93" name="aws.n.nat.caption"/>
          <p:cNvSpPr txBox="1"/>
          <p:nvPr/>
        </p:nvSpPr>
        <p:spPr>
          <a:xfrm>
            <a:off x="9020946" y="3181810"/>
            <a:ext cx="502920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NAT gateway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4" name="vendor.aws/security/cognito.aws-n-cognito" descr="Amazon Cognito (vendor mark aws/security/cognito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59286" y="5175504"/>
            <a:ext cx="310896" cy="310896"/>
          </a:xfrm>
          <a:prstGeom prst="rect">
            <a:avLst/>
          </a:prstGeom>
          <a:effectLst/>
        </p:spPr>
      </p:pic>
      <p:sp>
        <p:nvSpPr>
          <p:cNvPr id="95" name="aws.n.cognito.caption"/>
          <p:cNvSpPr txBox="1"/>
          <p:nvPr/>
        </p:nvSpPr>
        <p:spPr>
          <a:xfrm>
            <a:off x="2325046" y="5193701"/>
            <a:ext cx="501091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Cognito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6" name="vendor.aws/security/waf.aws-n-waf" descr="AWS WAF (vendor mark aws/security/waf)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96829" y="5175504"/>
            <a:ext cx="310896" cy="310896"/>
          </a:xfrm>
          <a:prstGeom prst="rect">
            <a:avLst/>
          </a:prstGeom>
          <a:effectLst/>
        </p:spPr>
      </p:pic>
      <p:sp>
        <p:nvSpPr>
          <p:cNvPr id="97" name="aws.n.waf.caption"/>
          <p:cNvSpPr txBox="1"/>
          <p:nvPr/>
        </p:nvSpPr>
        <p:spPr>
          <a:xfrm>
            <a:off x="3562589" y="5262281"/>
            <a:ext cx="64648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WAF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8" name="vendor.aws/security/key-management-service.aws-n-kms" descr="AWS KMS (vendor mark aws/security/key-management-service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10266" y="5175504"/>
            <a:ext cx="310896" cy="310896"/>
          </a:xfrm>
          <a:prstGeom prst="rect">
            <a:avLst/>
          </a:prstGeom>
          <a:effectLst/>
        </p:spPr>
      </p:pic>
      <p:sp>
        <p:nvSpPr>
          <p:cNvPr id="99" name="aws.n.kms.caption"/>
          <p:cNvSpPr txBox="1"/>
          <p:nvPr/>
        </p:nvSpPr>
        <p:spPr>
          <a:xfrm>
            <a:off x="4876026" y="5262281"/>
            <a:ext cx="64008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KMS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0" name="vendor.aws/management/cloudwatch.aws-n-watch" descr="Amazon CloudWatch (vendor mark aws/management/cloudwatch)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72955" y="5175504"/>
            <a:ext cx="310896" cy="310896"/>
          </a:xfrm>
          <a:prstGeom prst="rect">
            <a:avLst/>
          </a:prstGeom>
          <a:effectLst/>
        </p:spPr>
      </p:pic>
      <p:sp>
        <p:nvSpPr>
          <p:cNvPr id="101" name="aws.n.watch.caption"/>
          <p:cNvSpPr txBox="1"/>
          <p:nvPr/>
        </p:nvSpPr>
        <p:spPr>
          <a:xfrm>
            <a:off x="6138715" y="5193701"/>
            <a:ext cx="735178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CloudWatch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" name="vendor.aws/devtools/x-ray.aws-n-xray" descr="AWS X-Ray (vendor mark aws/devtools/x-ray)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90964" y="5175504"/>
            <a:ext cx="310896" cy="310896"/>
          </a:xfrm>
          <a:prstGeom prst="rect">
            <a:avLst/>
          </a:prstGeom>
          <a:effectLst/>
        </p:spPr>
      </p:pic>
      <p:sp>
        <p:nvSpPr>
          <p:cNvPr id="103" name="aws.n.xray.caption"/>
          <p:cNvSpPr txBox="1"/>
          <p:nvPr/>
        </p:nvSpPr>
        <p:spPr>
          <a:xfrm>
            <a:off x="7456724" y="5262281"/>
            <a:ext cx="71963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X-Ray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4" name="vendor.aws/compute/ec2-container-registry.aws-n-ecr" descr="Amazon ECR (vendor mark aws/compute/ec2-container-registry)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53195" y="5175504"/>
            <a:ext cx="310896" cy="310896"/>
          </a:xfrm>
          <a:prstGeom prst="rect">
            <a:avLst/>
          </a:prstGeom>
          <a:effectLst/>
        </p:spPr>
      </p:pic>
      <p:sp>
        <p:nvSpPr>
          <p:cNvPr id="105" name="aws.n.ecr.caption"/>
          <p:cNvSpPr txBox="1"/>
          <p:nvPr/>
        </p:nvSpPr>
        <p:spPr>
          <a:xfrm>
            <a:off x="8718955" y="5262281"/>
            <a:ext cx="81564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ECR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aws.f.1.label"/>
          <p:cNvSpPr txBox="1"/>
          <p:nvPr/>
        </p:nvSpPr>
        <p:spPr>
          <a:xfrm>
            <a:off x="940746" y="1865376"/>
            <a:ext cx="34991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feeds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aws.f.1.step"/>
          <p:cNvSpPr/>
          <p:nvPr/>
        </p:nvSpPr>
        <p:spPr>
          <a:xfrm>
            <a:off x="941832" y="1527048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aws.f.2.step"/>
          <p:cNvSpPr/>
          <p:nvPr/>
        </p:nvSpPr>
        <p:spPr>
          <a:xfrm>
            <a:off x="1929658" y="2075688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aws.f.3.label"/>
          <p:cNvSpPr txBox="1"/>
          <p:nvPr/>
        </p:nvSpPr>
        <p:spPr>
          <a:xfrm>
            <a:off x="2227602" y="2812969"/>
            <a:ext cx="64861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raw signals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aws.f.3.step"/>
          <p:cNvSpPr/>
          <p:nvPr/>
        </p:nvSpPr>
        <p:spPr>
          <a:xfrm>
            <a:off x="2130826" y="2474641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aws.f.5.step"/>
          <p:cNvSpPr/>
          <p:nvPr/>
        </p:nvSpPr>
        <p:spPr>
          <a:xfrm>
            <a:off x="4440509" y="2474641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aws.f.6.step"/>
          <p:cNvSpPr/>
          <p:nvPr/>
        </p:nvSpPr>
        <p:spPr>
          <a:xfrm>
            <a:off x="3783421" y="3642330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aws.f.7.label"/>
          <p:cNvSpPr txBox="1"/>
          <p:nvPr/>
        </p:nvSpPr>
        <p:spPr>
          <a:xfrm>
            <a:off x="2338028" y="3785433"/>
            <a:ext cx="42775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prompt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aws.f.8.step"/>
          <p:cNvSpPr/>
          <p:nvPr/>
        </p:nvSpPr>
        <p:spPr>
          <a:xfrm>
            <a:off x="4175315" y="3450277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aws.f.10.step"/>
          <p:cNvSpPr/>
          <p:nvPr/>
        </p:nvSpPr>
        <p:spPr>
          <a:xfrm>
            <a:off x="11071731" y="2282589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7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aws.f.11.label"/>
          <p:cNvSpPr txBox="1"/>
          <p:nvPr/>
        </p:nvSpPr>
        <p:spPr>
          <a:xfrm>
            <a:off x="9983254" y="1838676"/>
            <a:ext cx="61619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 briefs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aws.f.11.step"/>
          <p:cNvSpPr/>
          <p:nvPr/>
        </p:nvSpPr>
        <p:spPr>
          <a:xfrm>
            <a:off x="10325130" y="1196767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9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aws.f.12.label"/>
          <p:cNvSpPr txBox="1"/>
          <p:nvPr/>
        </p:nvSpPr>
        <p:spPr>
          <a:xfrm>
            <a:off x="9364867" y="2617744"/>
            <a:ext cx="349861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origin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aws.f.14.step"/>
          <p:cNvSpPr/>
          <p:nvPr/>
        </p:nvSpPr>
        <p:spPr>
          <a:xfrm>
            <a:off x="7174474" y="2474641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8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aws.f.15.label"/>
          <p:cNvSpPr txBox="1"/>
          <p:nvPr/>
        </p:nvSpPr>
        <p:spPr>
          <a:xfrm>
            <a:off x="9364662" y="3721517"/>
            <a:ext cx="38227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traces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aws.f.16.step"/>
          <p:cNvSpPr/>
          <p:nvPr/>
        </p:nvSpPr>
        <p:spPr>
          <a:xfrm>
            <a:off x="10395082" y="5004603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10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aws.legend.1.step"/>
          <p:cNvSpPr/>
          <p:nvPr/>
        </p:nvSpPr>
        <p:spPr>
          <a:xfrm>
            <a:off x="502920" y="5971032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aws.legend.1.text"/>
          <p:cNvSpPr txBox="1"/>
          <p:nvPr/>
        </p:nvSpPr>
        <p:spPr>
          <a:xfrm>
            <a:off x="868680" y="5971032"/>
            <a:ext cx="553517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Pull signals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aws.legend.2.step"/>
          <p:cNvSpPr/>
          <p:nvPr/>
        </p:nvSpPr>
        <p:spPr>
          <a:xfrm>
            <a:off x="1650797" y="5971032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aws.legend.2.text"/>
          <p:cNvSpPr txBox="1"/>
          <p:nvPr/>
        </p:nvSpPr>
        <p:spPr>
          <a:xfrm>
            <a:off x="2016557" y="5971032"/>
            <a:ext cx="553517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Land raw signals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aws.legend.3.step"/>
          <p:cNvSpPr/>
          <p:nvPr/>
        </p:nvSpPr>
        <p:spPr>
          <a:xfrm>
            <a:off x="2798674" y="5971032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aws.legend.3.text"/>
          <p:cNvSpPr txBox="1"/>
          <p:nvPr/>
        </p:nvSpPr>
        <p:spPr>
          <a:xfrm>
            <a:off x="3164434" y="5971032"/>
            <a:ext cx="553517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 privately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aws.legend.4.step"/>
          <p:cNvSpPr/>
          <p:nvPr/>
        </p:nvSpPr>
        <p:spPr>
          <a:xfrm>
            <a:off x="3946550" y="5971032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aws.legend.4.text"/>
          <p:cNvSpPr txBox="1"/>
          <p:nvPr/>
        </p:nvSpPr>
        <p:spPr>
          <a:xfrm>
            <a:off x="4312310" y="5971032"/>
            <a:ext cx="553517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Index claims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aws.legend.5.step"/>
          <p:cNvSpPr/>
          <p:nvPr/>
        </p:nvSpPr>
        <p:spPr>
          <a:xfrm>
            <a:off x="5094427" y="5971032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aws.legend.5.text"/>
          <p:cNvSpPr txBox="1"/>
          <p:nvPr/>
        </p:nvSpPr>
        <p:spPr>
          <a:xfrm>
            <a:off x="5460187" y="5971032"/>
            <a:ext cx="553517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 the brief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aws.legend.6.step"/>
          <p:cNvSpPr/>
          <p:nvPr/>
        </p:nvSpPr>
        <p:spPr>
          <a:xfrm>
            <a:off x="6242304" y="5971032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aws.legend.6.text"/>
          <p:cNvSpPr txBox="1"/>
          <p:nvPr/>
        </p:nvSpPr>
        <p:spPr>
          <a:xfrm>
            <a:off x="6608064" y="5971032"/>
            <a:ext cx="553517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Save the draft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aws.legend.7.step"/>
          <p:cNvSpPr/>
          <p:nvPr/>
        </p:nvSpPr>
        <p:spPr>
          <a:xfrm>
            <a:off x="7390181" y="5971032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7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aws.legend.7.text"/>
          <p:cNvSpPr txBox="1"/>
          <p:nvPr/>
        </p:nvSpPr>
        <p:spPr>
          <a:xfrm>
            <a:off x="7755941" y="5971032"/>
            <a:ext cx="553517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Request review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aws.legend.8.step"/>
          <p:cNvSpPr/>
          <p:nvPr/>
        </p:nvSpPr>
        <p:spPr>
          <a:xfrm>
            <a:off x="8538058" y="5971032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8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aws.legend.8.text"/>
          <p:cNvSpPr txBox="1"/>
          <p:nvPr/>
        </p:nvSpPr>
        <p:spPr>
          <a:xfrm>
            <a:off x="8903818" y="5971032"/>
            <a:ext cx="553517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Decide in the app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aws.legend.9.step"/>
          <p:cNvSpPr/>
          <p:nvPr/>
        </p:nvSpPr>
        <p:spPr>
          <a:xfrm>
            <a:off x="9685934" y="5971032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9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aws.legend.9.text"/>
          <p:cNvSpPr txBox="1"/>
          <p:nvPr/>
        </p:nvSpPr>
        <p:spPr>
          <a:xfrm>
            <a:off x="10051694" y="5971032"/>
            <a:ext cx="553517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 the brief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aws.legend.10.step"/>
          <p:cNvSpPr/>
          <p:nvPr/>
        </p:nvSpPr>
        <p:spPr>
          <a:xfrm>
            <a:off x="10833811" y="5971032"/>
            <a:ext cx="274320" cy="27432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10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aws.legend.10.text"/>
          <p:cNvSpPr txBox="1"/>
          <p:nvPr/>
        </p:nvSpPr>
        <p:spPr>
          <a:xfrm>
            <a:off x="11199571" y="5971032"/>
            <a:ext cx="553517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Ship images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2" name="state.aws.legend.key.data"/>
          <p:cNvCxnSpPr/>
          <p:nvPr/>
        </p:nvCxnSpPr>
        <p:spPr>
          <a:xfrm>
            <a:off x="502920" y="6387358"/>
            <a:ext cx="411480" cy="0"/>
          </a:xfrm>
          <a:prstGeom prst="line">
            <a:avLst/>
          </a:prstGeom>
          <a:ln w="15875">
            <a:solidFill>
              <a:srgbClr val="232F3E"/>
            </a:solidFill>
          </a:ln>
          <a:effectLst/>
        </p:spPr>
      </p:cxnSp>
      <p:sp>
        <p:nvSpPr>
          <p:cNvPr id="143" name="aws.legend.key.data.text"/>
          <p:cNvSpPr txBox="1"/>
          <p:nvPr/>
        </p:nvSpPr>
        <p:spPr>
          <a:xfrm>
            <a:off x="1005840" y="6318687"/>
            <a:ext cx="97218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Request or data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4" name="state.aws.legend.key.async"/>
          <p:cNvCxnSpPr/>
          <p:nvPr/>
        </p:nvCxnSpPr>
        <p:spPr>
          <a:xfrm>
            <a:off x="2252343" y="6387358"/>
            <a:ext cx="411480" cy="0"/>
          </a:xfrm>
          <a:prstGeom prst="line">
            <a:avLst/>
          </a:prstGeom>
          <a:ln w="15875">
            <a:solidFill>
              <a:srgbClr val="232F3E"/>
            </a:solidFill>
            <a:prstDash val="dash"/>
          </a:ln>
          <a:effectLst/>
        </p:spPr>
      </p:cxnSp>
      <p:sp>
        <p:nvSpPr>
          <p:cNvPr id="145" name="aws.legend.key.async.text"/>
          <p:cNvSpPr txBox="1"/>
          <p:nvPr/>
        </p:nvSpPr>
        <p:spPr>
          <a:xfrm>
            <a:off x="2755263" y="6318687"/>
            <a:ext cx="126449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Event, asynchronous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wimlane-handoff:arch-sequence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brief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stops for medical review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whenever one claim has no approved source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eq.band"/>
          <p:cNvSpPr/>
          <p:nvPr/>
        </p:nvSpPr>
        <p:spPr>
          <a:xfrm>
            <a:off x="3020317" y="777240"/>
            <a:ext cx="8650224" cy="5093437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4" name="seq.frag.0"/>
          <p:cNvSpPr/>
          <p:nvPr/>
        </p:nvSpPr>
        <p:spPr>
          <a:xfrm>
            <a:off x="5333749" y="2948330"/>
            <a:ext cx="4023360" cy="589407"/>
          </a:xfrm>
          <a:prstGeom prst="rect">
            <a:avLst/>
          </a:prstGeom>
          <a:noFill/>
          <a:ln w="9525">
            <a:solidFill>
              <a:schemeClr val="tx1">
                <a:lumMod val="80000"/>
                <a:lumOff val="20000"/>
              </a:schemeClr>
            </a:solidFill>
          </a:ln>
          <a:effectLst/>
        </p:spPr>
        <p:txBody>
          <a:bodyPr/>
          <a:p/>
        </p:txBody>
      </p:sp>
      <p:sp>
        <p:nvSpPr>
          <p:cNvPr id="5" name="seq.frag.1"/>
          <p:cNvSpPr/>
          <p:nvPr/>
        </p:nvSpPr>
        <p:spPr>
          <a:xfrm>
            <a:off x="3596389" y="4390111"/>
            <a:ext cx="7498080" cy="1111606"/>
          </a:xfrm>
          <a:prstGeom prst="rect">
            <a:avLst/>
          </a:prstGeom>
          <a:noFill/>
          <a:ln w="9525">
            <a:solidFill>
              <a:schemeClr val="tx1">
                <a:lumMod val="80000"/>
                <a:lumOff val="20000"/>
              </a:schemeClr>
            </a:solidFill>
          </a:ln>
          <a:effectLst/>
        </p:spPr>
        <p:txBody>
          <a:bodyPr/>
          <a:p/>
        </p:txBody>
      </p:sp>
      <p:cxnSp>
        <p:nvCxnSpPr>
          <p:cNvPr id="6" name="seq.frag.1.else"/>
          <p:cNvCxnSpPr/>
          <p:nvPr/>
        </p:nvCxnSpPr>
        <p:spPr>
          <a:xfrm>
            <a:off x="3596389" y="4766005"/>
            <a:ext cx="749808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sysDash"/>
          </a:ln>
          <a:effectLst/>
        </p:spPr>
      </p:cxnSp>
      <p:sp>
        <p:nvSpPr>
          <p:cNvPr id="7" name="seq.frag.1.else.guard"/>
          <p:cNvSpPr txBox="1"/>
          <p:nvPr/>
        </p:nvSpPr>
        <p:spPr>
          <a:xfrm>
            <a:off x="3953005" y="4802581"/>
            <a:ext cx="127494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[a claim has no source]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" name="seq.life.app"/>
          <p:cNvCxnSpPr/>
          <p:nvPr/>
        </p:nvCxnSpPr>
        <p:spPr>
          <a:xfrm>
            <a:off x="1307843" y="1481328"/>
            <a:ext cx="0" cy="4352773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sysDash"/>
          </a:ln>
          <a:effectLst/>
        </p:spPr>
      </p:cxnSp>
      <p:cxnSp>
        <p:nvCxnSpPr>
          <p:cNvPr id="9" name="seq.life.api"/>
          <p:cNvCxnSpPr/>
          <p:nvPr/>
        </p:nvCxnSpPr>
        <p:spPr>
          <a:xfrm>
            <a:off x="3870709" y="1481328"/>
            <a:ext cx="0" cy="4352773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sysDash"/>
          </a:ln>
          <a:effectLst/>
        </p:spPr>
      </p:cxnSp>
      <p:cxnSp>
        <p:nvCxnSpPr>
          <p:cNvPr id="10" name="seq.life.writer"/>
          <p:cNvCxnSpPr/>
          <p:nvPr/>
        </p:nvCxnSpPr>
        <p:spPr>
          <a:xfrm>
            <a:off x="5608069" y="1481328"/>
            <a:ext cx="0" cy="4352773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sysDash"/>
          </a:ln>
          <a:effectLst/>
        </p:spPr>
      </p:cxnSp>
      <p:cxnSp>
        <p:nvCxnSpPr>
          <p:cNvPr id="11" name="seq.life.bedrock"/>
          <p:cNvCxnSpPr/>
          <p:nvPr/>
        </p:nvCxnSpPr>
        <p:spPr>
          <a:xfrm>
            <a:off x="7345429" y="1481328"/>
            <a:ext cx="0" cy="4352773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sysDash"/>
          </a:ln>
          <a:effectLst/>
        </p:spPr>
      </p:cxnSp>
      <p:cxnSp>
        <p:nvCxnSpPr>
          <p:cNvPr id="12" name="seq.life.search"/>
          <p:cNvCxnSpPr/>
          <p:nvPr/>
        </p:nvCxnSpPr>
        <p:spPr>
          <a:xfrm>
            <a:off x="9082789" y="1481328"/>
            <a:ext cx="0" cy="4352773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sysDash"/>
          </a:ln>
          <a:effectLst/>
        </p:spPr>
      </p:cxnSp>
      <p:cxnSp>
        <p:nvCxnSpPr>
          <p:cNvPr id="13" name="seq.life.review"/>
          <p:cNvCxnSpPr/>
          <p:nvPr/>
        </p:nvCxnSpPr>
        <p:spPr>
          <a:xfrm>
            <a:off x="10820149" y="1481328"/>
            <a:ext cx="0" cy="4352773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sysDash"/>
          </a:ln>
          <a:effectLst/>
        </p:spPr>
      </p:cxnSp>
      <p:sp>
        <p:nvSpPr>
          <p:cNvPr id="14" name="state.seq.act.app.0"/>
          <p:cNvSpPr/>
          <p:nvPr/>
        </p:nvSpPr>
        <p:spPr>
          <a:xfrm>
            <a:off x="1262123" y="1713128"/>
            <a:ext cx="91440" cy="40478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5" name="state.seq.act.api.1"/>
          <p:cNvSpPr/>
          <p:nvPr/>
        </p:nvSpPr>
        <p:spPr>
          <a:xfrm>
            <a:off x="3824989" y="1713128"/>
            <a:ext cx="91440" cy="40478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6" name="state.seq.act.writer.2"/>
          <p:cNvSpPr/>
          <p:nvPr/>
        </p:nvSpPr>
        <p:spPr>
          <a:xfrm>
            <a:off x="5562349" y="1997583"/>
            <a:ext cx="91440" cy="34492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7" name="state.seq.act.bedrock.3"/>
          <p:cNvSpPr/>
          <p:nvPr/>
        </p:nvSpPr>
        <p:spPr>
          <a:xfrm>
            <a:off x="7299709" y="2282038"/>
            <a:ext cx="91440" cy="35760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8" name="state.seq.act.search.4"/>
          <p:cNvSpPr/>
          <p:nvPr/>
        </p:nvSpPr>
        <p:spPr>
          <a:xfrm>
            <a:off x="9037069" y="3125267"/>
            <a:ext cx="91440" cy="35760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9" name="state.seq.act.bedrock.5"/>
          <p:cNvSpPr/>
          <p:nvPr/>
        </p:nvSpPr>
        <p:spPr>
          <a:xfrm>
            <a:off x="7299709" y="3723818"/>
            <a:ext cx="91440" cy="35760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20" name="state.seq.act.review.6"/>
          <p:cNvSpPr/>
          <p:nvPr/>
        </p:nvSpPr>
        <p:spPr>
          <a:xfrm>
            <a:off x="10774429" y="5089246"/>
            <a:ext cx="91440" cy="23774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cxnSp>
        <p:nvCxnSpPr>
          <p:cNvPr id="21" name="seq.msg.1"/>
          <p:cNvCxnSpPr/>
          <p:nvPr/>
        </p:nvCxnSpPr>
        <p:spPr>
          <a:xfrm>
            <a:off x="1353563" y="1749704"/>
            <a:ext cx="247142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2" name="seq.msg.1.label"/>
          <p:cNvSpPr txBox="1"/>
          <p:nvPr/>
        </p:nvSpPr>
        <p:spPr>
          <a:xfrm>
            <a:off x="1426715" y="1591056"/>
            <a:ext cx="1547881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POST /briefs {account_id}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3" name="seq.msg.2"/>
          <p:cNvCxnSpPr/>
          <p:nvPr/>
        </p:nvCxnSpPr>
        <p:spPr>
          <a:xfrm>
            <a:off x="3916429" y="2034159"/>
            <a:ext cx="164592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4" name="seq.msg.2.label"/>
          <p:cNvSpPr txBox="1"/>
          <p:nvPr/>
        </p:nvSpPr>
        <p:spPr>
          <a:xfrm>
            <a:off x="3989581" y="1875511"/>
            <a:ext cx="89160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start brief run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5" name="seq.msg.3"/>
          <p:cNvCxnSpPr/>
          <p:nvPr/>
        </p:nvCxnSpPr>
        <p:spPr>
          <a:xfrm>
            <a:off x="5653789" y="2318614"/>
            <a:ext cx="164592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6" name="seq.msg.3.label"/>
          <p:cNvSpPr txBox="1"/>
          <p:nvPr/>
        </p:nvSpPr>
        <p:spPr>
          <a:xfrm>
            <a:off x="5726941" y="2159965"/>
            <a:ext cx="87881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plan the brief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" name="seq.msg.4"/>
          <p:cNvCxnSpPr/>
          <p:nvPr/>
        </p:nvCxnSpPr>
        <p:spPr>
          <a:xfrm flipH="1">
            <a:off x="5653789" y="2603068"/>
            <a:ext cx="164592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ysDash"/>
            <a:tailEnd type="arrow" w="med" len="med"/>
          </a:ln>
          <a:effectLst/>
        </p:spPr>
      </p:cxnSp>
      <p:sp>
        <p:nvSpPr>
          <p:cNvPr id="28" name="seq.msg.4.label"/>
          <p:cNvSpPr txBox="1"/>
          <p:nvPr/>
        </p:nvSpPr>
        <p:spPr>
          <a:xfrm>
            <a:off x="6165864" y="2444420"/>
            <a:ext cx="106069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tool_use: search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" name="seq.msg.5"/>
          <p:cNvCxnSpPr/>
          <p:nvPr/>
        </p:nvCxnSpPr>
        <p:spPr>
          <a:xfrm>
            <a:off x="5653789" y="3161843"/>
            <a:ext cx="33832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0" name="seq.msg.5.label"/>
          <p:cNvSpPr txBox="1"/>
          <p:nvPr/>
        </p:nvSpPr>
        <p:spPr>
          <a:xfrm>
            <a:off x="5726941" y="3003194"/>
            <a:ext cx="91750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search 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1" name="seq.msg.6"/>
          <p:cNvCxnSpPr/>
          <p:nvPr/>
        </p:nvCxnSpPr>
        <p:spPr>
          <a:xfrm flipH="1">
            <a:off x="5653789" y="3446297"/>
            <a:ext cx="338328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ysDash"/>
            <a:tailEnd type="arrow" w="med" len="med"/>
          </a:ln>
          <a:effectLst/>
        </p:spPr>
      </p:cxnSp>
      <p:sp>
        <p:nvSpPr>
          <p:cNvPr id="32" name="seq.msg.6.label"/>
          <p:cNvSpPr txBox="1"/>
          <p:nvPr/>
        </p:nvSpPr>
        <p:spPr>
          <a:xfrm>
            <a:off x="7929304" y="3287649"/>
            <a:ext cx="103461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6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sources, ranked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" name="seq.msg.7"/>
          <p:cNvCxnSpPr/>
          <p:nvPr/>
        </p:nvCxnSpPr>
        <p:spPr>
          <a:xfrm>
            <a:off x="5653789" y="3760394"/>
            <a:ext cx="164592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4" name="seq.msg.7.label"/>
          <p:cNvSpPr txBox="1"/>
          <p:nvPr/>
        </p:nvSpPr>
        <p:spPr>
          <a:xfrm>
            <a:off x="5726941" y="3601745"/>
            <a:ext cx="111895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7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draft with sources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5" name="seq.msg.8"/>
          <p:cNvCxnSpPr/>
          <p:nvPr/>
        </p:nvCxnSpPr>
        <p:spPr>
          <a:xfrm flipH="1">
            <a:off x="5653789" y="4044848"/>
            <a:ext cx="164592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ysDash"/>
            <a:tailEnd type="arrow" w="med" len="med"/>
          </a:ln>
          <a:effectLst/>
        </p:spPr>
      </p:cxnSp>
      <p:sp>
        <p:nvSpPr>
          <p:cNvPr id="36" name="seq.msg.8.label"/>
          <p:cNvSpPr txBox="1"/>
          <p:nvPr/>
        </p:nvSpPr>
        <p:spPr>
          <a:xfrm>
            <a:off x="6263222" y="3886200"/>
            <a:ext cx="96333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8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one-page draft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7" name="seq.msg.9"/>
          <p:cNvCxnSpPr/>
          <p:nvPr/>
        </p:nvCxnSpPr>
        <p:spPr>
          <a:xfrm flipH="1">
            <a:off x="3916429" y="4603623"/>
            <a:ext cx="164592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ysDash"/>
            <a:tailEnd type="arrow" w="med" len="med"/>
          </a:ln>
          <a:effectLst/>
        </p:spPr>
      </p:cxnSp>
      <p:sp>
        <p:nvSpPr>
          <p:cNvPr id="38" name="seq.msg.9.label"/>
          <p:cNvSpPr txBox="1"/>
          <p:nvPr/>
        </p:nvSpPr>
        <p:spPr>
          <a:xfrm>
            <a:off x="4733931" y="4444975"/>
            <a:ext cx="75526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9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brief ready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" name="seq.msg.10"/>
          <p:cNvCxnSpPr/>
          <p:nvPr/>
        </p:nvCxnSpPr>
        <p:spPr>
          <a:xfrm>
            <a:off x="5653789" y="5125822"/>
            <a:ext cx="512064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arrow" w="med" len="med"/>
          </a:ln>
          <a:effectLst/>
        </p:spPr>
      </p:cxnSp>
      <p:sp>
        <p:nvSpPr>
          <p:cNvPr id="40" name="seq.msg.10.label"/>
          <p:cNvSpPr txBox="1"/>
          <p:nvPr/>
        </p:nvSpPr>
        <p:spPr>
          <a:xfrm>
            <a:off x="5726941" y="4967173"/>
            <a:ext cx="94379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10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hold the brief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" name="seq.msg.11"/>
          <p:cNvCxnSpPr/>
          <p:nvPr/>
        </p:nvCxnSpPr>
        <p:spPr>
          <a:xfrm flipH="1">
            <a:off x="3916429" y="5410276"/>
            <a:ext cx="164592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ysDash"/>
            <a:tailEnd type="arrow" w="med" len="med"/>
          </a:ln>
          <a:effectLst/>
        </p:spPr>
      </p:cxnSp>
      <p:sp>
        <p:nvSpPr>
          <p:cNvPr id="42" name="seq.msg.11.label"/>
          <p:cNvSpPr txBox="1"/>
          <p:nvPr/>
        </p:nvSpPr>
        <p:spPr>
          <a:xfrm>
            <a:off x="4461109" y="5251628"/>
            <a:ext cx="102808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11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held for review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seq.msg.12"/>
          <p:cNvCxnSpPr/>
          <p:nvPr/>
        </p:nvCxnSpPr>
        <p:spPr>
          <a:xfrm flipH="1">
            <a:off x="1353563" y="5724373"/>
            <a:ext cx="247142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ysDash"/>
            <a:tailEnd type="arrow" w="med" len="med"/>
          </a:ln>
          <a:effectLst/>
        </p:spPr>
      </p:cxnSp>
      <p:sp>
        <p:nvSpPr>
          <p:cNvPr id="44" name="seq.msg.12.label"/>
          <p:cNvSpPr txBox="1"/>
          <p:nvPr/>
        </p:nvSpPr>
        <p:spPr>
          <a:xfrm>
            <a:off x="1640911" y="5565724"/>
            <a:ext cx="133368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12</a:t>
            </a: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  200 {brief_id, status}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eq.frag.0.tab"/>
          <p:cNvSpPr/>
          <p:nvPr/>
        </p:nvSpPr>
        <p:spPr>
          <a:xfrm>
            <a:off x="5333749" y="2765450"/>
            <a:ext cx="374589" cy="1828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anchor="ctr" rtlCol="0">
            <a:noAutofit/>
          </a:bodyPr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loop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eq.frag.0.guard"/>
          <p:cNvSpPr txBox="1"/>
          <p:nvPr/>
        </p:nvSpPr>
        <p:spPr>
          <a:xfrm>
            <a:off x="5763202" y="2798826"/>
            <a:ext cx="976080" cy="14036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b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[each cited claim]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eq.frag.1.tab"/>
          <p:cNvSpPr/>
          <p:nvPr/>
        </p:nvSpPr>
        <p:spPr>
          <a:xfrm>
            <a:off x="3596389" y="4207231"/>
            <a:ext cx="264367" cy="18288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anchor="ctr" rtlCol="0">
            <a:noAutofit/>
          </a:bodyPr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alt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eq.frag.1.guard"/>
          <p:cNvSpPr txBox="1"/>
          <p:nvPr/>
        </p:nvSpPr>
        <p:spPr>
          <a:xfrm>
            <a:off x="3915620" y="4240606"/>
            <a:ext cx="1177359" cy="14036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b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[every claim sourced]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eq.head.app"/>
          <p:cNvSpPr/>
          <p:nvPr/>
        </p:nvSpPr>
        <p:spPr>
          <a:xfrm>
            <a:off x="530603" y="1024128"/>
            <a:ext cx="1554480" cy="4572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pic>
        <p:nvPicPr>
          <p:cNvPr id="50" name="vendor.programming/framework/react.seq-head-app-mark" descr="Field app (vendor mark programming/framework/react)"/>
          <p:cNvPicPr>
            <a:picLocks noChangeAspect="1"/>
          </p:cNvPicPr>
          <p:nvPr/>
        </p:nvPicPr>
        <p:blipFill>
          <a:blip r:embed="rId2"/>
          <a:srcRect l="5078" t="9766" r="5078" b="9766"/>
          <a:stretch>
            <a:fillRect/>
          </a:stretch>
        </p:blipFill>
        <p:spPr>
          <a:xfrm>
            <a:off x="585467" y="1129880"/>
            <a:ext cx="274320" cy="245695"/>
          </a:xfrm>
          <a:prstGeom prst="rect">
            <a:avLst/>
          </a:prstGeom>
          <a:effectLst/>
        </p:spPr>
      </p:pic>
      <p:sp>
        <p:nvSpPr>
          <p:cNvPr id="51" name="seq.head.app.caption"/>
          <p:cNvSpPr txBox="1"/>
          <p:nvPr/>
        </p:nvSpPr>
        <p:spPr>
          <a:xfrm>
            <a:off x="914651" y="1060704"/>
            <a:ext cx="11430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Field app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React Native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eq.head.api"/>
          <p:cNvSpPr/>
          <p:nvPr/>
        </p:nvSpPr>
        <p:spPr>
          <a:xfrm>
            <a:off x="3093469" y="1024128"/>
            <a:ext cx="1554480" cy="4572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pic>
        <p:nvPicPr>
          <p:cNvPr id="53" name="vendor.aws/network/api-gateway.seq-head-api-mark" descr="API Gateway (vendor mark aws/network/api-gateway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333" y="1115568"/>
            <a:ext cx="274320" cy="274320"/>
          </a:xfrm>
          <a:prstGeom prst="rect">
            <a:avLst/>
          </a:prstGeom>
          <a:effectLst/>
        </p:spPr>
      </p:pic>
      <p:sp>
        <p:nvSpPr>
          <p:cNvPr id="54" name="seq.head.api.caption"/>
          <p:cNvSpPr txBox="1"/>
          <p:nvPr/>
        </p:nvSpPr>
        <p:spPr>
          <a:xfrm>
            <a:off x="3477517" y="1060704"/>
            <a:ext cx="11430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API Gateway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API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eq.head.writer"/>
          <p:cNvSpPr/>
          <p:nvPr/>
        </p:nvSpPr>
        <p:spPr>
          <a:xfrm>
            <a:off x="4830829" y="1024128"/>
            <a:ext cx="1554480" cy="4572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pic>
        <p:nvPicPr>
          <p:cNvPr id="56" name="vendor.aws/compute/elastic-container-service-task.seq-head-writer-mark" descr="Writer agent (vendor mark aws/compute/elastic-container-service-task)"/>
          <p:cNvPicPr>
            <a:picLocks noChangeAspect="1"/>
          </p:cNvPicPr>
          <p:nvPr/>
        </p:nvPicPr>
        <p:blipFill>
          <a:blip r:embed="rId4"/>
          <a:srcRect l="14453" t="3906" r="15625" b="3906"/>
          <a:stretch>
            <a:fillRect/>
          </a:stretch>
        </p:blipFill>
        <p:spPr>
          <a:xfrm>
            <a:off x="4918820" y="1115568"/>
            <a:ext cx="208065" cy="274320"/>
          </a:xfrm>
          <a:prstGeom prst="rect">
            <a:avLst/>
          </a:prstGeom>
          <a:effectLst/>
        </p:spPr>
      </p:pic>
      <p:sp>
        <p:nvSpPr>
          <p:cNvPr id="57" name="seq.head.writer.caption"/>
          <p:cNvSpPr txBox="1"/>
          <p:nvPr/>
        </p:nvSpPr>
        <p:spPr>
          <a:xfrm>
            <a:off x="5214877" y="1060704"/>
            <a:ext cx="11430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Writer agent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LangGraph on Fargate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eq.head.bedrock"/>
          <p:cNvSpPr/>
          <p:nvPr/>
        </p:nvSpPr>
        <p:spPr>
          <a:xfrm>
            <a:off x="6568189" y="1024128"/>
            <a:ext cx="1554480" cy="4572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pic>
        <p:nvPicPr>
          <p:cNvPr id="59" name="vendor.aws/ml/bedrock.seq-head-bedrock-mark" descr="Amazon Bedrock (vendor mark aws/ml/bedrock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3053" y="1115568"/>
            <a:ext cx="274320" cy="274320"/>
          </a:xfrm>
          <a:prstGeom prst="rect">
            <a:avLst/>
          </a:prstGeom>
          <a:effectLst/>
        </p:spPr>
      </p:pic>
      <p:sp>
        <p:nvSpPr>
          <p:cNvPr id="60" name="seq.head.bedrock.caption"/>
          <p:cNvSpPr txBox="1"/>
          <p:nvPr/>
        </p:nvSpPr>
        <p:spPr>
          <a:xfrm>
            <a:off x="6952237" y="1060704"/>
            <a:ext cx="11430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Amazon Bedrock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Claude models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eq.head.search"/>
          <p:cNvSpPr/>
          <p:nvPr/>
        </p:nvSpPr>
        <p:spPr>
          <a:xfrm>
            <a:off x="8305549" y="1024128"/>
            <a:ext cx="1554480" cy="4572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pic>
        <p:nvPicPr>
          <p:cNvPr id="62" name="vendor.aws/analytics/amazon-opensearch-service.seq-head-search-mark" descr="OpenSearch (vendor mark aws/analytics/amazon-opensearch-servic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413" y="1115568"/>
            <a:ext cx="274320" cy="274320"/>
          </a:xfrm>
          <a:prstGeom prst="rect">
            <a:avLst/>
          </a:prstGeom>
          <a:effectLst/>
        </p:spPr>
      </p:pic>
      <p:sp>
        <p:nvSpPr>
          <p:cNvPr id="63" name="seq.head.search.caption"/>
          <p:cNvSpPr txBox="1"/>
          <p:nvPr/>
        </p:nvSpPr>
        <p:spPr>
          <a:xfrm>
            <a:off x="8689597" y="1060704"/>
            <a:ext cx="11430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OpenSearch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claim index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eq.head.review"/>
          <p:cNvSpPr/>
          <p:nvPr/>
        </p:nvSpPr>
        <p:spPr>
          <a:xfrm>
            <a:off x="10042909" y="1024128"/>
            <a:ext cx="1554480" cy="4572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pic>
        <p:nvPicPr>
          <p:cNvPr id="65" name="vendor.programming/framework/react.seq-head-review-mark" descr="Review app (vendor mark programming/framework/react)"/>
          <p:cNvPicPr>
            <a:picLocks noChangeAspect="1"/>
          </p:cNvPicPr>
          <p:nvPr/>
        </p:nvPicPr>
        <p:blipFill>
          <a:blip r:embed="rId2"/>
          <a:srcRect l="5078" t="9766" r="5078" b="9766"/>
          <a:stretch>
            <a:fillRect/>
          </a:stretch>
        </p:blipFill>
        <p:spPr>
          <a:xfrm>
            <a:off x="10097773" y="1129880"/>
            <a:ext cx="274320" cy="245695"/>
          </a:xfrm>
          <a:prstGeom prst="rect">
            <a:avLst/>
          </a:prstGeom>
          <a:effectLst/>
        </p:spPr>
      </p:pic>
      <p:sp>
        <p:nvSpPr>
          <p:cNvPr id="66" name="seq.head.review.caption"/>
          <p:cNvSpPr txBox="1"/>
          <p:nvPr/>
        </p:nvSpPr>
        <p:spPr>
          <a:xfrm>
            <a:off x="10426957" y="1060704"/>
            <a:ext cx="114300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 app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medical review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seq.band.label"/>
          <p:cNvSpPr txBox="1"/>
          <p:nvPr/>
        </p:nvSpPr>
        <p:spPr>
          <a:xfrm>
            <a:off x="3111757" y="822960"/>
            <a:ext cx="294344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AWS account · private subnets, IAM roles only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8" name="state.seq.legend.key.call"/>
          <p:cNvCxnSpPr/>
          <p:nvPr/>
        </p:nvCxnSpPr>
        <p:spPr>
          <a:xfrm>
            <a:off x="457200" y="6103711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69" name="seq.legend.key.call.text"/>
          <p:cNvSpPr txBox="1"/>
          <p:nvPr/>
        </p:nvSpPr>
        <p:spPr>
          <a:xfrm>
            <a:off x="941832" y="6035040"/>
            <a:ext cx="26307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Call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0" name="state.seq.legend.key.reply"/>
          <p:cNvCxnSpPr/>
          <p:nvPr/>
        </p:nvCxnSpPr>
        <p:spPr>
          <a:xfrm>
            <a:off x="1479230" y="6103711"/>
            <a:ext cx="411480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ysDash"/>
          </a:ln>
          <a:effectLst/>
        </p:spPr>
      </p:cxnSp>
      <p:sp>
        <p:nvSpPr>
          <p:cNvPr id="71" name="seq.legend.key.reply.text"/>
          <p:cNvSpPr txBox="1"/>
          <p:nvPr/>
        </p:nvSpPr>
        <p:spPr>
          <a:xfrm>
            <a:off x="1963862" y="6035040"/>
            <a:ext cx="37273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Reply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2" name="state.seq.legend.key.async"/>
          <p:cNvCxnSpPr/>
          <p:nvPr/>
        </p:nvCxnSpPr>
        <p:spPr>
          <a:xfrm>
            <a:off x="2610917" y="6103711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sp>
        <p:nvSpPr>
          <p:cNvPr id="73" name="seq.legend.key.async.text"/>
          <p:cNvSpPr txBox="1"/>
          <p:nvPr/>
        </p:nvSpPr>
        <p:spPr>
          <a:xfrm>
            <a:off x="3095549" y="6035040"/>
            <a:ext cx="126449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Event, asynchronous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arch-c4-context">
    <p:spTree>
      <p:nvGrpSpPr>
        <p:cNvPr id="1" name=""/>
        <p:cNvGrpSpPr/>
        <p:nvPr/>
      </p:nvGrpSpPr>
      <p:grpSpPr/>
      <p:sp>
        <p:nvSpPr>
          <p:cNvPr id="2" name="c4ctx.bound.ent"/>
          <p:cNvSpPr/>
          <p:nvPr/>
        </p:nvSpPr>
        <p:spPr>
          <a:xfrm>
            <a:off x="2986597" y="832104"/>
            <a:ext cx="8757347" cy="4786532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3" name="c4ctx.node.reviewer"/>
          <p:cNvSpPr/>
          <p:nvPr/>
        </p:nvSpPr>
        <p:spPr>
          <a:xfrm>
            <a:off x="3420452" y="1164017"/>
            <a:ext cx="1600200" cy="827349"/>
          </a:xfrm>
          <a:prstGeom prst="roundRect">
            <a:avLst>
              <a:gd name="adj" fmla="val 5526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c4ctx.node.reviewer.mark.icon"/>
          <p:cNvSpPr/>
          <p:nvPr/>
        </p:nvSpPr>
        <p:spPr>
          <a:xfrm>
            <a:off x="3511892" y="145882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5" name="c4ctx.node.reviewer.text"/>
          <p:cNvSpPr txBox="1"/>
          <p:nvPr/>
        </p:nvSpPr>
        <p:spPr>
          <a:xfrm>
            <a:off x="3822788" y="1237169"/>
            <a:ext cx="1106424" cy="68104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reviewer</a:t>
            </a:r>
            <a:endParaRPr lang="en-US" sz="9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Person</a:t>
            </a:r>
            <a:endParaRPr lang="en-US" sz="8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Approves held claims</a:t>
            </a:r>
            <a:endParaRPr lang="en-US" sz="8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4ctx.node.rep"/>
          <p:cNvSpPr/>
          <p:nvPr/>
        </p:nvSpPr>
        <p:spPr>
          <a:xfrm>
            <a:off x="9709889" y="1257652"/>
            <a:ext cx="1600200" cy="640080"/>
          </a:xfrm>
          <a:prstGeom prst="roundRect">
            <a:avLst>
              <a:gd name="adj" fmla="val 7142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7" name="c4ctx.node.rep.mark.icon"/>
          <p:cNvSpPr/>
          <p:nvPr/>
        </p:nvSpPr>
        <p:spPr>
          <a:xfrm>
            <a:off x="9801329" y="145882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8" name="c4ctx.node.rep.text"/>
          <p:cNvSpPr txBox="1"/>
          <p:nvPr/>
        </p:nvSpPr>
        <p:spPr>
          <a:xfrm>
            <a:off x="10112225" y="1330804"/>
            <a:ext cx="1106424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 rep</a:t>
            </a:r>
            <a:endParaRPr lang="en-US" sz="9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Person</a:t>
            </a:r>
            <a:endParaRPr lang="en-US" sz="8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Reads the brief</a:t>
            </a:r>
            <a:endParaRPr lang="en-US" sz="8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c4ctx.node.svc"/>
          <p:cNvSpPr/>
          <p:nvPr/>
        </p:nvSpPr>
        <p:spPr>
          <a:xfrm>
            <a:off x="6199410" y="2875788"/>
            <a:ext cx="2331720" cy="1005840"/>
          </a:xfrm>
          <a:prstGeom prst="roundRect">
            <a:avLst>
              <a:gd name="adj" fmla="val 4545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0" name="c4ctx.node.svc.text"/>
          <p:cNvSpPr txBox="1"/>
          <p:nvPr/>
        </p:nvSpPr>
        <p:spPr>
          <a:xfrm>
            <a:off x="6290850" y="2948940"/>
            <a:ext cx="2148840" cy="8595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 brief service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Software system</a:t>
            </a:r>
            <a:endParaRPr lang="en-US" sz="8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Drafts a sourced competitor brief every week</a:t>
            </a:r>
            <a:endParaRPr lang="en-US" sz="8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c4ctx.node.app"/>
          <p:cNvSpPr/>
          <p:nvPr/>
        </p:nvSpPr>
        <p:spPr>
          <a:xfrm>
            <a:off x="9709889" y="3058668"/>
            <a:ext cx="1600200" cy="640080"/>
          </a:xfrm>
          <a:prstGeom prst="roundRect">
            <a:avLst>
              <a:gd name="adj" fmla="val 71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pic>
        <p:nvPicPr>
          <p:cNvPr id="12" name="vendor.programming/framework/react.c4ctx-node-app-mark" descr="Field app (vendor mark programming/framework/react)"/>
          <p:cNvPicPr>
            <a:picLocks noChangeAspect="1"/>
          </p:cNvPicPr>
          <p:nvPr/>
        </p:nvPicPr>
        <p:blipFill>
          <a:blip r:embed="rId2"/>
          <a:srcRect l="5078" t="9766" r="5078" b="9766"/>
          <a:stretch>
            <a:fillRect/>
          </a:stretch>
        </p:blipFill>
        <p:spPr>
          <a:xfrm>
            <a:off x="9801329" y="3264050"/>
            <a:ext cx="256032" cy="229316"/>
          </a:xfrm>
          <a:prstGeom prst="rect">
            <a:avLst/>
          </a:prstGeom>
          <a:effectLst/>
        </p:spPr>
      </p:pic>
      <p:sp>
        <p:nvSpPr>
          <p:cNvPr id="13" name="c4ctx.node.app.text"/>
          <p:cNvSpPr txBox="1"/>
          <p:nvPr/>
        </p:nvSpPr>
        <p:spPr>
          <a:xfrm>
            <a:off x="10130513" y="3131820"/>
            <a:ext cx="1088136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Field app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External system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Existing mobile app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c4ctx.node.crm"/>
          <p:cNvSpPr/>
          <p:nvPr/>
        </p:nvSpPr>
        <p:spPr>
          <a:xfrm>
            <a:off x="3420452" y="4859684"/>
            <a:ext cx="1600200" cy="640080"/>
          </a:xfrm>
          <a:prstGeom prst="roundRect">
            <a:avLst>
              <a:gd name="adj" fmla="val 71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5" name="c4ctx.node.crm.text"/>
          <p:cNvSpPr txBox="1"/>
          <p:nvPr/>
        </p:nvSpPr>
        <p:spPr>
          <a:xfrm>
            <a:off x="3511892" y="4932836"/>
            <a:ext cx="1417320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CRM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External system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Accounts and territories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4ctx.node.web"/>
          <p:cNvSpPr/>
          <p:nvPr/>
        </p:nvSpPr>
        <p:spPr>
          <a:xfrm>
            <a:off x="894366" y="3058668"/>
            <a:ext cx="1600200" cy="640080"/>
          </a:xfrm>
          <a:prstGeom prst="roundRect">
            <a:avLst>
              <a:gd name="adj" fmla="val 714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7" name="c4ctx.node.web.text"/>
          <p:cNvSpPr txBox="1"/>
          <p:nvPr/>
        </p:nvSpPr>
        <p:spPr>
          <a:xfrm>
            <a:off x="985806" y="3131820"/>
            <a:ext cx="1417320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Public web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External system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Press, trials, congresses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c4ctx.node.bedrock"/>
          <p:cNvSpPr/>
          <p:nvPr/>
        </p:nvSpPr>
        <p:spPr>
          <a:xfrm>
            <a:off x="894366" y="4827040"/>
            <a:ext cx="1600200" cy="705368"/>
          </a:xfrm>
          <a:prstGeom prst="roundRect">
            <a:avLst>
              <a:gd name="adj" fmla="val 648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pic>
        <p:nvPicPr>
          <p:cNvPr id="19" name="vendor.aws/ml/bedrock.c4ctx-node-bedrock-mark" descr="Amazon Bedrock (vendor mark aws/ml/bedrock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06" y="5051708"/>
            <a:ext cx="256032" cy="256032"/>
          </a:xfrm>
          <a:prstGeom prst="rect">
            <a:avLst/>
          </a:prstGeom>
          <a:effectLst/>
        </p:spPr>
      </p:pic>
      <p:sp>
        <p:nvSpPr>
          <p:cNvPr id="20" name="c4ctx.node.bedrock.text"/>
          <p:cNvSpPr txBox="1"/>
          <p:nvPr/>
        </p:nvSpPr>
        <p:spPr>
          <a:xfrm>
            <a:off x="1314990" y="4900192"/>
            <a:ext cx="1088136" cy="55906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Amazon Bedrock</a:t>
            </a:r>
            <a:endParaRPr lang="en-US" sz="95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External system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Claude models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4ctx.bound.ent.label"/>
          <p:cNvSpPr txBox="1"/>
          <p:nvPr/>
        </p:nvSpPr>
        <p:spPr>
          <a:xfrm>
            <a:off x="3078037" y="877824"/>
            <a:ext cx="203764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Quillmont · enterprise boundary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" name="c4ctx.flow.1"/>
          <p:cNvCxnSpPr/>
          <p:nvPr/>
        </p:nvCxnSpPr>
        <p:spPr>
          <a:xfrm>
            <a:off x="10510022" y="1897746"/>
            <a:ext cx="0" cy="1160922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3" name="c4ctx.flow.2"/>
          <p:cNvCxnSpPr/>
          <p:nvPr/>
        </p:nvCxnSpPr>
        <p:spPr>
          <a:xfrm flipH="1">
            <a:off x="8531169" y="3378708"/>
            <a:ext cx="117875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4" name="c4ctx.flow.3"/>
          <p:cNvSpPr/>
          <p:nvPr/>
        </p:nvSpPr>
        <p:spPr>
          <a:xfrm>
            <a:off x="4700656" y="1991380"/>
            <a:ext cx="1498793" cy="1085576"/>
          </a:xfrm>
          <a:custGeom>
            <a:avLst/>
            <a:gdLst/>
            <a:ahLst/>
            <a:cxnLst/>
            <a:rect l="l" t="t" r="r" b="b"/>
            <a:pathLst>
              <a:path w="1498793" h="1085576" fill="none">
                <a:moveTo>
                  <a:pt x="0" y="0"/>
                </a:moveTo>
                <a:lnTo>
                  <a:pt x="0" y="1085576"/>
                </a:lnTo>
                <a:lnTo>
                  <a:pt x="1498793" y="1085576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25" name="c4ctx.flow.4"/>
          <p:cNvCxnSpPr/>
          <p:nvPr/>
        </p:nvCxnSpPr>
        <p:spPr>
          <a:xfrm flipH="1">
            <a:off x="2494575" y="3378708"/>
            <a:ext cx="370487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6" name="c4ctx.flow.5"/>
          <p:cNvSpPr/>
          <p:nvPr/>
        </p:nvSpPr>
        <p:spPr>
          <a:xfrm>
            <a:off x="2174535" y="3881628"/>
            <a:ext cx="4491258" cy="945398"/>
          </a:xfrm>
          <a:custGeom>
            <a:avLst/>
            <a:gdLst/>
            <a:ahLst/>
            <a:cxnLst/>
            <a:rect l="l" t="t" r="r" b="b"/>
            <a:pathLst>
              <a:path w="4491258" h="945398" fill="none">
                <a:moveTo>
                  <a:pt x="4491258" y="0"/>
                </a:moveTo>
                <a:lnTo>
                  <a:pt x="4491258" y="472745"/>
                </a:lnTo>
                <a:lnTo>
                  <a:pt x="0" y="472745"/>
                </a:lnTo>
                <a:lnTo>
                  <a:pt x="0" y="945398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27" name="c4ctx.flow.6"/>
          <p:cNvSpPr/>
          <p:nvPr/>
        </p:nvSpPr>
        <p:spPr>
          <a:xfrm>
            <a:off x="5020696" y="3881628"/>
            <a:ext cx="1878269" cy="1106058"/>
          </a:xfrm>
          <a:custGeom>
            <a:avLst/>
            <a:gdLst/>
            <a:ahLst/>
            <a:cxnLst/>
            <a:rect l="l" t="t" r="r" b="b"/>
            <a:pathLst>
              <a:path w="1878269" h="1106058" fill="none">
                <a:moveTo>
                  <a:pt x="0" y="1106058"/>
                </a:moveTo>
                <a:lnTo>
                  <a:pt x="1878269" y="1106058"/>
                </a:lnTo>
                <a:lnTo>
                  <a:pt x="1878269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28" name="c4ctx.flow.1.label"/>
          <p:cNvSpPr txBox="1"/>
          <p:nvPr/>
        </p:nvSpPr>
        <p:spPr>
          <a:xfrm>
            <a:off x="10555742" y="2380595"/>
            <a:ext cx="82028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reads the brief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c4ctx.flow.2.label"/>
          <p:cNvSpPr txBox="1"/>
          <p:nvPr/>
        </p:nvSpPr>
        <p:spPr>
          <a:xfrm>
            <a:off x="8679512" y="3308528"/>
            <a:ext cx="93693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fetches · HTTPS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c4ctx.flow.3.label"/>
          <p:cNvSpPr txBox="1"/>
          <p:nvPr/>
        </p:nvSpPr>
        <p:spPr>
          <a:xfrm>
            <a:off x="4746376" y="2463988"/>
            <a:ext cx="140454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approves claims · HTTPS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c4ctx.flow.4.label"/>
          <p:cNvSpPr txBox="1"/>
          <p:nvPr/>
        </p:nvSpPr>
        <p:spPr>
          <a:xfrm>
            <a:off x="3701390" y="3308528"/>
            <a:ext cx="134610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collects signals · HTTPS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c4ctx.flow.5.label"/>
          <p:cNvSpPr txBox="1"/>
          <p:nvPr/>
        </p:nvSpPr>
        <p:spPr>
          <a:xfrm>
            <a:off x="3915859" y="4284193"/>
            <a:ext cx="100860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drafts with Claude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c4ctx.flow.6.label"/>
          <p:cNvSpPr txBox="1"/>
          <p:nvPr/>
        </p:nvSpPr>
        <p:spPr>
          <a:xfrm>
            <a:off x="5341790" y="4917506"/>
            <a:ext cx="123608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account plans · nightly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ate.c4ctx.legend.key.person"/>
          <p:cNvSpPr/>
          <p:nvPr/>
        </p:nvSpPr>
        <p:spPr>
          <a:xfrm>
            <a:off x="512064" y="6021415"/>
            <a:ext cx="301752" cy="16459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35" name="c4ctx.legend.key.person.text"/>
          <p:cNvSpPr txBox="1"/>
          <p:nvPr/>
        </p:nvSpPr>
        <p:spPr>
          <a:xfrm>
            <a:off x="941832" y="6035040"/>
            <a:ext cx="45317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Person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ate.c4ctx.legend.key.system"/>
          <p:cNvSpPr/>
          <p:nvPr/>
        </p:nvSpPr>
        <p:spPr>
          <a:xfrm>
            <a:off x="1724195" y="6021415"/>
            <a:ext cx="301752" cy="1645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7" name="c4ctx.legend.key.system.text"/>
          <p:cNvSpPr txBox="1"/>
          <p:nvPr/>
        </p:nvSpPr>
        <p:spPr>
          <a:xfrm>
            <a:off x="2153963" y="6035040"/>
            <a:ext cx="100839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Software system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tate.c4ctx.legend.key.external"/>
          <p:cNvSpPr/>
          <p:nvPr/>
        </p:nvSpPr>
        <p:spPr>
          <a:xfrm>
            <a:off x="3491539" y="6021415"/>
            <a:ext cx="301752" cy="164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9" name="c4ctx.legend.key.external.text"/>
          <p:cNvSpPr txBox="1"/>
          <p:nvPr/>
        </p:nvSpPr>
        <p:spPr>
          <a:xfrm>
            <a:off x="3921307" y="6035040"/>
            <a:ext cx="97186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External system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0" name="state.c4ctx.legend.key.bound-enterprise"/>
          <p:cNvCxnSpPr/>
          <p:nvPr/>
        </p:nvCxnSpPr>
        <p:spPr>
          <a:xfrm>
            <a:off x="5167489" y="6103711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sp>
        <p:nvSpPr>
          <p:cNvPr id="41" name="c4ctx.legend.key.bound-enterprise.text"/>
          <p:cNvSpPr txBox="1"/>
          <p:nvPr/>
        </p:nvSpPr>
        <p:spPr>
          <a:xfrm>
            <a:off x="5652121" y="6035040"/>
            <a:ext cx="122064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Enterprise boundary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service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sits between two kinds of user and the four systems around it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house-deep-dive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Six numbered hops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take a public signal to an approved brief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deep.g.sources.label"/>
          <p:cNvSpPr txBox="1"/>
          <p:nvPr/>
        </p:nvSpPr>
        <p:spPr>
          <a:xfrm>
            <a:off x="502920" y="877824"/>
            <a:ext cx="53700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Sources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deep.g.field.label"/>
          <p:cNvSpPr txBox="1"/>
          <p:nvPr/>
        </p:nvSpPr>
        <p:spPr>
          <a:xfrm>
            <a:off x="10792685" y="877824"/>
            <a:ext cx="32501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Field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deep.g.acct.frame"/>
          <p:cNvSpPr/>
          <p:nvPr/>
        </p:nvSpPr>
        <p:spPr>
          <a:xfrm>
            <a:off x="1554763" y="822960"/>
            <a:ext cx="9146483" cy="4992624"/>
          </a:xfrm>
          <a:prstGeom prst="rect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6" name="deep.g.acct.label"/>
          <p:cNvSpPr txBox="1"/>
          <p:nvPr/>
        </p:nvSpPr>
        <p:spPr>
          <a:xfrm>
            <a:off x="1627915" y="877824"/>
            <a:ext cx="235509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account: production · eu-west-1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deep.g.ingest.frame"/>
          <p:cNvSpPr/>
          <p:nvPr/>
        </p:nvSpPr>
        <p:spPr>
          <a:xfrm>
            <a:off x="1691923" y="1209329"/>
            <a:ext cx="2316699" cy="3183315"/>
          </a:xfrm>
          <a:prstGeom prst="roundRect">
            <a:avLst>
              <a:gd name="adj" fmla="val 1973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8" name="deep.g.ingest.bar"/>
          <p:cNvSpPr/>
          <p:nvPr/>
        </p:nvSpPr>
        <p:spPr>
          <a:xfrm>
            <a:off x="1691923" y="1209329"/>
            <a:ext cx="2316699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9" name="deep.g.ingest.label"/>
          <p:cNvSpPr txBox="1"/>
          <p:nvPr/>
        </p:nvSpPr>
        <p:spPr>
          <a:xfrm>
            <a:off x="1783363" y="1270183"/>
            <a:ext cx="2133819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Ingest and land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deep.g.zone.frame"/>
          <p:cNvSpPr/>
          <p:nvPr/>
        </p:nvSpPr>
        <p:spPr>
          <a:xfrm>
            <a:off x="4575549" y="1319057"/>
            <a:ext cx="4130864" cy="3073587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11" name="deep.g.zone.label"/>
          <p:cNvSpPr txBox="1"/>
          <p:nvPr/>
        </p:nvSpPr>
        <p:spPr>
          <a:xfrm>
            <a:off x="4648701" y="1373921"/>
            <a:ext cx="359701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zone: private subnets, egress through an allow-list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deep.g.review.frame"/>
          <p:cNvSpPr/>
          <p:nvPr/>
        </p:nvSpPr>
        <p:spPr>
          <a:xfrm>
            <a:off x="9273341" y="1209329"/>
            <a:ext cx="1290744" cy="3183315"/>
          </a:xfrm>
          <a:prstGeom prst="roundRect">
            <a:avLst>
              <a:gd name="adj" fmla="val 3542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3" name="deep.g.review.bar"/>
          <p:cNvSpPr/>
          <p:nvPr/>
        </p:nvSpPr>
        <p:spPr>
          <a:xfrm>
            <a:off x="9273341" y="1209329"/>
            <a:ext cx="1290744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14" name="deep.g.review.label"/>
          <p:cNvSpPr txBox="1"/>
          <p:nvPr/>
        </p:nvSpPr>
        <p:spPr>
          <a:xfrm>
            <a:off x="9364781" y="1270183"/>
            <a:ext cx="1107864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deep.g.band.band"/>
          <p:cNvSpPr/>
          <p:nvPr/>
        </p:nvSpPr>
        <p:spPr>
          <a:xfrm>
            <a:off x="1691923" y="4873752"/>
            <a:ext cx="8872163" cy="822960"/>
          </a:xfrm>
          <a:prstGeom prst="roundRect">
            <a:avLst>
              <a:gd name="adj" fmla="val 5555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6" name="deep.g.band.bar"/>
          <p:cNvSpPr/>
          <p:nvPr/>
        </p:nvSpPr>
        <p:spPr>
          <a:xfrm>
            <a:off x="1691923" y="4873752"/>
            <a:ext cx="8872163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17" name="deep.g.band.label"/>
          <p:cNvSpPr txBox="1"/>
          <p:nvPr/>
        </p:nvSpPr>
        <p:spPr>
          <a:xfrm>
            <a:off x="1783363" y="4934605"/>
            <a:ext cx="8689283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Platform: operations and delivery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deep.g.agents.frame"/>
          <p:cNvSpPr/>
          <p:nvPr/>
        </p:nvSpPr>
        <p:spPr>
          <a:xfrm>
            <a:off x="4712709" y="1705426"/>
            <a:ext cx="2406649" cy="2568346"/>
          </a:xfrm>
          <a:prstGeom prst="roundRect">
            <a:avLst>
              <a:gd name="adj" fmla="val 1899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9" name="deep.g.agents.bar"/>
          <p:cNvSpPr/>
          <p:nvPr/>
        </p:nvSpPr>
        <p:spPr>
          <a:xfrm>
            <a:off x="4712709" y="1705426"/>
            <a:ext cx="2406649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20" name="deep.g.agents.label"/>
          <p:cNvSpPr txBox="1"/>
          <p:nvPr/>
        </p:nvSpPr>
        <p:spPr>
          <a:xfrm>
            <a:off x="4804149" y="1766280"/>
            <a:ext cx="2223769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deep.g.data.frame"/>
          <p:cNvSpPr/>
          <p:nvPr/>
        </p:nvSpPr>
        <p:spPr>
          <a:xfrm>
            <a:off x="7411966" y="1979746"/>
            <a:ext cx="1157287" cy="2294026"/>
          </a:xfrm>
          <a:prstGeom prst="roundRect">
            <a:avLst>
              <a:gd name="adj" fmla="val 3950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22" name="deep.g.data.bar"/>
          <p:cNvSpPr/>
          <p:nvPr/>
        </p:nvSpPr>
        <p:spPr>
          <a:xfrm>
            <a:off x="7411966" y="1979746"/>
            <a:ext cx="1157287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23" name="deep.g.data.label"/>
          <p:cNvSpPr txBox="1"/>
          <p:nvPr/>
        </p:nvSpPr>
        <p:spPr>
          <a:xfrm>
            <a:off x="7503406" y="2040600"/>
            <a:ext cx="974407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Data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deep.g.fargate.label"/>
          <p:cNvSpPr txBox="1"/>
          <p:nvPr/>
        </p:nvSpPr>
        <p:spPr>
          <a:xfrm>
            <a:off x="4849869" y="2217490"/>
            <a:ext cx="79989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ECS Fargate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5" name="deep.g.models.rule"/>
          <p:cNvCxnSpPr/>
          <p:nvPr/>
        </p:nvCxnSpPr>
        <p:spPr>
          <a:xfrm>
            <a:off x="4849869" y="3180115"/>
            <a:ext cx="2132329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6" name="deep.g.models.label"/>
          <p:cNvSpPr txBox="1"/>
          <p:nvPr/>
        </p:nvSpPr>
        <p:spPr>
          <a:xfrm>
            <a:off x="4849869" y="3225835"/>
            <a:ext cx="109199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Bedrock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7" name="deep.f.1"/>
          <p:cNvCxnSpPr/>
          <p:nvPr/>
        </p:nvCxnSpPr>
        <p:spPr>
          <a:xfrm>
            <a:off x="1175187" y="2631277"/>
            <a:ext cx="1236177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8" name="deep.f.2"/>
          <p:cNvSpPr/>
          <p:nvPr/>
        </p:nvSpPr>
        <p:spPr>
          <a:xfrm>
            <a:off x="1175187" y="2750149"/>
            <a:ext cx="1236177" cy="2550171"/>
          </a:xfrm>
          <a:custGeom>
            <a:avLst/>
            <a:gdLst/>
            <a:ahLst/>
            <a:cxnLst/>
            <a:rect l="l" t="t" r="r" b="b"/>
            <a:pathLst>
              <a:path w="1236177" h="2550171" fill="none">
                <a:moveTo>
                  <a:pt x="0" y="2550171"/>
                </a:moveTo>
                <a:lnTo>
                  <a:pt x="650413" y="2550171"/>
                </a:lnTo>
                <a:lnTo>
                  <a:pt x="650413" y="0"/>
                </a:lnTo>
                <a:lnTo>
                  <a:pt x="1236177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29" name="deep.f.3"/>
          <p:cNvSpPr/>
          <p:nvPr/>
        </p:nvSpPr>
        <p:spPr>
          <a:xfrm>
            <a:off x="2795412" y="2750149"/>
            <a:ext cx="182880" cy="1054121"/>
          </a:xfrm>
          <a:custGeom>
            <a:avLst/>
            <a:gdLst/>
            <a:ahLst/>
            <a:cxnLst/>
            <a:rect l="l" t="t" r="r" b="b"/>
            <a:pathLst>
              <a:path w="182880" h="1054121" fill="none">
                <a:moveTo>
                  <a:pt x="0" y="1054121"/>
                </a:moveTo>
                <a:lnTo>
                  <a:pt x="182880" y="1054121"/>
                </a:lnTo>
                <a:lnTo>
                  <a:pt x="18288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miter lim="800000"/>
            <a:tailEnd type="arrow" w="med" len="med"/>
          </a:ln>
          <a:effectLst/>
        </p:spPr>
        <p:txBody>
          <a:bodyPr/>
          <a:p/>
        </p:txBody>
      </p:sp>
      <p:cxnSp>
        <p:nvCxnSpPr>
          <p:cNvPr id="30" name="deep.f.4"/>
          <p:cNvCxnSpPr/>
          <p:nvPr/>
        </p:nvCxnSpPr>
        <p:spPr>
          <a:xfrm>
            <a:off x="2795412" y="2631277"/>
            <a:ext cx="68287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31" name="deep.f.5"/>
          <p:cNvCxnSpPr/>
          <p:nvPr/>
        </p:nvCxnSpPr>
        <p:spPr>
          <a:xfrm>
            <a:off x="3862334" y="2631277"/>
            <a:ext cx="1661191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2" name="deep.f.6"/>
          <p:cNvSpPr/>
          <p:nvPr/>
        </p:nvSpPr>
        <p:spPr>
          <a:xfrm>
            <a:off x="5669189" y="2274661"/>
            <a:ext cx="2321387" cy="164592"/>
          </a:xfrm>
          <a:custGeom>
            <a:avLst/>
            <a:gdLst/>
            <a:ahLst/>
            <a:cxnLst/>
            <a:rect l="l" t="t" r="r" b="b"/>
            <a:pathLst>
              <a:path w="2321387" h="164592" fill="none">
                <a:moveTo>
                  <a:pt x="0" y="164592"/>
                </a:moveTo>
                <a:lnTo>
                  <a:pt x="0" y="0"/>
                </a:lnTo>
                <a:lnTo>
                  <a:pt x="2321387" y="0"/>
                </a:lnTo>
                <a:lnTo>
                  <a:pt x="2321387" y="164592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33" name="deep.f.7"/>
          <p:cNvSpPr/>
          <p:nvPr/>
        </p:nvSpPr>
        <p:spPr>
          <a:xfrm>
            <a:off x="6010626" y="2631277"/>
            <a:ext cx="292882" cy="889529"/>
          </a:xfrm>
          <a:custGeom>
            <a:avLst/>
            <a:gdLst/>
            <a:ahLst/>
            <a:cxnLst/>
            <a:rect l="l" t="t" r="r" b="b"/>
            <a:pathLst>
              <a:path w="292882" h="889529" fill="none">
                <a:moveTo>
                  <a:pt x="292882" y="0"/>
                </a:moveTo>
                <a:lnTo>
                  <a:pt x="0" y="0"/>
                </a:lnTo>
                <a:lnTo>
                  <a:pt x="0" y="889529"/>
                </a:lnTo>
                <a:lnTo>
                  <a:pt x="246430" y="889529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4" name="deep.f.8"/>
          <p:cNvCxnSpPr/>
          <p:nvPr/>
        </p:nvCxnSpPr>
        <p:spPr>
          <a:xfrm flipH="1">
            <a:off x="5574182" y="3639678"/>
            <a:ext cx="68287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5" name="deep.f.9"/>
          <p:cNvSpPr/>
          <p:nvPr/>
        </p:nvSpPr>
        <p:spPr>
          <a:xfrm>
            <a:off x="6594744" y="2631277"/>
            <a:ext cx="1203808" cy="1054121"/>
          </a:xfrm>
          <a:custGeom>
            <a:avLst/>
            <a:gdLst/>
            <a:ahLst/>
            <a:cxnLst/>
            <a:rect l="l" t="t" r="r" b="b"/>
            <a:pathLst>
              <a:path w="1203808" h="1054121" fill="none">
                <a:moveTo>
                  <a:pt x="0" y="0"/>
                </a:moveTo>
                <a:lnTo>
                  <a:pt x="372161" y="0"/>
                </a:lnTo>
                <a:lnTo>
                  <a:pt x="372161" y="1054121"/>
                </a:lnTo>
                <a:lnTo>
                  <a:pt x="1203808" y="1054121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6" name="deep.f.10"/>
          <p:cNvCxnSpPr/>
          <p:nvPr/>
        </p:nvCxnSpPr>
        <p:spPr>
          <a:xfrm>
            <a:off x="8182600" y="3685398"/>
            <a:ext cx="154405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7" name="deep.f.11"/>
          <p:cNvSpPr/>
          <p:nvPr/>
        </p:nvSpPr>
        <p:spPr>
          <a:xfrm>
            <a:off x="10110704" y="1940814"/>
            <a:ext cx="325069" cy="1744584"/>
          </a:xfrm>
          <a:custGeom>
            <a:avLst/>
            <a:gdLst/>
            <a:ahLst/>
            <a:cxnLst/>
            <a:rect l="l" t="t" r="r" b="b"/>
            <a:pathLst>
              <a:path w="325069" h="1744584" fill="none">
                <a:moveTo>
                  <a:pt x="0" y="1744584"/>
                </a:moveTo>
                <a:lnTo>
                  <a:pt x="325069" y="1744584"/>
                </a:lnTo>
                <a:lnTo>
                  <a:pt x="325069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8" name="deep.f.12"/>
          <p:cNvCxnSpPr/>
          <p:nvPr/>
        </p:nvCxnSpPr>
        <p:spPr>
          <a:xfrm>
            <a:off x="10110704" y="1821942"/>
            <a:ext cx="97017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9" name="deep.f.13"/>
          <p:cNvSpPr/>
          <p:nvPr/>
        </p:nvSpPr>
        <p:spPr>
          <a:xfrm>
            <a:off x="11464930" y="1821942"/>
            <a:ext cx="261518" cy="3478378"/>
          </a:xfrm>
          <a:custGeom>
            <a:avLst/>
            <a:gdLst/>
            <a:ahLst/>
            <a:cxnLst/>
            <a:rect l="l" t="t" r="r" b="b"/>
            <a:pathLst>
              <a:path w="261518" h="3478378" fill="none">
                <a:moveTo>
                  <a:pt x="0" y="0"/>
                </a:moveTo>
                <a:lnTo>
                  <a:pt x="261518" y="0"/>
                </a:lnTo>
                <a:lnTo>
                  <a:pt x="261518" y="3478378"/>
                </a:lnTo>
                <a:lnTo>
                  <a:pt x="0" y="3478378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pic>
        <p:nvPicPr>
          <p:cNvPr id="40" name="vendor.aws/general/internet-alt1.deep-n-web" descr="Public web (vendor mark aws/general/internet-alt1)"/>
          <p:cNvPicPr>
            <a:picLocks noChangeAspect="1"/>
          </p:cNvPicPr>
          <p:nvPr/>
        </p:nvPicPr>
        <p:blipFill>
          <a:blip r:embed="rId2"/>
          <a:srcRect l="2734" t="3906" r="2734" b="3906"/>
          <a:stretch>
            <a:fillRect/>
          </a:stretch>
        </p:blipFill>
        <p:spPr>
          <a:xfrm>
            <a:off x="791097" y="2444029"/>
            <a:ext cx="384048" cy="374526"/>
          </a:xfrm>
          <a:prstGeom prst="rect">
            <a:avLst/>
          </a:prstGeom>
          <a:effectLst/>
        </p:spPr>
      </p:pic>
      <p:sp>
        <p:nvSpPr>
          <p:cNvPr id="41" name="deep.n.web.caption"/>
          <p:cNvSpPr txBox="1"/>
          <p:nvPr/>
        </p:nvSpPr>
        <p:spPr>
          <a:xfrm>
            <a:off x="561126" y="2869036"/>
            <a:ext cx="84399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Public web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press, congress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deep.n.registries.icon"/>
          <p:cNvSpPr/>
          <p:nvPr/>
        </p:nvSpPr>
        <p:spPr>
          <a:xfrm>
            <a:off x="791097" y="510829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3175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3" name="deep.n.registries.caption"/>
          <p:cNvSpPr txBox="1"/>
          <p:nvPr/>
        </p:nvSpPr>
        <p:spPr>
          <a:xfrm>
            <a:off x="644793" y="5538064"/>
            <a:ext cx="67665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Trial feeds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registries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" name="vendor.programming/framework/react.deep-n-app" descr="Field app (vendor mark programming/framework/react)"/>
          <p:cNvPicPr>
            <a:picLocks noChangeAspect="1"/>
          </p:cNvPicPr>
          <p:nvPr/>
        </p:nvPicPr>
        <p:blipFill>
          <a:blip r:embed="rId3"/>
          <a:srcRect l="5078" t="9766" r="5078" b="9766"/>
          <a:stretch>
            <a:fillRect/>
          </a:stretch>
        </p:blipFill>
        <p:spPr>
          <a:xfrm>
            <a:off x="11080863" y="1649991"/>
            <a:ext cx="384048" cy="343973"/>
          </a:xfrm>
          <a:prstGeom prst="rect">
            <a:avLst/>
          </a:prstGeom>
          <a:effectLst/>
        </p:spPr>
      </p:pic>
      <p:sp>
        <p:nvSpPr>
          <p:cNvPr id="45" name="deep.n.app.caption"/>
          <p:cNvSpPr txBox="1"/>
          <p:nvPr/>
        </p:nvSpPr>
        <p:spPr>
          <a:xfrm>
            <a:off x="10929072" y="2059721"/>
            <a:ext cx="68762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app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React Native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" name="vendor.aws/general/users.deep-n-reps" descr="Field reps (vendor mark aws/general/users)"/>
          <p:cNvPicPr>
            <a:picLocks noChangeAspect="1"/>
          </p:cNvPicPr>
          <p:nvPr/>
        </p:nvPicPr>
        <p:blipFill>
          <a:blip r:embed="rId4"/>
          <a:srcRect l="3000" t="3000" r="3000" b="3000"/>
          <a:stretch>
            <a:fillRect/>
          </a:stretch>
        </p:blipFill>
        <p:spPr>
          <a:xfrm>
            <a:off x="11080863" y="5108296"/>
            <a:ext cx="384048" cy="384048"/>
          </a:xfrm>
          <a:prstGeom prst="rect">
            <a:avLst/>
          </a:prstGeom>
          <a:effectLst/>
        </p:spPr>
      </p:pic>
      <p:sp>
        <p:nvSpPr>
          <p:cNvPr id="47" name="deep.n.reps.caption"/>
          <p:cNvSpPr txBox="1"/>
          <p:nvPr/>
        </p:nvSpPr>
        <p:spPr>
          <a:xfrm>
            <a:off x="10952847" y="5538064"/>
            <a:ext cx="64008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reps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1,200 reps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8" name="vendor.aws/compute/lambda.deep-n-collect" descr="Lambda (vendor mark aws/compute/lambda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360" y="2439268"/>
            <a:ext cx="384048" cy="384048"/>
          </a:xfrm>
          <a:prstGeom prst="rect">
            <a:avLst/>
          </a:prstGeom>
          <a:effectLst/>
        </p:spPr>
      </p:pic>
      <p:sp>
        <p:nvSpPr>
          <p:cNvPr id="49" name="deep.n.collect.caption"/>
          <p:cNvSpPr txBox="1"/>
          <p:nvPr/>
        </p:nvSpPr>
        <p:spPr>
          <a:xfrm>
            <a:off x="2272371" y="2869036"/>
            <a:ext cx="523037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Lambda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collectors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vendor.aws/storage/simple-storage-service-s3.deep-n-s3" descr="Amazon S3 (vendor mark aws/storage/simple-storage-service-s3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8269" y="2439268"/>
            <a:ext cx="384048" cy="384048"/>
          </a:xfrm>
          <a:prstGeom prst="rect">
            <a:avLst/>
          </a:prstGeom>
          <a:effectLst/>
        </p:spPr>
      </p:pic>
      <p:sp>
        <p:nvSpPr>
          <p:cNvPr id="51" name="deep.n.s3.caption"/>
          <p:cNvSpPr txBox="1"/>
          <p:nvPr/>
        </p:nvSpPr>
        <p:spPr>
          <a:xfrm>
            <a:off x="3135369" y="2869036"/>
            <a:ext cx="72694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signal lake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" name="vendor.aws/integration/eventbridge-scheduler.deep-n-sched" descr="EventBridge (vendor mark aws/integration/eventbridge-scheduler)"/>
          <p:cNvPicPr>
            <a:picLocks noChangeAspect="1"/>
          </p:cNvPicPr>
          <p:nvPr/>
        </p:nvPicPr>
        <p:blipFill>
          <a:blip r:embed="rId7"/>
          <a:srcRect l="3906" t="3906" r="3906" b="6250"/>
          <a:stretch>
            <a:fillRect/>
          </a:stretch>
        </p:blipFill>
        <p:spPr>
          <a:xfrm>
            <a:off x="2411360" y="3617086"/>
            <a:ext cx="384048" cy="374284"/>
          </a:xfrm>
          <a:prstGeom prst="rect">
            <a:avLst/>
          </a:prstGeom>
          <a:effectLst/>
        </p:spPr>
      </p:pic>
      <p:sp>
        <p:nvSpPr>
          <p:cNvPr id="53" name="deep.n.sched.caption"/>
          <p:cNvSpPr txBox="1"/>
          <p:nvPr/>
        </p:nvSpPr>
        <p:spPr>
          <a:xfrm>
            <a:off x="2002623" y="4041972"/>
            <a:ext cx="79278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EventBridge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schedule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4" name="vendor.aws/compute/elastic-container-service-task.deep-n-scan" descr="Scan agent (vendor mark aws/compute/elastic-container-service-task)"/>
          <p:cNvPicPr>
            <a:picLocks noChangeAspect="1"/>
          </p:cNvPicPr>
          <p:nvPr/>
        </p:nvPicPr>
        <p:blipFill>
          <a:blip r:embed="rId8"/>
          <a:srcRect l="14453" t="3906" r="15625" b="3906"/>
          <a:stretch>
            <a:fillRect/>
          </a:stretch>
        </p:blipFill>
        <p:spPr>
          <a:xfrm>
            <a:off x="5523500" y="2439268"/>
            <a:ext cx="291291" cy="384048"/>
          </a:xfrm>
          <a:prstGeom prst="rect">
            <a:avLst/>
          </a:prstGeom>
          <a:effectLst/>
        </p:spPr>
      </p:pic>
      <p:sp>
        <p:nvSpPr>
          <p:cNvPr id="55" name="deep.n.scan.caption"/>
          <p:cNvSpPr txBox="1"/>
          <p:nvPr/>
        </p:nvSpPr>
        <p:spPr>
          <a:xfrm>
            <a:off x="5141537" y="2869036"/>
            <a:ext cx="71963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Scan agent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vendor.aws/compute/elastic-container-service-task.deep-n-writer" descr="Writer agent (vendor mark aws/compute/elastic-container-service-task)"/>
          <p:cNvPicPr>
            <a:picLocks noChangeAspect="1"/>
          </p:cNvPicPr>
          <p:nvPr/>
        </p:nvPicPr>
        <p:blipFill>
          <a:blip r:embed="rId8"/>
          <a:srcRect l="14453" t="3906" r="15625" b="3906"/>
          <a:stretch>
            <a:fillRect/>
          </a:stretch>
        </p:blipFill>
        <p:spPr>
          <a:xfrm>
            <a:off x="6303471" y="2439268"/>
            <a:ext cx="291291" cy="384048"/>
          </a:xfrm>
          <a:prstGeom prst="rect">
            <a:avLst/>
          </a:prstGeom>
          <a:effectLst/>
        </p:spPr>
      </p:pic>
      <p:sp>
        <p:nvSpPr>
          <p:cNvPr id="57" name="deep.n.writer.caption"/>
          <p:cNvSpPr txBox="1"/>
          <p:nvPr/>
        </p:nvSpPr>
        <p:spPr>
          <a:xfrm>
            <a:off x="6056381" y="2869036"/>
            <a:ext cx="78547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Writer agent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8" name="mark.claude-spark.deep-n-claude" descr="Claude (brand mark claude-spark)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1678" y="3447612"/>
            <a:ext cx="382548" cy="384048"/>
          </a:xfrm>
          <a:prstGeom prst="rect">
            <a:avLst/>
          </a:prstGeom>
          <a:effectLst/>
        </p:spPr>
      </p:pic>
      <p:sp>
        <p:nvSpPr>
          <p:cNvPr id="59" name="deep.n.claude.caption"/>
          <p:cNvSpPr txBox="1"/>
          <p:nvPr/>
        </p:nvSpPr>
        <p:spPr>
          <a:xfrm>
            <a:off x="5003476" y="3877380"/>
            <a:ext cx="75895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Claude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drafting model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0" name="vendor.aws/ml/bedrock.deep-n-bedrock" descr="Bedrock (vendor mark aws/ml/bedrock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7092" y="3447612"/>
            <a:ext cx="384048" cy="384048"/>
          </a:xfrm>
          <a:prstGeom prst="rect">
            <a:avLst/>
          </a:prstGeom>
          <a:effectLst/>
        </p:spPr>
      </p:pic>
      <p:sp>
        <p:nvSpPr>
          <p:cNvPr id="61" name="deep.n.bedrock.caption"/>
          <p:cNvSpPr txBox="1"/>
          <p:nvPr/>
        </p:nvSpPr>
        <p:spPr>
          <a:xfrm>
            <a:off x="6082442" y="3877380"/>
            <a:ext cx="73334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Bedrock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model access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2" name="vendor.aws/analytics/amazon-opensearch-service.deep-n-search" descr="OpenSearch (vendor mark aws/analytics/amazon-opensearch-servic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98586" y="2439268"/>
            <a:ext cx="384048" cy="384048"/>
          </a:xfrm>
          <a:prstGeom prst="rect">
            <a:avLst/>
          </a:prstGeom>
          <a:effectLst/>
        </p:spPr>
      </p:pic>
      <p:sp>
        <p:nvSpPr>
          <p:cNvPr id="63" name="deep.n.search.caption"/>
          <p:cNvSpPr txBox="1"/>
          <p:nvPr/>
        </p:nvSpPr>
        <p:spPr>
          <a:xfrm>
            <a:off x="7594217" y="2869036"/>
            <a:ext cx="79278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OpenSearch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claim index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vendor.aws/database/rds.deep-n-rds" descr="RDS (vendor mark aws/database/rds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98586" y="3493332"/>
            <a:ext cx="384048" cy="384048"/>
          </a:xfrm>
          <a:prstGeom prst="rect">
            <a:avLst/>
          </a:prstGeom>
          <a:effectLst/>
        </p:spPr>
      </p:pic>
      <p:sp>
        <p:nvSpPr>
          <p:cNvPr id="65" name="deep.n.rds.caption"/>
          <p:cNvSpPr txBox="1"/>
          <p:nvPr/>
        </p:nvSpPr>
        <p:spPr>
          <a:xfrm>
            <a:off x="7688858" y="3923100"/>
            <a:ext cx="603504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RDS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ledger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6" name="vendor.programming/framework/react.deep-n-ui" descr="Review app (vendor mark programming/framework/react)"/>
          <p:cNvPicPr>
            <a:picLocks noChangeAspect="1"/>
          </p:cNvPicPr>
          <p:nvPr/>
        </p:nvPicPr>
        <p:blipFill>
          <a:blip r:embed="rId3"/>
          <a:srcRect l="5078" t="9766" r="5078" b="9766"/>
          <a:stretch>
            <a:fillRect/>
          </a:stretch>
        </p:blipFill>
        <p:spPr>
          <a:xfrm>
            <a:off x="9726689" y="1649991"/>
            <a:ext cx="384048" cy="343973"/>
          </a:xfrm>
          <a:prstGeom prst="rect">
            <a:avLst/>
          </a:prstGeom>
          <a:effectLst/>
        </p:spPr>
      </p:pic>
      <p:sp>
        <p:nvSpPr>
          <p:cNvPr id="67" name="deep.n.ui.caption"/>
          <p:cNvSpPr txBox="1"/>
          <p:nvPr/>
        </p:nvSpPr>
        <p:spPr>
          <a:xfrm>
            <a:off x="9547924" y="2059721"/>
            <a:ext cx="74157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app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React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8" name="vendor.aws/network/api-gateway.deep-n-api" descr="API Gateway (vendor mark aws/network/api-gateway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26689" y="3493332"/>
            <a:ext cx="384048" cy="384048"/>
          </a:xfrm>
          <a:prstGeom prst="rect">
            <a:avLst/>
          </a:prstGeom>
          <a:effectLst/>
        </p:spPr>
      </p:pic>
      <p:sp>
        <p:nvSpPr>
          <p:cNvPr id="69" name="deep.n.api.caption"/>
          <p:cNvSpPr txBox="1"/>
          <p:nvPr/>
        </p:nvSpPr>
        <p:spPr>
          <a:xfrm>
            <a:off x="9511348" y="3923100"/>
            <a:ext cx="81473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API Gateway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API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0" name="vendor.aws/management/cloudwatch.deep-n-watch" descr="CloudWatch (vendor mark aws/management/cloudwatch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31855" y="5294376"/>
            <a:ext cx="310896" cy="310896"/>
          </a:xfrm>
          <a:prstGeom prst="rect">
            <a:avLst/>
          </a:prstGeom>
          <a:effectLst/>
        </p:spPr>
      </p:pic>
      <p:sp>
        <p:nvSpPr>
          <p:cNvPr id="71" name="deep.n.watch.caption"/>
          <p:cNvSpPr txBox="1"/>
          <p:nvPr/>
        </p:nvSpPr>
        <p:spPr>
          <a:xfrm>
            <a:off x="2297615" y="5381153"/>
            <a:ext cx="78547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CloudWatch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2" name="vendor.aws/security/secrets-manager.deep-n-secrets" descr="Secrets (vendor mark aws/security/secrets-manager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25915" y="5294376"/>
            <a:ext cx="310896" cy="310896"/>
          </a:xfrm>
          <a:prstGeom prst="rect">
            <a:avLst/>
          </a:prstGeom>
          <a:effectLst/>
        </p:spPr>
      </p:pic>
      <p:sp>
        <p:nvSpPr>
          <p:cNvPr id="73" name="deep.n.secrets.caption"/>
          <p:cNvSpPr txBox="1"/>
          <p:nvPr/>
        </p:nvSpPr>
        <p:spPr>
          <a:xfrm>
            <a:off x="3891675" y="5381153"/>
            <a:ext cx="49377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Secrets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4" name="vendor.aws/security/cognito.deep-n-cognito" descr="Cognito (vendor mark aws/security/cognito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63614" y="5294376"/>
            <a:ext cx="310896" cy="310896"/>
          </a:xfrm>
          <a:prstGeom prst="rect">
            <a:avLst/>
          </a:prstGeom>
          <a:effectLst/>
        </p:spPr>
      </p:pic>
      <p:sp>
        <p:nvSpPr>
          <p:cNvPr id="75" name="deep.n.cognito.caption"/>
          <p:cNvSpPr txBox="1"/>
          <p:nvPr/>
        </p:nvSpPr>
        <p:spPr>
          <a:xfrm>
            <a:off x="5329374" y="5381153"/>
            <a:ext cx="51480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Cognito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vendor.aws/analytics/glue.deep-n-glue" descr="AWS Glue (vendor mark aws/analytics/glue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2333" y="5294376"/>
            <a:ext cx="310896" cy="310896"/>
          </a:xfrm>
          <a:prstGeom prst="rect">
            <a:avLst/>
          </a:prstGeom>
          <a:effectLst/>
        </p:spPr>
      </p:pic>
      <p:sp>
        <p:nvSpPr>
          <p:cNvPr id="77" name="deep.n.glue.caption"/>
          <p:cNvSpPr txBox="1"/>
          <p:nvPr/>
        </p:nvSpPr>
        <p:spPr>
          <a:xfrm>
            <a:off x="6708093" y="5381153"/>
            <a:ext cx="65379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Glue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8" name="vendor.aws/storage/s3-glacier.deep-n-glacier" descr="S3 Glacier (vendor mark aws/storage/s3-glacier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86432" y="5294376"/>
            <a:ext cx="310896" cy="310896"/>
          </a:xfrm>
          <a:prstGeom prst="rect">
            <a:avLst/>
          </a:prstGeom>
          <a:effectLst/>
        </p:spPr>
      </p:pic>
      <p:sp>
        <p:nvSpPr>
          <p:cNvPr id="79" name="deep.n.glacier.caption"/>
          <p:cNvSpPr txBox="1"/>
          <p:nvPr/>
        </p:nvSpPr>
        <p:spPr>
          <a:xfrm>
            <a:off x="8152192" y="5381153"/>
            <a:ext cx="66202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S3 Glacier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0" name="mark.langfuse-icon.deep-n-langfuse" descr="Langfuse (brand mark langfuse-icon)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10547" t="25391" r="10547" b="25391"/>
          <a:stretch>
            <a:fillRect/>
          </a:stretch>
        </p:blipFill>
        <p:spPr>
          <a:xfrm>
            <a:off x="9264364" y="5352861"/>
            <a:ext cx="310896" cy="193925"/>
          </a:xfrm>
          <a:prstGeom prst="rect">
            <a:avLst/>
          </a:prstGeom>
          <a:effectLst/>
        </p:spPr>
      </p:pic>
      <p:sp>
        <p:nvSpPr>
          <p:cNvPr id="81" name="deep.n.langfuse.caption"/>
          <p:cNvSpPr txBox="1"/>
          <p:nvPr/>
        </p:nvSpPr>
        <p:spPr>
          <a:xfrm>
            <a:off x="9630124" y="5381153"/>
            <a:ext cx="60259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Langfuse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deep.f.1.step"/>
          <p:cNvSpPr/>
          <p:nvPr/>
        </p:nvSpPr>
        <p:spPr>
          <a:xfrm>
            <a:off x="1220907" y="2393533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deep.f.2.label"/>
          <p:cNvSpPr txBox="1"/>
          <p:nvPr/>
        </p:nvSpPr>
        <p:spPr>
          <a:xfrm>
            <a:off x="1862176" y="3863614"/>
            <a:ext cx="47991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updates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deep.f.3.label"/>
          <p:cNvSpPr txBox="1"/>
          <p:nvPr/>
        </p:nvSpPr>
        <p:spPr>
          <a:xfrm>
            <a:off x="3014868" y="3207029"/>
            <a:ext cx="62264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 run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deep.f.4.step"/>
          <p:cNvSpPr/>
          <p:nvPr/>
        </p:nvSpPr>
        <p:spPr>
          <a:xfrm>
            <a:off x="2841132" y="2393533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deep.f.5.label"/>
          <p:cNvSpPr txBox="1"/>
          <p:nvPr/>
        </p:nvSpPr>
        <p:spPr>
          <a:xfrm>
            <a:off x="4799327" y="2658709"/>
            <a:ext cx="51872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new files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deep.f.5.step"/>
          <p:cNvSpPr/>
          <p:nvPr/>
        </p:nvSpPr>
        <p:spPr>
          <a:xfrm>
            <a:off x="4081790" y="2393533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deep.f.6.label"/>
          <p:cNvSpPr txBox="1"/>
          <p:nvPr/>
        </p:nvSpPr>
        <p:spPr>
          <a:xfrm>
            <a:off x="6632296" y="2106869"/>
            <a:ext cx="395173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deep.f.6.step"/>
          <p:cNvSpPr/>
          <p:nvPr/>
        </p:nvSpPr>
        <p:spPr>
          <a:xfrm>
            <a:off x="5714909" y="2036917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deep.f.7.step"/>
          <p:cNvSpPr/>
          <p:nvPr/>
        </p:nvSpPr>
        <p:spPr>
          <a:xfrm>
            <a:off x="6056620" y="2393533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deep.f.8.label"/>
          <p:cNvSpPr txBox="1"/>
          <p:nvPr/>
        </p:nvSpPr>
        <p:spPr>
          <a:xfrm>
            <a:off x="5623254" y="3667110"/>
            <a:ext cx="40185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invoke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deep.f.10.label"/>
          <p:cNvSpPr txBox="1"/>
          <p:nvPr/>
        </p:nvSpPr>
        <p:spPr>
          <a:xfrm>
            <a:off x="8760768" y="3517605"/>
            <a:ext cx="57060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for review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deep.f.10.step"/>
          <p:cNvSpPr/>
          <p:nvPr/>
        </p:nvSpPr>
        <p:spPr>
          <a:xfrm>
            <a:off x="8228320" y="344765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deep.f.11.label"/>
          <p:cNvSpPr txBox="1"/>
          <p:nvPr/>
        </p:nvSpPr>
        <p:spPr>
          <a:xfrm>
            <a:off x="10010187" y="2742926"/>
            <a:ext cx="38901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queue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deep.f.13.label"/>
          <p:cNvSpPr txBox="1"/>
          <p:nvPr/>
        </p:nvSpPr>
        <p:spPr>
          <a:xfrm>
            <a:off x="11398506" y="3490951"/>
            <a:ext cx="29136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deep.legend.1.step"/>
          <p:cNvSpPr/>
          <p:nvPr/>
        </p:nvSpPr>
        <p:spPr>
          <a:xfrm>
            <a:off x="502920" y="5971032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deep.legend.1.text"/>
          <p:cNvSpPr txBox="1"/>
          <p:nvPr/>
        </p:nvSpPr>
        <p:spPr>
          <a:xfrm>
            <a:off x="795528" y="6002945"/>
            <a:ext cx="139192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Collect public signals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deep.legend.2.step"/>
          <p:cNvSpPr/>
          <p:nvPr/>
        </p:nvSpPr>
        <p:spPr>
          <a:xfrm>
            <a:off x="2416048" y="5971032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deep.legend.2.text"/>
          <p:cNvSpPr txBox="1"/>
          <p:nvPr/>
        </p:nvSpPr>
        <p:spPr>
          <a:xfrm>
            <a:off x="2708656" y="6002945"/>
            <a:ext cx="139192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Land raw files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deep.legend.3.step"/>
          <p:cNvSpPr/>
          <p:nvPr/>
        </p:nvSpPr>
        <p:spPr>
          <a:xfrm>
            <a:off x="4329176" y="5971032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deep.legend.3.text"/>
          <p:cNvSpPr txBox="1"/>
          <p:nvPr/>
        </p:nvSpPr>
        <p:spPr>
          <a:xfrm>
            <a:off x="4621784" y="6002945"/>
            <a:ext cx="139192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 new files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deep.legend.4.step"/>
          <p:cNvSpPr/>
          <p:nvPr/>
        </p:nvSpPr>
        <p:spPr>
          <a:xfrm>
            <a:off x="6242304" y="5971032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deep.legend.4.text"/>
          <p:cNvSpPr txBox="1"/>
          <p:nvPr/>
        </p:nvSpPr>
        <p:spPr>
          <a:xfrm>
            <a:off x="6534912" y="6002945"/>
            <a:ext cx="139192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Index cited claims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deep.legend.5.step"/>
          <p:cNvSpPr/>
          <p:nvPr/>
        </p:nvSpPr>
        <p:spPr>
          <a:xfrm>
            <a:off x="8155432" y="5971032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deep.legend.5.text"/>
          <p:cNvSpPr txBox="1"/>
          <p:nvPr/>
        </p:nvSpPr>
        <p:spPr>
          <a:xfrm>
            <a:off x="8448040" y="6002945"/>
            <a:ext cx="139192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 on Bedrock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deep.legend.6.step"/>
          <p:cNvSpPr/>
          <p:nvPr/>
        </p:nvSpPr>
        <p:spPr>
          <a:xfrm>
            <a:off x="10068560" y="5971032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deep.legend.6.text"/>
          <p:cNvSpPr txBox="1"/>
          <p:nvPr/>
        </p:nvSpPr>
        <p:spPr>
          <a:xfrm>
            <a:off x="10361168" y="6002945"/>
            <a:ext cx="139192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Send for review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8" name="state.deep.legend.key.data"/>
          <p:cNvCxnSpPr/>
          <p:nvPr/>
        </p:nvCxnSpPr>
        <p:spPr>
          <a:xfrm>
            <a:off x="502920" y="6314023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109" name="deep.legend.key.data.text"/>
          <p:cNvSpPr txBox="1"/>
          <p:nvPr/>
        </p:nvSpPr>
        <p:spPr>
          <a:xfrm>
            <a:off x="1005840" y="6245352"/>
            <a:ext cx="97218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Request or data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0" name="state.deep.legend.key.async"/>
          <p:cNvCxnSpPr/>
          <p:nvPr/>
        </p:nvCxnSpPr>
        <p:spPr>
          <a:xfrm>
            <a:off x="2252343" y="6314023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sp>
        <p:nvSpPr>
          <p:cNvPr id="111" name="deep.legend.key.async.text"/>
          <p:cNvSpPr txBox="1"/>
          <p:nvPr/>
        </p:nvSpPr>
        <p:spPr>
          <a:xfrm>
            <a:off x="2755263" y="6245352"/>
            <a:ext cx="126449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Event, asynchronous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nvergence-hub:arch-events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Four consumers take brief events and failed sends wait in a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dead-letter queue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events.g.prod.frame"/>
          <p:cNvSpPr/>
          <p:nvPr/>
        </p:nvSpPr>
        <p:spPr>
          <a:xfrm>
            <a:off x="512064" y="777240"/>
            <a:ext cx="1867783" cy="5164198"/>
          </a:xfrm>
          <a:prstGeom prst="roundRect">
            <a:avLst>
              <a:gd name="adj" fmla="val 244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4" name="events.g.prod.label"/>
          <p:cNvSpPr txBox="1"/>
          <p:nvPr/>
        </p:nvSpPr>
        <p:spPr>
          <a:xfrm>
            <a:off x="585216" y="832104"/>
            <a:ext cx="668453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Producers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events.g.cons.frame"/>
          <p:cNvSpPr/>
          <p:nvPr/>
        </p:nvSpPr>
        <p:spPr>
          <a:xfrm>
            <a:off x="8305784" y="777240"/>
            <a:ext cx="3438160" cy="5164198"/>
          </a:xfrm>
          <a:prstGeom prst="roundRect">
            <a:avLst>
              <a:gd name="adj" fmla="val 132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6" name="events.g.cons.label"/>
          <p:cNvSpPr txBox="1"/>
          <p:nvPr/>
        </p:nvSpPr>
        <p:spPr>
          <a:xfrm>
            <a:off x="8378936" y="832104"/>
            <a:ext cx="1208931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Consumers by rule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events.g.bus.frame"/>
          <p:cNvSpPr/>
          <p:nvPr/>
        </p:nvSpPr>
        <p:spPr>
          <a:xfrm>
            <a:off x="3536493" y="1815612"/>
            <a:ext cx="2449404" cy="2999689"/>
          </a:xfrm>
          <a:prstGeom prst="rect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8" name="events.g.bus.label"/>
          <p:cNvSpPr txBox="1"/>
          <p:nvPr/>
        </p:nvSpPr>
        <p:spPr>
          <a:xfrm>
            <a:off x="3865677" y="1870476"/>
            <a:ext cx="1924626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EventBridge bus · brief-events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vendor.aws/integration/eventbridge.events-g-bus-tab" descr="EventBridge bus (vendor mark aws/integration/eventbridg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357" y="1861332"/>
            <a:ext cx="219456" cy="219456"/>
          </a:xfrm>
          <a:prstGeom prst="rect">
            <a:avLst/>
          </a:prstGeom>
          <a:effectLst/>
        </p:spPr>
      </p:pic>
      <p:cxnSp>
        <p:nvCxnSpPr>
          <p:cNvPr id="10" name="events.f.1"/>
          <p:cNvCxnSpPr/>
          <p:nvPr/>
        </p:nvCxnSpPr>
        <p:spPr>
          <a:xfrm>
            <a:off x="1591605" y="2318553"/>
            <a:ext cx="2668219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11" name="events.f.2"/>
          <p:cNvSpPr/>
          <p:nvPr/>
        </p:nvSpPr>
        <p:spPr>
          <a:xfrm>
            <a:off x="1445941" y="3080705"/>
            <a:ext cx="2921142" cy="570128"/>
          </a:xfrm>
          <a:custGeom>
            <a:avLst/>
            <a:gdLst/>
            <a:ahLst/>
            <a:cxnLst/>
            <a:rect l="l" t="t" r="r" b="b"/>
            <a:pathLst>
              <a:path w="2921142" h="570128" fill="none">
                <a:moveTo>
                  <a:pt x="0" y="570128"/>
                </a:moveTo>
                <a:lnTo>
                  <a:pt x="0" y="0"/>
                </a:lnTo>
                <a:lnTo>
                  <a:pt x="2921142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12" name="events.f.3"/>
          <p:cNvCxnSpPr/>
          <p:nvPr/>
        </p:nvCxnSpPr>
        <p:spPr>
          <a:xfrm>
            <a:off x="1591605" y="3842857"/>
            <a:ext cx="284689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3" name="events.f.4"/>
          <p:cNvCxnSpPr/>
          <p:nvPr/>
        </p:nvCxnSpPr>
        <p:spPr>
          <a:xfrm>
            <a:off x="1637965" y="4605010"/>
            <a:ext cx="266730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4" name="events.f.5"/>
          <p:cNvCxnSpPr/>
          <p:nvPr/>
        </p:nvCxnSpPr>
        <p:spPr>
          <a:xfrm>
            <a:off x="5262555" y="2318553"/>
            <a:ext cx="3761841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med" len="med"/>
          </a:ln>
          <a:effectLst/>
        </p:spPr>
      </p:cxnSp>
      <p:cxnSp>
        <p:nvCxnSpPr>
          <p:cNvPr id="15" name="events.f.6"/>
          <p:cNvCxnSpPr/>
          <p:nvPr/>
        </p:nvCxnSpPr>
        <p:spPr>
          <a:xfrm>
            <a:off x="5155296" y="3080705"/>
            <a:ext cx="38691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med" len="med"/>
          </a:ln>
          <a:effectLst/>
        </p:spPr>
      </p:cxnSp>
      <p:cxnSp>
        <p:nvCxnSpPr>
          <p:cNvPr id="16" name="events.f.7"/>
          <p:cNvCxnSpPr/>
          <p:nvPr/>
        </p:nvCxnSpPr>
        <p:spPr>
          <a:xfrm>
            <a:off x="9408444" y="3080705"/>
            <a:ext cx="126187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7" name="events.f.8"/>
          <p:cNvCxnSpPr/>
          <p:nvPr/>
        </p:nvCxnSpPr>
        <p:spPr>
          <a:xfrm>
            <a:off x="5083881" y="3842857"/>
            <a:ext cx="394051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med" len="med"/>
          </a:ln>
          <a:effectLst/>
        </p:spPr>
      </p:cxnSp>
      <p:cxnSp>
        <p:nvCxnSpPr>
          <p:cNvPr id="18" name="events.f.9"/>
          <p:cNvCxnSpPr/>
          <p:nvPr/>
        </p:nvCxnSpPr>
        <p:spPr>
          <a:xfrm>
            <a:off x="5217109" y="4605010"/>
            <a:ext cx="3807287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med" len="med"/>
          </a:ln>
          <a:effectLst/>
        </p:spPr>
      </p:cxnSp>
      <p:cxnSp>
        <p:nvCxnSpPr>
          <p:cNvPr id="19" name="events.f.10"/>
          <p:cNvCxnSpPr/>
          <p:nvPr/>
        </p:nvCxnSpPr>
        <p:spPr>
          <a:xfrm>
            <a:off x="9408444" y="4605010"/>
            <a:ext cx="126187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0" name="events.f.11"/>
          <p:cNvSpPr/>
          <p:nvPr/>
        </p:nvSpPr>
        <p:spPr>
          <a:xfrm>
            <a:off x="9408444" y="4719310"/>
            <a:ext cx="1261872" cy="647852"/>
          </a:xfrm>
          <a:custGeom>
            <a:avLst/>
            <a:gdLst/>
            <a:ahLst/>
            <a:cxnLst/>
            <a:rect l="l" t="t" r="r" b="b"/>
            <a:pathLst>
              <a:path w="1261872" h="647852" fill="none">
                <a:moveTo>
                  <a:pt x="0" y="0"/>
                </a:moveTo>
                <a:lnTo>
                  <a:pt x="554401" y="0"/>
                </a:lnTo>
                <a:lnTo>
                  <a:pt x="554401" y="647852"/>
                </a:lnTo>
                <a:lnTo>
                  <a:pt x="1261872" y="647852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21" name="events.f.12"/>
          <p:cNvSpPr/>
          <p:nvPr/>
        </p:nvSpPr>
        <p:spPr>
          <a:xfrm>
            <a:off x="4761189" y="4723882"/>
            <a:ext cx="2192640" cy="643280"/>
          </a:xfrm>
          <a:custGeom>
            <a:avLst/>
            <a:gdLst/>
            <a:ahLst/>
            <a:cxnLst/>
            <a:rect l="l" t="t" r="r" b="b"/>
            <a:pathLst>
              <a:path w="2192640" h="643280" fill="none">
                <a:moveTo>
                  <a:pt x="0" y="0"/>
                </a:moveTo>
                <a:lnTo>
                  <a:pt x="0" y="643280"/>
                </a:lnTo>
                <a:lnTo>
                  <a:pt x="2192640" y="643280"/>
                </a:lnTo>
              </a:path>
            </a:pathLst>
          </a:custGeom>
          <a:noFill/>
          <a:ln w="12700">
            <a:solidFill>
              <a:schemeClr val="accent1">
                <a:lumMod val="75000"/>
              </a:schemeClr>
            </a:solidFill>
            <a:prstDash val="lgDash"/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22" name="events.f.13"/>
          <p:cNvSpPr/>
          <p:nvPr/>
        </p:nvSpPr>
        <p:spPr>
          <a:xfrm>
            <a:off x="1445941" y="1281074"/>
            <a:ext cx="3123224" cy="845455"/>
          </a:xfrm>
          <a:custGeom>
            <a:avLst/>
            <a:gdLst/>
            <a:ahLst/>
            <a:cxnLst/>
            <a:rect l="l" t="t" r="r" b="b"/>
            <a:pathLst>
              <a:path w="3123224" h="845455" fill="none">
                <a:moveTo>
                  <a:pt x="3123224" y="0"/>
                </a:moveTo>
                <a:lnTo>
                  <a:pt x="0" y="0"/>
                </a:lnTo>
                <a:lnTo>
                  <a:pt x="0" y="845455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ysDot"/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23" name="events.f.14"/>
          <p:cNvSpPr/>
          <p:nvPr/>
        </p:nvSpPr>
        <p:spPr>
          <a:xfrm>
            <a:off x="4953213" y="1281074"/>
            <a:ext cx="4263207" cy="845455"/>
          </a:xfrm>
          <a:custGeom>
            <a:avLst/>
            <a:gdLst/>
            <a:ahLst/>
            <a:cxnLst/>
            <a:rect l="l" t="t" r="r" b="b"/>
            <a:pathLst>
              <a:path w="4263207" h="845455" fill="none">
                <a:moveTo>
                  <a:pt x="0" y="0"/>
                </a:moveTo>
                <a:lnTo>
                  <a:pt x="4263207" y="0"/>
                </a:lnTo>
                <a:lnTo>
                  <a:pt x="4263207" y="845455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ysDot"/>
            <a:miter lim="800000"/>
            <a:tailEnd type="triangle" w="med" len="med"/>
          </a:ln>
          <a:effectLst/>
        </p:spPr>
        <p:txBody>
          <a:bodyPr/>
          <a:p/>
        </p:txBody>
      </p:sp>
      <p:pic>
        <p:nvPicPr>
          <p:cNvPr id="24" name="vendor.aws/integration/eventbridge-schema.events-n-schema" descr="Schema registry (vendor mark aws/integration/eventbridge-schema)"/>
          <p:cNvPicPr>
            <a:picLocks noChangeAspect="1"/>
          </p:cNvPicPr>
          <p:nvPr/>
        </p:nvPicPr>
        <p:blipFill>
          <a:blip r:embed="rId3"/>
          <a:srcRect l="3906" t="3922" r="3906" b="3922"/>
          <a:stretch>
            <a:fillRect/>
          </a:stretch>
        </p:blipFill>
        <p:spPr>
          <a:xfrm>
            <a:off x="4569171" y="1089899"/>
            <a:ext cx="384048" cy="382421"/>
          </a:xfrm>
          <a:prstGeom prst="rect">
            <a:avLst/>
          </a:prstGeom>
          <a:effectLst/>
        </p:spPr>
      </p:pic>
      <p:sp>
        <p:nvSpPr>
          <p:cNvPr id="25" name="events.n.schema.caption"/>
          <p:cNvSpPr txBox="1"/>
          <p:nvPr/>
        </p:nvSpPr>
        <p:spPr>
          <a:xfrm>
            <a:off x="4240444" y="1518040"/>
            <a:ext cx="104150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Schema registry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events v3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6" name="vendor.aws/compute/elastic-container-service-task.events-n-scan" descr="Scan agent (vendor mark aws/compute/elastic-container-service-task)"/>
          <p:cNvPicPr>
            <a:picLocks noChangeAspect="1"/>
          </p:cNvPicPr>
          <p:nvPr/>
        </p:nvPicPr>
        <p:blipFill>
          <a:blip r:embed="rId4"/>
          <a:srcRect l="14453" t="3906" r="15625" b="3906"/>
          <a:stretch>
            <a:fillRect/>
          </a:stretch>
        </p:blipFill>
        <p:spPr>
          <a:xfrm>
            <a:off x="1300310" y="2126508"/>
            <a:ext cx="291291" cy="384048"/>
          </a:xfrm>
          <a:prstGeom prst="rect">
            <a:avLst/>
          </a:prstGeom>
          <a:effectLst/>
        </p:spPr>
      </p:pic>
      <p:sp>
        <p:nvSpPr>
          <p:cNvPr id="27" name="events.n.scan.caption"/>
          <p:cNvSpPr txBox="1"/>
          <p:nvPr/>
        </p:nvSpPr>
        <p:spPr>
          <a:xfrm>
            <a:off x="1086139" y="2556276"/>
            <a:ext cx="719633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Scan agent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LangGraph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events.n.ev-signals-scanned.event"/>
          <p:cNvSpPr/>
          <p:nvPr/>
        </p:nvSpPr>
        <p:spPr>
          <a:xfrm>
            <a:off x="4259821" y="2199660"/>
            <a:ext cx="1002748" cy="237744"/>
          </a:xfrm>
          <a:prstGeom prst="roundRect">
            <a:avLst>
              <a:gd name="adj" fmla="val 15384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signals.scanned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9" name="vendor.aws/integration/step-functions.events-n-sfn" descr="Step Functions (vendor mark aws/integration/step-function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417" y="2126508"/>
            <a:ext cx="384048" cy="384048"/>
          </a:xfrm>
          <a:prstGeom prst="rect">
            <a:avLst/>
          </a:prstGeom>
          <a:effectLst/>
        </p:spPr>
      </p:pic>
      <p:sp>
        <p:nvSpPr>
          <p:cNvPr id="30" name="events.n.sfn.caption"/>
          <p:cNvSpPr txBox="1"/>
          <p:nvPr/>
        </p:nvSpPr>
        <p:spPr>
          <a:xfrm>
            <a:off x="8732266" y="2556276"/>
            <a:ext cx="96835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Step Functions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draft run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events.n.ev-brief-drafted.event"/>
          <p:cNvSpPr/>
          <p:nvPr/>
        </p:nvSpPr>
        <p:spPr>
          <a:xfrm>
            <a:off x="4367051" y="2961812"/>
            <a:ext cx="788287" cy="237744"/>
          </a:xfrm>
          <a:prstGeom prst="roundRect">
            <a:avLst>
              <a:gd name="adj" fmla="val 15384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brief.drafted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" name="vendor.aws/analytics/kinesis-data-firehose.events-n-hose" descr="Firehose (vendor mark aws/analytics/kinesis-data-firehos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417" y="2888660"/>
            <a:ext cx="384048" cy="384048"/>
          </a:xfrm>
          <a:prstGeom prst="rect">
            <a:avLst/>
          </a:prstGeom>
          <a:effectLst/>
        </p:spPr>
      </p:pic>
      <p:sp>
        <p:nvSpPr>
          <p:cNvPr id="33" name="events.n.hose.caption"/>
          <p:cNvSpPr txBox="1"/>
          <p:nvPr/>
        </p:nvSpPr>
        <p:spPr>
          <a:xfrm>
            <a:off x="8932977" y="3318428"/>
            <a:ext cx="56692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Firehose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analytics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4" name="vendor.aws/storage/simple-storage-service-s3.events-n-s3" descr="Amazon S3 (vendor mark aws/storage/simple-storage-service-s3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0345" y="2888660"/>
            <a:ext cx="384048" cy="384048"/>
          </a:xfrm>
          <a:prstGeom prst="rect">
            <a:avLst/>
          </a:prstGeom>
          <a:effectLst/>
        </p:spPr>
      </p:pic>
      <p:sp>
        <p:nvSpPr>
          <p:cNvPr id="35" name="events.n.s3.caption"/>
          <p:cNvSpPr txBox="1"/>
          <p:nvPr/>
        </p:nvSpPr>
        <p:spPr>
          <a:xfrm>
            <a:off x="10498895" y="3318428"/>
            <a:ext cx="72694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archive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vendor.aws/compute/elastic-container-service-task.events-n-writer" descr="Writer agent (vendor mark aws/compute/elastic-container-service-task)"/>
          <p:cNvPicPr>
            <a:picLocks noChangeAspect="1"/>
          </p:cNvPicPr>
          <p:nvPr/>
        </p:nvPicPr>
        <p:blipFill>
          <a:blip r:embed="rId4"/>
          <a:srcRect l="14453" t="3906" r="15625" b="3906"/>
          <a:stretch>
            <a:fillRect/>
          </a:stretch>
        </p:blipFill>
        <p:spPr>
          <a:xfrm>
            <a:off x="1300310" y="3650812"/>
            <a:ext cx="291291" cy="384048"/>
          </a:xfrm>
          <a:prstGeom prst="rect">
            <a:avLst/>
          </a:prstGeom>
          <a:effectLst/>
        </p:spPr>
      </p:pic>
      <p:sp>
        <p:nvSpPr>
          <p:cNvPr id="37" name="events.n.writer.caption"/>
          <p:cNvSpPr txBox="1"/>
          <p:nvPr/>
        </p:nvSpPr>
        <p:spPr>
          <a:xfrm>
            <a:off x="1053221" y="4080580"/>
            <a:ext cx="78547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Writer agent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LangGraph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events.n.ev-brief-held.event"/>
          <p:cNvSpPr/>
          <p:nvPr/>
        </p:nvSpPr>
        <p:spPr>
          <a:xfrm>
            <a:off x="4438500" y="3723964"/>
            <a:ext cx="645389" cy="237744"/>
          </a:xfrm>
          <a:prstGeom prst="roundRect">
            <a:avLst>
              <a:gd name="adj" fmla="val 15384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brief.held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9" name="vendor.aws/integration/simple-queue-service-sqs.events-n-queue" descr="Amazon SQS (vendor mark aws/integration/simple-queue-service-sqs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4417" y="3650812"/>
            <a:ext cx="384048" cy="384048"/>
          </a:xfrm>
          <a:prstGeom prst="rect">
            <a:avLst/>
          </a:prstGeom>
          <a:effectLst/>
        </p:spPr>
      </p:pic>
      <p:sp>
        <p:nvSpPr>
          <p:cNvPr id="40" name="events.n.queue.caption"/>
          <p:cNvSpPr txBox="1"/>
          <p:nvPr/>
        </p:nvSpPr>
        <p:spPr>
          <a:xfrm>
            <a:off x="8794445" y="4080580"/>
            <a:ext cx="84399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SQS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" name="vendor.programming/framework/react.events-n-app" descr="Review app (vendor mark programming/framework/react)"/>
          <p:cNvPicPr>
            <a:picLocks noChangeAspect="1"/>
          </p:cNvPicPr>
          <p:nvPr/>
        </p:nvPicPr>
        <p:blipFill>
          <a:blip r:embed="rId9"/>
          <a:srcRect l="5078" t="9766" r="5078" b="9766"/>
          <a:stretch>
            <a:fillRect/>
          </a:stretch>
        </p:blipFill>
        <p:spPr>
          <a:xfrm>
            <a:off x="1253932" y="4433002"/>
            <a:ext cx="384048" cy="343973"/>
          </a:xfrm>
          <a:prstGeom prst="rect">
            <a:avLst/>
          </a:prstGeom>
          <a:effectLst/>
        </p:spPr>
      </p:pic>
      <p:sp>
        <p:nvSpPr>
          <p:cNvPr id="42" name="events.n.app.caption"/>
          <p:cNvSpPr txBox="1"/>
          <p:nvPr/>
        </p:nvSpPr>
        <p:spPr>
          <a:xfrm>
            <a:off x="1075166" y="4822695"/>
            <a:ext cx="74157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app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React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events.n.ev-brief-approved.event"/>
          <p:cNvSpPr/>
          <p:nvPr/>
        </p:nvSpPr>
        <p:spPr>
          <a:xfrm>
            <a:off x="4305304" y="4486117"/>
            <a:ext cx="911782" cy="237744"/>
          </a:xfrm>
          <a:prstGeom prst="roundRect">
            <a:avLst>
              <a:gd name="adj" fmla="val 15384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brief.approved</a:t>
            </a:r>
            <a:endParaRPr lang="en-US" sz="8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" name="vendor.aws/compute/lambda.events-n-notify" descr="Lambda (vendor mark aws/compute/lambda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4417" y="4412965"/>
            <a:ext cx="384048" cy="384048"/>
          </a:xfrm>
          <a:prstGeom prst="rect">
            <a:avLst/>
          </a:prstGeom>
          <a:effectLst/>
        </p:spPr>
      </p:pic>
      <p:sp>
        <p:nvSpPr>
          <p:cNvPr id="45" name="events.n.notify.caption"/>
          <p:cNvSpPr txBox="1"/>
          <p:nvPr/>
        </p:nvSpPr>
        <p:spPr>
          <a:xfrm>
            <a:off x="8954922" y="4842733"/>
            <a:ext cx="523037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Lambda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notifier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" name="vendor.aws/engagement/simple-email-service-ses.events-n-ses" descr="Amazon SES (vendor mark aws/engagement/simple-email-service-ses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70345" y="4412965"/>
            <a:ext cx="384048" cy="384048"/>
          </a:xfrm>
          <a:prstGeom prst="rect">
            <a:avLst/>
          </a:prstGeom>
          <a:effectLst/>
        </p:spPr>
      </p:pic>
      <p:sp>
        <p:nvSpPr>
          <p:cNvPr id="47" name="events.n.ses.caption"/>
          <p:cNvSpPr txBox="1"/>
          <p:nvPr/>
        </p:nvSpPr>
        <p:spPr>
          <a:xfrm>
            <a:off x="10447688" y="4842733"/>
            <a:ext cx="82936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SES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Monday email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8" name="vendor.saas/chat/teams.events-n-teams" descr="Teams (vendor mark saas/chat/teams)"/>
          <p:cNvPicPr>
            <a:picLocks noChangeAspect="1"/>
          </p:cNvPicPr>
          <p:nvPr/>
        </p:nvPicPr>
        <p:blipFill>
          <a:blip r:embed="rId12"/>
          <a:srcRect l="23438" t="25781" r="23438" b="25000"/>
          <a:stretch>
            <a:fillRect/>
          </a:stretch>
        </p:blipFill>
        <p:spPr>
          <a:xfrm>
            <a:off x="10670345" y="5189237"/>
            <a:ext cx="384048" cy="355809"/>
          </a:xfrm>
          <a:prstGeom prst="rect">
            <a:avLst/>
          </a:prstGeom>
          <a:effectLst/>
        </p:spPr>
      </p:pic>
      <p:sp>
        <p:nvSpPr>
          <p:cNvPr id="49" name="events.n.teams.caption"/>
          <p:cNvSpPr txBox="1"/>
          <p:nvPr/>
        </p:nvSpPr>
        <p:spPr>
          <a:xfrm>
            <a:off x="10615938" y="5590766"/>
            <a:ext cx="49286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Teams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field alert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vendor.aws/integration/simple-queue-service-sqs.events-n-dlq" descr="Amazon SQS (vendor mark aws/integration/simple-queue-service-sqs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817" y="5175117"/>
            <a:ext cx="384048" cy="384048"/>
          </a:xfrm>
          <a:prstGeom prst="rect">
            <a:avLst/>
          </a:prstGeom>
          <a:effectLst/>
        </p:spPr>
      </p:pic>
      <p:sp>
        <p:nvSpPr>
          <p:cNvPr id="51" name="events.n.dlq.caption"/>
          <p:cNvSpPr txBox="1"/>
          <p:nvPr/>
        </p:nvSpPr>
        <p:spPr>
          <a:xfrm>
            <a:off x="6723845" y="5604885"/>
            <a:ext cx="84399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SQS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dead letters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events.f.1.label"/>
          <p:cNvSpPr txBox="1"/>
          <p:nvPr/>
        </p:nvSpPr>
        <p:spPr>
          <a:xfrm>
            <a:off x="2624036" y="2150760"/>
            <a:ext cx="60335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 done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events.f.2.label"/>
          <p:cNvSpPr txBox="1"/>
          <p:nvPr/>
        </p:nvSpPr>
        <p:spPr>
          <a:xfrm>
            <a:off x="2585402" y="3108137"/>
            <a:ext cx="64222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 saved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events.f.3.label"/>
          <p:cNvSpPr txBox="1"/>
          <p:nvPr/>
        </p:nvSpPr>
        <p:spPr>
          <a:xfrm>
            <a:off x="2414091" y="3870289"/>
            <a:ext cx="101903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claim unsupported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events.f.4.label"/>
          <p:cNvSpPr txBox="1"/>
          <p:nvPr/>
        </p:nvSpPr>
        <p:spPr>
          <a:xfrm>
            <a:off x="2462155" y="4632442"/>
            <a:ext cx="101892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reviewer approves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events.f.5.label"/>
          <p:cNvSpPr txBox="1"/>
          <p:nvPr/>
        </p:nvSpPr>
        <p:spPr>
          <a:xfrm>
            <a:off x="6864653" y="2150760"/>
            <a:ext cx="55764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start draft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events.f.6.label"/>
          <p:cNvSpPr txBox="1"/>
          <p:nvPr/>
        </p:nvSpPr>
        <p:spPr>
          <a:xfrm>
            <a:off x="6739574" y="3108137"/>
            <a:ext cx="700543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stream copy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events.f.7.label"/>
          <p:cNvSpPr txBox="1"/>
          <p:nvPr/>
        </p:nvSpPr>
        <p:spPr>
          <a:xfrm>
            <a:off x="9818995" y="2912913"/>
            <a:ext cx="440770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archive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events.f.8.label"/>
          <p:cNvSpPr txBox="1"/>
          <p:nvPr/>
        </p:nvSpPr>
        <p:spPr>
          <a:xfrm>
            <a:off x="6590102" y="3870289"/>
            <a:ext cx="928073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queue for review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events.f.9.label"/>
          <p:cNvSpPr txBox="1"/>
          <p:nvPr/>
        </p:nvSpPr>
        <p:spPr>
          <a:xfrm>
            <a:off x="6825637" y="4632442"/>
            <a:ext cx="590231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notify field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events.f.10.label"/>
          <p:cNvSpPr txBox="1"/>
          <p:nvPr/>
        </p:nvSpPr>
        <p:spPr>
          <a:xfrm>
            <a:off x="9959171" y="4437217"/>
            <a:ext cx="343298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email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events.f.11.label"/>
          <p:cNvSpPr txBox="1"/>
          <p:nvPr/>
        </p:nvSpPr>
        <p:spPr>
          <a:xfrm>
            <a:off x="10170898" y="5394594"/>
            <a:ext cx="291366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alert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events.f.12.label"/>
          <p:cNvSpPr txBox="1"/>
          <p:nvPr/>
        </p:nvSpPr>
        <p:spPr>
          <a:xfrm>
            <a:off x="5481243" y="5394594"/>
            <a:ext cx="75253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after 3 retries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events.f.13.label"/>
          <p:cNvSpPr txBox="1"/>
          <p:nvPr/>
        </p:nvSpPr>
        <p:spPr>
          <a:xfrm>
            <a:off x="2774128" y="1113282"/>
            <a:ext cx="46685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validate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events.f.14.label"/>
          <p:cNvSpPr txBox="1"/>
          <p:nvPr/>
        </p:nvSpPr>
        <p:spPr>
          <a:xfrm>
            <a:off x="6835127" y="1113282"/>
            <a:ext cx="49937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bindings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6" name="state.events.legend.key.data"/>
          <p:cNvCxnSpPr/>
          <p:nvPr/>
        </p:nvCxnSpPr>
        <p:spPr>
          <a:xfrm>
            <a:off x="512064" y="6117336"/>
            <a:ext cx="36576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67" name="events.legend.key.data.text"/>
          <p:cNvSpPr txBox="1"/>
          <p:nvPr/>
        </p:nvSpPr>
        <p:spPr>
          <a:xfrm>
            <a:off x="969264" y="6048665"/>
            <a:ext cx="46781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Publish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8" name="state.events.legend.key.async"/>
          <p:cNvCxnSpPr/>
          <p:nvPr/>
        </p:nvCxnSpPr>
        <p:spPr>
          <a:xfrm>
            <a:off x="1711401" y="6117336"/>
            <a:ext cx="36576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sp>
        <p:nvSpPr>
          <p:cNvPr id="69" name="events.legend.key.async.text"/>
          <p:cNvSpPr txBox="1"/>
          <p:nvPr/>
        </p:nvSpPr>
        <p:spPr>
          <a:xfrm>
            <a:off x="2168601" y="6048665"/>
            <a:ext cx="8259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Rule to target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0" name="state.events.legend.key.control"/>
          <p:cNvCxnSpPr/>
          <p:nvPr/>
        </p:nvCxnSpPr>
        <p:spPr>
          <a:xfrm>
            <a:off x="3268853" y="6117336"/>
            <a:ext cx="36576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ot"/>
          </a:ln>
          <a:effectLst/>
        </p:spPr>
      </p:cxnSp>
      <p:sp>
        <p:nvSpPr>
          <p:cNvPr id="71" name="events.legend.key.control.text"/>
          <p:cNvSpPr txBox="1"/>
          <p:nvPr/>
        </p:nvSpPr>
        <p:spPr>
          <a:xfrm>
            <a:off x="3726053" y="6048665"/>
            <a:ext cx="51892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Schema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2" name="state.events.legend.key.feedback"/>
          <p:cNvCxnSpPr/>
          <p:nvPr/>
        </p:nvCxnSpPr>
        <p:spPr>
          <a:xfrm>
            <a:off x="4519294" y="6117336"/>
            <a:ext cx="36576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lgDash"/>
          </a:ln>
          <a:effectLst/>
        </p:spPr>
      </p:cxnSp>
      <p:sp>
        <p:nvSpPr>
          <p:cNvPr id="73" name="events.legend.key.feedback.text"/>
          <p:cNvSpPr txBox="1"/>
          <p:nvPr/>
        </p:nvSpPr>
        <p:spPr>
          <a:xfrm>
            <a:off x="4976494" y="6048665"/>
            <a:ext cx="67974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Dead letter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arch-deploy-aws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Private agents leave the VPC only through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endpoints or the firewall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deploy.g.edge.label"/>
          <p:cNvSpPr txBox="1"/>
          <p:nvPr/>
        </p:nvSpPr>
        <p:spPr>
          <a:xfrm>
            <a:off x="1234637" y="877824"/>
            <a:ext cx="77056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Global edge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deploy.g.region.tab"/>
          <p:cNvSpPr/>
          <p:nvPr/>
        </p:nvSpPr>
        <p:spPr>
          <a:xfrm>
            <a:off x="2332212" y="978408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deploy.g.region.frame"/>
          <p:cNvSpPr/>
          <p:nvPr/>
        </p:nvSpPr>
        <p:spPr>
          <a:xfrm>
            <a:off x="2332212" y="978408"/>
            <a:ext cx="8670867" cy="4956048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  <a:effectLst/>
        </p:spPr>
        <p:txBody>
          <a:bodyPr/>
          <a:p/>
        </p:txBody>
      </p:sp>
      <p:sp>
        <p:nvSpPr>
          <p:cNvPr id="6" name="deploy.g.region.tab.icon"/>
          <p:cNvSpPr/>
          <p:nvPr/>
        </p:nvSpPr>
        <p:spPr>
          <a:xfrm>
            <a:off x="2373360" y="1019556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22000"/>
                </a:moveTo>
                <a:lnTo>
                  <a:pt x="4000" y="4000"/>
                </a:lnTo>
                <a:cubicBezTo>
                  <a:pt x="4000" y="3685"/>
                  <a:pt x="4148" y="3389"/>
                  <a:pt x="4400" y="3200"/>
                </a:cubicBezTo>
                <a:cubicBezTo>
                  <a:pt x="5439" y="2421"/>
                  <a:pt x="6702" y="2000"/>
                  <a:pt x="8000" y="2000"/>
                </a:cubicBezTo>
                <a:cubicBezTo>
                  <a:pt x="11000" y="2000"/>
                  <a:pt x="13000" y="4000"/>
                  <a:pt x="15333" y="4000"/>
                </a:cubicBezTo>
                <a:cubicBezTo>
                  <a:pt x="16666" y="4000"/>
                  <a:pt x="17689" y="3733"/>
                  <a:pt x="18400" y="3200"/>
                </a:cubicBezTo>
                <a:cubicBezTo>
                  <a:pt x="18703" y="2973"/>
                  <a:pt x="19108" y="2936"/>
                  <a:pt x="19447" y="3106"/>
                </a:cubicBezTo>
                <a:cubicBezTo>
                  <a:pt x="19786" y="3275"/>
                  <a:pt x="20000" y="3621"/>
                  <a:pt x="20000" y="4000"/>
                </a:cubicBezTo>
                <a:lnTo>
                  <a:pt x="20000" y="14000"/>
                </a:lnTo>
                <a:cubicBezTo>
                  <a:pt x="20000" y="14315"/>
                  <a:pt x="19852" y="14611"/>
                  <a:pt x="19600" y="14800"/>
                </a:cubicBezTo>
                <a:cubicBezTo>
                  <a:pt x="18561" y="15579"/>
                  <a:pt x="17298" y="16000"/>
                  <a:pt x="16000" y="16000"/>
                </a:cubicBezTo>
                <a:cubicBezTo>
                  <a:pt x="13000" y="16000"/>
                  <a:pt x="11000" y="14000"/>
                  <a:pt x="8000" y="14000"/>
                </a:cubicBezTo>
                <a:cubicBezTo>
                  <a:pt x="6524" y="14000"/>
                  <a:pt x="5100" y="14544"/>
                  <a:pt x="4000" y="15528"/>
                </a:cubicBez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7" name="deploy.g.region.label"/>
          <p:cNvSpPr txBox="1"/>
          <p:nvPr/>
        </p:nvSpPr>
        <p:spPr>
          <a:xfrm>
            <a:off x="2633964" y="1028609"/>
            <a:ext cx="268566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 eu-west-1 · account brief-prod · 2 AZs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vendor.aws/network/vpc.deploy-g-vpc-tab" descr="VPC group (vendor mark aws/network/vpc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215" y="1371600"/>
            <a:ext cx="237744" cy="237744"/>
          </a:xfrm>
          <a:prstGeom prst="rect">
            <a:avLst/>
          </a:prstGeom>
          <a:effectLst/>
        </p:spPr>
      </p:pic>
      <p:sp>
        <p:nvSpPr>
          <p:cNvPr id="9" name="deploy.g.vpc.frame"/>
          <p:cNvSpPr/>
          <p:nvPr/>
        </p:nvSpPr>
        <p:spPr>
          <a:xfrm>
            <a:off x="3146215" y="1371600"/>
            <a:ext cx="5762344" cy="4443984"/>
          </a:xfrm>
          <a:prstGeom prst="rect">
            <a:avLst/>
          </a:prstGeom>
          <a:noFill/>
          <a:ln w="15875">
            <a:solidFill>
              <a:srgbClr val="8C4FFF"/>
            </a:solidFill>
          </a:ln>
          <a:effectLst/>
        </p:spPr>
        <p:txBody>
          <a:bodyPr/>
          <a:p/>
        </p:txBody>
      </p:sp>
      <p:sp>
        <p:nvSpPr>
          <p:cNvPr id="10" name="deploy.g.vpc.label"/>
          <p:cNvSpPr txBox="1"/>
          <p:nvPr/>
        </p:nvSpPr>
        <p:spPr>
          <a:xfrm>
            <a:off x="3447967" y="1421801"/>
            <a:ext cx="196230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VPC 10.20.0.0/16 · 3 tiers per AZ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deploy.g.aza.frame"/>
          <p:cNvSpPr/>
          <p:nvPr/>
        </p:nvSpPr>
        <p:spPr>
          <a:xfrm>
            <a:off x="3877871" y="1764792"/>
            <a:ext cx="2103797" cy="393192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  <a:effectLst/>
        </p:spPr>
        <p:txBody>
          <a:bodyPr/>
          <a:p/>
        </p:txBody>
      </p:sp>
      <p:sp>
        <p:nvSpPr>
          <p:cNvPr id="12" name="deploy.g.aza.label"/>
          <p:cNvSpPr txBox="1"/>
          <p:nvPr/>
        </p:nvSpPr>
        <p:spPr>
          <a:xfrm>
            <a:off x="4387112" y="1696121"/>
            <a:ext cx="1085315" cy="137343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Availability Zone a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deploy.g.azb.frame"/>
          <p:cNvSpPr/>
          <p:nvPr/>
        </p:nvSpPr>
        <p:spPr>
          <a:xfrm>
            <a:off x="6512155" y="1764792"/>
            <a:ext cx="2103797" cy="393192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  <a:effectLst/>
        </p:spPr>
        <p:txBody>
          <a:bodyPr/>
          <a:p/>
        </p:txBody>
      </p:sp>
      <p:sp>
        <p:nvSpPr>
          <p:cNvPr id="14" name="deploy.g.azb.label"/>
          <p:cNvSpPr txBox="1"/>
          <p:nvPr/>
        </p:nvSpPr>
        <p:spPr>
          <a:xfrm>
            <a:off x="7021396" y="1696121"/>
            <a:ext cx="1085315" cy="137343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Availability Zone b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deploy.g.ops.band"/>
          <p:cNvSpPr/>
          <p:nvPr/>
        </p:nvSpPr>
        <p:spPr>
          <a:xfrm>
            <a:off x="9795735" y="1417320"/>
            <a:ext cx="1024463" cy="2078558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txBody>
          <a:bodyPr/>
          <a:p/>
        </p:txBody>
      </p:sp>
      <p:sp>
        <p:nvSpPr>
          <p:cNvPr id="16" name="deploy.g.ops.label"/>
          <p:cNvSpPr txBox="1"/>
          <p:nvPr/>
        </p:nvSpPr>
        <p:spPr>
          <a:xfrm>
            <a:off x="9868887" y="1472184"/>
            <a:ext cx="77830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Ops · shared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deploy.g.puba.tab"/>
          <p:cNvSpPr/>
          <p:nvPr/>
        </p:nvSpPr>
        <p:spPr>
          <a:xfrm>
            <a:off x="4015031" y="1953405"/>
            <a:ext cx="237744" cy="237744"/>
          </a:xfrm>
          <a:prstGeom prst="rect">
            <a:avLst/>
          </a:prstGeom>
          <a:solidFill>
            <a:srgbClr val="7AA116"/>
          </a:solidFill>
          <a:ln>
            <a:noFill/>
          </a:ln>
          <a:effectLst/>
        </p:spPr>
        <p:txBody>
          <a:bodyPr/>
          <a:p/>
        </p:txBody>
      </p:sp>
      <p:sp>
        <p:nvSpPr>
          <p:cNvPr id="18" name="deploy.g.puba.frame"/>
          <p:cNvSpPr/>
          <p:nvPr/>
        </p:nvSpPr>
        <p:spPr>
          <a:xfrm>
            <a:off x="4015031" y="1953405"/>
            <a:ext cx="1829477" cy="1124895"/>
          </a:xfrm>
          <a:prstGeom prst="rect">
            <a:avLst/>
          </a:prstGeom>
          <a:noFill/>
          <a:ln w="15875">
            <a:solidFill>
              <a:srgbClr val="7AA116"/>
            </a:solidFill>
          </a:ln>
          <a:effectLst/>
        </p:spPr>
        <p:txBody>
          <a:bodyPr/>
          <a:p/>
        </p:txBody>
      </p:sp>
      <p:sp>
        <p:nvSpPr>
          <p:cNvPr id="19" name="deploy.g.puba.tab.icon"/>
          <p:cNvSpPr/>
          <p:nvPr/>
        </p:nvSpPr>
        <p:spPr>
          <a:xfrm>
            <a:off x="4056179" y="199455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6997" y="4431"/>
                  <a:pt x="8942" y="2278"/>
                  <a:pt x="11498" y="2020"/>
                </a:cubicBezTo>
                <a:cubicBezTo>
                  <a:pt x="14053" y="1762"/>
                  <a:pt x="16389" y="3483"/>
                  <a:pt x="16900" y="6000"/>
                </a:cubicBez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0" name="deploy.g.puba.label"/>
          <p:cNvSpPr txBox="1"/>
          <p:nvPr/>
        </p:nvSpPr>
        <p:spPr>
          <a:xfrm>
            <a:off x="4316783" y="2003605"/>
            <a:ext cx="37640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deploy.g.appa.tab"/>
          <p:cNvSpPr/>
          <p:nvPr/>
        </p:nvSpPr>
        <p:spPr>
          <a:xfrm>
            <a:off x="4015031" y="3279344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22" name="deploy.g.appa.frame"/>
          <p:cNvSpPr/>
          <p:nvPr/>
        </p:nvSpPr>
        <p:spPr>
          <a:xfrm>
            <a:off x="4015031" y="3279344"/>
            <a:ext cx="1829477" cy="1109716"/>
          </a:xfrm>
          <a:prstGeom prst="rect">
            <a:avLst/>
          </a:prstGeom>
          <a:noFill/>
          <a:ln w="15875">
            <a:solidFill>
              <a:srgbClr val="00A4A6"/>
            </a:solidFill>
          </a:ln>
          <a:effectLst/>
        </p:spPr>
        <p:txBody>
          <a:bodyPr/>
          <a:p/>
        </p:txBody>
      </p:sp>
      <p:sp>
        <p:nvSpPr>
          <p:cNvPr id="23" name="deploy.g.appa.tab.icon"/>
          <p:cNvSpPr/>
          <p:nvPr/>
        </p:nvSpPr>
        <p:spPr>
          <a:xfrm>
            <a:off x="4056179" y="3320492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4" name="deploy.g.appa.label"/>
          <p:cNvSpPr txBox="1"/>
          <p:nvPr/>
        </p:nvSpPr>
        <p:spPr>
          <a:xfrm>
            <a:off x="4316783" y="3329545"/>
            <a:ext cx="25223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deploy.g.data.tab"/>
          <p:cNvSpPr/>
          <p:nvPr/>
        </p:nvSpPr>
        <p:spPr>
          <a:xfrm>
            <a:off x="4015031" y="4590105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26" name="deploy.g.data.frame"/>
          <p:cNvSpPr/>
          <p:nvPr/>
        </p:nvSpPr>
        <p:spPr>
          <a:xfrm>
            <a:off x="4015031" y="4590105"/>
            <a:ext cx="1829477" cy="987735"/>
          </a:xfrm>
          <a:prstGeom prst="rect">
            <a:avLst/>
          </a:prstGeom>
          <a:noFill/>
          <a:ln w="15875">
            <a:solidFill>
              <a:srgbClr val="00A4A6"/>
            </a:solidFill>
          </a:ln>
          <a:effectLst/>
        </p:spPr>
        <p:txBody>
          <a:bodyPr/>
          <a:p/>
        </p:txBody>
      </p:sp>
      <p:sp>
        <p:nvSpPr>
          <p:cNvPr id="27" name="deploy.g.data.tab.icon"/>
          <p:cNvSpPr/>
          <p:nvPr/>
        </p:nvSpPr>
        <p:spPr>
          <a:xfrm>
            <a:off x="4056179" y="463125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8" name="deploy.g.data.label"/>
          <p:cNvSpPr txBox="1"/>
          <p:nvPr/>
        </p:nvSpPr>
        <p:spPr>
          <a:xfrm>
            <a:off x="4316783" y="4640306"/>
            <a:ext cx="29602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deploy.g.pubb.tab"/>
          <p:cNvSpPr/>
          <p:nvPr/>
        </p:nvSpPr>
        <p:spPr>
          <a:xfrm>
            <a:off x="6649315" y="1953405"/>
            <a:ext cx="237744" cy="237744"/>
          </a:xfrm>
          <a:prstGeom prst="rect">
            <a:avLst/>
          </a:prstGeom>
          <a:solidFill>
            <a:srgbClr val="7AA116"/>
          </a:solidFill>
          <a:ln>
            <a:noFill/>
          </a:ln>
          <a:effectLst/>
        </p:spPr>
        <p:txBody>
          <a:bodyPr/>
          <a:p/>
        </p:txBody>
      </p:sp>
      <p:sp>
        <p:nvSpPr>
          <p:cNvPr id="30" name="deploy.g.pubb.frame"/>
          <p:cNvSpPr/>
          <p:nvPr/>
        </p:nvSpPr>
        <p:spPr>
          <a:xfrm>
            <a:off x="6649315" y="1953405"/>
            <a:ext cx="1829477" cy="1124895"/>
          </a:xfrm>
          <a:prstGeom prst="rect">
            <a:avLst/>
          </a:prstGeom>
          <a:noFill/>
          <a:ln w="15875">
            <a:solidFill>
              <a:srgbClr val="7AA116"/>
            </a:solidFill>
          </a:ln>
          <a:effectLst/>
        </p:spPr>
        <p:txBody>
          <a:bodyPr/>
          <a:p/>
        </p:txBody>
      </p:sp>
      <p:sp>
        <p:nvSpPr>
          <p:cNvPr id="31" name="deploy.g.pubb.tab.icon"/>
          <p:cNvSpPr/>
          <p:nvPr/>
        </p:nvSpPr>
        <p:spPr>
          <a:xfrm>
            <a:off x="6690463" y="199455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6997" y="4431"/>
                  <a:pt x="8942" y="2278"/>
                  <a:pt x="11498" y="2020"/>
                </a:cubicBezTo>
                <a:cubicBezTo>
                  <a:pt x="14053" y="1762"/>
                  <a:pt x="16389" y="3483"/>
                  <a:pt x="16900" y="6000"/>
                </a:cubicBez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32" name="deploy.g.pubb.label"/>
          <p:cNvSpPr txBox="1"/>
          <p:nvPr/>
        </p:nvSpPr>
        <p:spPr>
          <a:xfrm>
            <a:off x="6951067" y="2003605"/>
            <a:ext cx="37640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Public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deploy.g.appb.tab"/>
          <p:cNvSpPr/>
          <p:nvPr/>
        </p:nvSpPr>
        <p:spPr>
          <a:xfrm>
            <a:off x="6649315" y="3279344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34" name="deploy.g.appb.frame"/>
          <p:cNvSpPr/>
          <p:nvPr/>
        </p:nvSpPr>
        <p:spPr>
          <a:xfrm>
            <a:off x="6649315" y="3279344"/>
            <a:ext cx="1829477" cy="1109716"/>
          </a:xfrm>
          <a:prstGeom prst="rect">
            <a:avLst/>
          </a:prstGeom>
          <a:noFill/>
          <a:ln w="15875">
            <a:solidFill>
              <a:srgbClr val="00A4A6"/>
            </a:solidFill>
          </a:ln>
          <a:effectLst/>
        </p:spPr>
        <p:txBody>
          <a:bodyPr/>
          <a:p/>
        </p:txBody>
      </p:sp>
      <p:sp>
        <p:nvSpPr>
          <p:cNvPr id="35" name="deploy.g.appb.tab.icon"/>
          <p:cNvSpPr/>
          <p:nvPr/>
        </p:nvSpPr>
        <p:spPr>
          <a:xfrm>
            <a:off x="6690463" y="3320492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36" name="deploy.g.appb.label"/>
          <p:cNvSpPr txBox="1"/>
          <p:nvPr/>
        </p:nvSpPr>
        <p:spPr>
          <a:xfrm>
            <a:off x="6951067" y="3329545"/>
            <a:ext cx="25223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deploy.g.datb.tab"/>
          <p:cNvSpPr/>
          <p:nvPr/>
        </p:nvSpPr>
        <p:spPr>
          <a:xfrm>
            <a:off x="6649315" y="4590105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38" name="deploy.g.datb.frame"/>
          <p:cNvSpPr/>
          <p:nvPr/>
        </p:nvSpPr>
        <p:spPr>
          <a:xfrm>
            <a:off x="6649315" y="4590105"/>
            <a:ext cx="1829477" cy="987735"/>
          </a:xfrm>
          <a:prstGeom prst="rect">
            <a:avLst/>
          </a:prstGeom>
          <a:noFill/>
          <a:ln w="15875">
            <a:solidFill>
              <a:srgbClr val="00A4A6"/>
            </a:solidFill>
          </a:ln>
          <a:effectLst/>
        </p:spPr>
        <p:txBody>
          <a:bodyPr/>
          <a:p/>
        </p:txBody>
      </p:sp>
      <p:sp>
        <p:nvSpPr>
          <p:cNvPr id="39" name="deploy.g.datb.tab.icon"/>
          <p:cNvSpPr/>
          <p:nvPr/>
        </p:nvSpPr>
        <p:spPr>
          <a:xfrm>
            <a:off x="6690463" y="463125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40" name="deploy.g.datb.label"/>
          <p:cNvSpPr txBox="1"/>
          <p:nvPr/>
        </p:nvSpPr>
        <p:spPr>
          <a:xfrm>
            <a:off x="6951067" y="4640306"/>
            <a:ext cx="29602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" name="state.deploy.span.svc.t"/>
          <p:cNvCxnSpPr/>
          <p:nvPr/>
        </p:nvCxnSpPr>
        <p:spPr>
          <a:xfrm>
            <a:off x="4060751" y="3571952"/>
            <a:ext cx="4372320" cy="0"/>
          </a:xfrm>
          <a:prstGeom prst="line">
            <a:avLst/>
          </a:prstGeom>
          <a:ln w="15875">
            <a:solidFill>
              <a:srgbClr val="ED7100"/>
            </a:solidFill>
            <a:prstDash val="dash"/>
          </a:ln>
          <a:effectLst/>
        </p:spPr>
      </p:cxnSp>
      <p:cxnSp>
        <p:nvCxnSpPr>
          <p:cNvPr id="42" name="state.deploy.span.svc.r"/>
          <p:cNvCxnSpPr/>
          <p:nvPr/>
        </p:nvCxnSpPr>
        <p:spPr>
          <a:xfrm>
            <a:off x="8433071" y="3571952"/>
            <a:ext cx="0" cy="771388"/>
          </a:xfrm>
          <a:prstGeom prst="line">
            <a:avLst/>
          </a:prstGeom>
          <a:ln w="15875">
            <a:solidFill>
              <a:srgbClr val="ED7100"/>
            </a:solidFill>
            <a:prstDash val="dash"/>
          </a:ln>
          <a:effectLst/>
        </p:spPr>
      </p:cxnSp>
      <p:cxnSp>
        <p:nvCxnSpPr>
          <p:cNvPr id="43" name="state.deploy.span.svc.b"/>
          <p:cNvCxnSpPr/>
          <p:nvPr/>
        </p:nvCxnSpPr>
        <p:spPr>
          <a:xfrm flipH="1">
            <a:off x="4060751" y="4343340"/>
            <a:ext cx="4372320" cy="0"/>
          </a:xfrm>
          <a:prstGeom prst="line">
            <a:avLst/>
          </a:prstGeom>
          <a:ln w="15875">
            <a:solidFill>
              <a:srgbClr val="ED7100"/>
            </a:solidFill>
            <a:prstDash val="dash"/>
          </a:ln>
          <a:effectLst/>
        </p:spPr>
      </p:cxnSp>
      <p:cxnSp>
        <p:nvCxnSpPr>
          <p:cNvPr id="44" name="state.deploy.span.svc.l"/>
          <p:cNvCxnSpPr/>
          <p:nvPr/>
        </p:nvCxnSpPr>
        <p:spPr>
          <a:xfrm flipV="1">
            <a:off x="4060751" y="3571952"/>
            <a:ext cx="0" cy="771388"/>
          </a:xfrm>
          <a:prstGeom prst="line">
            <a:avLst/>
          </a:prstGeom>
          <a:ln w="15875">
            <a:solidFill>
              <a:srgbClr val="ED7100"/>
            </a:solidFill>
            <a:prstDash val="dash"/>
          </a:ln>
          <a:effectLst/>
        </p:spPr>
      </p:cxnSp>
      <p:sp>
        <p:nvSpPr>
          <p:cNvPr id="45" name="deploy.g.svc.tab"/>
          <p:cNvSpPr/>
          <p:nvPr/>
        </p:nvSpPr>
        <p:spPr>
          <a:xfrm>
            <a:off x="4060751" y="3571952"/>
            <a:ext cx="182880" cy="182880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txBody>
          <a:bodyPr/>
          <a:p/>
        </p:txBody>
      </p:sp>
      <p:sp>
        <p:nvSpPr>
          <p:cNvPr id="46" name="deploy.g.svc.tab.icon"/>
          <p:cNvSpPr/>
          <p:nvPr/>
        </p:nvSpPr>
        <p:spPr>
          <a:xfrm>
            <a:off x="4088183" y="3599384"/>
            <a:ext cx="128016" cy="12801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7029"/>
                  <a:pt x="7029" y="3000"/>
                  <a:pt x="12000" y="3000"/>
                </a:cubicBezTo>
                <a:cubicBezTo>
                  <a:pt x="14516" y="3009"/>
                  <a:pt x="16931" y="3991"/>
                  <a:pt x="18740" y="5740"/>
                </a:cubicBezTo>
                <a:lnTo>
                  <a:pt x="21000" y="8000"/>
                </a:lnTo>
                <a:moveTo>
                  <a:pt x="21000" y="3000"/>
                </a:moveTo>
                <a:lnTo>
                  <a:pt x="21000" y="8000"/>
                </a:lnTo>
                <a:lnTo>
                  <a:pt x="16000" y="8000"/>
                </a:lnTo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9484" y="20991"/>
                  <a:pt x="7069" y="20009"/>
                  <a:pt x="5260" y="18260"/>
                </a:cubicBezTo>
                <a:lnTo>
                  <a:pt x="3000" y="16000"/>
                </a:lnTo>
                <a:moveTo>
                  <a:pt x="8000" y="16000"/>
                </a:moveTo>
                <a:lnTo>
                  <a:pt x="3000" y="16000"/>
                </a:lnTo>
                <a:lnTo>
                  <a:pt x="3000" y="21000"/>
                </a:lnTo>
              </a:path>
            </a:pathLst>
          </a:custGeom>
          <a:noFill/>
          <a:ln w="1079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47" name="deploy.g.svc.label"/>
          <p:cNvSpPr txBox="1"/>
          <p:nvPr/>
        </p:nvSpPr>
        <p:spPr>
          <a:xfrm>
            <a:off x="4307639" y="3603865"/>
            <a:ext cx="74164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ECS service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8" name="vendor.aws/network/nacl.deploy-g-nacla-pin" descr="NACL (vendor mark aws/network/nac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619" y="4635825"/>
            <a:ext cx="201168" cy="201168"/>
          </a:xfrm>
          <a:prstGeom prst="rect">
            <a:avLst/>
          </a:prstGeom>
          <a:effectLst/>
        </p:spPr>
      </p:pic>
      <p:sp>
        <p:nvSpPr>
          <p:cNvPr id="49" name="deploy.g.nacla.pin.label"/>
          <p:cNvSpPr txBox="1"/>
          <p:nvPr/>
        </p:nvSpPr>
        <p:spPr>
          <a:xfrm>
            <a:off x="5230993" y="4675373"/>
            <a:ext cx="330050" cy="1220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NACL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vendor.aws/network/nacl.deploy-g-naclb-pin" descr="NACL (vendor mark aws/network/nac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035" y="5330952"/>
            <a:ext cx="201168" cy="201168"/>
          </a:xfrm>
          <a:prstGeom prst="rect">
            <a:avLst/>
          </a:prstGeom>
          <a:effectLst/>
        </p:spPr>
      </p:pic>
      <p:sp>
        <p:nvSpPr>
          <p:cNvPr id="51" name="deploy.g.naclb.pin.label"/>
          <p:cNvSpPr txBox="1"/>
          <p:nvPr/>
        </p:nvSpPr>
        <p:spPr>
          <a:xfrm>
            <a:off x="6932779" y="5370500"/>
            <a:ext cx="330050" cy="1220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NACL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2" name="deploy.f.1"/>
          <p:cNvCxnSpPr/>
          <p:nvPr/>
        </p:nvCxnSpPr>
        <p:spPr>
          <a:xfrm>
            <a:off x="905256" y="4099347"/>
            <a:ext cx="658734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sp>
        <p:nvSpPr>
          <p:cNvPr id="53" name="deploy.f.2"/>
          <p:cNvSpPr/>
          <p:nvPr/>
        </p:nvSpPr>
        <p:spPr>
          <a:xfrm>
            <a:off x="905256" y="2224827"/>
            <a:ext cx="658734" cy="1755648"/>
          </a:xfrm>
          <a:custGeom>
            <a:avLst/>
            <a:gdLst/>
            <a:ahLst/>
            <a:cxnLst/>
            <a:rect l="l" t="t" r="r" b="b"/>
            <a:pathLst>
              <a:path w="658734" h="1755648" fill="none">
                <a:moveTo>
                  <a:pt x="0" y="1755648"/>
                </a:moveTo>
                <a:lnTo>
                  <a:pt x="205831" y="1755648"/>
                </a:lnTo>
                <a:lnTo>
                  <a:pt x="205831" y="0"/>
                </a:lnTo>
                <a:lnTo>
                  <a:pt x="658734" y="0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54" name="deploy.f.3"/>
          <p:cNvSpPr/>
          <p:nvPr/>
        </p:nvSpPr>
        <p:spPr>
          <a:xfrm>
            <a:off x="1636959" y="3093507"/>
            <a:ext cx="18471" cy="832104"/>
          </a:xfrm>
          <a:custGeom>
            <a:avLst/>
            <a:gdLst/>
            <a:ahLst/>
            <a:cxnLst/>
            <a:rect l="l" t="t" r="r" b="b"/>
            <a:pathLst>
              <a:path w="18471" h="832104" fill="none">
                <a:moveTo>
                  <a:pt x="0" y="0"/>
                </a:moveTo>
                <a:lnTo>
                  <a:pt x="18471" y="0"/>
                </a:lnTo>
                <a:lnTo>
                  <a:pt x="18471" y="832104"/>
                </a:lnTo>
              </a:path>
            </a:pathLst>
          </a:custGeom>
          <a:noFill/>
          <a:ln w="15875">
            <a:solidFill>
              <a:srgbClr val="232F3E"/>
            </a:solidFill>
            <a:prstDash val="sysDot"/>
            <a:miter lim="800000"/>
            <a:tailEnd type="arrow" w="med" len="sm"/>
          </a:ln>
          <a:effectLst/>
        </p:spPr>
        <p:txBody>
          <a:bodyPr/>
          <a:p/>
        </p:txBody>
      </p:sp>
      <p:cxnSp>
        <p:nvCxnSpPr>
          <p:cNvPr id="55" name="deploy.f.4"/>
          <p:cNvCxnSpPr/>
          <p:nvPr/>
        </p:nvCxnSpPr>
        <p:spPr>
          <a:xfrm>
            <a:off x="1911462" y="4099347"/>
            <a:ext cx="1060978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56" name="deploy.f.5"/>
          <p:cNvCxnSpPr/>
          <p:nvPr/>
        </p:nvCxnSpPr>
        <p:spPr>
          <a:xfrm>
            <a:off x="3319912" y="4099347"/>
            <a:ext cx="740847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57" name="deploy.f.6"/>
          <p:cNvCxnSpPr/>
          <p:nvPr/>
        </p:nvCxnSpPr>
        <p:spPr>
          <a:xfrm>
            <a:off x="4881250" y="4273083"/>
            <a:ext cx="0" cy="682782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58" name="deploy.f.7"/>
          <p:cNvCxnSpPr/>
          <p:nvPr/>
        </p:nvCxnSpPr>
        <p:spPr>
          <a:xfrm>
            <a:off x="7612563" y="4273083"/>
            <a:ext cx="0" cy="682782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59" name="deploy.f.8"/>
          <p:cNvCxnSpPr/>
          <p:nvPr/>
        </p:nvCxnSpPr>
        <p:spPr>
          <a:xfrm>
            <a:off x="5054986" y="5129601"/>
            <a:ext cx="2383841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60" name="deploy.f.9"/>
          <p:cNvCxnSpPr/>
          <p:nvPr/>
        </p:nvCxnSpPr>
        <p:spPr>
          <a:xfrm flipV="1">
            <a:off x="4881250" y="2666665"/>
            <a:ext cx="0" cy="905256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61" name="deploy.f.10"/>
          <p:cNvCxnSpPr/>
          <p:nvPr/>
        </p:nvCxnSpPr>
        <p:spPr>
          <a:xfrm flipV="1">
            <a:off x="7612563" y="2666665"/>
            <a:ext cx="0" cy="905256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62" name="deploy.f.11"/>
          <p:cNvCxnSpPr/>
          <p:nvPr/>
        </p:nvCxnSpPr>
        <p:spPr>
          <a:xfrm>
            <a:off x="5054986" y="2492929"/>
            <a:ext cx="202723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63" name="deploy.f.12"/>
          <p:cNvCxnSpPr/>
          <p:nvPr/>
        </p:nvCxnSpPr>
        <p:spPr>
          <a:xfrm flipH="1">
            <a:off x="7236104" y="2492929"/>
            <a:ext cx="202723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sp>
        <p:nvSpPr>
          <p:cNvPr id="64" name="deploy.f.13"/>
          <p:cNvSpPr/>
          <p:nvPr/>
        </p:nvSpPr>
        <p:spPr>
          <a:xfrm>
            <a:off x="5605181" y="1544422"/>
            <a:ext cx="641725" cy="948507"/>
          </a:xfrm>
          <a:custGeom>
            <a:avLst/>
            <a:gdLst/>
            <a:ahLst/>
            <a:cxnLst/>
            <a:rect l="l" t="t" r="r" b="b"/>
            <a:pathLst>
              <a:path w="641725" h="948507" fill="none">
                <a:moveTo>
                  <a:pt x="0" y="948507"/>
                </a:moveTo>
                <a:lnTo>
                  <a:pt x="641725" y="948507"/>
                </a:lnTo>
                <a:lnTo>
                  <a:pt x="641725" y="0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65" name="deploy.f.14"/>
          <p:cNvSpPr/>
          <p:nvPr/>
        </p:nvSpPr>
        <p:spPr>
          <a:xfrm>
            <a:off x="6420642" y="1490472"/>
            <a:ext cx="467990" cy="1002457"/>
          </a:xfrm>
          <a:custGeom>
            <a:avLst/>
            <a:gdLst/>
            <a:ahLst/>
            <a:cxnLst/>
            <a:rect l="l" t="t" r="r" b="b"/>
            <a:pathLst>
              <a:path w="467990" h="1002457" fill="none">
                <a:moveTo>
                  <a:pt x="467990" y="1002457"/>
                </a:moveTo>
                <a:lnTo>
                  <a:pt x="160112" y="1002457"/>
                </a:lnTo>
                <a:lnTo>
                  <a:pt x="160112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66" name="deploy.f.15"/>
          <p:cNvSpPr/>
          <p:nvPr/>
        </p:nvSpPr>
        <p:spPr>
          <a:xfrm>
            <a:off x="6246906" y="742036"/>
            <a:ext cx="5176876" cy="456742"/>
          </a:xfrm>
          <a:custGeom>
            <a:avLst/>
            <a:gdLst/>
            <a:ahLst/>
            <a:cxnLst/>
            <a:rect l="l" t="t" r="r" b="b"/>
            <a:pathLst>
              <a:path w="5176876" h="456742" fill="none">
                <a:moveTo>
                  <a:pt x="0" y="456742"/>
                </a:moveTo>
                <a:lnTo>
                  <a:pt x="0" y="0"/>
                </a:lnTo>
                <a:lnTo>
                  <a:pt x="5176876" y="0"/>
                </a:lnTo>
                <a:lnTo>
                  <a:pt x="5176876" y="164592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cxnSp>
        <p:nvCxnSpPr>
          <p:cNvPr id="67" name="deploy.f.16"/>
          <p:cNvCxnSpPr/>
          <p:nvPr/>
        </p:nvCxnSpPr>
        <p:spPr>
          <a:xfrm>
            <a:off x="7786299" y="4099347"/>
            <a:ext cx="948507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sp>
        <p:nvSpPr>
          <p:cNvPr id="68" name="deploy.f.17"/>
          <p:cNvSpPr/>
          <p:nvPr/>
        </p:nvSpPr>
        <p:spPr>
          <a:xfrm>
            <a:off x="7786299" y="4099347"/>
            <a:ext cx="948507" cy="1030254"/>
          </a:xfrm>
          <a:custGeom>
            <a:avLst/>
            <a:gdLst/>
            <a:ahLst/>
            <a:cxnLst/>
            <a:rect l="l" t="t" r="r" b="b"/>
            <a:pathLst>
              <a:path w="948507" h="1030254" fill="none">
                <a:moveTo>
                  <a:pt x="0" y="0"/>
                </a:moveTo>
                <a:lnTo>
                  <a:pt x="557601" y="0"/>
                </a:lnTo>
                <a:lnTo>
                  <a:pt x="557601" y="1030254"/>
                </a:lnTo>
                <a:lnTo>
                  <a:pt x="948507" y="1030254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cxnSp>
        <p:nvCxnSpPr>
          <p:cNvPr id="69" name="deploy.f.18"/>
          <p:cNvCxnSpPr/>
          <p:nvPr/>
        </p:nvCxnSpPr>
        <p:spPr>
          <a:xfrm>
            <a:off x="9082278" y="4099347"/>
            <a:ext cx="1051926" cy="0"/>
          </a:xfrm>
          <a:prstGeom prst="line">
            <a:avLst/>
          </a:prstGeom>
          <a:ln w="15875">
            <a:solidFill>
              <a:srgbClr val="232F3E"/>
            </a:solidFill>
            <a:prstDash val="sysDashDot"/>
            <a:tailEnd type="arrow" w="med" len="sm"/>
          </a:ln>
          <a:effectLst/>
        </p:spPr>
      </p:cxnSp>
      <p:cxnSp>
        <p:nvCxnSpPr>
          <p:cNvPr id="70" name="deploy.f.19"/>
          <p:cNvCxnSpPr/>
          <p:nvPr/>
        </p:nvCxnSpPr>
        <p:spPr>
          <a:xfrm>
            <a:off x="9082278" y="5129601"/>
            <a:ext cx="1051926" cy="0"/>
          </a:xfrm>
          <a:prstGeom prst="line">
            <a:avLst/>
          </a:prstGeom>
          <a:ln w="15875">
            <a:solidFill>
              <a:srgbClr val="232F3E"/>
            </a:solidFill>
            <a:prstDash val="sysDashDot"/>
            <a:tailEnd type="arrow" w="med" len="sm"/>
          </a:ln>
          <a:effectLst/>
        </p:spPr>
      </p:cxnSp>
      <p:cxnSp>
        <p:nvCxnSpPr>
          <p:cNvPr id="71" name="deploy.f.20"/>
          <p:cNvCxnSpPr/>
          <p:nvPr/>
        </p:nvCxnSpPr>
        <p:spPr>
          <a:xfrm flipH="1">
            <a:off x="905256" y="5129601"/>
            <a:ext cx="3802258" cy="0"/>
          </a:xfrm>
          <a:prstGeom prst="line">
            <a:avLst/>
          </a:prstGeom>
          <a:ln w="12700">
            <a:solidFill>
              <a:srgbClr val="232F3E"/>
            </a:solidFill>
            <a:prstDash val="dashDot"/>
            <a:tailEnd type="arrow" w="med" len="sm"/>
          </a:ln>
          <a:effectLst/>
        </p:spPr>
      </p:cxnSp>
      <p:pic>
        <p:nvPicPr>
          <p:cNvPr id="72" name="vendor.aws/general/users.deploy-n-reps" descr="Field reps (vendor mark aws/general/users)"/>
          <p:cNvPicPr>
            <a:picLocks noChangeAspect="1"/>
          </p:cNvPicPr>
          <p:nvPr/>
        </p:nvPicPr>
        <p:blipFill>
          <a:blip r:embed="rId4"/>
          <a:srcRect l="3000" t="3000" r="3000" b="3000"/>
          <a:stretch>
            <a:fillRect/>
          </a:stretch>
        </p:blipFill>
        <p:spPr>
          <a:xfrm>
            <a:off x="557784" y="3925642"/>
            <a:ext cx="347472" cy="347472"/>
          </a:xfrm>
          <a:prstGeom prst="rect">
            <a:avLst/>
          </a:prstGeom>
          <a:effectLst/>
        </p:spPr>
      </p:pic>
      <p:sp>
        <p:nvSpPr>
          <p:cNvPr id="73" name="deploy.n.reps.caption"/>
          <p:cNvSpPr txBox="1"/>
          <p:nvPr/>
        </p:nvSpPr>
        <p:spPr>
          <a:xfrm>
            <a:off x="557784" y="4318834"/>
            <a:ext cx="303581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reps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4" name="vendor.aws/general/internet-alt1.deploy-n-open" descr="Open internet (vendor mark aws/general/internet-alt1)"/>
          <p:cNvPicPr>
            <a:picLocks noChangeAspect="1"/>
          </p:cNvPicPr>
          <p:nvPr/>
        </p:nvPicPr>
        <p:blipFill>
          <a:blip r:embed="rId5"/>
          <a:srcRect l="2734" t="3906" r="2734" b="3906"/>
          <a:stretch>
            <a:fillRect/>
          </a:stretch>
        </p:blipFill>
        <p:spPr>
          <a:xfrm>
            <a:off x="557784" y="4960173"/>
            <a:ext cx="347472" cy="338857"/>
          </a:xfrm>
          <a:prstGeom prst="rect">
            <a:avLst/>
          </a:prstGeom>
          <a:effectLst/>
        </p:spPr>
      </p:pic>
      <p:sp>
        <p:nvSpPr>
          <p:cNvPr id="75" name="deploy.n.open.caption"/>
          <p:cNvSpPr txBox="1"/>
          <p:nvPr/>
        </p:nvSpPr>
        <p:spPr>
          <a:xfrm>
            <a:off x="557784" y="5349057"/>
            <a:ext cx="457200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 internet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mark.langfuse-icon.deploy-n-langfuse" descr="Langfuse (brand mark langfuse-icon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0547" t="25391" r="10547" b="25391"/>
          <a:stretch>
            <a:fillRect/>
          </a:stretch>
        </p:blipFill>
        <p:spPr>
          <a:xfrm>
            <a:off x="11250067" y="906614"/>
            <a:ext cx="347472" cy="216740"/>
          </a:xfrm>
          <a:prstGeom prst="rect">
            <a:avLst/>
          </a:prstGeom>
          <a:effectLst/>
        </p:spPr>
      </p:pic>
      <p:sp>
        <p:nvSpPr>
          <p:cNvPr id="77" name="deploy.n.langfuse.caption"/>
          <p:cNvSpPr txBox="1"/>
          <p:nvPr/>
        </p:nvSpPr>
        <p:spPr>
          <a:xfrm>
            <a:off x="11149382" y="1234440"/>
            <a:ext cx="54884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Langfuse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traces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8" name="vendor.aws/network/route-53.deploy-n-r53" descr="Route 53 (vendor mark aws/network/route-53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3968" y="2051122"/>
            <a:ext cx="347472" cy="347472"/>
          </a:xfrm>
          <a:prstGeom prst="rect">
            <a:avLst/>
          </a:prstGeom>
          <a:effectLst/>
        </p:spPr>
      </p:pic>
      <p:sp>
        <p:nvSpPr>
          <p:cNvPr id="79" name="deploy.n.r53.caption"/>
          <p:cNvSpPr txBox="1"/>
          <p:nvPr/>
        </p:nvSpPr>
        <p:spPr>
          <a:xfrm>
            <a:off x="1461555" y="2444314"/>
            <a:ext cx="55229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Route 53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DNS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0" name="vendor.aws/security/waf.deploy-n-waf" descr="AWS WAF (vendor mark aws/security/waf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9501" y="2919802"/>
            <a:ext cx="347472" cy="347472"/>
          </a:xfrm>
          <a:prstGeom prst="rect">
            <a:avLst/>
          </a:prstGeom>
          <a:effectLst/>
        </p:spPr>
      </p:pic>
      <p:sp>
        <p:nvSpPr>
          <p:cNvPr id="81" name="deploy.n.waf.caption"/>
          <p:cNvSpPr txBox="1"/>
          <p:nvPr/>
        </p:nvSpPr>
        <p:spPr>
          <a:xfrm>
            <a:off x="1691837" y="2895296"/>
            <a:ext cx="492862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WAF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web ACL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vendor.aws/network/cloudfront.deploy-n-cdn" descr="CloudFront (vendor mark aws/network/cloudfront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3968" y="3925642"/>
            <a:ext cx="347472" cy="347472"/>
          </a:xfrm>
          <a:prstGeom prst="rect">
            <a:avLst/>
          </a:prstGeom>
          <a:effectLst/>
        </p:spPr>
      </p:pic>
      <p:sp>
        <p:nvSpPr>
          <p:cNvPr id="83" name="deploy.n.cdn.caption"/>
          <p:cNvSpPr txBox="1"/>
          <p:nvPr/>
        </p:nvSpPr>
        <p:spPr>
          <a:xfrm>
            <a:off x="1403034" y="4318834"/>
            <a:ext cx="66934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CloudFront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4" name="vendor.aws/network/network-firewall.deploy-n-fwa" descr="Network Firewall (vendor mark aws/network/network-firewall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7530" y="2319165"/>
            <a:ext cx="347472" cy="347472"/>
          </a:xfrm>
          <a:prstGeom prst="rect">
            <a:avLst/>
          </a:prstGeom>
          <a:effectLst/>
        </p:spPr>
      </p:pic>
      <p:sp>
        <p:nvSpPr>
          <p:cNvPr id="85" name="deploy.n.fwa.caption"/>
          <p:cNvSpPr txBox="1"/>
          <p:nvPr/>
        </p:nvSpPr>
        <p:spPr>
          <a:xfrm>
            <a:off x="4161335" y="2355649"/>
            <a:ext cx="491331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Network Firewall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vendor.aws/network/nat-gateway.deploy-n-nata" descr="NAT gateway (vendor mark aws/network/nat-gateway)"/>
          <p:cNvPicPr>
            <a:picLocks noChangeAspect="1"/>
          </p:cNvPicPr>
          <p:nvPr/>
        </p:nvPicPr>
        <p:blipFill>
          <a:blip r:embed="rId12"/>
          <a:srcRect l="3000" t="3000" r="2500" b="3000"/>
          <a:stretch>
            <a:fillRect/>
          </a:stretch>
        </p:blipFill>
        <p:spPr>
          <a:xfrm>
            <a:off x="5257730" y="2320084"/>
            <a:ext cx="347472" cy="345634"/>
          </a:xfrm>
          <a:prstGeom prst="rect">
            <a:avLst/>
          </a:prstGeom>
          <a:effectLst/>
        </p:spPr>
      </p:pic>
      <p:sp>
        <p:nvSpPr>
          <p:cNvPr id="87" name="deploy.n.nata.caption"/>
          <p:cNvSpPr txBox="1"/>
          <p:nvPr/>
        </p:nvSpPr>
        <p:spPr>
          <a:xfrm>
            <a:off x="5177263" y="2712357"/>
            <a:ext cx="508406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NAT gateway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" name="vendor.aws/compute/fargate.deploy-n-taska" descr="2 agent tasks (vendor mark aws/compute/fargat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7530" y="3925642"/>
            <a:ext cx="347472" cy="347472"/>
          </a:xfrm>
          <a:prstGeom prst="rect">
            <a:avLst/>
          </a:prstGeom>
          <a:effectLst/>
        </p:spPr>
      </p:pic>
      <p:sp>
        <p:nvSpPr>
          <p:cNvPr id="89" name="deploy.n.taska.caption"/>
          <p:cNvSpPr txBox="1"/>
          <p:nvPr/>
        </p:nvSpPr>
        <p:spPr>
          <a:xfrm>
            <a:off x="4195466" y="3901136"/>
            <a:ext cx="457200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 agent tasks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Fargate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vendor.aws/network/network-firewall.deploy-n-fwb" descr="Network Firewall (vendor mark aws/network/network-firewall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8821" y="2319165"/>
            <a:ext cx="347472" cy="347472"/>
          </a:xfrm>
          <a:prstGeom prst="rect">
            <a:avLst/>
          </a:prstGeom>
          <a:effectLst/>
        </p:spPr>
      </p:pic>
      <p:sp>
        <p:nvSpPr>
          <p:cNvPr id="91" name="deploy.n.fwb.caption"/>
          <p:cNvSpPr txBox="1"/>
          <p:nvPr/>
        </p:nvSpPr>
        <p:spPr>
          <a:xfrm>
            <a:off x="7841157" y="2355649"/>
            <a:ext cx="491331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Network Firewall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2" name="vendor.aws/network/nat-gateway.deploy-n-natb" descr="NAT gateway (vendor mark aws/network/nat-gateway)"/>
          <p:cNvPicPr>
            <a:picLocks noChangeAspect="1"/>
          </p:cNvPicPr>
          <p:nvPr/>
        </p:nvPicPr>
        <p:blipFill>
          <a:blip r:embed="rId12"/>
          <a:srcRect l="3000" t="3000" r="2500" b="3000"/>
          <a:stretch>
            <a:fillRect/>
          </a:stretch>
        </p:blipFill>
        <p:spPr>
          <a:xfrm>
            <a:off x="6888620" y="2320084"/>
            <a:ext cx="347472" cy="345634"/>
          </a:xfrm>
          <a:prstGeom prst="rect">
            <a:avLst/>
          </a:prstGeom>
          <a:effectLst/>
        </p:spPr>
      </p:pic>
      <p:sp>
        <p:nvSpPr>
          <p:cNvPr id="93" name="deploy.n.natb.caption"/>
          <p:cNvSpPr txBox="1"/>
          <p:nvPr/>
        </p:nvSpPr>
        <p:spPr>
          <a:xfrm>
            <a:off x="6808152" y="2712357"/>
            <a:ext cx="508406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NAT gateway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4" name="vendor.aws/compute/fargate.deploy-n-taskb" descr="2 agent tasks (vendor mark aws/compute/fargat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8821" y="3925642"/>
            <a:ext cx="347472" cy="347472"/>
          </a:xfrm>
          <a:prstGeom prst="rect">
            <a:avLst/>
          </a:prstGeom>
          <a:effectLst/>
        </p:spPr>
      </p:pic>
      <p:sp>
        <p:nvSpPr>
          <p:cNvPr id="95" name="deploy.n.taskb.caption"/>
          <p:cNvSpPr txBox="1"/>
          <p:nvPr/>
        </p:nvSpPr>
        <p:spPr>
          <a:xfrm>
            <a:off x="6926757" y="3901136"/>
            <a:ext cx="457200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 agent tasks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Fargate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6" name="vendor.aws/database/aurora.deploy-n-writer" descr="Aurora writer (vendor mark aws/database/aurora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7530" y="4955865"/>
            <a:ext cx="347472" cy="347472"/>
          </a:xfrm>
          <a:prstGeom prst="rect">
            <a:avLst/>
          </a:prstGeom>
          <a:effectLst/>
        </p:spPr>
      </p:pic>
      <p:sp>
        <p:nvSpPr>
          <p:cNvPr id="97" name="deploy.n.writer.caption"/>
          <p:cNvSpPr txBox="1"/>
          <p:nvPr/>
        </p:nvSpPr>
        <p:spPr>
          <a:xfrm>
            <a:off x="4495389" y="5349057"/>
            <a:ext cx="77175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Aurora writer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8" name="vendor.aws/database/aurora.deploy-n-reader" descr="Aurora reader (vendor mark aws/database/aurora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38821" y="4955865"/>
            <a:ext cx="347472" cy="347472"/>
          </a:xfrm>
          <a:prstGeom prst="rect">
            <a:avLst/>
          </a:prstGeom>
          <a:effectLst/>
        </p:spPr>
      </p:pic>
      <p:sp>
        <p:nvSpPr>
          <p:cNvPr id="99" name="deploy.n.reader.caption"/>
          <p:cNvSpPr txBox="1"/>
          <p:nvPr/>
        </p:nvSpPr>
        <p:spPr>
          <a:xfrm>
            <a:off x="7197419" y="5349057"/>
            <a:ext cx="83027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Aurora reader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0" name="vendor.aws/network/internet-gateway.deploy-n-igw" descr="Internet gateway (vendor mark aws/network/internet-gateway)"/>
          <p:cNvPicPr>
            <a:picLocks noChangeAspect="1"/>
          </p:cNvPicPr>
          <p:nvPr/>
        </p:nvPicPr>
        <p:blipFill>
          <a:blip r:embed="rId15"/>
          <a:srcRect l="3000" t="3000" r="2500" b="3000"/>
          <a:stretch>
            <a:fillRect/>
          </a:stretch>
        </p:blipFill>
        <p:spPr>
          <a:xfrm>
            <a:off x="6073175" y="1198783"/>
            <a:ext cx="347472" cy="345634"/>
          </a:xfrm>
          <a:prstGeom prst="rect">
            <a:avLst/>
          </a:prstGeom>
          <a:effectLst/>
        </p:spPr>
      </p:pic>
      <p:sp>
        <p:nvSpPr>
          <p:cNvPr id="101" name="deploy.n.igw.caption"/>
          <p:cNvSpPr txBox="1"/>
          <p:nvPr/>
        </p:nvSpPr>
        <p:spPr>
          <a:xfrm>
            <a:off x="6466367" y="1060521"/>
            <a:ext cx="502920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Internet gateway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" name="vendor.aws/network/elb-application-load-balancer.deploy-n-alb" descr="Load balancer (vendor mark aws/network/elb-application-load-balancer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72479" y="3925642"/>
            <a:ext cx="347472" cy="347472"/>
          </a:xfrm>
          <a:prstGeom prst="rect">
            <a:avLst/>
          </a:prstGeom>
          <a:effectLst/>
        </p:spPr>
      </p:pic>
      <p:sp>
        <p:nvSpPr>
          <p:cNvPr id="103" name="deploy.n.alb.caption"/>
          <p:cNvSpPr txBox="1"/>
          <p:nvPr/>
        </p:nvSpPr>
        <p:spPr>
          <a:xfrm>
            <a:off x="2577459" y="3483438"/>
            <a:ext cx="523037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Load balancer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ALB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4" name="vendor.aws/network/endpoint.deploy-n-brep" descr="Bedrock endpoint (vendor mark aws/network/endpoint)"/>
          <p:cNvPicPr>
            <a:picLocks noChangeAspect="1"/>
          </p:cNvPicPr>
          <p:nvPr/>
        </p:nvPicPr>
        <p:blipFill>
          <a:blip r:embed="rId17"/>
          <a:srcRect l="3000" t="3000" r="2500" b="3000"/>
          <a:stretch>
            <a:fillRect/>
          </a:stretch>
        </p:blipFill>
        <p:spPr>
          <a:xfrm>
            <a:off x="8734823" y="3926562"/>
            <a:ext cx="347472" cy="345634"/>
          </a:xfrm>
          <a:prstGeom prst="rect">
            <a:avLst/>
          </a:prstGeom>
          <a:effectLst/>
        </p:spPr>
      </p:pic>
      <p:sp>
        <p:nvSpPr>
          <p:cNvPr id="105" name="deploy.n.brep.caption"/>
          <p:cNvSpPr txBox="1"/>
          <p:nvPr/>
        </p:nvSpPr>
        <p:spPr>
          <a:xfrm>
            <a:off x="8954279" y="3605419"/>
            <a:ext cx="523037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Bedrock endpoint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6" name="vendor.aws/network/endpoint.deploy-n-s3ep" descr="S3 endpoint (vendor mark aws/network/endpoint)"/>
          <p:cNvPicPr>
            <a:picLocks noChangeAspect="1"/>
          </p:cNvPicPr>
          <p:nvPr/>
        </p:nvPicPr>
        <p:blipFill>
          <a:blip r:embed="rId17"/>
          <a:srcRect l="3000" t="3000" r="2500" b="3000"/>
          <a:stretch>
            <a:fillRect/>
          </a:stretch>
        </p:blipFill>
        <p:spPr>
          <a:xfrm>
            <a:off x="8734823" y="4956784"/>
            <a:ext cx="347472" cy="345634"/>
          </a:xfrm>
          <a:prstGeom prst="rect">
            <a:avLst/>
          </a:prstGeom>
          <a:effectLst/>
        </p:spPr>
      </p:pic>
      <p:sp>
        <p:nvSpPr>
          <p:cNvPr id="107" name="deploy.n.s3ep.caption"/>
          <p:cNvSpPr txBox="1"/>
          <p:nvPr/>
        </p:nvSpPr>
        <p:spPr>
          <a:xfrm>
            <a:off x="8954279" y="5349057"/>
            <a:ext cx="523037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S3 endpoint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gateway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" name="vendor.aws/security/key-management-service.deploy-n-kms" descr="AWS KMS (vendor mark aws/security/key-management-service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52519" y="1757969"/>
            <a:ext cx="310896" cy="310896"/>
          </a:xfrm>
          <a:prstGeom prst="rect">
            <a:avLst/>
          </a:prstGeom>
          <a:effectLst/>
        </p:spPr>
      </p:pic>
      <p:sp>
        <p:nvSpPr>
          <p:cNvPr id="109" name="deploy.n.kms.caption"/>
          <p:cNvSpPr txBox="1"/>
          <p:nvPr/>
        </p:nvSpPr>
        <p:spPr>
          <a:xfrm>
            <a:off x="9987927" y="2114585"/>
            <a:ext cx="64008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KMS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0" name="vendor.aws/security/secrets-manager.deploy-n-secrets" descr="Secrets (vendor mark aws/security/secrets-manager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52519" y="2334224"/>
            <a:ext cx="310896" cy="310896"/>
          </a:xfrm>
          <a:prstGeom prst="rect">
            <a:avLst/>
          </a:prstGeom>
          <a:effectLst/>
        </p:spPr>
      </p:pic>
      <p:sp>
        <p:nvSpPr>
          <p:cNvPr id="111" name="deploy.n.secrets.caption"/>
          <p:cNvSpPr txBox="1"/>
          <p:nvPr/>
        </p:nvSpPr>
        <p:spPr>
          <a:xfrm>
            <a:off x="10075709" y="2690840"/>
            <a:ext cx="46451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Secrets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2" name="vendor.aws/management/cloudwatch.deploy-n-watch" descr="CloudWatch (vendor mark aws/management/cloudwatch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52519" y="2910479"/>
            <a:ext cx="310896" cy="310896"/>
          </a:xfrm>
          <a:prstGeom prst="rect">
            <a:avLst/>
          </a:prstGeom>
          <a:effectLst/>
        </p:spPr>
      </p:pic>
      <p:sp>
        <p:nvSpPr>
          <p:cNvPr id="113" name="deploy.n.watch.caption"/>
          <p:cNvSpPr txBox="1"/>
          <p:nvPr/>
        </p:nvSpPr>
        <p:spPr>
          <a:xfrm>
            <a:off x="9942039" y="3267095"/>
            <a:ext cx="73185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CloudWatch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4" name="vendor.aws/ml/bedrock.deploy-n-bedrock" descr="Bedrock (vendor mark aws/ml/bedrock)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34231" y="3925642"/>
            <a:ext cx="347472" cy="347472"/>
          </a:xfrm>
          <a:prstGeom prst="rect">
            <a:avLst/>
          </a:prstGeom>
          <a:effectLst/>
        </p:spPr>
      </p:pic>
      <p:sp>
        <p:nvSpPr>
          <p:cNvPr id="115" name="deploy.n.bedrock.caption"/>
          <p:cNvSpPr txBox="1"/>
          <p:nvPr/>
        </p:nvSpPr>
        <p:spPr>
          <a:xfrm>
            <a:off x="9908831" y="4318834"/>
            <a:ext cx="79827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Bedrock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Claude models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6" name="vendor.aws/storage/simple-storage-service-s3.deploy-n-s3" descr="Amazon S3 (vendor mark aws/storage/simple-storage-service-s3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34231" y="4955865"/>
            <a:ext cx="347472" cy="347472"/>
          </a:xfrm>
          <a:prstGeom prst="rect">
            <a:avLst/>
          </a:prstGeom>
          <a:effectLst/>
        </p:spPr>
      </p:pic>
      <p:sp>
        <p:nvSpPr>
          <p:cNvPr id="117" name="deploy.n.s3.caption"/>
          <p:cNvSpPr txBox="1"/>
          <p:nvPr/>
        </p:nvSpPr>
        <p:spPr>
          <a:xfrm>
            <a:off x="9958666" y="5349057"/>
            <a:ext cx="69860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files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deploy.f.20.blocked.ground"/>
          <p:cNvSpPr/>
          <p:nvPr/>
        </p:nvSpPr>
        <p:spPr>
          <a:xfrm>
            <a:off x="1033272" y="5029017"/>
            <a:ext cx="201168" cy="20116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19" name="deploy.f.20.blocked.icon"/>
          <p:cNvSpPr/>
          <p:nvPr/>
        </p:nvSpPr>
        <p:spPr>
          <a:xfrm>
            <a:off x="1051560" y="5047305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4929" y="4929"/>
                </a:moveTo>
                <a:lnTo>
                  <a:pt x="19070" y="19071"/>
                </a:lnTo>
              </a:path>
            </a:pathLst>
          </a:custGeom>
          <a:noFill/>
          <a:ln w="1397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20" name="deploy.f.1.label"/>
          <p:cNvSpPr txBox="1"/>
          <p:nvPr/>
        </p:nvSpPr>
        <p:spPr>
          <a:xfrm>
            <a:off x="1011070" y="4126779"/>
            <a:ext cx="44710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HTTPS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deploy.f.2.label"/>
          <p:cNvSpPr txBox="1"/>
          <p:nvPr/>
        </p:nvSpPr>
        <p:spPr>
          <a:xfrm>
            <a:off x="763742" y="3032470"/>
            <a:ext cx="31077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DNS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deploy.f.3.label"/>
          <p:cNvSpPr txBox="1"/>
          <p:nvPr/>
        </p:nvSpPr>
        <p:spPr>
          <a:xfrm>
            <a:off x="1692006" y="3439378"/>
            <a:ext cx="31733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rules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deploy.f.4.label"/>
          <p:cNvSpPr txBox="1"/>
          <p:nvPr/>
        </p:nvSpPr>
        <p:spPr>
          <a:xfrm>
            <a:off x="2449900" y="3931554"/>
            <a:ext cx="349861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origin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deploy.f.5.label"/>
          <p:cNvSpPr txBox="1"/>
          <p:nvPr/>
        </p:nvSpPr>
        <p:spPr>
          <a:xfrm>
            <a:off x="3436891" y="3931554"/>
            <a:ext cx="32400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8080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deploy.f.6.label"/>
          <p:cNvSpPr txBox="1"/>
          <p:nvPr/>
        </p:nvSpPr>
        <p:spPr>
          <a:xfrm>
            <a:off x="4917826" y="4452854"/>
            <a:ext cx="57082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5432 TLS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deploy.f.7.label"/>
          <p:cNvSpPr txBox="1"/>
          <p:nvPr/>
        </p:nvSpPr>
        <p:spPr>
          <a:xfrm>
            <a:off x="7649139" y="4727174"/>
            <a:ext cx="35636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deploy.f.8.label"/>
          <p:cNvSpPr txBox="1"/>
          <p:nvPr/>
        </p:nvSpPr>
        <p:spPr>
          <a:xfrm>
            <a:off x="6042757" y="5157033"/>
            <a:ext cx="40829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replica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deploy.f.9.label"/>
          <p:cNvSpPr txBox="1"/>
          <p:nvPr/>
        </p:nvSpPr>
        <p:spPr>
          <a:xfrm>
            <a:off x="4429870" y="2866233"/>
            <a:ext cx="414804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egress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deploy.f.10.label"/>
          <p:cNvSpPr txBox="1"/>
          <p:nvPr/>
        </p:nvSpPr>
        <p:spPr>
          <a:xfrm>
            <a:off x="7649139" y="2866233"/>
            <a:ext cx="414804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egress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deploy.f.13.label"/>
          <p:cNvSpPr txBox="1"/>
          <p:nvPr/>
        </p:nvSpPr>
        <p:spPr>
          <a:xfrm>
            <a:off x="5951321" y="1582735"/>
            <a:ext cx="25900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443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deploy.f.14.label"/>
          <p:cNvSpPr txBox="1"/>
          <p:nvPr/>
        </p:nvSpPr>
        <p:spPr>
          <a:xfrm>
            <a:off x="6617330" y="1555760"/>
            <a:ext cx="25900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443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deploy.f.15.label"/>
          <p:cNvSpPr txBox="1"/>
          <p:nvPr/>
        </p:nvSpPr>
        <p:spPr>
          <a:xfrm>
            <a:off x="5470753" y="808787"/>
            <a:ext cx="73957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443 allow-list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deploy.f.16.label"/>
          <p:cNvSpPr txBox="1"/>
          <p:nvPr/>
        </p:nvSpPr>
        <p:spPr>
          <a:xfrm>
            <a:off x="7824759" y="3931554"/>
            <a:ext cx="50582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443 TLS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deploy.f.20.label"/>
          <p:cNvSpPr txBox="1"/>
          <p:nvPr/>
        </p:nvSpPr>
        <p:spPr>
          <a:xfrm>
            <a:off x="2559948" y="5157033"/>
            <a:ext cx="492873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 route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5" name="state.deploy.legend.key.data"/>
          <p:cNvCxnSpPr/>
          <p:nvPr/>
        </p:nvCxnSpPr>
        <p:spPr>
          <a:xfrm>
            <a:off x="502920" y="6140287"/>
            <a:ext cx="411480" cy="0"/>
          </a:xfrm>
          <a:prstGeom prst="line">
            <a:avLst/>
          </a:prstGeom>
          <a:ln w="15875">
            <a:solidFill>
              <a:srgbClr val="232F3E"/>
            </a:solidFill>
          </a:ln>
          <a:effectLst/>
        </p:spPr>
      </p:cxnSp>
      <p:sp>
        <p:nvSpPr>
          <p:cNvPr id="136" name="deploy.legend.key.data.text"/>
          <p:cNvSpPr txBox="1"/>
          <p:nvPr/>
        </p:nvSpPr>
        <p:spPr>
          <a:xfrm>
            <a:off x="1005840" y="6071616"/>
            <a:ext cx="97218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Request or data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7" name="state.deploy.legend.key.control"/>
          <p:cNvCxnSpPr/>
          <p:nvPr/>
        </p:nvCxnSpPr>
        <p:spPr>
          <a:xfrm>
            <a:off x="2252343" y="6140287"/>
            <a:ext cx="411480" cy="0"/>
          </a:xfrm>
          <a:prstGeom prst="line">
            <a:avLst/>
          </a:prstGeom>
          <a:ln w="15875">
            <a:solidFill>
              <a:srgbClr val="232F3E"/>
            </a:solidFill>
            <a:prstDash val="sysDot"/>
          </a:ln>
          <a:effectLst/>
        </p:spPr>
      </p:cxnSp>
      <p:sp>
        <p:nvSpPr>
          <p:cNvPr id="138" name="deploy.legend.key.control.text"/>
          <p:cNvSpPr txBox="1"/>
          <p:nvPr/>
        </p:nvSpPr>
        <p:spPr>
          <a:xfrm>
            <a:off x="2755263" y="6071616"/>
            <a:ext cx="140329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Control or configuration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9" name="state.deploy.legend.key.private"/>
          <p:cNvCxnSpPr/>
          <p:nvPr/>
        </p:nvCxnSpPr>
        <p:spPr>
          <a:xfrm>
            <a:off x="4432878" y="6140287"/>
            <a:ext cx="411480" cy="0"/>
          </a:xfrm>
          <a:prstGeom prst="line">
            <a:avLst/>
          </a:prstGeom>
          <a:ln w="15875">
            <a:solidFill>
              <a:srgbClr val="232F3E"/>
            </a:solidFill>
            <a:prstDash val="sysDashDot"/>
          </a:ln>
          <a:effectLst/>
        </p:spPr>
      </p:cxnSp>
      <p:sp>
        <p:nvSpPr>
          <p:cNvPr id="140" name="deploy.legend.key.private.text"/>
          <p:cNvSpPr txBox="1"/>
          <p:nvPr/>
        </p:nvSpPr>
        <p:spPr>
          <a:xfrm>
            <a:off x="4935798" y="6071616"/>
            <a:ext cx="67961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Private link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1" name="state.deploy.legend.key.blocked"/>
          <p:cNvCxnSpPr/>
          <p:nvPr/>
        </p:nvCxnSpPr>
        <p:spPr>
          <a:xfrm>
            <a:off x="5889735" y="6140287"/>
            <a:ext cx="411480" cy="0"/>
          </a:xfrm>
          <a:prstGeom prst="line">
            <a:avLst/>
          </a:prstGeom>
          <a:ln w="12700">
            <a:solidFill>
              <a:srgbClr val="232F3E"/>
            </a:solidFill>
            <a:prstDash val="dashDot"/>
          </a:ln>
          <a:effectLst/>
        </p:spPr>
      </p:cxnSp>
      <p:sp>
        <p:nvSpPr>
          <p:cNvPr id="142" name="state.deploy.legend.key.blocked.ban.ground"/>
          <p:cNvSpPr/>
          <p:nvPr/>
        </p:nvSpPr>
        <p:spPr>
          <a:xfrm>
            <a:off x="5994891" y="6039703"/>
            <a:ext cx="201168" cy="20116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43" name="state.deploy.legend.key.blocked.ban.icon"/>
          <p:cNvSpPr/>
          <p:nvPr/>
        </p:nvSpPr>
        <p:spPr>
          <a:xfrm>
            <a:off x="6013179" y="6057991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4929" y="4929"/>
                </a:moveTo>
                <a:lnTo>
                  <a:pt x="19070" y="19071"/>
                </a:lnTo>
              </a:path>
            </a:pathLst>
          </a:custGeom>
          <a:noFill/>
          <a:ln w="1397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44" name="deploy.legend.key.blocked.text"/>
          <p:cNvSpPr txBox="1"/>
          <p:nvPr/>
        </p:nvSpPr>
        <p:spPr>
          <a:xfrm>
            <a:off x="6392655" y="6071616"/>
            <a:ext cx="79678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Blocked path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arch-dfd">
    <p:spTree>
      <p:nvGrpSpPr>
        <p:cNvPr id="1" name=""/>
        <p:cNvGrpSpPr/>
        <p:nvPr/>
      </p:nvGrpSpPr>
      <p:grpSpPr/>
      <p:sp>
        <p:nvSpPr>
          <p:cNvPr id="2" name="dfd.bound.acct"/>
          <p:cNvSpPr/>
          <p:nvPr/>
        </p:nvSpPr>
        <p:spPr>
          <a:xfrm>
            <a:off x="2112694" y="832104"/>
            <a:ext cx="7756226" cy="4875095"/>
          </a:xfrm>
          <a:prstGeom prst="rect">
            <a:avLst/>
          </a:prstGeom>
          <a:noFill/>
          <a:ln w="15875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3" name="dfd.bound.zone"/>
          <p:cNvSpPr/>
          <p:nvPr/>
        </p:nvSpPr>
        <p:spPr>
          <a:xfrm>
            <a:off x="4225487" y="2712720"/>
            <a:ext cx="5497129" cy="2875607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4" name="dfd.node.web"/>
          <p:cNvSpPr/>
          <p:nvPr/>
        </p:nvSpPr>
        <p:spPr>
          <a:xfrm>
            <a:off x="594575" y="1360932"/>
            <a:ext cx="132588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dfd.node.web.mark.icon"/>
          <p:cNvSpPr/>
          <p:nvPr/>
        </p:nvSpPr>
        <p:spPr>
          <a:xfrm>
            <a:off x="667727" y="1534668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2000"/>
                </a:moveTo>
                <a:cubicBezTo>
                  <a:pt x="6667" y="7600"/>
                  <a:pt x="6667" y="16400"/>
                  <a:pt x="12000" y="22000"/>
                </a:cubicBezTo>
                <a:cubicBezTo>
                  <a:pt x="17333" y="16400"/>
                  <a:pt x="17333" y="7600"/>
                  <a:pt x="12000" y="2000"/>
                </a:cubicBezTo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1841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6" name="dfd.node.web.text"/>
          <p:cNvSpPr txBox="1"/>
          <p:nvPr/>
        </p:nvSpPr>
        <p:spPr>
          <a:xfrm>
            <a:off x="942047" y="1406652"/>
            <a:ext cx="905256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Public web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press, trials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dfd.node.bedrock"/>
          <p:cNvSpPr/>
          <p:nvPr/>
        </p:nvSpPr>
        <p:spPr>
          <a:xfrm>
            <a:off x="6612969" y="1360932"/>
            <a:ext cx="150876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pic>
        <p:nvPicPr>
          <p:cNvPr id="8" name="vendor.aws/ml/bedrock.dfd-node-bedrock-mark" descr="Amazon Bedrock (vendor mark aws/ml/bedrock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121" y="1534668"/>
            <a:ext cx="219456" cy="219456"/>
          </a:xfrm>
          <a:prstGeom prst="rect">
            <a:avLst/>
          </a:prstGeom>
          <a:effectLst/>
        </p:spPr>
      </p:pic>
      <p:sp>
        <p:nvSpPr>
          <p:cNvPr id="9" name="dfd.node.bedrock.text"/>
          <p:cNvSpPr txBox="1"/>
          <p:nvPr/>
        </p:nvSpPr>
        <p:spPr>
          <a:xfrm>
            <a:off x="6960441" y="1406652"/>
            <a:ext cx="1088136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Amazon Bedrock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Claude models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dfd.node.reviewer"/>
          <p:cNvSpPr/>
          <p:nvPr/>
        </p:nvSpPr>
        <p:spPr>
          <a:xfrm>
            <a:off x="10198356" y="4984731"/>
            <a:ext cx="132588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1" name="dfd.node.reviewer.mark.icon"/>
          <p:cNvSpPr/>
          <p:nvPr/>
        </p:nvSpPr>
        <p:spPr>
          <a:xfrm>
            <a:off x="10271508" y="515846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841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2" name="dfd.node.reviewer.text"/>
          <p:cNvSpPr txBox="1"/>
          <p:nvPr/>
        </p:nvSpPr>
        <p:spPr>
          <a:xfrm>
            <a:off x="10545828" y="5030451"/>
            <a:ext cx="905256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reviewer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approves claims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dfd.node.app"/>
          <p:cNvSpPr/>
          <p:nvPr/>
        </p:nvSpPr>
        <p:spPr>
          <a:xfrm>
            <a:off x="10198356" y="3250419"/>
            <a:ext cx="1325880" cy="566928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14" name="dfd.node.app.text"/>
          <p:cNvSpPr txBox="1"/>
          <p:nvPr/>
        </p:nvSpPr>
        <p:spPr>
          <a:xfrm>
            <a:off x="10271508" y="3296139"/>
            <a:ext cx="1179576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Field app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existing · out of scope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dfd.node.collect"/>
          <p:cNvSpPr/>
          <p:nvPr/>
        </p:nvSpPr>
        <p:spPr>
          <a:xfrm>
            <a:off x="2423854" y="3232131"/>
            <a:ext cx="1234440" cy="603504"/>
          </a:xfrm>
          <a:prstGeom prst="roundRect">
            <a:avLst>
              <a:gd name="adj" fmla="val 7575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cxnSp>
        <p:nvCxnSpPr>
          <p:cNvPr id="16" name="dfd.node.collect.rule"/>
          <p:cNvCxnSpPr/>
          <p:nvPr/>
        </p:nvCxnSpPr>
        <p:spPr>
          <a:xfrm>
            <a:off x="2423854" y="3433299"/>
            <a:ext cx="123444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7" name="dfd.node.collect.id"/>
          <p:cNvSpPr txBox="1"/>
          <p:nvPr/>
        </p:nvSpPr>
        <p:spPr>
          <a:xfrm>
            <a:off x="2497006" y="3273279"/>
            <a:ext cx="1088136" cy="1508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  AWS Lambda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dfd.node.collect.text"/>
          <p:cNvSpPr txBox="1"/>
          <p:nvPr/>
        </p:nvSpPr>
        <p:spPr>
          <a:xfrm>
            <a:off x="2497006" y="3479019"/>
            <a:ext cx="1088136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Collect signals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dfd.node.index"/>
          <p:cNvSpPr/>
          <p:nvPr/>
        </p:nvSpPr>
        <p:spPr>
          <a:xfrm>
            <a:off x="4390343" y="3232131"/>
            <a:ext cx="1234440" cy="603504"/>
          </a:xfrm>
          <a:prstGeom prst="roundRect">
            <a:avLst>
              <a:gd name="adj" fmla="val 7575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cxnSp>
        <p:nvCxnSpPr>
          <p:cNvPr id="20" name="dfd.node.index.rule"/>
          <p:cNvCxnSpPr/>
          <p:nvPr/>
        </p:nvCxnSpPr>
        <p:spPr>
          <a:xfrm>
            <a:off x="4390343" y="3433299"/>
            <a:ext cx="123444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1" name="dfd.node.index.id"/>
          <p:cNvSpPr txBox="1"/>
          <p:nvPr/>
        </p:nvSpPr>
        <p:spPr>
          <a:xfrm>
            <a:off x="4463495" y="3273279"/>
            <a:ext cx="1088136" cy="1508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  Scan agent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dfd.node.index.text"/>
          <p:cNvSpPr txBox="1"/>
          <p:nvPr/>
        </p:nvSpPr>
        <p:spPr>
          <a:xfrm>
            <a:off x="4463495" y="3479019"/>
            <a:ext cx="1088136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Index claims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dfd.node.draft"/>
          <p:cNvSpPr/>
          <p:nvPr/>
        </p:nvSpPr>
        <p:spPr>
          <a:xfrm>
            <a:off x="6356831" y="3232131"/>
            <a:ext cx="1234440" cy="603504"/>
          </a:xfrm>
          <a:prstGeom prst="roundRect">
            <a:avLst>
              <a:gd name="adj" fmla="val 7575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cxnSp>
        <p:nvCxnSpPr>
          <p:cNvPr id="24" name="dfd.node.draft.rule"/>
          <p:cNvCxnSpPr/>
          <p:nvPr/>
        </p:nvCxnSpPr>
        <p:spPr>
          <a:xfrm>
            <a:off x="6356831" y="3433299"/>
            <a:ext cx="123444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5" name="dfd.node.draft.id"/>
          <p:cNvSpPr txBox="1"/>
          <p:nvPr/>
        </p:nvSpPr>
        <p:spPr>
          <a:xfrm>
            <a:off x="6429983" y="3273279"/>
            <a:ext cx="1088136" cy="1508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  Writer agent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dfd.node.draft.text"/>
          <p:cNvSpPr txBox="1"/>
          <p:nvPr/>
        </p:nvSpPr>
        <p:spPr>
          <a:xfrm>
            <a:off x="6429983" y="3479019"/>
            <a:ext cx="1088136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 the brief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dfd.node.check"/>
          <p:cNvSpPr/>
          <p:nvPr/>
        </p:nvSpPr>
        <p:spPr>
          <a:xfrm>
            <a:off x="8323320" y="3222896"/>
            <a:ext cx="1234440" cy="621975"/>
          </a:xfrm>
          <a:prstGeom prst="roundRect">
            <a:avLst>
              <a:gd name="adj" fmla="val 7350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cxnSp>
        <p:nvCxnSpPr>
          <p:cNvPr id="28" name="dfd.node.check.rule"/>
          <p:cNvCxnSpPr/>
          <p:nvPr/>
        </p:nvCxnSpPr>
        <p:spPr>
          <a:xfrm>
            <a:off x="8323320" y="3424064"/>
            <a:ext cx="123444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9" name="dfd.node.check.id"/>
          <p:cNvSpPr txBox="1"/>
          <p:nvPr/>
        </p:nvSpPr>
        <p:spPr>
          <a:xfrm>
            <a:off x="8396472" y="3264044"/>
            <a:ext cx="1088136" cy="1508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  Review queue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dfd.node.check.text"/>
          <p:cNvSpPr txBox="1"/>
          <p:nvPr/>
        </p:nvSpPr>
        <p:spPr>
          <a:xfrm>
            <a:off x="8396472" y="3469784"/>
            <a:ext cx="1088136" cy="329367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Check every claim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dfd.node.deliver"/>
          <p:cNvSpPr/>
          <p:nvPr/>
        </p:nvSpPr>
        <p:spPr>
          <a:xfrm>
            <a:off x="8323320" y="1342644"/>
            <a:ext cx="1234440" cy="603504"/>
          </a:xfrm>
          <a:prstGeom prst="roundRect">
            <a:avLst>
              <a:gd name="adj" fmla="val 7575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cxnSp>
        <p:nvCxnSpPr>
          <p:cNvPr id="32" name="dfd.node.deliver.rule"/>
          <p:cNvCxnSpPr/>
          <p:nvPr/>
        </p:nvCxnSpPr>
        <p:spPr>
          <a:xfrm>
            <a:off x="8323320" y="1543812"/>
            <a:ext cx="123444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3" name="dfd.node.deliver.id"/>
          <p:cNvSpPr txBox="1"/>
          <p:nvPr/>
        </p:nvSpPr>
        <p:spPr>
          <a:xfrm>
            <a:off x="8396472" y="1383792"/>
            <a:ext cx="1088136" cy="15087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</a:t>
            </a: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  API Gateway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dfd.node.deliver.text"/>
          <p:cNvSpPr txBox="1"/>
          <p:nvPr/>
        </p:nvSpPr>
        <p:spPr>
          <a:xfrm>
            <a:off x="8396472" y="1589532"/>
            <a:ext cx="1088136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Deliver the brief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dfd.node.lake"/>
          <p:cNvSpPr/>
          <p:nvPr/>
        </p:nvSpPr>
        <p:spPr>
          <a:xfrm>
            <a:off x="2627388" y="5066936"/>
            <a:ext cx="1417320" cy="4025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cxnSp>
        <p:nvCxnSpPr>
          <p:cNvPr id="36" name="dfd.node.lake.edge.0"/>
          <p:cNvCxnSpPr/>
          <p:nvPr/>
        </p:nvCxnSpPr>
        <p:spPr>
          <a:xfrm>
            <a:off x="2627388" y="5066936"/>
            <a:ext cx="141732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37" name="dfd.node.lake.edge.1"/>
          <p:cNvCxnSpPr/>
          <p:nvPr/>
        </p:nvCxnSpPr>
        <p:spPr>
          <a:xfrm>
            <a:off x="2627388" y="5469455"/>
            <a:ext cx="141732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38" name="dfd.node.lake.edge.2"/>
          <p:cNvCxnSpPr/>
          <p:nvPr/>
        </p:nvCxnSpPr>
        <p:spPr>
          <a:xfrm>
            <a:off x="2627388" y="5066936"/>
            <a:ext cx="0" cy="402519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39" name="dfd.node.lake.edge.3"/>
          <p:cNvCxnSpPr/>
          <p:nvPr/>
        </p:nvCxnSpPr>
        <p:spPr>
          <a:xfrm>
            <a:off x="3011436" y="5066936"/>
            <a:ext cx="0" cy="402519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40" name="dfd.node.lake.id"/>
          <p:cNvSpPr txBox="1"/>
          <p:nvPr/>
        </p:nvSpPr>
        <p:spPr>
          <a:xfrm>
            <a:off x="2654820" y="5103512"/>
            <a:ext cx="329184" cy="329367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D1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" name="vendor.aws/storage/simple-storage-service-s3.dfd-node-lake-mark" descr="Signal lake (vendor mark aws/storage/simple-storage-service-s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588" y="5158467"/>
            <a:ext cx="219456" cy="219456"/>
          </a:xfrm>
          <a:prstGeom prst="rect">
            <a:avLst/>
          </a:prstGeom>
          <a:effectLst/>
        </p:spPr>
      </p:pic>
      <p:sp>
        <p:nvSpPr>
          <p:cNvPr id="42" name="dfd.node.lake.text"/>
          <p:cNvSpPr txBox="1"/>
          <p:nvPr/>
        </p:nvSpPr>
        <p:spPr>
          <a:xfrm>
            <a:off x="3358908" y="5112656"/>
            <a:ext cx="612648" cy="311079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Signal lake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dfd.node.claims"/>
          <p:cNvSpPr/>
          <p:nvPr/>
        </p:nvSpPr>
        <p:spPr>
          <a:xfrm>
            <a:off x="5433076" y="5067027"/>
            <a:ext cx="1508760" cy="4023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cxnSp>
        <p:nvCxnSpPr>
          <p:cNvPr id="44" name="dfd.node.claims.edge.0"/>
          <p:cNvCxnSpPr/>
          <p:nvPr/>
        </p:nvCxnSpPr>
        <p:spPr>
          <a:xfrm>
            <a:off x="5433076" y="5067027"/>
            <a:ext cx="150876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45" name="dfd.node.claims.edge.1"/>
          <p:cNvCxnSpPr/>
          <p:nvPr/>
        </p:nvCxnSpPr>
        <p:spPr>
          <a:xfrm>
            <a:off x="5433076" y="5469363"/>
            <a:ext cx="150876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46" name="dfd.node.claims.edge.2"/>
          <p:cNvCxnSpPr/>
          <p:nvPr/>
        </p:nvCxnSpPr>
        <p:spPr>
          <a:xfrm>
            <a:off x="5433076" y="5067027"/>
            <a:ext cx="0" cy="402336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47" name="dfd.node.claims.edge.3"/>
          <p:cNvCxnSpPr/>
          <p:nvPr/>
        </p:nvCxnSpPr>
        <p:spPr>
          <a:xfrm>
            <a:off x="5817124" y="5067027"/>
            <a:ext cx="0" cy="402336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48" name="dfd.node.claims.id"/>
          <p:cNvSpPr txBox="1"/>
          <p:nvPr/>
        </p:nvSpPr>
        <p:spPr>
          <a:xfrm>
            <a:off x="5460508" y="5103603"/>
            <a:ext cx="329184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D2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9" name="vendor.aws/analytics/amazon-opensearch-service.dfd-node-claims-mark" descr="Claim index (vendor mark aws/analytics/amazon-opensearch-servic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276" y="5158467"/>
            <a:ext cx="219456" cy="219456"/>
          </a:xfrm>
          <a:prstGeom prst="rect">
            <a:avLst/>
          </a:prstGeom>
          <a:effectLst/>
        </p:spPr>
      </p:pic>
      <p:sp>
        <p:nvSpPr>
          <p:cNvPr id="50" name="dfd.node.claims.text"/>
          <p:cNvSpPr txBox="1"/>
          <p:nvPr/>
        </p:nvSpPr>
        <p:spPr>
          <a:xfrm>
            <a:off x="6164596" y="5112747"/>
            <a:ext cx="704088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Claim index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dfd.node.ledger"/>
          <p:cNvSpPr/>
          <p:nvPr/>
        </p:nvSpPr>
        <p:spPr>
          <a:xfrm>
            <a:off x="7104591" y="5066936"/>
            <a:ext cx="1508760" cy="4025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cxnSp>
        <p:nvCxnSpPr>
          <p:cNvPr id="52" name="dfd.node.ledger.edge.0"/>
          <p:cNvCxnSpPr/>
          <p:nvPr/>
        </p:nvCxnSpPr>
        <p:spPr>
          <a:xfrm>
            <a:off x="7104591" y="5066936"/>
            <a:ext cx="150876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53" name="dfd.node.ledger.edge.1"/>
          <p:cNvCxnSpPr/>
          <p:nvPr/>
        </p:nvCxnSpPr>
        <p:spPr>
          <a:xfrm>
            <a:off x="7104591" y="5469455"/>
            <a:ext cx="150876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54" name="dfd.node.ledger.edge.2"/>
          <p:cNvCxnSpPr/>
          <p:nvPr/>
        </p:nvCxnSpPr>
        <p:spPr>
          <a:xfrm>
            <a:off x="7104591" y="5066936"/>
            <a:ext cx="0" cy="402519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55" name="dfd.node.ledger.edge.3"/>
          <p:cNvCxnSpPr/>
          <p:nvPr/>
        </p:nvCxnSpPr>
        <p:spPr>
          <a:xfrm>
            <a:off x="7488639" y="5066936"/>
            <a:ext cx="0" cy="402519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56" name="dfd.node.ledger.id"/>
          <p:cNvSpPr txBox="1"/>
          <p:nvPr/>
        </p:nvSpPr>
        <p:spPr>
          <a:xfrm>
            <a:off x="7132023" y="5103512"/>
            <a:ext cx="329184" cy="329367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D3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7" name="vendor.aws/database/rds.dfd-node-ledger-mark" descr="Source ledger (vendor mark aws/database/rd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1791" y="5158467"/>
            <a:ext cx="219456" cy="219456"/>
          </a:xfrm>
          <a:prstGeom prst="rect">
            <a:avLst/>
          </a:prstGeom>
          <a:effectLst/>
        </p:spPr>
      </p:pic>
      <p:sp>
        <p:nvSpPr>
          <p:cNvPr id="58" name="dfd.node.ledger.text"/>
          <p:cNvSpPr txBox="1"/>
          <p:nvPr/>
        </p:nvSpPr>
        <p:spPr>
          <a:xfrm>
            <a:off x="7836111" y="5112656"/>
            <a:ext cx="704088" cy="311079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ledger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dfd.bound.acct.label"/>
          <p:cNvSpPr txBox="1"/>
          <p:nvPr/>
        </p:nvSpPr>
        <p:spPr>
          <a:xfrm>
            <a:off x="2204134" y="877824"/>
            <a:ext cx="236613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AWS account · production, eu-west-1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dfd.bound.zone.label"/>
          <p:cNvSpPr txBox="1"/>
          <p:nvPr/>
        </p:nvSpPr>
        <p:spPr>
          <a:xfrm>
            <a:off x="4316927" y="2758440"/>
            <a:ext cx="183322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Agent zone · private subnets</a:t>
            </a:r>
            <a:endParaRPr lang="en-US" sz="9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dfd.flow.1"/>
          <p:cNvSpPr/>
          <p:nvPr/>
        </p:nvSpPr>
        <p:spPr>
          <a:xfrm>
            <a:off x="1920423" y="1814444"/>
            <a:ext cx="750357" cy="1417686"/>
          </a:xfrm>
          <a:custGeom>
            <a:avLst/>
            <a:gdLst/>
            <a:ahLst/>
            <a:cxnLst/>
            <a:rect l="l" t="t" r="r" b="b"/>
            <a:pathLst>
              <a:path w="750357" h="1417686" fill="none">
                <a:moveTo>
                  <a:pt x="0" y="0"/>
                </a:moveTo>
                <a:lnTo>
                  <a:pt x="750357" y="0"/>
                </a:lnTo>
                <a:lnTo>
                  <a:pt x="750357" y="1417686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62" name="dfd.flow.2"/>
          <p:cNvCxnSpPr/>
          <p:nvPr/>
        </p:nvCxnSpPr>
        <p:spPr>
          <a:xfrm>
            <a:off x="3142884" y="3835634"/>
            <a:ext cx="0" cy="123133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63" name="dfd.flow.3"/>
          <p:cNvSpPr/>
          <p:nvPr/>
        </p:nvSpPr>
        <p:spPr>
          <a:xfrm>
            <a:off x="4044666" y="3835634"/>
            <a:ext cx="715975" cy="1311798"/>
          </a:xfrm>
          <a:custGeom>
            <a:avLst/>
            <a:gdLst/>
            <a:ahLst/>
            <a:cxnLst/>
            <a:rect l="l" t="t" r="r" b="b"/>
            <a:pathLst>
              <a:path w="715975" h="1311798" fill="none">
                <a:moveTo>
                  <a:pt x="0" y="1311798"/>
                </a:moveTo>
                <a:lnTo>
                  <a:pt x="715975" y="1311798"/>
                </a:lnTo>
                <a:lnTo>
                  <a:pt x="715975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64" name="dfd.flow.4"/>
          <p:cNvCxnSpPr/>
          <p:nvPr/>
        </p:nvCxnSpPr>
        <p:spPr>
          <a:xfrm>
            <a:off x="5528920" y="3835634"/>
            <a:ext cx="0" cy="1231422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65" name="dfd.flow.5"/>
          <p:cNvCxnSpPr/>
          <p:nvPr/>
        </p:nvCxnSpPr>
        <p:spPr>
          <a:xfrm flipV="1">
            <a:off x="6649334" y="3835634"/>
            <a:ext cx="0" cy="1231422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66" name="dfd.flow.6"/>
          <p:cNvCxnSpPr/>
          <p:nvPr/>
        </p:nvCxnSpPr>
        <p:spPr>
          <a:xfrm flipV="1">
            <a:off x="7102145" y="1927830"/>
            <a:ext cx="0" cy="13043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67" name="dfd.flow.7"/>
          <p:cNvCxnSpPr/>
          <p:nvPr/>
        </p:nvCxnSpPr>
        <p:spPr>
          <a:xfrm>
            <a:off x="7591257" y="3533882"/>
            <a:ext cx="732069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68" name="dfd.flow.8"/>
          <p:cNvCxnSpPr/>
          <p:nvPr/>
        </p:nvCxnSpPr>
        <p:spPr>
          <a:xfrm>
            <a:off x="8468350" y="3844869"/>
            <a:ext cx="0" cy="1222096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69" name="dfd.flow.9"/>
          <p:cNvSpPr/>
          <p:nvPr/>
        </p:nvSpPr>
        <p:spPr>
          <a:xfrm>
            <a:off x="9310878" y="3844869"/>
            <a:ext cx="887517" cy="1253277"/>
          </a:xfrm>
          <a:custGeom>
            <a:avLst/>
            <a:gdLst/>
            <a:ahLst/>
            <a:cxnLst/>
            <a:rect l="l" t="t" r="r" b="b"/>
            <a:pathLst>
              <a:path w="887517" h="1253277" fill="none">
                <a:moveTo>
                  <a:pt x="0" y="0"/>
                </a:moveTo>
                <a:lnTo>
                  <a:pt x="0" y="1253277"/>
                </a:lnTo>
                <a:lnTo>
                  <a:pt x="887517" y="1253277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70" name="dfd.flow.10"/>
          <p:cNvCxnSpPr/>
          <p:nvPr/>
        </p:nvCxnSpPr>
        <p:spPr>
          <a:xfrm flipV="1">
            <a:off x="8940546" y="1946118"/>
            <a:ext cx="0" cy="1276776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71" name="dfd.flow.11"/>
          <p:cNvSpPr/>
          <p:nvPr/>
        </p:nvSpPr>
        <p:spPr>
          <a:xfrm>
            <a:off x="9557766" y="1825417"/>
            <a:ext cx="905805" cy="1425001"/>
          </a:xfrm>
          <a:custGeom>
            <a:avLst/>
            <a:gdLst/>
            <a:ahLst/>
            <a:cxnLst/>
            <a:rect l="l" t="t" r="r" b="b"/>
            <a:pathLst>
              <a:path w="905805" h="1425001" fill="none">
                <a:moveTo>
                  <a:pt x="0" y="0"/>
                </a:moveTo>
                <a:lnTo>
                  <a:pt x="905805" y="0"/>
                </a:lnTo>
                <a:lnTo>
                  <a:pt x="905805" y="1425001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72" name="dfd.flow.1.label"/>
          <p:cNvSpPr txBox="1"/>
          <p:nvPr/>
        </p:nvSpPr>
        <p:spPr>
          <a:xfrm>
            <a:off x="2716500" y="2425675"/>
            <a:ext cx="63846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web pages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dfd.flow.2.label"/>
          <p:cNvSpPr txBox="1"/>
          <p:nvPr/>
        </p:nvSpPr>
        <p:spPr>
          <a:xfrm>
            <a:off x="3188604" y="4371975"/>
            <a:ext cx="65775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raw signals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dfd.flow.3.label"/>
          <p:cNvSpPr txBox="1"/>
          <p:nvPr/>
        </p:nvSpPr>
        <p:spPr>
          <a:xfrm>
            <a:off x="4806361" y="4448785"/>
            <a:ext cx="52786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new files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dfd.flow.4.label"/>
          <p:cNvSpPr txBox="1"/>
          <p:nvPr/>
        </p:nvSpPr>
        <p:spPr>
          <a:xfrm>
            <a:off x="5574640" y="4372021"/>
            <a:ext cx="683664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cited 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dfd.flow.5.label"/>
          <p:cNvSpPr txBox="1"/>
          <p:nvPr/>
        </p:nvSpPr>
        <p:spPr>
          <a:xfrm>
            <a:off x="6695054" y="4390309"/>
            <a:ext cx="48238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dfd.flow.6.label"/>
          <p:cNvSpPr txBox="1"/>
          <p:nvPr/>
        </p:nvSpPr>
        <p:spPr>
          <a:xfrm>
            <a:off x="7147865" y="2422666"/>
            <a:ext cx="436903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prompt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dfd.flow.7.label"/>
          <p:cNvSpPr txBox="1"/>
          <p:nvPr/>
        </p:nvSpPr>
        <p:spPr>
          <a:xfrm>
            <a:off x="7884193" y="3463701"/>
            <a:ext cx="30701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dfd.flow.8.label"/>
          <p:cNvSpPr txBox="1"/>
          <p:nvPr/>
        </p:nvSpPr>
        <p:spPr>
          <a:xfrm>
            <a:off x="7647999" y="4376593"/>
            <a:ext cx="774631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 record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dfd.flow.9.label"/>
          <p:cNvSpPr txBox="1"/>
          <p:nvPr/>
        </p:nvSpPr>
        <p:spPr>
          <a:xfrm>
            <a:off x="8607402" y="4419615"/>
            <a:ext cx="65775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held 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dfd.flow.10.label"/>
          <p:cNvSpPr txBox="1"/>
          <p:nvPr/>
        </p:nvSpPr>
        <p:spPr>
          <a:xfrm>
            <a:off x="8986266" y="2429945"/>
            <a:ext cx="82034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approved brief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dfd.flow.11.label"/>
          <p:cNvSpPr txBox="1"/>
          <p:nvPr/>
        </p:nvSpPr>
        <p:spPr>
          <a:xfrm>
            <a:off x="10509291" y="2440305"/>
            <a:ext cx="74877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Monday brief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dfd.step.1"/>
          <p:cNvSpPr/>
          <p:nvPr/>
        </p:nvSpPr>
        <p:spPr>
          <a:xfrm>
            <a:off x="2423892" y="297609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dfd.step.2"/>
          <p:cNvSpPr/>
          <p:nvPr/>
        </p:nvSpPr>
        <p:spPr>
          <a:xfrm>
            <a:off x="2895996" y="389049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dfd.step.3"/>
          <p:cNvSpPr/>
          <p:nvPr/>
        </p:nvSpPr>
        <p:spPr>
          <a:xfrm>
            <a:off x="4318986" y="490054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dfd.step.4"/>
          <p:cNvSpPr/>
          <p:nvPr/>
        </p:nvSpPr>
        <p:spPr>
          <a:xfrm>
            <a:off x="5282032" y="389049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dfd.step.5"/>
          <p:cNvSpPr/>
          <p:nvPr/>
        </p:nvSpPr>
        <p:spPr>
          <a:xfrm>
            <a:off x="6402446" y="481102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dfd.step.6"/>
          <p:cNvSpPr/>
          <p:nvPr/>
        </p:nvSpPr>
        <p:spPr>
          <a:xfrm>
            <a:off x="6855257" y="297609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dfd.step.7"/>
          <p:cNvSpPr/>
          <p:nvPr/>
        </p:nvSpPr>
        <p:spPr>
          <a:xfrm>
            <a:off x="7646121" y="328699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7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dfd.step.8"/>
          <p:cNvSpPr/>
          <p:nvPr/>
        </p:nvSpPr>
        <p:spPr>
          <a:xfrm>
            <a:off x="8221462" y="3899733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8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dfd.step.9"/>
          <p:cNvSpPr/>
          <p:nvPr/>
        </p:nvSpPr>
        <p:spPr>
          <a:xfrm>
            <a:off x="9063990" y="3899733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9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dfd.step.10"/>
          <p:cNvSpPr/>
          <p:nvPr/>
        </p:nvSpPr>
        <p:spPr>
          <a:xfrm>
            <a:off x="8693658" y="2966862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10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dfd.step.11"/>
          <p:cNvSpPr/>
          <p:nvPr/>
        </p:nvSpPr>
        <p:spPr>
          <a:xfrm>
            <a:off x="10216683" y="299438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state.dfd.cross.1"/>
          <p:cNvSpPr/>
          <p:nvPr/>
        </p:nvSpPr>
        <p:spPr>
          <a:xfrm>
            <a:off x="2057830" y="1759580"/>
            <a:ext cx="109728" cy="1097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95" name="state.dfd.cross.2"/>
          <p:cNvSpPr/>
          <p:nvPr/>
        </p:nvSpPr>
        <p:spPr>
          <a:xfrm>
            <a:off x="4170623" y="5092568"/>
            <a:ext cx="109728" cy="1097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96" name="state.dfd.cross.3"/>
          <p:cNvSpPr/>
          <p:nvPr/>
        </p:nvSpPr>
        <p:spPr>
          <a:xfrm>
            <a:off x="7047281" y="2657856"/>
            <a:ext cx="109728" cy="1097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97" name="state.dfd.cross.4"/>
          <p:cNvSpPr/>
          <p:nvPr/>
        </p:nvSpPr>
        <p:spPr>
          <a:xfrm>
            <a:off x="9814056" y="5043282"/>
            <a:ext cx="109728" cy="1097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98" name="state.dfd.cross.5"/>
          <p:cNvSpPr/>
          <p:nvPr/>
        </p:nvSpPr>
        <p:spPr>
          <a:xfrm>
            <a:off x="9667752" y="5043282"/>
            <a:ext cx="109728" cy="1097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99" name="state.dfd.cross.6"/>
          <p:cNvSpPr/>
          <p:nvPr/>
        </p:nvSpPr>
        <p:spPr>
          <a:xfrm>
            <a:off x="8885682" y="2657856"/>
            <a:ext cx="109728" cy="1097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00" name="state.dfd.cross.7"/>
          <p:cNvSpPr/>
          <p:nvPr/>
        </p:nvSpPr>
        <p:spPr>
          <a:xfrm>
            <a:off x="9814056" y="1770553"/>
            <a:ext cx="109728" cy="1097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01" name="dfd.control.1"/>
          <p:cNvSpPr/>
          <p:nvPr/>
        </p:nvSpPr>
        <p:spPr>
          <a:xfrm>
            <a:off x="2204134" y="1521836"/>
            <a:ext cx="1042555" cy="18288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HTTPS · TLS 1.3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dfd.control.2"/>
          <p:cNvSpPr/>
          <p:nvPr/>
        </p:nvSpPr>
        <p:spPr>
          <a:xfrm>
            <a:off x="4316927" y="5257160"/>
            <a:ext cx="906391" cy="18288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IAM · endpoint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dfd.control.3"/>
          <p:cNvSpPr/>
          <p:nvPr/>
        </p:nvSpPr>
        <p:spPr>
          <a:xfrm>
            <a:off x="7211873" y="2804160"/>
            <a:ext cx="1140198" cy="18288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PrivateLink · SigV4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dfd.control.4"/>
          <p:cNvSpPr/>
          <p:nvPr/>
        </p:nvSpPr>
        <p:spPr>
          <a:xfrm>
            <a:off x="8669148" y="5207874"/>
            <a:ext cx="925452" cy="18288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HTTPS · OIDC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dfd.control.5"/>
          <p:cNvSpPr/>
          <p:nvPr/>
        </p:nvSpPr>
        <p:spPr>
          <a:xfrm>
            <a:off x="7736217" y="2438400"/>
            <a:ext cx="1094601" cy="18288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IAM role · TLS 1.3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dfd.control.6"/>
          <p:cNvSpPr/>
          <p:nvPr/>
        </p:nvSpPr>
        <p:spPr>
          <a:xfrm>
            <a:off x="9960360" y="1532809"/>
            <a:ext cx="1438607" cy="18288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HTTPS · OIDC · TLS 1.3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7" name="state.dfd.legend.key.trust"/>
          <p:cNvCxnSpPr/>
          <p:nvPr/>
        </p:nvCxnSpPr>
        <p:spPr>
          <a:xfrm>
            <a:off x="457200" y="6103711"/>
            <a:ext cx="41148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sp>
        <p:nvSpPr>
          <p:cNvPr id="108" name="dfd.legend.key.trust.text"/>
          <p:cNvSpPr txBox="1"/>
          <p:nvPr/>
        </p:nvSpPr>
        <p:spPr>
          <a:xfrm>
            <a:off x="941832" y="6035040"/>
            <a:ext cx="92088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Trust boundary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9" name="state.dfd.legend.key.zone"/>
          <p:cNvCxnSpPr/>
          <p:nvPr/>
        </p:nvCxnSpPr>
        <p:spPr>
          <a:xfrm>
            <a:off x="2137038" y="6103711"/>
            <a:ext cx="41148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dash"/>
          </a:ln>
          <a:effectLst/>
        </p:spPr>
      </p:cxnSp>
      <p:sp>
        <p:nvSpPr>
          <p:cNvPr id="110" name="dfd.legend.key.zone.text"/>
          <p:cNvSpPr txBox="1"/>
          <p:nvPr/>
        </p:nvSpPr>
        <p:spPr>
          <a:xfrm>
            <a:off x="2621670" y="6035040"/>
            <a:ext cx="65772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Trust zone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state.dfd.legend.key.cross"/>
          <p:cNvSpPr/>
          <p:nvPr/>
        </p:nvSpPr>
        <p:spPr>
          <a:xfrm>
            <a:off x="3704590" y="6048847"/>
            <a:ext cx="109728" cy="1097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cxnSp>
        <p:nvCxnSpPr>
          <p:cNvPr id="112" name="state.dfd.legend.key.cross.line"/>
          <p:cNvCxnSpPr/>
          <p:nvPr/>
        </p:nvCxnSpPr>
        <p:spPr>
          <a:xfrm>
            <a:off x="3553714" y="6103711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113" name="dfd.legend.key.cross.text"/>
          <p:cNvSpPr txBox="1"/>
          <p:nvPr/>
        </p:nvSpPr>
        <p:spPr>
          <a:xfrm>
            <a:off x="4038346" y="6035040"/>
            <a:ext cx="146146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Crossing, with its control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state.dfd.legend.key.scope"/>
          <p:cNvSpPr/>
          <p:nvPr/>
        </p:nvSpPr>
        <p:spPr>
          <a:xfrm>
            <a:off x="5828992" y="6021415"/>
            <a:ext cx="301752" cy="164592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115" name="dfd.legend.key.scope.text"/>
          <p:cNvSpPr txBox="1"/>
          <p:nvPr/>
        </p:nvSpPr>
        <p:spPr>
          <a:xfrm>
            <a:off x="6258760" y="6035040"/>
            <a:ext cx="78208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Out of scope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Six flows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cross a trust boundary, and each one carries its own control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cess-flow:arch-cicd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signed image reaches prod through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four gates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and is never rebuilt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icd.g.src.label"/>
          <p:cNvSpPr txBox="1"/>
          <p:nvPr/>
        </p:nvSpPr>
        <p:spPr>
          <a:xfrm>
            <a:off x="512064" y="841248"/>
            <a:ext cx="894695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GitHub · SaaS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icd.g.tool.frame"/>
          <p:cNvSpPr/>
          <p:nvPr/>
        </p:nvSpPr>
        <p:spPr>
          <a:xfrm>
            <a:off x="2382877" y="777240"/>
            <a:ext cx="2103996" cy="4581144"/>
          </a:xfrm>
          <a:prstGeom prst="roundRect">
            <a:avLst>
              <a:gd name="adj" fmla="val 217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5" name="cicd.g.tool.bar"/>
          <p:cNvSpPr/>
          <p:nvPr/>
        </p:nvSpPr>
        <p:spPr>
          <a:xfrm>
            <a:off x="2382877" y="777240"/>
            <a:ext cx="2103996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6" name="cicd.g.tool.label"/>
          <p:cNvSpPr txBox="1"/>
          <p:nvPr/>
        </p:nvSpPr>
        <p:spPr>
          <a:xfrm>
            <a:off x="2474317" y="838093"/>
            <a:ext cx="1921116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Tooling account · shared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cicd.g.dev.frame"/>
          <p:cNvSpPr/>
          <p:nvPr/>
        </p:nvSpPr>
        <p:spPr>
          <a:xfrm>
            <a:off x="4596601" y="777240"/>
            <a:ext cx="1261757" cy="4581144"/>
          </a:xfrm>
          <a:prstGeom prst="roundRect">
            <a:avLst>
              <a:gd name="adj" fmla="val 3623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8" name="cicd.g.dev.bar"/>
          <p:cNvSpPr/>
          <p:nvPr/>
        </p:nvSpPr>
        <p:spPr>
          <a:xfrm>
            <a:off x="4596601" y="777240"/>
            <a:ext cx="1261757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9" name="cicd.g.dev.label"/>
          <p:cNvSpPr txBox="1"/>
          <p:nvPr/>
        </p:nvSpPr>
        <p:spPr>
          <a:xfrm>
            <a:off x="4688041" y="838093"/>
            <a:ext cx="1078877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Dev account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icd.g.test.frame"/>
          <p:cNvSpPr/>
          <p:nvPr/>
        </p:nvSpPr>
        <p:spPr>
          <a:xfrm>
            <a:off x="6480106" y="777240"/>
            <a:ext cx="1120184" cy="4581144"/>
          </a:xfrm>
          <a:prstGeom prst="roundRect">
            <a:avLst>
              <a:gd name="adj" fmla="val 4081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1" name="cicd.g.test.bar"/>
          <p:cNvSpPr/>
          <p:nvPr/>
        </p:nvSpPr>
        <p:spPr>
          <a:xfrm>
            <a:off x="6480106" y="777240"/>
            <a:ext cx="1120184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12" name="cicd.g.test.label"/>
          <p:cNvSpPr txBox="1"/>
          <p:nvPr/>
        </p:nvSpPr>
        <p:spPr>
          <a:xfrm>
            <a:off x="6571546" y="838093"/>
            <a:ext cx="937304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Test account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cicd.g.prod.frame"/>
          <p:cNvSpPr/>
          <p:nvPr/>
        </p:nvSpPr>
        <p:spPr>
          <a:xfrm>
            <a:off x="8222040" y="777240"/>
            <a:ext cx="2513975" cy="4581144"/>
          </a:xfrm>
          <a:prstGeom prst="roundRect">
            <a:avLst>
              <a:gd name="adj" fmla="val 1818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4" name="cicd.g.prod.bar"/>
          <p:cNvSpPr/>
          <p:nvPr/>
        </p:nvSpPr>
        <p:spPr>
          <a:xfrm>
            <a:off x="8222040" y="777240"/>
            <a:ext cx="2513975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15" name="cicd.g.prod.label"/>
          <p:cNvSpPr txBox="1"/>
          <p:nvPr/>
        </p:nvSpPr>
        <p:spPr>
          <a:xfrm>
            <a:off x="8313480" y="838093"/>
            <a:ext cx="2331095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Prod account · 2 waves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icd.rail.digest.label"/>
          <p:cNvSpPr txBox="1"/>
          <p:nvPr/>
        </p:nvSpPr>
        <p:spPr>
          <a:xfrm>
            <a:off x="2183824" y="5498516"/>
            <a:ext cx="802996" cy="1220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image sha256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" name="cicd.rail.digest"/>
          <p:cNvCxnSpPr/>
          <p:nvPr/>
        </p:nvCxnSpPr>
        <p:spPr>
          <a:xfrm>
            <a:off x="3434875" y="5559552"/>
            <a:ext cx="6044153" cy="0"/>
          </a:xfrm>
          <a:prstGeom prst="line">
            <a:avLst/>
          </a:prstGeom>
          <a:ln w="1270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18" name="cicd.rail.digest.drop.0"/>
          <p:cNvCxnSpPr/>
          <p:nvPr/>
        </p:nvCxnSpPr>
        <p:spPr>
          <a:xfrm>
            <a:off x="3434875" y="5358384"/>
            <a:ext cx="0" cy="91440"/>
          </a:xfrm>
          <a:prstGeom prst="line">
            <a:avLst/>
          </a:prstGeom>
          <a:ln w="1270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19" name="cicd.rail.digest.drop.1"/>
          <p:cNvCxnSpPr/>
          <p:nvPr/>
        </p:nvCxnSpPr>
        <p:spPr>
          <a:xfrm>
            <a:off x="5227479" y="5358384"/>
            <a:ext cx="0" cy="91440"/>
          </a:xfrm>
          <a:prstGeom prst="line">
            <a:avLst/>
          </a:prstGeom>
          <a:ln w="1270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20" name="cicd.rail.digest.drop.2"/>
          <p:cNvCxnSpPr/>
          <p:nvPr/>
        </p:nvCxnSpPr>
        <p:spPr>
          <a:xfrm>
            <a:off x="7040199" y="5358384"/>
            <a:ext cx="0" cy="91440"/>
          </a:xfrm>
          <a:prstGeom prst="line">
            <a:avLst/>
          </a:prstGeom>
          <a:ln w="12700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21" name="cicd.rail.digest.drop.3"/>
          <p:cNvCxnSpPr/>
          <p:nvPr/>
        </p:nvCxnSpPr>
        <p:spPr>
          <a:xfrm>
            <a:off x="9479028" y="5358384"/>
            <a:ext cx="0" cy="91440"/>
          </a:xfrm>
          <a:prstGeom prst="line">
            <a:avLst/>
          </a:prstGeom>
          <a:ln w="12700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22" name="cicd.f.1"/>
          <p:cNvSpPr/>
          <p:nvPr/>
        </p:nvSpPr>
        <p:spPr>
          <a:xfrm>
            <a:off x="905256" y="2214128"/>
            <a:ext cx="422910" cy="2363816"/>
          </a:xfrm>
          <a:custGeom>
            <a:avLst/>
            <a:gdLst/>
            <a:ahLst/>
            <a:cxnLst/>
            <a:rect l="l" t="t" r="r" b="b"/>
            <a:pathLst>
              <a:path w="422910" h="2363816" fill="none">
                <a:moveTo>
                  <a:pt x="0" y="0"/>
                </a:moveTo>
                <a:lnTo>
                  <a:pt x="422910" y="0"/>
                </a:lnTo>
                <a:lnTo>
                  <a:pt x="422910" y="2363816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23" name="cicd.f.2"/>
          <p:cNvCxnSpPr/>
          <p:nvPr/>
        </p:nvCxnSpPr>
        <p:spPr>
          <a:xfrm>
            <a:off x="1520190" y="4769968"/>
            <a:ext cx="4146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4" name="cicd.f.3"/>
          <p:cNvCxnSpPr/>
          <p:nvPr/>
        </p:nvCxnSpPr>
        <p:spPr>
          <a:xfrm>
            <a:off x="2209190" y="4769968"/>
            <a:ext cx="544251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5" name="cicd.f.4"/>
          <p:cNvCxnSpPr/>
          <p:nvPr/>
        </p:nvCxnSpPr>
        <p:spPr>
          <a:xfrm flipV="1">
            <a:off x="2072030" y="2333000"/>
            <a:ext cx="0" cy="2299808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lgDash"/>
            <a:tailEnd type="triangle" w="med" len="med"/>
          </a:ln>
          <a:effectLst/>
        </p:spPr>
      </p:cxnSp>
      <p:sp>
        <p:nvSpPr>
          <p:cNvPr id="26" name="cicd.f.5"/>
          <p:cNvSpPr/>
          <p:nvPr/>
        </p:nvSpPr>
        <p:spPr>
          <a:xfrm>
            <a:off x="2945465" y="2214128"/>
            <a:ext cx="786841" cy="2363816"/>
          </a:xfrm>
          <a:custGeom>
            <a:avLst/>
            <a:gdLst/>
            <a:ahLst/>
            <a:cxnLst/>
            <a:rect l="l" t="t" r="r" b="b"/>
            <a:pathLst>
              <a:path w="786841" h="2363816" fill="none">
                <a:moveTo>
                  <a:pt x="786841" y="0"/>
                </a:moveTo>
                <a:lnTo>
                  <a:pt x="0" y="0"/>
                </a:lnTo>
                <a:lnTo>
                  <a:pt x="0" y="2363816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27" name="cicd.f.6"/>
          <p:cNvCxnSpPr/>
          <p:nvPr/>
        </p:nvCxnSpPr>
        <p:spPr>
          <a:xfrm>
            <a:off x="3137489" y="4769968"/>
            <a:ext cx="594817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8" name="cicd.f.7"/>
          <p:cNvCxnSpPr/>
          <p:nvPr/>
        </p:nvCxnSpPr>
        <p:spPr>
          <a:xfrm>
            <a:off x="4116354" y="4769968"/>
            <a:ext cx="107679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9" name="cicd.f.8"/>
          <p:cNvSpPr/>
          <p:nvPr/>
        </p:nvSpPr>
        <p:spPr>
          <a:xfrm>
            <a:off x="5272339" y="2214128"/>
            <a:ext cx="227137" cy="2363816"/>
          </a:xfrm>
          <a:custGeom>
            <a:avLst/>
            <a:gdLst/>
            <a:ahLst/>
            <a:cxnLst/>
            <a:rect l="l" t="t" r="r" b="b"/>
            <a:pathLst>
              <a:path w="227137" h="2363816" fill="none">
                <a:moveTo>
                  <a:pt x="227137" y="2363816"/>
                </a:moveTo>
                <a:lnTo>
                  <a:pt x="227137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0" name="cicd.f.9"/>
          <p:cNvCxnSpPr/>
          <p:nvPr/>
        </p:nvCxnSpPr>
        <p:spPr>
          <a:xfrm>
            <a:off x="5577200" y="4769968"/>
            <a:ext cx="45491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31" name="cicd.f.10"/>
          <p:cNvCxnSpPr/>
          <p:nvPr/>
        </p:nvCxnSpPr>
        <p:spPr>
          <a:xfrm>
            <a:off x="6306434" y="4769968"/>
            <a:ext cx="54178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32" name="cicd.f.11"/>
          <p:cNvCxnSpPr/>
          <p:nvPr/>
        </p:nvCxnSpPr>
        <p:spPr>
          <a:xfrm flipV="1">
            <a:off x="6169274" y="2333000"/>
            <a:ext cx="0" cy="2299808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lgDash"/>
            <a:tailEnd type="triangle" w="med" len="med"/>
          </a:ln>
          <a:effectLst/>
        </p:spPr>
      </p:cxnSp>
      <p:cxnSp>
        <p:nvCxnSpPr>
          <p:cNvPr id="33" name="cicd.f.12"/>
          <p:cNvCxnSpPr/>
          <p:nvPr/>
        </p:nvCxnSpPr>
        <p:spPr>
          <a:xfrm>
            <a:off x="7232264" y="4769968"/>
            <a:ext cx="54178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34" name="cicd.f.13"/>
          <p:cNvCxnSpPr/>
          <p:nvPr/>
        </p:nvCxnSpPr>
        <p:spPr>
          <a:xfrm>
            <a:off x="8048366" y="4769968"/>
            <a:ext cx="518739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5" name="cicd.f.14"/>
          <p:cNvSpPr/>
          <p:nvPr/>
        </p:nvSpPr>
        <p:spPr>
          <a:xfrm>
            <a:off x="7040240" y="4395064"/>
            <a:ext cx="870966" cy="237744"/>
          </a:xfrm>
          <a:custGeom>
            <a:avLst/>
            <a:gdLst/>
            <a:ahLst/>
            <a:cxnLst/>
            <a:rect l="l" t="t" r="r" b="b"/>
            <a:pathLst>
              <a:path w="870966" h="237744" fill="none">
                <a:moveTo>
                  <a:pt x="870966" y="237744"/>
                </a:moveTo>
                <a:lnTo>
                  <a:pt x="870966" y="0"/>
                </a:lnTo>
                <a:lnTo>
                  <a:pt x="0" y="0"/>
                </a:lnTo>
                <a:lnTo>
                  <a:pt x="0" y="182880"/>
                </a:lnTo>
              </a:path>
            </a:pathLst>
          </a:custGeom>
          <a:noFill/>
          <a:ln w="12700">
            <a:solidFill>
              <a:schemeClr val="accent1">
                <a:lumMod val="75000"/>
              </a:schemeClr>
            </a:solidFill>
            <a:prstDash val="lgDash"/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6" name="cicd.f.15"/>
          <p:cNvCxnSpPr/>
          <p:nvPr/>
        </p:nvCxnSpPr>
        <p:spPr>
          <a:xfrm>
            <a:off x="8951153" y="4769968"/>
            <a:ext cx="39072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37" name="cicd.f.16"/>
          <p:cNvCxnSpPr/>
          <p:nvPr/>
        </p:nvCxnSpPr>
        <p:spPr>
          <a:xfrm>
            <a:off x="9616196" y="4769968"/>
            <a:ext cx="39072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8" name="cicd.f.17"/>
          <p:cNvSpPr/>
          <p:nvPr/>
        </p:nvSpPr>
        <p:spPr>
          <a:xfrm>
            <a:off x="8759129" y="4395064"/>
            <a:ext cx="719907" cy="237744"/>
          </a:xfrm>
          <a:custGeom>
            <a:avLst/>
            <a:gdLst/>
            <a:ahLst/>
            <a:cxnLst/>
            <a:rect l="l" t="t" r="r" b="b"/>
            <a:pathLst>
              <a:path w="719907" h="237744" fill="none">
                <a:moveTo>
                  <a:pt x="719907" y="237744"/>
                </a:moveTo>
                <a:lnTo>
                  <a:pt x="719907" y="0"/>
                </a:lnTo>
                <a:lnTo>
                  <a:pt x="0" y="0"/>
                </a:lnTo>
                <a:lnTo>
                  <a:pt x="0" y="182880"/>
                </a:lnTo>
              </a:path>
            </a:pathLst>
          </a:custGeom>
          <a:noFill/>
          <a:ln w="12700">
            <a:solidFill>
              <a:schemeClr val="accent1">
                <a:lumMod val="75000"/>
              </a:schemeClr>
            </a:solidFill>
            <a:prstDash val="lgDash"/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39" name="cicd.f.18"/>
          <p:cNvSpPr/>
          <p:nvPr/>
        </p:nvSpPr>
        <p:spPr>
          <a:xfrm>
            <a:off x="9671060" y="2214128"/>
            <a:ext cx="527883" cy="2363816"/>
          </a:xfrm>
          <a:custGeom>
            <a:avLst/>
            <a:gdLst/>
            <a:ahLst/>
            <a:cxnLst/>
            <a:rect l="l" t="t" r="r" b="b"/>
            <a:pathLst>
              <a:path w="527883" h="2363816" fill="none">
                <a:moveTo>
                  <a:pt x="527883" y="2363816"/>
                </a:moveTo>
                <a:lnTo>
                  <a:pt x="527883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40" name="cicd.f.19"/>
          <p:cNvSpPr/>
          <p:nvPr/>
        </p:nvSpPr>
        <p:spPr>
          <a:xfrm>
            <a:off x="10313243" y="2214128"/>
            <a:ext cx="789585" cy="2363816"/>
          </a:xfrm>
          <a:custGeom>
            <a:avLst/>
            <a:gdLst/>
            <a:ahLst/>
            <a:cxnLst/>
            <a:rect l="l" t="t" r="r" b="b"/>
            <a:pathLst>
              <a:path w="789585" h="2363816" fill="none">
                <a:moveTo>
                  <a:pt x="789585" y="0"/>
                </a:moveTo>
                <a:lnTo>
                  <a:pt x="0" y="0"/>
                </a:lnTo>
                <a:lnTo>
                  <a:pt x="0" y="2363816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dashDot"/>
            <a:miter lim="800000"/>
            <a:tailEnd type="triangle" w="med" len="med"/>
          </a:ln>
          <a:effectLst/>
        </p:spPr>
        <p:txBody>
          <a:bodyPr/>
          <a:p/>
        </p:txBody>
      </p:sp>
      <p:pic>
        <p:nvPicPr>
          <p:cNvPr id="41" name="vendor.onprem/vcs/github.cicd-n-repo" descr="GitHub (vendor mark onprem/vcs/github)"/>
          <p:cNvPicPr>
            <a:picLocks noChangeAspect="1"/>
          </p:cNvPicPr>
          <p:nvPr/>
        </p:nvPicPr>
        <p:blipFill>
          <a:blip r:embed="rId2"/>
          <a:srcRect b="2344"/>
          <a:stretch>
            <a:fillRect/>
          </a:stretch>
        </p:blipFill>
        <p:spPr>
          <a:xfrm>
            <a:off x="521208" y="2026591"/>
            <a:ext cx="384048" cy="375047"/>
          </a:xfrm>
          <a:prstGeom prst="rect">
            <a:avLst/>
          </a:prstGeom>
          <a:effectLst/>
        </p:spPr>
      </p:pic>
      <p:sp>
        <p:nvSpPr>
          <p:cNvPr id="42" name="cicd.n.repo.caption"/>
          <p:cNvSpPr txBox="1"/>
          <p:nvPr/>
        </p:nvSpPr>
        <p:spPr>
          <a:xfrm>
            <a:off x="457200" y="2447358"/>
            <a:ext cx="512064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GitHub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repo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cicd.n.cistop.stop"/>
          <p:cNvSpPr/>
          <p:nvPr/>
        </p:nvSpPr>
        <p:spPr>
          <a:xfrm>
            <a:off x="1953131" y="209524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4929" y="4929"/>
                </a:moveTo>
                <a:lnTo>
                  <a:pt x="19070" y="19071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4" name="cicd.n.cistop.caption"/>
          <p:cNvSpPr txBox="1"/>
          <p:nvPr/>
        </p:nvSpPr>
        <p:spPr>
          <a:xfrm>
            <a:off x="1819171" y="1927450"/>
            <a:ext cx="505663" cy="1220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build fails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5" name="vendor.aws/security/key-management-service.cicd-n-kms" descr="AWS KMS (vendor mark aws/security/key-management-service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274" y="2022090"/>
            <a:ext cx="384048" cy="384048"/>
          </a:xfrm>
          <a:prstGeom prst="rect">
            <a:avLst/>
          </a:prstGeom>
          <a:effectLst/>
        </p:spPr>
      </p:pic>
      <p:sp>
        <p:nvSpPr>
          <p:cNvPr id="46" name="cicd.n.kms.caption"/>
          <p:cNvSpPr txBox="1"/>
          <p:nvPr/>
        </p:nvSpPr>
        <p:spPr>
          <a:xfrm>
            <a:off x="3597400" y="2451858"/>
            <a:ext cx="65379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KMS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signing key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7" name="mark.langfuse-icon.cicd-n-evals" descr="Langfuse (brand mark langfuse-icon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0547" t="25391" r="10547" b="25391"/>
          <a:stretch>
            <a:fillRect/>
          </a:stretch>
        </p:blipFill>
        <p:spPr>
          <a:xfrm>
            <a:off x="4669753" y="2026178"/>
            <a:ext cx="602590" cy="375873"/>
          </a:xfrm>
          <a:prstGeom prst="rect">
            <a:avLst/>
          </a:prstGeom>
          <a:effectLst/>
        </p:spPr>
      </p:pic>
      <p:sp>
        <p:nvSpPr>
          <p:cNvPr id="48" name="cicd.n.evals.caption"/>
          <p:cNvSpPr txBox="1"/>
          <p:nvPr/>
        </p:nvSpPr>
        <p:spPr>
          <a:xfrm>
            <a:off x="4669753" y="2447770"/>
            <a:ext cx="60259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Langfuse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golden set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cicd.n.stop1.stop"/>
          <p:cNvSpPr/>
          <p:nvPr/>
        </p:nvSpPr>
        <p:spPr>
          <a:xfrm>
            <a:off x="6050360" y="209524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4929" y="4929"/>
                </a:moveTo>
                <a:lnTo>
                  <a:pt x="19070" y="19071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0" name="cicd.n.stop1.caption"/>
          <p:cNvSpPr txBox="1"/>
          <p:nvPr/>
        </p:nvSpPr>
        <p:spPr>
          <a:xfrm>
            <a:off x="5968064" y="1805469"/>
            <a:ext cx="402336" cy="24405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release held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1" name="vendor.aws/management/cloudwatch.cicd-n-cw" descr="CloudWatch (vendor mark aws/management/cloudwatch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7004" y="2022090"/>
            <a:ext cx="384048" cy="384048"/>
          </a:xfrm>
          <a:prstGeom prst="rect">
            <a:avLst/>
          </a:prstGeom>
          <a:effectLst/>
        </p:spPr>
      </p:pic>
      <p:sp>
        <p:nvSpPr>
          <p:cNvPr id="52" name="cicd.n.cw.caption"/>
          <p:cNvSpPr txBox="1"/>
          <p:nvPr/>
        </p:nvSpPr>
        <p:spPr>
          <a:xfrm>
            <a:off x="9086293" y="2451858"/>
            <a:ext cx="78547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CloudWatch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alarms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3" name="vendor.aws/management/management-console.cicd-n-console" descr="AWS Console (vendor mark aws/management/management-conso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2820" y="2022090"/>
            <a:ext cx="384048" cy="384048"/>
          </a:xfrm>
          <a:prstGeom prst="rect">
            <a:avLst/>
          </a:prstGeom>
          <a:effectLst/>
        </p:spPr>
      </p:pic>
      <p:sp>
        <p:nvSpPr>
          <p:cNvPr id="54" name="cicd.n.console.caption"/>
          <p:cNvSpPr txBox="1"/>
          <p:nvPr/>
        </p:nvSpPr>
        <p:spPr>
          <a:xfrm>
            <a:off x="10854560" y="2451858"/>
            <a:ext cx="880567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Console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manual deploy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5" name="vendor.onprem/ci/github-actions.cicd-n-actions" descr="GitHub Actions (vendor mark onprem/ci/github-actions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6136" y="4577944"/>
            <a:ext cx="384048" cy="384048"/>
          </a:xfrm>
          <a:prstGeom prst="rect">
            <a:avLst/>
          </a:prstGeom>
          <a:effectLst/>
        </p:spPr>
      </p:pic>
      <p:sp>
        <p:nvSpPr>
          <p:cNvPr id="56" name="cicd.n.actions.caption"/>
          <p:cNvSpPr txBox="1"/>
          <p:nvPr/>
        </p:nvSpPr>
        <p:spPr>
          <a:xfrm>
            <a:off x="840327" y="5007712"/>
            <a:ext cx="97566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GitHub Actions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OIDC to AWS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cicd.n.cigate.gate"/>
          <p:cNvSpPr/>
          <p:nvPr/>
        </p:nvSpPr>
        <p:spPr>
          <a:xfrm>
            <a:off x="1934843" y="4632808"/>
            <a:ext cx="274320" cy="274320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58" name="cicd.n.cigate.gate.icon"/>
          <p:cNvSpPr/>
          <p:nvPr/>
        </p:nvSpPr>
        <p:spPr>
          <a:xfrm>
            <a:off x="2003423" y="4701388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14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59" name="cicd.n.cigate.caption"/>
          <p:cNvSpPr txBox="1"/>
          <p:nvPr/>
        </p:nvSpPr>
        <p:spPr>
          <a:xfrm>
            <a:off x="1906954" y="4952848"/>
            <a:ext cx="330098" cy="24405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SAST clean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0" name="vendor.aws/compute/ec2-container-registry.cicd-n-ecr" descr="Amazon ECR (vendor mark aws/compute/ec2-container-registry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3428" y="4577944"/>
            <a:ext cx="384048" cy="384048"/>
          </a:xfrm>
          <a:prstGeom prst="rect">
            <a:avLst/>
          </a:prstGeom>
          <a:effectLst/>
        </p:spPr>
      </p:pic>
      <p:sp>
        <p:nvSpPr>
          <p:cNvPr id="61" name="cicd.n.ecr.caption"/>
          <p:cNvSpPr txBox="1"/>
          <p:nvPr/>
        </p:nvSpPr>
        <p:spPr>
          <a:xfrm>
            <a:off x="2523457" y="5007712"/>
            <a:ext cx="84399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ECR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images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2" name="vendor.aws/devtools/codepipeline.cicd-n-cp" descr="CodePipeline (vendor mark aws/devtools/codepipelin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2274" y="4577944"/>
            <a:ext cx="384048" cy="384048"/>
          </a:xfrm>
          <a:prstGeom prst="rect">
            <a:avLst/>
          </a:prstGeom>
          <a:effectLst/>
        </p:spPr>
      </p:pic>
      <p:sp>
        <p:nvSpPr>
          <p:cNvPr id="63" name="cicd.n.cp.caption"/>
          <p:cNvSpPr txBox="1"/>
          <p:nvPr/>
        </p:nvSpPr>
        <p:spPr>
          <a:xfrm>
            <a:off x="3498645" y="5007712"/>
            <a:ext cx="85130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CodePipeline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promotion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vendor.aws/compute/fargate.cicd-n-dev-ecs" descr="ECS Fargate (vendor mark aws/compute/fargat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93132" y="4577944"/>
            <a:ext cx="384048" cy="384048"/>
          </a:xfrm>
          <a:prstGeom prst="rect">
            <a:avLst/>
          </a:prstGeom>
          <a:effectLst/>
        </p:spPr>
      </p:pic>
      <p:sp>
        <p:nvSpPr>
          <p:cNvPr id="65" name="cicd.n.dev-ecs.caption"/>
          <p:cNvSpPr txBox="1"/>
          <p:nvPr/>
        </p:nvSpPr>
        <p:spPr>
          <a:xfrm>
            <a:off x="4985106" y="5007712"/>
            <a:ext cx="80010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ECS Fargate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service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cicd.n.gate1.gate"/>
          <p:cNvSpPr/>
          <p:nvPr/>
        </p:nvSpPr>
        <p:spPr>
          <a:xfrm>
            <a:off x="6032072" y="4632808"/>
            <a:ext cx="274320" cy="274320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67" name="cicd.n.gate1.gate.icon"/>
          <p:cNvSpPr/>
          <p:nvPr/>
        </p:nvSpPr>
        <p:spPr>
          <a:xfrm>
            <a:off x="6100652" y="4701388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14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8" name="cicd.n.gate1.caption"/>
          <p:cNvSpPr txBox="1"/>
          <p:nvPr/>
        </p:nvSpPr>
        <p:spPr>
          <a:xfrm>
            <a:off x="5926002" y="4952848"/>
            <a:ext cx="486461" cy="24405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eval ≥ baseline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vendor.aws/compute/fargate.cicd-n-test-ecs" descr="ECS Fargate (vendor mark aws/compute/fargat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8175" y="4577944"/>
            <a:ext cx="384048" cy="384048"/>
          </a:xfrm>
          <a:prstGeom prst="rect">
            <a:avLst/>
          </a:prstGeom>
          <a:effectLst/>
        </p:spPr>
      </p:pic>
      <p:sp>
        <p:nvSpPr>
          <p:cNvPr id="70" name="cicd.n.test-ecs.caption"/>
          <p:cNvSpPr txBox="1"/>
          <p:nvPr/>
        </p:nvSpPr>
        <p:spPr>
          <a:xfrm>
            <a:off x="6640149" y="5007712"/>
            <a:ext cx="80010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ECS Fargate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service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cicd.n.gate2.gate"/>
          <p:cNvSpPr/>
          <p:nvPr/>
        </p:nvSpPr>
        <p:spPr>
          <a:xfrm>
            <a:off x="7774005" y="4632808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72" name="cicd.n.gate2.gate.icon"/>
          <p:cNvSpPr/>
          <p:nvPr/>
        </p:nvSpPr>
        <p:spPr>
          <a:xfrm>
            <a:off x="7828869" y="4687672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397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73" name="cicd.n.gate2.caption"/>
          <p:cNvSpPr txBox="1"/>
          <p:nvPr/>
        </p:nvSpPr>
        <p:spPr>
          <a:xfrm>
            <a:off x="7700396" y="4952848"/>
            <a:ext cx="421538" cy="24405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release lead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4" name="vendor.aws/compute/fargate.cicd-n-w1" descr="ECS Fargate (vendor mark aws/compute/fargat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7081" y="4577944"/>
            <a:ext cx="384048" cy="384048"/>
          </a:xfrm>
          <a:prstGeom prst="rect">
            <a:avLst/>
          </a:prstGeom>
          <a:effectLst/>
        </p:spPr>
      </p:pic>
      <p:sp>
        <p:nvSpPr>
          <p:cNvPr id="75" name="cicd.n.w1.caption"/>
          <p:cNvSpPr txBox="1"/>
          <p:nvPr/>
        </p:nvSpPr>
        <p:spPr>
          <a:xfrm>
            <a:off x="8359055" y="5007712"/>
            <a:ext cx="80010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ECS Fargate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wave 1 · 10%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cicd.n.bake1.gate"/>
          <p:cNvSpPr/>
          <p:nvPr/>
        </p:nvSpPr>
        <p:spPr>
          <a:xfrm>
            <a:off x="9341868" y="4632808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77" name="cicd.n.bake1.gate.icon"/>
          <p:cNvSpPr/>
          <p:nvPr/>
        </p:nvSpPr>
        <p:spPr>
          <a:xfrm>
            <a:off x="9396732" y="4687672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6000"/>
                </a:moveTo>
                <a:lnTo>
                  <a:pt x="12000" y="12000"/>
                </a:lnTo>
                <a:lnTo>
                  <a:pt x="16000" y="14000"/>
                </a:lnTo>
              </a:path>
            </a:pathLst>
          </a:custGeom>
          <a:noFill/>
          <a:ln w="1397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78" name="cicd.n.bake1.caption"/>
          <p:cNvSpPr txBox="1"/>
          <p:nvPr/>
        </p:nvSpPr>
        <p:spPr>
          <a:xfrm>
            <a:off x="9255457" y="4952848"/>
            <a:ext cx="447142" cy="24405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bake 60 min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9" name="vendor.aws/compute/fargate.cicd-n-w2" descr="ECS Fargate (vendor mark aws/compute/fargat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6927" y="4577944"/>
            <a:ext cx="384048" cy="384048"/>
          </a:xfrm>
          <a:prstGeom prst="rect">
            <a:avLst/>
          </a:prstGeom>
          <a:effectLst/>
        </p:spPr>
      </p:pic>
      <p:sp>
        <p:nvSpPr>
          <p:cNvPr id="80" name="cicd.n.w2.caption"/>
          <p:cNvSpPr txBox="1"/>
          <p:nvPr/>
        </p:nvSpPr>
        <p:spPr>
          <a:xfrm>
            <a:off x="9798901" y="5007712"/>
            <a:ext cx="80010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ECS Fargate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wave 2 · 100%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cicd.n.t-tool.token"/>
          <p:cNvSpPr/>
          <p:nvPr/>
        </p:nvSpPr>
        <p:spPr>
          <a:xfrm>
            <a:off x="3078260" y="5449824"/>
            <a:ext cx="713231" cy="219456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4f9a3c21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cicd.n.t-dev.token"/>
          <p:cNvSpPr/>
          <p:nvPr/>
        </p:nvSpPr>
        <p:spPr>
          <a:xfrm>
            <a:off x="4870864" y="5449824"/>
            <a:ext cx="713231" cy="219456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4f9a3c21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cicd.n.t-test.token"/>
          <p:cNvSpPr/>
          <p:nvPr/>
        </p:nvSpPr>
        <p:spPr>
          <a:xfrm>
            <a:off x="6683583" y="5449824"/>
            <a:ext cx="713231" cy="219456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4f9a3c21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cicd.n.t-prod.token"/>
          <p:cNvSpPr/>
          <p:nvPr/>
        </p:nvSpPr>
        <p:spPr>
          <a:xfrm>
            <a:off x="9122412" y="5449824"/>
            <a:ext cx="713231" cy="219456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4f9a3c21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cicd.f.1.label"/>
          <p:cNvSpPr txBox="1"/>
          <p:nvPr/>
        </p:nvSpPr>
        <p:spPr>
          <a:xfrm>
            <a:off x="818234" y="3325856"/>
            <a:ext cx="47335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git push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cicd.f.1.step"/>
          <p:cNvSpPr/>
          <p:nvPr/>
        </p:nvSpPr>
        <p:spPr>
          <a:xfrm>
            <a:off x="960120" y="197638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cicd.f.3.step"/>
          <p:cNvSpPr/>
          <p:nvPr/>
        </p:nvSpPr>
        <p:spPr>
          <a:xfrm>
            <a:off x="2483510" y="453222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cicd.f.4.label"/>
          <p:cNvSpPr txBox="1"/>
          <p:nvPr/>
        </p:nvSpPr>
        <p:spPr>
          <a:xfrm>
            <a:off x="2108606" y="3412724"/>
            <a:ext cx="21341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fail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cicd.f.5.label"/>
          <p:cNvSpPr txBox="1"/>
          <p:nvPr/>
        </p:nvSpPr>
        <p:spPr>
          <a:xfrm>
            <a:off x="2982041" y="3325856"/>
            <a:ext cx="278412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cicd.f.6.label"/>
          <p:cNvSpPr txBox="1"/>
          <p:nvPr/>
        </p:nvSpPr>
        <p:spPr>
          <a:xfrm>
            <a:off x="3246956" y="4797400"/>
            <a:ext cx="375884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digest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cicd.f.7.label"/>
          <p:cNvSpPr txBox="1"/>
          <p:nvPr/>
        </p:nvSpPr>
        <p:spPr>
          <a:xfrm>
            <a:off x="4724867" y="4797400"/>
            <a:ext cx="408413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deploy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cicd.f.7.step"/>
          <p:cNvSpPr/>
          <p:nvPr/>
        </p:nvSpPr>
        <p:spPr>
          <a:xfrm>
            <a:off x="4171218" y="453222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cicd.f.8.label"/>
          <p:cNvSpPr txBox="1"/>
          <p:nvPr/>
        </p:nvSpPr>
        <p:spPr>
          <a:xfrm>
            <a:off x="5080624" y="3325856"/>
            <a:ext cx="38227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traces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cicd.f.10.step"/>
          <p:cNvSpPr/>
          <p:nvPr/>
        </p:nvSpPr>
        <p:spPr>
          <a:xfrm>
            <a:off x="6580754" y="453222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cicd.f.11.label"/>
          <p:cNvSpPr txBox="1"/>
          <p:nvPr/>
        </p:nvSpPr>
        <p:spPr>
          <a:xfrm>
            <a:off x="6205850" y="3412724"/>
            <a:ext cx="21341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fail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cicd.f.13.step"/>
          <p:cNvSpPr/>
          <p:nvPr/>
        </p:nvSpPr>
        <p:spPr>
          <a:xfrm>
            <a:off x="8322686" y="453222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cicd.f.14.label"/>
          <p:cNvSpPr txBox="1"/>
          <p:nvPr/>
        </p:nvSpPr>
        <p:spPr>
          <a:xfrm>
            <a:off x="7117941" y="4227271"/>
            <a:ext cx="349804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reject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cicd.f.16.step"/>
          <p:cNvSpPr/>
          <p:nvPr/>
        </p:nvSpPr>
        <p:spPr>
          <a:xfrm>
            <a:off x="9671060" y="453222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cicd.f.17.label"/>
          <p:cNvSpPr txBox="1"/>
          <p:nvPr/>
        </p:nvSpPr>
        <p:spPr>
          <a:xfrm>
            <a:off x="8869479" y="4227271"/>
            <a:ext cx="49920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roll back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cicd.f.18.label"/>
          <p:cNvSpPr txBox="1"/>
          <p:nvPr/>
        </p:nvSpPr>
        <p:spPr>
          <a:xfrm>
            <a:off x="9721768" y="3325856"/>
            <a:ext cx="44059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metrics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cicd.f.19.block.ground"/>
          <p:cNvSpPr/>
          <p:nvPr/>
        </p:nvSpPr>
        <p:spPr>
          <a:xfrm>
            <a:off x="10221803" y="4166464"/>
            <a:ext cx="182880" cy="18288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02" name="cicd.f.19.block"/>
          <p:cNvSpPr/>
          <p:nvPr/>
        </p:nvSpPr>
        <p:spPr>
          <a:xfrm>
            <a:off x="10230947" y="417560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4929" y="4929"/>
                </a:moveTo>
                <a:lnTo>
                  <a:pt x="19070" y="19071"/>
                </a:lnTo>
              </a:path>
            </a:pathLst>
          </a:custGeom>
          <a:noFill/>
          <a:ln w="1397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3" name="cicd.legend.1.step"/>
          <p:cNvSpPr/>
          <p:nvPr/>
        </p:nvSpPr>
        <p:spPr>
          <a:xfrm>
            <a:off x="512064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cicd.legend.1.text"/>
          <p:cNvSpPr txBox="1"/>
          <p:nvPr/>
        </p:nvSpPr>
        <p:spPr>
          <a:xfrm>
            <a:off x="786384" y="5801777"/>
            <a:ext cx="90612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Push a commit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cicd.legend.2.step"/>
          <p:cNvSpPr/>
          <p:nvPr/>
        </p:nvSpPr>
        <p:spPr>
          <a:xfrm>
            <a:off x="1966824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cicd.legend.2.text"/>
          <p:cNvSpPr txBox="1"/>
          <p:nvPr/>
        </p:nvSpPr>
        <p:spPr>
          <a:xfrm>
            <a:off x="2241144" y="5801777"/>
            <a:ext cx="137421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Push the signed image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cicd.legend.3.step"/>
          <p:cNvSpPr/>
          <p:nvPr/>
        </p:nvSpPr>
        <p:spPr>
          <a:xfrm>
            <a:off x="3889675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cicd.legend.3.text"/>
          <p:cNvSpPr txBox="1"/>
          <p:nvPr/>
        </p:nvSpPr>
        <p:spPr>
          <a:xfrm>
            <a:off x="4163995" y="5801777"/>
            <a:ext cx="84057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Deploy to dev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cicd.legend.4.step"/>
          <p:cNvSpPr/>
          <p:nvPr/>
        </p:nvSpPr>
        <p:spPr>
          <a:xfrm>
            <a:off x="5278885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cicd.legend.4.text"/>
          <p:cNvSpPr txBox="1"/>
          <p:nvPr/>
        </p:nvSpPr>
        <p:spPr>
          <a:xfrm>
            <a:off x="5553205" y="5801777"/>
            <a:ext cx="92814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Promote to test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cicd.legend.5.step"/>
          <p:cNvSpPr/>
          <p:nvPr/>
        </p:nvSpPr>
        <p:spPr>
          <a:xfrm>
            <a:off x="6755666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cicd.legend.5.text"/>
          <p:cNvSpPr txBox="1"/>
          <p:nvPr/>
        </p:nvSpPr>
        <p:spPr>
          <a:xfrm>
            <a:off x="7029986" y="5801777"/>
            <a:ext cx="97211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Release wave 1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cicd.legend.6.step"/>
          <p:cNvSpPr/>
          <p:nvPr/>
        </p:nvSpPr>
        <p:spPr>
          <a:xfrm>
            <a:off x="8276424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cicd.legend.6.text"/>
          <p:cNvSpPr txBox="1"/>
          <p:nvPr/>
        </p:nvSpPr>
        <p:spPr>
          <a:xfrm>
            <a:off x="8550744" y="5801777"/>
            <a:ext cx="97211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Release wave 2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5" name="state.cicd.legend.key.data"/>
          <p:cNvCxnSpPr/>
          <p:nvPr/>
        </p:nvCxnSpPr>
        <p:spPr>
          <a:xfrm>
            <a:off x="9797183" y="5870448"/>
            <a:ext cx="36576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116" name="cicd.legend.key.data.text"/>
          <p:cNvSpPr txBox="1"/>
          <p:nvPr/>
        </p:nvSpPr>
        <p:spPr>
          <a:xfrm>
            <a:off x="10254383" y="5801777"/>
            <a:ext cx="90637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Build or deploy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7" name="state.cicd.legend.key.feedback"/>
          <p:cNvCxnSpPr/>
          <p:nvPr/>
        </p:nvCxnSpPr>
        <p:spPr>
          <a:xfrm>
            <a:off x="512064" y="6126480"/>
            <a:ext cx="36576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lgDash"/>
          </a:ln>
          <a:effectLst/>
        </p:spPr>
      </p:cxnSp>
      <p:sp>
        <p:nvSpPr>
          <p:cNvPr id="118" name="cicd.legend.key.feedback.text"/>
          <p:cNvSpPr txBox="1"/>
          <p:nvPr/>
        </p:nvSpPr>
        <p:spPr>
          <a:xfrm>
            <a:off x="969264" y="6057809"/>
            <a:ext cx="113262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Fail exit or rollback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9" name="state.cicd.legend.key.blocked"/>
          <p:cNvCxnSpPr/>
          <p:nvPr/>
        </p:nvCxnSpPr>
        <p:spPr>
          <a:xfrm>
            <a:off x="2376206" y="6126480"/>
            <a:ext cx="36576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Dot"/>
          </a:ln>
          <a:effectLst/>
        </p:spPr>
      </p:cxnSp>
      <p:sp>
        <p:nvSpPr>
          <p:cNvPr id="120" name="state.cicd.legend.key.blocked.glyph.ground"/>
          <p:cNvSpPr/>
          <p:nvPr/>
        </p:nvSpPr>
        <p:spPr>
          <a:xfrm>
            <a:off x="2476790" y="6044184"/>
            <a:ext cx="164592" cy="16459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21" name="state.cicd.legend.key.blocked.glyph"/>
          <p:cNvSpPr/>
          <p:nvPr/>
        </p:nvSpPr>
        <p:spPr>
          <a:xfrm>
            <a:off x="2485934" y="605332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4929" y="4929"/>
                </a:moveTo>
                <a:lnTo>
                  <a:pt x="19070" y="19071"/>
                </a:lnTo>
              </a:path>
            </a:pathLst>
          </a:custGeom>
          <a:noFill/>
          <a:ln w="1206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22" name="cicd.legend.key.blocked.text"/>
          <p:cNvSpPr txBox="1"/>
          <p:nvPr/>
        </p:nvSpPr>
        <p:spPr>
          <a:xfrm>
            <a:off x="2833406" y="6057809"/>
            <a:ext cx="79678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Blocked path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arch-mlops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prompt change ships only when the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golden set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scores at or above baseline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mlops.g.ops.frame"/>
          <p:cNvSpPr/>
          <p:nvPr/>
        </p:nvSpPr>
        <p:spPr>
          <a:xfrm>
            <a:off x="512064" y="1143000"/>
            <a:ext cx="11231880" cy="4270248"/>
          </a:xfrm>
          <a:prstGeom prst="roundRect">
            <a:avLst>
              <a:gd name="adj" fmla="val 1070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cxnSp>
        <p:nvCxnSpPr>
          <p:cNvPr id="4" name="mlops.g.ops.cell.1.rule.0"/>
          <p:cNvCxnSpPr/>
          <p:nvPr/>
        </p:nvCxnSpPr>
        <p:spPr>
          <a:xfrm>
            <a:off x="6299532" y="1143000"/>
            <a:ext cx="0" cy="3444088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5" name="mlops.g.ops.head.rule"/>
          <p:cNvCxnSpPr/>
          <p:nvPr/>
        </p:nvCxnSpPr>
        <p:spPr>
          <a:xfrm>
            <a:off x="512064" y="1399032"/>
            <a:ext cx="1123188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6" name="mlops.g.ops.cell.0.label"/>
          <p:cNvSpPr txBox="1"/>
          <p:nvPr/>
        </p:nvSpPr>
        <p:spPr>
          <a:xfrm>
            <a:off x="585216" y="1202345"/>
            <a:ext cx="564116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Build and evaluate · dev account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mlops.g.ops.cell.1.label"/>
          <p:cNvSpPr txBox="1"/>
          <p:nvPr/>
        </p:nvSpPr>
        <p:spPr>
          <a:xfrm>
            <a:off x="6372684" y="1202345"/>
            <a:ext cx="529810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Release and monitor · prod account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mlops.g.eval.frame"/>
          <p:cNvSpPr/>
          <p:nvPr/>
        </p:nvSpPr>
        <p:spPr>
          <a:xfrm>
            <a:off x="2752892" y="1539671"/>
            <a:ext cx="3382048" cy="2597353"/>
          </a:xfrm>
          <a:prstGeom prst="roundRect">
            <a:avLst>
              <a:gd name="adj" fmla="val 176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9" name="mlops.g.eval.label"/>
          <p:cNvSpPr txBox="1"/>
          <p:nvPr/>
        </p:nvSpPr>
        <p:spPr>
          <a:xfrm>
            <a:off x="2826044" y="1594535"/>
            <a:ext cx="1851651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Offline eval · judge and score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" name="mlops.f.1"/>
          <p:cNvCxnSpPr/>
          <p:nvPr/>
        </p:nvCxnSpPr>
        <p:spPr>
          <a:xfrm>
            <a:off x="1415583" y="4824832"/>
            <a:ext cx="43488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1" name="mlops.f.2"/>
          <p:cNvCxnSpPr/>
          <p:nvPr/>
        </p:nvCxnSpPr>
        <p:spPr>
          <a:xfrm>
            <a:off x="2234519" y="4824832"/>
            <a:ext cx="759501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12" name="mlops.f.3"/>
          <p:cNvSpPr/>
          <p:nvPr/>
        </p:nvSpPr>
        <p:spPr>
          <a:xfrm>
            <a:off x="2234519" y="2024299"/>
            <a:ext cx="837225" cy="2608509"/>
          </a:xfrm>
          <a:custGeom>
            <a:avLst/>
            <a:gdLst/>
            <a:ahLst/>
            <a:cxnLst/>
            <a:rect l="l" t="t" r="r" b="b"/>
            <a:pathLst>
              <a:path w="837225" h="2608509" fill="none">
                <a:moveTo>
                  <a:pt x="0" y="0"/>
                </a:moveTo>
                <a:lnTo>
                  <a:pt x="837225" y="0"/>
                </a:lnTo>
                <a:lnTo>
                  <a:pt x="837225" y="2608509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13" name="mlops.f.4"/>
          <p:cNvSpPr/>
          <p:nvPr/>
        </p:nvSpPr>
        <p:spPr>
          <a:xfrm>
            <a:off x="3186044" y="2786451"/>
            <a:ext cx="1030254" cy="1846357"/>
          </a:xfrm>
          <a:custGeom>
            <a:avLst/>
            <a:gdLst/>
            <a:ahLst/>
            <a:cxnLst/>
            <a:rect l="l" t="t" r="r" b="b"/>
            <a:pathLst>
              <a:path w="1030254" h="1846357" fill="none">
                <a:moveTo>
                  <a:pt x="0" y="1846357"/>
                </a:moveTo>
                <a:lnTo>
                  <a:pt x="0" y="0"/>
                </a:lnTo>
                <a:lnTo>
                  <a:pt x="1030254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14" name="mlops.f.5"/>
          <p:cNvSpPr/>
          <p:nvPr/>
        </p:nvSpPr>
        <p:spPr>
          <a:xfrm>
            <a:off x="3300344" y="3548604"/>
            <a:ext cx="915131" cy="1084204"/>
          </a:xfrm>
          <a:custGeom>
            <a:avLst/>
            <a:gdLst/>
            <a:ahLst/>
            <a:cxnLst/>
            <a:rect l="l" t="t" r="r" b="b"/>
            <a:pathLst>
              <a:path w="915131" h="1084204" fill="none">
                <a:moveTo>
                  <a:pt x="0" y="1084204"/>
                </a:moveTo>
                <a:lnTo>
                  <a:pt x="0" y="0"/>
                </a:lnTo>
                <a:lnTo>
                  <a:pt x="915131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15" name="mlops.f.6"/>
          <p:cNvCxnSpPr/>
          <p:nvPr/>
        </p:nvCxnSpPr>
        <p:spPr>
          <a:xfrm>
            <a:off x="4598792" y="2786451"/>
            <a:ext cx="75575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6" name="mlops.f.7"/>
          <p:cNvCxnSpPr/>
          <p:nvPr/>
        </p:nvCxnSpPr>
        <p:spPr>
          <a:xfrm>
            <a:off x="3378068" y="4824832"/>
            <a:ext cx="183831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7" name="mlops.f.8"/>
          <p:cNvCxnSpPr/>
          <p:nvPr/>
        </p:nvCxnSpPr>
        <p:spPr>
          <a:xfrm>
            <a:off x="5490698" y="4824832"/>
            <a:ext cx="61685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18" name="mlops.f.9"/>
          <p:cNvSpPr/>
          <p:nvPr/>
        </p:nvSpPr>
        <p:spPr>
          <a:xfrm>
            <a:off x="1040953" y="4952848"/>
            <a:ext cx="4312585" cy="557784"/>
          </a:xfrm>
          <a:custGeom>
            <a:avLst/>
            <a:gdLst/>
            <a:ahLst/>
            <a:cxnLst/>
            <a:rect l="l" t="t" r="r" b="b"/>
            <a:pathLst>
              <a:path w="4312585" h="557784" fill="none">
                <a:moveTo>
                  <a:pt x="4312585" y="9144"/>
                </a:moveTo>
                <a:lnTo>
                  <a:pt x="4312585" y="557784"/>
                </a:lnTo>
                <a:lnTo>
                  <a:pt x="0" y="557784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accent1">
                <a:lumMod val="75000"/>
              </a:schemeClr>
            </a:solidFill>
            <a:prstDash val="lgDash"/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19" name="mlops.f.10"/>
          <p:cNvCxnSpPr/>
          <p:nvPr/>
        </p:nvCxnSpPr>
        <p:spPr>
          <a:xfrm>
            <a:off x="6491600" y="4824832"/>
            <a:ext cx="837407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0" name="mlops.f.11"/>
          <p:cNvCxnSpPr/>
          <p:nvPr/>
        </p:nvCxnSpPr>
        <p:spPr>
          <a:xfrm flipV="1">
            <a:off x="7521031" y="3740628"/>
            <a:ext cx="0" cy="89218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1" name="mlops.f.12"/>
          <p:cNvSpPr/>
          <p:nvPr/>
        </p:nvSpPr>
        <p:spPr>
          <a:xfrm>
            <a:off x="7521031" y="2024299"/>
            <a:ext cx="727954" cy="1332281"/>
          </a:xfrm>
          <a:custGeom>
            <a:avLst/>
            <a:gdLst/>
            <a:ahLst/>
            <a:cxnLst/>
            <a:rect l="l" t="t" r="r" b="b"/>
            <a:pathLst>
              <a:path w="727954" h="1332281" fill="none">
                <a:moveTo>
                  <a:pt x="0" y="1332281"/>
                </a:moveTo>
                <a:lnTo>
                  <a:pt x="0" y="0"/>
                </a:lnTo>
                <a:lnTo>
                  <a:pt x="727954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22" name="mlops.f.13"/>
          <p:cNvCxnSpPr/>
          <p:nvPr/>
        </p:nvCxnSpPr>
        <p:spPr>
          <a:xfrm>
            <a:off x="8441009" y="2202241"/>
            <a:ext cx="0" cy="248543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3" name="mlops.f.14"/>
          <p:cNvCxnSpPr/>
          <p:nvPr/>
        </p:nvCxnSpPr>
        <p:spPr>
          <a:xfrm>
            <a:off x="7713055" y="4824832"/>
            <a:ext cx="59079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4" name="mlops.f.15"/>
          <p:cNvCxnSpPr/>
          <p:nvPr/>
        </p:nvCxnSpPr>
        <p:spPr>
          <a:xfrm>
            <a:off x="8578169" y="4824832"/>
            <a:ext cx="59088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5" name="mlops.f.16"/>
          <p:cNvCxnSpPr/>
          <p:nvPr/>
        </p:nvCxnSpPr>
        <p:spPr>
          <a:xfrm>
            <a:off x="9553103" y="4824832"/>
            <a:ext cx="59079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6" name="mlops.f.17"/>
          <p:cNvCxnSpPr/>
          <p:nvPr/>
        </p:nvCxnSpPr>
        <p:spPr>
          <a:xfrm>
            <a:off x="10281056" y="3740628"/>
            <a:ext cx="0" cy="94704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7" name="mlops.f.18"/>
          <p:cNvCxnSpPr/>
          <p:nvPr/>
        </p:nvCxnSpPr>
        <p:spPr>
          <a:xfrm>
            <a:off x="10418216" y="4824832"/>
            <a:ext cx="52678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8" name="mlops.f.19"/>
          <p:cNvSpPr/>
          <p:nvPr/>
        </p:nvSpPr>
        <p:spPr>
          <a:xfrm>
            <a:off x="11116086" y="2024299"/>
            <a:ext cx="395844" cy="2800533"/>
          </a:xfrm>
          <a:custGeom>
            <a:avLst/>
            <a:gdLst/>
            <a:ahLst/>
            <a:cxnLst/>
            <a:rect l="l" t="t" r="r" b="b"/>
            <a:pathLst>
              <a:path w="395844" h="2800533" fill="none">
                <a:moveTo>
                  <a:pt x="212964" y="2800533"/>
                </a:moveTo>
                <a:lnTo>
                  <a:pt x="395844" y="2800533"/>
                </a:lnTo>
                <a:lnTo>
                  <a:pt x="395844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29" name="mlops.f.20"/>
          <p:cNvSpPr/>
          <p:nvPr/>
        </p:nvSpPr>
        <p:spPr>
          <a:xfrm>
            <a:off x="2042495" y="960120"/>
            <a:ext cx="8772297" cy="876270"/>
          </a:xfrm>
          <a:custGeom>
            <a:avLst/>
            <a:gdLst/>
            <a:ahLst/>
            <a:cxnLst/>
            <a:rect l="l" t="t" r="r" b="b"/>
            <a:pathLst>
              <a:path w="8772297" h="876270" fill="none">
                <a:moveTo>
                  <a:pt x="8772297" y="876270"/>
                </a:moveTo>
                <a:lnTo>
                  <a:pt x="8772297" y="0"/>
                </a:lnTo>
                <a:lnTo>
                  <a:pt x="0" y="0"/>
                </a:lnTo>
                <a:lnTo>
                  <a:pt x="0" y="872155"/>
                </a:lnTo>
              </a:path>
            </a:pathLst>
          </a:custGeom>
          <a:noFill/>
          <a:ln w="12700">
            <a:solidFill>
              <a:schemeClr val="accent1">
                <a:lumMod val="75000"/>
              </a:schemeClr>
            </a:solidFill>
            <a:prstDash val="lgDash"/>
            <a:miter lim="800000"/>
            <a:tailEnd type="triangle" w="med" len="med"/>
          </a:ln>
          <a:effectLst/>
        </p:spPr>
        <p:txBody>
          <a:bodyPr/>
          <a:p/>
        </p:txBody>
      </p:sp>
      <p:pic>
        <p:nvPicPr>
          <p:cNvPr id="30" name="vendor.aws/storage/simple-storage-service-s3.mlops-n-golden" descr="Amazon S3 (vendor mark aws/storage/simple-storage-service-s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06" y="1832279"/>
            <a:ext cx="384048" cy="384048"/>
          </a:xfrm>
          <a:prstGeom prst="rect">
            <a:avLst/>
          </a:prstGeom>
          <a:effectLst/>
        </p:spPr>
      </p:pic>
      <p:sp>
        <p:nvSpPr>
          <p:cNvPr id="31" name="mlops.n.golden.caption"/>
          <p:cNvSpPr txBox="1"/>
          <p:nvPr/>
        </p:nvSpPr>
        <p:spPr>
          <a:xfrm>
            <a:off x="1679056" y="2262047"/>
            <a:ext cx="72694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golden set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" name="vendor.saas/chat/teams.mlops-n-teams" descr="Teams (vendor mark saas/chat/teams)"/>
          <p:cNvPicPr>
            <a:picLocks noChangeAspect="1"/>
          </p:cNvPicPr>
          <p:nvPr/>
        </p:nvPicPr>
        <p:blipFill>
          <a:blip r:embed="rId3"/>
          <a:srcRect l="23438" t="25781" r="23438" b="25000"/>
          <a:stretch>
            <a:fillRect/>
          </a:stretch>
        </p:blipFill>
        <p:spPr>
          <a:xfrm>
            <a:off x="8249003" y="1846398"/>
            <a:ext cx="384048" cy="355809"/>
          </a:xfrm>
          <a:prstGeom prst="rect">
            <a:avLst/>
          </a:prstGeom>
          <a:effectLst/>
        </p:spPr>
      </p:pic>
      <p:sp>
        <p:nvSpPr>
          <p:cNvPr id="33" name="mlops.n.teams.caption"/>
          <p:cNvSpPr txBox="1"/>
          <p:nvPr/>
        </p:nvSpPr>
        <p:spPr>
          <a:xfrm>
            <a:off x="8687915" y="1894686"/>
            <a:ext cx="68122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Teams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approval ask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4" name="mark.langfuse-icon.mlops-n-lf" descr="Langfuse (brand mark langfuse-icon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0547" t="25391" r="10547" b="25391"/>
          <a:stretch>
            <a:fillRect/>
          </a:stretch>
        </p:blipFill>
        <p:spPr>
          <a:xfrm>
            <a:off x="10513494" y="1836366"/>
            <a:ext cx="602590" cy="375873"/>
          </a:xfrm>
          <a:prstGeom prst="rect">
            <a:avLst/>
          </a:prstGeom>
          <a:effectLst/>
        </p:spPr>
      </p:pic>
      <p:sp>
        <p:nvSpPr>
          <p:cNvPr id="35" name="mlops.n.lf.caption"/>
          <p:cNvSpPr txBox="1"/>
          <p:nvPr/>
        </p:nvSpPr>
        <p:spPr>
          <a:xfrm>
            <a:off x="10513494" y="2257959"/>
            <a:ext cx="60259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Langfuse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online eval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mark.claude-spark.mlops-n-judge" descr="Claude (brand mark claude-spark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6257" y="2594431"/>
            <a:ext cx="382548" cy="384048"/>
          </a:xfrm>
          <a:prstGeom prst="rect">
            <a:avLst/>
          </a:prstGeom>
          <a:effectLst/>
        </p:spPr>
      </p:pic>
      <p:sp>
        <p:nvSpPr>
          <p:cNvPr id="37" name="mlops.n.judge.caption"/>
          <p:cNvSpPr txBox="1"/>
          <p:nvPr/>
        </p:nvSpPr>
        <p:spPr>
          <a:xfrm>
            <a:off x="4079719" y="3024199"/>
            <a:ext cx="65562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Claude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judge model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8" name="vendor.aws/database/dynamodb.mlops-n-scores" descr="DynamoDB (vendor mark aws/database/dynamodb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4503" y="2594431"/>
            <a:ext cx="384048" cy="384048"/>
          </a:xfrm>
          <a:prstGeom prst="rect">
            <a:avLst/>
          </a:prstGeom>
          <a:effectLst/>
        </p:spPr>
      </p:pic>
      <p:sp>
        <p:nvSpPr>
          <p:cNvPr id="39" name="mlops.n.scores.caption"/>
          <p:cNvSpPr txBox="1"/>
          <p:nvPr/>
        </p:nvSpPr>
        <p:spPr>
          <a:xfrm>
            <a:off x="5183053" y="3024199"/>
            <a:ext cx="72694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DynamoDB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eval scores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vendor.aws/ml/bedrock.mlops-n-cand" descr="Bedrock (vendor mark aws/ml/bedrock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5507" y="3356583"/>
            <a:ext cx="384048" cy="384048"/>
          </a:xfrm>
          <a:prstGeom prst="rect">
            <a:avLst/>
          </a:prstGeom>
          <a:effectLst/>
        </p:spPr>
      </p:pic>
      <p:sp>
        <p:nvSpPr>
          <p:cNvPr id="41" name="mlops.n.cand.caption"/>
          <p:cNvSpPr txBox="1"/>
          <p:nvPr/>
        </p:nvSpPr>
        <p:spPr>
          <a:xfrm>
            <a:off x="4044057" y="3786351"/>
            <a:ext cx="72694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Bedrock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candidate run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2" name="vendor.aws/integration/simple-notification-service-sns.mlops-n-sns" descr="Amazon SNS (vendor mark aws/integration/simple-notification-service-sns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8991" y="3356583"/>
            <a:ext cx="384048" cy="384048"/>
          </a:xfrm>
          <a:prstGeom prst="rect">
            <a:avLst/>
          </a:prstGeom>
          <a:effectLst/>
        </p:spPr>
      </p:pic>
      <p:sp>
        <p:nvSpPr>
          <p:cNvPr id="43" name="mlops.n.sns.caption"/>
          <p:cNvSpPr txBox="1"/>
          <p:nvPr/>
        </p:nvSpPr>
        <p:spPr>
          <a:xfrm>
            <a:off x="6437451" y="3418991"/>
            <a:ext cx="83667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SNS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approval topic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" name="vendor.aws/management/cloudwatch.mlops-n-cw" descr="CloudWatch (vendor mark aws/management/cloudwatch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89025" y="3356583"/>
            <a:ext cx="384048" cy="384048"/>
          </a:xfrm>
          <a:prstGeom prst="rect">
            <a:avLst/>
          </a:prstGeom>
          <a:effectLst/>
        </p:spPr>
      </p:pic>
      <p:sp>
        <p:nvSpPr>
          <p:cNvPr id="45" name="mlops.n.cw.caption"/>
          <p:cNvSpPr txBox="1"/>
          <p:nvPr/>
        </p:nvSpPr>
        <p:spPr>
          <a:xfrm>
            <a:off x="9248692" y="3418991"/>
            <a:ext cx="78547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CloudWatch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alarms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mlops.n.edit.activity"/>
          <p:cNvSpPr/>
          <p:nvPr/>
        </p:nvSpPr>
        <p:spPr>
          <a:xfrm>
            <a:off x="666362" y="4696816"/>
            <a:ext cx="749253" cy="256032"/>
          </a:xfrm>
          <a:prstGeom prst="roundRect">
            <a:avLst>
              <a:gd name="adj" fmla="val 17857"/>
            </a:avLst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edit prompt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7" name="vendor.onprem/vcs/github.mlops-n-gh" descr="GitHub (vendor mark onprem/vcs/github)"/>
          <p:cNvPicPr>
            <a:picLocks noChangeAspect="1"/>
          </p:cNvPicPr>
          <p:nvPr/>
        </p:nvPicPr>
        <p:blipFill>
          <a:blip r:embed="rId12"/>
          <a:srcRect b="2344"/>
          <a:stretch>
            <a:fillRect/>
          </a:stretch>
        </p:blipFill>
        <p:spPr>
          <a:xfrm>
            <a:off x="1850506" y="4637308"/>
            <a:ext cx="384048" cy="375047"/>
          </a:xfrm>
          <a:prstGeom prst="rect">
            <a:avLst/>
          </a:prstGeom>
          <a:effectLst/>
        </p:spPr>
      </p:pic>
      <p:sp>
        <p:nvSpPr>
          <p:cNvPr id="48" name="mlops.n.gh.caption"/>
          <p:cNvSpPr txBox="1"/>
          <p:nvPr/>
        </p:nvSpPr>
        <p:spPr>
          <a:xfrm>
            <a:off x="1717918" y="5058075"/>
            <a:ext cx="649224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GitHub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prompt repo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9" name="vendor.aws/devtools/codebuild.mlops-n-runner" descr="CodeBuild (vendor mark aws/devtools/codebuild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4023" y="4632808"/>
            <a:ext cx="384048" cy="384048"/>
          </a:xfrm>
          <a:prstGeom prst="rect">
            <a:avLst/>
          </a:prstGeom>
          <a:effectLst/>
        </p:spPr>
      </p:pic>
      <p:sp>
        <p:nvSpPr>
          <p:cNvPr id="50" name="mlops.n.runner.caption"/>
          <p:cNvSpPr txBox="1"/>
          <p:nvPr/>
        </p:nvSpPr>
        <p:spPr>
          <a:xfrm>
            <a:off x="2848176" y="5062576"/>
            <a:ext cx="67574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CodeBuild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eval runner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mlops.n.evalgate.gate"/>
          <p:cNvSpPr/>
          <p:nvPr/>
        </p:nvSpPr>
        <p:spPr>
          <a:xfrm>
            <a:off x="5216371" y="4687672"/>
            <a:ext cx="274320" cy="274320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52" name="mlops.n.evalgate.gate.icon"/>
          <p:cNvSpPr/>
          <p:nvPr/>
        </p:nvSpPr>
        <p:spPr>
          <a:xfrm>
            <a:off x="5284951" y="475625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14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53" name="mlops.n.evalgate.caption"/>
          <p:cNvSpPr txBox="1"/>
          <p:nvPr/>
        </p:nvSpPr>
        <p:spPr>
          <a:xfrm>
            <a:off x="5062295" y="4519879"/>
            <a:ext cx="582473" cy="1220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≥ baseline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4" name="vendor.aws/ml/bedrock.mlops-n-reg" descr="Bedrock (vendor mark aws/ml/bedrock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7508" y="4632808"/>
            <a:ext cx="384048" cy="384048"/>
          </a:xfrm>
          <a:prstGeom prst="rect">
            <a:avLst/>
          </a:prstGeom>
          <a:effectLst/>
        </p:spPr>
      </p:pic>
      <p:sp>
        <p:nvSpPr>
          <p:cNvPr id="55" name="mlops.n.reg.caption"/>
          <p:cNvSpPr txBox="1"/>
          <p:nvPr/>
        </p:nvSpPr>
        <p:spPr>
          <a:xfrm>
            <a:off x="5900396" y="5062576"/>
            <a:ext cx="79827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Bedrock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prompt registry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vendor.aws/devtools/codepipeline.mlops-n-cp" descr="CodePipeline (vendor mark aws/devtools/codepipelin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28991" y="4632808"/>
            <a:ext cx="384048" cy="384048"/>
          </a:xfrm>
          <a:prstGeom prst="rect">
            <a:avLst/>
          </a:prstGeom>
          <a:effectLst/>
        </p:spPr>
      </p:pic>
      <p:sp>
        <p:nvSpPr>
          <p:cNvPr id="57" name="mlops.n.cp.caption"/>
          <p:cNvSpPr txBox="1"/>
          <p:nvPr/>
        </p:nvSpPr>
        <p:spPr>
          <a:xfrm>
            <a:off x="7095362" y="5062576"/>
            <a:ext cx="85130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CodePipeline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release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mlops.n.approval.gate"/>
          <p:cNvSpPr/>
          <p:nvPr/>
        </p:nvSpPr>
        <p:spPr>
          <a:xfrm>
            <a:off x="8303867" y="4687672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59" name="mlops.n.approval.gate.icon"/>
          <p:cNvSpPr/>
          <p:nvPr/>
        </p:nvSpPr>
        <p:spPr>
          <a:xfrm>
            <a:off x="8358731" y="47425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397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0" name="mlops.n.approval.caption"/>
          <p:cNvSpPr txBox="1"/>
          <p:nvPr/>
        </p:nvSpPr>
        <p:spPr>
          <a:xfrm>
            <a:off x="8100475" y="5007712"/>
            <a:ext cx="681104" cy="1220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release lead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1" name="vendor.aws/management/systems-manager-app-config.mlops-n-flag" descr="AppConfig (vendor mark aws/management/systems-manager-app-config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9014" y="4632808"/>
            <a:ext cx="384048" cy="384048"/>
          </a:xfrm>
          <a:prstGeom prst="rect">
            <a:avLst/>
          </a:prstGeom>
          <a:effectLst/>
        </p:spPr>
      </p:pic>
      <p:sp>
        <p:nvSpPr>
          <p:cNvPr id="62" name="mlops.n.flag.caption"/>
          <p:cNvSpPr txBox="1"/>
          <p:nvPr/>
        </p:nvSpPr>
        <p:spPr>
          <a:xfrm>
            <a:off x="9015852" y="5062576"/>
            <a:ext cx="69037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AppConfig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prompt flag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mlops.n.canary.gate"/>
          <p:cNvSpPr/>
          <p:nvPr/>
        </p:nvSpPr>
        <p:spPr>
          <a:xfrm>
            <a:off x="10143889" y="4687672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64" name="mlops.n.canary.gate.icon"/>
          <p:cNvSpPr/>
          <p:nvPr/>
        </p:nvSpPr>
        <p:spPr>
          <a:xfrm>
            <a:off x="10198753" y="4742536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1397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5" name="mlops.n.canary.caption"/>
          <p:cNvSpPr txBox="1"/>
          <p:nvPr/>
        </p:nvSpPr>
        <p:spPr>
          <a:xfrm>
            <a:off x="9950036" y="5007712"/>
            <a:ext cx="662026" cy="12207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canary 10%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6" name="vendor.aws/compute/fargate.mlops-n-ecs" descr="ECS Fargate (vendor mark aws/compute/fargat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45029" y="4632808"/>
            <a:ext cx="384048" cy="384048"/>
          </a:xfrm>
          <a:prstGeom prst="rect">
            <a:avLst/>
          </a:prstGeom>
          <a:effectLst/>
        </p:spPr>
      </p:pic>
      <p:sp>
        <p:nvSpPr>
          <p:cNvPr id="67" name="mlops.n.ecs.caption"/>
          <p:cNvSpPr txBox="1"/>
          <p:nvPr/>
        </p:nvSpPr>
        <p:spPr>
          <a:xfrm>
            <a:off x="10737003" y="5062576"/>
            <a:ext cx="80010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ECS Fargate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writer agent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mlops.f.1.step"/>
          <p:cNvSpPr/>
          <p:nvPr/>
        </p:nvSpPr>
        <p:spPr>
          <a:xfrm>
            <a:off x="1470447" y="458708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mlops.f.2.step"/>
          <p:cNvSpPr/>
          <p:nvPr/>
        </p:nvSpPr>
        <p:spPr>
          <a:xfrm>
            <a:off x="2289383" y="458708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mlops.f.3.label"/>
          <p:cNvSpPr txBox="1"/>
          <p:nvPr/>
        </p:nvSpPr>
        <p:spPr>
          <a:xfrm>
            <a:off x="3108320" y="2435413"/>
            <a:ext cx="596794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240 cases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mlops.f.4.label"/>
          <p:cNvSpPr txBox="1"/>
          <p:nvPr/>
        </p:nvSpPr>
        <p:spPr>
          <a:xfrm>
            <a:off x="3222620" y="3182249"/>
            <a:ext cx="499208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answers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mlops.f.5.label"/>
          <p:cNvSpPr txBox="1"/>
          <p:nvPr/>
        </p:nvSpPr>
        <p:spPr>
          <a:xfrm>
            <a:off x="3336920" y="3929085"/>
            <a:ext cx="648669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prompt v14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mlops.f.8.step"/>
          <p:cNvSpPr/>
          <p:nvPr/>
        </p:nvSpPr>
        <p:spPr>
          <a:xfrm>
            <a:off x="5545562" y="486140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mlops.f.9.label"/>
          <p:cNvSpPr txBox="1"/>
          <p:nvPr/>
        </p:nvSpPr>
        <p:spPr>
          <a:xfrm>
            <a:off x="3009360" y="5538064"/>
            <a:ext cx="37577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revise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mlops.f.10.label"/>
          <p:cNvSpPr txBox="1"/>
          <p:nvPr/>
        </p:nvSpPr>
        <p:spPr>
          <a:xfrm>
            <a:off x="6663924" y="4852264"/>
            <a:ext cx="49275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promote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mlops.f.10.step"/>
          <p:cNvSpPr/>
          <p:nvPr/>
        </p:nvSpPr>
        <p:spPr>
          <a:xfrm>
            <a:off x="6546464" y="458708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mlops.f.11.label"/>
          <p:cNvSpPr txBox="1"/>
          <p:nvPr/>
        </p:nvSpPr>
        <p:spPr>
          <a:xfrm>
            <a:off x="6972122" y="4116537"/>
            <a:ext cx="512333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approval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mlops.f.12.label"/>
          <p:cNvSpPr txBox="1"/>
          <p:nvPr/>
        </p:nvSpPr>
        <p:spPr>
          <a:xfrm>
            <a:off x="7141100" y="2620259"/>
            <a:ext cx="34335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notify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mlops.f.13.label"/>
          <p:cNvSpPr txBox="1"/>
          <p:nvPr/>
        </p:nvSpPr>
        <p:spPr>
          <a:xfrm>
            <a:off x="8477585" y="3374776"/>
            <a:ext cx="48636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mlops.f.15.step"/>
          <p:cNvSpPr/>
          <p:nvPr/>
        </p:nvSpPr>
        <p:spPr>
          <a:xfrm>
            <a:off x="8633033" y="458708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mlops.f.17.label"/>
          <p:cNvSpPr txBox="1"/>
          <p:nvPr/>
        </p:nvSpPr>
        <p:spPr>
          <a:xfrm>
            <a:off x="10317632" y="4143969"/>
            <a:ext cx="41469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alarms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mlops.f.18.step"/>
          <p:cNvSpPr/>
          <p:nvPr/>
        </p:nvSpPr>
        <p:spPr>
          <a:xfrm>
            <a:off x="10473080" y="4587088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mlops.f.19.label"/>
          <p:cNvSpPr txBox="1"/>
          <p:nvPr/>
        </p:nvSpPr>
        <p:spPr>
          <a:xfrm>
            <a:off x="10761742" y="3354385"/>
            <a:ext cx="71361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5% of traces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mlops.f.19.step"/>
          <p:cNvSpPr/>
          <p:nvPr/>
        </p:nvSpPr>
        <p:spPr>
          <a:xfrm>
            <a:off x="11164485" y="43950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7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mlops.f.20.label"/>
          <p:cNvSpPr txBox="1"/>
          <p:nvPr/>
        </p:nvSpPr>
        <p:spPr>
          <a:xfrm>
            <a:off x="6081568" y="792328"/>
            <a:ext cx="69415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failed traces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mlops.legend.1.step"/>
          <p:cNvSpPr/>
          <p:nvPr/>
        </p:nvSpPr>
        <p:spPr>
          <a:xfrm>
            <a:off x="512064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mlops.legend.1.text"/>
          <p:cNvSpPr txBox="1"/>
          <p:nvPr/>
        </p:nvSpPr>
        <p:spPr>
          <a:xfrm>
            <a:off x="786384" y="5801777"/>
            <a:ext cx="115451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Commit the prompt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mlops.legend.2.step"/>
          <p:cNvSpPr/>
          <p:nvPr/>
        </p:nvSpPr>
        <p:spPr>
          <a:xfrm>
            <a:off x="2215219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mlops.legend.2.text"/>
          <p:cNvSpPr txBox="1"/>
          <p:nvPr/>
        </p:nvSpPr>
        <p:spPr>
          <a:xfrm>
            <a:off x="2489539" y="5801777"/>
            <a:ext cx="124266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Score the golden set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mlops.legend.3.step"/>
          <p:cNvSpPr/>
          <p:nvPr/>
        </p:nvSpPr>
        <p:spPr>
          <a:xfrm>
            <a:off x="4006522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mlops.legend.3.text"/>
          <p:cNvSpPr txBox="1"/>
          <p:nvPr/>
        </p:nvSpPr>
        <p:spPr>
          <a:xfrm>
            <a:off x="4280842" y="5801777"/>
            <a:ext cx="120587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Register the version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mlops.legend.4.step"/>
          <p:cNvSpPr/>
          <p:nvPr/>
        </p:nvSpPr>
        <p:spPr>
          <a:xfrm>
            <a:off x="5761038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mlops.legend.4.text"/>
          <p:cNvSpPr txBox="1"/>
          <p:nvPr/>
        </p:nvSpPr>
        <p:spPr>
          <a:xfrm>
            <a:off x="6035358" y="5801777"/>
            <a:ext cx="53349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Promote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mlops.legend.5.step"/>
          <p:cNvSpPr/>
          <p:nvPr/>
        </p:nvSpPr>
        <p:spPr>
          <a:xfrm>
            <a:off x="6843172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mlops.legend.5.text"/>
          <p:cNvSpPr txBox="1"/>
          <p:nvPr/>
        </p:nvSpPr>
        <p:spPr>
          <a:xfrm>
            <a:off x="7117492" y="5801777"/>
            <a:ext cx="103073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 and flag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mlops.legend.6.step"/>
          <p:cNvSpPr/>
          <p:nvPr/>
        </p:nvSpPr>
        <p:spPr>
          <a:xfrm>
            <a:off x="8422547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mlops.legend.6.text"/>
          <p:cNvSpPr txBox="1"/>
          <p:nvPr/>
        </p:nvSpPr>
        <p:spPr>
          <a:xfrm>
            <a:off x="8696867" y="5801777"/>
            <a:ext cx="103054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Serve the canary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mlops.legend.7.step"/>
          <p:cNvSpPr/>
          <p:nvPr/>
        </p:nvSpPr>
        <p:spPr>
          <a:xfrm>
            <a:off x="10001729" y="5769864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7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mlops.legend.7.text"/>
          <p:cNvSpPr txBox="1"/>
          <p:nvPr/>
        </p:nvSpPr>
        <p:spPr>
          <a:xfrm>
            <a:off x="10276049" y="5801777"/>
            <a:ext cx="111079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Sample live traces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0" name="state.mlops.legend.key.data"/>
          <p:cNvCxnSpPr/>
          <p:nvPr/>
        </p:nvCxnSpPr>
        <p:spPr>
          <a:xfrm>
            <a:off x="512064" y="6126480"/>
            <a:ext cx="36576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101" name="mlops.legend.key.data.text"/>
          <p:cNvSpPr txBox="1"/>
          <p:nvPr/>
        </p:nvSpPr>
        <p:spPr>
          <a:xfrm>
            <a:off x="969264" y="6057809"/>
            <a:ext cx="95016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Build or release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2" name="state.mlops.legend.key.feedback"/>
          <p:cNvCxnSpPr/>
          <p:nvPr/>
        </p:nvCxnSpPr>
        <p:spPr>
          <a:xfrm>
            <a:off x="2193746" y="6126480"/>
            <a:ext cx="36576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lgDash"/>
          </a:ln>
          <a:effectLst/>
        </p:spPr>
      </p:cxnSp>
      <p:sp>
        <p:nvSpPr>
          <p:cNvPr id="103" name="mlops.legend.key.feedback.text"/>
          <p:cNvSpPr txBox="1"/>
          <p:nvPr/>
        </p:nvSpPr>
        <p:spPr>
          <a:xfrm>
            <a:off x="2650946" y="6057809"/>
            <a:ext cx="100113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Revise or retrain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nput-process-output:arch-medallion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brief cites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certified tables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built from five sources, weekly and by stream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medal.g.src.label"/>
          <p:cNvSpPr txBox="1"/>
          <p:nvPr/>
        </p:nvSpPr>
        <p:spPr>
          <a:xfrm>
            <a:off x="512064" y="841248"/>
            <a:ext cx="537008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Sources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medal.g.use.label"/>
          <p:cNvSpPr txBox="1"/>
          <p:nvPr/>
        </p:nvSpPr>
        <p:spPr>
          <a:xfrm>
            <a:off x="10283123" y="841248"/>
            <a:ext cx="617171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Consume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medal.g.plat.frame"/>
          <p:cNvSpPr/>
          <p:nvPr/>
        </p:nvSpPr>
        <p:spPr>
          <a:xfrm>
            <a:off x="2441596" y="777240"/>
            <a:ext cx="7731799" cy="4306824"/>
          </a:xfrm>
          <a:prstGeom prst="rect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6" name="medal.g.plat.label"/>
          <p:cNvSpPr txBox="1"/>
          <p:nvPr/>
        </p:nvSpPr>
        <p:spPr>
          <a:xfrm>
            <a:off x="2514748" y="832104"/>
            <a:ext cx="2209145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 platform · one AWS account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medal.g.lin.frame"/>
          <p:cNvSpPr/>
          <p:nvPr/>
        </p:nvSpPr>
        <p:spPr>
          <a:xfrm>
            <a:off x="2441596" y="5138928"/>
            <a:ext cx="7731799" cy="932688"/>
          </a:xfrm>
          <a:prstGeom prst="roundRect">
            <a:avLst>
              <a:gd name="adj" fmla="val 490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8" name="medal.g.lin.label"/>
          <p:cNvSpPr txBox="1"/>
          <p:nvPr/>
        </p:nvSpPr>
        <p:spPr>
          <a:xfrm>
            <a:off x="2514748" y="5193792"/>
            <a:ext cx="2041822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Lineage · certified.signal_claims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medal.g.ing.label"/>
          <p:cNvSpPr txBox="1"/>
          <p:nvPr/>
        </p:nvSpPr>
        <p:spPr>
          <a:xfrm>
            <a:off x="2551324" y="1133856"/>
            <a:ext cx="405370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Ingest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medal.g.srv.label"/>
          <p:cNvSpPr txBox="1"/>
          <p:nvPr/>
        </p:nvSpPr>
        <p:spPr>
          <a:xfrm>
            <a:off x="8934484" y="1133856"/>
            <a:ext cx="376424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Serve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medal.g.med.frame"/>
          <p:cNvSpPr/>
          <p:nvPr/>
        </p:nvSpPr>
        <p:spPr>
          <a:xfrm>
            <a:off x="3953600" y="1069848"/>
            <a:ext cx="4651700" cy="2423571"/>
          </a:xfrm>
          <a:prstGeom prst="roundRect">
            <a:avLst>
              <a:gd name="adj" fmla="val 1886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cxnSp>
        <p:nvCxnSpPr>
          <p:cNvPr id="12" name="medal.g.med.cell.1.rule.0"/>
          <p:cNvCxnSpPr/>
          <p:nvPr/>
        </p:nvCxnSpPr>
        <p:spPr>
          <a:xfrm>
            <a:off x="5381993" y="1069848"/>
            <a:ext cx="0" cy="2423571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13" name="medal.g.med.cell.2.rule.0"/>
          <p:cNvCxnSpPr/>
          <p:nvPr/>
        </p:nvCxnSpPr>
        <p:spPr>
          <a:xfrm>
            <a:off x="7176906" y="1069848"/>
            <a:ext cx="0" cy="2042358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cxnSp>
        <p:nvCxnSpPr>
          <p:cNvPr id="14" name="medal.g.med.head.rule"/>
          <p:cNvCxnSpPr/>
          <p:nvPr/>
        </p:nvCxnSpPr>
        <p:spPr>
          <a:xfrm>
            <a:off x="3953600" y="1325880"/>
            <a:ext cx="465170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5" name="medal.g.med.cell.0.label"/>
          <p:cNvSpPr txBox="1"/>
          <p:nvPr/>
        </p:nvSpPr>
        <p:spPr>
          <a:xfrm>
            <a:off x="4026752" y="1129193"/>
            <a:ext cx="128208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Bronze · raw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medal.g.med.cell.1.label"/>
          <p:cNvSpPr txBox="1"/>
          <p:nvPr/>
        </p:nvSpPr>
        <p:spPr>
          <a:xfrm>
            <a:off x="5455145" y="1129193"/>
            <a:ext cx="164860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Silver · refined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medal.g.med.cell.2.label"/>
          <p:cNvSpPr txBox="1"/>
          <p:nvPr/>
        </p:nvSpPr>
        <p:spPr>
          <a:xfrm>
            <a:off x="7250058" y="1129193"/>
            <a:ext cx="128208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Gold · certified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medal.g.ops.band"/>
          <p:cNvSpPr/>
          <p:nvPr/>
        </p:nvSpPr>
        <p:spPr>
          <a:xfrm>
            <a:off x="2551324" y="3913632"/>
            <a:ext cx="7512343" cy="1078992"/>
          </a:xfrm>
          <a:prstGeom prst="roundRect">
            <a:avLst>
              <a:gd name="adj" fmla="val 423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9" name="medal.g.ops.bar"/>
          <p:cNvSpPr/>
          <p:nvPr/>
        </p:nvSpPr>
        <p:spPr>
          <a:xfrm>
            <a:off x="2551324" y="3913632"/>
            <a:ext cx="7512343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20" name="medal.g.ops.label"/>
          <p:cNvSpPr txBox="1"/>
          <p:nvPr/>
        </p:nvSpPr>
        <p:spPr>
          <a:xfrm>
            <a:off x="2642764" y="3974485"/>
            <a:ext cx="7329463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Processing and governance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" name="medal.f.1.bus.0"/>
          <p:cNvCxnSpPr/>
          <p:nvPr/>
        </p:nvCxnSpPr>
        <p:spPr>
          <a:xfrm>
            <a:off x="2006799" y="2304517"/>
            <a:ext cx="48361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22" name="medal.f.1.bus.1"/>
          <p:cNvCxnSpPr/>
          <p:nvPr/>
        </p:nvCxnSpPr>
        <p:spPr>
          <a:xfrm>
            <a:off x="2020972" y="2670277"/>
            <a:ext cx="469441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23" name="medal.f.1.bus.2"/>
          <p:cNvCxnSpPr/>
          <p:nvPr/>
        </p:nvCxnSpPr>
        <p:spPr>
          <a:xfrm>
            <a:off x="1908043" y="3036037"/>
            <a:ext cx="58237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24" name="medal.f.1.bus.3"/>
          <p:cNvCxnSpPr/>
          <p:nvPr/>
        </p:nvCxnSpPr>
        <p:spPr>
          <a:xfrm>
            <a:off x="1929989" y="3401797"/>
            <a:ext cx="56042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25" name="medal.f.1.bus.4"/>
          <p:cNvCxnSpPr/>
          <p:nvPr/>
        </p:nvCxnSpPr>
        <p:spPr>
          <a:xfrm>
            <a:off x="2490413" y="2304517"/>
            <a:ext cx="0" cy="109728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cxnSp>
        <p:nvCxnSpPr>
          <p:cNvPr id="26" name="medal.f.1"/>
          <p:cNvCxnSpPr/>
          <p:nvPr/>
        </p:nvCxnSpPr>
        <p:spPr>
          <a:xfrm>
            <a:off x="2490413" y="2517800"/>
            <a:ext cx="469441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7" name="medal.f.2"/>
          <p:cNvSpPr/>
          <p:nvPr/>
        </p:nvSpPr>
        <p:spPr>
          <a:xfrm>
            <a:off x="1701424" y="1641348"/>
            <a:ext cx="1258397" cy="160294"/>
          </a:xfrm>
          <a:custGeom>
            <a:avLst/>
            <a:gdLst/>
            <a:ahLst/>
            <a:cxnLst/>
            <a:rect l="l" t="t" r="r" b="b"/>
            <a:pathLst>
              <a:path w="1258397" h="160294" fill="none">
                <a:moveTo>
                  <a:pt x="0" y="160294"/>
                </a:moveTo>
                <a:lnTo>
                  <a:pt x="0" y="0"/>
                </a:lnTo>
                <a:lnTo>
                  <a:pt x="1258397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28" name="medal.f.3"/>
          <p:cNvCxnSpPr/>
          <p:nvPr/>
        </p:nvCxnSpPr>
        <p:spPr>
          <a:xfrm>
            <a:off x="3343869" y="1755648"/>
            <a:ext cx="68287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med" len="med"/>
          </a:ln>
          <a:effectLst/>
        </p:spPr>
      </p:cxnSp>
      <p:sp>
        <p:nvSpPr>
          <p:cNvPr id="29" name="medal.f.4"/>
          <p:cNvSpPr/>
          <p:nvPr/>
        </p:nvSpPr>
        <p:spPr>
          <a:xfrm>
            <a:off x="4218767" y="1947672"/>
            <a:ext cx="257038" cy="570128"/>
          </a:xfrm>
          <a:custGeom>
            <a:avLst/>
            <a:gdLst/>
            <a:ahLst/>
            <a:cxnLst/>
            <a:rect l="l" t="t" r="r" b="b"/>
            <a:pathLst>
              <a:path w="257038" h="570128" fill="none">
                <a:moveTo>
                  <a:pt x="0" y="0"/>
                </a:moveTo>
                <a:lnTo>
                  <a:pt x="0" y="570128"/>
                </a:lnTo>
                <a:lnTo>
                  <a:pt x="257038" y="570128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30" name="medal.f.5"/>
          <p:cNvSpPr/>
          <p:nvPr/>
        </p:nvSpPr>
        <p:spPr>
          <a:xfrm>
            <a:off x="4218767" y="1417320"/>
            <a:ext cx="5216287" cy="146304"/>
          </a:xfrm>
          <a:custGeom>
            <a:avLst/>
            <a:gdLst/>
            <a:ahLst/>
            <a:cxnLst/>
            <a:rect l="l" t="t" r="r" b="b"/>
            <a:pathLst>
              <a:path w="5216287" h="146304" fill="none">
                <a:moveTo>
                  <a:pt x="0" y="146304"/>
                </a:moveTo>
                <a:lnTo>
                  <a:pt x="0" y="0"/>
                </a:lnTo>
                <a:lnTo>
                  <a:pt x="5216287" y="0"/>
                </a:lnTo>
                <a:lnTo>
                  <a:pt x="5216287" y="146304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1" name="medal.f.6"/>
          <p:cNvCxnSpPr/>
          <p:nvPr/>
        </p:nvCxnSpPr>
        <p:spPr>
          <a:xfrm>
            <a:off x="3343869" y="2632100"/>
            <a:ext cx="113193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32" name="medal.f.7"/>
          <p:cNvCxnSpPr/>
          <p:nvPr/>
        </p:nvCxnSpPr>
        <p:spPr>
          <a:xfrm>
            <a:off x="4859853" y="2517800"/>
            <a:ext cx="122758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3" name="medal.f.8"/>
          <p:cNvSpPr/>
          <p:nvPr/>
        </p:nvSpPr>
        <p:spPr>
          <a:xfrm>
            <a:off x="4859853" y="2632100"/>
            <a:ext cx="1300734" cy="647853"/>
          </a:xfrm>
          <a:custGeom>
            <a:avLst/>
            <a:gdLst/>
            <a:ahLst/>
            <a:cxnLst/>
            <a:rect l="l" t="t" r="r" b="b"/>
            <a:pathLst>
              <a:path w="1300734" h="647853" fill="none">
                <a:moveTo>
                  <a:pt x="0" y="0"/>
                </a:moveTo>
                <a:lnTo>
                  <a:pt x="613745" y="0"/>
                </a:lnTo>
                <a:lnTo>
                  <a:pt x="613745" y="647853"/>
                </a:lnTo>
                <a:lnTo>
                  <a:pt x="1300734" y="647853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4" name="medal.f.9"/>
          <p:cNvCxnSpPr/>
          <p:nvPr/>
        </p:nvCxnSpPr>
        <p:spPr>
          <a:xfrm>
            <a:off x="6471483" y="2517800"/>
            <a:ext cx="122758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5" name="medal.f.10"/>
          <p:cNvSpPr/>
          <p:nvPr/>
        </p:nvSpPr>
        <p:spPr>
          <a:xfrm>
            <a:off x="7891089" y="1755648"/>
            <a:ext cx="1351941" cy="570128"/>
          </a:xfrm>
          <a:custGeom>
            <a:avLst/>
            <a:gdLst/>
            <a:ahLst/>
            <a:cxnLst/>
            <a:rect l="l" t="t" r="r" b="b"/>
            <a:pathLst>
              <a:path w="1351941" h="570128" fill="none">
                <a:moveTo>
                  <a:pt x="0" y="570128"/>
                </a:moveTo>
                <a:lnTo>
                  <a:pt x="0" y="0"/>
                </a:lnTo>
                <a:lnTo>
                  <a:pt x="1351941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6" name="medal.f.11"/>
          <p:cNvCxnSpPr/>
          <p:nvPr/>
        </p:nvCxnSpPr>
        <p:spPr>
          <a:xfrm>
            <a:off x="8083113" y="2517800"/>
            <a:ext cx="1159917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7" name="medal.f.12"/>
          <p:cNvSpPr/>
          <p:nvPr/>
        </p:nvSpPr>
        <p:spPr>
          <a:xfrm>
            <a:off x="8083113" y="2632100"/>
            <a:ext cx="1159917" cy="647853"/>
          </a:xfrm>
          <a:custGeom>
            <a:avLst/>
            <a:gdLst/>
            <a:ahLst/>
            <a:cxnLst/>
            <a:rect l="l" t="t" r="r" b="b"/>
            <a:pathLst>
              <a:path w="1159917" h="647853" fill="none">
                <a:moveTo>
                  <a:pt x="0" y="0"/>
                </a:moveTo>
                <a:lnTo>
                  <a:pt x="799917" y="0"/>
                </a:lnTo>
                <a:lnTo>
                  <a:pt x="799917" y="647853"/>
                </a:lnTo>
                <a:lnTo>
                  <a:pt x="1159917" y="647853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8" name="medal.f.13"/>
          <p:cNvCxnSpPr/>
          <p:nvPr/>
        </p:nvCxnSpPr>
        <p:spPr>
          <a:xfrm>
            <a:off x="9627078" y="1755648"/>
            <a:ext cx="124084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39" name="medal.f.14"/>
          <p:cNvCxnSpPr/>
          <p:nvPr/>
        </p:nvCxnSpPr>
        <p:spPr>
          <a:xfrm>
            <a:off x="9627078" y="2517800"/>
            <a:ext cx="1194389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40" name="medal.f.15"/>
          <p:cNvCxnSpPr/>
          <p:nvPr/>
        </p:nvCxnSpPr>
        <p:spPr>
          <a:xfrm>
            <a:off x="9627078" y="3279953"/>
            <a:ext cx="1194389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41" name="medal.f.16"/>
          <p:cNvCxnSpPr/>
          <p:nvPr/>
        </p:nvCxnSpPr>
        <p:spPr>
          <a:xfrm>
            <a:off x="4482023" y="5541264"/>
            <a:ext cx="133831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42" name="medal.f.17"/>
          <p:cNvCxnSpPr/>
          <p:nvPr/>
        </p:nvCxnSpPr>
        <p:spPr>
          <a:xfrm>
            <a:off x="4495008" y="5861304"/>
            <a:ext cx="136757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43" name="medal.f.18"/>
          <p:cNvCxnSpPr/>
          <p:nvPr/>
        </p:nvCxnSpPr>
        <p:spPr>
          <a:xfrm>
            <a:off x="6738579" y="5541264"/>
            <a:ext cx="548457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44" name="medal.f.19"/>
          <p:cNvSpPr/>
          <p:nvPr/>
        </p:nvSpPr>
        <p:spPr>
          <a:xfrm>
            <a:off x="6696334" y="5660136"/>
            <a:ext cx="1277051" cy="201168"/>
          </a:xfrm>
          <a:custGeom>
            <a:avLst/>
            <a:gdLst/>
            <a:ahLst/>
            <a:cxnLst/>
            <a:rect l="l" t="t" r="r" b="b"/>
            <a:pathLst>
              <a:path w="1277051" h="201168" fill="none">
                <a:moveTo>
                  <a:pt x="0" y="201168"/>
                </a:moveTo>
                <a:lnTo>
                  <a:pt x="1277051" y="201168"/>
                </a:lnTo>
                <a:lnTo>
                  <a:pt x="1277051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45" name="medal.f.20"/>
          <p:cNvCxnSpPr/>
          <p:nvPr/>
        </p:nvCxnSpPr>
        <p:spPr>
          <a:xfrm>
            <a:off x="8659734" y="5541264"/>
            <a:ext cx="37691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46" name="medal.n.press.icon"/>
          <p:cNvSpPr/>
          <p:nvPr/>
        </p:nvSpPr>
        <p:spPr>
          <a:xfrm>
            <a:off x="1564229" y="180159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6000"/>
                </a:moveTo>
                <a:cubicBezTo>
                  <a:pt x="14041" y="6078"/>
                  <a:pt x="17014" y="5088"/>
                  <a:pt x="19400" y="3200"/>
                </a:cubicBezTo>
                <a:cubicBezTo>
                  <a:pt x="19703" y="2973"/>
                  <a:pt x="20108" y="2936"/>
                  <a:pt x="20447" y="3106"/>
                </a:cubicBezTo>
                <a:cubicBezTo>
                  <a:pt x="20786" y="3275"/>
                  <a:pt x="21000" y="3621"/>
                  <a:pt x="21000" y="4000"/>
                </a:cubicBezTo>
                <a:lnTo>
                  <a:pt x="21000" y="16000"/>
                </a:lnTo>
                <a:cubicBezTo>
                  <a:pt x="21000" y="16379"/>
                  <a:pt x="20786" y="16725"/>
                  <a:pt x="20447" y="16894"/>
                </a:cubicBezTo>
                <a:cubicBezTo>
                  <a:pt x="20108" y="17064"/>
                  <a:pt x="19703" y="17027"/>
                  <a:pt x="19400" y="16800"/>
                </a:cubicBezTo>
                <a:cubicBezTo>
                  <a:pt x="17014" y="14912"/>
                  <a:pt x="14041" y="13922"/>
                  <a:pt x="11000" y="14000"/>
                </a:cubicBezTo>
                <a:lnTo>
                  <a:pt x="5000" y="14000"/>
                </a:lnTo>
                <a:cubicBezTo>
                  <a:pt x="3895" y="14000"/>
                  <a:pt x="3000" y="13105"/>
                  <a:pt x="3000" y="12000"/>
                </a:cubicBezTo>
                <a:lnTo>
                  <a:pt x="3000" y="8000"/>
                </a:lnTo>
                <a:cubicBezTo>
                  <a:pt x="3000" y="6895"/>
                  <a:pt x="3895" y="6000"/>
                  <a:pt x="5000" y="6000"/>
                </a:cubicBezTo>
                <a:close/>
                <a:moveTo>
                  <a:pt x="6000" y="14000"/>
                </a:moveTo>
                <a:cubicBezTo>
                  <a:pt x="6000" y="16596"/>
                  <a:pt x="6842" y="19123"/>
                  <a:pt x="8400" y="21200"/>
                </a:cubicBezTo>
                <a:cubicBezTo>
                  <a:pt x="9063" y="22084"/>
                  <a:pt x="10316" y="22263"/>
                  <a:pt x="11200" y="21600"/>
                </a:cubicBezTo>
                <a:cubicBezTo>
                  <a:pt x="12084" y="20937"/>
                  <a:pt x="12263" y="19684"/>
                  <a:pt x="11600" y="18800"/>
                </a:cubicBezTo>
                <a:cubicBezTo>
                  <a:pt x="10561" y="17415"/>
                  <a:pt x="10000" y="15731"/>
                  <a:pt x="10000" y="14000"/>
                </a:cubicBezTo>
                <a:moveTo>
                  <a:pt x="8000" y="6000"/>
                </a:moveTo>
                <a:lnTo>
                  <a:pt x="8000" y="14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7" name="medal.n.press.caption"/>
          <p:cNvSpPr txBox="1"/>
          <p:nvPr/>
        </p:nvSpPr>
        <p:spPr>
          <a:xfrm>
            <a:off x="467863" y="1809140"/>
            <a:ext cx="104150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Congress media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abstracts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8" name="vendor.aws/general/internet-alt1.medal-n-web" descr="Public web (vendor mark aws/general/internet-alt1)"/>
          <p:cNvPicPr>
            <a:picLocks noChangeAspect="1"/>
          </p:cNvPicPr>
          <p:nvPr/>
        </p:nvPicPr>
        <p:blipFill>
          <a:blip r:embed="rId2"/>
          <a:srcRect l="2734" t="3906" r="2734" b="3906"/>
          <a:stretch>
            <a:fillRect/>
          </a:stretch>
        </p:blipFill>
        <p:spPr>
          <a:xfrm>
            <a:off x="1732479" y="2170757"/>
            <a:ext cx="274320" cy="267519"/>
          </a:xfrm>
          <a:prstGeom prst="rect">
            <a:avLst/>
          </a:prstGeom>
          <a:effectLst/>
        </p:spPr>
      </p:pic>
      <p:sp>
        <p:nvSpPr>
          <p:cNvPr id="49" name="medal.n.web.caption"/>
          <p:cNvSpPr txBox="1"/>
          <p:nvPr/>
        </p:nvSpPr>
        <p:spPr>
          <a:xfrm>
            <a:off x="972612" y="2174900"/>
            <a:ext cx="70500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Public web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press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medal.n.trials.icon"/>
          <p:cNvSpPr/>
          <p:nvPr/>
        </p:nvSpPr>
        <p:spPr>
          <a:xfrm>
            <a:off x="1746652" y="253311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51" name="medal.n.trials.caption"/>
          <p:cNvSpPr txBox="1"/>
          <p:nvPr/>
        </p:nvSpPr>
        <p:spPr>
          <a:xfrm>
            <a:off x="1015132" y="2540660"/>
            <a:ext cx="67665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Trial feeds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registries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medal.n.payers.icon"/>
          <p:cNvSpPr/>
          <p:nvPr/>
        </p:nvSpPr>
        <p:spPr>
          <a:xfrm>
            <a:off x="1633723" y="289887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53" name="medal.n.payers.caption"/>
          <p:cNvSpPr txBox="1"/>
          <p:nvPr/>
        </p:nvSpPr>
        <p:spPr>
          <a:xfrm>
            <a:off x="676347" y="2906420"/>
            <a:ext cx="902513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Payers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coverage notices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medal.n.partners.icon"/>
          <p:cNvSpPr/>
          <p:nvPr/>
        </p:nvSpPr>
        <p:spPr>
          <a:xfrm>
            <a:off x="1655669" y="326463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14000"/>
                </a:moveTo>
                <a:lnTo>
                  <a:pt x="7500" y="11100"/>
                </a:lnTo>
                <a:cubicBezTo>
                  <a:pt x="7832" y="10440"/>
                  <a:pt x="8501" y="10017"/>
                  <a:pt x="9240" y="10000"/>
                </a:cubicBezTo>
                <a:lnTo>
                  <a:pt x="20000" y="10000"/>
                </a:lnTo>
                <a:cubicBezTo>
                  <a:pt x="20619" y="9999"/>
                  <a:pt x="21204" y="10285"/>
                  <a:pt x="21584" y="10774"/>
                </a:cubicBezTo>
                <a:cubicBezTo>
                  <a:pt x="21963" y="11263"/>
                  <a:pt x="22095" y="11900"/>
                  <a:pt x="21940" y="12500"/>
                </a:cubicBezTo>
                <a:lnTo>
                  <a:pt x="20400" y="18500"/>
                </a:lnTo>
                <a:cubicBezTo>
                  <a:pt x="20171" y="19388"/>
                  <a:pt x="19367" y="20006"/>
                  <a:pt x="1845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7900" y="3000"/>
                </a:lnTo>
                <a:cubicBezTo>
                  <a:pt x="8580" y="2993"/>
                  <a:pt x="9216" y="3332"/>
                  <a:pt x="9590" y="3900"/>
                </a:cubicBezTo>
                <a:lnTo>
                  <a:pt x="10400" y="5100"/>
                </a:lnTo>
                <a:cubicBezTo>
                  <a:pt x="10770" y="5662"/>
                  <a:pt x="11397" y="6000"/>
                  <a:pt x="12070" y="6000"/>
                </a:cubicBezTo>
                <a:lnTo>
                  <a:pt x="18000" y="6000"/>
                </a:lnTo>
                <a:cubicBezTo>
                  <a:pt x="19105" y="6000"/>
                  <a:pt x="20000" y="6895"/>
                  <a:pt x="20000" y="8000"/>
                </a:cubicBezTo>
                <a:lnTo>
                  <a:pt x="20000" y="10000"/>
                </a:lnTo>
              </a:path>
            </a:pathLst>
          </a:custGeom>
          <a:noFill/>
          <a:ln w="2286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55" name="medal.n.partners.caption"/>
          <p:cNvSpPr txBox="1"/>
          <p:nvPr/>
        </p:nvSpPr>
        <p:spPr>
          <a:xfrm>
            <a:off x="742183" y="3272180"/>
            <a:ext cx="85862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Partner feeds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file drops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vendor.aws/analytics/kinesis-data-streams.medal-n-kinesis" descr="Kinesis (vendor mark aws/analytics/kinesis-data-stream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854" y="1563624"/>
            <a:ext cx="384048" cy="384048"/>
          </a:xfrm>
          <a:prstGeom prst="rect">
            <a:avLst/>
          </a:prstGeom>
          <a:effectLst/>
        </p:spPr>
      </p:pic>
      <p:sp>
        <p:nvSpPr>
          <p:cNvPr id="57" name="medal.n.kinesis.caption"/>
          <p:cNvSpPr txBox="1"/>
          <p:nvPr/>
        </p:nvSpPr>
        <p:spPr>
          <a:xfrm>
            <a:off x="2804863" y="1993392"/>
            <a:ext cx="69403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Kinesis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press stream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8" name="vendor.aws/analytics/kinesis-data-firehose.medal-n-firehose" descr="Firehose (vendor mark aws/analytics/kinesis-data-firehos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752" y="1563624"/>
            <a:ext cx="384048" cy="384048"/>
          </a:xfrm>
          <a:prstGeom prst="rect">
            <a:avLst/>
          </a:prstGeom>
          <a:effectLst/>
        </p:spPr>
      </p:pic>
      <p:sp>
        <p:nvSpPr>
          <p:cNvPr id="59" name="medal.n.firehose.caption"/>
          <p:cNvSpPr txBox="1"/>
          <p:nvPr/>
        </p:nvSpPr>
        <p:spPr>
          <a:xfrm>
            <a:off x="4465664" y="1626032"/>
            <a:ext cx="68122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Firehose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60 s batches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0" name="vendor.aws/analytics/amazon-opensearch-service.medal-n-search" descr="OpenSearch (vendor mark aws/analytics/amazon-opensearch-servic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3043" y="1563624"/>
            <a:ext cx="384048" cy="384048"/>
          </a:xfrm>
          <a:prstGeom prst="rect">
            <a:avLst/>
          </a:prstGeom>
          <a:effectLst/>
        </p:spPr>
      </p:pic>
      <p:sp>
        <p:nvSpPr>
          <p:cNvPr id="61" name="medal.n.search.caption"/>
          <p:cNvSpPr txBox="1"/>
          <p:nvPr/>
        </p:nvSpPr>
        <p:spPr>
          <a:xfrm>
            <a:off x="9038675" y="1993392"/>
            <a:ext cx="79278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OpenSearch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claim index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2" name="vendor.aws/compute/elastic-container-service-task.medal-n-writer" descr="Writer agent (vendor mark aws/compute/elastic-container-service-task)"/>
          <p:cNvPicPr>
            <a:picLocks noChangeAspect="1"/>
          </p:cNvPicPr>
          <p:nvPr/>
        </p:nvPicPr>
        <p:blipFill>
          <a:blip r:embed="rId6"/>
          <a:srcRect l="14453" t="3906" r="15625" b="3906"/>
          <a:stretch>
            <a:fillRect/>
          </a:stretch>
        </p:blipFill>
        <p:spPr>
          <a:xfrm>
            <a:off x="10867888" y="1563624"/>
            <a:ext cx="291291" cy="384048"/>
          </a:xfrm>
          <a:prstGeom prst="rect">
            <a:avLst/>
          </a:prstGeom>
          <a:effectLst/>
        </p:spPr>
      </p:pic>
      <p:sp>
        <p:nvSpPr>
          <p:cNvPr id="63" name="medal.n.writer.caption"/>
          <p:cNvSpPr txBox="1"/>
          <p:nvPr/>
        </p:nvSpPr>
        <p:spPr>
          <a:xfrm>
            <a:off x="10620799" y="1993392"/>
            <a:ext cx="78547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Writer agent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vendor.aws/compute/lambda.medal-n-lambda" descr="Lambda (vendor mark aws/compute/lambda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9854" y="2325776"/>
            <a:ext cx="384048" cy="384048"/>
          </a:xfrm>
          <a:prstGeom prst="rect">
            <a:avLst/>
          </a:prstGeom>
          <a:effectLst/>
        </p:spPr>
      </p:pic>
      <p:sp>
        <p:nvSpPr>
          <p:cNvPr id="65" name="medal.n.lambda.caption"/>
          <p:cNvSpPr txBox="1"/>
          <p:nvPr/>
        </p:nvSpPr>
        <p:spPr>
          <a:xfrm>
            <a:off x="2890359" y="2755544"/>
            <a:ext cx="523037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Lambda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collectors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6" name="vendor.aws/storage/simple-storage-service-s3.medal-n-raw" descr="Amazon S3 (vendor mark aws/storage/simple-storage-service-s3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5772" y="2325776"/>
            <a:ext cx="384048" cy="384048"/>
          </a:xfrm>
          <a:prstGeom prst="rect">
            <a:avLst/>
          </a:prstGeom>
          <a:effectLst/>
        </p:spPr>
      </p:pic>
      <p:sp>
        <p:nvSpPr>
          <p:cNvPr id="67" name="medal.n.raw.caption"/>
          <p:cNvSpPr txBox="1"/>
          <p:nvPr/>
        </p:nvSpPr>
        <p:spPr>
          <a:xfrm>
            <a:off x="4304322" y="2755544"/>
            <a:ext cx="72694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raw zone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8" name="vendor.aws/storage/simple-storage-service-s3.medal-n-refined" descr="Amazon S3 (vendor mark aws/storage/simple-storage-service-s3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7426" y="2325776"/>
            <a:ext cx="384048" cy="384048"/>
          </a:xfrm>
          <a:prstGeom prst="rect">
            <a:avLst/>
          </a:prstGeom>
          <a:effectLst/>
        </p:spPr>
      </p:pic>
      <p:sp>
        <p:nvSpPr>
          <p:cNvPr id="69" name="medal.n.refined.caption"/>
          <p:cNvSpPr txBox="1"/>
          <p:nvPr/>
        </p:nvSpPr>
        <p:spPr>
          <a:xfrm>
            <a:off x="5915976" y="2755544"/>
            <a:ext cx="72694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refined zone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0" name="vendor.aws/storage/simple-storage-service-s3.medal-n-certified" descr="Amazon S3 (vendor mark aws/storage/simple-storage-service-s3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9079" y="2325776"/>
            <a:ext cx="384048" cy="384048"/>
          </a:xfrm>
          <a:prstGeom prst="rect">
            <a:avLst/>
          </a:prstGeom>
          <a:effectLst/>
        </p:spPr>
      </p:pic>
      <p:sp>
        <p:nvSpPr>
          <p:cNvPr id="71" name="medal.n.certified.caption"/>
          <p:cNvSpPr txBox="1"/>
          <p:nvPr/>
        </p:nvSpPr>
        <p:spPr>
          <a:xfrm>
            <a:off x="7527629" y="2755544"/>
            <a:ext cx="72694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certified zone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2" name="vendor.aws/database/rds.medal-n-rds" descr="RDS (vendor mark aws/database/rds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3043" y="2325776"/>
            <a:ext cx="384048" cy="384048"/>
          </a:xfrm>
          <a:prstGeom prst="rect">
            <a:avLst/>
          </a:prstGeom>
          <a:effectLst/>
        </p:spPr>
      </p:pic>
      <p:sp>
        <p:nvSpPr>
          <p:cNvPr id="73" name="medal.n.rds.caption"/>
          <p:cNvSpPr txBox="1"/>
          <p:nvPr/>
        </p:nvSpPr>
        <p:spPr>
          <a:xfrm>
            <a:off x="9133315" y="2755544"/>
            <a:ext cx="603504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RDS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ledger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4" name="vendor.programming/framework/react.medal-n-review" descr="Review app (vendor mark programming/framework/react)"/>
          <p:cNvPicPr>
            <a:picLocks noChangeAspect="1"/>
          </p:cNvPicPr>
          <p:nvPr/>
        </p:nvPicPr>
        <p:blipFill>
          <a:blip r:embed="rId10"/>
          <a:srcRect l="5078" t="9766" r="5078" b="9766"/>
          <a:stretch>
            <a:fillRect/>
          </a:stretch>
        </p:blipFill>
        <p:spPr>
          <a:xfrm>
            <a:off x="10821509" y="2345814"/>
            <a:ext cx="384048" cy="343973"/>
          </a:xfrm>
          <a:prstGeom prst="rect">
            <a:avLst/>
          </a:prstGeom>
          <a:effectLst/>
        </p:spPr>
      </p:pic>
      <p:sp>
        <p:nvSpPr>
          <p:cNvPr id="75" name="medal.n.review.caption"/>
          <p:cNvSpPr txBox="1"/>
          <p:nvPr/>
        </p:nvSpPr>
        <p:spPr>
          <a:xfrm>
            <a:off x="10642744" y="2735507"/>
            <a:ext cx="74157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app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React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medal.n.excluded.stop"/>
          <p:cNvSpPr/>
          <p:nvPr/>
        </p:nvSpPr>
        <p:spPr>
          <a:xfrm>
            <a:off x="6160578" y="3161081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4929" y="4929"/>
                </a:moveTo>
                <a:lnTo>
                  <a:pt x="19070" y="19071"/>
                </a:lnTo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7" name="medal.n.excluded.caption"/>
          <p:cNvSpPr txBox="1"/>
          <p:nvPr/>
        </p:nvSpPr>
        <p:spPr>
          <a:xfrm>
            <a:off x="6453186" y="3157926"/>
            <a:ext cx="889711" cy="24405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unlicensed items dropped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8" name="vendor.aws/analytics/athena.medal-n-athena" descr="Athena (vendor mark aws/analytics/athena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3043" y="3087929"/>
            <a:ext cx="384048" cy="384048"/>
          </a:xfrm>
          <a:prstGeom prst="rect">
            <a:avLst/>
          </a:prstGeom>
          <a:effectLst/>
        </p:spPr>
      </p:pic>
      <p:sp>
        <p:nvSpPr>
          <p:cNvPr id="79" name="medal.n.athena.caption"/>
          <p:cNvSpPr txBox="1"/>
          <p:nvPr/>
        </p:nvSpPr>
        <p:spPr>
          <a:xfrm>
            <a:off x="9202810" y="3517697"/>
            <a:ext cx="46451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Athena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ad hoc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0" name="vendor.aws/analytics/quicksight.medal-n-qs" descr="QuickSight (vendor mark aws/analytics/quicksight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1509" y="3087929"/>
            <a:ext cx="384048" cy="384048"/>
          </a:xfrm>
          <a:prstGeom prst="rect">
            <a:avLst/>
          </a:prstGeom>
          <a:effectLst/>
        </p:spPr>
      </p:pic>
      <p:sp>
        <p:nvSpPr>
          <p:cNvPr id="81" name="medal.n.qs.caption"/>
          <p:cNvSpPr txBox="1"/>
          <p:nvPr/>
        </p:nvSpPr>
        <p:spPr>
          <a:xfrm>
            <a:off x="10657375" y="3517697"/>
            <a:ext cx="71231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QuickSight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signal trends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vendor.aws/analytics/glue.medal-n-glue" descr="AWS Glue (vendor mark aws/analytics/glu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24476" y="4279392"/>
            <a:ext cx="274320" cy="274320"/>
          </a:xfrm>
          <a:prstGeom prst="rect">
            <a:avLst/>
          </a:prstGeom>
          <a:effectLst/>
        </p:spPr>
      </p:pic>
      <p:sp>
        <p:nvSpPr>
          <p:cNvPr id="83" name="medal.n.glue.caption"/>
          <p:cNvSpPr txBox="1"/>
          <p:nvPr/>
        </p:nvSpPr>
        <p:spPr>
          <a:xfrm>
            <a:off x="2953660" y="4286936"/>
            <a:ext cx="65379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Glue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jobs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4" name="vendor.aws/integration/eventbridge-scheduler.medal-n-sched" descr="EventBridge (vendor mark aws/integration/eventbridge-scheduler)"/>
          <p:cNvPicPr>
            <a:picLocks noChangeAspect="1"/>
          </p:cNvPicPr>
          <p:nvPr/>
        </p:nvPicPr>
        <p:blipFill>
          <a:blip r:embed="rId14"/>
          <a:srcRect l="3906" t="3906" r="3906" b="6250"/>
          <a:stretch>
            <a:fillRect/>
          </a:stretch>
        </p:blipFill>
        <p:spPr>
          <a:xfrm>
            <a:off x="3789008" y="4282879"/>
            <a:ext cx="274320" cy="267346"/>
          </a:xfrm>
          <a:prstGeom prst="rect">
            <a:avLst/>
          </a:prstGeom>
          <a:effectLst/>
        </p:spPr>
      </p:pic>
      <p:sp>
        <p:nvSpPr>
          <p:cNvPr id="85" name="medal.n.sched.caption"/>
          <p:cNvSpPr txBox="1"/>
          <p:nvPr/>
        </p:nvSpPr>
        <p:spPr>
          <a:xfrm>
            <a:off x="4118192" y="4286936"/>
            <a:ext cx="79278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EventBridge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weekly run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vendor.aws/ml/textract.medal-n-textract" descr="Textract (vendor mark aws/ml/textract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1993" y="4279392"/>
            <a:ext cx="274320" cy="274320"/>
          </a:xfrm>
          <a:prstGeom prst="rect">
            <a:avLst/>
          </a:prstGeom>
          <a:effectLst/>
        </p:spPr>
      </p:pic>
      <p:sp>
        <p:nvSpPr>
          <p:cNvPr id="87" name="medal.n.textract.caption"/>
          <p:cNvSpPr txBox="1"/>
          <p:nvPr/>
        </p:nvSpPr>
        <p:spPr>
          <a:xfrm>
            <a:off x="5711177" y="4286936"/>
            <a:ext cx="53035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Textract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PDF text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" name="vendor.aws/ml/comprehend.medal-n-comprehend" descr="Comprehend (vendor mark aws/ml/comprehend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6906" y="4279392"/>
            <a:ext cx="274320" cy="274320"/>
          </a:xfrm>
          <a:prstGeom prst="rect">
            <a:avLst/>
          </a:prstGeom>
          <a:effectLst/>
        </p:spPr>
      </p:pic>
      <p:sp>
        <p:nvSpPr>
          <p:cNvPr id="89" name="medal.n.comprehend.caption"/>
          <p:cNvSpPr txBox="1"/>
          <p:nvPr/>
        </p:nvSpPr>
        <p:spPr>
          <a:xfrm>
            <a:off x="7506090" y="4286936"/>
            <a:ext cx="82936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Comprehend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entities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vendor.aws/security/key-management-service.medal-n-kms" descr="AWS KMS (vendor mark aws/security/key-management-service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24476" y="4626864"/>
            <a:ext cx="274320" cy="274320"/>
          </a:xfrm>
          <a:prstGeom prst="rect">
            <a:avLst/>
          </a:prstGeom>
          <a:effectLst/>
        </p:spPr>
      </p:pic>
      <p:sp>
        <p:nvSpPr>
          <p:cNvPr id="91" name="medal.n.kms.caption"/>
          <p:cNvSpPr txBox="1"/>
          <p:nvPr/>
        </p:nvSpPr>
        <p:spPr>
          <a:xfrm>
            <a:off x="2953660" y="4634408"/>
            <a:ext cx="65379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KMS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keys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2" name="vendor.aws/security/macie.medal-n-macie" descr="Macie (vendor mark aws/security/macie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89008" y="4626864"/>
            <a:ext cx="274320" cy="274320"/>
          </a:xfrm>
          <a:prstGeom prst="rect">
            <a:avLst/>
          </a:prstGeom>
          <a:effectLst/>
        </p:spPr>
      </p:pic>
      <p:sp>
        <p:nvSpPr>
          <p:cNvPr id="93" name="medal.n.macie.caption"/>
          <p:cNvSpPr txBox="1"/>
          <p:nvPr/>
        </p:nvSpPr>
        <p:spPr>
          <a:xfrm>
            <a:off x="4118192" y="4634408"/>
            <a:ext cx="44074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Macie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PII scan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4" name="vendor.aws/analytics/lake-formation.medal-n-lf" descr="Lake Formation (vendor mark aws/analytics/lake-formation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81993" y="4626864"/>
            <a:ext cx="274320" cy="274320"/>
          </a:xfrm>
          <a:prstGeom prst="rect">
            <a:avLst/>
          </a:prstGeom>
          <a:effectLst/>
        </p:spPr>
      </p:pic>
      <p:sp>
        <p:nvSpPr>
          <p:cNvPr id="95" name="medal.n.lf.caption"/>
          <p:cNvSpPr txBox="1"/>
          <p:nvPr/>
        </p:nvSpPr>
        <p:spPr>
          <a:xfrm>
            <a:off x="5711177" y="4634408"/>
            <a:ext cx="99761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Lake Formation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grants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6" name="vendor.aws/management/cloudtrail.medal-n-trail" descr="CloudTrail (vendor mark aws/management/cloudtrail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76906" y="4626864"/>
            <a:ext cx="274320" cy="274320"/>
          </a:xfrm>
          <a:prstGeom prst="rect">
            <a:avLst/>
          </a:prstGeom>
          <a:effectLst/>
        </p:spPr>
      </p:pic>
      <p:sp>
        <p:nvSpPr>
          <p:cNvPr id="97" name="medal.n.trail.caption"/>
          <p:cNvSpPr txBox="1"/>
          <p:nvPr/>
        </p:nvSpPr>
        <p:spPr>
          <a:xfrm>
            <a:off x="7506090" y="4634408"/>
            <a:ext cx="66842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CloudTrail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audit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medal.n.d1.dataset"/>
          <p:cNvSpPr/>
          <p:nvPr/>
        </p:nvSpPr>
        <p:spPr>
          <a:xfrm>
            <a:off x="3414684" y="5422392"/>
            <a:ext cx="1067373" cy="23774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raw.</a:t>
            </a: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press_items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medal.n.d3.dataset"/>
          <p:cNvSpPr/>
          <p:nvPr/>
        </p:nvSpPr>
        <p:spPr>
          <a:xfrm>
            <a:off x="5820361" y="5422392"/>
            <a:ext cx="918179" cy="23774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refined.</a:t>
            </a: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claims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medal.n.d5.dataset"/>
          <p:cNvSpPr/>
          <p:nvPr/>
        </p:nvSpPr>
        <p:spPr>
          <a:xfrm>
            <a:off x="7287069" y="5422392"/>
            <a:ext cx="1372661" cy="23774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certified.</a:t>
            </a: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signal_claims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medal.n.more.more"/>
          <p:cNvSpPr/>
          <p:nvPr/>
        </p:nvSpPr>
        <p:spPr>
          <a:xfrm>
            <a:off x="9036630" y="5413248"/>
            <a:ext cx="796874" cy="2560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+14 more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medal.n.d2.dataset"/>
          <p:cNvSpPr/>
          <p:nvPr/>
        </p:nvSpPr>
        <p:spPr>
          <a:xfrm>
            <a:off x="3401734" y="5742432"/>
            <a:ext cx="1093274" cy="23774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raw.</a:t>
            </a: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trial_records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medal.n.d4.dataset"/>
          <p:cNvSpPr/>
          <p:nvPr/>
        </p:nvSpPr>
        <p:spPr>
          <a:xfrm>
            <a:off x="5862607" y="5742432"/>
            <a:ext cx="833686" cy="23774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refined.</a:t>
            </a:r>
            <a:r>
              <a:rPr lang="en-US" sz="8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trials</a:t>
            </a:r>
            <a:endParaRPr lang="en-US" sz="8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medal.f.3.label"/>
          <p:cNvSpPr txBox="1"/>
          <p:nvPr/>
        </p:nvSpPr>
        <p:spPr>
          <a:xfrm>
            <a:off x="3474708" y="1587856"/>
            <a:ext cx="42119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stream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medal.f.4.label"/>
          <p:cNvSpPr txBox="1"/>
          <p:nvPr/>
        </p:nvSpPr>
        <p:spPr>
          <a:xfrm>
            <a:off x="4255343" y="2071116"/>
            <a:ext cx="44077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archive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medal.f.5.label"/>
          <p:cNvSpPr txBox="1"/>
          <p:nvPr/>
        </p:nvSpPr>
        <p:spPr>
          <a:xfrm>
            <a:off x="6492817" y="1444752"/>
            <a:ext cx="66818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index · 60 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medal.f.6.label"/>
          <p:cNvSpPr txBox="1"/>
          <p:nvPr/>
        </p:nvSpPr>
        <p:spPr>
          <a:xfrm>
            <a:off x="3499952" y="2659532"/>
            <a:ext cx="45401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append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medal.f.7.label"/>
          <p:cNvSpPr txBox="1"/>
          <p:nvPr/>
        </p:nvSpPr>
        <p:spPr>
          <a:xfrm>
            <a:off x="5149669" y="2350008"/>
            <a:ext cx="83082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dedupe on key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medal.f.8.label"/>
          <p:cNvSpPr txBox="1"/>
          <p:nvPr/>
        </p:nvSpPr>
        <p:spPr>
          <a:xfrm>
            <a:off x="5674691" y="3112160"/>
            <a:ext cx="284804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filter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medal.f.9.label"/>
          <p:cNvSpPr txBox="1"/>
          <p:nvPr/>
        </p:nvSpPr>
        <p:spPr>
          <a:xfrm>
            <a:off x="6897418" y="2545232"/>
            <a:ext cx="375713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certify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medal.f.10.label"/>
          <p:cNvSpPr txBox="1"/>
          <p:nvPr/>
        </p:nvSpPr>
        <p:spPr>
          <a:xfrm>
            <a:off x="7147464" y="1970532"/>
            <a:ext cx="70704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index 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medal.f.11.label"/>
          <p:cNvSpPr txBox="1"/>
          <p:nvPr/>
        </p:nvSpPr>
        <p:spPr>
          <a:xfrm>
            <a:off x="8645026" y="2350008"/>
            <a:ext cx="40185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nightly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medal.f.12.label"/>
          <p:cNvSpPr txBox="1"/>
          <p:nvPr/>
        </p:nvSpPr>
        <p:spPr>
          <a:xfrm>
            <a:off x="8704847" y="2885846"/>
            <a:ext cx="35636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query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medal.f.13.label"/>
          <p:cNvSpPr txBox="1"/>
          <p:nvPr/>
        </p:nvSpPr>
        <p:spPr>
          <a:xfrm>
            <a:off x="10232791" y="1587856"/>
            <a:ext cx="395173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medal.f.14.label"/>
          <p:cNvSpPr txBox="1"/>
          <p:nvPr/>
        </p:nvSpPr>
        <p:spPr>
          <a:xfrm>
            <a:off x="10206284" y="2545232"/>
            <a:ext cx="40173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medal.f.15.label"/>
          <p:cNvSpPr txBox="1"/>
          <p:nvPr/>
        </p:nvSpPr>
        <p:spPr>
          <a:xfrm>
            <a:off x="10212733" y="3307385"/>
            <a:ext cx="38883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trends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medal.f.16.label"/>
          <p:cNvSpPr txBox="1"/>
          <p:nvPr/>
        </p:nvSpPr>
        <p:spPr>
          <a:xfrm>
            <a:off x="4745725" y="5373472"/>
            <a:ext cx="810913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extract_claims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medal.f.17.label"/>
          <p:cNvSpPr txBox="1"/>
          <p:nvPr/>
        </p:nvSpPr>
        <p:spPr>
          <a:xfrm>
            <a:off x="4795910" y="5693512"/>
            <a:ext cx="765772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dedupe_trials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medal.f.18.label"/>
          <p:cNvSpPr txBox="1"/>
          <p:nvPr/>
        </p:nvSpPr>
        <p:spPr>
          <a:xfrm>
            <a:off x="6824951" y="5373472"/>
            <a:ext cx="375713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certify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medal.f.19.label"/>
          <p:cNvSpPr txBox="1"/>
          <p:nvPr/>
        </p:nvSpPr>
        <p:spPr>
          <a:xfrm>
            <a:off x="7303329" y="5693512"/>
            <a:ext cx="245940" cy="14036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join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1" name="state.medal.legend.key.data"/>
          <p:cNvCxnSpPr/>
          <p:nvPr/>
        </p:nvCxnSpPr>
        <p:spPr>
          <a:xfrm>
            <a:off x="512064" y="6135624"/>
            <a:ext cx="36576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122" name="medal.legend.key.data.text"/>
          <p:cNvSpPr txBox="1"/>
          <p:nvPr/>
        </p:nvSpPr>
        <p:spPr>
          <a:xfrm>
            <a:off x="969264" y="6066953"/>
            <a:ext cx="37279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Batch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3" name="state.medal.legend.key.async"/>
          <p:cNvCxnSpPr/>
          <p:nvPr/>
        </p:nvCxnSpPr>
        <p:spPr>
          <a:xfrm>
            <a:off x="1616383" y="6135624"/>
            <a:ext cx="36576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sp>
        <p:nvSpPr>
          <p:cNvPr id="124" name="medal.legend.key.async.text"/>
          <p:cNvSpPr txBox="1"/>
          <p:nvPr/>
        </p:nvSpPr>
        <p:spPr>
          <a:xfrm>
            <a:off x="2073583" y="6066953"/>
            <a:ext cx="46036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Stream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arch-dr-aws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standby Region restores the brief service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within an hour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dr.g.org.frame"/>
          <p:cNvSpPr/>
          <p:nvPr/>
        </p:nvSpPr>
        <p:spPr>
          <a:xfrm>
            <a:off x="502920" y="822960"/>
            <a:ext cx="2652497" cy="5111496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txBody>
          <a:bodyPr/>
          <a:p/>
        </p:txBody>
      </p:sp>
      <p:sp>
        <p:nvSpPr>
          <p:cNvPr id="4" name="dr.g.org.label"/>
          <p:cNvSpPr txBox="1"/>
          <p:nvPr/>
        </p:nvSpPr>
        <p:spPr>
          <a:xfrm>
            <a:off x="576072" y="877824"/>
            <a:ext cx="236401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Organizations · 3 OUs, 6 accounts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dr.g.acct.tab"/>
          <p:cNvSpPr/>
          <p:nvPr/>
        </p:nvSpPr>
        <p:spPr>
          <a:xfrm>
            <a:off x="3246857" y="1707797"/>
            <a:ext cx="237744" cy="237744"/>
          </a:xfrm>
          <a:prstGeom prst="rect">
            <a:avLst/>
          </a:prstGeom>
          <a:solidFill>
            <a:srgbClr val="E7157B"/>
          </a:solidFill>
          <a:ln>
            <a:noFill/>
          </a:ln>
          <a:effectLst/>
        </p:spPr>
        <p:txBody>
          <a:bodyPr/>
          <a:p/>
        </p:txBody>
      </p:sp>
      <p:sp>
        <p:nvSpPr>
          <p:cNvPr id="6" name="dr.g.acct.frame"/>
          <p:cNvSpPr/>
          <p:nvPr/>
        </p:nvSpPr>
        <p:spPr>
          <a:xfrm>
            <a:off x="3246857" y="1707797"/>
            <a:ext cx="8506231" cy="4226659"/>
          </a:xfrm>
          <a:prstGeom prst="rect">
            <a:avLst/>
          </a:prstGeom>
          <a:noFill/>
          <a:ln w="15875">
            <a:solidFill>
              <a:srgbClr val="E7157B"/>
            </a:solidFill>
          </a:ln>
          <a:effectLst/>
        </p:spPr>
        <p:txBody>
          <a:bodyPr/>
          <a:p/>
        </p:txBody>
      </p:sp>
      <p:sp>
        <p:nvSpPr>
          <p:cNvPr id="7" name="dr.g.acct.tab.icon"/>
          <p:cNvSpPr/>
          <p:nvPr/>
        </p:nvSpPr>
        <p:spPr>
          <a:xfrm>
            <a:off x="3288005" y="1748945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8" name="dr.g.acct.label"/>
          <p:cNvSpPr txBox="1"/>
          <p:nvPr/>
        </p:nvSpPr>
        <p:spPr>
          <a:xfrm>
            <a:off x="3548609" y="1757997"/>
            <a:ext cx="203517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Account brief-prod · workloads OU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dr.g.ra.tab"/>
          <p:cNvSpPr/>
          <p:nvPr/>
        </p:nvSpPr>
        <p:spPr>
          <a:xfrm>
            <a:off x="3384017" y="2100989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10" name="dr.g.ra.frame"/>
          <p:cNvSpPr/>
          <p:nvPr/>
        </p:nvSpPr>
        <p:spPr>
          <a:xfrm>
            <a:off x="3384017" y="2100989"/>
            <a:ext cx="3295970" cy="3714595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  <a:effectLst/>
        </p:spPr>
        <p:txBody>
          <a:bodyPr/>
          <a:p/>
        </p:txBody>
      </p:sp>
      <p:sp>
        <p:nvSpPr>
          <p:cNvPr id="11" name="dr.g.ra.tab.icon"/>
          <p:cNvSpPr/>
          <p:nvPr/>
        </p:nvSpPr>
        <p:spPr>
          <a:xfrm>
            <a:off x="3425165" y="2142137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22000"/>
                </a:moveTo>
                <a:lnTo>
                  <a:pt x="4000" y="4000"/>
                </a:lnTo>
                <a:cubicBezTo>
                  <a:pt x="4000" y="3685"/>
                  <a:pt x="4148" y="3389"/>
                  <a:pt x="4400" y="3200"/>
                </a:cubicBezTo>
                <a:cubicBezTo>
                  <a:pt x="5439" y="2421"/>
                  <a:pt x="6702" y="2000"/>
                  <a:pt x="8000" y="2000"/>
                </a:cubicBezTo>
                <a:cubicBezTo>
                  <a:pt x="11000" y="2000"/>
                  <a:pt x="13000" y="4000"/>
                  <a:pt x="15333" y="4000"/>
                </a:cubicBezTo>
                <a:cubicBezTo>
                  <a:pt x="16666" y="4000"/>
                  <a:pt x="17689" y="3733"/>
                  <a:pt x="18400" y="3200"/>
                </a:cubicBezTo>
                <a:cubicBezTo>
                  <a:pt x="18703" y="2973"/>
                  <a:pt x="19108" y="2936"/>
                  <a:pt x="19447" y="3106"/>
                </a:cubicBezTo>
                <a:cubicBezTo>
                  <a:pt x="19786" y="3275"/>
                  <a:pt x="20000" y="3621"/>
                  <a:pt x="20000" y="4000"/>
                </a:cubicBezTo>
                <a:lnTo>
                  <a:pt x="20000" y="14000"/>
                </a:lnTo>
                <a:cubicBezTo>
                  <a:pt x="20000" y="14315"/>
                  <a:pt x="19852" y="14611"/>
                  <a:pt x="19600" y="14800"/>
                </a:cubicBezTo>
                <a:cubicBezTo>
                  <a:pt x="18561" y="15579"/>
                  <a:pt x="17298" y="16000"/>
                  <a:pt x="16000" y="16000"/>
                </a:cubicBezTo>
                <a:cubicBezTo>
                  <a:pt x="13000" y="16000"/>
                  <a:pt x="11000" y="14000"/>
                  <a:pt x="8000" y="14000"/>
                </a:cubicBezTo>
                <a:cubicBezTo>
                  <a:pt x="6524" y="14000"/>
                  <a:pt x="5100" y="14544"/>
                  <a:pt x="4000" y="15528"/>
                </a:cubicBez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2" name="dr.g.ra.label"/>
          <p:cNvSpPr txBox="1"/>
          <p:nvPr/>
        </p:nvSpPr>
        <p:spPr>
          <a:xfrm>
            <a:off x="3685769" y="2151189"/>
            <a:ext cx="150910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 eu-west-1 · active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dr.g.rb.tab"/>
          <p:cNvSpPr/>
          <p:nvPr/>
        </p:nvSpPr>
        <p:spPr>
          <a:xfrm>
            <a:off x="8319958" y="2100989"/>
            <a:ext cx="237744" cy="237744"/>
          </a:xfrm>
          <a:prstGeom prst="rect">
            <a:avLst/>
          </a:prstGeom>
          <a:solidFill>
            <a:srgbClr val="00A4A6"/>
          </a:solidFill>
          <a:ln>
            <a:noFill/>
          </a:ln>
          <a:effectLst/>
        </p:spPr>
        <p:txBody>
          <a:bodyPr/>
          <a:p/>
        </p:txBody>
      </p:sp>
      <p:sp>
        <p:nvSpPr>
          <p:cNvPr id="14" name="dr.g.rb.frame"/>
          <p:cNvSpPr/>
          <p:nvPr/>
        </p:nvSpPr>
        <p:spPr>
          <a:xfrm>
            <a:off x="8319958" y="2100989"/>
            <a:ext cx="3295970" cy="3714595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  <a:effectLst/>
        </p:spPr>
        <p:txBody>
          <a:bodyPr/>
          <a:p/>
        </p:txBody>
      </p:sp>
      <p:sp>
        <p:nvSpPr>
          <p:cNvPr id="15" name="dr.g.rb.tab.icon"/>
          <p:cNvSpPr/>
          <p:nvPr/>
        </p:nvSpPr>
        <p:spPr>
          <a:xfrm>
            <a:off x="8361106" y="2142137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22000"/>
                </a:moveTo>
                <a:lnTo>
                  <a:pt x="4000" y="4000"/>
                </a:lnTo>
                <a:cubicBezTo>
                  <a:pt x="4000" y="3685"/>
                  <a:pt x="4148" y="3389"/>
                  <a:pt x="4400" y="3200"/>
                </a:cubicBezTo>
                <a:cubicBezTo>
                  <a:pt x="5439" y="2421"/>
                  <a:pt x="6702" y="2000"/>
                  <a:pt x="8000" y="2000"/>
                </a:cubicBezTo>
                <a:cubicBezTo>
                  <a:pt x="11000" y="2000"/>
                  <a:pt x="13000" y="4000"/>
                  <a:pt x="15333" y="4000"/>
                </a:cubicBezTo>
                <a:cubicBezTo>
                  <a:pt x="16666" y="4000"/>
                  <a:pt x="17689" y="3733"/>
                  <a:pt x="18400" y="3200"/>
                </a:cubicBezTo>
                <a:cubicBezTo>
                  <a:pt x="18703" y="2973"/>
                  <a:pt x="19108" y="2936"/>
                  <a:pt x="19447" y="3106"/>
                </a:cubicBezTo>
                <a:cubicBezTo>
                  <a:pt x="19786" y="3275"/>
                  <a:pt x="20000" y="3621"/>
                  <a:pt x="20000" y="4000"/>
                </a:cubicBezTo>
                <a:lnTo>
                  <a:pt x="20000" y="14000"/>
                </a:lnTo>
                <a:cubicBezTo>
                  <a:pt x="20000" y="14315"/>
                  <a:pt x="19852" y="14611"/>
                  <a:pt x="19600" y="14800"/>
                </a:cubicBezTo>
                <a:cubicBezTo>
                  <a:pt x="18561" y="15579"/>
                  <a:pt x="17298" y="16000"/>
                  <a:pt x="16000" y="16000"/>
                </a:cubicBezTo>
                <a:cubicBezTo>
                  <a:pt x="13000" y="16000"/>
                  <a:pt x="11000" y="14000"/>
                  <a:pt x="8000" y="14000"/>
                </a:cubicBezTo>
                <a:cubicBezTo>
                  <a:pt x="6524" y="14000"/>
                  <a:pt x="5100" y="14544"/>
                  <a:pt x="4000" y="15528"/>
                </a:cubicBezTo>
              </a:path>
            </a:pathLst>
          </a:custGeom>
          <a:noFill/>
          <a:ln w="1270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6" name="dr.g.rb.label"/>
          <p:cNvSpPr txBox="1"/>
          <p:nvPr/>
        </p:nvSpPr>
        <p:spPr>
          <a:xfrm>
            <a:off x="8621710" y="2151189"/>
            <a:ext cx="236414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 eu-central-1 · standby · RTO 1 h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dr.f.1"/>
          <p:cNvSpPr/>
          <p:nvPr/>
        </p:nvSpPr>
        <p:spPr>
          <a:xfrm>
            <a:off x="1164123" y="1966966"/>
            <a:ext cx="176387" cy="333024"/>
          </a:xfrm>
          <a:custGeom>
            <a:avLst/>
            <a:gdLst/>
            <a:ahLst/>
            <a:cxnLst/>
            <a:rect l="l" t="t" r="r" b="b"/>
            <a:pathLst>
              <a:path w="176387" h="333024" fill="none">
                <a:moveTo>
                  <a:pt x="0" y="0"/>
                </a:moveTo>
                <a:lnTo>
                  <a:pt x="0" y="333024"/>
                </a:lnTo>
                <a:lnTo>
                  <a:pt x="176387" y="333024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18" name="dr.f.2"/>
          <p:cNvSpPr/>
          <p:nvPr/>
        </p:nvSpPr>
        <p:spPr>
          <a:xfrm>
            <a:off x="1164123" y="1966966"/>
            <a:ext cx="176387" cy="814364"/>
          </a:xfrm>
          <a:custGeom>
            <a:avLst/>
            <a:gdLst/>
            <a:ahLst/>
            <a:cxnLst/>
            <a:rect l="l" t="t" r="r" b="b"/>
            <a:pathLst>
              <a:path w="176387" h="814364" fill="none">
                <a:moveTo>
                  <a:pt x="0" y="0"/>
                </a:moveTo>
                <a:lnTo>
                  <a:pt x="0" y="814364"/>
                </a:lnTo>
                <a:lnTo>
                  <a:pt x="176387" y="814364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19" name="dr.f.3"/>
          <p:cNvSpPr/>
          <p:nvPr/>
        </p:nvSpPr>
        <p:spPr>
          <a:xfrm>
            <a:off x="1164123" y="3410986"/>
            <a:ext cx="176387" cy="333025"/>
          </a:xfrm>
          <a:custGeom>
            <a:avLst/>
            <a:gdLst/>
            <a:ahLst/>
            <a:cxnLst/>
            <a:rect l="l" t="t" r="r" b="b"/>
            <a:pathLst>
              <a:path w="176387" h="333025" fill="none">
                <a:moveTo>
                  <a:pt x="0" y="0"/>
                </a:moveTo>
                <a:lnTo>
                  <a:pt x="0" y="333025"/>
                </a:lnTo>
                <a:lnTo>
                  <a:pt x="176387" y="333025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20" name="dr.f.4"/>
          <p:cNvSpPr/>
          <p:nvPr/>
        </p:nvSpPr>
        <p:spPr>
          <a:xfrm>
            <a:off x="1164123" y="3410986"/>
            <a:ext cx="176387" cy="814274"/>
          </a:xfrm>
          <a:custGeom>
            <a:avLst/>
            <a:gdLst/>
            <a:ahLst/>
            <a:cxnLst/>
            <a:rect l="l" t="t" r="r" b="b"/>
            <a:pathLst>
              <a:path w="176387" h="814274" fill="none">
                <a:moveTo>
                  <a:pt x="0" y="0"/>
                </a:moveTo>
                <a:lnTo>
                  <a:pt x="0" y="814274"/>
                </a:lnTo>
                <a:lnTo>
                  <a:pt x="176387" y="814274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21" name="dr.f.5"/>
          <p:cNvSpPr/>
          <p:nvPr/>
        </p:nvSpPr>
        <p:spPr>
          <a:xfrm>
            <a:off x="1164123" y="4854915"/>
            <a:ext cx="176387" cy="333025"/>
          </a:xfrm>
          <a:custGeom>
            <a:avLst/>
            <a:gdLst/>
            <a:ahLst/>
            <a:cxnLst/>
            <a:rect l="l" t="t" r="r" b="b"/>
            <a:pathLst>
              <a:path w="176387" h="333025" fill="none">
                <a:moveTo>
                  <a:pt x="0" y="0"/>
                </a:moveTo>
                <a:lnTo>
                  <a:pt x="0" y="333025"/>
                </a:lnTo>
                <a:lnTo>
                  <a:pt x="176387" y="333025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22" name="dr.f.6"/>
          <p:cNvSpPr/>
          <p:nvPr/>
        </p:nvSpPr>
        <p:spPr>
          <a:xfrm>
            <a:off x="1164123" y="4854915"/>
            <a:ext cx="176387" cy="814365"/>
          </a:xfrm>
          <a:custGeom>
            <a:avLst/>
            <a:gdLst/>
            <a:ahLst/>
            <a:cxnLst/>
            <a:rect l="l" t="t" r="r" b="b"/>
            <a:pathLst>
              <a:path w="176387" h="814365" fill="none">
                <a:moveTo>
                  <a:pt x="0" y="0"/>
                </a:moveTo>
                <a:lnTo>
                  <a:pt x="0" y="814365"/>
                </a:lnTo>
                <a:lnTo>
                  <a:pt x="176387" y="814365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23" name="dr.f.7"/>
          <p:cNvSpPr/>
          <p:nvPr/>
        </p:nvSpPr>
        <p:spPr>
          <a:xfrm>
            <a:off x="822960" y="1511046"/>
            <a:ext cx="167427" cy="307604"/>
          </a:xfrm>
          <a:custGeom>
            <a:avLst/>
            <a:gdLst/>
            <a:ahLst/>
            <a:cxnLst/>
            <a:rect l="l" t="t" r="r" b="b"/>
            <a:pathLst>
              <a:path w="167427" h="307604" fill="none">
                <a:moveTo>
                  <a:pt x="0" y="0"/>
                </a:moveTo>
                <a:lnTo>
                  <a:pt x="0" y="307604"/>
                </a:lnTo>
                <a:lnTo>
                  <a:pt x="167427" y="307604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24" name="dr.f.8"/>
          <p:cNvSpPr/>
          <p:nvPr/>
        </p:nvSpPr>
        <p:spPr>
          <a:xfrm>
            <a:off x="822960" y="1511046"/>
            <a:ext cx="167427" cy="1751625"/>
          </a:xfrm>
          <a:custGeom>
            <a:avLst/>
            <a:gdLst/>
            <a:ahLst/>
            <a:cxnLst/>
            <a:rect l="l" t="t" r="r" b="b"/>
            <a:pathLst>
              <a:path w="167427" h="1751625" fill="none">
                <a:moveTo>
                  <a:pt x="0" y="0"/>
                </a:moveTo>
                <a:lnTo>
                  <a:pt x="0" y="1751625"/>
                </a:lnTo>
                <a:lnTo>
                  <a:pt x="167427" y="1751625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25" name="dr.f.9"/>
          <p:cNvSpPr/>
          <p:nvPr/>
        </p:nvSpPr>
        <p:spPr>
          <a:xfrm>
            <a:off x="822960" y="1511046"/>
            <a:ext cx="167427" cy="3195554"/>
          </a:xfrm>
          <a:custGeom>
            <a:avLst/>
            <a:gdLst/>
            <a:ahLst/>
            <a:cxnLst/>
            <a:rect l="l" t="t" r="r" b="b"/>
            <a:pathLst>
              <a:path w="167427" h="3195554" fill="none">
                <a:moveTo>
                  <a:pt x="0" y="0"/>
                </a:moveTo>
                <a:lnTo>
                  <a:pt x="0" y="3195554"/>
                </a:lnTo>
                <a:lnTo>
                  <a:pt x="167427" y="3195554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cxnSp>
        <p:nvCxnSpPr>
          <p:cNvPr id="26" name="dr.f.10"/>
          <p:cNvCxnSpPr/>
          <p:nvPr/>
        </p:nvCxnSpPr>
        <p:spPr>
          <a:xfrm>
            <a:off x="7500000" y="1370503"/>
            <a:ext cx="0" cy="1096274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27" name="dr.f.11"/>
          <p:cNvCxnSpPr/>
          <p:nvPr/>
        </p:nvCxnSpPr>
        <p:spPr>
          <a:xfrm flipH="1">
            <a:off x="4880976" y="2640513"/>
            <a:ext cx="2445288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28" name="dr.f.12"/>
          <p:cNvCxnSpPr/>
          <p:nvPr/>
        </p:nvCxnSpPr>
        <p:spPr>
          <a:xfrm>
            <a:off x="7673736" y="2640513"/>
            <a:ext cx="2445197" cy="0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29" name="dr.f.13"/>
          <p:cNvCxnSpPr/>
          <p:nvPr/>
        </p:nvCxnSpPr>
        <p:spPr>
          <a:xfrm>
            <a:off x="4707240" y="2814249"/>
            <a:ext cx="0" cy="449702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30" name="dr.f.14"/>
          <p:cNvCxnSpPr/>
          <p:nvPr/>
        </p:nvCxnSpPr>
        <p:spPr>
          <a:xfrm>
            <a:off x="4707240" y="3611423"/>
            <a:ext cx="0" cy="449702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31" name="dr.f.15"/>
          <p:cNvCxnSpPr/>
          <p:nvPr/>
        </p:nvCxnSpPr>
        <p:spPr>
          <a:xfrm>
            <a:off x="10292669" y="2814249"/>
            <a:ext cx="0" cy="449702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cxnSp>
        <p:nvCxnSpPr>
          <p:cNvPr id="32" name="dr.f.16"/>
          <p:cNvCxnSpPr/>
          <p:nvPr/>
        </p:nvCxnSpPr>
        <p:spPr>
          <a:xfrm>
            <a:off x="10292669" y="3611423"/>
            <a:ext cx="0" cy="449702"/>
          </a:xfrm>
          <a:prstGeom prst="line">
            <a:avLst/>
          </a:prstGeom>
          <a:ln w="15875">
            <a:solidFill>
              <a:srgbClr val="232F3E"/>
            </a:solidFill>
            <a:tailEnd type="arrow" w="med" len="sm"/>
          </a:ln>
          <a:effectLst/>
        </p:spPr>
      </p:cxnSp>
      <p:sp>
        <p:nvSpPr>
          <p:cNvPr id="33" name="dr.f.17"/>
          <p:cNvSpPr/>
          <p:nvPr/>
        </p:nvSpPr>
        <p:spPr>
          <a:xfrm>
            <a:off x="4880976" y="3346155"/>
            <a:ext cx="755568" cy="91532"/>
          </a:xfrm>
          <a:custGeom>
            <a:avLst/>
            <a:gdLst/>
            <a:ahLst/>
            <a:cxnLst/>
            <a:rect l="l" t="t" r="r" b="b"/>
            <a:pathLst>
              <a:path w="755568" h="91532" fill="none">
                <a:moveTo>
                  <a:pt x="0" y="91532"/>
                </a:moveTo>
                <a:lnTo>
                  <a:pt x="377830" y="91532"/>
                </a:lnTo>
                <a:lnTo>
                  <a:pt x="377830" y="0"/>
                </a:lnTo>
                <a:lnTo>
                  <a:pt x="755568" y="0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sp>
        <p:nvSpPr>
          <p:cNvPr id="34" name="dr.f.18"/>
          <p:cNvSpPr/>
          <p:nvPr/>
        </p:nvSpPr>
        <p:spPr>
          <a:xfrm>
            <a:off x="9363365" y="3346155"/>
            <a:ext cx="755568" cy="91532"/>
          </a:xfrm>
          <a:custGeom>
            <a:avLst/>
            <a:gdLst/>
            <a:ahLst/>
            <a:cxnLst/>
            <a:rect l="l" t="t" r="r" b="b"/>
            <a:pathLst>
              <a:path w="755568" h="91532" fill="none">
                <a:moveTo>
                  <a:pt x="755568" y="91532"/>
                </a:moveTo>
                <a:lnTo>
                  <a:pt x="377830" y="91532"/>
                </a:lnTo>
                <a:lnTo>
                  <a:pt x="37783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232F3E"/>
            </a:solidFill>
            <a:miter lim="800000"/>
            <a:tailEnd type="arrow" w="med" len="sm"/>
          </a:ln>
          <a:effectLst/>
        </p:spPr>
        <p:txBody>
          <a:bodyPr/>
          <a:p/>
        </p:txBody>
      </p:sp>
      <p:cxnSp>
        <p:nvCxnSpPr>
          <p:cNvPr id="35" name="dr.f.19"/>
          <p:cNvCxnSpPr/>
          <p:nvPr/>
        </p:nvCxnSpPr>
        <p:spPr>
          <a:xfrm>
            <a:off x="5984016" y="3346155"/>
            <a:ext cx="3031877" cy="0"/>
          </a:xfrm>
          <a:prstGeom prst="line">
            <a:avLst/>
          </a:prstGeom>
          <a:ln w="15875">
            <a:solidFill>
              <a:srgbClr val="232F3E"/>
            </a:solidFill>
            <a:prstDash val="dash"/>
            <a:tailEnd type="arrow" w="med" len="sm"/>
          </a:ln>
          <a:effectLst/>
        </p:spPr>
      </p:cxnSp>
      <p:cxnSp>
        <p:nvCxnSpPr>
          <p:cNvPr id="36" name="dr.f.20"/>
          <p:cNvCxnSpPr/>
          <p:nvPr/>
        </p:nvCxnSpPr>
        <p:spPr>
          <a:xfrm>
            <a:off x="4880976" y="4234861"/>
            <a:ext cx="5237957" cy="0"/>
          </a:xfrm>
          <a:prstGeom prst="line">
            <a:avLst/>
          </a:prstGeom>
          <a:ln w="15875">
            <a:solidFill>
              <a:srgbClr val="232F3E"/>
            </a:solidFill>
            <a:prstDash val="dash"/>
            <a:tailEnd type="arrow" w="med" len="sm"/>
          </a:ln>
          <a:effectLst/>
        </p:spPr>
      </p:cxnSp>
      <p:cxnSp>
        <p:nvCxnSpPr>
          <p:cNvPr id="37" name="dr.f.21"/>
          <p:cNvCxnSpPr/>
          <p:nvPr/>
        </p:nvCxnSpPr>
        <p:spPr>
          <a:xfrm>
            <a:off x="4880976" y="5245456"/>
            <a:ext cx="5237957" cy="0"/>
          </a:xfrm>
          <a:prstGeom prst="line">
            <a:avLst/>
          </a:prstGeom>
          <a:ln w="15875">
            <a:solidFill>
              <a:srgbClr val="232F3E"/>
            </a:solidFill>
            <a:prstDash val="dash"/>
            <a:tailEnd type="arrow" w="med" len="sm"/>
          </a:ln>
          <a:effectLst/>
        </p:spPr>
      </p:cxnSp>
      <p:pic>
        <p:nvPicPr>
          <p:cNvPr id="38" name="vendor.aws/management/organizations.dr-n-root" descr="Management (vendor mark aws/management/organization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163609"/>
            <a:ext cx="347472" cy="347472"/>
          </a:xfrm>
          <a:prstGeom prst="rect">
            <a:avLst/>
          </a:prstGeom>
          <a:effectLst/>
        </p:spPr>
      </p:pic>
      <p:sp>
        <p:nvSpPr>
          <p:cNvPr id="39" name="dr.n.root.caption"/>
          <p:cNvSpPr txBox="1"/>
          <p:nvPr/>
        </p:nvSpPr>
        <p:spPr>
          <a:xfrm>
            <a:off x="1051560" y="1207729"/>
            <a:ext cx="786384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Management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root · SCPs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vendor.aws/management/organizations-organizational-unit.dr-n-sec" descr="Security (vendor mark aws/management/organizations-organizational-unit)"/>
          <p:cNvPicPr>
            <a:picLocks noChangeAspect="1"/>
          </p:cNvPicPr>
          <p:nvPr/>
        </p:nvPicPr>
        <p:blipFill>
          <a:blip r:embed="rId3"/>
          <a:srcRect l="1953" t="8984" r="1953" b="8984"/>
          <a:stretch>
            <a:fillRect/>
          </a:stretch>
        </p:blipFill>
        <p:spPr>
          <a:xfrm>
            <a:off x="990421" y="1670360"/>
            <a:ext cx="347472" cy="296622"/>
          </a:xfrm>
          <a:prstGeom prst="rect">
            <a:avLst/>
          </a:prstGeom>
          <a:effectLst/>
        </p:spPr>
      </p:pic>
      <p:sp>
        <p:nvSpPr>
          <p:cNvPr id="41" name="dr.n.sec.caption"/>
          <p:cNvSpPr txBox="1"/>
          <p:nvPr/>
        </p:nvSpPr>
        <p:spPr>
          <a:xfrm>
            <a:off x="1392757" y="1689055"/>
            <a:ext cx="49377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Security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OU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2" name="vendor.aws/management/organizations-account.dr-n-sec0" descr="Log archive (vendor mark aws/management/organizations-account)"/>
          <p:cNvPicPr>
            <a:picLocks noChangeAspect="1"/>
          </p:cNvPicPr>
          <p:nvPr/>
        </p:nvPicPr>
        <p:blipFill>
          <a:blip r:embed="rId4"/>
          <a:srcRect l="6641" t="4297" r="6641" b="4297"/>
          <a:stretch>
            <a:fillRect/>
          </a:stretch>
        </p:blipFill>
        <p:spPr>
          <a:xfrm>
            <a:off x="1340528" y="2126261"/>
            <a:ext cx="329653" cy="347472"/>
          </a:xfrm>
          <a:prstGeom prst="rect">
            <a:avLst/>
          </a:prstGeom>
          <a:effectLst/>
        </p:spPr>
      </p:pic>
      <p:sp>
        <p:nvSpPr>
          <p:cNvPr id="43" name="dr.n.sec0.caption"/>
          <p:cNvSpPr txBox="1"/>
          <p:nvPr/>
        </p:nvSpPr>
        <p:spPr>
          <a:xfrm>
            <a:off x="1733954" y="2231326"/>
            <a:ext cx="69860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Log archive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" name="vendor.aws/management/organizations-account.dr-n-sec1" descr="Audit (vendor mark aws/management/organizations-account)"/>
          <p:cNvPicPr>
            <a:picLocks noChangeAspect="1"/>
          </p:cNvPicPr>
          <p:nvPr/>
        </p:nvPicPr>
        <p:blipFill>
          <a:blip r:embed="rId4"/>
          <a:srcRect l="6641" t="4297" r="6641" b="4297"/>
          <a:stretch>
            <a:fillRect/>
          </a:stretch>
        </p:blipFill>
        <p:spPr>
          <a:xfrm>
            <a:off x="1340528" y="2607587"/>
            <a:ext cx="329653" cy="347472"/>
          </a:xfrm>
          <a:prstGeom prst="rect">
            <a:avLst/>
          </a:prstGeom>
          <a:effectLst/>
        </p:spPr>
      </p:pic>
      <p:sp>
        <p:nvSpPr>
          <p:cNvPr id="45" name="dr.n.sec1.caption"/>
          <p:cNvSpPr txBox="1"/>
          <p:nvPr/>
        </p:nvSpPr>
        <p:spPr>
          <a:xfrm>
            <a:off x="1733954" y="2712652"/>
            <a:ext cx="31821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Audit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" name="vendor.aws/management/organizations-organizational-unit.dr-n-infra" descr="Infrastructure (vendor mark aws/management/organizations-organizational-unit)"/>
          <p:cNvPicPr>
            <a:picLocks noChangeAspect="1"/>
          </p:cNvPicPr>
          <p:nvPr/>
        </p:nvPicPr>
        <p:blipFill>
          <a:blip r:embed="rId3"/>
          <a:srcRect l="1953" t="8984" r="1953" b="8984"/>
          <a:stretch>
            <a:fillRect/>
          </a:stretch>
        </p:blipFill>
        <p:spPr>
          <a:xfrm>
            <a:off x="990421" y="3114338"/>
            <a:ext cx="347472" cy="296622"/>
          </a:xfrm>
          <a:prstGeom prst="rect">
            <a:avLst/>
          </a:prstGeom>
          <a:effectLst/>
        </p:spPr>
      </p:pic>
      <p:sp>
        <p:nvSpPr>
          <p:cNvPr id="47" name="dr.n.infra.caption"/>
          <p:cNvSpPr txBox="1"/>
          <p:nvPr/>
        </p:nvSpPr>
        <p:spPr>
          <a:xfrm>
            <a:off x="1392757" y="3133033"/>
            <a:ext cx="79369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Infrastructure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OU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8" name="vendor.aws/management/organizations-account.dr-n-infra0" descr="Network (vendor mark aws/management/organizations-account)"/>
          <p:cNvPicPr>
            <a:picLocks noChangeAspect="1"/>
          </p:cNvPicPr>
          <p:nvPr/>
        </p:nvPicPr>
        <p:blipFill>
          <a:blip r:embed="rId4"/>
          <a:srcRect l="6641" t="4297" r="6641" b="4297"/>
          <a:stretch>
            <a:fillRect/>
          </a:stretch>
        </p:blipFill>
        <p:spPr>
          <a:xfrm>
            <a:off x="1340528" y="3570240"/>
            <a:ext cx="329653" cy="347472"/>
          </a:xfrm>
          <a:prstGeom prst="rect">
            <a:avLst/>
          </a:prstGeom>
          <a:effectLst/>
        </p:spPr>
      </p:pic>
      <p:sp>
        <p:nvSpPr>
          <p:cNvPr id="49" name="dr.n.infra0.caption"/>
          <p:cNvSpPr txBox="1"/>
          <p:nvPr/>
        </p:nvSpPr>
        <p:spPr>
          <a:xfrm>
            <a:off x="1733954" y="3675304"/>
            <a:ext cx="50109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Network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vendor.aws/management/organizations-account.dr-n-infra1" descr="Shared services (vendor mark aws/management/organizations-account)"/>
          <p:cNvPicPr>
            <a:picLocks noChangeAspect="1"/>
          </p:cNvPicPr>
          <p:nvPr/>
        </p:nvPicPr>
        <p:blipFill>
          <a:blip r:embed="rId4"/>
          <a:srcRect l="6641" t="4297" r="6641" b="4297"/>
          <a:stretch>
            <a:fillRect/>
          </a:stretch>
        </p:blipFill>
        <p:spPr>
          <a:xfrm>
            <a:off x="1340528" y="4051566"/>
            <a:ext cx="329653" cy="347472"/>
          </a:xfrm>
          <a:prstGeom prst="rect">
            <a:avLst/>
          </a:prstGeom>
          <a:effectLst/>
        </p:spPr>
      </p:pic>
      <p:sp>
        <p:nvSpPr>
          <p:cNvPr id="51" name="dr.n.infra1.caption"/>
          <p:cNvSpPr txBox="1"/>
          <p:nvPr/>
        </p:nvSpPr>
        <p:spPr>
          <a:xfrm>
            <a:off x="1733954" y="4156630"/>
            <a:ext cx="96103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Shared services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" name="vendor.aws/management/organizations-organizational-unit.dr-n-work" descr="Workloads (vendor mark aws/management/organizations-organizational-unit)"/>
          <p:cNvPicPr>
            <a:picLocks noChangeAspect="1"/>
          </p:cNvPicPr>
          <p:nvPr/>
        </p:nvPicPr>
        <p:blipFill>
          <a:blip r:embed="rId3"/>
          <a:srcRect l="1953" t="8984" r="1953" b="8984"/>
          <a:stretch>
            <a:fillRect/>
          </a:stretch>
        </p:blipFill>
        <p:spPr>
          <a:xfrm>
            <a:off x="990421" y="4558317"/>
            <a:ext cx="347472" cy="296622"/>
          </a:xfrm>
          <a:prstGeom prst="rect">
            <a:avLst/>
          </a:prstGeom>
          <a:effectLst/>
        </p:spPr>
      </p:pic>
      <p:sp>
        <p:nvSpPr>
          <p:cNvPr id="53" name="dr.n.work.caption"/>
          <p:cNvSpPr txBox="1"/>
          <p:nvPr/>
        </p:nvSpPr>
        <p:spPr>
          <a:xfrm>
            <a:off x="1392757" y="4577012"/>
            <a:ext cx="64008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Workloads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OU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4" name="vendor.aws/management/organizations-account.dr-n-work0" descr="brief-prod (vendor mark aws/management/organizations-account)"/>
          <p:cNvPicPr>
            <a:picLocks noChangeAspect="1"/>
          </p:cNvPicPr>
          <p:nvPr/>
        </p:nvPicPr>
        <p:blipFill>
          <a:blip r:embed="rId4"/>
          <a:srcRect l="6641" t="4297" r="6641" b="4297"/>
          <a:stretch>
            <a:fillRect/>
          </a:stretch>
        </p:blipFill>
        <p:spPr>
          <a:xfrm>
            <a:off x="1340528" y="5014218"/>
            <a:ext cx="329653" cy="347472"/>
          </a:xfrm>
          <a:prstGeom prst="rect">
            <a:avLst/>
          </a:prstGeom>
          <a:effectLst/>
        </p:spPr>
      </p:pic>
      <p:sp>
        <p:nvSpPr>
          <p:cNvPr id="55" name="dr.n.work0.caption"/>
          <p:cNvSpPr txBox="1"/>
          <p:nvPr/>
        </p:nvSpPr>
        <p:spPr>
          <a:xfrm>
            <a:off x="1733954" y="5119282"/>
            <a:ext cx="58155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brief-prod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vendor.aws/management/organizations-account.dr-n-work1" descr="brief-staging (vendor mark aws/management/organizations-account)"/>
          <p:cNvPicPr>
            <a:picLocks noChangeAspect="1"/>
          </p:cNvPicPr>
          <p:nvPr/>
        </p:nvPicPr>
        <p:blipFill>
          <a:blip r:embed="rId4"/>
          <a:srcRect l="6641" t="4297" r="6641" b="4297"/>
          <a:stretch>
            <a:fillRect/>
          </a:stretch>
        </p:blipFill>
        <p:spPr>
          <a:xfrm>
            <a:off x="1340528" y="5495544"/>
            <a:ext cx="329653" cy="347472"/>
          </a:xfrm>
          <a:prstGeom prst="rect">
            <a:avLst/>
          </a:prstGeom>
          <a:effectLst/>
        </p:spPr>
      </p:pic>
      <p:sp>
        <p:nvSpPr>
          <p:cNvPr id="57" name="dr.n.work1.caption"/>
          <p:cNvSpPr txBox="1"/>
          <p:nvPr/>
        </p:nvSpPr>
        <p:spPr>
          <a:xfrm>
            <a:off x="1733954" y="5600609"/>
            <a:ext cx="74249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brief-staging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8" name="vendor.aws/general/users.dr-n-reps" descr="Field reps (vendor mark aws/general/users)"/>
          <p:cNvPicPr>
            <a:picLocks noChangeAspect="1"/>
          </p:cNvPicPr>
          <p:nvPr/>
        </p:nvPicPr>
        <p:blipFill>
          <a:blip r:embed="rId5"/>
          <a:srcRect l="3000" t="3000" r="3000" b="3000"/>
          <a:stretch>
            <a:fillRect/>
          </a:stretch>
        </p:blipFill>
        <p:spPr>
          <a:xfrm>
            <a:off x="7326237" y="1023062"/>
            <a:ext cx="347472" cy="347472"/>
          </a:xfrm>
          <a:prstGeom prst="rect">
            <a:avLst/>
          </a:prstGeom>
          <a:effectLst/>
        </p:spPr>
      </p:pic>
      <p:sp>
        <p:nvSpPr>
          <p:cNvPr id="59" name="dr.n.reps.caption"/>
          <p:cNvSpPr txBox="1"/>
          <p:nvPr/>
        </p:nvSpPr>
        <p:spPr>
          <a:xfrm>
            <a:off x="7728573" y="1128127"/>
            <a:ext cx="59618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reps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0" name="vendor.aws/network/route-53.dr-n-r53" descr="Route 53 (vendor mark aws/network/route-53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237" y="2466749"/>
            <a:ext cx="347472" cy="347472"/>
          </a:xfrm>
          <a:prstGeom prst="rect">
            <a:avLst/>
          </a:prstGeom>
          <a:effectLst/>
        </p:spPr>
      </p:pic>
      <p:sp>
        <p:nvSpPr>
          <p:cNvPr id="61" name="dr.n.r53.caption"/>
          <p:cNvSpPr txBox="1"/>
          <p:nvPr/>
        </p:nvSpPr>
        <p:spPr>
          <a:xfrm>
            <a:off x="7133298" y="2859941"/>
            <a:ext cx="73334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Route 53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health checks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2" name="vendor.aws/network/elb-application-load-balancer.dr-n-raalb" descr="Load balancer (vendor mark aws/network/elb-application-load-balancer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536" y="2466749"/>
            <a:ext cx="347472" cy="347472"/>
          </a:xfrm>
          <a:prstGeom prst="rect">
            <a:avLst/>
          </a:prstGeom>
          <a:effectLst/>
        </p:spPr>
      </p:pic>
      <p:sp>
        <p:nvSpPr>
          <p:cNvPr id="63" name="dr.n.raalb.caption"/>
          <p:cNvSpPr txBox="1"/>
          <p:nvPr/>
        </p:nvSpPr>
        <p:spPr>
          <a:xfrm>
            <a:off x="3626452" y="2571813"/>
            <a:ext cx="85222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Load balancer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vendor.aws/compute/fargate.dr-n-raecs" descr="Agent tasks (vendor mark aws/compute/fargat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3536" y="3263932"/>
            <a:ext cx="347472" cy="347472"/>
          </a:xfrm>
          <a:prstGeom prst="rect">
            <a:avLst/>
          </a:prstGeom>
          <a:effectLst/>
        </p:spPr>
      </p:pic>
      <p:sp>
        <p:nvSpPr>
          <p:cNvPr id="65" name="dr.n.raecs.caption"/>
          <p:cNvSpPr txBox="1"/>
          <p:nvPr/>
        </p:nvSpPr>
        <p:spPr>
          <a:xfrm>
            <a:off x="3772756" y="3308052"/>
            <a:ext cx="705917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tasks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4 tasks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6" name="vendor.aws/storage/simple-storage-service-s3.dr-n-ras3" descr="Amazon S3 (vendor mark aws/storage/simple-storage-service-s3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6539" y="3172401"/>
            <a:ext cx="347472" cy="347472"/>
          </a:xfrm>
          <a:prstGeom prst="rect">
            <a:avLst/>
          </a:prstGeom>
          <a:effectLst/>
        </p:spPr>
      </p:pic>
      <p:sp>
        <p:nvSpPr>
          <p:cNvPr id="67" name="dr.n.ras3.caption"/>
          <p:cNvSpPr txBox="1"/>
          <p:nvPr/>
        </p:nvSpPr>
        <p:spPr>
          <a:xfrm>
            <a:off x="5460974" y="3565593"/>
            <a:ext cx="69860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8" name="vendor.aws/database/aurora.dr-n-radb" descr="Aurora (vendor mark aws/database/aurora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3536" y="4061115"/>
            <a:ext cx="347472" cy="347472"/>
          </a:xfrm>
          <a:prstGeom prst="rect">
            <a:avLst/>
          </a:prstGeom>
          <a:effectLst/>
        </p:spPr>
      </p:pic>
      <p:sp>
        <p:nvSpPr>
          <p:cNvPr id="69" name="dr.n.radb.caption"/>
          <p:cNvSpPr txBox="1"/>
          <p:nvPr/>
        </p:nvSpPr>
        <p:spPr>
          <a:xfrm>
            <a:off x="4500618" y="4454307"/>
            <a:ext cx="41330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Aurora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writer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0" name="vendor.aws/storage/backup.dr-n-rabk" descr="AWS Backup (vendor mark aws/storage/backup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3536" y="5071720"/>
            <a:ext cx="347472" cy="347472"/>
          </a:xfrm>
          <a:prstGeom prst="rect">
            <a:avLst/>
          </a:prstGeom>
          <a:effectLst/>
        </p:spPr>
      </p:pic>
      <p:sp>
        <p:nvSpPr>
          <p:cNvPr id="71" name="dr.n.rabk.caption"/>
          <p:cNvSpPr txBox="1"/>
          <p:nvPr/>
        </p:nvSpPr>
        <p:spPr>
          <a:xfrm>
            <a:off x="4310423" y="5464912"/>
            <a:ext cx="79369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Backup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vault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2" name="vendor.aws/network/elb-application-load-balancer.dr-n-rbalb" descr="Load balancer (vendor mark aws/network/elb-application-load-balancer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937" y="2466749"/>
            <a:ext cx="347472" cy="347472"/>
          </a:xfrm>
          <a:prstGeom prst="rect">
            <a:avLst/>
          </a:prstGeom>
          <a:effectLst/>
        </p:spPr>
      </p:pic>
      <p:sp>
        <p:nvSpPr>
          <p:cNvPr id="73" name="dr.n.rbalb.caption"/>
          <p:cNvSpPr txBox="1"/>
          <p:nvPr/>
        </p:nvSpPr>
        <p:spPr>
          <a:xfrm>
            <a:off x="10521273" y="2571813"/>
            <a:ext cx="85222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Load balancer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4" name="vendor.aws/compute/fargate.dr-n-rbecs" descr="Agent tasks (vendor mark aws/compute/fargat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8937" y="3263932"/>
            <a:ext cx="347472" cy="347472"/>
          </a:xfrm>
          <a:prstGeom prst="rect">
            <a:avLst/>
          </a:prstGeom>
          <a:effectLst/>
        </p:spPr>
      </p:pic>
      <p:sp>
        <p:nvSpPr>
          <p:cNvPr id="75" name="dr.n.rbecs.caption"/>
          <p:cNvSpPr txBox="1"/>
          <p:nvPr/>
        </p:nvSpPr>
        <p:spPr>
          <a:xfrm>
            <a:off x="10521273" y="3308052"/>
            <a:ext cx="705917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tasks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1 task, warm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vendor.aws/storage/simple-storage-service-s3.dr-n-rbs3" descr="Amazon S3 (vendor mark aws/storage/simple-storage-service-s3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5934" y="3172401"/>
            <a:ext cx="347472" cy="347472"/>
          </a:xfrm>
          <a:prstGeom prst="rect">
            <a:avLst/>
          </a:prstGeom>
          <a:effectLst/>
        </p:spPr>
      </p:pic>
      <p:sp>
        <p:nvSpPr>
          <p:cNvPr id="77" name="dr.n.rbs3.caption"/>
          <p:cNvSpPr txBox="1"/>
          <p:nvPr/>
        </p:nvSpPr>
        <p:spPr>
          <a:xfrm>
            <a:off x="8840370" y="3565593"/>
            <a:ext cx="69860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8" name="vendor.aws/database/aurora.dr-n-rbdb" descr="Aurora (vendor mark aws/database/aurora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18937" y="4061115"/>
            <a:ext cx="347472" cy="347472"/>
          </a:xfrm>
          <a:prstGeom prst="rect">
            <a:avLst/>
          </a:prstGeom>
          <a:effectLst/>
        </p:spPr>
      </p:pic>
      <p:sp>
        <p:nvSpPr>
          <p:cNvPr id="79" name="dr.n.rbdb.caption"/>
          <p:cNvSpPr txBox="1"/>
          <p:nvPr/>
        </p:nvSpPr>
        <p:spPr>
          <a:xfrm>
            <a:off x="10086019" y="4454307"/>
            <a:ext cx="41330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Aurora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replica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0" name="vendor.aws/storage/backup.dr-n-rbbk" descr="AWS Backup (vendor mark aws/storage/backup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8937" y="5071720"/>
            <a:ext cx="347472" cy="347472"/>
          </a:xfrm>
          <a:prstGeom prst="rect">
            <a:avLst/>
          </a:prstGeom>
          <a:effectLst/>
        </p:spPr>
      </p:pic>
      <p:sp>
        <p:nvSpPr>
          <p:cNvPr id="81" name="dr.n.rbbk.caption"/>
          <p:cNvSpPr txBox="1"/>
          <p:nvPr/>
        </p:nvSpPr>
        <p:spPr>
          <a:xfrm>
            <a:off x="9895823" y="5464912"/>
            <a:ext cx="79369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Backup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vault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dr.f.10.label"/>
          <p:cNvSpPr txBox="1"/>
          <p:nvPr/>
        </p:nvSpPr>
        <p:spPr>
          <a:xfrm>
            <a:off x="7536576" y="1848460"/>
            <a:ext cx="31077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DNS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dr.f.11.label"/>
          <p:cNvSpPr txBox="1"/>
          <p:nvPr/>
        </p:nvSpPr>
        <p:spPr>
          <a:xfrm>
            <a:off x="5876815" y="2472720"/>
            <a:ext cx="453611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primary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dr.f.12.label"/>
          <p:cNvSpPr txBox="1"/>
          <p:nvPr/>
        </p:nvSpPr>
        <p:spPr>
          <a:xfrm>
            <a:off x="8675950" y="2472720"/>
            <a:ext cx="44077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failover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dr.f.13.label"/>
          <p:cNvSpPr txBox="1"/>
          <p:nvPr/>
        </p:nvSpPr>
        <p:spPr>
          <a:xfrm>
            <a:off x="4346654" y="2968920"/>
            <a:ext cx="32400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8080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dr.f.14.label"/>
          <p:cNvSpPr txBox="1"/>
          <p:nvPr/>
        </p:nvSpPr>
        <p:spPr>
          <a:xfrm>
            <a:off x="4346654" y="3766094"/>
            <a:ext cx="32400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5432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dr.f.15.label"/>
          <p:cNvSpPr txBox="1"/>
          <p:nvPr/>
        </p:nvSpPr>
        <p:spPr>
          <a:xfrm>
            <a:off x="10329245" y="2968920"/>
            <a:ext cx="32400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8080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dr.f.16.label"/>
          <p:cNvSpPr txBox="1"/>
          <p:nvPr/>
        </p:nvSpPr>
        <p:spPr>
          <a:xfrm>
            <a:off x="10329245" y="3766094"/>
            <a:ext cx="32400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5432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dr.f.19.label"/>
          <p:cNvSpPr txBox="1"/>
          <p:nvPr/>
        </p:nvSpPr>
        <p:spPr>
          <a:xfrm>
            <a:off x="6971146" y="3373587"/>
            <a:ext cx="105761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CRR · RPO 15 min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dr.f.20.label"/>
          <p:cNvSpPr txBox="1"/>
          <p:nvPr/>
        </p:nvSpPr>
        <p:spPr>
          <a:xfrm>
            <a:off x="7247126" y="4262293"/>
            <a:ext cx="50565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RPO 1 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dr.f.21.label"/>
          <p:cNvSpPr txBox="1"/>
          <p:nvPr/>
        </p:nvSpPr>
        <p:spPr>
          <a:xfrm>
            <a:off x="7172396" y="5272888"/>
            <a:ext cx="65511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copy · daily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2" name="state.dr.legend.key.data"/>
          <p:cNvCxnSpPr/>
          <p:nvPr/>
        </p:nvCxnSpPr>
        <p:spPr>
          <a:xfrm>
            <a:off x="502920" y="6140287"/>
            <a:ext cx="411480" cy="0"/>
          </a:xfrm>
          <a:prstGeom prst="line">
            <a:avLst/>
          </a:prstGeom>
          <a:ln w="15875">
            <a:solidFill>
              <a:srgbClr val="232F3E"/>
            </a:solidFill>
          </a:ln>
          <a:effectLst/>
        </p:spPr>
      </p:cxnSp>
      <p:sp>
        <p:nvSpPr>
          <p:cNvPr id="93" name="dr.legend.key.data.text"/>
          <p:cNvSpPr txBox="1"/>
          <p:nvPr/>
        </p:nvSpPr>
        <p:spPr>
          <a:xfrm>
            <a:off x="1005840" y="6071616"/>
            <a:ext cx="97218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Request or data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4" name="state.dr.legend.key.async"/>
          <p:cNvCxnSpPr/>
          <p:nvPr/>
        </p:nvCxnSpPr>
        <p:spPr>
          <a:xfrm>
            <a:off x="2252343" y="6140287"/>
            <a:ext cx="411480" cy="0"/>
          </a:xfrm>
          <a:prstGeom prst="line">
            <a:avLst/>
          </a:prstGeom>
          <a:ln w="15875">
            <a:solidFill>
              <a:srgbClr val="232F3E"/>
            </a:solidFill>
            <a:prstDash val="dash"/>
          </a:ln>
          <a:effectLst/>
        </p:spPr>
      </p:cxnSp>
      <p:sp>
        <p:nvSpPr>
          <p:cNvPr id="95" name="dr.legend.key.async.text"/>
          <p:cNvSpPr txBox="1"/>
          <p:nvPr/>
        </p:nvSpPr>
        <p:spPr>
          <a:xfrm>
            <a:off x="2755263" y="6071616"/>
            <a:ext cx="126449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Event, asynchronous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arch-current-target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 cut the brief from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five days to one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with review kept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t.g.cur.frame"/>
          <p:cNvSpPr/>
          <p:nvPr/>
        </p:nvSpPr>
        <p:spPr>
          <a:xfrm>
            <a:off x="502920" y="822960"/>
            <a:ext cx="9147048" cy="2505034"/>
          </a:xfrm>
          <a:prstGeom prst="roundRect">
            <a:avLst>
              <a:gd name="adj" fmla="val 1825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4" name="ct.g.cur.bar"/>
          <p:cNvSpPr/>
          <p:nvPr/>
        </p:nvSpPr>
        <p:spPr>
          <a:xfrm>
            <a:off x="502920" y="822960"/>
            <a:ext cx="9147048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ct.g.cur.label"/>
          <p:cNvSpPr txBox="1"/>
          <p:nvPr/>
        </p:nvSpPr>
        <p:spPr>
          <a:xfrm>
            <a:off x="594360" y="883813"/>
            <a:ext cx="8964168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Today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t.g.tgt.frame"/>
          <p:cNvSpPr/>
          <p:nvPr/>
        </p:nvSpPr>
        <p:spPr>
          <a:xfrm>
            <a:off x="502920" y="3530006"/>
            <a:ext cx="9147048" cy="2404450"/>
          </a:xfrm>
          <a:prstGeom prst="roundRect">
            <a:avLst>
              <a:gd name="adj" fmla="val 1901"/>
            </a:avLst>
          </a:prstGeom>
          <a:noFill/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7" name="ct.g.tgt.bar"/>
          <p:cNvSpPr/>
          <p:nvPr/>
        </p:nvSpPr>
        <p:spPr>
          <a:xfrm>
            <a:off x="502920" y="3530006"/>
            <a:ext cx="9147048" cy="274320"/>
          </a:xfrm>
          <a:prstGeom prst="round2SameRect">
            <a:avLst>
              <a:gd name="adj1" fmla="val 20000"/>
              <a:gd name="adj2" fmla="val 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8" name="ct.g.tgt.label"/>
          <p:cNvSpPr txBox="1"/>
          <p:nvPr/>
        </p:nvSpPr>
        <p:spPr>
          <a:xfrm>
            <a:off x="594360" y="3590859"/>
            <a:ext cx="8964168" cy="15261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Target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ct.g.vm.frame"/>
          <p:cNvSpPr/>
          <p:nvPr/>
        </p:nvSpPr>
        <p:spPr>
          <a:xfrm>
            <a:off x="1920675" y="1271016"/>
            <a:ext cx="5030942" cy="1102802"/>
          </a:xfrm>
          <a:prstGeom prst="rect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10" name="ct.g.vm.label"/>
          <p:cNvSpPr txBox="1"/>
          <p:nvPr/>
        </p:nvSpPr>
        <p:spPr>
          <a:xfrm>
            <a:off x="1993827" y="1325880"/>
            <a:ext cx="140603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On-premises · one VM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ct.g.aws.frame"/>
          <p:cNvSpPr/>
          <p:nvPr/>
        </p:nvSpPr>
        <p:spPr>
          <a:xfrm>
            <a:off x="1920675" y="3978062"/>
            <a:ext cx="7592133" cy="1837522"/>
          </a:xfrm>
          <a:prstGeom prst="rect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12" name="ct.g.aws.label"/>
          <p:cNvSpPr txBox="1"/>
          <p:nvPr/>
        </p:nvSpPr>
        <p:spPr>
          <a:xfrm>
            <a:off x="1993827" y="4032926"/>
            <a:ext cx="158850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AWS account · eu-west-1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" name="ct.f.1"/>
          <p:cNvCxnSpPr/>
          <p:nvPr/>
        </p:nvCxnSpPr>
        <p:spPr>
          <a:xfrm>
            <a:off x="2755819" y="1803654"/>
            <a:ext cx="93488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ot"/>
            <a:tailEnd type="arrow" w="med" len="med"/>
          </a:ln>
          <a:effectLst/>
        </p:spPr>
      </p:cxnSp>
      <p:cxnSp>
        <p:nvCxnSpPr>
          <p:cNvPr id="14" name="ct.f.2"/>
          <p:cNvCxnSpPr/>
          <p:nvPr/>
        </p:nvCxnSpPr>
        <p:spPr>
          <a:xfrm>
            <a:off x="4038173" y="1803654"/>
            <a:ext cx="89236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5" name="ct.f.3"/>
          <p:cNvCxnSpPr/>
          <p:nvPr/>
        </p:nvCxnSpPr>
        <p:spPr>
          <a:xfrm>
            <a:off x="5268041" y="1803654"/>
            <a:ext cx="89236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6" name="ct.f.4"/>
          <p:cNvCxnSpPr/>
          <p:nvPr/>
        </p:nvCxnSpPr>
        <p:spPr>
          <a:xfrm>
            <a:off x="6507876" y="1803654"/>
            <a:ext cx="88742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17" name="ct.f.5"/>
          <p:cNvSpPr/>
          <p:nvPr/>
        </p:nvSpPr>
        <p:spPr>
          <a:xfrm>
            <a:off x="7742773" y="1803654"/>
            <a:ext cx="252375" cy="835304"/>
          </a:xfrm>
          <a:custGeom>
            <a:avLst/>
            <a:gdLst/>
            <a:ahLst/>
            <a:cxnLst/>
            <a:rect l="l" t="t" r="r" b="b"/>
            <a:pathLst>
              <a:path w="252375" h="835304" fill="none">
                <a:moveTo>
                  <a:pt x="0" y="0"/>
                </a:moveTo>
                <a:lnTo>
                  <a:pt x="252375" y="0"/>
                </a:lnTo>
                <a:lnTo>
                  <a:pt x="252375" y="835304"/>
                </a:lnTo>
                <a:lnTo>
                  <a:pt x="0" y="835304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18" name="ct.f.6"/>
          <p:cNvCxnSpPr/>
          <p:nvPr/>
        </p:nvCxnSpPr>
        <p:spPr>
          <a:xfrm>
            <a:off x="7742773" y="2757830"/>
            <a:ext cx="88742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9" name="ct.f.7"/>
          <p:cNvCxnSpPr/>
          <p:nvPr/>
        </p:nvCxnSpPr>
        <p:spPr>
          <a:xfrm flipH="1">
            <a:off x="4038173" y="2757830"/>
            <a:ext cx="335712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0" name="ct.f.8"/>
          <p:cNvCxnSpPr/>
          <p:nvPr/>
        </p:nvCxnSpPr>
        <p:spPr>
          <a:xfrm flipH="1">
            <a:off x="2803276" y="2757830"/>
            <a:ext cx="88742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1" name="ct.f.9"/>
          <p:cNvCxnSpPr/>
          <p:nvPr/>
        </p:nvCxnSpPr>
        <p:spPr>
          <a:xfrm flipH="1">
            <a:off x="1408359" y="2757830"/>
            <a:ext cx="104744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2" name="ct.f.10"/>
          <p:cNvCxnSpPr/>
          <p:nvPr/>
        </p:nvCxnSpPr>
        <p:spPr>
          <a:xfrm>
            <a:off x="2803276" y="4510735"/>
            <a:ext cx="88742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ot"/>
            <a:tailEnd type="arrow" w="med" len="med"/>
          </a:ln>
          <a:effectLst/>
        </p:spPr>
      </p:cxnSp>
      <p:cxnSp>
        <p:nvCxnSpPr>
          <p:cNvPr id="23" name="ct.f.11"/>
          <p:cNvCxnSpPr/>
          <p:nvPr/>
        </p:nvCxnSpPr>
        <p:spPr>
          <a:xfrm>
            <a:off x="4038173" y="4510735"/>
            <a:ext cx="88742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4" name="ct.f.12"/>
          <p:cNvCxnSpPr/>
          <p:nvPr/>
        </p:nvCxnSpPr>
        <p:spPr>
          <a:xfrm>
            <a:off x="5273070" y="4510735"/>
            <a:ext cx="92930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5" name="ct.f.13"/>
          <p:cNvCxnSpPr/>
          <p:nvPr/>
        </p:nvCxnSpPr>
        <p:spPr>
          <a:xfrm>
            <a:off x="6465997" y="4510735"/>
            <a:ext cx="92930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6" name="ct.f.14"/>
          <p:cNvSpPr/>
          <p:nvPr/>
        </p:nvSpPr>
        <p:spPr>
          <a:xfrm>
            <a:off x="7700802" y="4510735"/>
            <a:ext cx="374356" cy="615849"/>
          </a:xfrm>
          <a:custGeom>
            <a:avLst/>
            <a:gdLst/>
            <a:ahLst/>
            <a:cxnLst/>
            <a:rect l="l" t="t" r="r" b="b"/>
            <a:pathLst>
              <a:path w="374356" h="615849" fill="none">
                <a:moveTo>
                  <a:pt x="41971" y="0"/>
                </a:moveTo>
                <a:lnTo>
                  <a:pt x="374356" y="0"/>
                </a:lnTo>
                <a:lnTo>
                  <a:pt x="374356" y="615849"/>
                </a:lnTo>
                <a:lnTo>
                  <a:pt x="0" y="615849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27" name="ct.f.15"/>
          <p:cNvCxnSpPr/>
          <p:nvPr/>
        </p:nvCxnSpPr>
        <p:spPr>
          <a:xfrm>
            <a:off x="7700802" y="5245456"/>
            <a:ext cx="929397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8" name="ct.f.16"/>
          <p:cNvCxnSpPr/>
          <p:nvPr/>
        </p:nvCxnSpPr>
        <p:spPr>
          <a:xfrm flipH="1">
            <a:off x="4038173" y="5245456"/>
            <a:ext cx="3399099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</p:cxnSp>
      <p:cxnSp>
        <p:nvCxnSpPr>
          <p:cNvPr id="29" name="ct.f.17"/>
          <p:cNvCxnSpPr/>
          <p:nvPr/>
        </p:nvCxnSpPr>
        <p:spPr>
          <a:xfrm flipH="1">
            <a:off x="2803276" y="5245456"/>
            <a:ext cx="887425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  <a:effectLst/>
        </p:spPr>
      </p:cxnSp>
      <p:sp>
        <p:nvSpPr>
          <p:cNvPr id="30" name="ct.f.18"/>
          <p:cNvSpPr/>
          <p:nvPr/>
        </p:nvSpPr>
        <p:spPr>
          <a:xfrm>
            <a:off x="1408359" y="5090922"/>
            <a:ext cx="1047445" cy="154534"/>
          </a:xfrm>
          <a:custGeom>
            <a:avLst/>
            <a:gdLst/>
            <a:ahLst/>
            <a:cxnLst/>
            <a:rect l="l" t="t" r="r" b="b"/>
            <a:pathLst>
              <a:path w="1047445" h="154534" fill="none">
                <a:moveTo>
                  <a:pt x="1047445" y="154534"/>
                </a:moveTo>
                <a:lnTo>
                  <a:pt x="779892" y="154534"/>
                </a:lnTo>
                <a:lnTo>
                  <a:pt x="779892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/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pic>
        <p:nvPicPr>
          <p:cNvPr id="31" name="vendor.onprem/ci/jenkins.ct-n-jenkins" descr="Jenkins (vendor mark onprem/ci/jenkins)"/>
          <p:cNvPicPr>
            <a:picLocks noChangeAspect="1"/>
          </p:cNvPicPr>
          <p:nvPr/>
        </p:nvPicPr>
        <p:blipFill>
          <a:blip r:embed="rId2"/>
          <a:srcRect l="14062" r="13281"/>
          <a:stretch>
            <a:fillRect/>
          </a:stretch>
        </p:blipFill>
        <p:spPr>
          <a:xfrm>
            <a:off x="2503323" y="1629953"/>
            <a:ext cx="252460" cy="347472"/>
          </a:xfrm>
          <a:prstGeom prst="rect">
            <a:avLst/>
          </a:prstGeom>
          <a:effectLst/>
        </p:spPr>
      </p:pic>
      <p:sp>
        <p:nvSpPr>
          <p:cNvPr id="32" name="ct.n.jenkins.caption"/>
          <p:cNvSpPr txBox="1"/>
          <p:nvPr/>
        </p:nvSpPr>
        <p:spPr>
          <a:xfrm>
            <a:off x="2321400" y="2023145"/>
            <a:ext cx="61630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Jenkins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nightly cron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vendor.programming/language/python.ct-n-py" descr="Scrapers (vendor mark programming/language/python)"/>
          <p:cNvPicPr>
            <a:picLocks noChangeAspect="1"/>
          </p:cNvPicPr>
          <p:nvPr/>
        </p:nvPicPr>
        <p:blipFill>
          <a:blip r:embed="rId3"/>
          <a:srcRect l="3906" t="4297" r="3906" b="4297"/>
          <a:stretch>
            <a:fillRect/>
          </a:stretch>
        </p:blipFill>
        <p:spPr>
          <a:xfrm>
            <a:off x="3690693" y="1631426"/>
            <a:ext cx="347472" cy="344527"/>
          </a:xfrm>
          <a:prstGeom prst="rect">
            <a:avLst/>
          </a:prstGeom>
          <a:effectLst/>
        </p:spPr>
      </p:pic>
      <p:sp>
        <p:nvSpPr>
          <p:cNvPr id="34" name="ct.n.py.caption"/>
          <p:cNvSpPr txBox="1"/>
          <p:nvPr/>
        </p:nvSpPr>
        <p:spPr>
          <a:xfrm>
            <a:off x="3357851" y="2023145"/>
            <a:ext cx="101315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Scrapers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Python, web pages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5" name="vendor.onprem/database/postgresql.ct-n-pg" descr="PostgreSQL (vendor mark onprem/database/postgresql)"/>
          <p:cNvPicPr>
            <a:picLocks noChangeAspect="1"/>
          </p:cNvPicPr>
          <p:nvPr/>
        </p:nvPicPr>
        <p:blipFill>
          <a:blip r:embed="rId4"/>
          <a:srcRect l="3906" t="2344" r="3516" b="2344"/>
          <a:stretch>
            <a:fillRect/>
          </a:stretch>
        </p:blipFill>
        <p:spPr>
          <a:xfrm>
            <a:off x="4930552" y="1629953"/>
            <a:ext cx="337504" cy="347472"/>
          </a:xfrm>
          <a:prstGeom prst="rect">
            <a:avLst/>
          </a:prstGeom>
          <a:effectLst/>
        </p:spPr>
      </p:pic>
      <p:sp>
        <p:nvSpPr>
          <p:cNvPr id="36" name="ct.n.pg.caption"/>
          <p:cNvSpPr txBox="1"/>
          <p:nvPr/>
        </p:nvSpPr>
        <p:spPr>
          <a:xfrm>
            <a:off x="4710227" y="2023145"/>
            <a:ext cx="778154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PostgreSQL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signal rows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" name="vendor.onprem/analytics/tableau.ct-n-tableau" descr="Tableau (vendor mark onprem/analytics/tableau)"/>
          <p:cNvPicPr>
            <a:picLocks noChangeAspect="1"/>
          </p:cNvPicPr>
          <p:nvPr/>
        </p:nvPicPr>
        <p:blipFill>
          <a:blip r:embed="rId5"/>
          <a:srcRect l="29297" t="19886" r="29297" b="19886"/>
          <a:stretch>
            <a:fillRect/>
          </a:stretch>
        </p:blipFill>
        <p:spPr>
          <a:xfrm>
            <a:off x="6160443" y="1629953"/>
            <a:ext cx="347472" cy="347472"/>
          </a:xfrm>
          <a:prstGeom prst="rect">
            <a:avLst/>
          </a:prstGeom>
          <a:effectLst/>
        </p:spPr>
      </p:pic>
      <p:sp>
        <p:nvSpPr>
          <p:cNvPr id="38" name="ct.n.tableau.caption"/>
          <p:cNvSpPr txBox="1"/>
          <p:nvPr/>
        </p:nvSpPr>
        <p:spPr>
          <a:xfrm>
            <a:off x="6076319" y="2023145"/>
            <a:ext cx="51572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Tableau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extracts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ct.n.drive.icon"/>
          <p:cNvSpPr/>
          <p:nvPr/>
        </p:nvSpPr>
        <p:spPr>
          <a:xfrm>
            <a:off x="7395319" y="1629953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14000"/>
                </a:moveTo>
                <a:lnTo>
                  <a:pt x="7500" y="11100"/>
                </a:lnTo>
                <a:cubicBezTo>
                  <a:pt x="7832" y="10440"/>
                  <a:pt x="8501" y="10017"/>
                  <a:pt x="9240" y="10000"/>
                </a:cubicBezTo>
                <a:lnTo>
                  <a:pt x="20000" y="10000"/>
                </a:lnTo>
                <a:cubicBezTo>
                  <a:pt x="20619" y="9999"/>
                  <a:pt x="21204" y="10285"/>
                  <a:pt x="21584" y="10774"/>
                </a:cubicBezTo>
                <a:cubicBezTo>
                  <a:pt x="21963" y="11263"/>
                  <a:pt x="22095" y="11900"/>
                  <a:pt x="21940" y="12500"/>
                </a:cubicBezTo>
                <a:lnTo>
                  <a:pt x="20400" y="18500"/>
                </a:lnTo>
                <a:cubicBezTo>
                  <a:pt x="20171" y="19388"/>
                  <a:pt x="19367" y="20006"/>
                  <a:pt x="1845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7900" y="3000"/>
                </a:lnTo>
                <a:cubicBezTo>
                  <a:pt x="8580" y="2993"/>
                  <a:pt x="9216" y="3332"/>
                  <a:pt x="9590" y="3900"/>
                </a:cubicBezTo>
                <a:lnTo>
                  <a:pt x="10400" y="5100"/>
                </a:lnTo>
                <a:cubicBezTo>
                  <a:pt x="10770" y="5662"/>
                  <a:pt x="11397" y="6000"/>
                  <a:pt x="12070" y="6000"/>
                </a:cubicBezTo>
                <a:lnTo>
                  <a:pt x="18000" y="6000"/>
                </a:lnTo>
                <a:cubicBezTo>
                  <a:pt x="19105" y="6000"/>
                  <a:pt x="20000" y="6895"/>
                  <a:pt x="20000" y="8000"/>
                </a:cubicBezTo>
                <a:lnTo>
                  <a:pt x="20000" y="10000"/>
                </a:lnTo>
              </a:path>
            </a:pathLst>
          </a:custGeom>
          <a:noFill/>
          <a:ln w="2921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0" name="ct.n.drive.caption"/>
          <p:cNvSpPr txBox="1"/>
          <p:nvPr/>
        </p:nvSpPr>
        <p:spPr>
          <a:xfrm>
            <a:off x="7252672" y="2023145"/>
            <a:ext cx="63276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File share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exports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ct.n.reps0.icon"/>
          <p:cNvSpPr/>
          <p:nvPr/>
        </p:nvSpPr>
        <p:spPr>
          <a:xfrm>
            <a:off x="1060922" y="2584130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921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2" name="ct.n.reps0.caption"/>
          <p:cNvSpPr txBox="1"/>
          <p:nvPr/>
        </p:nvSpPr>
        <p:spPr>
          <a:xfrm>
            <a:off x="914618" y="2977322"/>
            <a:ext cx="64008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reps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vendor.saas/chat/teams.ct-n-teams" descr="Teams (vendor mark saas/chat/teams)"/>
          <p:cNvPicPr>
            <a:picLocks noChangeAspect="1"/>
          </p:cNvPicPr>
          <p:nvPr/>
        </p:nvPicPr>
        <p:blipFill>
          <a:blip r:embed="rId6"/>
          <a:srcRect l="23438" t="25781" r="23438" b="25000"/>
          <a:stretch>
            <a:fillRect/>
          </a:stretch>
        </p:blipFill>
        <p:spPr>
          <a:xfrm>
            <a:off x="2455817" y="2596904"/>
            <a:ext cx="347472" cy="321923"/>
          </a:xfrm>
          <a:prstGeom prst="rect">
            <a:avLst/>
          </a:prstGeom>
          <a:effectLst/>
        </p:spPr>
      </p:pic>
      <p:sp>
        <p:nvSpPr>
          <p:cNvPr id="44" name="ct.n.teams.caption"/>
          <p:cNvSpPr txBox="1"/>
          <p:nvPr/>
        </p:nvSpPr>
        <p:spPr>
          <a:xfrm>
            <a:off x="2411926" y="2977322"/>
            <a:ext cx="435254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Teams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channel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ct.n.mail.icon"/>
          <p:cNvSpPr/>
          <p:nvPr/>
        </p:nvSpPr>
        <p:spPr>
          <a:xfrm>
            <a:off x="3690693" y="2584130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7000"/>
                </a:moveTo>
                <a:lnTo>
                  <a:pt x="13009" y="12727"/>
                </a:lnTo>
                <a:cubicBezTo>
                  <a:pt x="12388" y="13088"/>
                  <a:pt x="11621" y="13088"/>
                  <a:pt x="11000" y="12727"/>
                </a:cubicBezTo>
                <a:lnTo>
                  <a:pt x="2000" y="7000"/>
                </a:lnTo>
                <a:moveTo>
                  <a:pt x="4000" y="4000"/>
                </a:moveTo>
                <a:lnTo>
                  <a:pt x="20000" y="4000"/>
                </a:lnTo>
                <a:cubicBezTo>
                  <a:pt x="21105" y="4000"/>
                  <a:pt x="22000" y="4895"/>
                  <a:pt x="22000" y="6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6000"/>
                </a:lnTo>
                <a:cubicBezTo>
                  <a:pt x="2000" y="4895"/>
                  <a:pt x="2895" y="4000"/>
                  <a:pt x="4000" y="4000"/>
                </a:cubicBezTo>
                <a:close/>
              </a:path>
            </a:pathLst>
          </a:custGeom>
          <a:noFill/>
          <a:ln w="2921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6" name="ct.n.mail.caption"/>
          <p:cNvSpPr txBox="1"/>
          <p:nvPr/>
        </p:nvSpPr>
        <p:spPr>
          <a:xfrm>
            <a:off x="3457063" y="2977322"/>
            <a:ext cx="81473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Email review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one thread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ct.n.analysts.icon"/>
          <p:cNvSpPr/>
          <p:nvPr/>
        </p:nvSpPr>
        <p:spPr>
          <a:xfrm>
            <a:off x="7395319" y="2584130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9000" y="21000"/>
                </a:moveTo>
                <a:lnTo>
                  <a:pt x="19000" y="19000"/>
                </a:lnTo>
                <a:cubicBezTo>
                  <a:pt x="19000" y="16791"/>
                  <a:pt x="17209" y="15000"/>
                  <a:pt x="15000" y="15000"/>
                </a:cubicBezTo>
                <a:lnTo>
                  <a:pt x="9000" y="15000"/>
                </a:lnTo>
                <a:cubicBezTo>
                  <a:pt x="6791" y="15000"/>
                  <a:pt x="5000" y="16791"/>
                  <a:pt x="5000" y="19000"/>
                </a:cubicBezTo>
                <a:lnTo>
                  <a:pt x="5000" y="21000"/>
                </a:lnTo>
                <a:moveTo>
                  <a:pt x="16000" y="7000"/>
                </a:moveTo>
                <a:cubicBezTo>
                  <a:pt x="16000" y="9209"/>
                  <a:pt x="14209" y="11000"/>
                  <a:pt x="12000" y="11000"/>
                </a:cubicBezTo>
                <a:cubicBezTo>
                  <a:pt x="9791" y="11000"/>
                  <a:pt x="8000" y="9209"/>
                  <a:pt x="8000" y="7000"/>
                </a:cubicBezTo>
                <a:cubicBezTo>
                  <a:pt x="8000" y="4791"/>
                  <a:pt x="9791" y="3000"/>
                  <a:pt x="12000" y="3000"/>
                </a:cubicBezTo>
                <a:cubicBezTo>
                  <a:pt x="14209" y="3000"/>
                  <a:pt x="16000" y="4791"/>
                  <a:pt x="16000" y="7000"/>
                </a:cubicBezTo>
                <a:close/>
              </a:path>
            </a:pathLst>
          </a:custGeom>
          <a:noFill/>
          <a:ln w="2921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8" name="ct.n.analysts.caption"/>
          <p:cNvSpPr txBox="1"/>
          <p:nvPr/>
        </p:nvSpPr>
        <p:spPr>
          <a:xfrm>
            <a:off x="7285591" y="2977322"/>
            <a:ext cx="56692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Analysts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6 regions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ct.n.drafts.icon"/>
          <p:cNvSpPr/>
          <p:nvPr/>
        </p:nvSpPr>
        <p:spPr>
          <a:xfrm>
            <a:off x="8630194" y="2584130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921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50" name="ct.n.drafts.caption"/>
          <p:cNvSpPr txBox="1"/>
          <p:nvPr/>
        </p:nvSpPr>
        <p:spPr>
          <a:xfrm>
            <a:off x="8425826" y="2977322"/>
            <a:ext cx="75620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Word drafts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6 versions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1" name="vendor.aws/integration/eventbridge-scheduler.ct-n-sched" descr="Scheduler (vendor mark aws/integration/eventbridge-scheduler)"/>
          <p:cNvPicPr>
            <a:picLocks noChangeAspect="1"/>
          </p:cNvPicPr>
          <p:nvPr/>
        </p:nvPicPr>
        <p:blipFill>
          <a:blip r:embed="rId7"/>
          <a:srcRect l="3906" t="3906" r="3906" b="6250"/>
          <a:stretch>
            <a:fillRect/>
          </a:stretch>
        </p:blipFill>
        <p:spPr>
          <a:xfrm>
            <a:off x="2455817" y="4341416"/>
            <a:ext cx="347472" cy="338638"/>
          </a:xfrm>
          <a:prstGeom prst="rect">
            <a:avLst/>
          </a:prstGeom>
          <a:effectLst/>
        </p:spPr>
      </p:pic>
      <p:sp>
        <p:nvSpPr>
          <p:cNvPr id="52" name="ct.n.sched.caption"/>
          <p:cNvSpPr txBox="1"/>
          <p:nvPr/>
        </p:nvSpPr>
        <p:spPr>
          <a:xfrm>
            <a:off x="2302198" y="4730191"/>
            <a:ext cx="65471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Scheduler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weekly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3" name="vendor.aws/compute/lambda.ct-n-lambda" descr="Lambda (vendor mark aws/compute/lambda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0693" y="4336999"/>
            <a:ext cx="347472" cy="347472"/>
          </a:xfrm>
          <a:prstGeom prst="rect">
            <a:avLst/>
          </a:prstGeom>
          <a:effectLst/>
        </p:spPr>
      </p:pic>
      <p:sp>
        <p:nvSpPr>
          <p:cNvPr id="54" name="ct.n.lambda.caption"/>
          <p:cNvSpPr txBox="1"/>
          <p:nvPr/>
        </p:nvSpPr>
        <p:spPr>
          <a:xfrm>
            <a:off x="3602910" y="4730191"/>
            <a:ext cx="523037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Lambda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collectors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5" name="vendor.aws/storage/simple-storage-service-s3.ct-n-s3" descr="Amazon S3 (vendor mark aws/storage/simple-storage-service-s3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5568" y="4336999"/>
            <a:ext cx="347472" cy="347472"/>
          </a:xfrm>
          <a:prstGeom prst="rect">
            <a:avLst/>
          </a:prstGeom>
          <a:effectLst/>
        </p:spPr>
      </p:pic>
      <p:sp>
        <p:nvSpPr>
          <p:cNvPr id="56" name="ct.n.s3.caption"/>
          <p:cNvSpPr txBox="1"/>
          <p:nvPr/>
        </p:nvSpPr>
        <p:spPr>
          <a:xfrm>
            <a:off x="4735830" y="4730191"/>
            <a:ext cx="72694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S3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signal lake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7" name="vendor.aws/compute/elastic-container-service-task.ct-n-scan" descr="Scan agent (vendor mark aws/compute/elastic-container-service-task)"/>
          <p:cNvPicPr>
            <a:picLocks noChangeAspect="1"/>
          </p:cNvPicPr>
          <p:nvPr/>
        </p:nvPicPr>
        <p:blipFill>
          <a:blip r:embed="rId10"/>
          <a:srcRect l="14453" t="3906" r="15625" b="3906"/>
          <a:stretch>
            <a:fillRect/>
          </a:stretch>
        </p:blipFill>
        <p:spPr>
          <a:xfrm>
            <a:off x="6202405" y="4336999"/>
            <a:ext cx="263549" cy="347472"/>
          </a:xfrm>
          <a:prstGeom prst="rect">
            <a:avLst/>
          </a:prstGeom>
          <a:effectLst/>
        </p:spPr>
      </p:pic>
      <p:sp>
        <p:nvSpPr>
          <p:cNvPr id="58" name="ct.n.scan.caption"/>
          <p:cNvSpPr txBox="1"/>
          <p:nvPr/>
        </p:nvSpPr>
        <p:spPr>
          <a:xfrm>
            <a:off x="5974363" y="4730191"/>
            <a:ext cx="719633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Scan agent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ECS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9" name="vendor.aws/analytics/amazon-opensearch-service.ct-n-search" descr="OpenSearch (vendor mark aws/analytics/amazon-opensearch-servic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5319" y="4336999"/>
            <a:ext cx="347472" cy="347472"/>
          </a:xfrm>
          <a:prstGeom prst="rect">
            <a:avLst/>
          </a:prstGeom>
          <a:effectLst/>
        </p:spPr>
      </p:pic>
      <p:sp>
        <p:nvSpPr>
          <p:cNvPr id="60" name="ct.n.search.caption"/>
          <p:cNvSpPr txBox="1"/>
          <p:nvPr/>
        </p:nvSpPr>
        <p:spPr>
          <a:xfrm>
            <a:off x="7172662" y="4730191"/>
            <a:ext cx="79278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OpenSearch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claims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1" name="vendor.aws/network/api-gateway.ct-n-api" descr="API Gateway (vendor mark aws/network/api-gateway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55817" y="5071720"/>
            <a:ext cx="347472" cy="347472"/>
          </a:xfrm>
          <a:prstGeom prst="rect">
            <a:avLst/>
          </a:prstGeom>
          <a:effectLst/>
        </p:spPr>
      </p:pic>
      <p:sp>
        <p:nvSpPr>
          <p:cNvPr id="62" name="ct.n.api.caption"/>
          <p:cNvSpPr txBox="1"/>
          <p:nvPr/>
        </p:nvSpPr>
        <p:spPr>
          <a:xfrm>
            <a:off x="2222188" y="5464912"/>
            <a:ext cx="81473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API Gateway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API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3" name="vendor.programming/framework/react.ct-n-review" descr="Review app (vendor mark programming/framework/react)"/>
          <p:cNvPicPr>
            <a:picLocks noChangeAspect="1"/>
          </p:cNvPicPr>
          <p:nvPr/>
        </p:nvPicPr>
        <p:blipFill>
          <a:blip r:embed="rId13"/>
          <a:srcRect l="5078" t="9766" r="5078" b="9766"/>
          <a:stretch>
            <a:fillRect/>
          </a:stretch>
        </p:blipFill>
        <p:spPr>
          <a:xfrm>
            <a:off x="3690693" y="5089849"/>
            <a:ext cx="347472" cy="311214"/>
          </a:xfrm>
          <a:prstGeom prst="rect">
            <a:avLst/>
          </a:prstGeom>
          <a:effectLst/>
        </p:spPr>
      </p:pic>
      <p:sp>
        <p:nvSpPr>
          <p:cNvPr id="64" name="ct.n.review.caption"/>
          <p:cNvSpPr txBox="1"/>
          <p:nvPr/>
        </p:nvSpPr>
        <p:spPr>
          <a:xfrm>
            <a:off x="3493639" y="5464912"/>
            <a:ext cx="74157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app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React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vendor.aws/compute/elastic-container-service-task.ct-n-writer" descr="Writer agent (vendor mark aws/compute/elastic-container-service-task)"/>
          <p:cNvPicPr>
            <a:picLocks noChangeAspect="1"/>
          </p:cNvPicPr>
          <p:nvPr/>
        </p:nvPicPr>
        <p:blipFill>
          <a:blip r:embed="rId10"/>
          <a:srcRect l="14453" t="3906" r="15625" b="3906"/>
          <a:stretch>
            <a:fillRect/>
          </a:stretch>
        </p:blipFill>
        <p:spPr>
          <a:xfrm>
            <a:off x="7437281" y="5071720"/>
            <a:ext cx="263549" cy="347472"/>
          </a:xfrm>
          <a:prstGeom prst="rect">
            <a:avLst/>
          </a:prstGeom>
          <a:effectLst/>
        </p:spPr>
      </p:pic>
      <p:sp>
        <p:nvSpPr>
          <p:cNvPr id="66" name="ct.n.writer.caption"/>
          <p:cNvSpPr txBox="1"/>
          <p:nvPr/>
        </p:nvSpPr>
        <p:spPr>
          <a:xfrm>
            <a:off x="7176320" y="5464912"/>
            <a:ext cx="78547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Writer agent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ECS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7" name="vendor.aws/ml/bedrock.ct-n-bedrock" descr="Bedrock (vendor mark aws/ml/bedrock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0194" y="5071720"/>
            <a:ext cx="347472" cy="347472"/>
          </a:xfrm>
          <a:prstGeom prst="rect">
            <a:avLst/>
          </a:prstGeom>
          <a:effectLst/>
        </p:spPr>
      </p:pic>
      <p:sp>
        <p:nvSpPr>
          <p:cNvPr id="68" name="ct.n.bedrock.caption"/>
          <p:cNvSpPr txBox="1"/>
          <p:nvPr/>
        </p:nvSpPr>
        <p:spPr>
          <a:xfrm>
            <a:off x="8404795" y="5464912"/>
            <a:ext cx="79827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Bedrock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Claude models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vendor.programming/framework/react.ct-n-app" descr="Field app (vendor mark programming/framework/react)"/>
          <p:cNvPicPr>
            <a:picLocks noChangeAspect="1"/>
          </p:cNvPicPr>
          <p:nvPr/>
        </p:nvPicPr>
        <p:blipFill>
          <a:blip r:embed="rId13"/>
          <a:srcRect l="5078" t="9766" r="5078" b="9766"/>
          <a:stretch>
            <a:fillRect/>
          </a:stretch>
        </p:blipFill>
        <p:spPr>
          <a:xfrm>
            <a:off x="1060922" y="4935306"/>
            <a:ext cx="347472" cy="311214"/>
          </a:xfrm>
          <a:prstGeom prst="rect">
            <a:avLst/>
          </a:prstGeom>
          <a:effectLst/>
        </p:spPr>
      </p:pic>
      <p:sp>
        <p:nvSpPr>
          <p:cNvPr id="70" name="ct.n.app.caption"/>
          <p:cNvSpPr txBox="1"/>
          <p:nvPr/>
        </p:nvSpPr>
        <p:spPr>
          <a:xfrm>
            <a:off x="890843" y="5310369"/>
            <a:ext cx="68762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app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React Native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ct.n.analysts.change.B"/>
          <p:cNvSpPr/>
          <p:nvPr/>
        </p:nvSpPr>
        <p:spPr>
          <a:xfrm>
            <a:off x="7157575" y="252926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ct.n.app.change.D"/>
          <p:cNvSpPr/>
          <p:nvPr/>
        </p:nvSpPr>
        <p:spPr>
          <a:xfrm>
            <a:off x="1444970" y="4880442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ct.n.lambda.change.A"/>
          <p:cNvSpPr/>
          <p:nvPr/>
        </p:nvSpPr>
        <p:spPr>
          <a:xfrm>
            <a:off x="4074741" y="4282135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ct.n.mail.change.C"/>
          <p:cNvSpPr/>
          <p:nvPr/>
        </p:nvSpPr>
        <p:spPr>
          <a:xfrm>
            <a:off x="4074741" y="252926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ct.n.py.change.A"/>
          <p:cNvSpPr/>
          <p:nvPr/>
        </p:nvSpPr>
        <p:spPr>
          <a:xfrm>
            <a:off x="4074741" y="1576562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ct.n.review.change.C"/>
          <p:cNvSpPr/>
          <p:nvPr/>
        </p:nvSpPr>
        <p:spPr>
          <a:xfrm>
            <a:off x="4074741" y="5034985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ct.n.teams.change.D"/>
          <p:cNvSpPr/>
          <p:nvPr/>
        </p:nvSpPr>
        <p:spPr>
          <a:xfrm>
            <a:off x="2839865" y="2542040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ct.n.writer.change.B"/>
          <p:cNvSpPr/>
          <p:nvPr/>
        </p:nvSpPr>
        <p:spPr>
          <a:xfrm>
            <a:off x="7199537" y="501685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ct.f.1.label"/>
          <p:cNvSpPr txBox="1"/>
          <p:nvPr/>
        </p:nvSpPr>
        <p:spPr>
          <a:xfrm>
            <a:off x="3077577" y="1635862"/>
            <a:ext cx="29136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runs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ct.f.2.label"/>
          <p:cNvSpPr txBox="1"/>
          <p:nvPr/>
        </p:nvSpPr>
        <p:spPr>
          <a:xfrm>
            <a:off x="4328970" y="1831086"/>
            <a:ext cx="31077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rows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ct.f.3.label"/>
          <p:cNvSpPr txBox="1"/>
          <p:nvPr/>
        </p:nvSpPr>
        <p:spPr>
          <a:xfrm>
            <a:off x="5539264" y="1831086"/>
            <a:ext cx="34991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feeds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ct.f.4.label"/>
          <p:cNvSpPr txBox="1"/>
          <p:nvPr/>
        </p:nvSpPr>
        <p:spPr>
          <a:xfrm>
            <a:off x="6982308" y="1635862"/>
            <a:ext cx="304321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CSV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ct.f.5.label"/>
          <p:cNvSpPr txBox="1"/>
          <p:nvPr/>
        </p:nvSpPr>
        <p:spPr>
          <a:xfrm>
            <a:off x="8031724" y="2151126"/>
            <a:ext cx="35636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ct.f.6.label"/>
          <p:cNvSpPr txBox="1"/>
          <p:nvPr/>
        </p:nvSpPr>
        <p:spPr>
          <a:xfrm>
            <a:off x="7959595" y="2785262"/>
            <a:ext cx="45378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6 drafts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ct.f.7.label"/>
          <p:cNvSpPr txBox="1"/>
          <p:nvPr/>
        </p:nvSpPr>
        <p:spPr>
          <a:xfrm>
            <a:off x="5538640" y="2785262"/>
            <a:ext cx="35619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PDFs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ct.f.8.label"/>
          <p:cNvSpPr txBox="1"/>
          <p:nvPr/>
        </p:nvSpPr>
        <p:spPr>
          <a:xfrm>
            <a:off x="2971305" y="2785262"/>
            <a:ext cx="55136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ct.f.9.label"/>
          <p:cNvSpPr txBox="1"/>
          <p:nvPr/>
        </p:nvSpPr>
        <p:spPr>
          <a:xfrm>
            <a:off x="1789623" y="2590038"/>
            <a:ext cx="28491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post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ct.f.10.label"/>
          <p:cNvSpPr txBox="1"/>
          <p:nvPr/>
        </p:nvSpPr>
        <p:spPr>
          <a:xfrm>
            <a:off x="3101305" y="4342943"/>
            <a:ext cx="29136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runs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ct.f.11.label"/>
          <p:cNvSpPr txBox="1"/>
          <p:nvPr/>
        </p:nvSpPr>
        <p:spPr>
          <a:xfrm>
            <a:off x="4267978" y="4538167"/>
            <a:ext cx="42781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signals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ct.f.12.label"/>
          <p:cNvSpPr txBox="1"/>
          <p:nvPr/>
        </p:nvSpPr>
        <p:spPr>
          <a:xfrm>
            <a:off x="5478360" y="4342943"/>
            <a:ext cx="51872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new files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ct.f.13.label"/>
          <p:cNvSpPr txBox="1"/>
          <p:nvPr/>
        </p:nvSpPr>
        <p:spPr>
          <a:xfrm>
            <a:off x="6733063" y="4342943"/>
            <a:ext cx="395173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ct.f.14.label"/>
          <p:cNvSpPr txBox="1"/>
          <p:nvPr/>
        </p:nvSpPr>
        <p:spPr>
          <a:xfrm>
            <a:off x="8111734" y="4748479"/>
            <a:ext cx="67452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cited 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ct.f.15.label"/>
          <p:cNvSpPr txBox="1"/>
          <p:nvPr/>
        </p:nvSpPr>
        <p:spPr>
          <a:xfrm>
            <a:off x="8108004" y="5272888"/>
            <a:ext cx="29787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ct.f.16.label"/>
          <p:cNvSpPr txBox="1"/>
          <p:nvPr/>
        </p:nvSpPr>
        <p:spPr>
          <a:xfrm>
            <a:off x="5592040" y="5272888"/>
            <a:ext cx="29136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ct.f.17.label"/>
          <p:cNvSpPr txBox="1"/>
          <p:nvPr/>
        </p:nvSpPr>
        <p:spPr>
          <a:xfrm>
            <a:off x="2971305" y="5272888"/>
            <a:ext cx="55136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ct.f.18.label"/>
          <p:cNvSpPr txBox="1"/>
          <p:nvPr/>
        </p:nvSpPr>
        <p:spPr>
          <a:xfrm>
            <a:off x="1561182" y="5118354"/>
            <a:ext cx="29136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7" name="state.ct.legend.key.data"/>
          <p:cNvCxnSpPr/>
          <p:nvPr/>
        </p:nvCxnSpPr>
        <p:spPr>
          <a:xfrm>
            <a:off x="502920" y="6140287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98" name="ct.legend.key.data.text"/>
          <p:cNvSpPr txBox="1"/>
          <p:nvPr/>
        </p:nvSpPr>
        <p:spPr>
          <a:xfrm>
            <a:off x="1005840" y="6071616"/>
            <a:ext cx="97218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Request or data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9" name="state.ct.legend.key.control"/>
          <p:cNvCxnSpPr/>
          <p:nvPr/>
        </p:nvCxnSpPr>
        <p:spPr>
          <a:xfrm>
            <a:off x="2252343" y="6140287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ot"/>
          </a:ln>
          <a:effectLst/>
        </p:spPr>
      </p:cxnSp>
      <p:sp>
        <p:nvSpPr>
          <p:cNvPr id="100" name="ct.legend.key.control.text"/>
          <p:cNvSpPr txBox="1"/>
          <p:nvPr/>
        </p:nvSpPr>
        <p:spPr>
          <a:xfrm>
            <a:off x="2755263" y="6071616"/>
            <a:ext cx="140329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Control or configuration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1" name="state.ct.legend.key.hero"/>
          <p:cNvCxnSpPr/>
          <p:nvPr/>
        </p:nvCxnSpPr>
        <p:spPr>
          <a:xfrm>
            <a:off x="4432878" y="6140287"/>
            <a:ext cx="411480" cy="0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</p:cxnSp>
      <p:sp>
        <p:nvSpPr>
          <p:cNvPr id="102" name="ct.legend.key.hero.text"/>
          <p:cNvSpPr txBox="1"/>
          <p:nvPr/>
        </p:nvSpPr>
        <p:spPr>
          <a:xfrm>
            <a:off x="4935798" y="6071616"/>
            <a:ext cx="78189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Primary path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ct.key.head"/>
          <p:cNvSpPr txBox="1"/>
          <p:nvPr/>
        </p:nvSpPr>
        <p:spPr>
          <a:xfrm>
            <a:off x="9924288" y="868680"/>
            <a:ext cx="187452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Changes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ct.key.changekey.A"/>
          <p:cNvSpPr/>
          <p:nvPr/>
        </p:nvSpPr>
        <p:spPr>
          <a:xfrm>
            <a:off x="9924288" y="1088319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ct.key.A.text"/>
          <p:cNvSpPr txBox="1"/>
          <p:nvPr/>
        </p:nvSpPr>
        <p:spPr>
          <a:xfrm>
            <a:off x="10216896" y="1079175"/>
            <a:ext cx="1581912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cron scripts on one VM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scheduled Lambda collectors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ct.key.changekey.B"/>
          <p:cNvSpPr/>
          <p:nvPr/>
        </p:nvSpPr>
        <p:spPr>
          <a:xfrm>
            <a:off x="9924288" y="2483145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ct.key.B.text"/>
          <p:cNvSpPr txBox="1"/>
          <p:nvPr/>
        </p:nvSpPr>
        <p:spPr>
          <a:xfrm>
            <a:off x="10216896" y="2474001"/>
            <a:ext cx="158191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6 regional drafts in Word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cited draft per week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ct.key.changekey.C"/>
          <p:cNvSpPr/>
          <p:nvPr/>
        </p:nvSpPr>
        <p:spPr>
          <a:xfrm>
            <a:off x="9924288" y="3877970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ct.key.C.text"/>
          <p:cNvSpPr txBox="1"/>
          <p:nvPr/>
        </p:nvSpPr>
        <p:spPr>
          <a:xfrm>
            <a:off x="10216896" y="3868826"/>
            <a:ext cx="1581912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review by email thread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app, decisions logged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ct.key.changekey.D"/>
          <p:cNvSpPr/>
          <p:nvPr/>
        </p:nvSpPr>
        <p:spPr>
          <a:xfrm>
            <a:off x="9924288" y="5272796"/>
            <a:ext cx="201168" cy="20116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ct.key.D.text"/>
          <p:cNvSpPr txBox="1"/>
          <p:nvPr/>
        </p:nvSpPr>
        <p:spPr>
          <a:xfrm>
            <a:off x="10216896" y="5263652"/>
            <a:ext cx="1581912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PDF posted to a chat channel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in the field app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ecision-logic:arch-state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brief graph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stops for a reviewer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when a claim has no source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raph.g.graph.frame"/>
          <p:cNvSpPr/>
          <p:nvPr/>
        </p:nvSpPr>
        <p:spPr>
          <a:xfrm>
            <a:off x="512064" y="2230126"/>
            <a:ext cx="11231880" cy="2972641"/>
          </a:xfrm>
          <a:prstGeom prst="rect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  <p:txBody>
          <a:bodyPr/>
          <a:p/>
        </p:txBody>
      </p:sp>
      <p:sp>
        <p:nvSpPr>
          <p:cNvPr id="4" name="graph.g.graph.label"/>
          <p:cNvSpPr txBox="1"/>
          <p:nvPr/>
        </p:nvSpPr>
        <p:spPr>
          <a:xfrm>
            <a:off x="585216" y="2284990"/>
            <a:ext cx="1836889" cy="17605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brief_graph · on ECS Fargate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mark.langgraph-logo.graph-g-graph-tab" descr="LangGraph (brand mark langgraph-logo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3545" y="2275846"/>
            <a:ext cx="1035832" cy="219456"/>
          </a:xfrm>
          <a:prstGeom prst="rect">
            <a:avLst/>
          </a:prstGeom>
          <a:effectLst/>
        </p:spPr>
      </p:pic>
      <p:cxnSp>
        <p:nvCxnSpPr>
          <p:cNvPr id="6" name="graph.f.1"/>
          <p:cNvCxnSpPr/>
          <p:nvPr/>
        </p:nvCxnSpPr>
        <p:spPr>
          <a:xfrm>
            <a:off x="1425184" y="2769626"/>
            <a:ext cx="84874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7" name="graph.f.2"/>
          <p:cNvCxnSpPr/>
          <p:nvPr/>
        </p:nvCxnSpPr>
        <p:spPr>
          <a:xfrm>
            <a:off x="2827233" y="2769626"/>
            <a:ext cx="1007761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8" name="graph.f.3"/>
          <p:cNvCxnSpPr/>
          <p:nvPr/>
        </p:nvCxnSpPr>
        <p:spPr>
          <a:xfrm>
            <a:off x="4843577" y="2769626"/>
            <a:ext cx="8679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9" name="graph.f.4"/>
          <p:cNvCxnSpPr/>
          <p:nvPr/>
        </p:nvCxnSpPr>
        <p:spPr>
          <a:xfrm>
            <a:off x="6544452" y="2769626"/>
            <a:ext cx="85331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0" name="graph.f.5"/>
          <p:cNvCxnSpPr/>
          <p:nvPr/>
        </p:nvCxnSpPr>
        <p:spPr>
          <a:xfrm>
            <a:off x="8435706" y="2769626"/>
            <a:ext cx="87617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 w="med" len="med"/>
          </a:ln>
          <a:effectLst/>
        </p:spPr>
      </p:cxnSp>
      <p:cxnSp>
        <p:nvCxnSpPr>
          <p:cNvPr id="11" name="graph.f.6"/>
          <p:cNvCxnSpPr/>
          <p:nvPr/>
        </p:nvCxnSpPr>
        <p:spPr>
          <a:xfrm>
            <a:off x="10098908" y="2769626"/>
            <a:ext cx="8033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2" name="graph.f.7"/>
          <p:cNvCxnSpPr/>
          <p:nvPr/>
        </p:nvCxnSpPr>
        <p:spPr>
          <a:xfrm>
            <a:off x="7916692" y="2998226"/>
            <a:ext cx="0" cy="1655887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 w="med" len="med"/>
          </a:ln>
          <a:effectLst/>
        </p:spPr>
      </p:cxnSp>
      <p:sp>
        <p:nvSpPr>
          <p:cNvPr id="13" name="graph.f.8"/>
          <p:cNvSpPr/>
          <p:nvPr/>
        </p:nvSpPr>
        <p:spPr>
          <a:xfrm>
            <a:off x="8574512" y="2998226"/>
            <a:ext cx="1130930" cy="1884487"/>
          </a:xfrm>
          <a:custGeom>
            <a:avLst/>
            <a:gdLst/>
            <a:ahLst/>
            <a:cxnLst/>
            <a:rect l="l" t="t" r="r" b="b"/>
            <a:pathLst>
              <a:path w="1130930" h="1884487" fill="none">
                <a:moveTo>
                  <a:pt x="0" y="1884487"/>
                </a:moveTo>
                <a:lnTo>
                  <a:pt x="1130930" y="1884487"/>
                </a:lnTo>
                <a:lnTo>
                  <a:pt x="113093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14" name="graph.f.9"/>
          <p:cNvSpPr/>
          <p:nvPr/>
        </p:nvSpPr>
        <p:spPr>
          <a:xfrm>
            <a:off x="6128034" y="2998226"/>
            <a:ext cx="1130930" cy="1884487"/>
          </a:xfrm>
          <a:custGeom>
            <a:avLst/>
            <a:gdLst/>
            <a:ahLst/>
            <a:cxnLst/>
            <a:rect l="l" t="t" r="r" b="b"/>
            <a:pathLst>
              <a:path w="1130930" h="1884487" fill="none">
                <a:moveTo>
                  <a:pt x="1130930" y="1884487"/>
                </a:moveTo>
                <a:lnTo>
                  <a:pt x="0" y="1884487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15" name="graph.f.10"/>
          <p:cNvCxnSpPr/>
          <p:nvPr/>
        </p:nvCxnSpPr>
        <p:spPr>
          <a:xfrm>
            <a:off x="4224985" y="2998226"/>
            <a:ext cx="0" cy="1655887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 w="med" len="med"/>
          </a:ln>
          <a:effectLst/>
        </p:spPr>
      </p:cxnSp>
      <p:cxnSp>
        <p:nvCxnSpPr>
          <p:cNvPr id="16" name="graph.f.11"/>
          <p:cNvCxnSpPr/>
          <p:nvPr/>
        </p:nvCxnSpPr>
        <p:spPr>
          <a:xfrm flipV="1">
            <a:off x="4453585" y="2998226"/>
            <a:ext cx="0" cy="1655887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17" name="graph.f.12"/>
          <p:cNvCxnSpPr/>
          <p:nvPr/>
        </p:nvCxnSpPr>
        <p:spPr>
          <a:xfrm flipH="1">
            <a:off x="2783616" y="4882713"/>
            <a:ext cx="122392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 w="med" len="med"/>
          </a:ln>
          <a:effectLst/>
        </p:spPr>
      </p:cxnSp>
      <p:sp>
        <p:nvSpPr>
          <p:cNvPr id="18" name="graph.f.13"/>
          <p:cNvSpPr/>
          <p:nvPr/>
        </p:nvSpPr>
        <p:spPr>
          <a:xfrm>
            <a:off x="3636935" y="1197864"/>
            <a:ext cx="198059" cy="1457462"/>
          </a:xfrm>
          <a:custGeom>
            <a:avLst/>
            <a:gdLst/>
            <a:ahLst/>
            <a:cxnLst/>
            <a:rect l="l" t="t" r="r" b="b"/>
            <a:pathLst>
              <a:path w="198059" h="1457462" fill="none">
                <a:moveTo>
                  <a:pt x="198059" y="1457462"/>
                </a:moveTo>
                <a:lnTo>
                  <a:pt x="0" y="145746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19" name="graph.f.14"/>
          <p:cNvSpPr/>
          <p:nvPr/>
        </p:nvSpPr>
        <p:spPr>
          <a:xfrm>
            <a:off x="5425684" y="1197864"/>
            <a:ext cx="285841" cy="1457462"/>
          </a:xfrm>
          <a:custGeom>
            <a:avLst/>
            <a:gdLst/>
            <a:ahLst/>
            <a:cxnLst/>
            <a:rect l="l" t="t" r="r" b="b"/>
            <a:pathLst>
              <a:path w="285841" h="1457462" fill="none">
                <a:moveTo>
                  <a:pt x="285841" y="1457462"/>
                </a:moveTo>
                <a:lnTo>
                  <a:pt x="0" y="145746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20" name="graph.f.15"/>
          <p:cNvSpPr/>
          <p:nvPr/>
        </p:nvSpPr>
        <p:spPr>
          <a:xfrm>
            <a:off x="9003091" y="1197864"/>
            <a:ext cx="308793" cy="1457462"/>
          </a:xfrm>
          <a:custGeom>
            <a:avLst/>
            <a:gdLst/>
            <a:ahLst/>
            <a:cxnLst/>
            <a:rect l="l" t="t" r="r" b="b"/>
            <a:pathLst>
              <a:path w="308793" h="1457462" fill="none">
                <a:moveTo>
                  <a:pt x="308793" y="1457462"/>
                </a:moveTo>
                <a:lnTo>
                  <a:pt x="0" y="145746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21" name="graph.f.16"/>
          <p:cNvSpPr/>
          <p:nvPr/>
        </p:nvSpPr>
        <p:spPr>
          <a:xfrm>
            <a:off x="6439388" y="4997013"/>
            <a:ext cx="819576" cy="562539"/>
          </a:xfrm>
          <a:custGeom>
            <a:avLst/>
            <a:gdLst/>
            <a:ahLst/>
            <a:cxnLst/>
            <a:rect l="l" t="t" r="r" b="b"/>
            <a:pathLst>
              <a:path w="819576" h="562539" fill="none">
                <a:moveTo>
                  <a:pt x="819576" y="0"/>
                </a:moveTo>
                <a:lnTo>
                  <a:pt x="0" y="0"/>
                </a:lnTo>
                <a:lnTo>
                  <a:pt x="0" y="562539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sysDot"/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22" name="graph.f.17"/>
          <p:cNvCxnSpPr/>
          <p:nvPr/>
        </p:nvCxnSpPr>
        <p:spPr>
          <a:xfrm>
            <a:off x="7916692" y="5111313"/>
            <a:ext cx="0" cy="448239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3" name="graph.f.18"/>
          <p:cNvSpPr/>
          <p:nvPr/>
        </p:nvSpPr>
        <p:spPr>
          <a:xfrm>
            <a:off x="8574512" y="4997013"/>
            <a:ext cx="1036838" cy="582564"/>
          </a:xfrm>
          <a:custGeom>
            <a:avLst/>
            <a:gdLst/>
            <a:ahLst/>
            <a:cxnLst/>
            <a:rect l="l" t="t" r="r" b="b"/>
            <a:pathLst>
              <a:path w="1036838" h="582564" fill="none">
                <a:moveTo>
                  <a:pt x="1036838" y="582564"/>
                </a:moveTo>
                <a:lnTo>
                  <a:pt x="1036838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pic>
        <p:nvPicPr>
          <p:cNvPr id="24" name="vendor.aws/analytics/amazon-opensearch-service.graph-n-search" descr="OpenSearch (vendor mark aws/analytics/amazon-opensearch-servic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937" y="813816"/>
            <a:ext cx="384048" cy="384048"/>
          </a:xfrm>
          <a:prstGeom prst="rect">
            <a:avLst/>
          </a:prstGeom>
          <a:effectLst/>
        </p:spPr>
      </p:pic>
      <p:sp>
        <p:nvSpPr>
          <p:cNvPr id="25" name="graph.n.search.caption"/>
          <p:cNvSpPr txBox="1"/>
          <p:nvPr/>
        </p:nvSpPr>
        <p:spPr>
          <a:xfrm>
            <a:off x="3883849" y="876224"/>
            <a:ext cx="79278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OpenSearch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claim index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6" name="vendor.aws/ml/bedrock.graph-n-bedrock" descr="Bedrock (vendor mark aws/ml/bedrock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648" y="813816"/>
            <a:ext cx="384048" cy="384048"/>
          </a:xfrm>
          <a:prstGeom prst="rect">
            <a:avLst/>
          </a:prstGeom>
          <a:effectLst/>
        </p:spPr>
      </p:pic>
      <p:sp>
        <p:nvSpPr>
          <p:cNvPr id="27" name="graph.n.bedrock.caption"/>
          <p:cNvSpPr txBox="1"/>
          <p:nvPr/>
        </p:nvSpPr>
        <p:spPr>
          <a:xfrm>
            <a:off x="5672560" y="876224"/>
            <a:ext cx="79827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Bedrock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Claude models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8" name="vendor.aws/database/rds.graph-n-rds" descr="RDS (vendor mark aws/database/rds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1071" y="813816"/>
            <a:ext cx="384048" cy="384048"/>
          </a:xfrm>
          <a:prstGeom prst="rect">
            <a:avLst/>
          </a:prstGeom>
          <a:effectLst/>
        </p:spPr>
      </p:pic>
      <p:sp>
        <p:nvSpPr>
          <p:cNvPr id="29" name="graph.n.rds.caption"/>
          <p:cNvSpPr txBox="1"/>
          <p:nvPr/>
        </p:nvSpPr>
        <p:spPr>
          <a:xfrm>
            <a:off x="9249983" y="876224"/>
            <a:ext cx="603504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RDS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ledger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raph.n.start.terminal"/>
          <p:cNvSpPr/>
          <p:nvPr/>
        </p:nvSpPr>
        <p:spPr>
          <a:xfrm>
            <a:off x="816279" y="2659894"/>
            <a:ext cx="608885" cy="219456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START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graph.n.plan.state"/>
          <p:cNvSpPr/>
          <p:nvPr/>
        </p:nvSpPr>
        <p:spPr>
          <a:xfrm>
            <a:off x="2273956" y="2541022"/>
            <a:ext cx="553251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plan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Claude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graph.n.scan.state"/>
          <p:cNvSpPr/>
          <p:nvPr/>
        </p:nvSpPr>
        <p:spPr>
          <a:xfrm>
            <a:off x="3835033" y="2541022"/>
            <a:ext cx="1008519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scan_signals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tool calls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graph.n.draft.state"/>
          <p:cNvSpPr/>
          <p:nvPr/>
        </p:nvSpPr>
        <p:spPr>
          <a:xfrm>
            <a:off x="5711546" y="2541022"/>
            <a:ext cx="832917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draft_brief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Claude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graph.n.check.state"/>
          <p:cNvSpPr/>
          <p:nvPr/>
        </p:nvSpPr>
        <p:spPr>
          <a:xfrm>
            <a:off x="7397758" y="2541022"/>
            <a:ext cx="1037914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check_claims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cite or flag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graph.n.publish.state"/>
          <p:cNvSpPr/>
          <p:nvPr/>
        </p:nvSpPr>
        <p:spPr>
          <a:xfrm>
            <a:off x="9311926" y="2541022"/>
            <a:ext cx="787001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publish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write ledger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raph.n.end.terminal"/>
          <p:cNvSpPr/>
          <p:nvPr/>
        </p:nvSpPr>
        <p:spPr>
          <a:xfrm>
            <a:off x="10902215" y="2659894"/>
            <a:ext cx="466144" cy="219456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END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raph.n.fail.terminal"/>
          <p:cNvSpPr/>
          <p:nvPr/>
        </p:nvSpPr>
        <p:spPr>
          <a:xfrm>
            <a:off x="2317510" y="4773000"/>
            <a:ext cx="466144" cy="219456"/>
          </a:xfrm>
          <a:prstGeom prst="roundRect">
            <a:avLst>
              <a:gd name="adj" fmla="val 50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END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raph.n.retry.state"/>
          <p:cNvSpPr/>
          <p:nvPr/>
        </p:nvSpPr>
        <p:spPr>
          <a:xfrm>
            <a:off x="4007511" y="4654128"/>
            <a:ext cx="663563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>
                <a:lumMod val="55000"/>
              </a:schemeClr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retry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at most 2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graph.n.review.state"/>
          <p:cNvSpPr/>
          <p:nvPr/>
        </p:nvSpPr>
        <p:spPr>
          <a:xfrm>
            <a:off x="7258955" y="4654128"/>
            <a:ext cx="1315519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prstDash val="dash"/>
          </a:ln>
          <a:effectLst/>
        </p:spPr>
        <p:txBody>
          <a:bodyPr rtlCol="0" anchor="ctr" wrap="square" lIns="256032" tIns="0" rIns="36576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human_review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interrupt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graph.n.review.state.icon"/>
          <p:cNvSpPr/>
          <p:nvPr/>
        </p:nvSpPr>
        <p:spPr>
          <a:xfrm>
            <a:off x="7332107" y="4800432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3970" cap="rnd">
            <a:solidFill>
              <a:schemeClr val="accent1">
                <a:lumMod val="75000"/>
              </a:schemeClr>
            </a:solidFill>
            <a:round/>
          </a:ln>
          <a:effectLst/>
        </p:spPr>
        <p:txBody>
          <a:bodyPr/>
          <a:p/>
        </p:txBody>
      </p:sp>
      <p:pic>
        <p:nvPicPr>
          <p:cNvPr id="41" name="vendor.aws/database/dynamodb.graph-n-ddb" descr="DynamoDB (vendor mark aws/database/dynamodb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7406" y="5559552"/>
            <a:ext cx="384048" cy="384048"/>
          </a:xfrm>
          <a:prstGeom prst="rect">
            <a:avLst/>
          </a:prstGeom>
          <a:effectLst/>
        </p:spPr>
      </p:pic>
      <p:sp>
        <p:nvSpPr>
          <p:cNvPr id="42" name="graph.n.ddb.caption"/>
          <p:cNvSpPr txBox="1"/>
          <p:nvPr/>
        </p:nvSpPr>
        <p:spPr>
          <a:xfrm>
            <a:off x="5465594" y="5621960"/>
            <a:ext cx="72694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DynamoDB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checkpoints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vendor.aws/integration/simple-queue-service-sqs.graph-n-sqs" descr="Amazon SQS (vendor mark aws/integration/simple-queue-service-sqs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4691" y="5559552"/>
            <a:ext cx="384048" cy="384048"/>
          </a:xfrm>
          <a:prstGeom prst="rect">
            <a:avLst/>
          </a:prstGeom>
          <a:effectLst/>
        </p:spPr>
      </p:pic>
      <p:sp>
        <p:nvSpPr>
          <p:cNvPr id="44" name="graph.n.sqs.caption"/>
          <p:cNvSpPr txBox="1"/>
          <p:nvPr/>
        </p:nvSpPr>
        <p:spPr>
          <a:xfrm>
            <a:off x="8163603" y="5621960"/>
            <a:ext cx="84399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Amazon SQS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5" name="vendor.programming/framework/react.graph-n-app" descr="Review app (vendor mark programming/framework/react)"/>
          <p:cNvPicPr>
            <a:picLocks noChangeAspect="1"/>
          </p:cNvPicPr>
          <p:nvPr/>
        </p:nvPicPr>
        <p:blipFill>
          <a:blip r:embed="rId9"/>
          <a:srcRect l="5078" t="9766" r="5078" b="9766"/>
          <a:stretch>
            <a:fillRect/>
          </a:stretch>
        </p:blipFill>
        <p:spPr>
          <a:xfrm>
            <a:off x="9419291" y="5579589"/>
            <a:ext cx="384048" cy="343973"/>
          </a:xfrm>
          <a:prstGeom prst="rect">
            <a:avLst/>
          </a:prstGeom>
          <a:effectLst/>
        </p:spPr>
      </p:pic>
      <p:sp>
        <p:nvSpPr>
          <p:cNvPr id="46" name="graph.n.app.caption"/>
          <p:cNvSpPr txBox="1"/>
          <p:nvPr/>
        </p:nvSpPr>
        <p:spPr>
          <a:xfrm>
            <a:off x="9858203" y="5621960"/>
            <a:ext cx="74157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app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React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graph.f.1.label"/>
          <p:cNvSpPr txBox="1"/>
          <p:nvPr/>
        </p:nvSpPr>
        <p:spPr>
          <a:xfrm>
            <a:off x="1622637" y="2601834"/>
            <a:ext cx="45383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request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graph.f.2.label"/>
          <p:cNvSpPr txBox="1"/>
          <p:nvPr/>
        </p:nvSpPr>
        <p:spPr>
          <a:xfrm>
            <a:off x="3188626" y="2797058"/>
            <a:ext cx="28497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graph.f.3.label"/>
          <p:cNvSpPr txBox="1"/>
          <p:nvPr/>
        </p:nvSpPr>
        <p:spPr>
          <a:xfrm>
            <a:off x="5063643" y="2797058"/>
            <a:ext cx="42781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signals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graph.f.4.label"/>
          <p:cNvSpPr txBox="1"/>
          <p:nvPr/>
        </p:nvSpPr>
        <p:spPr>
          <a:xfrm>
            <a:off x="6822175" y="2601834"/>
            <a:ext cx="29787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graph.f.5.label"/>
          <p:cNvSpPr txBox="1"/>
          <p:nvPr/>
        </p:nvSpPr>
        <p:spPr>
          <a:xfrm>
            <a:off x="8643651" y="2797058"/>
            <a:ext cx="46028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all cited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graph.f.6.label"/>
          <p:cNvSpPr txBox="1"/>
          <p:nvPr/>
        </p:nvSpPr>
        <p:spPr>
          <a:xfrm>
            <a:off x="10293156" y="2601834"/>
            <a:ext cx="414804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 id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graph.f.7.label"/>
          <p:cNvSpPr txBox="1"/>
          <p:nvPr/>
        </p:nvSpPr>
        <p:spPr>
          <a:xfrm>
            <a:off x="7953268" y="3755989"/>
            <a:ext cx="71384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unsupported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raph.f.8.label"/>
          <p:cNvSpPr txBox="1"/>
          <p:nvPr/>
        </p:nvSpPr>
        <p:spPr>
          <a:xfrm>
            <a:off x="9742018" y="3870289"/>
            <a:ext cx="48636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raph.f.9.label"/>
          <p:cNvSpPr txBox="1"/>
          <p:nvPr/>
        </p:nvSpPr>
        <p:spPr>
          <a:xfrm>
            <a:off x="5715689" y="3870289"/>
            <a:ext cx="37577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revise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graph.f.10.label"/>
          <p:cNvSpPr txBox="1"/>
          <p:nvPr/>
        </p:nvSpPr>
        <p:spPr>
          <a:xfrm>
            <a:off x="3656730" y="3755989"/>
            <a:ext cx="53167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tool error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graph.f.11.label"/>
          <p:cNvSpPr txBox="1"/>
          <p:nvPr/>
        </p:nvSpPr>
        <p:spPr>
          <a:xfrm>
            <a:off x="4490161" y="3755989"/>
            <a:ext cx="29775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retry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raph.f.12.label"/>
          <p:cNvSpPr txBox="1"/>
          <p:nvPr/>
        </p:nvSpPr>
        <p:spPr>
          <a:xfrm>
            <a:off x="3126458" y="4910145"/>
            <a:ext cx="538242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 failures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raph.f.13.label"/>
          <p:cNvSpPr txBox="1"/>
          <p:nvPr/>
        </p:nvSpPr>
        <p:spPr>
          <a:xfrm>
            <a:off x="3673511" y="1856415"/>
            <a:ext cx="81097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search_claims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graph.f.14.label"/>
          <p:cNvSpPr txBox="1"/>
          <p:nvPr/>
        </p:nvSpPr>
        <p:spPr>
          <a:xfrm>
            <a:off x="5462260" y="1856415"/>
            <a:ext cx="590174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model call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raph.f.15.label"/>
          <p:cNvSpPr txBox="1"/>
          <p:nvPr/>
        </p:nvSpPr>
        <p:spPr>
          <a:xfrm>
            <a:off x="9039667" y="1856415"/>
            <a:ext cx="31077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write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raph.f.16.label"/>
          <p:cNvSpPr txBox="1"/>
          <p:nvPr/>
        </p:nvSpPr>
        <p:spPr>
          <a:xfrm>
            <a:off x="5806075" y="5299542"/>
            <a:ext cx="59673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save state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graph.f.17.label"/>
          <p:cNvSpPr txBox="1"/>
          <p:nvPr/>
        </p:nvSpPr>
        <p:spPr>
          <a:xfrm>
            <a:off x="7953268" y="5265252"/>
            <a:ext cx="519010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enqueue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raph.f.18.label"/>
          <p:cNvSpPr txBox="1"/>
          <p:nvPr/>
        </p:nvSpPr>
        <p:spPr>
          <a:xfrm>
            <a:off x="9647926" y="5309555"/>
            <a:ext cx="45372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resume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5" name="state.graph.legend.key.data"/>
          <p:cNvCxnSpPr/>
          <p:nvPr/>
        </p:nvCxnSpPr>
        <p:spPr>
          <a:xfrm>
            <a:off x="512064" y="6117336"/>
            <a:ext cx="36576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66" name="graph.legend.key.data.text"/>
          <p:cNvSpPr txBox="1"/>
          <p:nvPr/>
        </p:nvSpPr>
        <p:spPr>
          <a:xfrm>
            <a:off x="969264" y="6048665"/>
            <a:ext cx="34365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Edge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7" name="state.graph.legend.key.control"/>
          <p:cNvCxnSpPr/>
          <p:nvPr/>
        </p:nvCxnSpPr>
        <p:spPr>
          <a:xfrm>
            <a:off x="1587235" y="6117336"/>
            <a:ext cx="36576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ot"/>
          </a:ln>
          <a:effectLst/>
        </p:spPr>
      </p:cxnSp>
      <p:sp>
        <p:nvSpPr>
          <p:cNvPr id="68" name="graph.legend.key.control.text"/>
          <p:cNvSpPr txBox="1"/>
          <p:nvPr/>
        </p:nvSpPr>
        <p:spPr>
          <a:xfrm>
            <a:off x="2044435" y="6048665"/>
            <a:ext cx="69438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Checkpoint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9" name="state.graph.legend.key.conditional"/>
          <p:cNvCxnSpPr/>
          <p:nvPr/>
        </p:nvCxnSpPr>
        <p:spPr>
          <a:xfrm>
            <a:off x="3013139" y="6117336"/>
            <a:ext cx="36576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  <a:effectLst/>
        </p:spPr>
      </p:cxnSp>
      <p:sp>
        <p:nvSpPr>
          <p:cNvPr id="70" name="graph.legend.key.conditional.text"/>
          <p:cNvSpPr txBox="1"/>
          <p:nvPr/>
        </p:nvSpPr>
        <p:spPr>
          <a:xfrm>
            <a:off x="3470339" y="6048665"/>
            <a:ext cx="102348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Conditional edge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azure-reference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same brief service runs on Azure behind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private endpoints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zure.g.region.frame"/>
          <p:cNvSpPr/>
          <p:nvPr/>
        </p:nvSpPr>
        <p:spPr>
          <a:xfrm>
            <a:off x="1421921" y="822960"/>
            <a:ext cx="7811966" cy="5385816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txBody>
          <a:bodyPr/>
          <a:p/>
        </p:txBody>
      </p:sp>
      <p:sp>
        <p:nvSpPr>
          <p:cNvPr id="4" name="azure.g.region.tab.icon"/>
          <p:cNvSpPr/>
          <p:nvPr/>
        </p:nvSpPr>
        <p:spPr>
          <a:xfrm>
            <a:off x="1476785" y="8778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2000"/>
                </a:moveTo>
                <a:cubicBezTo>
                  <a:pt x="6667" y="7600"/>
                  <a:pt x="6667" y="16400"/>
                  <a:pt x="12000" y="22000"/>
                </a:cubicBezTo>
                <a:cubicBezTo>
                  <a:pt x="17333" y="16400"/>
                  <a:pt x="17333" y="7600"/>
                  <a:pt x="12000" y="2000"/>
                </a:cubicBezTo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15240" cap="rnd">
            <a:solidFill>
              <a:srgbClr val="0070C0"/>
            </a:solidFill>
            <a:round/>
          </a:ln>
          <a:effectLst/>
        </p:spPr>
        <p:txBody>
          <a:bodyPr/>
          <a:p/>
        </p:txBody>
      </p:sp>
      <p:sp>
        <p:nvSpPr>
          <p:cNvPr id="5" name="azure.g.region.label"/>
          <p:cNvSpPr txBox="1"/>
          <p:nvPr/>
        </p:nvSpPr>
        <p:spPr>
          <a:xfrm>
            <a:off x="1714529" y="877824"/>
            <a:ext cx="220920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 East US 2 · zone-redundant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zure.g.sub.frame"/>
          <p:cNvSpPr/>
          <p:nvPr/>
        </p:nvSpPr>
        <p:spPr>
          <a:xfrm>
            <a:off x="1559081" y="1172753"/>
            <a:ext cx="7537646" cy="4917151"/>
          </a:xfrm>
          <a:prstGeom prst="rect">
            <a:avLst/>
          </a:prstGeom>
          <a:noFill/>
          <a:ln w="12700">
            <a:solidFill>
              <a:srgbClr val="0078D4"/>
            </a:solidFill>
          </a:ln>
          <a:effectLst/>
        </p:spPr>
        <p:txBody>
          <a:bodyPr/>
          <a:p/>
        </p:txBody>
      </p:sp>
      <p:pic>
        <p:nvPicPr>
          <p:cNvPr id="7" name="vendor.azure/general/subscriptions.azure-g-sub-tab" descr="Subscription: production group (vendor mark azure/general/subscription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801" y="1218473"/>
            <a:ext cx="219456" cy="219456"/>
          </a:xfrm>
          <a:prstGeom prst="rect">
            <a:avLst/>
          </a:prstGeom>
          <a:effectLst/>
        </p:spPr>
      </p:pic>
      <p:sp>
        <p:nvSpPr>
          <p:cNvPr id="8" name="azure.g.sub.label"/>
          <p:cNvSpPr txBox="1"/>
          <p:nvPr/>
        </p:nvSpPr>
        <p:spPr>
          <a:xfrm>
            <a:off x="1879121" y="1259530"/>
            <a:ext cx="247954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Subscription: production · brief service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zure.g.vnet.frame"/>
          <p:cNvSpPr/>
          <p:nvPr/>
        </p:nvSpPr>
        <p:spPr>
          <a:xfrm>
            <a:off x="1696241" y="1895129"/>
            <a:ext cx="4473587" cy="4075903"/>
          </a:xfrm>
          <a:prstGeom prst="rect">
            <a:avLst/>
          </a:prstGeom>
          <a:solidFill>
            <a:srgbClr val="A4CBFB"/>
          </a:solidFill>
          <a:ln>
            <a:noFill/>
          </a:ln>
          <a:effectLst/>
        </p:spPr>
        <p:txBody>
          <a:bodyPr/>
          <a:p/>
        </p:txBody>
      </p:sp>
      <p:pic>
        <p:nvPicPr>
          <p:cNvPr id="10" name="vendor.azure/networking/virtual-networks.azure-g-vnet-tab" descr="Virtual network group (vendor mark azure/networking/virtual-network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41" y="1648241"/>
            <a:ext cx="219456" cy="219456"/>
          </a:xfrm>
          <a:prstGeom prst="rect">
            <a:avLst/>
          </a:prstGeom>
          <a:effectLst/>
        </p:spPr>
      </p:pic>
      <p:sp>
        <p:nvSpPr>
          <p:cNvPr id="11" name="azure.g.vnet.label"/>
          <p:cNvSpPr txBox="1"/>
          <p:nvPr/>
        </p:nvSpPr>
        <p:spPr>
          <a:xfrm>
            <a:off x="1970561" y="1689298"/>
            <a:ext cx="165555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Virtual network 10.30.0.0/16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azure.g.ops.band"/>
          <p:cNvSpPr/>
          <p:nvPr/>
        </p:nvSpPr>
        <p:spPr>
          <a:xfrm>
            <a:off x="7630776" y="1620809"/>
            <a:ext cx="1328791" cy="4350223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txBody>
          <a:bodyPr/>
          <a:p/>
        </p:txBody>
      </p:sp>
      <p:sp>
        <p:nvSpPr>
          <p:cNvPr id="13" name="azure.g.ops.label"/>
          <p:cNvSpPr txBox="1"/>
          <p:nvPr/>
        </p:nvSpPr>
        <p:spPr>
          <a:xfrm>
            <a:off x="7703928" y="1675673"/>
            <a:ext cx="96102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Shared services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azure.g.integ.frame"/>
          <p:cNvSpPr/>
          <p:nvPr/>
        </p:nvSpPr>
        <p:spPr>
          <a:xfrm>
            <a:off x="1796825" y="1995713"/>
            <a:ext cx="1258207" cy="1701195"/>
          </a:xfrm>
          <a:prstGeom prst="rect">
            <a:avLst/>
          </a:prstGeom>
          <a:solidFill>
            <a:srgbClr val="F8F8F8"/>
          </a:solidFill>
          <a:ln w="9525">
            <a:solidFill>
              <a:srgbClr val="BFBFBF"/>
            </a:solidFill>
          </a:ln>
          <a:effectLst/>
        </p:spPr>
        <p:txBody>
          <a:bodyPr/>
          <a:p/>
        </p:txBody>
      </p:sp>
      <p:pic>
        <p:nvPicPr>
          <p:cNvPr id="15" name="vendor.azure/networking/subnet.azure-g-integ-tab" descr="Integration group (vendor mark azure/networking/subnet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545" y="2041433"/>
            <a:ext cx="219456" cy="219456"/>
          </a:xfrm>
          <a:prstGeom prst="rect">
            <a:avLst/>
          </a:prstGeom>
          <a:effectLst/>
        </p:spPr>
      </p:pic>
      <p:pic>
        <p:nvPicPr>
          <p:cNvPr id="16" name="vendor.azure/networking/network-security-groups.azure-g-integ-corner" descr="Network security group (vendor mark azure/networking/network-security-group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720" y="2041433"/>
            <a:ext cx="164592" cy="164592"/>
          </a:xfrm>
          <a:prstGeom prst="rect">
            <a:avLst/>
          </a:prstGeom>
          <a:effectLst/>
        </p:spPr>
      </p:pic>
      <p:sp>
        <p:nvSpPr>
          <p:cNvPr id="17" name="azure.g.integ.label"/>
          <p:cNvSpPr txBox="1"/>
          <p:nvPr/>
        </p:nvSpPr>
        <p:spPr>
          <a:xfrm>
            <a:off x="2116865" y="2082490"/>
            <a:ext cx="62727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Integration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azure.g.gw.frame"/>
          <p:cNvSpPr/>
          <p:nvPr/>
        </p:nvSpPr>
        <p:spPr>
          <a:xfrm>
            <a:off x="1796825" y="4032001"/>
            <a:ext cx="1258207" cy="1838447"/>
          </a:xfrm>
          <a:prstGeom prst="rect">
            <a:avLst/>
          </a:prstGeom>
          <a:solidFill>
            <a:srgbClr val="F8F8F8"/>
          </a:solidFill>
          <a:ln w="9525">
            <a:solidFill>
              <a:srgbClr val="BFBFBF"/>
            </a:solidFill>
          </a:ln>
          <a:effectLst/>
        </p:spPr>
        <p:txBody>
          <a:bodyPr/>
          <a:p/>
        </p:txBody>
      </p:sp>
      <p:pic>
        <p:nvPicPr>
          <p:cNvPr id="19" name="vendor.azure/networking/subnet.azure-g-gw-tab" descr="Gateway group (vendor mark azure/networking/subnet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545" y="4077721"/>
            <a:ext cx="219456" cy="219456"/>
          </a:xfrm>
          <a:prstGeom prst="rect">
            <a:avLst/>
          </a:prstGeom>
          <a:effectLst/>
        </p:spPr>
      </p:pic>
      <p:pic>
        <p:nvPicPr>
          <p:cNvPr id="20" name="vendor.azure/networking/network-security-groups.azure-g-gw-corner" descr="Network security group (vendor mark azure/networking/network-security-group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720" y="4077721"/>
            <a:ext cx="164592" cy="164592"/>
          </a:xfrm>
          <a:prstGeom prst="rect">
            <a:avLst/>
          </a:prstGeom>
          <a:effectLst/>
        </p:spPr>
      </p:pic>
      <p:sp>
        <p:nvSpPr>
          <p:cNvPr id="21" name="azure.g.gw.label"/>
          <p:cNvSpPr txBox="1"/>
          <p:nvPr/>
        </p:nvSpPr>
        <p:spPr>
          <a:xfrm>
            <a:off x="2116865" y="4118778"/>
            <a:ext cx="53716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Gateway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azure.g.apps.frame"/>
          <p:cNvSpPr/>
          <p:nvPr/>
        </p:nvSpPr>
        <p:spPr>
          <a:xfrm>
            <a:off x="3146472" y="1995713"/>
            <a:ext cx="1573125" cy="3874735"/>
          </a:xfrm>
          <a:prstGeom prst="rect">
            <a:avLst/>
          </a:prstGeom>
          <a:solidFill>
            <a:srgbClr val="F8F8F8"/>
          </a:solidFill>
          <a:ln w="9525">
            <a:solidFill>
              <a:srgbClr val="BFBFBF"/>
            </a:solidFill>
          </a:ln>
          <a:effectLst/>
        </p:spPr>
        <p:txBody>
          <a:bodyPr/>
          <a:p/>
        </p:txBody>
      </p:sp>
      <p:pic>
        <p:nvPicPr>
          <p:cNvPr id="23" name="vendor.azure/networking/subnet.azure-g-apps-tab" descr="Agents group (vendor mark azure/networking/subnet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192" y="2041433"/>
            <a:ext cx="219456" cy="219456"/>
          </a:xfrm>
          <a:prstGeom prst="rect">
            <a:avLst/>
          </a:prstGeom>
          <a:effectLst/>
        </p:spPr>
      </p:pic>
      <p:pic>
        <p:nvPicPr>
          <p:cNvPr id="24" name="vendor.azure/networking/network-security-groups.azure-g-apps-corner" descr="Network security group (vendor mark azure/networking/network-security-group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9285" y="2041433"/>
            <a:ext cx="164592" cy="164592"/>
          </a:xfrm>
          <a:prstGeom prst="rect">
            <a:avLst/>
          </a:prstGeom>
          <a:effectLst/>
        </p:spPr>
      </p:pic>
      <p:sp>
        <p:nvSpPr>
          <p:cNvPr id="25" name="azure.g.apps.label"/>
          <p:cNvSpPr txBox="1"/>
          <p:nvPr/>
        </p:nvSpPr>
        <p:spPr>
          <a:xfrm>
            <a:off x="3466512" y="2082490"/>
            <a:ext cx="42763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azure.g.pes.frame"/>
          <p:cNvSpPr/>
          <p:nvPr/>
        </p:nvSpPr>
        <p:spPr>
          <a:xfrm>
            <a:off x="4811037" y="1995713"/>
            <a:ext cx="1258207" cy="3874735"/>
          </a:xfrm>
          <a:prstGeom prst="rect">
            <a:avLst/>
          </a:prstGeom>
          <a:solidFill>
            <a:srgbClr val="F8F8F8"/>
          </a:solidFill>
          <a:ln w="9525">
            <a:solidFill>
              <a:srgbClr val="BFBFBF"/>
            </a:solidFill>
          </a:ln>
          <a:effectLst/>
        </p:spPr>
        <p:txBody>
          <a:bodyPr/>
          <a:p/>
        </p:txBody>
      </p:sp>
      <p:pic>
        <p:nvPicPr>
          <p:cNvPr id="27" name="vendor.azure/networking/subnet.azure-g-pes-tab" descr="Endpoints group (vendor mark azure/networking/subnet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757" y="2041433"/>
            <a:ext cx="219456" cy="219456"/>
          </a:xfrm>
          <a:prstGeom prst="rect">
            <a:avLst/>
          </a:prstGeom>
          <a:effectLst/>
        </p:spPr>
      </p:pic>
      <p:pic>
        <p:nvPicPr>
          <p:cNvPr id="28" name="vendor.azure/networking/network-security-groups.azure-g-pes-corner" descr="Network security group (vendor mark azure/networking/network-security-group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8932" y="2041433"/>
            <a:ext cx="164592" cy="164592"/>
          </a:xfrm>
          <a:prstGeom prst="rect">
            <a:avLst/>
          </a:prstGeom>
          <a:effectLst/>
        </p:spPr>
      </p:pic>
      <p:sp>
        <p:nvSpPr>
          <p:cNvPr id="29" name="azure.g.pes.label"/>
          <p:cNvSpPr txBox="1"/>
          <p:nvPr/>
        </p:nvSpPr>
        <p:spPr>
          <a:xfrm>
            <a:off x="5131077" y="2082490"/>
            <a:ext cx="60309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Endpoints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azure.f.1"/>
          <p:cNvSpPr/>
          <p:nvPr/>
        </p:nvSpPr>
        <p:spPr>
          <a:xfrm>
            <a:off x="896112" y="1484346"/>
            <a:ext cx="1337767" cy="1123980"/>
          </a:xfrm>
          <a:custGeom>
            <a:avLst/>
            <a:gdLst/>
            <a:ahLst/>
            <a:cxnLst/>
            <a:rect l="l" t="t" r="r" b="b"/>
            <a:pathLst>
              <a:path w="1337767" h="1123980" fill="none">
                <a:moveTo>
                  <a:pt x="0" y="0"/>
                </a:moveTo>
                <a:lnTo>
                  <a:pt x="296723" y="0"/>
                </a:lnTo>
                <a:lnTo>
                  <a:pt x="296723" y="1123980"/>
                </a:lnTo>
                <a:lnTo>
                  <a:pt x="1337767" y="112398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1" name="azure.f.2"/>
          <p:cNvCxnSpPr/>
          <p:nvPr/>
        </p:nvCxnSpPr>
        <p:spPr>
          <a:xfrm>
            <a:off x="2617927" y="2608326"/>
            <a:ext cx="26301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2" name="azure.f.3"/>
          <p:cNvSpPr/>
          <p:nvPr/>
        </p:nvSpPr>
        <p:spPr>
          <a:xfrm>
            <a:off x="3676802" y="2727198"/>
            <a:ext cx="1571305" cy="461223"/>
          </a:xfrm>
          <a:custGeom>
            <a:avLst/>
            <a:gdLst/>
            <a:ahLst/>
            <a:cxnLst/>
            <a:rect l="l" t="t" r="r" b="b"/>
            <a:pathLst>
              <a:path w="1571305" h="461223" fill="none">
                <a:moveTo>
                  <a:pt x="0" y="461223"/>
                </a:moveTo>
                <a:lnTo>
                  <a:pt x="521391" y="461223"/>
                </a:lnTo>
                <a:lnTo>
                  <a:pt x="521391" y="0"/>
                </a:lnTo>
                <a:lnTo>
                  <a:pt x="1571305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3" name="azure.f.4"/>
          <p:cNvCxnSpPr/>
          <p:nvPr/>
        </p:nvCxnSpPr>
        <p:spPr>
          <a:xfrm>
            <a:off x="3676802" y="3307293"/>
            <a:ext cx="157130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34" name="azure.f.5"/>
          <p:cNvCxnSpPr/>
          <p:nvPr/>
        </p:nvCxnSpPr>
        <p:spPr>
          <a:xfrm>
            <a:off x="3676802" y="4006169"/>
            <a:ext cx="1571305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5" name="azure.f.6"/>
          <p:cNvSpPr/>
          <p:nvPr/>
        </p:nvSpPr>
        <p:spPr>
          <a:xfrm>
            <a:off x="3676802" y="4125041"/>
            <a:ext cx="1571305" cy="461132"/>
          </a:xfrm>
          <a:custGeom>
            <a:avLst/>
            <a:gdLst/>
            <a:ahLst/>
            <a:cxnLst/>
            <a:rect l="l" t="t" r="r" b="b"/>
            <a:pathLst>
              <a:path w="1571305" h="461132" fill="none">
                <a:moveTo>
                  <a:pt x="0" y="0"/>
                </a:moveTo>
                <a:lnTo>
                  <a:pt x="683240" y="0"/>
                </a:lnTo>
                <a:lnTo>
                  <a:pt x="683240" y="461132"/>
                </a:lnTo>
                <a:lnTo>
                  <a:pt x="1571305" y="461132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36" name="azure.f.7"/>
          <p:cNvCxnSpPr/>
          <p:nvPr/>
        </p:nvCxnSpPr>
        <p:spPr>
          <a:xfrm>
            <a:off x="879653" y="4894692"/>
            <a:ext cx="135422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37" name="azure.f.8"/>
          <p:cNvSpPr/>
          <p:nvPr/>
        </p:nvSpPr>
        <p:spPr>
          <a:xfrm>
            <a:off x="2617927" y="4894692"/>
            <a:ext cx="674827" cy="509229"/>
          </a:xfrm>
          <a:custGeom>
            <a:avLst/>
            <a:gdLst/>
            <a:ahLst/>
            <a:cxnLst/>
            <a:rect l="l" t="t" r="r" b="b"/>
            <a:pathLst>
              <a:path w="674827" h="509229" fill="none">
                <a:moveTo>
                  <a:pt x="0" y="0"/>
                </a:moveTo>
                <a:lnTo>
                  <a:pt x="274320" y="0"/>
                </a:lnTo>
                <a:lnTo>
                  <a:pt x="274320" y="509229"/>
                </a:lnTo>
                <a:lnTo>
                  <a:pt x="674827" y="509229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38" name="azure.f.9"/>
          <p:cNvSpPr/>
          <p:nvPr/>
        </p:nvSpPr>
        <p:spPr>
          <a:xfrm>
            <a:off x="3676802" y="4823917"/>
            <a:ext cx="1571305" cy="580004"/>
          </a:xfrm>
          <a:custGeom>
            <a:avLst/>
            <a:gdLst/>
            <a:ahLst/>
            <a:cxnLst/>
            <a:rect l="l" t="t" r="r" b="b"/>
            <a:pathLst>
              <a:path w="1571305" h="580004" fill="none">
                <a:moveTo>
                  <a:pt x="0" y="580004"/>
                </a:moveTo>
                <a:lnTo>
                  <a:pt x="521391" y="580004"/>
                </a:lnTo>
                <a:lnTo>
                  <a:pt x="521391" y="0"/>
                </a:lnTo>
                <a:lnTo>
                  <a:pt x="1571305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39" name="azure.f.10"/>
          <p:cNvSpPr/>
          <p:nvPr/>
        </p:nvSpPr>
        <p:spPr>
          <a:xfrm>
            <a:off x="879653" y="3485327"/>
            <a:ext cx="1354226" cy="1290493"/>
          </a:xfrm>
          <a:custGeom>
            <a:avLst/>
            <a:gdLst/>
            <a:ahLst/>
            <a:cxnLst/>
            <a:rect l="l" t="t" r="r" b="b"/>
            <a:pathLst>
              <a:path w="1354226" h="1290493" fill="none">
                <a:moveTo>
                  <a:pt x="0" y="0"/>
                </a:moveTo>
                <a:lnTo>
                  <a:pt x="371703" y="0"/>
                </a:lnTo>
                <a:lnTo>
                  <a:pt x="371703" y="1290493"/>
                </a:lnTo>
                <a:lnTo>
                  <a:pt x="1354226" y="1290493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40" name="azure.f.11"/>
          <p:cNvCxnSpPr/>
          <p:nvPr/>
        </p:nvCxnSpPr>
        <p:spPr>
          <a:xfrm flipH="1">
            <a:off x="8813262" y="2144359"/>
            <a:ext cx="73380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41" name="azure.f.12"/>
          <p:cNvCxnSpPr/>
          <p:nvPr/>
        </p:nvCxnSpPr>
        <p:spPr>
          <a:xfrm>
            <a:off x="5632155" y="2608326"/>
            <a:ext cx="68397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  <a:tailEnd type="triangle" w="med" len="med"/>
          </a:ln>
          <a:effectLst/>
        </p:spPr>
      </p:cxnSp>
      <p:cxnSp>
        <p:nvCxnSpPr>
          <p:cNvPr id="42" name="azure.f.13"/>
          <p:cNvCxnSpPr/>
          <p:nvPr/>
        </p:nvCxnSpPr>
        <p:spPr>
          <a:xfrm>
            <a:off x="5632155" y="3307293"/>
            <a:ext cx="68397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  <a:tailEnd type="triangle" w="med" len="med"/>
          </a:ln>
          <a:effectLst/>
        </p:spPr>
      </p:cxnSp>
      <p:cxnSp>
        <p:nvCxnSpPr>
          <p:cNvPr id="43" name="azure.f.14"/>
          <p:cNvCxnSpPr/>
          <p:nvPr/>
        </p:nvCxnSpPr>
        <p:spPr>
          <a:xfrm>
            <a:off x="5632155" y="4006169"/>
            <a:ext cx="68397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  <a:tailEnd type="triangle" w="med" len="med"/>
          </a:ln>
          <a:effectLst/>
        </p:spPr>
      </p:cxnSp>
      <p:cxnSp>
        <p:nvCxnSpPr>
          <p:cNvPr id="44" name="azure.f.15"/>
          <p:cNvCxnSpPr/>
          <p:nvPr/>
        </p:nvCxnSpPr>
        <p:spPr>
          <a:xfrm>
            <a:off x="5632155" y="4705045"/>
            <a:ext cx="68397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  <a:tailEnd type="triangle" w="med" len="med"/>
          </a:ln>
          <a:effectLst/>
        </p:spPr>
      </p:cxnSp>
      <p:cxnSp>
        <p:nvCxnSpPr>
          <p:cNvPr id="45" name="azure.f.16"/>
          <p:cNvCxnSpPr/>
          <p:nvPr/>
        </p:nvCxnSpPr>
        <p:spPr>
          <a:xfrm>
            <a:off x="5632155" y="5403921"/>
            <a:ext cx="68397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  <a:tailEnd type="triangle" w="med" len="med"/>
          </a:ln>
          <a:effectLst/>
        </p:spPr>
      </p:cxnSp>
      <p:sp>
        <p:nvSpPr>
          <p:cNvPr id="46" name="azure.n.sources.icon"/>
          <p:cNvSpPr/>
          <p:nvPr/>
        </p:nvSpPr>
        <p:spPr>
          <a:xfrm>
            <a:off x="512064" y="129228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2000"/>
                </a:moveTo>
                <a:cubicBezTo>
                  <a:pt x="6667" y="7600"/>
                  <a:pt x="6667" y="16400"/>
                  <a:pt x="12000" y="22000"/>
                </a:cubicBezTo>
                <a:cubicBezTo>
                  <a:pt x="17333" y="16400"/>
                  <a:pt x="17333" y="7600"/>
                  <a:pt x="12000" y="2000"/>
                </a:cubicBezTo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3175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7" name="azure.n.sources.caption"/>
          <p:cNvSpPr txBox="1"/>
          <p:nvPr/>
        </p:nvSpPr>
        <p:spPr>
          <a:xfrm>
            <a:off x="512064" y="1722050"/>
            <a:ext cx="479146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Internet sources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8" name="vendor.azure/identity/users.azure-n-reps" descr="Field reps (vendor mark azure/identity/users)"/>
          <p:cNvPicPr>
            <a:picLocks noChangeAspect="1"/>
          </p:cNvPicPr>
          <p:nvPr/>
        </p:nvPicPr>
        <p:blipFill>
          <a:blip r:embed="rId6"/>
          <a:srcRect l="4297" r="4297"/>
          <a:stretch>
            <a:fillRect/>
          </a:stretch>
        </p:blipFill>
        <p:spPr>
          <a:xfrm>
            <a:off x="528566" y="3293303"/>
            <a:ext cx="351044" cy="384048"/>
          </a:xfrm>
          <a:prstGeom prst="rect">
            <a:avLst/>
          </a:prstGeom>
          <a:effectLst/>
        </p:spPr>
      </p:pic>
      <p:sp>
        <p:nvSpPr>
          <p:cNvPr id="49" name="azure.n.reps.caption"/>
          <p:cNvSpPr txBox="1"/>
          <p:nvPr/>
        </p:nvSpPr>
        <p:spPr>
          <a:xfrm>
            <a:off x="512064" y="3723071"/>
            <a:ext cx="59618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reps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vendor.azure/identity/users.azure-n-medical" descr="Medical reviewers (vendor mark azure/identity/users)"/>
          <p:cNvPicPr>
            <a:picLocks noChangeAspect="1"/>
          </p:cNvPicPr>
          <p:nvPr/>
        </p:nvPicPr>
        <p:blipFill>
          <a:blip r:embed="rId6"/>
          <a:srcRect l="4297" r="4297"/>
          <a:stretch>
            <a:fillRect/>
          </a:stretch>
        </p:blipFill>
        <p:spPr>
          <a:xfrm>
            <a:off x="528566" y="4702691"/>
            <a:ext cx="351044" cy="384048"/>
          </a:xfrm>
          <a:prstGeom prst="rect">
            <a:avLst/>
          </a:prstGeom>
          <a:effectLst/>
        </p:spPr>
      </p:pic>
      <p:sp>
        <p:nvSpPr>
          <p:cNvPr id="51" name="azure.n.medical.caption"/>
          <p:cNvSpPr txBox="1"/>
          <p:nvPr/>
        </p:nvSpPr>
        <p:spPr>
          <a:xfrm>
            <a:off x="512064" y="5132459"/>
            <a:ext cx="581558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reviewers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" name="vendor.onprem/ci/github-actions.azure-n-actions" descr="GitHub Actions (vendor mark onprem/ci/github-actions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7084" y="1952314"/>
            <a:ext cx="384048" cy="384048"/>
          </a:xfrm>
          <a:prstGeom prst="rect">
            <a:avLst/>
          </a:prstGeom>
          <a:effectLst/>
        </p:spPr>
      </p:pic>
      <p:sp>
        <p:nvSpPr>
          <p:cNvPr id="53" name="azure.n.actions.caption"/>
          <p:cNvSpPr txBox="1"/>
          <p:nvPr/>
        </p:nvSpPr>
        <p:spPr>
          <a:xfrm>
            <a:off x="9401694" y="2382082"/>
            <a:ext cx="674827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GitHub Actions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image builds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4" name="vendor.azure/compute/function-apps.azure-n-func" descr="Azure Functions (vendor mark azure/compute/function-apps)"/>
          <p:cNvPicPr>
            <a:picLocks noChangeAspect="1"/>
          </p:cNvPicPr>
          <p:nvPr/>
        </p:nvPicPr>
        <p:blipFill>
          <a:blip r:embed="rId8"/>
          <a:srcRect t="5469" b="5469"/>
          <a:stretch>
            <a:fillRect/>
          </a:stretch>
        </p:blipFill>
        <p:spPr>
          <a:xfrm>
            <a:off x="2233904" y="2437340"/>
            <a:ext cx="384048" cy="342043"/>
          </a:xfrm>
          <a:prstGeom prst="rect">
            <a:avLst/>
          </a:prstGeom>
          <a:effectLst/>
        </p:spPr>
      </p:pic>
      <p:sp>
        <p:nvSpPr>
          <p:cNvPr id="55" name="azure.n.func.caption"/>
          <p:cNvSpPr txBox="1"/>
          <p:nvPr/>
        </p:nvSpPr>
        <p:spPr>
          <a:xfrm>
            <a:off x="1943129" y="2846105"/>
            <a:ext cx="965599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Azure Functions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collectors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6" name="vendor.azure/network/application-gateway.azure-n-appgw" descr="Application Gateway (vendor mark azure/network/application-gateway)"/>
          <p:cNvPicPr>
            <a:picLocks noChangeAspect="1"/>
          </p:cNvPicPr>
          <p:nvPr/>
        </p:nvPicPr>
        <p:blipFill>
          <a:blip r:embed="rId9"/>
          <a:srcRect l="2734" t="2734" r="2734" b="2734"/>
          <a:stretch>
            <a:fillRect/>
          </a:stretch>
        </p:blipFill>
        <p:spPr>
          <a:xfrm>
            <a:off x="2233904" y="4702691"/>
            <a:ext cx="384048" cy="384048"/>
          </a:xfrm>
          <a:prstGeom prst="rect">
            <a:avLst/>
          </a:prstGeom>
          <a:effectLst/>
        </p:spPr>
      </p:pic>
      <p:sp>
        <p:nvSpPr>
          <p:cNvPr id="57" name="azure.n.appgw.caption"/>
          <p:cNvSpPr txBox="1"/>
          <p:nvPr/>
        </p:nvSpPr>
        <p:spPr>
          <a:xfrm>
            <a:off x="2094916" y="5132459"/>
            <a:ext cx="662026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Application Gateway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WAF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8" name="vendor.azure/other/worker-container-app.azure-n-scan" descr="Scan agent (vendor mark azure/other/worker-container-app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2776" y="3119728"/>
            <a:ext cx="384048" cy="375047"/>
          </a:xfrm>
          <a:prstGeom prst="rect">
            <a:avLst/>
          </a:prstGeom>
          <a:effectLst/>
        </p:spPr>
      </p:pic>
      <p:sp>
        <p:nvSpPr>
          <p:cNvPr id="59" name="azure.n.scan.caption"/>
          <p:cNvSpPr txBox="1"/>
          <p:nvPr/>
        </p:nvSpPr>
        <p:spPr>
          <a:xfrm>
            <a:off x="3292776" y="3544995"/>
            <a:ext cx="68397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Scan agent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0" name="vendor.azure/other/worker-container-app.azure-n-writer" descr="Writer agent (vendor mark azure/other/worker-container-app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2776" y="3818618"/>
            <a:ext cx="384048" cy="375047"/>
          </a:xfrm>
          <a:prstGeom prst="rect">
            <a:avLst/>
          </a:prstGeom>
          <a:effectLst/>
        </p:spPr>
      </p:pic>
      <p:sp>
        <p:nvSpPr>
          <p:cNvPr id="61" name="azure.n.writer.caption"/>
          <p:cNvSpPr txBox="1"/>
          <p:nvPr/>
        </p:nvSpPr>
        <p:spPr>
          <a:xfrm>
            <a:off x="3292776" y="4243885"/>
            <a:ext cx="73517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Writer agent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2" name="vendor.azure/compute/container-apps.azure-n-review" descr="Review app (vendor mark azure/compute/container-apps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2776" y="5217148"/>
            <a:ext cx="384048" cy="373547"/>
          </a:xfrm>
          <a:prstGeom prst="rect">
            <a:avLst/>
          </a:prstGeom>
          <a:effectLst/>
        </p:spPr>
      </p:pic>
      <p:sp>
        <p:nvSpPr>
          <p:cNvPr id="63" name="azure.n.review.caption"/>
          <p:cNvSpPr txBox="1"/>
          <p:nvPr/>
        </p:nvSpPr>
        <p:spPr>
          <a:xfrm>
            <a:off x="3292776" y="5641665"/>
            <a:ext cx="70591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app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vendor.azure/other/private-endpoints.azure-n-pe-blob" descr="Storage PE (vendor mark azure/other/private-endpoints)"/>
          <p:cNvPicPr>
            <a:picLocks noChangeAspect="1"/>
          </p:cNvPicPr>
          <p:nvPr/>
        </p:nvPicPr>
        <p:blipFill>
          <a:blip r:embed="rId12"/>
          <a:srcRect t="2344" b="2344"/>
          <a:stretch>
            <a:fillRect/>
          </a:stretch>
        </p:blipFill>
        <p:spPr>
          <a:xfrm>
            <a:off x="5248117" y="2425338"/>
            <a:ext cx="384048" cy="366046"/>
          </a:xfrm>
          <a:prstGeom prst="rect">
            <a:avLst/>
          </a:prstGeom>
          <a:effectLst/>
        </p:spPr>
      </p:pic>
      <p:sp>
        <p:nvSpPr>
          <p:cNvPr id="65" name="azure.n.pe-blob.caption"/>
          <p:cNvSpPr txBox="1"/>
          <p:nvPr/>
        </p:nvSpPr>
        <p:spPr>
          <a:xfrm>
            <a:off x="5094497" y="2846105"/>
            <a:ext cx="69128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Storage PE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6" name="vendor.azure/storage/storage-accounts.azure-n-blob" descr="Storage account (vendor mark azure/storage/storage-accounts)"/>
          <p:cNvPicPr>
            <a:picLocks noChangeAspect="1"/>
          </p:cNvPicPr>
          <p:nvPr/>
        </p:nvPicPr>
        <p:blipFill>
          <a:blip r:embed="rId13"/>
          <a:srcRect l="2734" t="11719" r="2734" b="11719"/>
          <a:stretch>
            <a:fillRect/>
          </a:stretch>
        </p:blipFill>
        <p:spPr>
          <a:xfrm>
            <a:off x="6316132" y="2452838"/>
            <a:ext cx="384048" cy="311047"/>
          </a:xfrm>
          <a:prstGeom prst="rect">
            <a:avLst/>
          </a:prstGeom>
          <a:effectLst/>
        </p:spPr>
      </p:pic>
      <p:sp>
        <p:nvSpPr>
          <p:cNvPr id="67" name="azure.n.blob.caption"/>
          <p:cNvSpPr txBox="1"/>
          <p:nvPr/>
        </p:nvSpPr>
        <p:spPr>
          <a:xfrm>
            <a:off x="6755044" y="2410119"/>
            <a:ext cx="570586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Storage account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signal lake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8" name="vendor.azure/other/private-endpoints.azure-n-pe-search" descr="Search PE (vendor mark azure/other/private-endpoints)"/>
          <p:cNvPicPr>
            <a:picLocks noChangeAspect="1"/>
          </p:cNvPicPr>
          <p:nvPr/>
        </p:nvPicPr>
        <p:blipFill>
          <a:blip r:embed="rId12"/>
          <a:srcRect t="2344" b="2344"/>
          <a:stretch>
            <a:fillRect/>
          </a:stretch>
        </p:blipFill>
        <p:spPr>
          <a:xfrm>
            <a:off x="5248117" y="3124228"/>
            <a:ext cx="384048" cy="366046"/>
          </a:xfrm>
          <a:prstGeom prst="rect">
            <a:avLst/>
          </a:prstGeom>
          <a:effectLst/>
        </p:spPr>
      </p:pic>
      <p:sp>
        <p:nvSpPr>
          <p:cNvPr id="69" name="azure.n.pe-search.caption"/>
          <p:cNvSpPr txBox="1"/>
          <p:nvPr/>
        </p:nvSpPr>
        <p:spPr>
          <a:xfrm>
            <a:off x="5116443" y="3544995"/>
            <a:ext cx="64739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Search PE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0" name="vendor.azure/aimachinelearning/cognitive-search.azure-n-search" descr="Azure AI Search (vendor mark azure/aimachinelearning/cognitive-search)"/>
          <p:cNvPicPr>
            <a:picLocks noChangeAspect="1"/>
          </p:cNvPicPr>
          <p:nvPr/>
        </p:nvPicPr>
        <p:blipFill>
          <a:blip r:embed="rId14"/>
          <a:srcRect t="12891" b="14062"/>
          <a:stretch>
            <a:fillRect/>
          </a:stretch>
        </p:blipFill>
        <p:spPr>
          <a:xfrm>
            <a:off x="6316132" y="3166984"/>
            <a:ext cx="384048" cy="280535"/>
          </a:xfrm>
          <a:prstGeom prst="rect">
            <a:avLst/>
          </a:prstGeom>
          <a:effectLst/>
        </p:spPr>
      </p:pic>
      <p:sp>
        <p:nvSpPr>
          <p:cNvPr id="71" name="azure.n.search.caption"/>
          <p:cNvSpPr txBox="1"/>
          <p:nvPr/>
        </p:nvSpPr>
        <p:spPr>
          <a:xfrm>
            <a:off x="6755044" y="3109009"/>
            <a:ext cx="603504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Azure AI Search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claim index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2" name="vendor.azure/other/private-endpoints.azure-n-pe-ai" descr="OpenAI PE (vendor mark azure/other/private-endpoints)"/>
          <p:cNvPicPr>
            <a:picLocks noChangeAspect="1"/>
          </p:cNvPicPr>
          <p:nvPr/>
        </p:nvPicPr>
        <p:blipFill>
          <a:blip r:embed="rId12"/>
          <a:srcRect t="2344" b="2344"/>
          <a:stretch>
            <a:fillRect/>
          </a:stretch>
        </p:blipFill>
        <p:spPr>
          <a:xfrm>
            <a:off x="5248117" y="3823118"/>
            <a:ext cx="384048" cy="366046"/>
          </a:xfrm>
          <a:prstGeom prst="rect">
            <a:avLst/>
          </a:prstGeom>
          <a:effectLst/>
        </p:spPr>
      </p:pic>
      <p:sp>
        <p:nvSpPr>
          <p:cNvPr id="73" name="azure.n.pe-ai.caption"/>
          <p:cNvSpPr txBox="1"/>
          <p:nvPr/>
        </p:nvSpPr>
        <p:spPr>
          <a:xfrm>
            <a:off x="5101813" y="4243885"/>
            <a:ext cx="67665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OpenAI PE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4" name="vendor.azure/aimachinelearning/azure-openai.azure-n-openai" descr="Azure OpenAI (vendor mark azure/aimachinelearning/azure-openai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6132" y="3814117"/>
            <a:ext cx="384048" cy="384048"/>
          </a:xfrm>
          <a:prstGeom prst="rect">
            <a:avLst/>
          </a:prstGeom>
          <a:effectLst/>
        </p:spPr>
      </p:pic>
      <p:sp>
        <p:nvSpPr>
          <p:cNvPr id="75" name="azure.n.openai.caption"/>
          <p:cNvSpPr txBox="1"/>
          <p:nvPr/>
        </p:nvSpPr>
        <p:spPr>
          <a:xfrm>
            <a:off x="6755044" y="3746954"/>
            <a:ext cx="464515" cy="51837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Azure OpenAI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drafting model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vendor.azure/other/private-endpoints.azure-n-pe-cosmos" descr="Cosmos DB PE (vendor mark azure/other/private-endpoints)"/>
          <p:cNvPicPr>
            <a:picLocks noChangeAspect="1"/>
          </p:cNvPicPr>
          <p:nvPr/>
        </p:nvPicPr>
        <p:blipFill>
          <a:blip r:embed="rId12"/>
          <a:srcRect t="2344" b="2344"/>
          <a:stretch>
            <a:fillRect/>
          </a:stretch>
        </p:blipFill>
        <p:spPr>
          <a:xfrm>
            <a:off x="5248117" y="4522008"/>
            <a:ext cx="384048" cy="366046"/>
          </a:xfrm>
          <a:prstGeom prst="rect">
            <a:avLst/>
          </a:prstGeom>
          <a:effectLst/>
        </p:spPr>
      </p:pic>
      <p:sp>
        <p:nvSpPr>
          <p:cNvPr id="77" name="azure.n.pe-cosmos.caption"/>
          <p:cNvSpPr txBox="1"/>
          <p:nvPr/>
        </p:nvSpPr>
        <p:spPr>
          <a:xfrm>
            <a:off x="4974254" y="4942775"/>
            <a:ext cx="93177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Cosmos DB PE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8" name="vendor.azure/databases/azure-cosmos-db.azure-n-cosmos" descr="Azure Cosmos DB (vendor mark azure/databases/azure-cosmos-db)"/>
          <p:cNvPicPr>
            <a:picLocks noChangeAspect="1"/>
          </p:cNvPicPr>
          <p:nvPr/>
        </p:nvPicPr>
        <p:blipFill>
          <a:blip r:embed="rId16"/>
          <a:srcRect l="2734" t="2734" r="2734" b="2734"/>
          <a:stretch>
            <a:fillRect/>
          </a:stretch>
        </p:blipFill>
        <p:spPr>
          <a:xfrm>
            <a:off x="6316132" y="4513007"/>
            <a:ext cx="384048" cy="384048"/>
          </a:xfrm>
          <a:prstGeom prst="rect">
            <a:avLst/>
          </a:prstGeom>
          <a:effectLst/>
        </p:spPr>
      </p:pic>
      <p:sp>
        <p:nvSpPr>
          <p:cNvPr id="79" name="azure.n.cosmos.caption"/>
          <p:cNvSpPr txBox="1"/>
          <p:nvPr/>
        </p:nvSpPr>
        <p:spPr>
          <a:xfrm>
            <a:off x="6755044" y="4506789"/>
            <a:ext cx="720547" cy="39648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Azure Cosmos DB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brief ledger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0" name="vendor.azure/other/private-endpoints.azure-n-pe-vault" descr="Key Vault PE (vendor mark azure/other/private-endpoints)"/>
          <p:cNvPicPr>
            <a:picLocks noChangeAspect="1"/>
          </p:cNvPicPr>
          <p:nvPr/>
        </p:nvPicPr>
        <p:blipFill>
          <a:blip r:embed="rId12"/>
          <a:srcRect t="2344" b="2344"/>
          <a:stretch>
            <a:fillRect/>
          </a:stretch>
        </p:blipFill>
        <p:spPr>
          <a:xfrm>
            <a:off x="5248117" y="5220898"/>
            <a:ext cx="384048" cy="366046"/>
          </a:xfrm>
          <a:prstGeom prst="rect">
            <a:avLst/>
          </a:prstGeom>
          <a:effectLst/>
        </p:spPr>
      </p:pic>
      <p:sp>
        <p:nvSpPr>
          <p:cNvPr id="81" name="azure.n.pe-vault.caption"/>
          <p:cNvSpPr txBox="1"/>
          <p:nvPr/>
        </p:nvSpPr>
        <p:spPr>
          <a:xfrm>
            <a:off x="5043291" y="5641665"/>
            <a:ext cx="79369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Key Vault PE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vendor.azure/security/key-vaults.azure-n-vault" descr="Key Vault (vendor mark azure/security/key-vaults)"/>
          <p:cNvPicPr>
            <a:picLocks noChangeAspect="1"/>
          </p:cNvPicPr>
          <p:nvPr/>
        </p:nvPicPr>
        <p:blipFill>
          <a:blip r:embed="rId17"/>
          <a:srcRect l="2734" t="2734" r="2734" b="2734"/>
          <a:stretch>
            <a:fillRect/>
          </a:stretch>
        </p:blipFill>
        <p:spPr>
          <a:xfrm>
            <a:off x="6316132" y="5211897"/>
            <a:ext cx="384048" cy="384048"/>
          </a:xfrm>
          <a:prstGeom prst="rect">
            <a:avLst/>
          </a:prstGeom>
          <a:effectLst/>
        </p:spPr>
      </p:pic>
      <p:sp>
        <p:nvSpPr>
          <p:cNvPr id="83" name="azure.n.vault.caption"/>
          <p:cNvSpPr txBox="1"/>
          <p:nvPr/>
        </p:nvSpPr>
        <p:spPr>
          <a:xfrm>
            <a:off x="6755044" y="5274305"/>
            <a:ext cx="581558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Key Vault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secrets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4" name="vendor.azure/compute/container-registries.azure-n-acr" descr="Container Registry (vendor mark azure/compute/container-registries)"/>
          <p:cNvPicPr>
            <a:picLocks noChangeAspect="1"/>
          </p:cNvPicPr>
          <p:nvPr/>
        </p:nvPicPr>
        <p:blipFill>
          <a:blip r:embed="rId18"/>
          <a:srcRect l="3516" t="11719" r="9766" b="14453"/>
          <a:stretch>
            <a:fillRect/>
          </a:stretch>
        </p:blipFill>
        <p:spPr>
          <a:xfrm>
            <a:off x="8502367" y="2011998"/>
            <a:ext cx="310896" cy="264682"/>
          </a:xfrm>
          <a:prstGeom prst="rect">
            <a:avLst/>
          </a:prstGeom>
          <a:effectLst/>
        </p:spPr>
      </p:pic>
      <p:sp>
        <p:nvSpPr>
          <p:cNvPr id="85" name="azure.n.acr.caption"/>
          <p:cNvSpPr txBox="1"/>
          <p:nvPr/>
        </p:nvSpPr>
        <p:spPr>
          <a:xfrm>
            <a:off x="7858630" y="2007087"/>
            <a:ext cx="588874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Container Registry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vendor.azure/identity/entra-managed-identities.azure-n-mi" descr="Managed identity (vendor mark azure/identity/entra-managed-identities)"/>
          <p:cNvPicPr>
            <a:picLocks noChangeAspect="1"/>
          </p:cNvPicPr>
          <p:nvPr/>
        </p:nvPicPr>
        <p:blipFill>
          <a:blip r:embed="rId19"/>
          <a:srcRect t="5078" b="5078"/>
          <a:stretch>
            <a:fillRect/>
          </a:stretch>
        </p:blipFill>
        <p:spPr>
          <a:xfrm>
            <a:off x="8502367" y="2516079"/>
            <a:ext cx="310896" cy="279321"/>
          </a:xfrm>
          <a:prstGeom prst="rect">
            <a:avLst/>
          </a:prstGeom>
          <a:effectLst/>
        </p:spPr>
      </p:pic>
      <p:sp>
        <p:nvSpPr>
          <p:cNvPr id="87" name="azure.n.mi.caption"/>
          <p:cNvSpPr txBox="1"/>
          <p:nvPr/>
        </p:nvSpPr>
        <p:spPr>
          <a:xfrm>
            <a:off x="7880575" y="2518488"/>
            <a:ext cx="566928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Managed identity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" name="vendor.azure/identity/azure-active-directory.azure-n-entra" descr="Microsoft Entra ID (vendor mark azure/identity/azure-active-directory)"/>
          <p:cNvPicPr>
            <a:picLocks noChangeAspect="1"/>
          </p:cNvPicPr>
          <p:nvPr/>
        </p:nvPicPr>
        <p:blipFill>
          <a:blip r:embed="rId20"/>
          <a:srcRect t="4297" b="4297"/>
          <a:stretch>
            <a:fillRect/>
          </a:stretch>
        </p:blipFill>
        <p:spPr>
          <a:xfrm>
            <a:off x="8502367" y="3025051"/>
            <a:ext cx="310896" cy="284178"/>
          </a:xfrm>
          <a:prstGeom prst="rect">
            <a:avLst/>
          </a:prstGeom>
          <a:effectLst/>
        </p:spPr>
      </p:pic>
      <p:sp>
        <p:nvSpPr>
          <p:cNvPr id="89" name="azure.n.entra.caption"/>
          <p:cNvSpPr txBox="1"/>
          <p:nvPr/>
        </p:nvSpPr>
        <p:spPr>
          <a:xfrm>
            <a:off x="7895206" y="3029889"/>
            <a:ext cx="552298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Microsoft Entra ID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vendor.azure/network/dns-private-zones.azure-n-dns" descr="Private DNS zones (vendor mark azure/network/dns-private-zones)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02367" y="3523093"/>
            <a:ext cx="310896" cy="310896"/>
          </a:xfrm>
          <a:prstGeom prst="rect">
            <a:avLst/>
          </a:prstGeom>
          <a:effectLst/>
        </p:spPr>
      </p:pic>
      <p:sp>
        <p:nvSpPr>
          <p:cNvPr id="91" name="azure.n.dns.caption"/>
          <p:cNvSpPr txBox="1"/>
          <p:nvPr/>
        </p:nvSpPr>
        <p:spPr>
          <a:xfrm>
            <a:off x="7777080" y="3541289"/>
            <a:ext cx="670423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Private DNS zones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2" name="vendor.azure/network/ddos-protection-plans.azure-n-ddos" descr="DDoS Protection (vendor mark azure/network/ddos-protection-plans)"/>
          <p:cNvPicPr>
            <a:picLocks noChangeAspect="1"/>
          </p:cNvPicPr>
          <p:nvPr/>
        </p:nvPicPr>
        <p:blipFill>
          <a:blip r:embed="rId22"/>
          <a:srcRect l="8984" r="8984"/>
          <a:stretch>
            <a:fillRect/>
          </a:stretch>
        </p:blipFill>
        <p:spPr>
          <a:xfrm>
            <a:off x="8530299" y="4034494"/>
            <a:ext cx="255032" cy="310896"/>
          </a:xfrm>
          <a:prstGeom prst="rect">
            <a:avLst/>
          </a:prstGeom>
          <a:effectLst/>
        </p:spPr>
      </p:pic>
      <p:sp>
        <p:nvSpPr>
          <p:cNvPr id="93" name="azure.n.ddos.caption"/>
          <p:cNvSpPr txBox="1"/>
          <p:nvPr/>
        </p:nvSpPr>
        <p:spPr>
          <a:xfrm>
            <a:off x="7836684" y="4052690"/>
            <a:ext cx="610819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DDoS Protection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4" name="vendor.azure/managementgovernance/monitor.azure-n-monitor" descr="Azure Monitor (vendor mark azure/managementgovernance/monitor)"/>
          <p:cNvPicPr>
            <a:picLocks noChangeAspect="1"/>
          </p:cNvPicPr>
          <p:nvPr/>
        </p:nvPicPr>
        <p:blipFill>
          <a:blip r:embed="rId23"/>
          <a:srcRect l="2734" t="2734" r="2734" b="2734"/>
          <a:stretch>
            <a:fillRect/>
          </a:stretch>
        </p:blipFill>
        <p:spPr>
          <a:xfrm>
            <a:off x="8502367" y="4545894"/>
            <a:ext cx="310896" cy="310896"/>
          </a:xfrm>
          <a:prstGeom prst="rect">
            <a:avLst/>
          </a:prstGeom>
          <a:effectLst/>
        </p:spPr>
      </p:pic>
      <p:sp>
        <p:nvSpPr>
          <p:cNvPr id="95" name="azure.n.monitor.caption"/>
          <p:cNvSpPr txBox="1"/>
          <p:nvPr/>
        </p:nvSpPr>
        <p:spPr>
          <a:xfrm>
            <a:off x="7990303" y="4564091"/>
            <a:ext cx="457200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Azure Monitor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6" name="vendor.azure/monitor/application-insights.azure-n-insights" descr="Application Insights (vendor mark azure/monitor/application-insights)"/>
          <p:cNvPicPr>
            <a:picLocks noChangeAspect="1"/>
          </p:cNvPicPr>
          <p:nvPr/>
        </p:nvPicPr>
        <p:blipFill>
          <a:blip r:embed="rId24"/>
          <a:srcRect l="16797" t="2734" r="16797" b="2734"/>
          <a:stretch>
            <a:fillRect/>
          </a:stretch>
        </p:blipFill>
        <p:spPr>
          <a:xfrm>
            <a:off x="8548616" y="5057295"/>
            <a:ext cx="218398" cy="310896"/>
          </a:xfrm>
          <a:prstGeom prst="rect">
            <a:avLst/>
          </a:prstGeom>
          <a:effectLst/>
        </p:spPr>
      </p:pic>
      <p:sp>
        <p:nvSpPr>
          <p:cNvPr id="97" name="azure.n.insights.caption"/>
          <p:cNvSpPr txBox="1"/>
          <p:nvPr/>
        </p:nvSpPr>
        <p:spPr>
          <a:xfrm>
            <a:off x="7785478" y="5075492"/>
            <a:ext cx="662026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Application Insights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8" name="vendor.azure/managementgovernance/log-analytics-workspaces.azure-n-logs" descr="Log Analytics (vendor mark azure/managementgovernance/log-analytics-workspaces)"/>
          <p:cNvPicPr>
            <a:picLocks noChangeAspect="1"/>
          </p:cNvPicPr>
          <p:nvPr/>
        </p:nvPicPr>
        <p:blipFill>
          <a:blip r:embed="rId25"/>
          <a:srcRect l="2734" t="2734" r="2734" b="2734"/>
          <a:stretch>
            <a:fillRect/>
          </a:stretch>
        </p:blipFill>
        <p:spPr>
          <a:xfrm>
            <a:off x="8502367" y="5568696"/>
            <a:ext cx="310896" cy="310896"/>
          </a:xfrm>
          <a:prstGeom prst="rect">
            <a:avLst/>
          </a:prstGeom>
          <a:effectLst/>
        </p:spPr>
      </p:pic>
      <p:sp>
        <p:nvSpPr>
          <p:cNvPr id="99" name="azure.n.logs.caption"/>
          <p:cNvSpPr txBox="1"/>
          <p:nvPr/>
        </p:nvSpPr>
        <p:spPr>
          <a:xfrm>
            <a:off x="7902521" y="5586893"/>
            <a:ext cx="544982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Log Analytics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azure.f.1.label"/>
          <p:cNvSpPr txBox="1"/>
          <p:nvPr/>
        </p:nvSpPr>
        <p:spPr>
          <a:xfrm>
            <a:off x="806341" y="2067596"/>
            <a:ext cx="34991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feeds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azure.f.1.step"/>
          <p:cNvSpPr/>
          <p:nvPr/>
        </p:nvSpPr>
        <p:spPr>
          <a:xfrm>
            <a:off x="941832" y="1246602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azure.f.2.label"/>
          <p:cNvSpPr txBox="1"/>
          <p:nvPr/>
        </p:nvSpPr>
        <p:spPr>
          <a:xfrm>
            <a:off x="3608712" y="2440534"/>
            <a:ext cx="648612" cy="140360"/>
          </a:xfrm>
          <a:prstGeom prst="rect">
            <a:avLst/>
          </a:prstGeom>
          <a:solidFill>
            <a:srgbClr val="F8F8F8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raw signals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azure.f.2.step"/>
          <p:cNvSpPr/>
          <p:nvPr/>
        </p:nvSpPr>
        <p:spPr>
          <a:xfrm>
            <a:off x="2663647" y="2370582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azure.f.3.label"/>
          <p:cNvSpPr txBox="1"/>
          <p:nvPr/>
        </p:nvSpPr>
        <p:spPr>
          <a:xfrm>
            <a:off x="4234769" y="2887629"/>
            <a:ext cx="297929" cy="140360"/>
          </a:xfrm>
          <a:prstGeom prst="rect">
            <a:avLst/>
          </a:prstGeom>
          <a:solidFill>
            <a:srgbClr val="F8F8F8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azure.f.3.step"/>
          <p:cNvSpPr/>
          <p:nvPr/>
        </p:nvSpPr>
        <p:spPr>
          <a:xfrm>
            <a:off x="3722522" y="2950677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azure.f.4.label"/>
          <p:cNvSpPr txBox="1"/>
          <p:nvPr/>
        </p:nvSpPr>
        <p:spPr>
          <a:xfrm>
            <a:off x="4264868" y="3334725"/>
            <a:ext cx="395173" cy="140360"/>
          </a:xfrm>
          <a:prstGeom prst="rect">
            <a:avLst/>
          </a:prstGeom>
          <a:solidFill>
            <a:srgbClr val="F8F8F8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claims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azure.f.4.step"/>
          <p:cNvSpPr/>
          <p:nvPr/>
        </p:nvSpPr>
        <p:spPr>
          <a:xfrm>
            <a:off x="4005986" y="3343869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azure.f.5.label"/>
          <p:cNvSpPr txBox="1"/>
          <p:nvPr/>
        </p:nvSpPr>
        <p:spPr>
          <a:xfrm>
            <a:off x="4157135" y="3838377"/>
            <a:ext cx="427759" cy="140360"/>
          </a:xfrm>
          <a:prstGeom prst="rect">
            <a:avLst/>
          </a:prstGeom>
          <a:solidFill>
            <a:srgbClr val="F8F8F8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prompt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azure.f.5.step"/>
          <p:cNvSpPr/>
          <p:nvPr/>
        </p:nvSpPr>
        <p:spPr>
          <a:xfrm>
            <a:off x="3722522" y="3768425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azure.f.6.label"/>
          <p:cNvSpPr txBox="1"/>
          <p:nvPr/>
        </p:nvSpPr>
        <p:spPr>
          <a:xfrm>
            <a:off x="4025594" y="4445813"/>
            <a:ext cx="297872" cy="140360"/>
          </a:xfrm>
          <a:prstGeom prst="rect">
            <a:avLst/>
          </a:prstGeom>
          <a:solidFill>
            <a:srgbClr val="F8F8F8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azure.f.6.step"/>
          <p:cNvSpPr/>
          <p:nvPr/>
        </p:nvSpPr>
        <p:spPr>
          <a:xfrm>
            <a:off x="4134002" y="4161617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azure.f.7.step"/>
          <p:cNvSpPr/>
          <p:nvPr/>
        </p:nvSpPr>
        <p:spPr>
          <a:xfrm>
            <a:off x="925373" y="4656948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7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azure.f.8.step"/>
          <p:cNvSpPr/>
          <p:nvPr/>
        </p:nvSpPr>
        <p:spPr>
          <a:xfrm>
            <a:off x="2663647" y="4656948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8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azure.f.9.label"/>
          <p:cNvSpPr txBox="1"/>
          <p:nvPr/>
        </p:nvSpPr>
        <p:spPr>
          <a:xfrm>
            <a:off x="3668801" y="5043739"/>
            <a:ext cx="492816" cy="140360"/>
          </a:xfrm>
          <a:prstGeom prst="rect">
            <a:avLst/>
          </a:prstGeom>
          <a:solidFill>
            <a:srgbClr val="F8F8F8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decision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azure.f.10.step"/>
          <p:cNvSpPr/>
          <p:nvPr/>
        </p:nvSpPr>
        <p:spPr>
          <a:xfrm>
            <a:off x="925373" y="3247583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9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azure.f.11.step"/>
          <p:cNvSpPr/>
          <p:nvPr/>
        </p:nvSpPr>
        <p:spPr>
          <a:xfrm>
            <a:off x="9300180" y="1906615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10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azure.legend.1.step"/>
          <p:cNvSpPr/>
          <p:nvPr/>
        </p:nvSpPr>
        <p:spPr>
          <a:xfrm>
            <a:off x="10335768" y="822960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azure.legend.1.text"/>
          <p:cNvSpPr txBox="1"/>
          <p:nvPr/>
        </p:nvSpPr>
        <p:spPr>
          <a:xfrm>
            <a:off x="10628376" y="854873"/>
            <a:ext cx="11704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Pull signals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azure.legend.2.step"/>
          <p:cNvSpPr/>
          <p:nvPr/>
        </p:nvSpPr>
        <p:spPr>
          <a:xfrm>
            <a:off x="10335768" y="1115568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azure.legend.2.text"/>
          <p:cNvSpPr txBox="1"/>
          <p:nvPr/>
        </p:nvSpPr>
        <p:spPr>
          <a:xfrm>
            <a:off x="10628376" y="1147481"/>
            <a:ext cx="11704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Land raw signals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azure.legend.3.step"/>
          <p:cNvSpPr/>
          <p:nvPr/>
        </p:nvSpPr>
        <p:spPr>
          <a:xfrm>
            <a:off x="10335768" y="1408176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azure.legend.3.text"/>
          <p:cNvSpPr txBox="1"/>
          <p:nvPr/>
        </p:nvSpPr>
        <p:spPr>
          <a:xfrm>
            <a:off x="10628376" y="1440089"/>
            <a:ext cx="11704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 privately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azure.legend.4.step"/>
          <p:cNvSpPr/>
          <p:nvPr/>
        </p:nvSpPr>
        <p:spPr>
          <a:xfrm>
            <a:off x="10335768" y="1700784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azure.legend.4.text"/>
          <p:cNvSpPr txBox="1"/>
          <p:nvPr/>
        </p:nvSpPr>
        <p:spPr>
          <a:xfrm>
            <a:off x="10628376" y="1732697"/>
            <a:ext cx="11704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Index claims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azure.legend.5.step"/>
          <p:cNvSpPr/>
          <p:nvPr/>
        </p:nvSpPr>
        <p:spPr>
          <a:xfrm>
            <a:off x="10335768" y="1993392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azure.legend.5.text"/>
          <p:cNvSpPr txBox="1"/>
          <p:nvPr/>
        </p:nvSpPr>
        <p:spPr>
          <a:xfrm>
            <a:off x="10628376" y="2025305"/>
            <a:ext cx="11704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 the brief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azure.legend.6.step"/>
          <p:cNvSpPr/>
          <p:nvPr/>
        </p:nvSpPr>
        <p:spPr>
          <a:xfrm>
            <a:off x="10335768" y="2286000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azure.legend.6.text"/>
          <p:cNvSpPr txBox="1"/>
          <p:nvPr/>
        </p:nvSpPr>
        <p:spPr>
          <a:xfrm>
            <a:off x="10628376" y="2317913"/>
            <a:ext cx="11704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Save the draft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azure.legend.7.step"/>
          <p:cNvSpPr/>
          <p:nvPr/>
        </p:nvSpPr>
        <p:spPr>
          <a:xfrm>
            <a:off x="10335768" y="2578608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7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azure.legend.7.text"/>
          <p:cNvSpPr txBox="1"/>
          <p:nvPr/>
        </p:nvSpPr>
        <p:spPr>
          <a:xfrm>
            <a:off x="10628376" y="2610521"/>
            <a:ext cx="11704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Request review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azure.legend.8.step"/>
          <p:cNvSpPr/>
          <p:nvPr/>
        </p:nvSpPr>
        <p:spPr>
          <a:xfrm>
            <a:off x="10335768" y="2871216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8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azure.legend.8.text"/>
          <p:cNvSpPr txBox="1"/>
          <p:nvPr/>
        </p:nvSpPr>
        <p:spPr>
          <a:xfrm>
            <a:off x="10628376" y="2903129"/>
            <a:ext cx="11704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Decide in the app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azure.legend.9.step"/>
          <p:cNvSpPr/>
          <p:nvPr/>
        </p:nvSpPr>
        <p:spPr>
          <a:xfrm>
            <a:off x="10335768" y="3163824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9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azure.legend.9.text"/>
          <p:cNvSpPr txBox="1"/>
          <p:nvPr/>
        </p:nvSpPr>
        <p:spPr>
          <a:xfrm>
            <a:off x="10628376" y="3195737"/>
            <a:ext cx="11704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Read the brief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azure.legend.10.step"/>
          <p:cNvSpPr/>
          <p:nvPr/>
        </p:nvSpPr>
        <p:spPr>
          <a:xfrm>
            <a:off x="10335768" y="3456432"/>
            <a:ext cx="201168" cy="201168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10</a:t>
            </a:r>
            <a:endParaRPr lang="en-US" sz="8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azure.legend.10.text"/>
          <p:cNvSpPr txBox="1"/>
          <p:nvPr/>
        </p:nvSpPr>
        <p:spPr>
          <a:xfrm>
            <a:off x="10628376" y="3488345"/>
            <a:ext cx="11704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Ship images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7" name="state.azure.legend.key.data"/>
          <p:cNvCxnSpPr/>
          <p:nvPr/>
        </p:nvCxnSpPr>
        <p:spPr>
          <a:xfrm>
            <a:off x="10335768" y="3941155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138" name="azure.legend.key.data.text"/>
          <p:cNvSpPr txBox="1"/>
          <p:nvPr/>
        </p:nvSpPr>
        <p:spPr>
          <a:xfrm>
            <a:off x="10838688" y="3803904"/>
            <a:ext cx="914400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Request or data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9" name="state.azure.legend.key.private"/>
          <p:cNvCxnSpPr/>
          <p:nvPr/>
        </p:nvCxnSpPr>
        <p:spPr>
          <a:xfrm>
            <a:off x="10335768" y="4220230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</a:ln>
          <a:effectLst/>
        </p:spPr>
      </p:cxnSp>
      <p:sp>
        <p:nvSpPr>
          <p:cNvPr id="140" name="azure.legend.key.private.text"/>
          <p:cNvSpPr txBox="1"/>
          <p:nvPr/>
        </p:nvSpPr>
        <p:spPr>
          <a:xfrm>
            <a:off x="10838688" y="4151559"/>
            <a:ext cx="91440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Private link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arch-deploy-azure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 Azure, spoke agents reach models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only through private endpoints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azdeploy.g.edge.label"/>
          <p:cNvSpPr txBox="1"/>
          <p:nvPr/>
        </p:nvSpPr>
        <p:spPr>
          <a:xfrm>
            <a:off x="1280369" y="877824"/>
            <a:ext cx="42725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Global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azdeploy.g.region.frame"/>
          <p:cNvSpPr/>
          <p:nvPr/>
        </p:nvSpPr>
        <p:spPr>
          <a:xfrm>
            <a:off x="2304772" y="822960"/>
            <a:ext cx="9448316" cy="5111496"/>
          </a:xfrm>
          <a:prstGeom prst="rect">
            <a:avLst/>
          </a:prstGeom>
          <a:noFill/>
          <a:ln w="9525">
            <a:solidFill>
              <a:srgbClr val="0070C0"/>
            </a:solidFill>
            <a:prstDash val="dash"/>
          </a:ln>
          <a:effectLst/>
        </p:spPr>
        <p:txBody>
          <a:bodyPr/>
          <a:p/>
        </p:txBody>
      </p:sp>
      <p:sp>
        <p:nvSpPr>
          <p:cNvPr id="5" name="azdeploy.g.region.tab.icon"/>
          <p:cNvSpPr/>
          <p:nvPr/>
        </p:nvSpPr>
        <p:spPr>
          <a:xfrm>
            <a:off x="2359636" y="8778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2000" y="2000"/>
                </a:moveTo>
                <a:cubicBezTo>
                  <a:pt x="6667" y="7600"/>
                  <a:pt x="6667" y="16400"/>
                  <a:pt x="12000" y="22000"/>
                </a:cubicBezTo>
                <a:cubicBezTo>
                  <a:pt x="17333" y="16400"/>
                  <a:pt x="17333" y="7600"/>
                  <a:pt x="12000" y="2000"/>
                </a:cubicBezTo>
                <a:moveTo>
                  <a:pt x="2000" y="12000"/>
                </a:moveTo>
                <a:lnTo>
                  <a:pt x="22000" y="12000"/>
                </a:lnTo>
              </a:path>
            </a:pathLst>
          </a:custGeom>
          <a:noFill/>
          <a:ln w="15240" cap="rnd">
            <a:solidFill>
              <a:srgbClr val="0070C0"/>
            </a:solidFill>
            <a:round/>
          </a:ln>
          <a:effectLst/>
        </p:spPr>
        <p:txBody>
          <a:bodyPr/>
          <a:p/>
        </p:txBody>
      </p:sp>
      <p:sp>
        <p:nvSpPr>
          <p:cNvPr id="6" name="azdeploy.g.region.label"/>
          <p:cNvSpPr txBox="1"/>
          <p:nvPr/>
        </p:nvSpPr>
        <p:spPr>
          <a:xfrm>
            <a:off x="2597380" y="877824"/>
            <a:ext cx="170557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 East US 2 · 3 zones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zdeploy.g.hubsub.frame"/>
          <p:cNvSpPr/>
          <p:nvPr/>
        </p:nvSpPr>
        <p:spPr>
          <a:xfrm>
            <a:off x="2441932" y="1191041"/>
            <a:ext cx="2270311" cy="4624543"/>
          </a:xfrm>
          <a:prstGeom prst="rect">
            <a:avLst/>
          </a:prstGeom>
          <a:noFill/>
          <a:ln w="12700">
            <a:solidFill>
              <a:srgbClr val="0078D4"/>
            </a:solidFill>
          </a:ln>
          <a:effectLst/>
        </p:spPr>
        <p:txBody>
          <a:bodyPr/>
          <a:p/>
        </p:txBody>
      </p:sp>
      <p:pic>
        <p:nvPicPr>
          <p:cNvPr id="8" name="vendor.azure/general/subscriptions.azdeploy-g-hubsub-tab" descr="Subscription: hub group (vendor mark azure/general/subscription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652" y="1236761"/>
            <a:ext cx="219456" cy="219456"/>
          </a:xfrm>
          <a:prstGeom prst="rect">
            <a:avLst/>
          </a:prstGeom>
          <a:effectLst/>
        </p:spPr>
      </p:pic>
      <p:sp>
        <p:nvSpPr>
          <p:cNvPr id="9" name="azdeploy.g.hubsub.label"/>
          <p:cNvSpPr txBox="1"/>
          <p:nvPr/>
        </p:nvSpPr>
        <p:spPr>
          <a:xfrm>
            <a:off x="2761972" y="1277818"/>
            <a:ext cx="114275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Subscription: hub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azdeploy.g.spksub.frame"/>
          <p:cNvSpPr/>
          <p:nvPr/>
        </p:nvSpPr>
        <p:spPr>
          <a:xfrm>
            <a:off x="5580924" y="1191041"/>
            <a:ext cx="6035004" cy="4624543"/>
          </a:xfrm>
          <a:prstGeom prst="rect">
            <a:avLst/>
          </a:prstGeom>
          <a:noFill/>
          <a:ln w="12700">
            <a:solidFill>
              <a:srgbClr val="0078D4"/>
            </a:solidFill>
          </a:ln>
          <a:effectLst/>
        </p:spPr>
        <p:txBody>
          <a:bodyPr/>
          <a:p/>
        </p:txBody>
      </p:sp>
      <p:pic>
        <p:nvPicPr>
          <p:cNvPr id="11" name="vendor.azure/general/subscriptions.azdeploy-g-spksub-tab" descr="Subscription: brief service group (vendor mark azure/general/subscription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644" y="1236761"/>
            <a:ext cx="219456" cy="219456"/>
          </a:xfrm>
          <a:prstGeom prst="rect">
            <a:avLst/>
          </a:prstGeom>
          <a:effectLst/>
        </p:spPr>
      </p:pic>
      <p:sp>
        <p:nvSpPr>
          <p:cNvPr id="12" name="azdeploy.g.spksub.label"/>
          <p:cNvSpPr txBox="1"/>
          <p:nvPr/>
        </p:nvSpPr>
        <p:spPr>
          <a:xfrm>
            <a:off x="5900964" y="1277818"/>
            <a:ext cx="217313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Subscription: brief service · spoke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azdeploy.g.hub.frame"/>
          <p:cNvSpPr/>
          <p:nvPr/>
        </p:nvSpPr>
        <p:spPr>
          <a:xfrm>
            <a:off x="2579092" y="1885985"/>
            <a:ext cx="1995991" cy="2621585"/>
          </a:xfrm>
          <a:prstGeom prst="rect">
            <a:avLst/>
          </a:prstGeom>
          <a:solidFill>
            <a:srgbClr val="A4CBFB"/>
          </a:solidFill>
          <a:ln>
            <a:noFill/>
          </a:ln>
          <a:effectLst/>
        </p:spPr>
        <p:txBody>
          <a:bodyPr/>
          <a:p/>
        </p:txBody>
      </p:sp>
      <p:pic>
        <p:nvPicPr>
          <p:cNvPr id="14" name="vendor.azure/networking/virtual-networks.azdeploy-g-hub-tab" descr="Hub VNet group (vendor mark azure/networking/virtual-network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092" y="1639097"/>
            <a:ext cx="219456" cy="219456"/>
          </a:xfrm>
          <a:prstGeom prst="rect">
            <a:avLst/>
          </a:prstGeom>
          <a:effectLst/>
        </p:spPr>
      </p:pic>
      <p:sp>
        <p:nvSpPr>
          <p:cNvPr id="15" name="azdeploy.g.hub.label"/>
          <p:cNvSpPr txBox="1"/>
          <p:nvPr/>
        </p:nvSpPr>
        <p:spPr>
          <a:xfrm>
            <a:off x="2853412" y="1680154"/>
            <a:ext cx="128286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Hub VNet 10.0.0.0/22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azdeploy.g.mon.band"/>
          <p:cNvSpPr/>
          <p:nvPr/>
        </p:nvSpPr>
        <p:spPr>
          <a:xfrm>
            <a:off x="2579092" y="4770664"/>
            <a:ext cx="1995991" cy="92604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txBody>
          <a:bodyPr/>
          <a:p/>
        </p:txBody>
      </p:sp>
      <p:sp>
        <p:nvSpPr>
          <p:cNvPr id="17" name="azdeploy.g.mon.label"/>
          <p:cNvSpPr txBox="1"/>
          <p:nvPr/>
        </p:nvSpPr>
        <p:spPr>
          <a:xfrm>
            <a:off x="2652244" y="4825528"/>
            <a:ext cx="63218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Monitoring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azdeploy.g.spoke.frame"/>
          <p:cNvSpPr/>
          <p:nvPr/>
        </p:nvSpPr>
        <p:spPr>
          <a:xfrm>
            <a:off x="5718084" y="1885985"/>
            <a:ext cx="4185112" cy="3810727"/>
          </a:xfrm>
          <a:prstGeom prst="rect">
            <a:avLst/>
          </a:prstGeom>
          <a:solidFill>
            <a:srgbClr val="A4CBFB"/>
          </a:solidFill>
          <a:ln>
            <a:noFill/>
          </a:ln>
          <a:effectLst/>
        </p:spPr>
        <p:txBody>
          <a:bodyPr/>
          <a:p/>
        </p:txBody>
      </p:sp>
      <p:pic>
        <p:nvPicPr>
          <p:cNvPr id="19" name="vendor.azure/networking/virtual-networks.azdeploy-g-spoke-tab" descr="Spoke VNet group (vendor mark azure/networking/virtual-network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084" y="1639097"/>
            <a:ext cx="219456" cy="219456"/>
          </a:xfrm>
          <a:prstGeom prst="rect">
            <a:avLst/>
          </a:prstGeom>
          <a:effectLst/>
        </p:spPr>
      </p:pic>
      <p:sp>
        <p:nvSpPr>
          <p:cNvPr id="20" name="azdeploy.g.spoke.label"/>
          <p:cNvSpPr txBox="1"/>
          <p:nvPr/>
        </p:nvSpPr>
        <p:spPr>
          <a:xfrm>
            <a:off x="5992404" y="1680154"/>
            <a:ext cx="148760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Spoke VNet 10.30.0.0/16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azdeploy.g.rg.frame"/>
          <p:cNvSpPr/>
          <p:nvPr/>
        </p:nvSpPr>
        <p:spPr>
          <a:xfrm>
            <a:off x="9994636" y="1611665"/>
            <a:ext cx="1484132" cy="3975319"/>
          </a:xfrm>
          <a:prstGeom prst="rect">
            <a:avLst/>
          </a:prstGeom>
          <a:noFill/>
          <a:ln w="12700">
            <a:solidFill>
              <a:srgbClr val="7A7A7A"/>
            </a:solidFill>
            <a:prstDash val="dash"/>
          </a:ln>
          <a:effectLst/>
        </p:spPr>
        <p:txBody>
          <a:bodyPr/>
          <a:p/>
        </p:txBody>
      </p:sp>
      <p:pic>
        <p:nvPicPr>
          <p:cNvPr id="22" name="vendor.azure/general/resource-groups.azdeploy-g-rg-tab" descr="Brief data group (vendor mark azure/general/resource-groups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356" y="1657385"/>
            <a:ext cx="219456" cy="219456"/>
          </a:xfrm>
          <a:prstGeom prst="rect">
            <a:avLst/>
          </a:prstGeom>
          <a:effectLst/>
        </p:spPr>
      </p:pic>
      <p:sp>
        <p:nvSpPr>
          <p:cNvPr id="23" name="azdeploy.g.rg.label"/>
          <p:cNvSpPr txBox="1"/>
          <p:nvPr/>
        </p:nvSpPr>
        <p:spPr>
          <a:xfrm>
            <a:off x="10314676" y="1698442"/>
            <a:ext cx="58107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data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azdeploy.g.gwsub.frame"/>
          <p:cNvSpPr/>
          <p:nvPr/>
        </p:nvSpPr>
        <p:spPr>
          <a:xfrm>
            <a:off x="2679676" y="1986569"/>
            <a:ext cx="1794823" cy="1137056"/>
          </a:xfrm>
          <a:prstGeom prst="rect">
            <a:avLst/>
          </a:prstGeom>
          <a:solidFill>
            <a:srgbClr val="F8F8F8"/>
          </a:solidFill>
          <a:ln w="9525">
            <a:solidFill>
              <a:srgbClr val="BFBFBF"/>
            </a:solidFill>
          </a:ln>
          <a:effectLst/>
        </p:spPr>
        <p:txBody>
          <a:bodyPr/>
          <a:p/>
        </p:txBody>
      </p:sp>
      <p:pic>
        <p:nvPicPr>
          <p:cNvPr id="25" name="vendor.azure/networking/subnet.azdeploy-g-gwsub-tab" descr="Gateway group (vendor mark azure/networking/subne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5396" y="2032289"/>
            <a:ext cx="219456" cy="219456"/>
          </a:xfrm>
          <a:prstGeom prst="rect">
            <a:avLst/>
          </a:prstGeom>
          <a:effectLst/>
        </p:spPr>
      </p:pic>
      <p:pic>
        <p:nvPicPr>
          <p:cNvPr id="26" name="vendor.azure/networking/network-security-groups.azdeploy-g-gwsub-corner" descr="Network security group (vendor mark azure/networking/network-security-groups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4188" y="2032289"/>
            <a:ext cx="164592" cy="164592"/>
          </a:xfrm>
          <a:prstGeom prst="rect">
            <a:avLst/>
          </a:prstGeom>
          <a:effectLst/>
        </p:spPr>
      </p:pic>
      <p:sp>
        <p:nvSpPr>
          <p:cNvPr id="27" name="azdeploy.g.gwsub.label"/>
          <p:cNvSpPr txBox="1"/>
          <p:nvPr/>
        </p:nvSpPr>
        <p:spPr>
          <a:xfrm>
            <a:off x="2999716" y="2073346"/>
            <a:ext cx="537164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Gateway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azdeploy.g.fwsub.frame"/>
          <p:cNvSpPr/>
          <p:nvPr/>
        </p:nvSpPr>
        <p:spPr>
          <a:xfrm>
            <a:off x="2679676" y="3269930"/>
            <a:ext cx="1794823" cy="1137056"/>
          </a:xfrm>
          <a:prstGeom prst="rect">
            <a:avLst/>
          </a:prstGeom>
          <a:solidFill>
            <a:srgbClr val="F8F8F8"/>
          </a:solidFill>
          <a:ln w="9525">
            <a:solidFill>
              <a:srgbClr val="BFBFBF"/>
            </a:solidFill>
          </a:ln>
          <a:effectLst/>
        </p:spPr>
        <p:txBody>
          <a:bodyPr/>
          <a:p/>
        </p:txBody>
      </p:sp>
      <p:pic>
        <p:nvPicPr>
          <p:cNvPr id="29" name="vendor.azure/networking/subnet.azdeploy-g-fwsub-tab" descr="Firewall group (vendor mark azure/networking/subne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5396" y="3315650"/>
            <a:ext cx="219456" cy="219456"/>
          </a:xfrm>
          <a:prstGeom prst="rect">
            <a:avLst/>
          </a:prstGeom>
          <a:effectLst/>
        </p:spPr>
      </p:pic>
      <p:pic>
        <p:nvPicPr>
          <p:cNvPr id="30" name="vendor.azure/networking/network-security-groups.azdeploy-g-fwsub-corner" descr="Network security group (vendor mark azure/networking/network-security-groups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4188" y="3315650"/>
            <a:ext cx="164592" cy="164592"/>
          </a:xfrm>
          <a:prstGeom prst="rect">
            <a:avLst/>
          </a:prstGeom>
          <a:effectLst/>
        </p:spPr>
      </p:pic>
      <p:sp>
        <p:nvSpPr>
          <p:cNvPr id="31" name="azdeploy.g.fwsub.label"/>
          <p:cNvSpPr txBox="1"/>
          <p:nvPr/>
        </p:nvSpPr>
        <p:spPr>
          <a:xfrm>
            <a:off x="2999716" y="3356706"/>
            <a:ext cx="47122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Firewall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azdeploy.g.apps.frame"/>
          <p:cNvSpPr/>
          <p:nvPr/>
        </p:nvSpPr>
        <p:spPr>
          <a:xfrm>
            <a:off x="5818668" y="1986569"/>
            <a:ext cx="2461813" cy="3609559"/>
          </a:xfrm>
          <a:prstGeom prst="rect">
            <a:avLst/>
          </a:prstGeom>
          <a:solidFill>
            <a:srgbClr val="F8F8F8"/>
          </a:solidFill>
          <a:ln w="9525">
            <a:solidFill>
              <a:srgbClr val="BFBFBF"/>
            </a:solidFill>
          </a:ln>
          <a:effectLst/>
        </p:spPr>
        <p:txBody>
          <a:bodyPr/>
          <a:p/>
        </p:txBody>
      </p:sp>
      <p:pic>
        <p:nvPicPr>
          <p:cNvPr id="33" name="vendor.azure/networking/subnet.azdeploy-g-apps-tab" descr="Container Apps group (vendor mark azure/networking/subne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388" y="2032289"/>
            <a:ext cx="219456" cy="219456"/>
          </a:xfrm>
          <a:prstGeom prst="rect">
            <a:avLst/>
          </a:prstGeom>
          <a:effectLst/>
        </p:spPr>
      </p:pic>
      <p:pic>
        <p:nvPicPr>
          <p:cNvPr id="34" name="vendor.azure/networking/network-security-groups.azdeploy-g-apps-corner" descr="Network security group (vendor mark azure/networking/network-security-groups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169" y="2032289"/>
            <a:ext cx="164592" cy="164592"/>
          </a:xfrm>
          <a:prstGeom prst="rect">
            <a:avLst/>
          </a:prstGeom>
          <a:effectLst/>
        </p:spPr>
      </p:pic>
      <p:sp>
        <p:nvSpPr>
          <p:cNvPr id="35" name="azdeploy.g.apps.label"/>
          <p:cNvSpPr txBox="1"/>
          <p:nvPr/>
        </p:nvSpPr>
        <p:spPr>
          <a:xfrm>
            <a:off x="6138708" y="2073346"/>
            <a:ext cx="92461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Container Apps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azdeploy.g.pes.frame"/>
          <p:cNvSpPr/>
          <p:nvPr/>
        </p:nvSpPr>
        <p:spPr>
          <a:xfrm>
            <a:off x="8371921" y="1986569"/>
            <a:ext cx="1430692" cy="3609559"/>
          </a:xfrm>
          <a:prstGeom prst="rect">
            <a:avLst/>
          </a:prstGeom>
          <a:solidFill>
            <a:srgbClr val="F8F8F8"/>
          </a:solidFill>
          <a:ln w="9525">
            <a:solidFill>
              <a:srgbClr val="BFBFBF"/>
            </a:solidFill>
          </a:ln>
          <a:effectLst/>
        </p:spPr>
        <p:txBody>
          <a:bodyPr/>
          <a:p/>
        </p:txBody>
      </p:sp>
      <p:pic>
        <p:nvPicPr>
          <p:cNvPr id="37" name="vendor.azure/networking/subnet.azdeploy-g-pes-tab" descr="Endpoints group (vendor mark azure/networking/subne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641" y="2032289"/>
            <a:ext cx="219456" cy="219456"/>
          </a:xfrm>
          <a:prstGeom prst="rect">
            <a:avLst/>
          </a:prstGeom>
          <a:effectLst/>
        </p:spPr>
      </p:pic>
      <p:pic>
        <p:nvPicPr>
          <p:cNvPr id="38" name="vendor.azure/networking/network-security-groups.azdeploy-g-pes-corner" descr="Network security group (vendor mark azure/networking/network-security-groups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300" y="2032289"/>
            <a:ext cx="164592" cy="164592"/>
          </a:xfrm>
          <a:prstGeom prst="rect">
            <a:avLst/>
          </a:prstGeom>
          <a:effectLst/>
        </p:spPr>
      </p:pic>
      <p:sp>
        <p:nvSpPr>
          <p:cNvPr id="39" name="azdeploy.g.pes.label"/>
          <p:cNvSpPr txBox="1"/>
          <p:nvPr/>
        </p:nvSpPr>
        <p:spPr>
          <a:xfrm>
            <a:off x="8691961" y="2073346"/>
            <a:ext cx="60309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Endpoints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0" name="azdeploy.f.1"/>
          <p:cNvCxnSpPr/>
          <p:nvPr/>
        </p:nvCxnSpPr>
        <p:spPr>
          <a:xfrm>
            <a:off x="9261043" y="2553462"/>
            <a:ext cx="130192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  <a:tailEnd type="triangle" w="med" len="med"/>
          </a:ln>
          <a:effectLst/>
        </p:spPr>
      </p:cxnSp>
      <p:cxnSp>
        <p:nvCxnSpPr>
          <p:cNvPr id="41" name="azdeploy.f.2"/>
          <p:cNvCxnSpPr/>
          <p:nvPr/>
        </p:nvCxnSpPr>
        <p:spPr>
          <a:xfrm>
            <a:off x="9261043" y="3202137"/>
            <a:ext cx="130192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  <a:tailEnd type="triangle" w="med" len="med"/>
          </a:ln>
          <a:effectLst/>
        </p:spPr>
      </p:cxnSp>
      <p:cxnSp>
        <p:nvCxnSpPr>
          <p:cNvPr id="42" name="azdeploy.f.3"/>
          <p:cNvCxnSpPr/>
          <p:nvPr/>
        </p:nvCxnSpPr>
        <p:spPr>
          <a:xfrm>
            <a:off x="9261043" y="3850721"/>
            <a:ext cx="130192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  <a:tailEnd type="triangle" w="med" len="med"/>
          </a:ln>
          <a:effectLst/>
        </p:spPr>
      </p:cxnSp>
      <p:cxnSp>
        <p:nvCxnSpPr>
          <p:cNvPr id="43" name="azdeploy.f.4"/>
          <p:cNvCxnSpPr/>
          <p:nvPr/>
        </p:nvCxnSpPr>
        <p:spPr>
          <a:xfrm>
            <a:off x="9261043" y="4499305"/>
            <a:ext cx="130192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  <a:tailEnd type="triangle" w="med" len="med"/>
          </a:ln>
          <a:effectLst/>
        </p:spPr>
      </p:cxnSp>
      <p:cxnSp>
        <p:nvCxnSpPr>
          <p:cNvPr id="44" name="azdeploy.f.5"/>
          <p:cNvCxnSpPr/>
          <p:nvPr/>
        </p:nvCxnSpPr>
        <p:spPr>
          <a:xfrm>
            <a:off x="9261043" y="5147889"/>
            <a:ext cx="130192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  <a:tailEnd type="triangle" w="med" len="med"/>
          </a:ln>
          <a:effectLst/>
        </p:spPr>
      </p:cxnSp>
      <p:cxnSp>
        <p:nvCxnSpPr>
          <p:cNvPr id="45" name="azdeploy.f.6"/>
          <p:cNvCxnSpPr/>
          <p:nvPr/>
        </p:nvCxnSpPr>
        <p:spPr>
          <a:xfrm>
            <a:off x="890351" y="2553462"/>
            <a:ext cx="68278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46" name="azdeploy.f.7"/>
          <p:cNvSpPr/>
          <p:nvPr/>
        </p:nvSpPr>
        <p:spPr>
          <a:xfrm>
            <a:off x="890351" y="1227582"/>
            <a:ext cx="682783" cy="1207008"/>
          </a:xfrm>
          <a:custGeom>
            <a:avLst/>
            <a:gdLst/>
            <a:ahLst/>
            <a:cxnLst/>
            <a:rect l="l" t="t" r="r" b="b"/>
            <a:pathLst>
              <a:path w="682783" h="1207008" fill="none">
                <a:moveTo>
                  <a:pt x="0" y="1207008"/>
                </a:moveTo>
                <a:lnTo>
                  <a:pt x="316657" y="1207008"/>
                </a:lnTo>
                <a:lnTo>
                  <a:pt x="316657" y="0"/>
                </a:lnTo>
                <a:lnTo>
                  <a:pt x="682783" y="0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47" name="azdeploy.f.8"/>
          <p:cNvCxnSpPr/>
          <p:nvPr/>
        </p:nvCxnSpPr>
        <p:spPr>
          <a:xfrm>
            <a:off x="1920606" y="2553462"/>
            <a:ext cx="1482791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48" name="azdeploy.f.9"/>
          <p:cNvCxnSpPr/>
          <p:nvPr/>
        </p:nvCxnSpPr>
        <p:spPr>
          <a:xfrm>
            <a:off x="3750869" y="2553462"/>
            <a:ext cx="2555199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49" name="azdeploy.f.10"/>
          <p:cNvCxnSpPr/>
          <p:nvPr/>
        </p:nvCxnSpPr>
        <p:spPr>
          <a:xfrm>
            <a:off x="6653540" y="2553462"/>
            <a:ext cx="79205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50" name="azdeploy.f.11"/>
          <p:cNvCxnSpPr/>
          <p:nvPr/>
        </p:nvCxnSpPr>
        <p:spPr>
          <a:xfrm>
            <a:off x="7793065" y="2553462"/>
            <a:ext cx="112050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51" name="azdeploy.f.12"/>
          <p:cNvSpPr/>
          <p:nvPr/>
        </p:nvSpPr>
        <p:spPr>
          <a:xfrm>
            <a:off x="7793065" y="2553462"/>
            <a:ext cx="1120506" cy="648675"/>
          </a:xfrm>
          <a:custGeom>
            <a:avLst/>
            <a:gdLst/>
            <a:ahLst/>
            <a:cxnLst/>
            <a:rect l="l" t="t" r="r" b="b"/>
            <a:pathLst>
              <a:path w="1120506" h="648675" fill="none">
                <a:moveTo>
                  <a:pt x="0" y="0"/>
                </a:moveTo>
                <a:lnTo>
                  <a:pt x="836585" y="0"/>
                </a:lnTo>
                <a:lnTo>
                  <a:pt x="836585" y="648675"/>
                </a:lnTo>
                <a:lnTo>
                  <a:pt x="1120506" y="648675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52" name="azdeploy.f.13"/>
          <p:cNvSpPr/>
          <p:nvPr/>
        </p:nvSpPr>
        <p:spPr>
          <a:xfrm>
            <a:off x="7793065" y="2553462"/>
            <a:ext cx="1120506" cy="1297259"/>
          </a:xfrm>
          <a:custGeom>
            <a:avLst/>
            <a:gdLst/>
            <a:ahLst/>
            <a:cxnLst/>
            <a:rect l="l" t="t" r="r" b="b"/>
            <a:pathLst>
              <a:path w="1120506" h="1297259" fill="none">
                <a:moveTo>
                  <a:pt x="0" y="0"/>
                </a:moveTo>
                <a:lnTo>
                  <a:pt x="836585" y="0"/>
                </a:lnTo>
                <a:lnTo>
                  <a:pt x="836585" y="1297259"/>
                </a:lnTo>
                <a:lnTo>
                  <a:pt x="1120506" y="1297259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53" name="azdeploy.f.14"/>
          <p:cNvSpPr/>
          <p:nvPr/>
        </p:nvSpPr>
        <p:spPr>
          <a:xfrm>
            <a:off x="7793065" y="2553462"/>
            <a:ext cx="1120506" cy="1945843"/>
          </a:xfrm>
          <a:custGeom>
            <a:avLst/>
            <a:gdLst/>
            <a:ahLst/>
            <a:cxnLst/>
            <a:rect l="l" t="t" r="r" b="b"/>
            <a:pathLst>
              <a:path w="1120506" h="1945843" fill="none">
                <a:moveTo>
                  <a:pt x="0" y="0"/>
                </a:moveTo>
                <a:lnTo>
                  <a:pt x="836585" y="0"/>
                </a:lnTo>
                <a:lnTo>
                  <a:pt x="836585" y="1945843"/>
                </a:lnTo>
                <a:lnTo>
                  <a:pt x="1120506" y="1945843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54" name="azdeploy.f.15"/>
          <p:cNvSpPr/>
          <p:nvPr/>
        </p:nvSpPr>
        <p:spPr>
          <a:xfrm>
            <a:off x="7793065" y="2553462"/>
            <a:ext cx="1120506" cy="2594427"/>
          </a:xfrm>
          <a:custGeom>
            <a:avLst/>
            <a:gdLst/>
            <a:ahLst/>
            <a:cxnLst/>
            <a:rect l="l" t="t" r="r" b="b"/>
            <a:pathLst>
              <a:path w="1120506" h="2594427" fill="none">
                <a:moveTo>
                  <a:pt x="0" y="0"/>
                </a:moveTo>
                <a:lnTo>
                  <a:pt x="836585" y="0"/>
                </a:lnTo>
                <a:lnTo>
                  <a:pt x="836585" y="2594427"/>
                </a:lnTo>
                <a:lnTo>
                  <a:pt x="1120506" y="2594427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55" name="azdeploy.f.16"/>
          <p:cNvCxnSpPr/>
          <p:nvPr/>
        </p:nvCxnSpPr>
        <p:spPr>
          <a:xfrm flipH="1">
            <a:off x="3750869" y="3836822"/>
            <a:ext cx="206782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56" name="azdeploy.f.17"/>
          <p:cNvSpPr/>
          <p:nvPr/>
        </p:nvSpPr>
        <p:spPr>
          <a:xfrm>
            <a:off x="905256" y="3717950"/>
            <a:ext cx="2498141" cy="458"/>
          </a:xfrm>
          <a:custGeom>
            <a:avLst/>
            <a:gdLst/>
            <a:ahLst/>
            <a:cxnLst/>
            <a:rect l="l" t="t" r="r" b="b"/>
            <a:pathLst>
              <a:path w="2498141" h="458" fill="none">
                <a:moveTo>
                  <a:pt x="2498141" y="0"/>
                </a:moveTo>
                <a:lnTo>
                  <a:pt x="699790" y="0"/>
                </a:lnTo>
                <a:lnTo>
                  <a:pt x="699790" y="458"/>
                </a:lnTo>
                <a:lnTo>
                  <a:pt x="0" y="458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miter lim="800000"/>
            <a:tailEnd type="triangle" w="med" len="med"/>
          </a:ln>
          <a:effectLst/>
        </p:spPr>
        <p:txBody>
          <a:bodyPr/>
          <a:p/>
        </p:txBody>
      </p:sp>
      <p:sp>
        <p:nvSpPr>
          <p:cNvPr id="57" name="azdeploy.f.18"/>
          <p:cNvSpPr/>
          <p:nvPr/>
        </p:nvSpPr>
        <p:spPr>
          <a:xfrm>
            <a:off x="905256" y="3955694"/>
            <a:ext cx="2498141" cy="1466515"/>
          </a:xfrm>
          <a:custGeom>
            <a:avLst/>
            <a:gdLst/>
            <a:ahLst/>
            <a:cxnLst/>
            <a:rect l="l" t="t" r="r" b="b"/>
            <a:pathLst>
              <a:path w="2498141" h="1466515" fill="none">
                <a:moveTo>
                  <a:pt x="2498141" y="0"/>
                </a:moveTo>
                <a:lnTo>
                  <a:pt x="800466" y="0"/>
                </a:lnTo>
                <a:lnTo>
                  <a:pt x="800466" y="1466515"/>
                </a:lnTo>
                <a:lnTo>
                  <a:pt x="0" y="1466515"/>
                </a:ln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dashDot"/>
            <a:miter lim="800000"/>
            <a:tailEnd type="triangle" w="med" len="med"/>
          </a:ln>
          <a:effectLst/>
        </p:spPr>
        <p:txBody>
          <a:bodyPr/>
          <a:p/>
        </p:txBody>
      </p:sp>
      <p:cxnSp>
        <p:nvCxnSpPr>
          <p:cNvPr id="58" name="azdeploy.f.19"/>
          <p:cNvCxnSpPr/>
          <p:nvPr/>
        </p:nvCxnSpPr>
        <p:spPr>
          <a:xfrm>
            <a:off x="4575109" y="3324758"/>
            <a:ext cx="114300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prstDash val="lgDashDot"/>
            <a:headEnd type="triangle" w="med" len="med"/>
            <a:tailEnd type="triangle" w="med" len="med"/>
          </a:ln>
          <a:effectLst/>
        </p:spPr>
      </p:cxnSp>
      <p:pic>
        <p:nvPicPr>
          <p:cNvPr id="59" name="vendor.azure/identity/users.azdeploy-n-reps" descr="Field reps (vendor mark azure/identity/users)"/>
          <p:cNvPicPr>
            <a:picLocks noChangeAspect="1"/>
          </p:cNvPicPr>
          <p:nvPr/>
        </p:nvPicPr>
        <p:blipFill>
          <a:blip r:embed="rId7"/>
          <a:srcRect l="4297" r="4297"/>
          <a:stretch>
            <a:fillRect/>
          </a:stretch>
        </p:blipFill>
        <p:spPr>
          <a:xfrm>
            <a:off x="572714" y="2379761"/>
            <a:ext cx="317611" cy="347472"/>
          </a:xfrm>
          <a:prstGeom prst="rect">
            <a:avLst/>
          </a:prstGeom>
          <a:effectLst/>
        </p:spPr>
      </p:pic>
      <p:sp>
        <p:nvSpPr>
          <p:cNvPr id="60" name="azdeploy.n.reps.caption"/>
          <p:cNvSpPr txBox="1"/>
          <p:nvPr/>
        </p:nvSpPr>
        <p:spPr>
          <a:xfrm>
            <a:off x="557784" y="2772953"/>
            <a:ext cx="303581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reps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1" name="vendor.aws/general/internet-alt1.azdeploy-n-allow" descr="Approved APIs (vendor mark aws/general/internet-alt1)"/>
          <p:cNvPicPr>
            <a:picLocks noChangeAspect="1"/>
          </p:cNvPicPr>
          <p:nvPr/>
        </p:nvPicPr>
        <p:blipFill>
          <a:blip r:embed="rId8"/>
          <a:srcRect l="2734" t="3906" r="2734" b="3906"/>
          <a:stretch>
            <a:fillRect/>
          </a:stretch>
        </p:blipFill>
        <p:spPr>
          <a:xfrm>
            <a:off x="557784" y="3548949"/>
            <a:ext cx="347472" cy="338857"/>
          </a:xfrm>
          <a:prstGeom prst="rect">
            <a:avLst/>
          </a:prstGeom>
          <a:effectLst/>
        </p:spPr>
      </p:pic>
      <p:sp>
        <p:nvSpPr>
          <p:cNvPr id="62" name="azdeploy.n.allow.caption"/>
          <p:cNvSpPr txBox="1"/>
          <p:nvPr/>
        </p:nvSpPr>
        <p:spPr>
          <a:xfrm>
            <a:off x="557784" y="3937833"/>
            <a:ext cx="576281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Approved APIs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3" name="vendor.aws/general/internet-alt1.azdeploy-n-open" descr="Open internet (vendor mark aws/general/internet-alt1)"/>
          <p:cNvPicPr>
            <a:picLocks noChangeAspect="1"/>
          </p:cNvPicPr>
          <p:nvPr/>
        </p:nvPicPr>
        <p:blipFill>
          <a:blip r:embed="rId8"/>
          <a:srcRect l="2734" t="3906" r="2734" b="3906"/>
          <a:stretch>
            <a:fillRect/>
          </a:stretch>
        </p:blipFill>
        <p:spPr>
          <a:xfrm>
            <a:off x="557784" y="5252781"/>
            <a:ext cx="347472" cy="338857"/>
          </a:xfrm>
          <a:prstGeom prst="rect">
            <a:avLst/>
          </a:prstGeom>
          <a:effectLst/>
        </p:spPr>
      </p:pic>
      <p:sp>
        <p:nvSpPr>
          <p:cNvPr id="64" name="azdeploy.n.open.caption"/>
          <p:cNvSpPr txBox="1"/>
          <p:nvPr/>
        </p:nvSpPr>
        <p:spPr>
          <a:xfrm>
            <a:off x="557784" y="5641665"/>
            <a:ext cx="457200" cy="27450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 internet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vendor.azure/identity/azure-active-directory.azdeploy-n-entra" descr="Entra ID (vendor mark azure/identity/azure-active-directory)"/>
          <p:cNvPicPr>
            <a:picLocks noChangeAspect="1"/>
          </p:cNvPicPr>
          <p:nvPr/>
        </p:nvPicPr>
        <p:blipFill>
          <a:blip r:embed="rId9"/>
          <a:srcRect t="4297" b="4297"/>
          <a:stretch>
            <a:fillRect/>
          </a:stretch>
        </p:blipFill>
        <p:spPr>
          <a:xfrm>
            <a:off x="1573115" y="1068812"/>
            <a:ext cx="347472" cy="317611"/>
          </a:xfrm>
          <a:prstGeom prst="rect">
            <a:avLst/>
          </a:prstGeom>
          <a:effectLst/>
        </p:spPr>
      </p:pic>
      <p:sp>
        <p:nvSpPr>
          <p:cNvPr id="66" name="azdeploy.n.entra.caption"/>
          <p:cNvSpPr txBox="1"/>
          <p:nvPr/>
        </p:nvSpPr>
        <p:spPr>
          <a:xfrm>
            <a:off x="1496305" y="1447073"/>
            <a:ext cx="501091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Entra ID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sign-in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7" name="vendor.azure/networking/front-door-and-cdn-profiles.azdeploy-n-fd" descr="Front Door (vendor mark azure/networking/front-door-and-cdn-profiles)"/>
          <p:cNvPicPr>
            <a:picLocks noChangeAspect="1"/>
          </p:cNvPicPr>
          <p:nvPr/>
        </p:nvPicPr>
        <p:blipFill>
          <a:blip r:embed="rId10"/>
          <a:srcRect t="5859" b="5859"/>
          <a:stretch>
            <a:fillRect/>
          </a:stretch>
        </p:blipFill>
        <p:spPr>
          <a:xfrm>
            <a:off x="1573115" y="2400121"/>
            <a:ext cx="347472" cy="306753"/>
          </a:xfrm>
          <a:prstGeom prst="rect">
            <a:avLst/>
          </a:prstGeom>
          <a:effectLst/>
        </p:spPr>
      </p:pic>
      <p:sp>
        <p:nvSpPr>
          <p:cNvPr id="68" name="azdeploy.n.fd.caption"/>
          <p:cNvSpPr txBox="1"/>
          <p:nvPr/>
        </p:nvSpPr>
        <p:spPr>
          <a:xfrm>
            <a:off x="1423153" y="2772953"/>
            <a:ext cx="64739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Front Door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WAF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vendor.azure/networking/application-gateways.azdeploy-n-appgw" descr="App Gateway (vendor mark azure/networking/application-gateways)"/>
          <p:cNvPicPr>
            <a:picLocks noChangeAspect="1"/>
          </p:cNvPicPr>
          <p:nvPr/>
        </p:nvPicPr>
        <p:blipFill>
          <a:blip r:embed="rId11"/>
          <a:srcRect l="2734" t="2734" r="2734" b="2734"/>
          <a:stretch>
            <a:fillRect/>
          </a:stretch>
        </p:blipFill>
        <p:spPr>
          <a:xfrm>
            <a:off x="3403352" y="2379761"/>
            <a:ext cx="347472" cy="347472"/>
          </a:xfrm>
          <a:prstGeom prst="rect">
            <a:avLst/>
          </a:prstGeom>
          <a:effectLst/>
        </p:spPr>
      </p:pic>
      <p:sp>
        <p:nvSpPr>
          <p:cNvPr id="70" name="azdeploy.n.appgw.caption"/>
          <p:cNvSpPr txBox="1"/>
          <p:nvPr/>
        </p:nvSpPr>
        <p:spPr>
          <a:xfrm>
            <a:off x="3172923" y="2772953"/>
            <a:ext cx="808330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 Gateway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WAF v2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1" name="vendor.azure/networking/firewalls.azdeploy-n-fw" descr="Azure Firewall (vendor mark azure/networking/firewalls)"/>
          <p:cNvPicPr>
            <a:picLocks noChangeAspect="1"/>
          </p:cNvPicPr>
          <p:nvPr/>
        </p:nvPicPr>
        <p:blipFill>
          <a:blip r:embed="rId12"/>
          <a:srcRect t="7422" b="7422"/>
          <a:stretch>
            <a:fillRect/>
          </a:stretch>
        </p:blipFill>
        <p:spPr>
          <a:xfrm>
            <a:off x="3403352" y="3688911"/>
            <a:ext cx="347472" cy="295894"/>
          </a:xfrm>
          <a:prstGeom prst="rect">
            <a:avLst/>
          </a:prstGeom>
          <a:effectLst/>
        </p:spPr>
      </p:pic>
      <p:sp>
        <p:nvSpPr>
          <p:cNvPr id="72" name="azdeploy.n.fw.caption"/>
          <p:cNvSpPr txBox="1"/>
          <p:nvPr/>
        </p:nvSpPr>
        <p:spPr>
          <a:xfrm>
            <a:off x="3151435" y="4056314"/>
            <a:ext cx="851306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Azure Firewall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allow-list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3" name="vendor.azure/managementgovernance/monitor.azdeploy-n-monitor" descr="Monitor (vendor mark azure/managementgovernance/monitor)"/>
          <p:cNvPicPr>
            <a:picLocks noChangeAspect="1"/>
          </p:cNvPicPr>
          <p:nvPr/>
        </p:nvPicPr>
        <p:blipFill>
          <a:blip r:embed="rId13"/>
          <a:srcRect l="2734" t="2734" r="2734" b="2734"/>
          <a:stretch>
            <a:fillRect/>
          </a:stretch>
        </p:blipFill>
        <p:spPr>
          <a:xfrm>
            <a:off x="2832379" y="5111313"/>
            <a:ext cx="310896" cy="310896"/>
          </a:xfrm>
          <a:prstGeom prst="rect">
            <a:avLst/>
          </a:prstGeom>
          <a:effectLst/>
        </p:spPr>
      </p:pic>
      <p:sp>
        <p:nvSpPr>
          <p:cNvPr id="74" name="azdeploy.n.monitor.caption"/>
          <p:cNvSpPr txBox="1"/>
          <p:nvPr/>
        </p:nvSpPr>
        <p:spPr>
          <a:xfrm>
            <a:off x="2759227" y="5467929"/>
            <a:ext cx="457200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Monitor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vendor.azure/managementgovernance/log-analytics-workspaces.azdeploy-n-logs" descr="Logs (vendor mark azure/managementgovernance/log-analytics-workspaces)"/>
          <p:cNvPicPr>
            <a:picLocks noChangeAspect="1"/>
          </p:cNvPicPr>
          <p:nvPr/>
        </p:nvPicPr>
        <p:blipFill>
          <a:blip r:embed="rId14"/>
          <a:srcRect l="2734" t="2734" r="2734" b="2734"/>
          <a:stretch>
            <a:fillRect/>
          </a:stretch>
        </p:blipFill>
        <p:spPr>
          <a:xfrm>
            <a:off x="3391421" y="5111313"/>
            <a:ext cx="310896" cy="310896"/>
          </a:xfrm>
          <a:prstGeom prst="rect">
            <a:avLst/>
          </a:prstGeom>
          <a:effectLst/>
        </p:spPr>
      </p:pic>
      <p:sp>
        <p:nvSpPr>
          <p:cNvPr id="76" name="azdeploy.n.logs.caption"/>
          <p:cNvSpPr txBox="1"/>
          <p:nvPr/>
        </p:nvSpPr>
        <p:spPr>
          <a:xfrm>
            <a:off x="3395079" y="5467929"/>
            <a:ext cx="303581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Logs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7" name="vendor.azure/security/microsoft-defender-for-cloud.azdeploy-n-defender" descr="Defender (vendor mark azure/security/microsoft-defender-for-cloud)"/>
          <p:cNvPicPr>
            <a:picLocks noChangeAspect="1"/>
          </p:cNvPicPr>
          <p:nvPr/>
        </p:nvPicPr>
        <p:blipFill>
          <a:blip r:embed="rId15"/>
          <a:srcRect l="10547" t="2734" r="10547" b="2734"/>
          <a:stretch>
            <a:fillRect/>
          </a:stretch>
        </p:blipFill>
        <p:spPr>
          <a:xfrm>
            <a:off x="4006377" y="5111313"/>
            <a:ext cx="259508" cy="310896"/>
          </a:xfrm>
          <a:prstGeom prst="rect">
            <a:avLst/>
          </a:prstGeom>
          <a:effectLst/>
        </p:spPr>
      </p:pic>
      <p:sp>
        <p:nvSpPr>
          <p:cNvPr id="78" name="azdeploy.n.defender.caption"/>
          <p:cNvSpPr txBox="1"/>
          <p:nvPr/>
        </p:nvSpPr>
        <p:spPr>
          <a:xfrm>
            <a:off x="3856324" y="5467929"/>
            <a:ext cx="55961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Defender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9" name="vendor.azure/compute/container-apps.azdeploy-n-review" descr="Review app (vendor mark azure/compute/container-apps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6105" y="2384512"/>
            <a:ext cx="347472" cy="337971"/>
          </a:xfrm>
          <a:prstGeom prst="rect">
            <a:avLst/>
          </a:prstGeom>
          <a:effectLst/>
        </p:spPr>
      </p:pic>
      <p:sp>
        <p:nvSpPr>
          <p:cNvPr id="80" name="azdeploy.n.review.caption"/>
          <p:cNvSpPr txBox="1"/>
          <p:nvPr/>
        </p:nvSpPr>
        <p:spPr>
          <a:xfrm>
            <a:off x="6126883" y="2772953"/>
            <a:ext cx="705917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app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zones 1 to 3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1" name="vendor.azure/other/worker-container-app.azdeploy-n-agent" descr="Agent app (vendor mark azure/other/worker-container-app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45571" y="2383833"/>
            <a:ext cx="347472" cy="339328"/>
          </a:xfrm>
          <a:prstGeom prst="rect">
            <a:avLst/>
          </a:prstGeom>
          <a:effectLst/>
        </p:spPr>
      </p:pic>
      <p:sp>
        <p:nvSpPr>
          <p:cNvPr id="82" name="azdeploy.n.agent.caption"/>
          <p:cNvSpPr txBox="1"/>
          <p:nvPr/>
        </p:nvSpPr>
        <p:spPr>
          <a:xfrm>
            <a:off x="7291495" y="2772953"/>
            <a:ext cx="655625" cy="2592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app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zones 1 to 3</a:t>
            </a:r>
            <a:endParaRPr lang="en-US" sz="8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3" name="vendor.azure/other/private-endpoints.azdeploy-n-pecosmos" descr="Cosmos PE (vendor mark azure/other/private-endpoints)"/>
          <p:cNvPicPr>
            <a:picLocks noChangeAspect="1"/>
          </p:cNvPicPr>
          <p:nvPr/>
        </p:nvPicPr>
        <p:blipFill>
          <a:blip r:embed="rId18"/>
          <a:srcRect t="2344" b="2344"/>
          <a:stretch>
            <a:fillRect/>
          </a:stretch>
        </p:blipFill>
        <p:spPr>
          <a:xfrm>
            <a:off x="8913530" y="2387905"/>
            <a:ext cx="347472" cy="331184"/>
          </a:xfrm>
          <a:prstGeom prst="rect">
            <a:avLst/>
          </a:prstGeom>
          <a:effectLst/>
        </p:spPr>
      </p:pic>
      <p:sp>
        <p:nvSpPr>
          <p:cNvPr id="84" name="azdeploy.n.pecosmos.caption"/>
          <p:cNvSpPr txBox="1"/>
          <p:nvPr/>
        </p:nvSpPr>
        <p:spPr>
          <a:xfrm>
            <a:off x="8730650" y="2772953"/>
            <a:ext cx="71323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Cosmos PE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5" name="vendor.azure/databases/azure-cosmos-db.azdeploy-n-cosmos" descr="Cosmos DB (vendor mark azure/databases/azure-cosmos-db)"/>
          <p:cNvPicPr>
            <a:picLocks noChangeAspect="1"/>
          </p:cNvPicPr>
          <p:nvPr/>
        </p:nvPicPr>
        <p:blipFill>
          <a:blip r:embed="rId19"/>
          <a:srcRect l="2734" t="2734" r="2734" b="2734"/>
          <a:stretch>
            <a:fillRect/>
          </a:stretch>
        </p:blipFill>
        <p:spPr>
          <a:xfrm>
            <a:off x="10562966" y="2379761"/>
            <a:ext cx="347472" cy="347472"/>
          </a:xfrm>
          <a:prstGeom prst="rect">
            <a:avLst/>
          </a:prstGeom>
          <a:effectLst/>
        </p:spPr>
      </p:pic>
      <p:sp>
        <p:nvSpPr>
          <p:cNvPr id="86" name="azdeploy.n.cosmos.caption"/>
          <p:cNvSpPr txBox="1"/>
          <p:nvPr/>
        </p:nvSpPr>
        <p:spPr>
          <a:xfrm>
            <a:off x="10376428" y="2772953"/>
            <a:ext cx="72054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Cosmos DB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7" name="vendor.azure/other/private-endpoints.azdeploy-n-peopenai" descr="OpenAI PE (vendor mark azure/other/private-endpoints)"/>
          <p:cNvPicPr>
            <a:picLocks noChangeAspect="1"/>
          </p:cNvPicPr>
          <p:nvPr/>
        </p:nvPicPr>
        <p:blipFill>
          <a:blip r:embed="rId18"/>
          <a:srcRect t="2344" b="2344"/>
          <a:stretch>
            <a:fillRect/>
          </a:stretch>
        </p:blipFill>
        <p:spPr>
          <a:xfrm>
            <a:off x="8913530" y="3036503"/>
            <a:ext cx="347472" cy="331184"/>
          </a:xfrm>
          <a:prstGeom prst="rect">
            <a:avLst/>
          </a:prstGeom>
          <a:effectLst/>
        </p:spPr>
      </p:pic>
      <p:sp>
        <p:nvSpPr>
          <p:cNvPr id="88" name="azdeploy.n.peopenai.caption"/>
          <p:cNvSpPr txBox="1"/>
          <p:nvPr/>
        </p:nvSpPr>
        <p:spPr>
          <a:xfrm>
            <a:off x="8748938" y="3421551"/>
            <a:ext cx="67665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OpenAI PE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9" name="vendor.azure/aimachinelearning/azure-openai.azdeploy-n-openai" descr="Azure OpenAI (vendor mark azure/aimachinelearning/azure-openai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62966" y="3028359"/>
            <a:ext cx="347472" cy="347472"/>
          </a:xfrm>
          <a:prstGeom prst="rect">
            <a:avLst/>
          </a:prstGeom>
          <a:effectLst/>
        </p:spPr>
      </p:pic>
      <p:sp>
        <p:nvSpPr>
          <p:cNvPr id="90" name="azdeploy.n.openai.caption"/>
          <p:cNvSpPr txBox="1"/>
          <p:nvPr/>
        </p:nvSpPr>
        <p:spPr>
          <a:xfrm>
            <a:off x="10314249" y="3421551"/>
            <a:ext cx="84490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Azure OpenAI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1" name="vendor.azure/other/private-endpoints.azdeploy-n-pesearch" descr="Search PE (vendor mark azure/other/private-endpoints)"/>
          <p:cNvPicPr>
            <a:picLocks noChangeAspect="1"/>
          </p:cNvPicPr>
          <p:nvPr/>
        </p:nvPicPr>
        <p:blipFill>
          <a:blip r:embed="rId18"/>
          <a:srcRect t="2344" b="2344"/>
          <a:stretch>
            <a:fillRect/>
          </a:stretch>
        </p:blipFill>
        <p:spPr>
          <a:xfrm>
            <a:off x="8913530" y="3685101"/>
            <a:ext cx="347472" cy="331184"/>
          </a:xfrm>
          <a:prstGeom prst="rect">
            <a:avLst/>
          </a:prstGeom>
          <a:effectLst/>
        </p:spPr>
      </p:pic>
      <p:sp>
        <p:nvSpPr>
          <p:cNvPr id="92" name="azdeploy.n.pesearch.caption"/>
          <p:cNvSpPr txBox="1"/>
          <p:nvPr/>
        </p:nvSpPr>
        <p:spPr>
          <a:xfrm>
            <a:off x="8763569" y="4070149"/>
            <a:ext cx="64739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Search PE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3" name="vendor.azure/aimachinelearning/cognitive-search.azdeploy-n-search" descr="AI Search (vendor mark azure/aimachinelearning/cognitive-search)"/>
          <p:cNvPicPr>
            <a:picLocks noChangeAspect="1"/>
          </p:cNvPicPr>
          <p:nvPr/>
        </p:nvPicPr>
        <p:blipFill>
          <a:blip r:embed="rId21"/>
          <a:srcRect t="12891" b="14062"/>
          <a:stretch>
            <a:fillRect/>
          </a:stretch>
        </p:blipFill>
        <p:spPr>
          <a:xfrm>
            <a:off x="10562966" y="3723784"/>
            <a:ext cx="347472" cy="253817"/>
          </a:xfrm>
          <a:prstGeom prst="rect">
            <a:avLst/>
          </a:prstGeom>
          <a:effectLst/>
        </p:spPr>
      </p:pic>
      <p:sp>
        <p:nvSpPr>
          <p:cNvPr id="94" name="azdeploy.n.search.caption"/>
          <p:cNvSpPr txBox="1"/>
          <p:nvPr/>
        </p:nvSpPr>
        <p:spPr>
          <a:xfrm>
            <a:off x="10438608" y="4070149"/>
            <a:ext cx="596189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AI Search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5" name="vendor.azure/other/private-endpoints.azdeploy-n-peblob" descr="Storage PE (vendor mark azure/other/private-endpoints)"/>
          <p:cNvPicPr>
            <a:picLocks noChangeAspect="1"/>
          </p:cNvPicPr>
          <p:nvPr/>
        </p:nvPicPr>
        <p:blipFill>
          <a:blip r:embed="rId18"/>
          <a:srcRect t="2344" b="2344"/>
          <a:stretch>
            <a:fillRect/>
          </a:stretch>
        </p:blipFill>
        <p:spPr>
          <a:xfrm>
            <a:off x="8913530" y="4333699"/>
            <a:ext cx="347472" cy="331184"/>
          </a:xfrm>
          <a:prstGeom prst="rect">
            <a:avLst/>
          </a:prstGeom>
          <a:effectLst/>
        </p:spPr>
      </p:pic>
      <p:sp>
        <p:nvSpPr>
          <p:cNvPr id="96" name="azdeploy.n.peblob.caption"/>
          <p:cNvSpPr txBox="1"/>
          <p:nvPr/>
        </p:nvSpPr>
        <p:spPr>
          <a:xfrm>
            <a:off x="8741623" y="4718747"/>
            <a:ext cx="69128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Storage PE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7" name="vendor.azure/storage/storage-accounts.azdeploy-n-blob" descr="Storage (vendor mark azure/storage/storage-accounts)"/>
          <p:cNvPicPr>
            <a:picLocks noChangeAspect="1"/>
          </p:cNvPicPr>
          <p:nvPr/>
        </p:nvPicPr>
        <p:blipFill>
          <a:blip r:embed="rId22"/>
          <a:srcRect l="2734" t="11719" r="2734" b="11719"/>
          <a:stretch>
            <a:fillRect/>
          </a:stretch>
        </p:blipFill>
        <p:spPr>
          <a:xfrm>
            <a:off x="10562966" y="4358579"/>
            <a:ext cx="347472" cy="281424"/>
          </a:xfrm>
          <a:prstGeom prst="rect">
            <a:avLst/>
          </a:prstGeom>
          <a:effectLst/>
        </p:spPr>
      </p:pic>
      <p:sp>
        <p:nvSpPr>
          <p:cNvPr id="98" name="azdeploy.n.blob.caption"/>
          <p:cNvSpPr txBox="1"/>
          <p:nvPr/>
        </p:nvSpPr>
        <p:spPr>
          <a:xfrm>
            <a:off x="10497129" y="4718747"/>
            <a:ext cx="479146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Storage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9" name="vendor.azure/other/private-endpoints.azdeploy-n-pevault" descr="Vault PE (vendor mark azure/other/private-endpoints)"/>
          <p:cNvPicPr>
            <a:picLocks noChangeAspect="1"/>
          </p:cNvPicPr>
          <p:nvPr/>
        </p:nvPicPr>
        <p:blipFill>
          <a:blip r:embed="rId18"/>
          <a:srcRect t="2344" b="2344"/>
          <a:stretch>
            <a:fillRect/>
          </a:stretch>
        </p:blipFill>
        <p:spPr>
          <a:xfrm>
            <a:off x="8913530" y="4982297"/>
            <a:ext cx="347472" cy="331184"/>
          </a:xfrm>
          <a:prstGeom prst="rect">
            <a:avLst/>
          </a:prstGeom>
          <a:effectLst/>
        </p:spPr>
      </p:pic>
      <p:sp>
        <p:nvSpPr>
          <p:cNvPr id="100" name="azdeploy.n.pevault.caption"/>
          <p:cNvSpPr txBox="1"/>
          <p:nvPr/>
        </p:nvSpPr>
        <p:spPr>
          <a:xfrm>
            <a:off x="8822090" y="5367345"/>
            <a:ext cx="530352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Vault PE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1" name="vendor.azure/security/key-vaults.azdeploy-n-vault" descr="Key Vault (vendor mark azure/security/key-vaults)"/>
          <p:cNvPicPr>
            <a:picLocks noChangeAspect="1"/>
          </p:cNvPicPr>
          <p:nvPr/>
        </p:nvPicPr>
        <p:blipFill>
          <a:blip r:embed="rId23"/>
          <a:srcRect l="2734" t="2734" r="2734" b="2734"/>
          <a:stretch>
            <a:fillRect/>
          </a:stretch>
        </p:blipFill>
        <p:spPr>
          <a:xfrm>
            <a:off x="10562966" y="4974153"/>
            <a:ext cx="347472" cy="347472"/>
          </a:xfrm>
          <a:prstGeom prst="rect">
            <a:avLst/>
          </a:prstGeom>
          <a:effectLst/>
        </p:spPr>
      </p:pic>
      <p:sp>
        <p:nvSpPr>
          <p:cNvPr id="102" name="azdeploy.n.vault.caption"/>
          <p:cNvSpPr txBox="1"/>
          <p:nvPr/>
        </p:nvSpPr>
        <p:spPr>
          <a:xfrm>
            <a:off x="10445923" y="5367345"/>
            <a:ext cx="581558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Key Vault</a:t>
            </a:r>
            <a:endParaRPr lang="en-US" sz="9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azdeploy.f.18.blocked.ground"/>
          <p:cNvSpPr/>
          <p:nvPr/>
        </p:nvSpPr>
        <p:spPr>
          <a:xfrm>
            <a:off x="1033272" y="5321625"/>
            <a:ext cx="201168" cy="20116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04" name="azdeploy.f.18.blocked.icon"/>
          <p:cNvSpPr/>
          <p:nvPr/>
        </p:nvSpPr>
        <p:spPr>
          <a:xfrm>
            <a:off x="1051560" y="5339913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4929" y="4929"/>
                </a:moveTo>
                <a:lnTo>
                  <a:pt x="19070" y="19071"/>
                </a:lnTo>
              </a:path>
            </a:pathLst>
          </a:custGeom>
          <a:noFill/>
          <a:ln w="1397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05" name="azdeploy.f.6.label"/>
          <p:cNvSpPr txBox="1"/>
          <p:nvPr/>
        </p:nvSpPr>
        <p:spPr>
          <a:xfrm>
            <a:off x="1008190" y="2580894"/>
            <a:ext cx="447105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HTTPS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azdeploy.f.7.label"/>
          <p:cNvSpPr txBox="1"/>
          <p:nvPr/>
        </p:nvSpPr>
        <p:spPr>
          <a:xfrm>
            <a:off x="1243584" y="1760906"/>
            <a:ext cx="40829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sign-in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azdeploy.f.8.label"/>
          <p:cNvSpPr txBox="1"/>
          <p:nvPr/>
        </p:nvSpPr>
        <p:spPr>
          <a:xfrm>
            <a:off x="2806817" y="2385670"/>
            <a:ext cx="259009" cy="140360"/>
          </a:xfrm>
          <a:prstGeom prst="rect">
            <a:avLst/>
          </a:prstGeom>
          <a:solidFill>
            <a:srgbClr val="F8F8F8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443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azdeploy.f.9.label"/>
          <p:cNvSpPr txBox="1"/>
          <p:nvPr/>
        </p:nvSpPr>
        <p:spPr>
          <a:xfrm>
            <a:off x="4866464" y="2385670"/>
            <a:ext cx="324009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8080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azdeploy.f.10.label"/>
          <p:cNvSpPr txBox="1"/>
          <p:nvPr/>
        </p:nvSpPr>
        <p:spPr>
          <a:xfrm>
            <a:off x="6806412" y="2385670"/>
            <a:ext cx="486310" cy="140360"/>
          </a:xfrm>
          <a:prstGeom prst="rect">
            <a:avLst/>
          </a:prstGeom>
          <a:solidFill>
            <a:srgbClr val="F8F8F8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 job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azdeploy.f.11.label"/>
          <p:cNvSpPr txBox="1"/>
          <p:nvPr/>
        </p:nvSpPr>
        <p:spPr>
          <a:xfrm>
            <a:off x="7898962" y="2580929"/>
            <a:ext cx="259009" cy="140360"/>
          </a:xfrm>
          <a:prstGeom prst="rect">
            <a:avLst/>
          </a:prstGeom>
          <a:solidFill>
            <a:srgbClr val="F8F8F8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443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azdeploy.f.16.label"/>
          <p:cNvSpPr txBox="1"/>
          <p:nvPr/>
        </p:nvSpPr>
        <p:spPr>
          <a:xfrm>
            <a:off x="4800298" y="3864254"/>
            <a:ext cx="700486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egress UDR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azdeploy.f.17.label"/>
          <p:cNvSpPr txBox="1"/>
          <p:nvPr/>
        </p:nvSpPr>
        <p:spPr>
          <a:xfrm>
            <a:off x="1605046" y="3550158"/>
            <a:ext cx="73957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443 allow-list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azdeploy.f.18.label"/>
          <p:cNvSpPr txBox="1"/>
          <p:nvPr/>
        </p:nvSpPr>
        <p:spPr>
          <a:xfrm>
            <a:off x="1795236" y="3983126"/>
            <a:ext cx="421367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 rule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azdeploy.f.19.label"/>
          <p:cNvSpPr txBox="1"/>
          <p:nvPr/>
        </p:nvSpPr>
        <p:spPr>
          <a:xfrm>
            <a:off x="4773510" y="3156966"/>
            <a:ext cx="746198" cy="14036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VNet peering</a:t>
            </a:r>
            <a:endParaRPr lang="en-US" sz="8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5" name="state.azdeploy.legend.key.data"/>
          <p:cNvCxnSpPr/>
          <p:nvPr/>
        </p:nvCxnSpPr>
        <p:spPr>
          <a:xfrm>
            <a:off x="502920" y="6140287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</p:cxnSp>
      <p:sp>
        <p:nvSpPr>
          <p:cNvPr id="116" name="azdeploy.legend.key.data.text"/>
          <p:cNvSpPr txBox="1"/>
          <p:nvPr/>
        </p:nvSpPr>
        <p:spPr>
          <a:xfrm>
            <a:off x="1005840" y="6071616"/>
            <a:ext cx="972183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Request or data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7" name="state.azdeploy.legend.key.private"/>
          <p:cNvCxnSpPr/>
          <p:nvPr/>
        </p:nvCxnSpPr>
        <p:spPr>
          <a:xfrm>
            <a:off x="2252343" y="6140287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Dot"/>
          </a:ln>
          <a:effectLst/>
        </p:spPr>
      </p:cxnSp>
      <p:sp>
        <p:nvSpPr>
          <p:cNvPr id="118" name="azdeploy.legend.key.private.text"/>
          <p:cNvSpPr txBox="1"/>
          <p:nvPr/>
        </p:nvSpPr>
        <p:spPr>
          <a:xfrm>
            <a:off x="2755263" y="6071616"/>
            <a:ext cx="67961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Private link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9" name="state.azdeploy.legend.key.peering"/>
          <p:cNvCxnSpPr/>
          <p:nvPr/>
        </p:nvCxnSpPr>
        <p:spPr>
          <a:xfrm>
            <a:off x="3709200" y="6140287"/>
            <a:ext cx="41148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prstDash val="lgDashDot"/>
          </a:ln>
          <a:effectLst/>
        </p:spPr>
      </p:cxnSp>
      <p:sp>
        <p:nvSpPr>
          <p:cNvPr id="120" name="azdeploy.legend.key.peering.text"/>
          <p:cNvSpPr txBox="1"/>
          <p:nvPr/>
        </p:nvSpPr>
        <p:spPr>
          <a:xfrm>
            <a:off x="4212120" y="6071616"/>
            <a:ext cx="993947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Network peering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1" name="state.azdeploy.legend.key.blocked"/>
          <p:cNvCxnSpPr/>
          <p:nvPr/>
        </p:nvCxnSpPr>
        <p:spPr>
          <a:xfrm>
            <a:off x="5480387" y="6140287"/>
            <a:ext cx="41148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Dot"/>
          </a:ln>
          <a:effectLst/>
        </p:spPr>
      </p:cxnSp>
      <p:sp>
        <p:nvSpPr>
          <p:cNvPr id="122" name="state.azdeploy.legend.key.blocked.ban.ground"/>
          <p:cNvSpPr/>
          <p:nvPr/>
        </p:nvSpPr>
        <p:spPr>
          <a:xfrm>
            <a:off x="5585543" y="6039703"/>
            <a:ext cx="201168" cy="20116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23" name="state.azdeploy.legend.key.blocked.ban.icon"/>
          <p:cNvSpPr/>
          <p:nvPr/>
        </p:nvSpPr>
        <p:spPr>
          <a:xfrm>
            <a:off x="5603831" y="6057991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4929" y="4929"/>
                </a:moveTo>
                <a:lnTo>
                  <a:pt x="19070" y="19071"/>
                </a:lnTo>
              </a:path>
            </a:pathLst>
          </a:custGeom>
          <a:noFill/>
          <a:ln w="13970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124" name="azdeploy.legend.key.blocked.text"/>
          <p:cNvSpPr txBox="1"/>
          <p:nvPr/>
        </p:nvSpPr>
        <p:spPr>
          <a:xfrm>
            <a:off x="5983307" y="6071616"/>
            <a:ext cx="796785" cy="13734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Blocked path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ection-divider:brand-block-numeral">
    <p:spTree>
      <p:nvGrpSpPr>
        <p:cNvPr id="1" name=""/>
        <p:cNvGrpSpPr/>
        <p:nvPr/>
      </p:nvGrpSpPr>
      <p:grpSpPr/>
      <p:sp>
        <p:nvSpPr>
          <p:cNvPr id="2" name="divider.block"/>
          <p:cNvSpPr/>
          <p:nvPr/>
        </p:nvSpPr>
        <p:spPr>
          <a:xfrm>
            <a:off x="457200" y="777240"/>
            <a:ext cx="4206240" cy="5477256"/>
          </a:xfrm>
          <a:prstGeom prst="roundRect">
            <a:avLst>
              <a:gd name="adj" fmla="val 108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" name="divider.numeral"/>
          <p:cNvSpPr txBox="1"/>
          <p:nvPr/>
        </p:nvSpPr>
        <p:spPr>
          <a:xfrm>
            <a:off x="786384" y="3541231"/>
            <a:ext cx="3657600" cy="243894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05</a:t>
            </a:r>
            <a:endParaRPr lang="en-US" sz="16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5394960" y="2556570"/>
            <a:ext cx="6403848" cy="82314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Delivery</a:t>
            </a:r>
            <a:endParaRPr lang="en-US" sz="5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" name="divider.track"/>
          <p:cNvCxnSpPr/>
          <p:nvPr/>
        </p:nvCxnSpPr>
        <p:spPr>
          <a:xfrm>
            <a:off x="5605272" y="4001506"/>
            <a:ext cx="310896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6" name="divider.pos.1"/>
          <p:cNvSpPr/>
          <p:nvPr/>
        </p:nvSpPr>
        <p:spPr>
          <a:xfrm>
            <a:off x="5394960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divider.pos.2"/>
          <p:cNvSpPr/>
          <p:nvPr/>
        </p:nvSpPr>
        <p:spPr>
          <a:xfrm>
            <a:off x="6016752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divider.pos.3"/>
          <p:cNvSpPr/>
          <p:nvPr/>
        </p:nvSpPr>
        <p:spPr>
          <a:xfrm>
            <a:off x="6638544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divider.pos.4"/>
          <p:cNvSpPr/>
          <p:nvPr/>
        </p:nvSpPr>
        <p:spPr>
          <a:xfrm>
            <a:off x="7260336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divider.pos.5"/>
          <p:cNvSpPr/>
          <p:nvPr/>
        </p:nvSpPr>
        <p:spPr>
          <a:xfrm>
            <a:off x="7882128" y="3791194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divider.pos.6"/>
          <p:cNvSpPr/>
          <p:nvPr/>
        </p:nvSpPr>
        <p:spPr>
          <a:xfrm>
            <a:off x="8503920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6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ngagement-model:stage-panels-gate-cards-shared-strip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Four phases, each closed by a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signed gate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before the next begins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hase.1.head"/>
          <p:cNvSpPr/>
          <p:nvPr/>
        </p:nvSpPr>
        <p:spPr>
          <a:xfrm>
            <a:off x="457200" y="777240"/>
            <a:ext cx="2615946" cy="566928"/>
          </a:xfrm>
          <a:prstGeom prst="roundRect">
            <a:avLst>
              <a:gd name="adj" fmla="val 8064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phase.1.ring"/>
          <p:cNvSpPr/>
          <p:nvPr/>
        </p:nvSpPr>
        <p:spPr>
          <a:xfrm>
            <a:off x="621792" y="896112"/>
            <a:ext cx="329184" cy="32918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phase.1.num"/>
          <p:cNvSpPr txBox="1"/>
          <p:nvPr/>
        </p:nvSpPr>
        <p:spPr>
          <a:xfrm>
            <a:off x="621792" y="896112"/>
            <a:ext cx="329184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hase.1.name"/>
          <p:cNvSpPr txBox="1"/>
          <p:nvPr/>
        </p:nvSpPr>
        <p:spPr>
          <a:xfrm>
            <a:off x="1060704" y="777240"/>
            <a:ext cx="1445514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Assess</a:t>
            </a:r>
            <a:endParaRPr lang="en-US" sz="15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phase.1.icon"/>
          <p:cNvSpPr/>
          <p:nvPr/>
        </p:nvSpPr>
        <p:spPr>
          <a:xfrm>
            <a:off x="2597658" y="90525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8" name="phase.1.body"/>
          <p:cNvSpPr/>
          <p:nvPr/>
        </p:nvSpPr>
        <p:spPr>
          <a:xfrm>
            <a:off x="457200" y="1344168"/>
            <a:ext cx="2615946" cy="2788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9" name="phase.1.act.1.icon"/>
          <p:cNvSpPr/>
          <p:nvPr/>
        </p:nvSpPr>
        <p:spPr>
          <a:xfrm>
            <a:off x="640080" y="15636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0" name="phase.1.act.1"/>
          <p:cNvSpPr txBox="1"/>
          <p:nvPr/>
        </p:nvSpPr>
        <p:spPr>
          <a:xfrm>
            <a:off x="896112" y="1545336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Agree the approved source list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phase.1.act.1.rule"/>
          <p:cNvCxnSpPr/>
          <p:nvPr/>
        </p:nvCxnSpPr>
        <p:spPr>
          <a:xfrm>
            <a:off x="640080" y="2059966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2" name="phase.1.act.2.icon"/>
          <p:cNvSpPr/>
          <p:nvPr/>
        </p:nvSpPr>
        <p:spPr>
          <a:xfrm>
            <a:off x="640080" y="22422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3" name="phase.1.act.2"/>
          <p:cNvSpPr txBox="1"/>
          <p:nvPr/>
        </p:nvSpPr>
        <p:spPr>
          <a:xfrm>
            <a:off x="896112" y="2223998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Map the brief to each brand plan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" name="phase.1.act.2.rule"/>
          <p:cNvCxnSpPr/>
          <p:nvPr/>
        </p:nvCxnSpPr>
        <p:spPr>
          <a:xfrm>
            <a:off x="640080" y="2738628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5" name="phase.1.act.3.icon"/>
          <p:cNvSpPr/>
          <p:nvPr/>
        </p:nvSpPr>
        <p:spPr>
          <a:xfrm>
            <a:off x="640080" y="29209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" name="phase.1.act.3"/>
          <p:cNvSpPr txBox="1"/>
          <p:nvPr/>
        </p:nvSpPr>
        <p:spPr>
          <a:xfrm>
            <a:off x="896112" y="2902660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Name the medical reviewer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" name="phase.1.act.3.rule"/>
          <p:cNvCxnSpPr/>
          <p:nvPr/>
        </p:nvCxnSpPr>
        <p:spPr>
          <a:xfrm>
            <a:off x="640080" y="3417290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8" name="phase.1.act.4.icon"/>
          <p:cNvSpPr/>
          <p:nvPr/>
        </p:nvSpPr>
        <p:spPr>
          <a:xfrm>
            <a:off x="640080" y="359961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9" name="phase.1.act.4"/>
          <p:cNvSpPr txBox="1"/>
          <p:nvPr/>
        </p:nvSpPr>
        <p:spPr>
          <a:xfrm>
            <a:off x="896112" y="3581322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Measure today's time to field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phase.1.gate"/>
          <p:cNvSpPr/>
          <p:nvPr/>
        </p:nvSpPr>
        <p:spPr>
          <a:xfrm>
            <a:off x="457200" y="4242816"/>
            <a:ext cx="2615946" cy="960120"/>
          </a:xfrm>
          <a:prstGeom prst="roundRect">
            <a:avLst>
              <a:gd name="adj" fmla="val 4761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21" name="phase.1.gate.icon"/>
          <p:cNvSpPr/>
          <p:nvPr/>
        </p:nvSpPr>
        <p:spPr>
          <a:xfrm>
            <a:off x="640080" y="455828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730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22" name="phase.1.gate.text"/>
          <p:cNvSpPr txBox="1"/>
          <p:nvPr/>
        </p:nvSpPr>
        <p:spPr>
          <a:xfrm>
            <a:off x="1097280" y="4524716"/>
            <a:ext cx="1847850" cy="396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GATE 1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 list signed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3" name="phase.1.next"/>
          <p:cNvCxnSpPr/>
          <p:nvPr/>
        </p:nvCxnSpPr>
        <p:spPr>
          <a:xfrm>
            <a:off x="3073146" y="4722876"/>
            <a:ext cx="292608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4" name="phase.2.head"/>
          <p:cNvSpPr/>
          <p:nvPr/>
        </p:nvSpPr>
        <p:spPr>
          <a:xfrm>
            <a:off x="3365754" y="777240"/>
            <a:ext cx="2615946" cy="566928"/>
          </a:xfrm>
          <a:prstGeom prst="roundRect">
            <a:avLst>
              <a:gd name="adj" fmla="val 8064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5" name="phase.2.ring"/>
          <p:cNvSpPr/>
          <p:nvPr/>
        </p:nvSpPr>
        <p:spPr>
          <a:xfrm>
            <a:off x="3530346" y="896112"/>
            <a:ext cx="329184" cy="32918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6" name="phase.2.num"/>
          <p:cNvSpPr txBox="1"/>
          <p:nvPr/>
        </p:nvSpPr>
        <p:spPr>
          <a:xfrm>
            <a:off x="3530346" y="896112"/>
            <a:ext cx="329184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phase.2.name"/>
          <p:cNvSpPr txBox="1"/>
          <p:nvPr/>
        </p:nvSpPr>
        <p:spPr>
          <a:xfrm>
            <a:off x="3969258" y="777240"/>
            <a:ext cx="1445514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Pilot</a:t>
            </a:r>
            <a:endParaRPr lang="en-US" sz="15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hase.2.icon"/>
          <p:cNvSpPr/>
          <p:nvPr/>
        </p:nvSpPr>
        <p:spPr>
          <a:xfrm>
            <a:off x="5506212" y="90525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0000"/>
                </a:moveTo>
                <a:cubicBezTo>
                  <a:pt x="20000" y="14993"/>
                  <a:pt x="14461" y="20193"/>
                  <a:pt x="12601" y="21799"/>
                </a:cubicBezTo>
                <a:cubicBezTo>
                  <a:pt x="12245" y="22067"/>
                  <a:pt x="11755" y="22067"/>
                  <a:pt x="11399" y="21799"/>
                </a:cubicBezTo>
                <a:cubicBezTo>
                  <a:pt x="9539" y="20193"/>
                  <a:pt x="4000" y="14993"/>
                  <a:pt x="4000" y="10000"/>
                </a:cubicBezTo>
                <a:cubicBezTo>
                  <a:pt x="4000" y="5582"/>
                  <a:pt x="7582" y="2000"/>
                  <a:pt x="12000" y="2000"/>
                </a:cubicBezTo>
                <a:cubicBezTo>
                  <a:pt x="16418" y="2000"/>
                  <a:pt x="20000" y="5582"/>
                  <a:pt x="20000" y="10000"/>
                </a:cubicBezTo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9" name="phase.2.body"/>
          <p:cNvSpPr/>
          <p:nvPr/>
        </p:nvSpPr>
        <p:spPr>
          <a:xfrm>
            <a:off x="3365754" y="1344168"/>
            <a:ext cx="2615946" cy="2788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0" name="phase.2.act.1.icon"/>
          <p:cNvSpPr/>
          <p:nvPr/>
        </p:nvSpPr>
        <p:spPr>
          <a:xfrm>
            <a:off x="3548634" y="15636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31" name="phase.2.act.1"/>
          <p:cNvSpPr txBox="1"/>
          <p:nvPr/>
        </p:nvSpPr>
        <p:spPr>
          <a:xfrm>
            <a:off x="3804666" y="1545336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Run the weekly brief in North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2" name="phase.2.act.1.rule"/>
          <p:cNvCxnSpPr/>
          <p:nvPr/>
        </p:nvCxnSpPr>
        <p:spPr>
          <a:xfrm>
            <a:off x="3548634" y="2059966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3" name="phase.2.act.2.icon"/>
          <p:cNvSpPr/>
          <p:nvPr/>
        </p:nvSpPr>
        <p:spPr>
          <a:xfrm>
            <a:off x="3548634" y="22422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34" name="phase.2.act.2"/>
          <p:cNvSpPr txBox="1"/>
          <p:nvPr/>
        </p:nvSpPr>
        <p:spPr>
          <a:xfrm>
            <a:off x="3804666" y="2223998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Tune routing rules with reviewers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5" name="phase.2.act.2.rule"/>
          <p:cNvCxnSpPr/>
          <p:nvPr/>
        </p:nvCxnSpPr>
        <p:spPr>
          <a:xfrm>
            <a:off x="3548634" y="2738628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6" name="phase.2.act.3.icon"/>
          <p:cNvSpPr/>
          <p:nvPr/>
        </p:nvSpPr>
        <p:spPr>
          <a:xfrm>
            <a:off x="3548634" y="29209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37" name="phase.2.act.3"/>
          <p:cNvSpPr txBox="1"/>
          <p:nvPr/>
        </p:nvSpPr>
        <p:spPr>
          <a:xfrm>
            <a:off x="3804666" y="2902660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Collect rep feedback each week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8" name="phase.2.act.3.rule"/>
          <p:cNvCxnSpPr/>
          <p:nvPr/>
        </p:nvCxnSpPr>
        <p:spPr>
          <a:xfrm>
            <a:off x="3548634" y="3417290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9" name="phase.2.act.4.icon"/>
          <p:cNvSpPr/>
          <p:nvPr/>
        </p:nvSpPr>
        <p:spPr>
          <a:xfrm>
            <a:off x="3548634" y="359961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0" name="phase.2.act.4"/>
          <p:cNvSpPr txBox="1"/>
          <p:nvPr/>
        </p:nvSpPr>
        <p:spPr>
          <a:xfrm>
            <a:off x="3804666" y="3581322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 each brief before release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phase.2.gate"/>
          <p:cNvSpPr/>
          <p:nvPr/>
        </p:nvSpPr>
        <p:spPr>
          <a:xfrm>
            <a:off x="3365754" y="4242816"/>
            <a:ext cx="2615946" cy="960120"/>
          </a:xfrm>
          <a:prstGeom prst="roundRect">
            <a:avLst>
              <a:gd name="adj" fmla="val 4761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42" name="phase.2.gate.icon"/>
          <p:cNvSpPr/>
          <p:nvPr/>
        </p:nvSpPr>
        <p:spPr>
          <a:xfrm>
            <a:off x="3548634" y="455828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730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43" name="phase.2.gate.text"/>
          <p:cNvSpPr txBox="1"/>
          <p:nvPr/>
        </p:nvSpPr>
        <p:spPr>
          <a:xfrm>
            <a:off x="4005834" y="4524716"/>
            <a:ext cx="1847850" cy="396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GATE 2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Pilot brief accepted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4" name="phase.2.next"/>
          <p:cNvCxnSpPr/>
          <p:nvPr/>
        </p:nvCxnSpPr>
        <p:spPr>
          <a:xfrm>
            <a:off x="5981700" y="4722876"/>
            <a:ext cx="292608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45" name="phase.3.head"/>
          <p:cNvSpPr/>
          <p:nvPr/>
        </p:nvSpPr>
        <p:spPr>
          <a:xfrm>
            <a:off x="6274308" y="777240"/>
            <a:ext cx="2615946" cy="566928"/>
          </a:xfrm>
          <a:prstGeom prst="roundRect">
            <a:avLst>
              <a:gd name="adj" fmla="val 806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46" name="phase.3.ring"/>
          <p:cNvSpPr/>
          <p:nvPr/>
        </p:nvSpPr>
        <p:spPr>
          <a:xfrm>
            <a:off x="6438900" y="896112"/>
            <a:ext cx="329184" cy="32918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47" name="phase.3.num"/>
          <p:cNvSpPr txBox="1"/>
          <p:nvPr/>
        </p:nvSpPr>
        <p:spPr>
          <a:xfrm>
            <a:off x="6438900" y="896112"/>
            <a:ext cx="329184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phase.3.name"/>
          <p:cNvSpPr txBox="1"/>
          <p:nvPr/>
        </p:nvSpPr>
        <p:spPr>
          <a:xfrm>
            <a:off x="6877812" y="777240"/>
            <a:ext cx="1445514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Scale</a:t>
            </a:r>
            <a:endParaRPr lang="en-US" sz="15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phase.3.icon"/>
          <p:cNvSpPr/>
          <p:nvPr/>
        </p:nvSpPr>
        <p:spPr>
          <a:xfrm>
            <a:off x="8414766" y="90525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000" y="16000"/>
                </a:moveTo>
                <a:lnTo>
                  <a:pt x="21000" y="16000"/>
                </a:lnTo>
                <a:cubicBezTo>
                  <a:pt x="21552" y="16000"/>
                  <a:pt x="22000" y="16448"/>
                  <a:pt x="22000" y="17000"/>
                </a:cubicBezTo>
                <a:lnTo>
                  <a:pt x="22000" y="21000"/>
                </a:lnTo>
                <a:cubicBezTo>
                  <a:pt x="22000" y="21552"/>
                  <a:pt x="21552" y="22000"/>
                  <a:pt x="21000" y="22000"/>
                </a:cubicBezTo>
                <a:lnTo>
                  <a:pt x="17000" y="22000"/>
                </a:lnTo>
                <a:cubicBezTo>
                  <a:pt x="16448" y="22000"/>
                  <a:pt x="16000" y="21552"/>
                  <a:pt x="16000" y="21000"/>
                </a:cubicBezTo>
                <a:lnTo>
                  <a:pt x="16000" y="17000"/>
                </a:lnTo>
                <a:cubicBezTo>
                  <a:pt x="16000" y="16448"/>
                  <a:pt x="16448" y="16000"/>
                  <a:pt x="17000" y="16000"/>
                </a:cubicBezTo>
                <a:close/>
                <a:moveTo>
                  <a:pt x="3000" y="16000"/>
                </a:moveTo>
                <a:lnTo>
                  <a:pt x="7000" y="16000"/>
                </a:lnTo>
                <a:cubicBezTo>
                  <a:pt x="7552" y="16000"/>
                  <a:pt x="8000" y="16448"/>
                  <a:pt x="8000" y="17000"/>
                </a:cubicBezTo>
                <a:lnTo>
                  <a:pt x="8000" y="21000"/>
                </a:lnTo>
                <a:cubicBezTo>
                  <a:pt x="8000" y="21552"/>
                  <a:pt x="7552" y="22000"/>
                  <a:pt x="7000" y="22000"/>
                </a:cubicBezTo>
                <a:lnTo>
                  <a:pt x="3000" y="22000"/>
                </a:lnTo>
                <a:cubicBezTo>
                  <a:pt x="2448" y="22000"/>
                  <a:pt x="2000" y="21552"/>
                  <a:pt x="2000" y="21000"/>
                </a:cubicBezTo>
                <a:lnTo>
                  <a:pt x="2000" y="17000"/>
                </a:lnTo>
                <a:cubicBezTo>
                  <a:pt x="2000" y="16448"/>
                  <a:pt x="2448" y="16000"/>
                  <a:pt x="3000" y="16000"/>
                </a:cubicBezTo>
                <a:close/>
                <a:moveTo>
                  <a:pt x="10000" y="2000"/>
                </a:moveTo>
                <a:lnTo>
                  <a:pt x="14000" y="2000"/>
                </a:lnTo>
                <a:cubicBezTo>
                  <a:pt x="14552" y="2000"/>
                  <a:pt x="15000" y="2448"/>
                  <a:pt x="15000" y="3000"/>
                </a:cubicBezTo>
                <a:lnTo>
                  <a:pt x="15000" y="7000"/>
                </a:lnTo>
                <a:cubicBezTo>
                  <a:pt x="15000" y="7552"/>
                  <a:pt x="14552" y="8000"/>
                  <a:pt x="14000" y="8000"/>
                </a:cubicBezTo>
                <a:lnTo>
                  <a:pt x="10000" y="8000"/>
                </a:lnTo>
                <a:cubicBezTo>
                  <a:pt x="9448" y="8000"/>
                  <a:pt x="9000" y="7552"/>
                  <a:pt x="9000" y="7000"/>
                </a:cubicBezTo>
                <a:lnTo>
                  <a:pt x="9000" y="3000"/>
                </a:lnTo>
                <a:cubicBezTo>
                  <a:pt x="9000" y="2448"/>
                  <a:pt x="9448" y="2000"/>
                  <a:pt x="10000" y="2000"/>
                </a:cubicBezTo>
                <a:close/>
                <a:moveTo>
                  <a:pt x="5000" y="16000"/>
                </a:moveTo>
                <a:lnTo>
                  <a:pt x="5000" y="13000"/>
                </a:lnTo>
                <a:cubicBezTo>
                  <a:pt x="5000" y="12448"/>
                  <a:pt x="5448" y="12000"/>
                  <a:pt x="6000" y="12000"/>
                </a:cubicBezTo>
                <a:lnTo>
                  <a:pt x="18000" y="12000"/>
                </a:lnTo>
                <a:cubicBezTo>
                  <a:pt x="18552" y="12000"/>
                  <a:pt x="19000" y="12448"/>
                  <a:pt x="19000" y="13000"/>
                </a:cubicBezTo>
                <a:lnTo>
                  <a:pt x="19000" y="16000"/>
                </a:lnTo>
                <a:moveTo>
                  <a:pt x="12000" y="12000"/>
                </a:moveTo>
                <a:lnTo>
                  <a:pt x="12000" y="8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50" name="phase.3.body"/>
          <p:cNvSpPr/>
          <p:nvPr/>
        </p:nvSpPr>
        <p:spPr>
          <a:xfrm>
            <a:off x="6274308" y="1344168"/>
            <a:ext cx="2615946" cy="2788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1" name="phase.3.act.1.icon"/>
          <p:cNvSpPr/>
          <p:nvPr/>
        </p:nvSpPr>
        <p:spPr>
          <a:xfrm>
            <a:off x="6457188" y="15636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2" name="phase.3.act.1"/>
          <p:cNvSpPr txBox="1"/>
          <p:nvPr/>
        </p:nvSpPr>
        <p:spPr>
          <a:xfrm>
            <a:off x="6713220" y="1545336"/>
            <a:ext cx="1994154" cy="17529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Extend to all six regions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3" name="phase.3.act.1.rule"/>
          <p:cNvCxnSpPr/>
          <p:nvPr/>
        </p:nvCxnSpPr>
        <p:spPr>
          <a:xfrm>
            <a:off x="6457188" y="2059966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4" name="phase.3.act.2.icon"/>
          <p:cNvSpPr/>
          <p:nvPr/>
        </p:nvSpPr>
        <p:spPr>
          <a:xfrm>
            <a:off x="6457188" y="22422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5" name="phase.3.act.2"/>
          <p:cNvSpPr txBox="1"/>
          <p:nvPr/>
        </p:nvSpPr>
        <p:spPr>
          <a:xfrm>
            <a:off x="6713220" y="2223998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Add regional cuts and access notices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6" name="phase.3.act.2.rule"/>
          <p:cNvCxnSpPr/>
          <p:nvPr/>
        </p:nvCxnSpPr>
        <p:spPr>
          <a:xfrm>
            <a:off x="6457188" y="2738628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7" name="phase.3.act.3.icon"/>
          <p:cNvSpPr/>
          <p:nvPr/>
        </p:nvSpPr>
        <p:spPr>
          <a:xfrm>
            <a:off x="6457188" y="29209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8" name="phase.3.act.3"/>
          <p:cNvSpPr txBox="1"/>
          <p:nvPr/>
        </p:nvSpPr>
        <p:spPr>
          <a:xfrm>
            <a:off x="6713220" y="2902660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Train field excellence leads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9" name="phase.3.act.3.rule"/>
          <p:cNvCxnSpPr/>
          <p:nvPr/>
        </p:nvCxnSpPr>
        <p:spPr>
          <a:xfrm>
            <a:off x="6457188" y="3417290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60" name="phase.3.act.4.icon"/>
          <p:cNvSpPr/>
          <p:nvPr/>
        </p:nvSpPr>
        <p:spPr>
          <a:xfrm>
            <a:off x="6457188" y="359961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61" name="phase.3.act.4"/>
          <p:cNvSpPr txBox="1"/>
          <p:nvPr/>
        </p:nvSpPr>
        <p:spPr>
          <a:xfrm>
            <a:off x="6713220" y="3581322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Hand rules to regional owners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phase.3.gate"/>
          <p:cNvSpPr/>
          <p:nvPr/>
        </p:nvSpPr>
        <p:spPr>
          <a:xfrm>
            <a:off x="6274308" y="4242816"/>
            <a:ext cx="2615946" cy="960120"/>
          </a:xfrm>
          <a:prstGeom prst="roundRect">
            <a:avLst>
              <a:gd name="adj" fmla="val 4761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63" name="phase.3.gate.icon"/>
          <p:cNvSpPr/>
          <p:nvPr/>
        </p:nvSpPr>
        <p:spPr>
          <a:xfrm>
            <a:off x="6457188" y="455828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730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64" name="phase.3.gate.text"/>
          <p:cNvSpPr txBox="1"/>
          <p:nvPr/>
        </p:nvSpPr>
        <p:spPr>
          <a:xfrm>
            <a:off x="6914388" y="4524716"/>
            <a:ext cx="1847850" cy="396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GATE 3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Rollout call made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5" name="phase.3.next"/>
          <p:cNvCxnSpPr/>
          <p:nvPr/>
        </p:nvCxnSpPr>
        <p:spPr>
          <a:xfrm>
            <a:off x="8890254" y="4722876"/>
            <a:ext cx="292608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66" name="phase.4.head"/>
          <p:cNvSpPr/>
          <p:nvPr/>
        </p:nvSpPr>
        <p:spPr>
          <a:xfrm>
            <a:off x="9182862" y="777240"/>
            <a:ext cx="2615946" cy="566928"/>
          </a:xfrm>
          <a:prstGeom prst="roundRect">
            <a:avLst>
              <a:gd name="adj" fmla="val 8064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67" name="phase.4.ring"/>
          <p:cNvSpPr/>
          <p:nvPr/>
        </p:nvSpPr>
        <p:spPr>
          <a:xfrm>
            <a:off x="9347454" y="896112"/>
            <a:ext cx="329184" cy="32918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p/>
        </p:txBody>
      </p:sp>
      <p:sp>
        <p:nvSpPr>
          <p:cNvPr id="68" name="phase.4.num"/>
          <p:cNvSpPr txBox="1"/>
          <p:nvPr/>
        </p:nvSpPr>
        <p:spPr>
          <a:xfrm>
            <a:off x="9347454" y="896112"/>
            <a:ext cx="329184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phase.4.name"/>
          <p:cNvSpPr txBox="1"/>
          <p:nvPr/>
        </p:nvSpPr>
        <p:spPr>
          <a:xfrm>
            <a:off x="9786366" y="777240"/>
            <a:ext cx="1445514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Run</a:t>
            </a:r>
            <a:endParaRPr lang="en-US" sz="15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phase.4.icon"/>
          <p:cNvSpPr/>
          <p:nvPr/>
        </p:nvSpPr>
        <p:spPr>
          <a:xfrm>
            <a:off x="11323320" y="90525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2000"/>
                </a:moveTo>
                <a:cubicBezTo>
                  <a:pt x="3000" y="7029"/>
                  <a:pt x="7029" y="3000"/>
                  <a:pt x="12000" y="3000"/>
                </a:cubicBezTo>
                <a:cubicBezTo>
                  <a:pt x="14516" y="3009"/>
                  <a:pt x="16931" y="3991"/>
                  <a:pt x="18740" y="5740"/>
                </a:cubicBezTo>
                <a:lnTo>
                  <a:pt x="21000" y="8000"/>
                </a:lnTo>
                <a:moveTo>
                  <a:pt x="21000" y="3000"/>
                </a:moveTo>
                <a:lnTo>
                  <a:pt x="21000" y="8000"/>
                </a:lnTo>
                <a:lnTo>
                  <a:pt x="16000" y="8000"/>
                </a:lnTo>
                <a:moveTo>
                  <a:pt x="21000" y="12000"/>
                </a:moveTo>
                <a:cubicBezTo>
                  <a:pt x="21000" y="16971"/>
                  <a:pt x="16971" y="21000"/>
                  <a:pt x="12000" y="21000"/>
                </a:cubicBezTo>
                <a:cubicBezTo>
                  <a:pt x="9484" y="20991"/>
                  <a:pt x="7069" y="20009"/>
                  <a:pt x="5260" y="18260"/>
                </a:cubicBezTo>
                <a:lnTo>
                  <a:pt x="3000" y="16000"/>
                </a:lnTo>
                <a:moveTo>
                  <a:pt x="8000" y="16000"/>
                </a:moveTo>
                <a:lnTo>
                  <a:pt x="3000" y="16000"/>
                </a:lnTo>
                <a:lnTo>
                  <a:pt x="3000" y="21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71" name="phase.4.body"/>
          <p:cNvSpPr/>
          <p:nvPr/>
        </p:nvSpPr>
        <p:spPr>
          <a:xfrm>
            <a:off x="9182862" y="1344168"/>
            <a:ext cx="2615946" cy="2788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2" name="phase.4.act.1.icon"/>
          <p:cNvSpPr/>
          <p:nvPr/>
        </p:nvSpPr>
        <p:spPr>
          <a:xfrm>
            <a:off x="9365742" y="1563624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3" name="phase.4.act.1"/>
          <p:cNvSpPr txBox="1"/>
          <p:nvPr/>
        </p:nvSpPr>
        <p:spPr>
          <a:xfrm>
            <a:off x="9621774" y="1545336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Ship every Monday before calls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4" name="phase.4.act.1.rule"/>
          <p:cNvCxnSpPr/>
          <p:nvPr/>
        </p:nvCxnSpPr>
        <p:spPr>
          <a:xfrm>
            <a:off x="9365742" y="2059966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75" name="phase.4.act.2.icon"/>
          <p:cNvSpPr/>
          <p:nvPr/>
        </p:nvSpPr>
        <p:spPr>
          <a:xfrm>
            <a:off x="9365742" y="22422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6" name="phase.4.act.2"/>
          <p:cNvSpPr txBox="1"/>
          <p:nvPr/>
        </p:nvSpPr>
        <p:spPr>
          <a:xfrm>
            <a:off x="9621774" y="2223998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 rules and sources monthly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7" name="phase.4.act.2.rule"/>
          <p:cNvCxnSpPr/>
          <p:nvPr/>
        </p:nvCxnSpPr>
        <p:spPr>
          <a:xfrm>
            <a:off x="9365742" y="2738628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78" name="phase.4.act.3.icon"/>
          <p:cNvSpPr/>
          <p:nvPr/>
        </p:nvSpPr>
        <p:spPr>
          <a:xfrm>
            <a:off x="9365742" y="29209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9" name="phase.4.act.3"/>
          <p:cNvSpPr txBox="1"/>
          <p:nvPr/>
        </p:nvSpPr>
        <p:spPr>
          <a:xfrm>
            <a:off x="9621774" y="2902660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Report usage and corrections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0" name="phase.4.act.3.rule"/>
          <p:cNvCxnSpPr/>
          <p:nvPr/>
        </p:nvCxnSpPr>
        <p:spPr>
          <a:xfrm>
            <a:off x="9365742" y="3417290"/>
            <a:ext cx="225018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81" name="phase.4.act.4.icon"/>
          <p:cNvSpPr/>
          <p:nvPr/>
        </p:nvSpPr>
        <p:spPr>
          <a:xfrm>
            <a:off x="9365742" y="359961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524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2" name="phase.4.act.4"/>
          <p:cNvSpPr txBox="1"/>
          <p:nvPr/>
        </p:nvSpPr>
        <p:spPr>
          <a:xfrm>
            <a:off x="9621774" y="3581322"/>
            <a:ext cx="1994154" cy="3505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Retire sources that add noise</a:t>
            </a:r>
            <a:endParaRPr lang="en-US" sz="11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phase.4.gate"/>
          <p:cNvSpPr/>
          <p:nvPr/>
        </p:nvSpPr>
        <p:spPr>
          <a:xfrm>
            <a:off x="9182862" y="4242816"/>
            <a:ext cx="2615946" cy="960120"/>
          </a:xfrm>
          <a:prstGeom prst="roundRect">
            <a:avLst>
              <a:gd name="adj" fmla="val 4761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84" name="phase.4.gate.icon"/>
          <p:cNvSpPr/>
          <p:nvPr/>
        </p:nvSpPr>
        <p:spPr>
          <a:xfrm>
            <a:off x="9365742" y="455828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2000"/>
                </a:moveTo>
                <a:lnTo>
                  <a:pt x="8000" y="5000"/>
                </a:lnTo>
                <a:moveTo>
                  <a:pt x="16000" y="2000"/>
                </a:moveTo>
                <a:lnTo>
                  <a:pt x="16000" y="5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27305" cap="rnd">
            <a:solidFill>
              <a:schemeClr val="tx1">
                <a:lumMod val="75000"/>
                <a:lumOff val="25000"/>
              </a:schemeClr>
            </a:solidFill>
            <a:round/>
          </a:ln>
          <a:effectLst/>
        </p:spPr>
        <p:txBody>
          <a:bodyPr/>
          <a:p/>
        </p:txBody>
      </p:sp>
      <p:sp>
        <p:nvSpPr>
          <p:cNvPr id="85" name="phase.4.gate.text"/>
          <p:cNvSpPr txBox="1"/>
          <p:nvPr/>
        </p:nvSpPr>
        <p:spPr>
          <a:xfrm>
            <a:off x="9822942" y="4524716"/>
            <a:ext cx="1847850" cy="396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MONTHLY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Service review held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shared.band"/>
          <p:cNvSpPr/>
          <p:nvPr/>
        </p:nvSpPr>
        <p:spPr>
          <a:xfrm>
            <a:off x="457200" y="5385816"/>
            <a:ext cx="11341608" cy="868680"/>
          </a:xfrm>
          <a:prstGeom prst="roundRect">
            <a:avLst>
              <a:gd name="adj" fmla="val 526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87" name="shared.label.block"/>
          <p:cNvSpPr/>
          <p:nvPr/>
        </p:nvSpPr>
        <p:spPr>
          <a:xfrm>
            <a:off x="457200" y="5385816"/>
            <a:ext cx="1554480" cy="868680"/>
          </a:xfrm>
          <a:prstGeom prst="roundRect">
            <a:avLst>
              <a:gd name="adj" fmla="val 5263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88" name="shared.label"/>
          <p:cNvSpPr txBox="1"/>
          <p:nvPr/>
        </p:nvSpPr>
        <p:spPr>
          <a:xfrm>
            <a:off x="603504" y="5477256"/>
            <a:ext cx="1261872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Every phase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shared.1.text"/>
          <p:cNvSpPr txBox="1"/>
          <p:nvPr/>
        </p:nvSpPr>
        <p:spPr>
          <a:xfrm>
            <a:off x="2212848" y="5549590"/>
            <a:ext cx="2174748" cy="3810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Weekly steering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Joint, with one decision log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shared.2.text"/>
          <p:cNvSpPr txBox="1"/>
          <p:nvPr/>
        </p:nvSpPr>
        <p:spPr>
          <a:xfrm>
            <a:off x="4616196" y="5549590"/>
            <a:ext cx="2174748" cy="3810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sign-off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No brief ships unsigned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shared.3.text"/>
          <p:cNvSpPr txBox="1"/>
          <p:nvPr/>
        </p:nvSpPr>
        <p:spPr>
          <a:xfrm>
            <a:off x="7019544" y="5549590"/>
            <a:ext cx="2174748" cy="3810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 backlog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Rules and sources in one list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hared.4.text"/>
          <p:cNvSpPr txBox="1"/>
          <p:nvPr/>
        </p:nvSpPr>
        <p:spPr>
          <a:xfrm>
            <a:off x="9422892" y="5549590"/>
            <a:ext cx="2174748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Joint team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Firm and Quillmont roles named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antt:milestone-axis-phase-cards">
    <p:spTree>
      <p:nvGrpSpPr>
        <p:cNvPr id="1" name=""/>
        <p:cNvGrpSpPr/>
        <p:nvPr/>
      </p:nvGrpSpPr>
      <p:grpSpPr/>
      <p:cxnSp>
        <p:nvCxnSpPr>
          <p:cNvPr id="2" name="struct.gridline.1"/>
          <p:cNvCxnSpPr>
            <a:cxnSpLocks/>
          </p:cNvCxnSpPr>
          <p:nvPr/>
        </p:nvCxnSpPr>
        <p:spPr>
          <a:xfrm>
            <a:off x="909135" y="1572768"/>
            <a:ext cx="0" cy="206654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3" name="struct.gridline.2"/>
          <p:cNvCxnSpPr>
            <a:cxnSpLocks/>
          </p:cNvCxnSpPr>
          <p:nvPr/>
        </p:nvCxnSpPr>
        <p:spPr>
          <a:xfrm>
            <a:off x="2736707" y="1572768"/>
            <a:ext cx="0" cy="206654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4" name="struct.gridline.3"/>
          <p:cNvCxnSpPr>
            <a:cxnSpLocks/>
          </p:cNvCxnSpPr>
          <p:nvPr/>
        </p:nvCxnSpPr>
        <p:spPr>
          <a:xfrm>
            <a:off x="5566927" y="1572768"/>
            <a:ext cx="0" cy="206654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5" name="struct.gridline.4"/>
          <p:cNvCxnSpPr>
            <a:cxnSpLocks/>
          </p:cNvCxnSpPr>
          <p:nvPr/>
        </p:nvCxnSpPr>
        <p:spPr>
          <a:xfrm>
            <a:off x="6982037" y="1572768"/>
            <a:ext cx="0" cy="206654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6" name="struct.gateline.1"/>
          <p:cNvCxnSpPr>
            <a:cxnSpLocks/>
          </p:cNvCxnSpPr>
          <p:nvPr/>
        </p:nvCxnSpPr>
        <p:spPr>
          <a:xfrm>
            <a:off x="4151817" y="1572768"/>
            <a:ext cx="0" cy="350215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cxnSp>
        <p:nvCxnSpPr>
          <p:cNvPr id="7" name="struct.gateline.2"/>
          <p:cNvCxnSpPr>
            <a:cxnSpLocks/>
          </p:cNvCxnSpPr>
          <p:nvPr/>
        </p:nvCxnSpPr>
        <p:spPr>
          <a:xfrm>
            <a:off x="8397146" y="1572768"/>
            <a:ext cx="0" cy="350215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cxnSp>
        <p:nvCxnSpPr>
          <p:cNvPr id="8" name="struct.gridline.7"/>
          <p:cNvCxnSpPr>
            <a:cxnSpLocks/>
          </p:cNvCxnSpPr>
          <p:nvPr/>
        </p:nvCxnSpPr>
        <p:spPr>
          <a:xfrm>
            <a:off x="9812256" y="1572768"/>
            <a:ext cx="0" cy="206654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9" name="struct.gateline.3"/>
          <p:cNvCxnSpPr>
            <a:cxnSpLocks/>
          </p:cNvCxnSpPr>
          <p:nvPr/>
        </p:nvCxnSpPr>
        <p:spPr>
          <a:xfrm>
            <a:off x="11227364" y="1572768"/>
            <a:ext cx="0" cy="350215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</p:cxnSp>
      <p:sp>
        <p:nvSpPr>
          <p:cNvPr id="10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Six regions go live on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22 Jan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if the North pilot clears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18 Dec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truct.axis.1"/>
          <p:cNvSpPr/>
          <p:nvPr/>
        </p:nvSpPr>
        <p:spPr>
          <a:xfrm>
            <a:off x="916491" y="1316736"/>
            <a:ext cx="10178848" cy="237744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struct.dot.1"/>
          <p:cNvSpPr/>
          <p:nvPr/>
        </p:nvSpPr>
        <p:spPr>
          <a:xfrm>
            <a:off x="776000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slot.period.1"/>
          <p:cNvSpPr txBox="1"/>
          <p:nvPr/>
        </p:nvSpPr>
        <p:spPr>
          <a:xfrm>
            <a:off x="457200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 Nov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ruct.dot.2"/>
          <p:cNvSpPr/>
          <p:nvPr/>
        </p:nvSpPr>
        <p:spPr>
          <a:xfrm>
            <a:off x="2603572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slot.period.2"/>
          <p:cNvSpPr txBox="1"/>
          <p:nvPr/>
        </p:nvSpPr>
        <p:spPr>
          <a:xfrm>
            <a:off x="2284772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9 Nov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truct.dot.3"/>
          <p:cNvSpPr/>
          <p:nvPr/>
        </p:nvSpPr>
        <p:spPr>
          <a:xfrm>
            <a:off x="4018682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slot.period.3"/>
          <p:cNvSpPr txBox="1"/>
          <p:nvPr/>
        </p:nvSpPr>
        <p:spPr>
          <a:xfrm>
            <a:off x="3699882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20 Nov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uct.dot.4"/>
          <p:cNvSpPr/>
          <p:nvPr/>
        </p:nvSpPr>
        <p:spPr>
          <a:xfrm>
            <a:off x="5433792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slot.period.4"/>
          <p:cNvSpPr txBox="1"/>
          <p:nvPr/>
        </p:nvSpPr>
        <p:spPr>
          <a:xfrm>
            <a:off x="5114992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30 Nov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truct.dot.5"/>
          <p:cNvSpPr/>
          <p:nvPr/>
        </p:nvSpPr>
        <p:spPr>
          <a:xfrm>
            <a:off x="6848901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slot.period.5"/>
          <p:cNvSpPr txBox="1"/>
          <p:nvPr/>
        </p:nvSpPr>
        <p:spPr>
          <a:xfrm>
            <a:off x="6530100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9 Dec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dot.6"/>
          <p:cNvSpPr/>
          <p:nvPr/>
        </p:nvSpPr>
        <p:spPr>
          <a:xfrm>
            <a:off x="8264011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slot.period.6"/>
          <p:cNvSpPr txBox="1"/>
          <p:nvPr/>
        </p:nvSpPr>
        <p:spPr>
          <a:xfrm>
            <a:off x="7945211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18 Dec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dot.7"/>
          <p:cNvSpPr/>
          <p:nvPr/>
        </p:nvSpPr>
        <p:spPr>
          <a:xfrm>
            <a:off x="9679121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slot.period.7"/>
          <p:cNvSpPr txBox="1"/>
          <p:nvPr/>
        </p:nvSpPr>
        <p:spPr>
          <a:xfrm>
            <a:off x="9360321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29 Dec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truct.dot.8"/>
          <p:cNvSpPr/>
          <p:nvPr/>
        </p:nvSpPr>
        <p:spPr>
          <a:xfrm>
            <a:off x="11094229" y="1298448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7" name="slot.period.8"/>
          <p:cNvSpPr txBox="1"/>
          <p:nvPr/>
        </p:nvSpPr>
        <p:spPr>
          <a:xfrm>
            <a:off x="10775429" y="1024128"/>
            <a:ext cx="909638" cy="23774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b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8 Jan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bar.1"/>
          <p:cNvSpPr/>
          <p:nvPr/>
        </p:nvSpPr>
        <p:spPr>
          <a:xfrm>
            <a:off x="816430" y="1975104"/>
            <a:ext cx="1637348" cy="310896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Assess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truct.ring.1"/>
          <p:cNvSpPr/>
          <p:nvPr/>
        </p:nvSpPr>
        <p:spPr>
          <a:xfrm>
            <a:off x="2489759" y="2052828"/>
            <a:ext cx="155448" cy="1554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0" name="slot.bar.2"/>
          <p:cNvSpPr/>
          <p:nvPr/>
        </p:nvSpPr>
        <p:spPr>
          <a:xfrm>
            <a:off x="2672092" y="1975104"/>
            <a:ext cx="1328071" cy="310896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Brief template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truct.ring.2"/>
          <p:cNvSpPr/>
          <p:nvPr/>
        </p:nvSpPr>
        <p:spPr>
          <a:xfrm>
            <a:off x="4077078" y="2052828"/>
            <a:ext cx="155448" cy="1554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2" name="slot.bar.3"/>
          <p:cNvSpPr/>
          <p:nvPr/>
        </p:nvSpPr>
        <p:spPr>
          <a:xfrm>
            <a:off x="4309440" y="1975104"/>
            <a:ext cx="1218915" cy="31089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Feed setup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truct.ring.3"/>
          <p:cNvSpPr/>
          <p:nvPr/>
        </p:nvSpPr>
        <p:spPr>
          <a:xfrm>
            <a:off x="8320538" y="2052828"/>
            <a:ext cx="155448" cy="1554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slot.bar.4"/>
          <p:cNvSpPr/>
          <p:nvPr/>
        </p:nvSpPr>
        <p:spPr>
          <a:xfrm>
            <a:off x="5564740" y="1975104"/>
            <a:ext cx="2674335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 build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lot.bar.5"/>
          <p:cNvSpPr/>
          <p:nvPr/>
        </p:nvSpPr>
        <p:spPr>
          <a:xfrm>
            <a:off x="8539256" y="1975104"/>
            <a:ext cx="2910841" cy="31089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Train six regions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lot.bar.6"/>
          <p:cNvSpPr/>
          <p:nvPr/>
        </p:nvSpPr>
        <p:spPr>
          <a:xfrm>
            <a:off x="6601728" y="2779776"/>
            <a:ext cx="3056383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North pilot run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truct.ring.4"/>
          <p:cNvSpPr/>
          <p:nvPr/>
        </p:nvSpPr>
        <p:spPr>
          <a:xfrm>
            <a:off x="9735025" y="2857500"/>
            <a:ext cx="155448" cy="1554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8" name="slot.bar.7"/>
          <p:cNvSpPr/>
          <p:nvPr/>
        </p:nvSpPr>
        <p:spPr>
          <a:xfrm>
            <a:off x="9967388" y="2779776"/>
            <a:ext cx="1109758" cy="310896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rtlCol="0" anchor="ctr" lIns="54864" rIns="54864" tIns="27432" bIns="27432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Go-live call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lot.mark.1"/>
          <p:cNvSpPr txBox="1"/>
          <p:nvPr/>
        </p:nvSpPr>
        <p:spPr>
          <a:xfrm>
            <a:off x="2130857" y="2313432"/>
            <a:ext cx="873252" cy="274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9 Nov exit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lot.mark.2"/>
          <p:cNvSpPr txBox="1"/>
          <p:nvPr/>
        </p:nvSpPr>
        <p:spPr>
          <a:xfrm>
            <a:off x="3718174" y="2313432"/>
            <a:ext cx="873252" cy="274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20 Nov exit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lot.mark.5"/>
          <p:cNvSpPr txBox="1"/>
          <p:nvPr/>
        </p:nvSpPr>
        <p:spPr>
          <a:xfrm>
            <a:off x="10795157" y="3118103"/>
            <a:ext cx="873252" cy="274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8 Jan exit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lot.mark.3"/>
          <p:cNvSpPr txBox="1"/>
          <p:nvPr/>
        </p:nvSpPr>
        <p:spPr>
          <a:xfrm>
            <a:off x="7961635" y="2313432"/>
            <a:ext cx="873252" cy="274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18 Dec exit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mark.4"/>
          <p:cNvSpPr txBox="1"/>
          <p:nvPr/>
        </p:nvSpPr>
        <p:spPr>
          <a:xfrm>
            <a:off x="9376123" y="3118103"/>
            <a:ext cx="873252" cy="274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29 Dec exit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truct.ring.5"/>
          <p:cNvSpPr/>
          <p:nvPr/>
        </p:nvSpPr>
        <p:spPr>
          <a:xfrm>
            <a:off x="11154060" y="2857500"/>
            <a:ext cx="155448" cy="1554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5" name="struct.card.1"/>
          <p:cNvSpPr txBox="1"/>
          <p:nvPr/>
        </p:nvSpPr>
        <p:spPr>
          <a:xfrm>
            <a:off x="552457" y="3639312"/>
            <a:ext cx="2017577" cy="1133856"/>
          </a:xfrm>
          <a:prstGeom prst="roundRect">
            <a:avLst>
              <a:gd name="adj" fmla="val 403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lIns="108000" tIns="108000" rIns="108000" bIns="108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" name="struct.card.2"/>
          <p:cNvSpPr txBox="1"/>
          <p:nvPr/>
        </p:nvSpPr>
        <p:spPr>
          <a:xfrm>
            <a:off x="2842925" y="3639312"/>
            <a:ext cx="2017577" cy="1133856"/>
          </a:xfrm>
          <a:prstGeom prst="roundRect">
            <a:avLst>
              <a:gd name="adj" fmla="val 403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lIns="108000" tIns="108000" rIns="108000" bIns="108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7" name="struct.card.3"/>
          <p:cNvSpPr txBox="1"/>
          <p:nvPr/>
        </p:nvSpPr>
        <p:spPr>
          <a:xfrm>
            <a:off x="5133393" y="3639312"/>
            <a:ext cx="2017577" cy="1133856"/>
          </a:xfrm>
          <a:prstGeom prst="roundRect">
            <a:avLst>
              <a:gd name="adj" fmla="val 403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lIns="108000" tIns="108000" rIns="108000" bIns="108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" name="struct.card.4"/>
          <p:cNvSpPr txBox="1"/>
          <p:nvPr/>
        </p:nvSpPr>
        <p:spPr>
          <a:xfrm>
            <a:off x="7423862" y="3639312"/>
            <a:ext cx="2017577" cy="1133856"/>
          </a:xfrm>
          <a:prstGeom prst="roundRect">
            <a:avLst>
              <a:gd name="adj" fmla="val 403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lIns="108000" tIns="108000" rIns="108000" bIns="108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9" name="struct.card.5"/>
          <p:cNvSpPr txBox="1"/>
          <p:nvPr/>
        </p:nvSpPr>
        <p:spPr>
          <a:xfrm>
            <a:off x="9714331" y="3639312"/>
            <a:ext cx="2017577" cy="1133856"/>
          </a:xfrm>
          <a:prstGeom prst="roundRect">
            <a:avLst>
              <a:gd name="adj" fmla="val 403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lIns="108000" tIns="108000" rIns="108000" bIns="108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0" name="slot.card.1.head"/>
          <p:cNvSpPr txBox="1"/>
          <p:nvPr/>
        </p:nvSpPr>
        <p:spPr>
          <a:xfrm>
            <a:off x="652517" y="3749039"/>
            <a:ext cx="1817456" cy="34747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Assess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lot.card.2.head"/>
          <p:cNvSpPr txBox="1"/>
          <p:nvPr/>
        </p:nvSpPr>
        <p:spPr>
          <a:xfrm>
            <a:off x="2942986" y="3749039"/>
            <a:ext cx="1817456" cy="34747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Brief template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card.3.head"/>
          <p:cNvSpPr txBox="1"/>
          <p:nvPr/>
        </p:nvSpPr>
        <p:spPr>
          <a:xfrm>
            <a:off x="5233454" y="3749039"/>
            <a:ext cx="1817456" cy="347472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 build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lot.card.4.head"/>
          <p:cNvSpPr txBox="1"/>
          <p:nvPr/>
        </p:nvSpPr>
        <p:spPr>
          <a:xfrm>
            <a:off x="7523922" y="3749039"/>
            <a:ext cx="1817456" cy="347472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North pilot run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lot.card.5.head"/>
          <p:cNvSpPr txBox="1"/>
          <p:nvPr/>
        </p:nvSpPr>
        <p:spPr>
          <a:xfrm>
            <a:off x="9814391" y="3749039"/>
            <a:ext cx="1817456" cy="34747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Go-live call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lot.card.1.body"/>
          <p:cNvSpPr txBox="1"/>
          <p:nvPr/>
        </p:nvSpPr>
        <p:spPr>
          <a:xfrm>
            <a:off x="652517" y="4169663"/>
            <a:ext cx="1817456" cy="51206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Pick feeds, reviewers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Exit: sources agreed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lot.card.2.body"/>
          <p:cNvSpPr txBox="1"/>
          <p:nvPr/>
        </p:nvSpPr>
        <p:spPr>
          <a:xfrm>
            <a:off x="2942986" y="4169663"/>
            <a:ext cx="1817456" cy="51206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page, all sourced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Exit: template signed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lot.card.3.body"/>
          <p:cNvSpPr txBox="1"/>
          <p:nvPr/>
        </p:nvSpPr>
        <p:spPr>
          <a:xfrm>
            <a:off x="5233454" y="4169663"/>
            <a:ext cx="1817456" cy="51206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 and writer live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Exit: agents ready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lot.card.4.body"/>
          <p:cNvSpPr txBox="1"/>
          <p:nvPr/>
        </p:nvSpPr>
        <p:spPr>
          <a:xfrm>
            <a:off x="7523922" y="4169663"/>
            <a:ext cx="1817456" cy="51206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Reps use each brief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Exit: ratings in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lot.card.5.body"/>
          <p:cNvSpPr txBox="1"/>
          <p:nvPr/>
        </p:nvSpPr>
        <p:spPr>
          <a:xfrm>
            <a:off x="9814391" y="4169663"/>
            <a:ext cx="1817456" cy="512064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Six teams trained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Exit: rollout agreed</a:t>
            </a:r>
            <a:endParaRPr lang="en-US" sz="11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slot.gates.label"/>
          <p:cNvSpPr txBox="1"/>
          <p:nvPr/>
        </p:nvSpPr>
        <p:spPr>
          <a:xfrm>
            <a:off x="552635" y="5321808"/>
            <a:ext cx="2637950" cy="310896"/>
          </a:xfrm>
          <a:prstGeom prst="rect">
            <a:avLst/>
          </a:prstGeom>
          <a:noFill/>
          <a:ln/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Three gates decide go-live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gate.1"/>
          <p:cNvSpPr txBox="1"/>
          <p:nvPr/>
        </p:nvSpPr>
        <p:spPr>
          <a:xfrm>
            <a:off x="3481669" y="5138928"/>
            <a:ext cx="2474215" cy="676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Gate 1 · 20 Nov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list and template signed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lot.gate.2"/>
          <p:cNvSpPr txBox="1"/>
          <p:nvPr/>
        </p:nvSpPr>
        <p:spPr>
          <a:xfrm>
            <a:off x="6110523" y="5138928"/>
            <a:ext cx="2665239" cy="676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Gate 2 · 18 Dec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Pilot briefs meet the sourcing bar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lot.gate.3"/>
          <p:cNvSpPr txBox="1"/>
          <p:nvPr/>
        </p:nvSpPr>
        <p:spPr>
          <a:xfrm>
            <a:off x="8939497" y="5138928"/>
            <a:ext cx="2856263" cy="676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Gate 3 · 8 Jan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Rollout call, six regions live 22 Jan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truct.gatering.1"/>
          <p:cNvSpPr/>
          <p:nvPr/>
        </p:nvSpPr>
        <p:spPr>
          <a:xfrm>
            <a:off x="4090793" y="5074920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5" name="struct.gatering.2"/>
          <p:cNvSpPr/>
          <p:nvPr/>
        </p:nvSpPr>
        <p:spPr>
          <a:xfrm>
            <a:off x="8329706" y="5074920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6" name="struct.gatering.3"/>
          <p:cNvSpPr/>
          <p:nvPr/>
        </p:nvSpPr>
        <p:spPr>
          <a:xfrm>
            <a:off x="11167776" y="5074920"/>
            <a:ext cx="128016" cy="1280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hased-roadmap:phase-lane-milestone-axis-stat-row">
    <p:spTree>
      <p:nvGrpSpPr>
        <p:cNvPr id="1" name=""/>
        <p:cNvGrpSpPr/>
        <p:nvPr/>
      </p:nvGrpSpPr>
      <p:grpSpPr/>
      <p:sp>
        <p:nvSpPr>
          <p:cNvPr id="2" name="struct.quarter.1"/>
          <p:cNvSpPr/>
          <p:nvPr/>
        </p:nvSpPr>
        <p:spPr>
          <a:xfrm>
            <a:off x="2743273" y="1188720"/>
            <a:ext cx="1773936" cy="3108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" name="slot.quarter.1"/>
          <p:cNvSpPr/>
          <p:nvPr/>
        </p:nvSpPr>
        <p:spPr>
          <a:xfrm>
            <a:off x="2743273" y="1188720"/>
            <a:ext cx="177393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Q4 2026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truct.quarter.2"/>
          <p:cNvSpPr/>
          <p:nvPr/>
        </p:nvSpPr>
        <p:spPr>
          <a:xfrm>
            <a:off x="4541031" y="1188720"/>
            <a:ext cx="1773936" cy="3108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5" name="slot.quarter.2"/>
          <p:cNvSpPr/>
          <p:nvPr/>
        </p:nvSpPr>
        <p:spPr>
          <a:xfrm>
            <a:off x="4541031" y="1188720"/>
            <a:ext cx="177393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Q1 2027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uct.quarter.3"/>
          <p:cNvSpPr/>
          <p:nvPr/>
        </p:nvSpPr>
        <p:spPr>
          <a:xfrm>
            <a:off x="6338789" y="1188720"/>
            <a:ext cx="1773936" cy="3108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7" name="slot.quarter.3"/>
          <p:cNvSpPr/>
          <p:nvPr/>
        </p:nvSpPr>
        <p:spPr>
          <a:xfrm>
            <a:off x="6338789" y="1188720"/>
            <a:ext cx="177393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Q2 2027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truct.quarter.4"/>
          <p:cNvSpPr/>
          <p:nvPr/>
        </p:nvSpPr>
        <p:spPr>
          <a:xfrm>
            <a:off x="8136548" y="1188720"/>
            <a:ext cx="1773936" cy="3108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9" name="slot.quarter.4"/>
          <p:cNvSpPr/>
          <p:nvPr/>
        </p:nvSpPr>
        <p:spPr>
          <a:xfrm>
            <a:off x="8136548" y="1188720"/>
            <a:ext cx="177393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Q3 2027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truct.quarter.5"/>
          <p:cNvSpPr/>
          <p:nvPr/>
        </p:nvSpPr>
        <p:spPr>
          <a:xfrm>
            <a:off x="9934307" y="1188720"/>
            <a:ext cx="1773936" cy="3108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11" name="slot.quarter.5"/>
          <p:cNvSpPr/>
          <p:nvPr/>
        </p:nvSpPr>
        <p:spPr>
          <a:xfrm>
            <a:off x="9934307" y="1188720"/>
            <a:ext cx="1773936" cy="31089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Q4 2027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truct.month.1"/>
          <p:cNvSpPr/>
          <p:nvPr/>
        </p:nvSpPr>
        <p:spPr>
          <a:xfrm>
            <a:off x="2743273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13" name="slot.month.1"/>
          <p:cNvSpPr/>
          <p:nvPr/>
        </p:nvSpPr>
        <p:spPr>
          <a:xfrm>
            <a:off x="2743273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Oct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ruct.month.2"/>
          <p:cNvSpPr/>
          <p:nvPr/>
        </p:nvSpPr>
        <p:spPr>
          <a:xfrm>
            <a:off x="3342527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15" name="slot.month.2"/>
          <p:cNvSpPr/>
          <p:nvPr/>
        </p:nvSpPr>
        <p:spPr>
          <a:xfrm>
            <a:off x="3342527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Nov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truct.month.3"/>
          <p:cNvSpPr/>
          <p:nvPr/>
        </p:nvSpPr>
        <p:spPr>
          <a:xfrm>
            <a:off x="3941778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17" name="slot.month.3"/>
          <p:cNvSpPr/>
          <p:nvPr/>
        </p:nvSpPr>
        <p:spPr>
          <a:xfrm>
            <a:off x="3941778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Dec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uct.month.4"/>
          <p:cNvSpPr/>
          <p:nvPr/>
        </p:nvSpPr>
        <p:spPr>
          <a:xfrm>
            <a:off x="4541031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19" name="slot.month.4"/>
          <p:cNvSpPr/>
          <p:nvPr/>
        </p:nvSpPr>
        <p:spPr>
          <a:xfrm>
            <a:off x="4541031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Jan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truct.month.5"/>
          <p:cNvSpPr/>
          <p:nvPr/>
        </p:nvSpPr>
        <p:spPr>
          <a:xfrm>
            <a:off x="5140284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21" name="slot.month.5"/>
          <p:cNvSpPr/>
          <p:nvPr/>
        </p:nvSpPr>
        <p:spPr>
          <a:xfrm>
            <a:off x="5140284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Feb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month.6"/>
          <p:cNvSpPr/>
          <p:nvPr/>
        </p:nvSpPr>
        <p:spPr>
          <a:xfrm>
            <a:off x="5739537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23" name="slot.month.6"/>
          <p:cNvSpPr/>
          <p:nvPr/>
        </p:nvSpPr>
        <p:spPr>
          <a:xfrm>
            <a:off x="5739537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Mar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month.7"/>
          <p:cNvSpPr/>
          <p:nvPr/>
        </p:nvSpPr>
        <p:spPr>
          <a:xfrm>
            <a:off x="6338789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25" name="slot.month.7"/>
          <p:cNvSpPr/>
          <p:nvPr/>
        </p:nvSpPr>
        <p:spPr>
          <a:xfrm>
            <a:off x="6338789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Apr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truct.month.8"/>
          <p:cNvSpPr/>
          <p:nvPr/>
        </p:nvSpPr>
        <p:spPr>
          <a:xfrm>
            <a:off x="6938043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27" name="slot.month.8"/>
          <p:cNvSpPr/>
          <p:nvPr/>
        </p:nvSpPr>
        <p:spPr>
          <a:xfrm>
            <a:off x="6938043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May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month.9"/>
          <p:cNvSpPr/>
          <p:nvPr/>
        </p:nvSpPr>
        <p:spPr>
          <a:xfrm>
            <a:off x="7537294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29" name="slot.month.9"/>
          <p:cNvSpPr/>
          <p:nvPr/>
        </p:nvSpPr>
        <p:spPr>
          <a:xfrm>
            <a:off x="7537294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Jun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truct.month.10"/>
          <p:cNvSpPr/>
          <p:nvPr/>
        </p:nvSpPr>
        <p:spPr>
          <a:xfrm>
            <a:off x="8136548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1" name="slot.month.10"/>
          <p:cNvSpPr/>
          <p:nvPr/>
        </p:nvSpPr>
        <p:spPr>
          <a:xfrm>
            <a:off x="8136548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Jul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month.11"/>
          <p:cNvSpPr/>
          <p:nvPr/>
        </p:nvSpPr>
        <p:spPr>
          <a:xfrm>
            <a:off x="8735801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3" name="slot.month.11"/>
          <p:cNvSpPr/>
          <p:nvPr/>
        </p:nvSpPr>
        <p:spPr>
          <a:xfrm>
            <a:off x="8735801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Aug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ruct.month.12"/>
          <p:cNvSpPr/>
          <p:nvPr/>
        </p:nvSpPr>
        <p:spPr>
          <a:xfrm>
            <a:off x="9335053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5" name="slot.month.12"/>
          <p:cNvSpPr/>
          <p:nvPr/>
        </p:nvSpPr>
        <p:spPr>
          <a:xfrm>
            <a:off x="9335053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Sep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uct.month.13"/>
          <p:cNvSpPr/>
          <p:nvPr/>
        </p:nvSpPr>
        <p:spPr>
          <a:xfrm>
            <a:off x="9934307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7" name="slot.month.13"/>
          <p:cNvSpPr/>
          <p:nvPr/>
        </p:nvSpPr>
        <p:spPr>
          <a:xfrm>
            <a:off x="9934307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Oct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truct.month.14"/>
          <p:cNvSpPr/>
          <p:nvPr/>
        </p:nvSpPr>
        <p:spPr>
          <a:xfrm>
            <a:off x="10533559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39" name="slot.month.14"/>
          <p:cNvSpPr/>
          <p:nvPr/>
        </p:nvSpPr>
        <p:spPr>
          <a:xfrm>
            <a:off x="10533559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Nov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truct.month.15"/>
          <p:cNvSpPr/>
          <p:nvPr/>
        </p:nvSpPr>
        <p:spPr>
          <a:xfrm>
            <a:off x="11132812" y="1517904"/>
            <a:ext cx="58521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41" name="slot.month.15"/>
          <p:cNvSpPr/>
          <p:nvPr/>
        </p:nvSpPr>
        <p:spPr>
          <a:xfrm>
            <a:off x="11132812" y="1517904"/>
            <a:ext cx="58521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Dec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truct.lane.1.tab"/>
          <p:cNvSpPr/>
          <p:nvPr/>
        </p:nvSpPr>
        <p:spPr>
          <a:xfrm>
            <a:off x="457200" y="1938528"/>
            <a:ext cx="2148840" cy="640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43" name="struct.lane.1.disc"/>
          <p:cNvSpPr/>
          <p:nvPr/>
        </p:nvSpPr>
        <p:spPr>
          <a:xfrm>
            <a:off x="603504" y="2057400"/>
            <a:ext cx="402336" cy="40233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44" name="slot.lane.1.label"/>
          <p:cNvSpPr/>
          <p:nvPr/>
        </p:nvSpPr>
        <p:spPr>
          <a:xfrm>
            <a:off x="1097280" y="1938528"/>
            <a:ext cx="1444752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Delivery phases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truct.phase.1.bar"/>
          <p:cNvSpPr/>
          <p:nvPr/>
        </p:nvSpPr>
        <p:spPr>
          <a:xfrm>
            <a:off x="2743200" y="1938528"/>
            <a:ext cx="5349240" cy="64008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46" name="slot.phase.1.label"/>
          <p:cNvSpPr/>
          <p:nvPr/>
        </p:nvSpPr>
        <p:spPr>
          <a:xfrm>
            <a:off x="2834640" y="1938528"/>
            <a:ext cx="5166359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Assess, pilot in North, then brand one everywhere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truct.phase.2.bar"/>
          <p:cNvSpPr/>
          <p:nvPr/>
        </p:nvSpPr>
        <p:spPr>
          <a:xfrm>
            <a:off x="8183879" y="1938528"/>
            <a:ext cx="3520440" cy="6400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48" name="slot.phase.2.label"/>
          <p:cNvSpPr/>
          <p:nvPr/>
        </p:nvSpPr>
        <p:spPr>
          <a:xfrm>
            <a:off x="8275319" y="1938528"/>
            <a:ext cx="333756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Run, adding brands two and three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lot.lane.2.label"/>
          <p:cNvSpPr/>
          <p:nvPr/>
        </p:nvSpPr>
        <p:spPr>
          <a:xfrm>
            <a:off x="457200" y="2788920"/>
            <a:ext cx="214884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Gates and checkpoints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struct.axis"/>
          <p:cNvSpPr/>
          <p:nvPr/>
        </p:nvSpPr>
        <p:spPr>
          <a:xfrm>
            <a:off x="2743200" y="3776472"/>
            <a:ext cx="8961120" cy="182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cxnSp>
        <p:nvCxnSpPr>
          <p:cNvPr id="51" name="struct.milestone.1.drop"/>
          <p:cNvCxnSpPr/>
          <p:nvPr/>
        </p:nvCxnSpPr>
        <p:spPr>
          <a:xfrm>
            <a:off x="4241451" y="3858768"/>
            <a:ext cx="0" cy="393192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52" name="slot.milestone.1.label"/>
          <p:cNvSpPr/>
          <p:nvPr/>
        </p:nvSpPr>
        <p:spPr>
          <a:xfrm>
            <a:off x="3235611" y="4261104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Pilot gate · 18 Dec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signs North pilot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truct.milestone.1.mark"/>
          <p:cNvSpPr/>
          <p:nvPr/>
        </p:nvSpPr>
        <p:spPr>
          <a:xfrm>
            <a:off x="4168299" y="3712463"/>
            <a:ext cx="146304" cy="146304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cxnSp>
        <p:nvCxnSpPr>
          <p:cNvPr id="54" name="struct.milestone.2.drop"/>
          <p:cNvCxnSpPr/>
          <p:nvPr/>
        </p:nvCxnSpPr>
        <p:spPr>
          <a:xfrm>
            <a:off x="6039209" y="3282696"/>
            <a:ext cx="0" cy="429767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55" name="slot.milestone.2.label"/>
          <p:cNvSpPr/>
          <p:nvPr/>
        </p:nvSpPr>
        <p:spPr>
          <a:xfrm>
            <a:off x="5033369" y="2761488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b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Adoption check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Six regions on brand one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truct.milestone.2.mark"/>
          <p:cNvSpPr/>
          <p:nvPr/>
        </p:nvSpPr>
        <p:spPr>
          <a:xfrm>
            <a:off x="5966057" y="3712463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cxnSp>
        <p:nvCxnSpPr>
          <p:cNvPr id="57" name="struct.milestone.3.drop"/>
          <p:cNvCxnSpPr/>
          <p:nvPr/>
        </p:nvCxnSpPr>
        <p:spPr>
          <a:xfrm>
            <a:off x="7836967" y="3858768"/>
            <a:ext cx="0" cy="393192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58" name="slot.milestone.3.label"/>
          <p:cNvSpPr/>
          <p:nvPr/>
        </p:nvSpPr>
        <p:spPr>
          <a:xfrm>
            <a:off x="6831127" y="4261104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Brand two gate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clears brand two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truct.milestone.3.mark"/>
          <p:cNvSpPr/>
          <p:nvPr/>
        </p:nvSpPr>
        <p:spPr>
          <a:xfrm>
            <a:off x="7763815" y="3712463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cxnSp>
        <p:nvCxnSpPr>
          <p:cNvPr id="60" name="struct.milestone.4.drop"/>
          <p:cNvCxnSpPr/>
          <p:nvPr/>
        </p:nvCxnSpPr>
        <p:spPr>
          <a:xfrm>
            <a:off x="9634724" y="3282696"/>
            <a:ext cx="0" cy="429767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61" name="slot.milestone.4.label"/>
          <p:cNvSpPr/>
          <p:nvPr/>
        </p:nvSpPr>
        <p:spPr>
          <a:xfrm>
            <a:off x="8628885" y="2761488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b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Brand three · Sep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Three brands, six regions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milestone.4.mark"/>
          <p:cNvSpPr/>
          <p:nvPr/>
        </p:nvSpPr>
        <p:spPr>
          <a:xfrm>
            <a:off x="9561572" y="3712463"/>
            <a:ext cx="146304" cy="146304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cxnSp>
        <p:nvCxnSpPr>
          <p:cNvPr id="63" name="struct.milestone.5.drop"/>
          <p:cNvCxnSpPr/>
          <p:nvPr/>
        </p:nvCxnSpPr>
        <p:spPr>
          <a:xfrm>
            <a:off x="11432452" y="3886200"/>
            <a:ext cx="0" cy="365760"/>
          </a:xfrm>
          <a:prstGeom prst="straightConnector1">
            <a:avLst/>
          </a:prstGeom>
          <a:noFill/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64" name="slot.milestone.5.label"/>
          <p:cNvSpPr/>
          <p:nvPr/>
        </p:nvSpPr>
        <p:spPr>
          <a:xfrm>
            <a:off x="9902952" y="4261104"/>
            <a:ext cx="1828800" cy="51206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Run review · Dec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First yearly run review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truct.milestone.5.mark"/>
          <p:cNvSpPr/>
          <p:nvPr/>
        </p:nvSpPr>
        <p:spPr>
          <a:xfrm>
            <a:off x="11331868" y="3685031"/>
            <a:ext cx="201168" cy="201168"/>
          </a:xfrm>
          <a:prstGeom prst="diamond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66" name="struct.stat.1"/>
          <p:cNvSpPr/>
          <p:nvPr/>
        </p:nvSpPr>
        <p:spPr>
          <a:xfrm>
            <a:off x="2743200" y="5120640"/>
            <a:ext cx="1719072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67" name="slot.stat.1.value"/>
          <p:cNvSpPr/>
          <p:nvPr/>
        </p:nvSpPr>
        <p:spPr>
          <a:xfrm>
            <a:off x="2743200" y="5230368"/>
            <a:ext cx="1719072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lot.stat.1.label"/>
          <p:cNvSpPr/>
          <p:nvPr/>
        </p:nvSpPr>
        <p:spPr>
          <a:xfrm>
            <a:off x="2788920" y="5669280"/>
            <a:ext cx="162763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North pilot only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truct.stat.2"/>
          <p:cNvSpPr/>
          <p:nvPr/>
        </p:nvSpPr>
        <p:spPr>
          <a:xfrm>
            <a:off x="4553712" y="5120640"/>
            <a:ext cx="1719072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70" name="slot.stat.2.value"/>
          <p:cNvSpPr/>
          <p:nvPr/>
        </p:nvSpPr>
        <p:spPr>
          <a:xfrm>
            <a:off x="4553712" y="5230368"/>
            <a:ext cx="1719072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lot.stat.2.label"/>
          <p:cNvSpPr/>
          <p:nvPr/>
        </p:nvSpPr>
        <p:spPr>
          <a:xfrm>
            <a:off x="4599432" y="5669280"/>
            <a:ext cx="162763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All six regions live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truct.stat.3"/>
          <p:cNvSpPr/>
          <p:nvPr/>
        </p:nvSpPr>
        <p:spPr>
          <a:xfrm>
            <a:off x="6364224" y="5120640"/>
            <a:ext cx="1719072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73" name="slot.stat.3.value"/>
          <p:cNvSpPr/>
          <p:nvPr/>
        </p:nvSpPr>
        <p:spPr>
          <a:xfrm>
            <a:off x="6364224" y="5230368"/>
            <a:ext cx="1719072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lot.stat.3.label"/>
          <p:cNvSpPr/>
          <p:nvPr/>
        </p:nvSpPr>
        <p:spPr>
          <a:xfrm>
            <a:off x="6409944" y="5669280"/>
            <a:ext cx="162763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Brand two in field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truct.stat.4"/>
          <p:cNvSpPr/>
          <p:nvPr/>
        </p:nvSpPr>
        <p:spPr>
          <a:xfrm>
            <a:off x="8174736" y="5120640"/>
            <a:ext cx="1719072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76" name="slot.stat.4.value"/>
          <p:cNvSpPr/>
          <p:nvPr/>
        </p:nvSpPr>
        <p:spPr>
          <a:xfrm>
            <a:off x="8174736" y="5230368"/>
            <a:ext cx="1719072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lot.stat.4.label"/>
          <p:cNvSpPr/>
          <p:nvPr/>
        </p:nvSpPr>
        <p:spPr>
          <a:xfrm>
            <a:off x="8220456" y="5669280"/>
            <a:ext cx="162763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Brand three in field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truct.stat.5"/>
          <p:cNvSpPr/>
          <p:nvPr/>
        </p:nvSpPr>
        <p:spPr>
          <a:xfrm>
            <a:off x="9985248" y="5120640"/>
            <a:ext cx="1719072" cy="9601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 spcFirstLastPara="1" wrap="square" lIns="91433" tIns="91433" rIns="91433" bIns="91433" anchor="ctr" anchorCtr="0">
            <a:noAutofit/>
          </a:bodyPr>
          <a:lstStyle/>
          <a:p>
            <a:endParaRPr sz="1867"/>
          </a:p>
        </p:txBody>
      </p:sp>
      <p:sp>
        <p:nvSpPr>
          <p:cNvPr id="79" name="slot.stat.5.value"/>
          <p:cNvSpPr/>
          <p:nvPr/>
        </p:nvSpPr>
        <p:spPr>
          <a:xfrm>
            <a:off x="9985248" y="5230368"/>
            <a:ext cx="1719072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ctr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stat.5.label"/>
          <p:cNvSpPr/>
          <p:nvPr/>
        </p:nvSpPr>
        <p:spPr>
          <a:xfrm>
            <a:off x="10030968" y="5669280"/>
            <a:ext cx="1627631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Yearly run review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lot.lane.3.label"/>
          <p:cNvSpPr/>
          <p:nvPr/>
        </p:nvSpPr>
        <p:spPr>
          <a:xfrm>
            <a:off x="457200" y="5138928"/>
            <a:ext cx="214884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33" tIns="45700" rIns="91433" bIns="4570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Brands live in field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Brand one reaches six regions in January,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all three brands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by September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lot.lane.1.icon"/>
          <p:cNvSpPr/>
          <p:nvPr/>
        </p:nvSpPr>
        <p:spPr>
          <a:xfrm>
            <a:off x="685800" y="21396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9000"/>
                </a:moveTo>
                <a:cubicBezTo>
                  <a:pt x="9000" y="20657"/>
                  <a:pt x="7657" y="22000"/>
                  <a:pt x="6000" y="22000"/>
                </a:cubicBezTo>
                <a:cubicBezTo>
                  <a:pt x="4343" y="22000"/>
                  <a:pt x="3000" y="20657"/>
                  <a:pt x="3000" y="19000"/>
                </a:cubicBezTo>
                <a:cubicBezTo>
                  <a:pt x="3000" y="17343"/>
                  <a:pt x="4343" y="16000"/>
                  <a:pt x="6000" y="16000"/>
                </a:cubicBezTo>
                <a:cubicBezTo>
                  <a:pt x="7657" y="16000"/>
                  <a:pt x="9000" y="17343"/>
                  <a:pt x="9000" y="19000"/>
                </a:cubicBezTo>
                <a:close/>
                <a:moveTo>
                  <a:pt x="9000" y="19000"/>
                </a:moveTo>
                <a:lnTo>
                  <a:pt x="17500" y="19000"/>
                </a:lnTo>
                <a:cubicBezTo>
                  <a:pt x="19433" y="19000"/>
                  <a:pt x="21000" y="17433"/>
                  <a:pt x="21000" y="15500"/>
                </a:cubicBezTo>
                <a:cubicBezTo>
                  <a:pt x="21000" y="13567"/>
                  <a:pt x="19433" y="12000"/>
                  <a:pt x="17500" y="12000"/>
                </a:cubicBezTo>
                <a:lnTo>
                  <a:pt x="6500" y="12000"/>
                </a:lnTo>
                <a:cubicBezTo>
                  <a:pt x="4567" y="12000"/>
                  <a:pt x="3000" y="10433"/>
                  <a:pt x="3000" y="8500"/>
                </a:cubicBezTo>
                <a:cubicBezTo>
                  <a:pt x="3000" y="6567"/>
                  <a:pt x="4567" y="5000"/>
                  <a:pt x="6500" y="5000"/>
                </a:cubicBezTo>
                <a:lnTo>
                  <a:pt x="15000" y="5000"/>
                </a:lnTo>
                <a:moveTo>
                  <a:pt x="21000" y="5000"/>
                </a:moveTo>
                <a:cubicBezTo>
                  <a:pt x="21000" y="6657"/>
                  <a:pt x="19657" y="8000"/>
                  <a:pt x="18000" y="8000"/>
                </a:cubicBezTo>
                <a:cubicBezTo>
                  <a:pt x="16343" y="8000"/>
                  <a:pt x="15000" y="6657"/>
                  <a:pt x="15000" y="5000"/>
                </a:cubicBezTo>
                <a:cubicBezTo>
                  <a:pt x="15000" y="3343"/>
                  <a:pt x="16343" y="2000"/>
                  <a:pt x="18000" y="2000"/>
                </a:cubicBezTo>
                <a:cubicBezTo>
                  <a:pt x="19657" y="2000"/>
                  <a:pt x="21000" y="3343"/>
                  <a:pt x="21000" y="5000"/>
                </a:cubicBezTo>
                <a:close/>
              </a:path>
            </a:pathLst>
          </a:custGeom>
          <a:noFill/>
          <a:ln w="1968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4" name="s34.keydates"/>
          <p:cNvSpPr txBox="1"/>
          <p:nvPr/>
        </p:nvSpPr>
        <p:spPr>
          <a:xfrm>
            <a:off x="548640" y="3246120"/>
            <a:ext cx="2011680" cy="182880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Kickoff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2 Nov 2026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North pilot gate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18 Dec 2026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Six regions live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22 Jan 2027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Brand three live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Sep 2027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overnance-model:forum-calendars-escalation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ctr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Four standing forums settle any brief escalation within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eight days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ot.escalation.label"/>
          <p:cNvSpPr txBox="1"/>
          <p:nvPr/>
        </p:nvSpPr>
        <p:spPr>
          <a:xfrm>
            <a:off x="9278971" y="896112"/>
            <a:ext cx="2513976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Escalation ladder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" name="struct.divider"/>
          <p:cNvCxnSpPr>
            <a:cxnSpLocks/>
          </p:cNvCxnSpPr>
          <p:nvPr/>
        </p:nvCxnSpPr>
        <p:spPr>
          <a:xfrm>
            <a:off x="9064795" y="845746"/>
            <a:ext cx="0" cy="542006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5" name="slot.cadence.label"/>
          <p:cNvSpPr txBox="1"/>
          <p:nvPr/>
        </p:nvSpPr>
        <p:spPr>
          <a:xfrm>
            <a:off x="457200" y="896112"/>
            <a:ext cx="8392109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b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Meeting rhythm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" name="struct.cadence.rule"/>
          <p:cNvCxnSpPr>
            <a:cxnSpLocks/>
          </p:cNvCxnSpPr>
          <p:nvPr/>
        </p:nvCxnSpPr>
        <p:spPr>
          <a:xfrm>
            <a:off x="458573" y="1240127"/>
            <a:ext cx="8389225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  <a:effectLst/>
        </p:spPr>
      </p:cxnSp>
      <p:cxnSp>
        <p:nvCxnSpPr>
          <p:cNvPr id="7" name="struct.escalation.rule"/>
          <p:cNvCxnSpPr>
            <a:cxnSpLocks/>
          </p:cNvCxnSpPr>
          <p:nvPr/>
        </p:nvCxnSpPr>
        <p:spPr>
          <a:xfrm>
            <a:off x="9281784" y="1240127"/>
            <a:ext cx="2513976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  <a:effectLst/>
        </p:spPr>
      </p:cxnSp>
      <p:cxnSp>
        <p:nvCxnSpPr>
          <p:cNvPr id="8" name="struct.forum.divider.3"/>
          <p:cNvCxnSpPr/>
          <p:nvPr/>
        </p:nvCxnSpPr>
        <p:spPr>
          <a:xfrm>
            <a:off x="6698455" y="1344168"/>
            <a:ext cx="0" cy="355701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9" name="struct.forum.divider.2"/>
          <p:cNvCxnSpPr/>
          <p:nvPr/>
        </p:nvCxnSpPr>
        <p:spPr>
          <a:xfrm>
            <a:off x="4507284" y="1344168"/>
            <a:ext cx="0" cy="355701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0" name="struct.forum.divider.1"/>
          <p:cNvCxnSpPr/>
          <p:nvPr/>
        </p:nvCxnSpPr>
        <p:spPr>
          <a:xfrm>
            <a:off x="2316113" y="1344168"/>
            <a:ext cx="0" cy="3557016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11" name="slot.forum.2.name"/>
          <p:cNvSpPr/>
          <p:nvPr/>
        </p:nvSpPr>
        <p:spPr>
          <a:xfrm>
            <a:off x="2437257" y="1343170"/>
            <a:ext cx="1948885" cy="341551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384048" tIns="18288" rIns="73152" bIns="18288" wrap="square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Delivery board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lot.forum.3.name"/>
          <p:cNvSpPr/>
          <p:nvPr/>
        </p:nvSpPr>
        <p:spPr>
          <a:xfrm>
            <a:off x="4628428" y="1343170"/>
            <a:ext cx="1948884" cy="341551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384048" tIns="18288" rIns="73152" bIns="18288" wrap="square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Brief review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lot.forum.4.name"/>
          <p:cNvSpPr/>
          <p:nvPr/>
        </p:nvSpPr>
        <p:spPr>
          <a:xfrm>
            <a:off x="6819597" y="1343170"/>
            <a:ext cx="2028200" cy="341551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384048" tIns="18288" rIns="73152" bIns="18288" wrap="square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Squad stand-up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lot.forum.1.name"/>
          <p:cNvSpPr/>
          <p:nvPr/>
        </p:nvSpPr>
        <p:spPr>
          <a:xfrm>
            <a:off x="458573" y="1343170"/>
            <a:ext cx="1736397" cy="341551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lIns="384048" tIns="18288" rIns="73152" bIns="18288" wrap="square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Sponsor council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truct.forum.1.day.1"/>
          <p:cNvSpPr txBox="1"/>
          <p:nvPr/>
        </p:nvSpPr>
        <p:spPr>
          <a:xfrm>
            <a:off x="55628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truct.forum.1.day.2"/>
          <p:cNvSpPr txBox="1"/>
          <p:nvPr/>
        </p:nvSpPr>
        <p:spPr>
          <a:xfrm>
            <a:off x="781451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ruct.forum.1.day.3"/>
          <p:cNvSpPr txBox="1"/>
          <p:nvPr/>
        </p:nvSpPr>
        <p:spPr>
          <a:xfrm>
            <a:off x="1006616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uct.forum.1.day.4"/>
          <p:cNvSpPr txBox="1"/>
          <p:nvPr/>
        </p:nvSpPr>
        <p:spPr>
          <a:xfrm>
            <a:off x="123178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truct.forum.1.day.5"/>
          <p:cNvSpPr txBox="1"/>
          <p:nvPr/>
        </p:nvSpPr>
        <p:spPr>
          <a:xfrm>
            <a:off x="145694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truct.forum.1.day.6"/>
          <p:cNvSpPr txBox="1"/>
          <p:nvPr/>
        </p:nvSpPr>
        <p:spPr>
          <a:xfrm>
            <a:off x="168211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truct.forum.1.day.7"/>
          <p:cNvSpPr txBox="1"/>
          <p:nvPr/>
        </p:nvSpPr>
        <p:spPr>
          <a:xfrm>
            <a:off x="190727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forum.2.day.1"/>
          <p:cNvSpPr txBox="1"/>
          <p:nvPr/>
        </p:nvSpPr>
        <p:spPr>
          <a:xfrm>
            <a:off x="272526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truct.forum.2.day.2"/>
          <p:cNvSpPr txBox="1"/>
          <p:nvPr/>
        </p:nvSpPr>
        <p:spPr>
          <a:xfrm>
            <a:off x="295042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truct.forum.2.day.3"/>
          <p:cNvSpPr txBox="1"/>
          <p:nvPr/>
        </p:nvSpPr>
        <p:spPr>
          <a:xfrm>
            <a:off x="317559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truct.forum.2.day.4"/>
          <p:cNvSpPr txBox="1"/>
          <p:nvPr/>
        </p:nvSpPr>
        <p:spPr>
          <a:xfrm>
            <a:off x="3400754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truct.forum.2.day.5"/>
          <p:cNvSpPr txBox="1"/>
          <p:nvPr/>
        </p:nvSpPr>
        <p:spPr>
          <a:xfrm>
            <a:off x="362592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truct.forum.2.day.6"/>
          <p:cNvSpPr txBox="1"/>
          <p:nvPr/>
        </p:nvSpPr>
        <p:spPr>
          <a:xfrm>
            <a:off x="385108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forum.2.day.7"/>
          <p:cNvSpPr txBox="1"/>
          <p:nvPr/>
        </p:nvSpPr>
        <p:spPr>
          <a:xfrm>
            <a:off x="407625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truct.forum.3.day.1"/>
          <p:cNvSpPr txBox="1"/>
          <p:nvPr/>
        </p:nvSpPr>
        <p:spPr>
          <a:xfrm>
            <a:off x="489423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truct.forum.3.day.2"/>
          <p:cNvSpPr txBox="1"/>
          <p:nvPr/>
        </p:nvSpPr>
        <p:spPr>
          <a:xfrm>
            <a:off x="511940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truct.forum.3.day.3"/>
          <p:cNvSpPr txBox="1"/>
          <p:nvPr/>
        </p:nvSpPr>
        <p:spPr>
          <a:xfrm>
            <a:off x="534456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forum.3.day.4"/>
          <p:cNvSpPr txBox="1"/>
          <p:nvPr/>
        </p:nvSpPr>
        <p:spPr>
          <a:xfrm>
            <a:off x="5569729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truct.forum.3.day.5"/>
          <p:cNvSpPr txBox="1"/>
          <p:nvPr/>
        </p:nvSpPr>
        <p:spPr>
          <a:xfrm>
            <a:off x="5794894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ruct.forum.3.day.6"/>
          <p:cNvSpPr txBox="1"/>
          <p:nvPr/>
        </p:nvSpPr>
        <p:spPr>
          <a:xfrm>
            <a:off x="6020059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truct.forum.3.day.7"/>
          <p:cNvSpPr txBox="1"/>
          <p:nvPr/>
        </p:nvSpPr>
        <p:spPr>
          <a:xfrm>
            <a:off x="624522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uct.forum.4.day.1"/>
          <p:cNvSpPr txBox="1"/>
          <p:nvPr/>
        </p:nvSpPr>
        <p:spPr>
          <a:xfrm>
            <a:off x="7063211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truct.forum.4.day.2"/>
          <p:cNvSpPr txBox="1"/>
          <p:nvPr/>
        </p:nvSpPr>
        <p:spPr>
          <a:xfrm>
            <a:off x="7288376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truct.forum.4.day.3"/>
          <p:cNvSpPr txBox="1"/>
          <p:nvPr/>
        </p:nvSpPr>
        <p:spPr>
          <a:xfrm>
            <a:off x="7513541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truct.forum.4.day.4"/>
          <p:cNvSpPr txBox="1"/>
          <p:nvPr/>
        </p:nvSpPr>
        <p:spPr>
          <a:xfrm>
            <a:off x="773870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truct.forum.4.day.5"/>
          <p:cNvSpPr txBox="1"/>
          <p:nvPr/>
        </p:nvSpPr>
        <p:spPr>
          <a:xfrm>
            <a:off x="796387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truct.forum.4.day.6"/>
          <p:cNvSpPr txBox="1"/>
          <p:nvPr/>
        </p:nvSpPr>
        <p:spPr>
          <a:xfrm>
            <a:off x="8189035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truct.forum.4.day.7"/>
          <p:cNvSpPr txBox="1"/>
          <p:nvPr/>
        </p:nvSpPr>
        <p:spPr>
          <a:xfrm>
            <a:off x="8414200" y="1771160"/>
            <a:ext cx="189983" cy="14630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</a:t>
            </a:r>
            <a:endParaRPr lang="en-US" sz="8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lot.forum.1.day.1.1"/>
          <p:cNvSpPr/>
          <p:nvPr/>
        </p:nvSpPr>
        <p:spPr>
          <a:xfrm>
            <a:off x="56089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4" name="slot.forum.1.day.1.2"/>
          <p:cNvSpPr/>
          <p:nvPr/>
        </p:nvSpPr>
        <p:spPr>
          <a:xfrm>
            <a:off x="78606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5" name="slot.forum.1.day.1.3"/>
          <p:cNvSpPr/>
          <p:nvPr/>
        </p:nvSpPr>
        <p:spPr>
          <a:xfrm>
            <a:off x="1011226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6" name="slot.forum.1.day.1.4"/>
          <p:cNvSpPr/>
          <p:nvPr/>
        </p:nvSpPr>
        <p:spPr>
          <a:xfrm>
            <a:off x="123639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7" name="slot.forum.1.day.1.5"/>
          <p:cNvSpPr/>
          <p:nvPr/>
        </p:nvSpPr>
        <p:spPr>
          <a:xfrm>
            <a:off x="146155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8" name="slot.forum.1.day.1.6"/>
          <p:cNvSpPr/>
          <p:nvPr/>
        </p:nvSpPr>
        <p:spPr>
          <a:xfrm>
            <a:off x="168672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49" name="slot.forum.1.day.1.7"/>
          <p:cNvSpPr/>
          <p:nvPr/>
        </p:nvSpPr>
        <p:spPr>
          <a:xfrm>
            <a:off x="191188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0" name="slot.forum.1.day.2.1"/>
          <p:cNvSpPr/>
          <p:nvPr/>
        </p:nvSpPr>
        <p:spPr>
          <a:xfrm>
            <a:off x="56089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1" name="slot.forum.1.day.2.2"/>
          <p:cNvSpPr/>
          <p:nvPr/>
        </p:nvSpPr>
        <p:spPr>
          <a:xfrm>
            <a:off x="78606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2" name="slot.forum.1.day.2.3"/>
          <p:cNvSpPr/>
          <p:nvPr/>
        </p:nvSpPr>
        <p:spPr>
          <a:xfrm>
            <a:off x="1011226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3" name="slot.forum.1.day.2.4"/>
          <p:cNvSpPr/>
          <p:nvPr/>
        </p:nvSpPr>
        <p:spPr>
          <a:xfrm>
            <a:off x="123639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4" name="slot.forum.1.day.2.5"/>
          <p:cNvSpPr/>
          <p:nvPr/>
        </p:nvSpPr>
        <p:spPr>
          <a:xfrm>
            <a:off x="146155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5" name="slot.forum.1.day.2.6"/>
          <p:cNvSpPr/>
          <p:nvPr/>
        </p:nvSpPr>
        <p:spPr>
          <a:xfrm>
            <a:off x="168672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6" name="slot.forum.1.day.2.7"/>
          <p:cNvSpPr/>
          <p:nvPr/>
        </p:nvSpPr>
        <p:spPr>
          <a:xfrm>
            <a:off x="191188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7" name="slot.forum.1.day.3.1"/>
          <p:cNvSpPr/>
          <p:nvPr/>
        </p:nvSpPr>
        <p:spPr>
          <a:xfrm>
            <a:off x="56089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8" name="slot.forum.1.day.3.2"/>
          <p:cNvSpPr/>
          <p:nvPr/>
        </p:nvSpPr>
        <p:spPr>
          <a:xfrm>
            <a:off x="78606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9" name="slot.forum.1.day.3.3"/>
          <p:cNvSpPr/>
          <p:nvPr/>
        </p:nvSpPr>
        <p:spPr>
          <a:xfrm>
            <a:off x="1011226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0" name="slot.forum.1.day.3.4"/>
          <p:cNvSpPr/>
          <p:nvPr/>
        </p:nvSpPr>
        <p:spPr>
          <a:xfrm>
            <a:off x="123639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1" name="slot.forum.1.day.3.5"/>
          <p:cNvSpPr/>
          <p:nvPr/>
        </p:nvSpPr>
        <p:spPr>
          <a:xfrm>
            <a:off x="146155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2" name="slot.forum.1.day.3.6"/>
          <p:cNvSpPr/>
          <p:nvPr/>
        </p:nvSpPr>
        <p:spPr>
          <a:xfrm>
            <a:off x="168672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3" name="slot.forum.1.day.3.7"/>
          <p:cNvSpPr/>
          <p:nvPr/>
        </p:nvSpPr>
        <p:spPr>
          <a:xfrm>
            <a:off x="191188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4" name="slot.forum.1.day.4.1"/>
          <p:cNvSpPr/>
          <p:nvPr/>
        </p:nvSpPr>
        <p:spPr>
          <a:xfrm>
            <a:off x="56089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5" name="slot.forum.1.day.4.2"/>
          <p:cNvSpPr/>
          <p:nvPr/>
        </p:nvSpPr>
        <p:spPr>
          <a:xfrm>
            <a:off x="78606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6" name="slot.forum.1.day.4.3"/>
          <p:cNvSpPr/>
          <p:nvPr/>
        </p:nvSpPr>
        <p:spPr>
          <a:xfrm>
            <a:off x="1011226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7" name="slot.forum.1.day.4.4"/>
          <p:cNvSpPr/>
          <p:nvPr/>
        </p:nvSpPr>
        <p:spPr>
          <a:xfrm>
            <a:off x="123639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8" name="slot.forum.1.day.4.5"/>
          <p:cNvSpPr/>
          <p:nvPr/>
        </p:nvSpPr>
        <p:spPr>
          <a:xfrm>
            <a:off x="146155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69" name="slot.forum.1.day.4.6"/>
          <p:cNvSpPr/>
          <p:nvPr/>
        </p:nvSpPr>
        <p:spPr>
          <a:xfrm>
            <a:off x="168672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0" name="slot.forum.1.day.4.7"/>
          <p:cNvSpPr/>
          <p:nvPr/>
        </p:nvSpPr>
        <p:spPr>
          <a:xfrm>
            <a:off x="191188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1" name="slot.forum.2.day.1.1"/>
          <p:cNvSpPr/>
          <p:nvPr/>
        </p:nvSpPr>
        <p:spPr>
          <a:xfrm>
            <a:off x="272987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2" name="slot.forum.2.day.1.2"/>
          <p:cNvSpPr/>
          <p:nvPr/>
        </p:nvSpPr>
        <p:spPr>
          <a:xfrm>
            <a:off x="295503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3" name="slot.forum.2.day.1.3"/>
          <p:cNvSpPr/>
          <p:nvPr/>
        </p:nvSpPr>
        <p:spPr>
          <a:xfrm>
            <a:off x="318020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4" name="slot.forum.2.day.1.4"/>
          <p:cNvSpPr/>
          <p:nvPr/>
        </p:nvSpPr>
        <p:spPr>
          <a:xfrm>
            <a:off x="3405364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5" name="slot.forum.2.day.1.5"/>
          <p:cNvSpPr/>
          <p:nvPr/>
        </p:nvSpPr>
        <p:spPr>
          <a:xfrm>
            <a:off x="3630529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6" name="slot.forum.2.day.1.6"/>
          <p:cNvSpPr/>
          <p:nvPr/>
        </p:nvSpPr>
        <p:spPr>
          <a:xfrm>
            <a:off x="385569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7" name="slot.forum.2.day.1.7"/>
          <p:cNvSpPr/>
          <p:nvPr/>
        </p:nvSpPr>
        <p:spPr>
          <a:xfrm>
            <a:off x="408086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8" name="slot.forum.2.day.2.1"/>
          <p:cNvSpPr/>
          <p:nvPr/>
        </p:nvSpPr>
        <p:spPr>
          <a:xfrm>
            <a:off x="272987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79" name="slot.forum.2.day.2.2"/>
          <p:cNvSpPr/>
          <p:nvPr/>
        </p:nvSpPr>
        <p:spPr>
          <a:xfrm>
            <a:off x="295503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0" name="slot.forum.2.day.2.3"/>
          <p:cNvSpPr/>
          <p:nvPr/>
        </p:nvSpPr>
        <p:spPr>
          <a:xfrm>
            <a:off x="318020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1" name="slot.forum.2.day.2.4"/>
          <p:cNvSpPr/>
          <p:nvPr/>
        </p:nvSpPr>
        <p:spPr>
          <a:xfrm>
            <a:off x="3405364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2" name="slot.forum.2.day.2.5"/>
          <p:cNvSpPr/>
          <p:nvPr/>
        </p:nvSpPr>
        <p:spPr>
          <a:xfrm>
            <a:off x="3630529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3" name="slot.forum.2.day.2.6"/>
          <p:cNvSpPr/>
          <p:nvPr/>
        </p:nvSpPr>
        <p:spPr>
          <a:xfrm>
            <a:off x="385569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4" name="slot.forum.2.day.2.7"/>
          <p:cNvSpPr/>
          <p:nvPr/>
        </p:nvSpPr>
        <p:spPr>
          <a:xfrm>
            <a:off x="408086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5" name="slot.forum.2.day.3.1"/>
          <p:cNvSpPr/>
          <p:nvPr/>
        </p:nvSpPr>
        <p:spPr>
          <a:xfrm>
            <a:off x="272987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6" name="slot.forum.2.day.3.2"/>
          <p:cNvSpPr/>
          <p:nvPr/>
        </p:nvSpPr>
        <p:spPr>
          <a:xfrm>
            <a:off x="295503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7" name="slot.forum.2.day.3.3"/>
          <p:cNvSpPr/>
          <p:nvPr/>
        </p:nvSpPr>
        <p:spPr>
          <a:xfrm>
            <a:off x="318020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8" name="slot.forum.2.day.3.4"/>
          <p:cNvSpPr/>
          <p:nvPr/>
        </p:nvSpPr>
        <p:spPr>
          <a:xfrm>
            <a:off x="3405364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89" name="slot.forum.2.day.3.5"/>
          <p:cNvSpPr/>
          <p:nvPr/>
        </p:nvSpPr>
        <p:spPr>
          <a:xfrm>
            <a:off x="3630529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0" name="slot.forum.2.day.3.6"/>
          <p:cNvSpPr/>
          <p:nvPr/>
        </p:nvSpPr>
        <p:spPr>
          <a:xfrm>
            <a:off x="385569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1" name="slot.forum.2.day.3.7"/>
          <p:cNvSpPr/>
          <p:nvPr/>
        </p:nvSpPr>
        <p:spPr>
          <a:xfrm>
            <a:off x="408086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2" name="slot.forum.2.day.4.1"/>
          <p:cNvSpPr/>
          <p:nvPr/>
        </p:nvSpPr>
        <p:spPr>
          <a:xfrm>
            <a:off x="272987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3" name="slot.forum.2.day.4.2"/>
          <p:cNvSpPr/>
          <p:nvPr/>
        </p:nvSpPr>
        <p:spPr>
          <a:xfrm>
            <a:off x="295503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4" name="slot.forum.2.day.4.3"/>
          <p:cNvSpPr/>
          <p:nvPr/>
        </p:nvSpPr>
        <p:spPr>
          <a:xfrm>
            <a:off x="318020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5" name="slot.forum.2.day.4.4"/>
          <p:cNvSpPr/>
          <p:nvPr/>
        </p:nvSpPr>
        <p:spPr>
          <a:xfrm>
            <a:off x="3405364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6" name="slot.forum.2.day.4.5"/>
          <p:cNvSpPr/>
          <p:nvPr/>
        </p:nvSpPr>
        <p:spPr>
          <a:xfrm>
            <a:off x="3630529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7" name="slot.forum.2.day.4.6"/>
          <p:cNvSpPr/>
          <p:nvPr/>
        </p:nvSpPr>
        <p:spPr>
          <a:xfrm>
            <a:off x="385569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8" name="slot.forum.2.day.4.7"/>
          <p:cNvSpPr/>
          <p:nvPr/>
        </p:nvSpPr>
        <p:spPr>
          <a:xfrm>
            <a:off x="408086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99" name="slot.forum.3.day.1.1"/>
          <p:cNvSpPr/>
          <p:nvPr/>
        </p:nvSpPr>
        <p:spPr>
          <a:xfrm>
            <a:off x="489884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0" name="slot.forum.3.day.1.2"/>
          <p:cNvSpPr/>
          <p:nvPr/>
        </p:nvSpPr>
        <p:spPr>
          <a:xfrm>
            <a:off x="512401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1" name="slot.forum.3.day.1.3"/>
          <p:cNvSpPr/>
          <p:nvPr/>
        </p:nvSpPr>
        <p:spPr>
          <a:xfrm>
            <a:off x="534917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2" name="slot.forum.3.day.1.4"/>
          <p:cNvSpPr/>
          <p:nvPr/>
        </p:nvSpPr>
        <p:spPr>
          <a:xfrm>
            <a:off x="5574339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3" name="slot.forum.3.day.1.5"/>
          <p:cNvSpPr/>
          <p:nvPr/>
        </p:nvSpPr>
        <p:spPr>
          <a:xfrm>
            <a:off x="5799504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4" name="slot.forum.3.day.1.6"/>
          <p:cNvSpPr/>
          <p:nvPr/>
        </p:nvSpPr>
        <p:spPr>
          <a:xfrm>
            <a:off x="6024669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5" name="slot.forum.3.day.1.7"/>
          <p:cNvSpPr/>
          <p:nvPr/>
        </p:nvSpPr>
        <p:spPr>
          <a:xfrm>
            <a:off x="6249834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6" name="slot.forum.3.day.2.1"/>
          <p:cNvSpPr/>
          <p:nvPr/>
        </p:nvSpPr>
        <p:spPr>
          <a:xfrm>
            <a:off x="489884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7" name="slot.forum.3.day.2.2"/>
          <p:cNvSpPr/>
          <p:nvPr/>
        </p:nvSpPr>
        <p:spPr>
          <a:xfrm>
            <a:off x="512401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8" name="slot.forum.3.day.2.3"/>
          <p:cNvSpPr/>
          <p:nvPr/>
        </p:nvSpPr>
        <p:spPr>
          <a:xfrm>
            <a:off x="534917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09" name="slot.forum.3.day.2.4"/>
          <p:cNvSpPr/>
          <p:nvPr/>
        </p:nvSpPr>
        <p:spPr>
          <a:xfrm>
            <a:off x="5574339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0" name="slot.forum.3.day.2.5"/>
          <p:cNvSpPr/>
          <p:nvPr/>
        </p:nvSpPr>
        <p:spPr>
          <a:xfrm>
            <a:off x="5799504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1" name="slot.forum.3.day.2.6"/>
          <p:cNvSpPr/>
          <p:nvPr/>
        </p:nvSpPr>
        <p:spPr>
          <a:xfrm>
            <a:off x="6024669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2" name="slot.forum.3.day.2.7"/>
          <p:cNvSpPr/>
          <p:nvPr/>
        </p:nvSpPr>
        <p:spPr>
          <a:xfrm>
            <a:off x="6249834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3" name="slot.forum.3.day.3.1"/>
          <p:cNvSpPr/>
          <p:nvPr/>
        </p:nvSpPr>
        <p:spPr>
          <a:xfrm>
            <a:off x="489884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4" name="slot.forum.3.day.3.2"/>
          <p:cNvSpPr/>
          <p:nvPr/>
        </p:nvSpPr>
        <p:spPr>
          <a:xfrm>
            <a:off x="512401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5" name="slot.forum.3.day.3.3"/>
          <p:cNvSpPr/>
          <p:nvPr/>
        </p:nvSpPr>
        <p:spPr>
          <a:xfrm>
            <a:off x="534917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6" name="slot.forum.3.day.3.4"/>
          <p:cNvSpPr/>
          <p:nvPr/>
        </p:nvSpPr>
        <p:spPr>
          <a:xfrm>
            <a:off x="5574339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7" name="slot.forum.3.day.3.5"/>
          <p:cNvSpPr/>
          <p:nvPr/>
        </p:nvSpPr>
        <p:spPr>
          <a:xfrm>
            <a:off x="5799504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8" name="slot.forum.3.day.3.6"/>
          <p:cNvSpPr/>
          <p:nvPr/>
        </p:nvSpPr>
        <p:spPr>
          <a:xfrm>
            <a:off x="6024669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9" name="slot.forum.3.day.3.7"/>
          <p:cNvSpPr/>
          <p:nvPr/>
        </p:nvSpPr>
        <p:spPr>
          <a:xfrm>
            <a:off x="6249834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0" name="slot.forum.3.day.4.1"/>
          <p:cNvSpPr/>
          <p:nvPr/>
        </p:nvSpPr>
        <p:spPr>
          <a:xfrm>
            <a:off x="489884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1" name="slot.forum.3.day.4.2"/>
          <p:cNvSpPr/>
          <p:nvPr/>
        </p:nvSpPr>
        <p:spPr>
          <a:xfrm>
            <a:off x="512401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2" name="slot.forum.3.day.4.3"/>
          <p:cNvSpPr/>
          <p:nvPr/>
        </p:nvSpPr>
        <p:spPr>
          <a:xfrm>
            <a:off x="534917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3" name="slot.forum.3.day.4.4"/>
          <p:cNvSpPr/>
          <p:nvPr/>
        </p:nvSpPr>
        <p:spPr>
          <a:xfrm>
            <a:off x="5574339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4" name="slot.forum.3.day.4.5"/>
          <p:cNvSpPr/>
          <p:nvPr/>
        </p:nvSpPr>
        <p:spPr>
          <a:xfrm>
            <a:off x="5799504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5" name="slot.forum.3.day.4.6"/>
          <p:cNvSpPr/>
          <p:nvPr/>
        </p:nvSpPr>
        <p:spPr>
          <a:xfrm>
            <a:off x="6024669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6" name="slot.forum.3.day.4.7"/>
          <p:cNvSpPr/>
          <p:nvPr/>
        </p:nvSpPr>
        <p:spPr>
          <a:xfrm>
            <a:off x="6249834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7" name="slot.forum.4.day.1.1"/>
          <p:cNvSpPr/>
          <p:nvPr/>
        </p:nvSpPr>
        <p:spPr>
          <a:xfrm>
            <a:off x="706782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8" name="slot.forum.4.day.1.2"/>
          <p:cNvSpPr/>
          <p:nvPr/>
        </p:nvSpPr>
        <p:spPr>
          <a:xfrm>
            <a:off x="729298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29" name="slot.forum.4.day.1.3"/>
          <p:cNvSpPr/>
          <p:nvPr/>
        </p:nvSpPr>
        <p:spPr>
          <a:xfrm>
            <a:off x="751815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0" name="slot.forum.4.day.1.4"/>
          <p:cNvSpPr/>
          <p:nvPr/>
        </p:nvSpPr>
        <p:spPr>
          <a:xfrm>
            <a:off x="7743315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1" name="slot.forum.4.day.1.5"/>
          <p:cNvSpPr/>
          <p:nvPr/>
        </p:nvSpPr>
        <p:spPr>
          <a:xfrm>
            <a:off x="7968479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2" name="slot.forum.4.day.1.6"/>
          <p:cNvSpPr/>
          <p:nvPr/>
        </p:nvSpPr>
        <p:spPr>
          <a:xfrm>
            <a:off x="8193644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3" name="slot.forum.4.day.1.7"/>
          <p:cNvSpPr/>
          <p:nvPr/>
        </p:nvSpPr>
        <p:spPr>
          <a:xfrm>
            <a:off x="8418810" y="195681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4" name="slot.forum.4.day.2.1"/>
          <p:cNvSpPr/>
          <p:nvPr/>
        </p:nvSpPr>
        <p:spPr>
          <a:xfrm>
            <a:off x="706782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5" name="slot.forum.4.day.2.2"/>
          <p:cNvSpPr/>
          <p:nvPr/>
        </p:nvSpPr>
        <p:spPr>
          <a:xfrm>
            <a:off x="729298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6" name="slot.forum.4.day.2.3"/>
          <p:cNvSpPr/>
          <p:nvPr/>
        </p:nvSpPr>
        <p:spPr>
          <a:xfrm>
            <a:off x="751815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7" name="slot.forum.4.day.2.4"/>
          <p:cNvSpPr/>
          <p:nvPr/>
        </p:nvSpPr>
        <p:spPr>
          <a:xfrm>
            <a:off x="7743315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8" name="slot.forum.4.day.2.5"/>
          <p:cNvSpPr/>
          <p:nvPr/>
        </p:nvSpPr>
        <p:spPr>
          <a:xfrm>
            <a:off x="7968479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39" name="slot.forum.4.day.2.6"/>
          <p:cNvSpPr/>
          <p:nvPr/>
        </p:nvSpPr>
        <p:spPr>
          <a:xfrm>
            <a:off x="8193644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0" name="slot.forum.4.day.2.7"/>
          <p:cNvSpPr/>
          <p:nvPr/>
        </p:nvSpPr>
        <p:spPr>
          <a:xfrm>
            <a:off x="8418810" y="223113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1" name="slot.forum.4.day.3.1"/>
          <p:cNvSpPr/>
          <p:nvPr/>
        </p:nvSpPr>
        <p:spPr>
          <a:xfrm>
            <a:off x="706782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2" name="slot.forum.4.day.3.2"/>
          <p:cNvSpPr/>
          <p:nvPr/>
        </p:nvSpPr>
        <p:spPr>
          <a:xfrm>
            <a:off x="729298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3" name="slot.forum.4.day.3.3"/>
          <p:cNvSpPr/>
          <p:nvPr/>
        </p:nvSpPr>
        <p:spPr>
          <a:xfrm>
            <a:off x="751815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4" name="slot.forum.4.day.3.4"/>
          <p:cNvSpPr/>
          <p:nvPr/>
        </p:nvSpPr>
        <p:spPr>
          <a:xfrm>
            <a:off x="7743315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5" name="slot.forum.4.day.3.5"/>
          <p:cNvSpPr/>
          <p:nvPr/>
        </p:nvSpPr>
        <p:spPr>
          <a:xfrm>
            <a:off x="7968479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6" name="slot.forum.4.day.3.6"/>
          <p:cNvSpPr/>
          <p:nvPr/>
        </p:nvSpPr>
        <p:spPr>
          <a:xfrm>
            <a:off x="8193644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7" name="slot.forum.4.day.3.7"/>
          <p:cNvSpPr/>
          <p:nvPr/>
        </p:nvSpPr>
        <p:spPr>
          <a:xfrm>
            <a:off x="8418810" y="250545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8" name="slot.forum.4.day.4.1"/>
          <p:cNvSpPr/>
          <p:nvPr/>
        </p:nvSpPr>
        <p:spPr>
          <a:xfrm>
            <a:off x="706782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49" name="slot.forum.4.day.4.2"/>
          <p:cNvSpPr/>
          <p:nvPr/>
        </p:nvSpPr>
        <p:spPr>
          <a:xfrm>
            <a:off x="729298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0" name="slot.forum.4.day.4.3"/>
          <p:cNvSpPr/>
          <p:nvPr/>
        </p:nvSpPr>
        <p:spPr>
          <a:xfrm>
            <a:off x="751815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1" name="slot.forum.4.day.4.4"/>
          <p:cNvSpPr/>
          <p:nvPr/>
        </p:nvSpPr>
        <p:spPr>
          <a:xfrm>
            <a:off x="7743315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2" name="slot.forum.4.day.4.5"/>
          <p:cNvSpPr/>
          <p:nvPr/>
        </p:nvSpPr>
        <p:spPr>
          <a:xfrm>
            <a:off x="7968479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3" name="slot.forum.4.day.4.6"/>
          <p:cNvSpPr/>
          <p:nvPr/>
        </p:nvSpPr>
        <p:spPr>
          <a:xfrm>
            <a:off x="8193644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4" name="slot.forum.4.day.4.7"/>
          <p:cNvSpPr/>
          <p:nvPr/>
        </p:nvSpPr>
        <p:spPr>
          <a:xfrm>
            <a:off x="8418810" y="2779776"/>
            <a:ext cx="180763" cy="219456"/>
          </a:xfrm>
          <a:prstGeom prst="roundRect">
            <a:avLst>
              <a:gd name="adj" fmla="val 11111"/>
            </a:avLst>
          </a:prstGeom>
          <a:solidFill>
            <a:schemeClr val="bg1">
              <a:lumMod val="75000"/>
            </a:schemeClr>
          </a:solidFill>
          <a:ln/>
          <a:effectLst/>
        </p:spPr>
        <p:txBody>
          <a:bodyPr>
            <a:noAutofit/>
          </a:bodyPr>
          <a:lstStyle/>
          <a:p>
            <a:pPr algn="ctr"/>
            <a:endParaRPr lang="en-US" sz="160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55" name="slot.forum.1.row.1.label"/>
          <p:cNvSpPr txBox="1"/>
          <p:nvPr/>
        </p:nvSpPr>
        <p:spPr>
          <a:xfrm>
            <a:off x="457200" y="3456432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Chair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slot.forum.1.row.1.value"/>
          <p:cNvSpPr txBox="1"/>
          <p:nvPr/>
        </p:nvSpPr>
        <p:spPr>
          <a:xfrm>
            <a:off x="1188538" y="3456432"/>
            <a:ext cx="1006431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Commercial sponsor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slot.forum.2.row.1.value"/>
          <p:cNvSpPr txBox="1"/>
          <p:nvPr/>
        </p:nvSpPr>
        <p:spPr>
          <a:xfrm>
            <a:off x="3172294" y="3456432"/>
            <a:ext cx="1213847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Engagement lead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slot.forum.4.row.1.label"/>
          <p:cNvSpPr txBox="1"/>
          <p:nvPr/>
        </p:nvSpPr>
        <p:spPr>
          <a:xfrm>
            <a:off x="6819845" y="3456432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Chair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slot.forum.4.row.1.value"/>
          <p:cNvSpPr txBox="1"/>
          <p:nvPr/>
        </p:nvSpPr>
        <p:spPr>
          <a:xfrm>
            <a:off x="7551183" y="3456432"/>
            <a:ext cx="1296612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Solution architect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slot.forum.3.row.1.value"/>
          <p:cNvSpPr txBox="1"/>
          <p:nvPr/>
        </p:nvSpPr>
        <p:spPr>
          <a:xfrm>
            <a:off x="5357168" y="3456432"/>
            <a:ext cx="1220144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reviewer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slot.forum.2.row.1.label"/>
          <p:cNvSpPr txBox="1"/>
          <p:nvPr/>
        </p:nvSpPr>
        <p:spPr>
          <a:xfrm>
            <a:off x="2440956" y="3456432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Chair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slot.forum.3.row.1.label"/>
          <p:cNvSpPr txBox="1"/>
          <p:nvPr/>
        </p:nvSpPr>
        <p:spPr>
          <a:xfrm>
            <a:off x="4625829" y="3456432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Chair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slot.forum.1.row.2.value"/>
          <p:cNvSpPr txBox="1"/>
          <p:nvPr/>
        </p:nvSpPr>
        <p:spPr>
          <a:xfrm>
            <a:off x="1188538" y="3931920"/>
            <a:ext cx="1006431" cy="49377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Medical, legal, field and firm leads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slot.forum.2.row.2.value"/>
          <p:cNvSpPr txBox="1"/>
          <p:nvPr/>
        </p:nvSpPr>
        <p:spPr>
          <a:xfrm>
            <a:off x="3172294" y="3931920"/>
            <a:ext cx="1213847" cy="49377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Track leads from both sides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slot.forum.4.row.2.label"/>
          <p:cNvSpPr txBox="1"/>
          <p:nvPr/>
        </p:nvSpPr>
        <p:spPr>
          <a:xfrm>
            <a:off x="6819845" y="3931920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Seats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lot.forum.4.row.2.value"/>
          <p:cNvSpPr txBox="1"/>
          <p:nvPr/>
        </p:nvSpPr>
        <p:spPr>
          <a:xfrm>
            <a:off x="7551183" y="3931920"/>
            <a:ext cx="1296612" cy="49377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Agent builders and data engineers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slot.forum.3.row.2.value"/>
          <p:cNvSpPr txBox="1"/>
          <p:nvPr/>
        </p:nvSpPr>
        <p:spPr>
          <a:xfrm>
            <a:off x="5357168" y="3931920"/>
            <a:ext cx="1220144" cy="49377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Legal, regulatory and agent engineers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slot.forum.1.row.2.label"/>
          <p:cNvSpPr txBox="1"/>
          <p:nvPr/>
        </p:nvSpPr>
        <p:spPr>
          <a:xfrm>
            <a:off x="457200" y="3931920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Seats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slot.forum.2.row.2.label"/>
          <p:cNvSpPr txBox="1"/>
          <p:nvPr/>
        </p:nvSpPr>
        <p:spPr>
          <a:xfrm>
            <a:off x="2440956" y="3931920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Seats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lot.forum.3.row.2.label"/>
          <p:cNvSpPr txBox="1"/>
          <p:nvPr/>
        </p:nvSpPr>
        <p:spPr>
          <a:xfrm>
            <a:off x="4625829" y="3931920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Seats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slot.forum.1.row.3.value"/>
          <p:cNvSpPr txBox="1"/>
          <p:nvPr/>
        </p:nvSpPr>
        <p:spPr>
          <a:xfrm>
            <a:off x="1188538" y="4535424"/>
            <a:ext cx="1006431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Budget and gates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slot.forum.2.row.3.value"/>
          <p:cNvSpPr txBox="1"/>
          <p:nvPr/>
        </p:nvSpPr>
        <p:spPr>
          <a:xfrm>
            <a:off x="3172294" y="4535424"/>
            <a:ext cx="1213847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Plan and staffing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slot.forum.3.row.3.value"/>
          <p:cNvSpPr txBox="1"/>
          <p:nvPr/>
        </p:nvSpPr>
        <p:spPr>
          <a:xfrm>
            <a:off x="5357168" y="4535424"/>
            <a:ext cx="1220144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list changes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lot.forum.1.row.3.label"/>
          <p:cNvSpPr txBox="1"/>
          <p:nvPr/>
        </p:nvSpPr>
        <p:spPr>
          <a:xfrm>
            <a:off x="457200" y="4535424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Owns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lot.forum.2.row.3.label"/>
          <p:cNvSpPr txBox="1"/>
          <p:nvPr/>
        </p:nvSpPr>
        <p:spPr>
          <a:xfrm>
            <a:off x="2440956" y="4535424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Owns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slot.forum.3.row.3.label"/>
          <p:cNvSpPr txBox="1"/>
          <p:nvPr/>
        </p:nvSpPr>
        <p:spPr>
          <a:xfrm>
            <a:off x="4625829" y="4535424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Owns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slot.forum.4.row.3.label"/>
          <p:cNvSpPr txBox="1"/>
          <p:nvPr/>
        </p:nvSpPr>
        <p:spPr>
          <a:xfrm>
            <a:off x="6819845" y="4535424"/>
            <a:ext cx="676488" cy="21945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Owns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slot.forum.4.row.3.value"/>
          <p:cNvSpPr txBox="1"/>
          <p:nvPr/>
        </p:nvSpPr>
        <p:spPr>
          <a:xfrm>
            <a:off x="7551183" y="4535424"/>
            <a:ext cx="1296612" cy="3657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Blockers and fixes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9" name="struct.forum.1.rule.1"/>
          <p:cNvCxnSpPr>
            <a:cxnSpLocks/>
          </p:cNvCxnSpPr>
          <p:nvPr/>
        </p:nvCxnSpPr>
        <p:spPr>
          <a:xfrm>
            <a:off x="458573" y="3877055"/>
            <a:ext cx="1736397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0" name="struct.forum.1.rule.2"/>
          <p:cNvCxnSpPr>
            <a:cxnSpLocks/>
          </p:cNvCxnSpPr>
          <p:nvPr/>
        </p:nvCxnSpPr>
        <p:spPr>
          <a:xfrm>
            <a:off x="458573" y="4480559"/>
            <a:ext cx="1736397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1" name="struct.forum.2.rule.1"/>
          <p:cNvCxnSpPr>
            <a:cxnSpLocks/>
          </p:cNvCxnSpPr>
          <p:nvPr/>
        </p:nvCxnSpPr>
        <p:spPr>
          <a:xfrm>
            <a:off x="2437256" y="3877055"/>
            <a:ext cx="194887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2" name="struct.forum.2.rule.2"/>
          <p:cNvCxnSpPr>
            <a:cxnSpLocks/>
          </p:cNvCxnSpPr>
          <p:nvPr/>
        </p:nvCxnSpPr>
        <p:spPr>
          <a:xfrm>
            <a:off x="2437256" y="4480559"/>
            <a:ext cx="194887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3" name="struct.forum.3.rule.1"/>
          <p:cNvCxnSpPr>
            <a:cxnSpLocks/>
          </p:cNvCxnSpPr>
          <p:nvPr/>
        </p:nvCxnSpPr>
        <p:spPr>
          <a:xfrm>
            <a:off x="4628428" y="3877055"/>
            <a:ext cx="194888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4" name="struct.forum.3.rule.2"/>
          <p:cNvCxnSpPr>
            <a:cxnSpLocks/>
          </p:cNvCxnSpPr>
          <p:nvPr/>
        </p:nvCxnSpPr>
        <p:spPr>
          <a:xfrm>
            <a:off x="4628428" y="4480559"/>
            <a:ext cx="194888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5" name="struct.forum.4.rule.1"/>
          <p:cNvCxnSpPr>
            <a:cxnSpLocks/>
          </p:cNvCxnSpPr>
          <p:nvPr/>
        </p:nvCxnSpPr>
        <p:spPr>
          <a:xfrm>
            <a:off x="6819597" y="3877055"/>
            <a:ext cx="2028197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186" name="struct.forum.4.rule.2"/>
          <p:cNvCxnSpPr>
            <a:cxnSpLocks/>
          </p:cNvCxnSpPr>
          <p:nvPr/>
        </p:nvCxnSpPr>
        <p:spPr>
          <a:xfrm>
            <a:off x="6819597" y="4480559"/>
            <a:ext cx="2028197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187" name="slot.forum.2.cadence"/>
          <p:cNvSpPr/>
          <p:nvPr/>
        </p:nvSpPr>
        <p:spPr>
          <a:xfrm>
            <a:off x="2437257" y="3072384"/>
            <a:ext cx="1948885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Alternate Tuesdays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slot.forum.3.cadence"/>
          <p:cNvSpPr/>
          <p:nvPr/>
        </p:nvSpPr>
        <p:spPr>
          <a:xfrm>
            <a:off x="4628428" y="3072384"/>
            <a:ext cx="1948883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Wednesday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slot.forum.4.cadence"/>
          <p:cNvSpPr/>
          <p:nvPr/>
        </p:nvSpPr>
        <p:spPr>
          <a:xfrm>
            <a:off x="6819597" y="3072384"/>
            <a:ext cx="202820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Each weekday morning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slot.forum.1.cadence"/>
          <p:cNvSpPr/>
          <p:nvPr/>
        </p:nvSpPr>
        <p:spPr>
          <a:xfrm>
            <a:off x="458573" y="3072384"/>
            <a:ext cx="1736397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rtlCol="0" anchor="ctr" wrap="square" lIns="91440" tIns="45720" rIns="91440" bIns="4572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Third Thursday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struct.rules.panel"/>
          <p:cNvSpPr/>
          <p:nvPr/>
        </p:nvSpPr>
        <p:spPr>
          <a:xfrm>
            <a:off x="457200" y="5138928"/>
            <a:ext cx="8392109" cy="1097280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algn="ctr"/>
            <a:endParaRPr lang="en-US" sz="900" b="1">
              <a:solidFill>
                <a:schemeClr val="bg1"/>
              </a:solidFill>
            </a:endParaRPr>
          </a:p>
        </p:txBody>
      </p:sp>
      <p:sp>
        <p:nvSpPr>
          <p:cNvPr id="192" name="slot.rules.1.num"/>
          <p:cNvSpPr txBox="1"/>
          <p:nvPr/>
        </p:nvSpPr>
        <p:spPr>
          <a:xfrm>
            <a:off x="649176" y="5650992"/>
            <a:ext cx="329102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01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slot.rules.1.body"/>
          <p:cNvSpPr txBox="1"/>
          <p:nvPr/>
        </p:nvSpPr>
        <p:spPr>
          <a:xfrm>
            <a:off x="1014845" y="5650992"/>
            <a:ext cx="1490102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decision recorded in the brief log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slot.rules.2.num"/>
          <p:cNvSpPr txBox="1"/>
          <p:nvPr/>
        </p:nvSpPr>
        <p:spPr>
          <a:xfrm>
            <a:off x="2651215" y="5650992"/>
            <a:ext cx="329102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slot.rules.2.body"/>
          <p:cNvSpPr txBox="1"/>
          <p:nvPr/>
        </p:nvSpPr>
        <p:spPr>
          <a:xfrm>
            <a:off x="3016885" y="5650992"/>
            <a:ext cx="1490102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Papers out two days before each session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slot.rules.3.num"/>
          <p:cNvSpPr txBox="1"/>
          <p:nvPr/>
        </p:nvSpPr>
        <p:spPr>
          <a:xfrm>
            <a:off x="4653255" y="5650992"/>
            <a:ext cx="329102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03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slot.rules.3.body"/>
          <p:cNvSpPr txBox="1"/>
          <p:nvPr/>
        </p:nvSpPr>
        <p:spPr>
          <a:xfrm>
            <a:off x="5018924" y="5650992"/>
            <a:ext cx="1490102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present for any content decision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slot.rules.4.num"/>
          <p:cNvSpPr txBox="1"/>
          <p:nvPr/>
        </p:nvSpPr>
        <p:spPr>
          <a:xfrm>
            <a:off x="6655294" y="5650992"/>
            <a:ext cx="329102" cy="27432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04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slot.rules.4.body"/>
          <p:cNvSpPr txBox="1"/>
          <p:nvPr/>
        </p:nvSpPr>
        <p:spPr>
          <a:xfrm>
            <a:off x="7020963" y="5650992"/>
            <a:ext cx="1490102" cy="47548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shared risk and issue register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slot.rules.label"/>
          <p:cNvSpPr txBox="1"/>
          <p:nvPr/>
        </p:nvSpPr>
        <p:spPr>
          <a:xfrm>
            <a:off x="649176" y="5248656"/>
            <a:ext cx="3291023" cy="25603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Rules every forum keeps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1" name="struct.rules.rule"/>
          <p:cNvCxnSpPr>
            <a:cxnSpLocks/>
          </p:cNvCxnSpPr>
          <p:nvPr/>
        </p:nvCxnSpPr>
        <p:spPr>
          <a:xfrm flipV="1">
            <a:off x="4040759" y="5376672"/>
            <a:ext cx="4616574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  <a:effectLst/>
        </p:spPr>
      </p:cxnSp>
      <p:cxnSp>
        <p:nvCxnSpPr>
          <p:cNvPr id="202" name="struct.rules.sep.3"/>
          <p:cNvCxnSpPr>
            <a:cxnSpLocks/>
          </p:cNvCxnSpPr>
          <p:nvPr/>
        </p:nvCxnSpPr>
        <p:spPr>
          <a:xfrm>
            <a:off x="6563876" y="5650992"/>
            <a:ext cx="0" cy="4389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03" name="struct.rules.sep.2"/>
          <p:cNvCxnSpPr>
            <a:cxnSpLocks/>
          </p:cNvCxnSpPr>
          <p:nvPr/>
        </p:nvCxnSpPr>
        <p:spPr>
          <a:xfrm>
            <a:off x="4561837" y="5650992"/>
            <a:ext cx="0" cy="4389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cxnSp>
        <p:nvCxnSpPr>
          <p:cNvPr id="204" name="struct.rules.sep.1"/>
          <p:cNvCxnSpPr>
            <a:cxnSpLocks/>
          </p:cNvCxnSpPr>
          <p:nvPr/>
        </p:nvCxnSpPr>
        <p:spPr>
          <a:xfrm>
            <a:off x="2559798" y="5650992"/>
            <a:ext cx="0" cy="43891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205" name="struct.step.1"/>
          <p:cNvSpPr/>
          <p:nvPr/>
        </p:nvSpPr>
        <p:spPr>
          <a:xfrm>
            <a:off x="9278971" y="1344168"/>
            <a:ext cx="2513976" cy="875995"/>
          </a:xfrm>
          <a:prstGeom prst="roundRect">
            <a:avLst>
              <a:gd name="adj" fmla="val 52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06" name="struct.step.2"/>
          <p:cNvSpPr/>
          <p:nvPr/>
        </p:nvSpPr>
        <p:spPr>
          <a:xfrm>
            <a:off x="9278971" y="2348179"/>
            <a:ext cx="2513976" cy="875995"/>
          </a:xfrm>
          <a:prstGeom prst="roundRect">
            <a:avLst>
              <a:gd name="adj" fmla="val 52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07" name="struct.step.3"/>
          <p:cNvSpPr/>
          <p:nvPr/>
        </p:nvSpPr>
        <p:spPr>
          <a:xfrm>
            <a:off x="9278971" y="3352190"/>
            <a:ext cx="2513976" cy="875995"/>
          </a:xfrm>
          <a:prstGeom prst="roundRect">
            <a:avLst>
              <a:gd name="adj" fmla="val 52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08" name="struct.step.4"/>
          <p:cNvSpPr/>
          <p:nvPr/>
        </p:nvSpPr>
        <p:spPr>
          <a:xfrm>
            <a:off x="9278971" y="4356201"/>
            <a:ext cx="2513976" cy="875995"/>
          </a:xfrm>
          <a:prstGeom prst="roundRect">
            <a:avLst>
              <a:gd name="adj" fmla="val 52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09" name="struct.step.5"/>
          <p:cNvSpPr/>
          <p:nvPr/>
        </p:nvSpPr>
        <p:spPr>
          <a:xfrm>
            <a:off x="9278971" y="5360212"/>
            <a:ext cx="2513976" cy="875995"/>
          </a:xfrm>
          <a:prstGeom prst="roundRect">
            <a:avLst>
              <a:gd name="adj" fmla="val 521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10" name="slot.step.1.who"/>
          <p:cNvSpPr txBox="1"/>
          <p:nvPr/>
        </p:nvSpPr>
        <p:spPr>
          <a:xfrm>
            <a:off x="9800049" y="1435608"/>
            <a:ext cx="950740" cy="693115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engineer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slot.step.2.who"/>
          <p:cNvSpPr txBox="1"/>
          <p:nvPr/>
        </p:nvSpPr>
        <p:spPr>
          <a:xfrm>
            <a:off x="9800049" y="2439619"/>
            <a:ext cx="950740" cy="693115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Solution architect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slot.step.3.who"/>
          <p:cNvSpPr txBox="1"/>
          <p:nvPr/>
        </p:nvSpPr>
        <p:spPr>
          <a:xfrm>
            <a:off x="9800049" y="3443630"/>
            <a:ext cx="950740" cy="693115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review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slot.step.4.who"/>
          <p:cNvSpPr txBox="1"/>
          <p:nvPr/>
        </p:nvSpPr>
        <p:spPr>
          <a:xfrm>
            <a:off x="9800049" y="4447641"/>
            <a:ext cx="950740" cy="693115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Delivery board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slot.step.5.who"/>
          <p:cNvSpPr txBox="1"/>
          <p:nvPr/>
        </p:nvSpPr>
        <p:spPr>
          <a:xfrm>
            <a:off x="9800049" y="5451652"/>
            <a:ext cx="950740" cy="693115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Sponsor council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slot.step.1.when"/>
          <p:cNvSpPr/>
          <p:nvPr/>
        </p:nvSpPr>
        <p:spPr>
          <a:xfrm>
            <a:off x="10823923" y="1617573"/>
            <a:ext cx="859323" cy="329184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  <a:effectLst/>
        </p:spPr>
        <p:txBody>
          <a:bodyPr lIns="72000" tIns="72000" rIns="72000" bIns="72000" anchor="ctr" wrap="square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0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slot.step.2.when"/>
          <p:cNvSpPr/>
          <p:nvPr/>
        </p:nvSpPr>
        <p:spPr>
          <a:xfrm>
            <a:off x="10823923" y="2621584"/>
            <a:ext cx="859323" cy="329184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  <a:effectLst/>
        </p:spPr>
        <p:txBody>
          <a:bodyPr lIns="72000" tIns="72000" rIns="72000" bIns="72000" anchor="ctr" wrap="square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slot.step.3.when"/>
          <p:cNvSpPr/>
          <p:nvPr/>
        </p:nvSpPr>
        <p:spPr>
          <a:xfrm>
            <a:off x="10823923" y="3625596"/>
            <a:ext cx="859323" cy="329184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  <a:effectLst/>
        </p:spPr>
        <p:txBody>
          <a:bodyPr lIns="72000" tIns="72000" rIns="72000" bIns="72000" anchor="ctr" wrap="square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slot.step.4.when"/>
          <p:cNvSpPr/>
          <p:nvPr/>
        </p:nvSpPr>
        <p:spPr>
          <a:xfrm>
            <a:off x="10823923" y="4629607"/>
            <a:ext cx="859323" cy="329184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  <a:effectLst/>
        </p:spPr>
        <p:txBody>
          <a:bodyPr lIns="72000" tIns="72000" rIns="72000" bIns="72000" anchor="ctr" wrap="square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5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slot.step.5.when"/>
          <p:cNvSpPr/>
          <p:nvPr/>
        </p:nvSpPr>
        <p:spPr>
          <a:xfrm>
            <a:off x="10823923" y="5633618"/>
            <a:ext cx="859323" cy="329184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  <a:effectLst/>
        </p:spPr>
        <p:txBody>
          <a:bodyPr lIns="72000" tIns="72000" rIns="72000" bIns="72000" anchor="ctr" wrap="square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Day 8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slot.step.1.num"/>
          <p:cNvSpPr/>
          <p:nvPr/>
        </p:nvSpPr>
        <p:spPr>
          <a:xfrm>
            <a:off x="9379484" y="1599285"/>
            <a:ext cx="365760" cy="36576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6350"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slot.step.2.num"/>
          <p:cNvSpPr/>
          <p:nvPr/>
        </p:nvSpPr>
        <p:spPr>
          <a:xfrm>
            <a:off x="9379484" y="2603296"/>
            <a:ext cx="365760" cy="36576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6350"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slot.step.3.num"/>
          <p:cNvSpPr/>
          <p:nvPr/>
        </p:nvSpPr>
        <p:spPr>
          <a:xfrm>
            <a:off x="9379484" y="3607308"/>
            <a:ext cx="365760" cy="36576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6350"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slot.step.4.num"/>
          <p:cNvSpPr/>
          <p:nvPr/>
        </p:nvSpPr>
        <p:spPr>
          <a:xfrm>
            <a:off x="9379484" y="4611319"/>
            <a:ext cx="365760" cy="36576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6350"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slot.step.5.num"/>
          <p:cNvSpPr/>
          <p:nvPr/>
        </p:nvSpPr>
        <p:spPr>
          <a:xfrm>
            <a:off x="9379484" y="5615330"/>
            <a:ext cx="365760" cy="365760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 w="6350">
            <a:noFill/>
          </a:ln>
          <a:effectLst/>
        </p:spPr>
        <p:txBody>
          <a:bodyPr rtlCol="0" anchor="ctr" lIns="0" tIns="0" rIns="0" bIns="0" wrap="square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slot.forum.1.icon"/>
          <p:cNvSpPr/>
          <p:nvPr/>
        </p:nvSpPr>
        <p:spPr>
          <a:xfrm>
            <a:off x="568246" y="140421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30" name="slot.forum.2.icon"/>
          <p:cNvSpPr/>
          <p:nvPr/>
        </p:nvSpPr>
        <p:spPr>
          <a:xfrm>
            <a:off x="2546930" y="140421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5000" y="17000"/>
                </a:lnTo>
                <a:moveTo>
                  <a:pt x="12000" y="3000"/>
                </a:moveTo>
                <a:lnTo>
                  <a:pt x="12000" y="11000"/>
                </a:lnTo>
                <a:moveTo>
                  <a:pt x="19000" y="3000"/>
                </a:moveTo>
                <a:lnTo>
                  <a:pt x="19000" y="21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31" name="slot.forum.3.icon"/>
          <p:cNvSpPr/>
          <p:nvPr/>
        </p:nvSpPr>
        <p:spPr>
          <a:xfrm>
            <a:off x="4738101" y="140421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9000" y="15000"/>
                </a:moveTo>
                <a:lnTo>
                  <a:pt x="11000" y="17000"/>
                </a:lnTo>
                <a:lnTo>
                  <a:pt x="15000" y="13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32" name="slot.forum.4.icon"/>
          <p:cNvSpPr/>
          <p:nvPr/>
        </p:nvSpPr>
        <p:spPr>
          <a:xfrm>
            <a:off x="6929271" y="1404217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ifecycle-loop:gated-rail-phase-columns-loop">
    <p:spTree>
      <p:nvGrpSpPr>
        <p:cNvPr id="1" name=""/>
        <p:cNvGrpSpPr/>
        <p:nvPr/>
      </p:nvGrpSpPr>
      <p:grpSpPr/>
      <p:sp>
        <p:nvSpPr>
          <p:cNvPr id="2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After four phases, a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weekly loop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keeps every brief improving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" name="struct.rail"/>
          <p:cNvCxnSpPr/>
          <p:nvPr/>
        </p:nvCxnSpPr>
        <p:spPr>
          <a:xfrm>
            <a:off x="457202" y="1620987"/>
            <a:ext cx="10869184" cy="0"/>
          </a:xfrm>
          <a:prstGeom prst="straightConnector1">
            <a:avLst/>
          </a:prstGeom>
          <a:noFill/>
          <a:ln cap="flat" cmpd="sng" w="1190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  <a:effectLst/>
        </p:spPr>
      </p:cxnSp>
      <p:sp>
        <p:nvSpPr>
          <p:cNvPr id="4" name="struct.phase.1.disc"/>
          <p:cNvSpPr/>
          <p:nvPr/>
        </p:nvSpPr>
        <p:spPr>
          <a:xfrm>
            <a:off x="2309145" y="1429750"/>
            <a:ext cx="382390" cy="3823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struct.phase.1.arrow"/>
          <p:cNvCxnSpPr/>
          <p:nvPr/>
        </p:nvCxnSpPr>
        <p:spPr>
          <a:xfrm>
            <a:off x="2500382" y="1191230"/>
            <a:ext cx="0" cy="22879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6" name="struct.phase.2.disc"/>
          <p:cNvSpPr/>
          <p:nvPr/>
        </p:nvSpPr>
        <p:spPr>
          <a:xfrm>
            <a:off x="4528854" y="1429750"/>
            <a:ext cx="382390" cy="3823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struct.phase.2.arrow"/>
          <p:cNvCxnSpPr/>
          <p:nvPr/>
        </p:nvCxnSpPr>
        <p:spPr>
          <a:xfrm>
            <a:off x="4720092" y="1191230"/>
            <a:ext cx="0" cy="22879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8" name="struct.phase.3.disc"/>
          <p:cNvSpPr/>
          <p:nvPr/>
        </p:nvSpPr>
        <p:spPr>
          <a:xfrm>
            <a:off x="7230171" y="1429750"/>
            <a:ext cx="382390" cy="3823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struct.phase.3.arrow"/>
          <p:cNvCxnSpPr/>
          <p:nvPr/>
        </p:nvCxnSpPr>
        <p:spPr>
          <a:xfrm>
            <a:off x="7421408" y="1191230"/>
            <a:ext cx="0" cy="22879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10" name="struct.phase.4.disc"/>
          <p:cNvSpPr/>
          <p:nvPr/>
        </p:nvSpPr>
        <p:spPr>
          <a:xfrm>
            <a:off x="9455479" y="1429750"/>
            <a:ext cx="382390" cy="3823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struct.phase.4.arrow"/>
          <p:cNvCxnSpPr/>
          <p:nvPr/>
        </p:nvCxnSpPr>
        <p:spPr>
          <a:xfrm>
            <a:off x="9646716" y="1191230"/>
            <a:ext cx="0" cy="22879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12" name="struct.target.1"/>
          <p:cNvSpPr/>
          <p:nvPr/>
        </p:nvSpPr>
        <p:spPr>
          <a:xfrm>
            <a:off x="11322370" y="1456400"/>
            <a:ext cx="329192" cy="329192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truct.target.2"/>
          <p:cNvSpPr/>
          <p:nvPr/>
        </p:nvSpPr>
        <p:spPr>
          <a:xfrm>
            <a:off x="11359451" y="1493483"/>
            <a:ext cx="255194" cy="255194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struct.target.3"/>
          <p:cNvSpPr/>
          <p:nvPr/>
        </p:nvSpPr>
        <p:spPr>
          <a:xfrm>
            <a:off x="11400094" y="1534122"/>
            <a:ext cx="173596" cy="173596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struct.target.4"/>
          <p:cNvSpPr/>
          <p:nvPr/>
        </p:nvSpPr>
        <p:spPr>
          <a:xfrm>
            <a:off x="11437557" y="1571586"/>
            <a:ext cx="98798" cy="9879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slot.start.when"/>
          <p:cNvSpPr/>
          <p:nvPr/>
        </p:nvSpPr>
        <p:spPr>
          <a:xfrm>
            <a:off x="558551" y="1243584"/>
            <a:ext cx="1069748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 Nov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lot.phase.4.when"/>
          <p:cNvSpPr/>
          <p:nvPr/>
        </p:nvSpPr>
        <p:spPr>
          <a:xfrm>
            <a:off x="9200945" y="987552"/>
            <a:ext cx="8914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22 Jan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lot.phase.3.when"/>
          <p:cNvSpPr/>
          <p:nvPr/>
        </p:nvSpPr>
        <p:spPr>
          <a:xfrm>
            <a:off x="6975637" y="987552"/>
            <a:ext cx="8914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8 Jan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lot.phase.2.when"/>
          <p:cNvSpPr/>
          <p:nvPr/>
        </p:nvSpPr>
        <p:spPr>
          <a:xfrm>
            <a:off x="4274321" y="987552"/>
            <a:ext cx="8914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18 Dec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lot.phase.1.when"/>
          <p:cNvSpPr/>
          <p:nvPr/>
        </p:nvSpPr>
        <p:spPr>
          <a:xfrm>
            <a:off x="2054610" y="987552"/>
            <a:ext cx="8914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20 Nov</a:t>
            </a:r>
            <a:endParaRPr lang="en-US" sz="9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start.label"/>
          <p:cNvSpPr/>
          <p:nvPr/>
        </p:nvSpPr>
        <p:spPr>
          <a:xfrm>
            <a:off x="705642" y="1522476"/>
            <a:ext cx="1604623" cy="192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Sponsor and scope signed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truct.gate.1"/>
          <p:cNvSpPr/>
          <p:nvPr/>
        </p:nvSpPr>
        <p:spPr>
          <a:xfrm>
            <a:off x="538011" y="1552917"/>
            <a:ext cx="136397" cy="136397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struct.start.arrow"/>
          <p:cNvCxnSpPr/>
          <p:nvPr/>
        </p:nvCxnSpPr>
        <p:spPr>
          <a:xfrm>
            <a:off x="499682" y="1376856"/>
            <a:ext cx="0" cy="22879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24" name="struct.gate.2"/>
          <p:cNvSpPr/>
          <p:nvPr/>
        </p:nvSpPr>
        <p:spPr>
          <a:xfrm>
            <a:off x="3332508" y="1552917"/>
            <a:ext cx="136397" cy="136397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struct.gate.3"/>
          <p:cNvSpPr/>
          <p:nvPr/>
        </p:nvSpPr>
        <p:spPr>
          <a:xfrm>
            <a:off x="6010801" y="1552917"/>
            <a:ext cx="136397" cy="136397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struct.gate.4"/>
          <p:cNvSpPr/>
          <p:nvPr/>
        </p:nvSpPr>
        <p:spPr>
          <a:xfrm>
            <a:off x="8733392" y="1552917"/>
            <a:ext cx="136397" cy="136397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struct.list.1"/>
          <p:cNvSpPr/>
          <p:nvPr/>
        </p:nvSpPr>
        <p:spPr>
          <a:xfrm>
            <a:off x="457200" y="3561264"/>
            <a:ext cx="2505454" cy="12963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slot.list.1.item.1"/>
          <p:cNvSpPr/>
          <p:nvPr/>
        </p:nvSpPr>
        <p:spPr>
          <a:xfrm>
            <a:off x="858972" y="3608888"/>
            <a:ext cx="1996707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Approved source list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" name="struct.list.1.rule.1"/>
          <p:cNvCxnSpPr/>
          <p:nvPr/>
        </p:nvCxnSpPr>
        <p:spPr>
          <a:xfrm>
            <a:off x="606081" y="3830115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30" name="slot.list.1.item.2"/>
          <p:cNvSpPr/>
          <p:nvPr/>
        </p:nvSpPr>
        <p:spPr>
          <a:xfrm>
            <a:off x="858972" y="3850303"/>
            <a:ext cx="1996707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Reviewer and deputy named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1" name="struct.list.1.rule.2"/>
          <p:cNvCxnSpPr/>
          <p:nvPr/>
        </p:nvCxnSpPr>
        <p:spPr>
          <a:xfrm>
            <a:off x="606081" y="4071530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32" name="slot.list.1.item.3"/>
          <p:cNvSpPr/>
          <p:nvPr/>
        </p:nvSpPr>
        <p:spPr>
          <a:xfrm>
            <a:off x="858972" y="4091719"/>
            <a:ext cx="1996707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 template agreed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" name="struct.list.1.rule.3"/>
          <p:cNvCxnSpPr/>
          <p:nvPr/>
        </p:nvCxnSpPr>
        <p:spPr>
          <a:xfrm>
            <a:off x="606081" y="4312947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34" name="slot.list.1.item.4"/>
          <p:cNvSpPr/>
          <p:nvPr/>
        </p:nvSpPr>
        <p:spPr>
          <a:xfrm>
            <a:off x="858972" y="4333135"/>
            <a:ext cx="1996707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 interview notes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5" name="struct.list.1.rule.4"/>
          <p:cNvCxnSpPr/>
          <p:nvPr/>
        </p:nvCxnSpPr>
        <p:spPr>
          <a:xfrm>
            <a:off x="606081" y="4554361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36" name="slot.list.1.item.5"/>
          <p:cNvSpPr/>
          <p:nvPr/>
        </p:nvSpPr>
        <p:spPr>
          <a:xfrm>
            <a:off x="858972" y="4574549"/>
            <a:ext cx="1996707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Pilot scope signed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truct.list.2"/>
          <p:cNvSpPr/>
          <p:nvPr/>
        </p:nvSpPr>
        <p:spPr>
          <a:xfrm>
            <a:off x="3368468" y="3561264"/>
            <a:ext cx="2505454" cy="12963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slot.list.2.item.1"/>
          <p:cNvSpPr/>
          <p:nvPr/>
        </p:nvSpPr>
        <p:spPr>
          <a:xfrm>
            <a:off x="3759773" y="3608888"/>
            <a:ext cx="200717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Signed brief in North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9" name="struct.list.2.rule.1"/>
          <p:cNvCxnSpPr/>
          <p:nvPr/>
        </p:nvCxnSpPr>
        <p:spPr>
          <a:xfrm>
            <a:off x="3489879" y="3830115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0" name="slot.list.2.item.2"/>
          <p:cNvSpPr/>
          <p:nvPr/>
        </p:nvSpPr>
        <p:spPr>
          <a:xfrm>
            <a:off x="3759773" y="3850303"/>
            <a:ext cx="200717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sign-off on each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" name="struct.list.2.rule.2"/>
          <p:cNvCxnSpPr/>
          <p:nvPr/>
        </p:nvCxnSpPr>
        <p:spPr>
          <a:xfrm>
            <a:off x="3489879" y="4071530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2" name="slot.list.2.item.3"/>
          <p:cNvSpPr/>
          <p:nvPr/>
        </p:nvSpPr>
        <p:spPr>
          <a:xfrm>
            <a:off x="3759773" y="4091719"/>
            <a:ext cx="200717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 usefulness ratings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3" name="struct.list.2.rule.3"/>
          <p:cNvCxnSpPr/>
          <p:nvPr/>
        </p:nvCxnSpPr>
        <p:spPr>
          <a:xfrm>
            <a:off x="3489879" y="4312947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4" name="slot.list.2.item.4"/>
          <p:cNvSpPr/>
          <p:nvPr/>
        </p:nvSpPr>
        <p:spPr>
          <a:xfrm>
            <a:off x="3759773" y="4333135"/>
            <a:ext cx="200717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Sourcing audit passed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5" name="struct.list.2.rule.4"/>
          <p:cNvCxnSpPr/>
          <p:nvPr/>
        </p:nvCxnSpPr>
        <p:spPr>
          <a:xfrm>
            <a:off x="3489879" y="4554361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46" name="slot.list.2.item.5"/>
          <p:cNvSpPr/>
          <p:nvPr/>
        </p:nvSpPr>
        <p:spPr>
          <a:xfrm>
            <a:off x="3759773" y="4574549"/>
            <a:ext cx="200717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Pilot brief accepted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truct.list.3"/>
          <p:cNvSpPr/>
          <p:nvPr/>
        </p:nvSpPr>
        <p:spPr>
          <a:xfrm>
            <a:off x="6279736" y="3561264"/>
            <a:ext cx="2505454" cy="12963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lot.list.3.item.1"/>
          <p:cNvSpPr/>
          <p:nvPr/>
        </p:nvSpPr>
        <p:spPr>
          <a:xfrm>
            <a:off x="6662355" y="3608888"/>
            <a:ext cx="201585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Regional team training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9" name="struct.list.3.rule.1"/>
          <p:cNvCxnSpPr/>
          <p:nvPr/>
        </p:nvCxnSpPr>
        <p:spPr>
          <a:xfrm>
            <a:off x="6389925" y="3830115"/>
            <a:ext cx="2281231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0" name="slot.list.3.item.2"/>
          <p:cNvSpPr/>
          <p:nvPr/>
        </p:nvSpPr>
        <p:spPr>
          <a:xfrm>
            <a:off x="6662355" y="3850303"/>
            <a:ext cx="201585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Regional cuts and notices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1" name="struct.list.3.rule.2"/>
          <p:cNvCxnSpPr/>
          <p:nvPr/>
        </p:nvCxnSpPr>
        <p:spPr>
          <a:xfrm>
            <a:off x="6389925" y="4071530"/>
            <a:ext cx="2281231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2" name="slot.list.3.item.3"/>
          <p:cNvSpPr/>
          <p:nvPr/>
        </p:nvSpPr>
        <p:spPr>
          <a:xfrm>
            <a:off x="6662355" y="4091719"/>
            <a:ext cx="201585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Shared claim store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3" name="struct.list.3.rule.3"/>
          <p:cNvCxnSpPr/>
          <p:nvPr/>
        </p:nvCxnSpPr>
        <p:spPr>
          <a:xfrm>
            <a:off x="6389925" y="4312947"/>
            <a:ext cx="2281231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4" name="slot.list.3.item.4"/>
          <p:cNvSpPr/>
          <p:nvPr/>
        </p:nvSpPr>
        <p:spPr>
          <a:xfrm>
            <a:off x="6662355" y="4333135"/>
            <a:ext cx="201585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Role access, full audit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5" name="struct.list.3.rule.4"/>
          <p:cNvCxnSpPr/>
          <p:nvPr/>
        </p:nvCxnSpPr>
        <p:spPr>
          <a:xfrm>
            <a:off x="6389925" y="4554361"/>
            <a:ext cx="2281231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56" name="slot.list.3.item.5"/>
          <p:cNvSpPr/>
          <p:nvPr/>
        </p:nvSpPr>
        <p:spPr>
          <a:xfrm>
            <a:off x="6662355" y="4574549"/>
            <a:ext cx="2015859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Rollout call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struct.list.4"/>
          <p:cNvSpPr/>
          <p:nvPr/>
        </p:nvSpPr>
        <p:spPr>
          <a:xfrm>
            <a:off x="9191002" y="3561264"/>
            <a:ext cx="2505454" cy="12963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slot.list.4.item.1"/>
          <p:cNvSpPr/>
          <p:nvPr/>
        </p:nvSpPr>
        <p:spPr>
          <a:xfrm>
            <a:off x="9581876" y="3608888"/>
            <a:ext cx="200760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Brands two and three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9" name="struct.list.4.rule.1"/>
          <p:cNvCxnSpPr/>
          <p:nvPr/>
        </p:nvCxnSpPr>
        <p:spPr>
          <a:xfrm>
            <a:off x="9305960" y="3830115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60" name="slot.list.4.item.2"/>
          <p:cNvSpPr/>
          <p:nvPr/>
        </p:nvSpPr>
        <p:spPr>
          <a:xfrm>
            <a:off x="9581876" y="3850303"/>
            <a:ext cx="200760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Usefulness dashboard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1" name="struct.list.4.rule.2"/>
          <p:cNvCxnSpPr/>
          <p:nvPr/>
        </p:nvCxnSpPr>
        <p:spPr>
          <a:xfrm>
            <a:off x="9305960" y="4071530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62" name="slot.list.4.item.3"/>
          <p:cNvSpPr/>
          <p:nvPr/>
        </p:nvSpPr>
        <p:spPr>
          <a:xfrm>
            <a:off x="9581876" y="4091719"/>
            <a:ext cx="200760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list refresh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3" name="struct.list.4.rule.3"/>
          <p:cNvCxnSpPr/>
          <p:nvPr/>
        </p:nvCxnSpPr>
        <p:spPr>
          <a:xfrm>
            <a:off x="9305960" y="4312947"/>
            <a:ext cx="2175943" cy="0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64" name="slot.list.4.item.4"/>
          <p:cNvSpPr/>
          <p:nvPr/>
        </p:nvSpPr>
        <p:spPr>
          <a:xfrm>
            <a:off x="9581876" y="4333135"/>
            <a:ext cx="2007603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Reviewer rota kept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truct.phase.1.pill"/>
          <p:cNvSpPr/>
          <p:nvPr/>
        </p:nvSpPr>
        <p:spPr>
          <a:xfrm>
            <a:off x="457202" y="1974980"/>
            <a:ext cx="2505454" cy="28639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struct.phase.2.pill"/>
          <p:cNvSpPr/>
          <p:nvPr/>
        </p:nvSpPr>
        <p:spPr>
          <a:xfrm>
            <a:off x="3366284" y="1974980"/>
            <a:ext cx="2505454" cy="28639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struct.phase.3.pill"/>
          <p:cNvSpPr/>
          <p:nvPr/>
        </p:nvSpPr>
        <p:spPr>
          <a:xfrm>
            <a:off x="6275368" y="1974980"/>
            <a:ext cx="2505454" cy="28639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struct.phase.4.pill"/>
          <p:cNvSpPr/>
          <p:nvPr/>
        </p:nvSpPr>
        <p:spPr>
          <a:xfrm>
            <a:off x="9184449" y="1974980"/>
            <a:ext cx="2505454" cy="28639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slot.phase.1.name"/>
          <p:cNvSpPr/>
          <p:nvPr/>
        </p:nvSpPr>
        <p:spPr>
          <a:xfrm>
            <a:off x="766816" y="2008380"/>
            <a:ext cx="1886207" cy="2195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Assess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lot.phase.2.name"/>
          <p:cNvSpPr/>
          <p:nvPr/>
        </p:nvSpPr>
        <p:spPr>
          <a:xfrm>
            <a:off x="3675897" y="2008380"/>
            <a:ext cx="1886207" cy="2195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Pilot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lot.phase.3.name"/>
          <p:cNvSpPr/>
          <p:nvPr/>
        </p:nvSpPr>
        <p:spPr>
          <a:xfrm>
            <a:off x="6584980" y="2008380"/>
            <a:ext cx="1886207" cy="2195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Scale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slot.phase.4.name"/>
          <p:cNvSpPr/>
          <p:nvPr/>
        </p:nvSpPr>
        <p:spPr>
          <a:xfrm>
            <a:off x="9494063" y="2008380"/>
            <a:ext cx="1886207" cy="219595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Run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lot.phase.1.head"/>
          <p:cNvSpPr/>
          <p:nvPr/>
        </p:nvSpPr>
        <p:spPr>
          <a:xfrm>
            <a:off x="574773" y="2971800"/>
            <a:ext cx="2317788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Feeds and reviewers agreed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lot.phase.1.body"/>
          <p:cNvSpPr/>
          <p:nvPr/>
        </p:nvSpPr>
        <p:spPr>
          <a:xfrm>
            <a:off x="574773" y="3172968"/>
            <a:ext cx="2317788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From rep interviews and feed access</a:t>
            </a:r>
            <a:endParaRPr lang="en-US" sz="9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lot.phase.2.head"/>
          <p:cNvSpPr/>
          <p:nvPr/>
        </p:nvSpPr>
        <p:spPr>
          <a:xfrm>
            <a:off x="3465785" y="2971800"/>
            <a:ext cx="2317788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North gets a signed brief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slot.phase.2.body"/>
          <p:cNvSpPr/>
          <p:nvPr/>
        </p:nvSpPr>
        <p:spPr>
          <a:xfrm>
            <a:off x="3465785" y="3172968"/>
            <a:ext cx="2317788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Rated by reps every single week</a:t>
            </a:r>
            <a:endParaRPr lang="en-US" sz="9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lot.phase.3.head"/>
          <p:cNvSpPr/>
          <p:nvPr/>
        </p:nvSpPr>
        <p:spPr>
          <a:xfrm>
            <a:off x="6378932" y="2971800"/>
            <a:ext cx="2317788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Six regions trained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lot.phase.3.body"/>
          <p:cNvSpPr/>
          <p:nvPr/>
        </p:nvSpPr>
        <p:spPr>
          <a:xfrm>
            <a:off x="6378932" y="3172968"/>
            <a:ext cx="2317788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Rollout set for 22 Jan</a:t>
            </a:r>
            <a:endParaRPr lang="en-US" sz="9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lot.phase.4.head"/>
          <p:cNvSpPr/>
          <p:nvPr/>
        </p:nvSpPr>
        <p:spPr>
          <a:xfrm>
            <a:off x="9275547" y="2971800"/>
            <a:ext cx="2317788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excellence owns service</a:t>
            </a:r>
            <a:endParaRPr lang="en-US" sz="105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lot.phase.4.body"/>
          <p:cNvSpPr/>
          <p:nvPr/>
        </p:nvSpPr>
        <p:spPr>
          <a:xfrm>
            <a:off x="9275547" y="3172968"/>
            <a:ext cx="2317788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Run fee covers operations and tuning</a:t>
            </a:r>
            <a:endParaRPr lang="en-US" sz="9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truct.lens.1"/>
          <p:cNvSpPr/>
          <p:nvPr/>
        </p:nvSpPr>
        <p:spPr>
          <a:xfrm>
            <a:off x="894192" y="2331720"/>
            <a:ext cx="603504" cy="603504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slot.lens.1"/>
          <p:cNvSpPr/>
          <p:nvPr/>
        </p:nvSpPr>
        <p:spPr>
          <a:xfrm>
            <a:off x="964165" y="2551176"/>
            <a:ext cx="463557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Feeds</a:t>
            </a:r>
            <a:endParaRPr lang="en-US" sz="8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truct.lens.2"/>
          <p:cNvSpPr/>
          <p:nvPr/>
        </p:nvSpPr>
        <p:spPr>
          <a:xfrm>
            <a:off x="1411235" y="2331720"/>
            <a:ext cx="603504" cy="603504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slot.lens.2"/>
          <p:cNvSpPr/>
          <p:nvPr/>
        </p:nvSpPr>
        <p:spPr>
          <a:xfrm>
            <a:off x="1481209" y="2551176"/>
            <a:ext cx="463557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</a:t>
            </a:r>
            <a:endParaRPr lang="en-US" sz="8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struct.lens.3"/>
          <p:cNvSpPr/>
          <p:nvPr/>
        </p:nvSpPr>
        <p:spPr>
          <a:xfrm>
            <a:off x="1928281" y="2331720"/>
            <a:ext cx="603504" cy="603504"/>
          </a:xfrm>
          <a:prstGeom prst="ellipse">
            <a:avLst/>
          </a:prstGeom>
          <a:solidFill>
            <a:schemeClr val="bg1"/>
          </a:solidFill>
          <a:ln cap="flat" cmpd="sng" w="119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slot.lens.3"/>
          <p:cNvSpPr/>
          <p:nvPr/>
        </p:nvSpPr>
        <p:spPr>
          <a:xfrm>
            <a:off x="1998253" y="2551176"/>
            <a:ext cx="463557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Reps</a:t>
            </a:r>
            <a:endParaRPr lang="en-US" sz="8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struct.radar.1"/>
          <p:cNvSpPr/>
          <p:nvPr/>
        </p:nvSpPr>
        <p:spPr>
          <a:xfrm>
            <a:off x="3669239" y="2335706"/>
            <a:ext cx="632116" cy="589185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bg1">
              <a:lumMod val="95000"/>
            </a:schemeClr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slot.track.1"/>
          <p:cNvSpPr/>
          <p:nvPr/>
        </p:nvSpPr>
        <p:spPr>
          <a:xfrm>
            <a:off x="4266974" y="2359152"/>
            <a:ext cx="4635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slot.track.2"/>
          <p:cNvSpPr/>
          <p:nvPr/>
        </p:nvSpPr>
        <p:spPr>
          <a:xfrm>
            <a:off x="4634698" y="2359152"/>
            <a:ext cx="4635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slot.track.3"/>
          <p:cNvSpPr/>
          <p:nvPr/>
        </p:nvSpPr>
        <p:spPr>
          <a:xfrm>
            <a:off x="5002420" y="2359152"/>
            <a:ext cx="46355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Ship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1" name="struct.track"/>
          <p:cNvCxnSpPr/>
          <p:nvPr/>
        </p:nvCxnSpPr>
        <p:spPr>
          <a:xfrm>
            <a:off x="4365640" y="2623868"/>
            <a:ext cx="1196379" cy="0"/>
          </a:xfrm>
          <a:prstGeom prst="straightConnector1">
            <a:avLst/>
          </a:prstGeom>
          <a:noFill/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sp>
        <p:nvSpPr>
          <p:cNvPr id="92" name="struct.track.node.1"/>
          <p:cNvSpPr/>
          <p:nvPr/>
        </p:nvSpPr>
        <p:spPr>
          <a:xfrm>
            <a:off x="4446755" y="2571842"/>
            <a:ext cx="103997" cy="103997"/>
          </a:xfrm>
          <a:prstGeom prst="ellipse">
            <a:avLst/>
          </a:prstGeom>
          <a:solidFill>
            <a:schemeClr val="bg1"/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struct.track.node.2"/>
          <p:cNvSpPr/>
          <p:nvPr/>
        </p:nvSpPr>
        <p:spPr>
          <a:xfrm>
            <a:off x="4814479" y="2571842"/>
            <a:ext cx="103997" cy="103997"/>
          </a:xfrm>
          <a:prstGeom prst="ellipse">
            <a:avLst/>
          </a:prstGeom>
          <a:solidFill>
            <a:schemeClr val="bg1"/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struct.track.node.3"/>
          <p:cNvSpPr/>
          <p:nvPr/>
        </p:nvSpPr>
        <p:spPr>
          <a:xfrm>
            <a:off x="5182201" y="2571842"/>
            <a:ext cx="103997" cy="103997"/>
          </a:xfrm>
          <a:prstGeom prst="ellipse">
            <a:avLst/>
          </a:prstGeom>
          <a:solidFill>
            <a:schemeClr val="bg1"/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struct.step.1"/>
          <p:cNvSpPr/>
          <p:nvPr/>
        </p:nvSpPr>
        <p:spPr>
          <a:xfrm>
            <a:off x="6586402" y="2387031"/>
            <a:ext cx="418790" cy="4187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slot.step.1"/>
          <p:cNvSpPr/>
          <p:nvPr/>
        </p:nvSpPr>
        <p:spPr>
          <a:xfrm>
            <a:off x="6421386" y="2807208"/>
            <a:ext cx="748823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Connect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7" name="struct.step.arrow.1"/>
          <p:cNvCxnSpPr/>
          <p:nvPr/>
        </p:nvCxnSpPr>
        <p:spPr>
          <a:xfrm>
            <a:off x="7046088" y="2596456"/>
            <a:ext cx="200436" cy="0"/>
          </a:xfrm>
          <a:prstGeom prst="straightConnector1">
            <a:avLst/>
          </a:prstGeom>
          <a:noFill/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98" name="struct.step.2"/>
          <p:cNvSpPr/>
          <p:nvPr/>
        </p:nvSpPr>
        <p:spPr>
          <a:xfrm>
            <a:off x="7265675" y="2387031"/>
            <a:ext cx="418790" cy="4187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slot.step.2"/>
          <p:cNvSpPr/>
          <p:nvPr/>
        </p:nvSpPr>
        <p:spPr>
          <a:xfrm>
            <a:off x="7100658" y="2807208"/>
            <a:ext cx="748823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Write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0" name="struct.step.arrow.2"/>
          <p:cNvCxnSpPr/>
          <p:nvPr/>
        </p:nvCxnSpPr>
        <p:spPr>
          <a:xfrm>
            <a:off x="7725359" y="2596456"/>
            <a:ext cx="200436" cy="0"/>
          </a:xfrm>
          <a:prstGeom prst="straightConnector1">
            <a:avLst/>
          </a:prstGeom>
          <a:noFill/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med" w="med" type="triangle"/>
          </a:ln>
          <a:effectLst/>
        </p:spPr>
      </p:cxnSp>
      <p:sp>
        <p:nvSpPr>
          <p:cNvPr id="101" name="struct.step.3"/>
          <p:cNvSpPr/>
          <p:nvPr/>
        </p:nvSpPr>
        <p:spPr>
          <a:xfrm>
            <a:off x="7944947" y="2387031"/>
            <a:ext cx="418790" cy="4187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slot.step.3"/>
          <p:cNvSpPr/>
          <p:nvPr/>
        </p:nvSpPr>
        <p:spPr>
          <a:xfrm>
            <a:off x="7779930" y="2807208"/>
            <a:ext cx="748823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</a:t>
            </a:r>
            <a:endParaRPr lang="en-US" sz="9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struct.wave.3"/>
          <p:cNvSpPr/>
          <p:nvPr/>
        </p:nvSpPr>
        <p:spPr>
          <a:xfrm>
            <a:off x="10751469" y="2377440"/>
            <a:ext cx="942269" cy="329184"/>
          </a:xfrm>
          <a:prstGeom prst="homePlate">
            <a:avLst>
              <a:gd fmla="val 50000" name="adj"/>
            </a:avLst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slot.wave.label"/>
          <p:cNvSpPr/>
          <p:nvPr/>
        </p:nvSpPr>
        <p:spPr>
          <a:xfrm>
            <a:off x="9184447" y="2752344"/>
            <a:ext cx="24828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sponsor review every quarter</a:t>
            </a:r>
            <a:endParaRPr lang="en-US" sz="9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struct.wave.2"/>
          <p:cNvSpPr/>
          <p:nvPr/>
        </p:nvSpPr>
        <p:spPr>
          <a:xfrm>
            <a:off x="9969660" y="2377440"/>
            <a:ext cx="942269" cy="329184"/>
          </a:xfrm>
          <a:prstGeom prst="homePlate">
            <a:avLst>
              <a:gd fmla="val 50000" name="adj"/>
            </a:avLst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struct.wave.1"/>
          <p:cNvSpPr/>
          <p:nvPr/>
        </p:nvSpPr>
        <p:spPr>
          <a:xfrm>
            <a:off x="9187853" y="2377440"/>
            <a:ext cx="942269" cy="329184"/>
          </a:xfrm>
          <a:prstGeom prst="homePlate">
            <a:avLst>
              <a:gd fmla="val 50000" name="adj"/>
            </a:avLst>
          </a:prstGeom>
          <a:solidFill>
            <a:schemeClr val="tx1">
              <a:lumMod val="75000"/>
              <a:lumOff val="25000"/>
            </a:schemeClr>
          </a:solidFill>
          <a:ln cap="flat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slot.wave.1"/>
          <p:cNvSpPr/>
          <p:nvPr/>
        </p:nvSpPr>
        <p:spPr>
          <a:xfrm>
            <a:off x="9312657" y="2459736"/>
            <a:ext cx="659678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Q1 2027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slot.wave.2"/>
          <p:cNvSpPr/>
          <p:nvPr/>
        </p:nvSpPr>
        <p:spPr>
          <a:xfrm>
            <a:off x="10094464" y="2459736"/>
            <a:ext cx="659678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Q2 2027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slot.wave.3"/>
          <p:cNvSpPr/>
          <p:nvPr/>
        </p:nvSpPr>
        <p:spPr>
          <a:xfrm>
            <a:off x="10876272" y="2459736"/>
            <a:ext cx="659678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Q3 2027</a:t>
            </a:r>
            <a:endParaRPr lang="en-US" sz="9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struct.radar.2"/>
          <p:cNvSpPr/>
          <p:nvPr/>
        </p:nvSpPr>
        <p:spPr>
          <a:xfrm>
            <a:off x="3819438" y="2496122"/>
            <a:ext cx="344719" cy="321592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bg1">
              <a:lumMod val="95000"/>
            </a:schemeClr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struct.radar.3"/>
          <p:cNvSpPr/>
          <p:nvPr/>
        </p:nvSpPr>
        <p:spPr>
          <a:xfrm>
            <a:off x="3968732" y="2644801"/>
            <a:ext cx="50399" cy="45599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bg1">
              <a:lumMod val="75000"/>
            </a:schemeClr>
          </a:solidFill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slot.phase.1.metric"/>
          <p:cNvSpPr/>
          <p:nvPr/>
        </p:nvSpPr>
        <p:spPr>
          <a:xfrm>
            <a:off x="574773" y="3355848"/>
            <a:ext cx="2317788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weeks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slot.phase.2.metric"/>
          <p:cNvSpPr/>
          <p:nvPr/>
        </p:nvSpPr>
        <p:spPr>
          <a:xfrm>
            <a:off x="3465785" y="3355848"/>
            <a:ext cx="2317788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 weeks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slot.phase.3.metric"/>
          <p:cNvSpPr/>
          <p:nvPr/>
        </p:nvSpPr>
        <p:spPr>
          <a:xfrm>
            <a:off x="6378932" y="3355848"/>
            <a:ext cx="2317788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weeks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slot.phase.4.metric"/>
          <p:cNvSpPr/>
          <p:nvPr/>
        </p:nvSpPr>
        <p:spPr>
          <a:xfrm>
            <a:off x="9275547" y="3355848"/>
            <a:ext cx="2317788" cy="192024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Ongoing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struct.brace"/>
          <p:cNvSpPr/>
          <p:nvPr/>
        </p:nvSpPr>
        <p:spPr>
          <a:xfrm rot="-5400000">
            <a:off x="8892460" y="2125790"/>
            <a:ext cx="183595" cy="5561132"/>
          </a:xfrm>
          <a:prstGeom prst="leftBrace">
            <a:avLst>
              <a:gd fmla="val 43215" name="adj1"/>
              <a:gd fmla="val 50000" name="adj2"/>
            </a:avLst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struct.loop.head.1"/>
          <p:cNvSpPr/>
          <p:nvPr/>
        </p:nvSpPr>
        <p:spPr>
          <a:xfrm rot="5400000">
            <a:off x="6809740" y="5108831"/>
            <a:ext cx="95198" cy="81998"/>
          </a:xfrm>
          <a:prstGeom prst="triangle">
            <a:avLst>
              <a:gd fmla="val 50000" name="adj"/>
            </a:avLst>
          </a:prstGeom>
          <a:solidFill>
            <a:schemeClr val="bg1">
              <a:lumMod val="85000"/>
            </a:schemeClr>
          </a:solidFill>
          <a:ln cap="rnd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struct.loop.head.2"/>
          <p:cNvSpPr/>
          <p:nvPr/>
        </p:nvSpPr>
        <p:spPr>
          <a:xfrm>
            <a:off x="6159266" y="5633802"/>
            <a:ext cx="95198" cy="81998"/>
          </a:xfrm>
          <a:prstGeom prst="triangle">
            <a:avLst>
              <a:gd fmla="val 50000" name="adj"/>
            </a:avLst>
          </a:prstGeom>
          <a:solidFill>
            <a:schemeClr val="bg1">
              <a:lumMod val="85000"/>
            </a:schemeClr>
          </a:solidFill>
          <a:ln cap="rnd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struct.loop.head.3"/>
          <p:cNvSpPr/>
          <p:nvPr/>
        </p:nvSpPr>
        <p:spPr>
          <a:xfrm rot="-5400000">
            <a:off x="11053890" y="5103746"/>
            <a:ext cx="95198" cy="81998"/>
          </a:xfrm>
          <a:prstGeom prst="triangle">
            <a:avLst>
              <a:gd fmla="val 50000" name="adj"/>
            </a:avLst>
          </a:prstGeom>
          <a:solidFill>
            <a:schemeClr val="bg1">
              <a:lumMod val="85000"/>
            </a:schemeClr>
          </a:solidFill>
          <a:ln cap="rnd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struct.loop.head.4"/>
          <p:cNvSpPr/>
          <p:nvPr/>
        </p:nvSpPr>
        <p:spPr>
          <a:xfrm rot="10800000">
            <a:off x="11700567" y="5623510"/>
            <a:ext cx="95198" cy="81998"/>
          </a:xfrm>
          <a:prstGeom prst="triangle">
            <a:avLst>
              <a:gd fmla="val 50000" name="adj"/>
            </a:avLst>
          </a:prstGeom>
          <a:solidFill>
            <a:schemeClr val="bg1">
              <a:lumMod val="85000"/>
            </a:schemeClr>
          </a:solidFill>
          <a:ln cap="rnd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struct.loop"/>
          <p:cNvSpPr/>
          <p:nvPr/>
        </p:nvSpPr>
        <p:spPr>
          <a:xfrm>
            <a:off x="6202538" y="5144791"/>
            <a:ext cx="5541245" cy="1170771"/>
          </a:xfrm>
          <a:prstGeom prst="roundRect">
            <a:avLst>
              <a:gd fmla="val 50000" name="adj"/>
            </a:avLst>
          </a:prstGeom>
          <a:noFill/>
          <a:ln cap="rnd" cmpd="sng" w="9525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slot.loop.label"/>
          <p:cNvSpPr/>
          <p:nvPr/>
        </p:nvSpPr>
        <p:spPr>
          <a:xfrm>
            <a:off x="6906729" y="5230368"/>
            <a:ext cx="4152620" cy="173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Every week once live</a:t>
            </a:r>
            <a:endParaRPr lang="en-US" sz="105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struct.loop.step.1"/>
          <p:cNvSpPr/>
          <p:nvPr/>
        </p:nvSpPr>
        <p:spPr>
          <a:xfrm>
            <a:off x="6646031" y="5440680"/>
            <a:ext cx="487988" cy="4879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slot.loop.step.1"/>
          <p:cNvSpPr/>
          <p:nvPr/>
        </p:nvSpPr>
        <p:spPr>
          <a:xfrm>
            <a:off x="6444297" y="5989320"/>
            <a:ext cx="891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struct.loop.step.2"/>
          <p:cNvSpPr/>
          <p:nvPr/>
        </p:nvSpPr>
        <p:spPr>
          <a:xfrm>
            <a:off x="7610980" y="5440680"/>
            <a:ext cx="487988" cy="4879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slot.loop.step.2"/>
          <p:cNvSpPr/>
          <p:nvPr/>
        </p:nvSpPr>
        <p:spPr>
          <a:xfrm>
            <a:off x="7409246" y="5989320"/>
            <a:ext cx="891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struct.loop.step.3"/>
          <p:cNvSpPr/>
          <p:nvPr/>
        </p:nvSpPr>
        <p:spPr>
          <a:xfrm>
            <a:off x="8557324" y="5440680"/>
            <a:ext cx="487988" cy="4879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slot.loop.step.3"/>
          <p:cNvSpPr/>
          <p:nvPr/>
        </p:nvSpPr>
        <p:spPr>
          <a:xfrm>
            <a:off x="8355590" y="5989320"/>
            <a:ext cx="891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struct.loop.step.4"/>
          <p:cNvSpPr/>
          <p:nvPr/>
        </p:nvSpPr>
        <p:spPr>
          <a:xfrm>
            <a:off x="9595955" y="5440680"/>
            <a:ext cx="487988" cy="4879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slot.loop.step.4"/>
          <p:cNvSpPr/>
          <p:nvPr/>
        </p:nvSpPr>
        <p:spPr>
          <a:xfrm>
            <a:off x="9394220" y="5989320"/>
            <a:ext cx="891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Ship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struct.loop.step.5"/>
          <p:cNvSpPr/>
          <p:nvPr/>
        </p:nvSpPr>
        <p:spPr>
          <a:xfrm>
            <a:off x="10648340" y="5440680"/>
            <a:ext cx="487988" cy="48798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/>
              <a:t/>
            </a:r>
            <a:endParaRPr b="0" i="0" sz="1400" u="none" cap="none" strike="noStrike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slot.loop.step.5"/>
          <p:cNvSpPr/>
          <p:nvPr/>
        </p:nvSpPr>
        <p:spPr>
          <a:xfrm>
            <a:off x="10446605" y="5989320"/>
            <a:ext cx="891457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anchorCtr="0" anchor="ctr" bIns="0" lIns="0" spcFirstLastPara="1" rIns="0" wrap="square" tIns="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Learn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3" name="struct.radar.spoke.1"/>
          <p:cNvCxnSpPr/>
          <p:nvPr/>
        </p:nvCxnSpPr>
        <p:spPr>
          <a:xfrm rot="10800000">
            <a:off x="4098350" y="2817692"/>
            <a:ext cx="82280" cy="107197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134" name="struct.radar.spoke.2"/>
          <p:cNvCxnSpPr/>
          <p:nvPr/>
        </p:nvCxnSpPr>
        <p:spPr>
          <a:xfrm flipH="1">
            <a:off x="4164089" y="2560753"/>
            <a:ext cx="137264" cy="58399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135" name="struct.radar.spoke.3"/>
          <p:cNvCxnSpPr/>
          <p:nvPr/>
        </p:nvCxnSpPr>
        <p:spPr>
          <a:xfrm>
            <a:off x="3985296" y="2335706"/>
            <a:ext cx="6629" cy="160396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136" name="struct.radar.spoke.4"/>
          <p:cNvCxnSpPr/>
          <p:nvPr/>
        </p:nvCxnSpPr>
        <p:spPr>
          <a:xfrm>
            <a:off x="3669239" y="2560753"/>
            <a:ext cx="150132" cy="58399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137" name="struct.radar.spoke.5"/>
          <p:cNvCxnSpPr/>
          <p:nvPr/>
        </p:nvCxnSpPr>
        <p:spPr>
          <a:xfrm flipH="1" rot="10800000">
            <a:off x="3788739" y="2817692"/>
            <a:ext cx="97598" cy="107197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solid"/>
            <a:round/>
            <a:headEnd len="sm" w="sm" type="none"/>
            <a:tailEnd len="sm" w="sm" type="none"/>
          </a:ln>
          <a:effectLst/>
        </p:spPr>
      </p:cxnSp>
      <p:cxnSp>
        <p:nvCxnSpPr>
          <p:cNvPr id="138" name="struct.radar.spoke.6"/>
          <p:cNvCxnSpPr/>
          <p:nvPr/>
        </p:nvCxnSpPr>
        <p:spPr>
          <a:xfrm flipH="1" rot="10800000">
            <a:off x="3885274" y="2690515"/>
            <a:ext cx="93589" cy="127197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39" name="struct.radar.spoke.7"/>
          <p:cNvCxnSpPr/>
          <p:nvPr/>
        </p:nvCxnSpPr>
        <p:spPr>
          <a:xfrm rot="10800000">
            <a:off x="4009022" y="2690515"/>
            <a:ext cx="89300" cy="127197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40" name="struct.radar.spoke.8"/>
          <p:cNvCxnSpPr/>
          <p:nvPr/>
        </p:nvCxnSpPr>
        <p:spPr>
          <a:xfrm flipH="1">
            <a:off x="4018313" y="2618959"/>
            <a:ext cx="145843" cy="43199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41" name="struct.radar.spoke.9"/>
          <p:cNvCxnSpPr/>
          <p:nvPr/>
        </p:nvCxnSpPr>
        <p:spPr>
          <a:xfrm>
            <a:off x="3991797" y="2496122"/>
            <a:ext cx="1950" cy="148796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cxnSp>
        <p:nvCxnSpPr>
          <p:cNvPr id="142" name="struct.radar.spoke.10"/>
          <p:cNvCxnSpPr/>
          <p:nvPr/>
        </p:nvCxnSpPr>
        <p:spPr>
          <a:xfrm>
            <a:off x="3819438" y="2618959"/>
            <a:ext cx="155202" cy="48799"/>
          </a:xfrm>
          <a:prstGeom prst="straightConnector1">
            <a:avLst/>
          </a:prstGeom>
          <a:noFill/>
          <a:ln cap="flat" cmpd="sng" w="7150">
            <a:solidFill>
              <a:schemeClr val="bg1">
                <a:lumMod val="75000"/>
              </a:schemeClr>
            </a:solidFill>
            <a:prstDash val="dash"/>
            <a:round/>
            <a:headEnd len="sm" w="sm" type="none"/>
            <a:tailEnd len="sm" w="sm" type="none"/>
          </a:ln>
          <a:effectLst/>
        </p:spPr>
      </p:cxnSp>
      <p:sp>
        <p:nvSpPr>
          <p:cNvPr id="143" name="struct.gate.1.icon"/>
          <p:cNvSpPr/>
          <p:nvPr/>
        </p:nvSpPr>
        <p:spPr>
          <a:xfrm>
            <a:off x="528857" y="154377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44" name="struct.gate.2.icon"/>
          <p:cNvSpPr/>
          <p:nvPr/>
        </p:nvSpPr>
        <p:spPr>
          <a:xfrm>
            <a:off x="3323355" y="154377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45" name="struct.gate.3.icon"/>
          <p:cNvSpPr/>
          <p:nvPr/>
        </p:nvSpPr>
        <p:spPr>
          <a:xfrm>
            <a:off x="6001647" y="154377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46" name="struct.gate.4.icon"/>
          <p:cNvSpPr/>
          <p:nvPr/>
        </p:nvSpPr>
        <p:spPr>
          <a:xfrm>
            <a:off x="8724238" y="1543773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54" name="struct.list.1.mark.1"/>
          <p:cNvSpPr/>
          <p:nvPr/>
        </p:nvSpPr>
        <p:spPr>
          <a:xfrm>
            <a:off x="625244" y="363174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55" name="struct.list.1.mark.2"/>
          <p:cNvSpPr/>
          <p:nvPr/>
        </p:nvSpPr>
        <p:spPr>
          <a:xfrm>
            <a:off x="625244" y="3873164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56" name="struct.list.1.mark.3"/>
          <p:cNvSpPr/>
          <p:nvPr/>
        </p:nvSpPr>
        <p:spPr>
          <a:xfrm>
            <a:off x="625244" y="41145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57" name="struct.list.1.mark.4"/>
          <p:cNvSpPr/>
          <p:nvPr/>
        </p:nvSpPr>
        <p:spPr>
          <a:xfrm>
            <a:off x="625244" y="4355996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58" name="struct.list.1.mark.5"/>
          <p:cNvSpPr/>
          <p:nvPr/>
        </p:nvSpPr>
        <p:spPr>
          <a:xfrm>
            <a:off x="625244" y="459741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59" name="struct.list.2.mark.1"/>
          <p:cNvSpPr/>
          <p:nvPr/>
        </p:nvSpPr>
        <p:spPr>
          <a:xfrm>
            <a:off x="3526044" y="363174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0" name="struct.list.2.mark.2"/>
          <p:cNvSpPr/>
          <p:nvPr/>
        </p:nvSpPr>
        <p:spPr>
          <a:xfrm>
            <a:off x="3526044" y="3873164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1" name="struct.list.2.mark.3"/>
          <p:cNvSpPr/>
          <p:nvPr/>
        </p:nvSpPr>
        <p:spPr>
          <a:xfrm>
            <a:off x="3526044" y="41145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2" name="struct.list.2.mark.4"/>
          <p:cNvSpPr/>
          <p:nvPr/>
        </p:nvSpPr>
        <p:spPr>
          <a:xfrm>
            <a:off x="3526044" y="4355996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3" name="struct.list.2.mark.5"/>
          <p:cNvSpPr/>
          <p:nvPr/>
        </p:nvSpPr>
        <p:spPr>
          <a:xfrm>
            <a:off x="3526044" y="459741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4" name="struct.list.3.mark.1"/>
          <p:cNvSpPr/>
          <p:nvPr/>
        </p:nvSpPr>
        <p:spPr>
          <a:xfrm>
            <a:off x="6428628" y="363174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5" name="struct.list.3.mark.2"/>
          <p:cNvSpPr/>
          <p:nvPr/>
        </p:nvSpPr>
        <p:spPr>
          <a:xfrm>
            <a:off x="6428628" y="3873164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6" name="struct.list.3.mark.3"/>
          <p:cNvSpPr/>
          <p:nvPr/>
        </p:nvSpPr>
        <p:spPr>
          <a:xfrm>
            <a:off x="6428628" y="41145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7" name="struct.list.3.mark.4"/>
          <p:cNvSpPr/>
          <p:nvPr/>
        </p:nvSpPr>
        <p:spPr>
          <a:xfrm>
            <a:off x="6428628" y="4355996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8" name="struct.list.3.mark.5"/>
          <p:cNvSpPr/>
          <p:nvPr/>
        </p:nvSpPr>
        <p:spPr>
          <a:xfrm>
            <a:off x="6428628" y="459741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69" name="struct.list.4.mark.1"/>
          <p:cNvSpPr/>
          <p:nvPr/>
        </p:nvSpPr>
        <p:spPr>
          <a:xfrm>
            <a:off x="9348149" y="3631749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70" name="struct.list.4.mark.2"/>
          <p:cNvSpPr/>
          <p:nvPr/>
        </p:nvSpPr>
        <p:spPr>
          <a:xfrm>
            <a:off x="9348149" y="3873164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71" name="struct.list.4.mark.3"/>
          <p:cNvSpPr/>
          <p:nvPr/>
        </p:nvSpPr>
        <p:spPr>
          <a:xfrm>
            <a:off x="9348149" y="4114580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72" name="struct.list.4.mark.4"/>
          <p:cNvSpPr/>
          <p:nvPr/>
        </p:nvSpPr>
        <p:spPr>
          <a:xfrm>
            <a:off x="9348149" y="4355996"/>
            <a:ext cx="155448" cy="1554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127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78" name="slot.phase.1.icon"/>
          <p:cNvSpPr/>
          <p:nvPr/>
        </p:nvSpPr>
        <p:spPr>
          <a:xfrm>
            <a:off x="2381468" y="150207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240" y="7760"/>
                </a:moveTo>
                <a:lnTo>
                  <a:pt x="14436" y="13171"/>
                </a:lnTo>
                <a:cubicBezTo>
                  <a:pt x="14237" y="13768"/>
                  <a:pt x="13768" y="14237"/>
                  <a:pt x="13171" y="14436"/>
                </a:cubicBezTo>
                <a:lnTo>
                  <a:pt x="7760" y="16240"/>
                </a:lnTo>
                <a:lnTo>
                  <a:pt x="9564" y="10829"/>
                </a:lnTo>
                <a:cubicBezTo>
                  <a:pt x="9763" y="10232"/>
                  <a:pt x="10232" y="9763"/>
                  <a:pt x="10829" y="9564"/>
                </a:cubicBezTo>
                <a:close/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79" name="slot.phase.2.icon"/>
          <p:cNvSpPr/>
          <p:nvPr/>
        </p:nvSpPr>
        <p:spPr>
          <a:xfrm>
            <a:off x="4601177" y="150207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000" y="2000"/>
                </a:moveTo>
                <a:lnTo>
                  <a:pt x="14000" y="8000"/>
                </a:lnTo>
                <a:cubicBezTo>
                  <a:pt x="14000" y="8335"/>
                  <a:pt x="14084" y="8666"/>
                  <a:pt x="14245" y="8960"/>
                </a:cubicBezTo>
                <a:lnTo>
                  <a:pt x="19755" y="19040"/>
                </a:lnTo>
                <a:cubicBezTo>
                  <a:pt x="20094" y="19660"/>
                  <a:pt x="20081" y="20412"/>
                  <a:pt x="19721" y="21020"/>
                </a:cubicBezTo>
                <a:cubicBezTo>
                  <a:pt x="19361" y="21628"/>
                  <a:pt x="18706" y="22000"/>
                  <a:pt x="18000" y="22000"/>
                </a:cubicBezTo>
                <a:lnTo>
                  <a:pt x="6000" y="22000"/>
                </a:lnTo>
                <a:cubicBezTo>
                  <a:pt x="5294" y="22000"/>
                  <a:pt x="4639" y="21628"/>
                  <a:pt x="4279" y="21020"/>
                </a:cubicBezTo>
                <a:cubicBezTo>
                  <a:pt x="3919" y="20412"/>
                  <a:pt x="3906" y="19660"/>
                  <a:pt x="4245" y="19040"/>
                </a:cubicBezTo>
                <a:lnTo>
                  <a:pt x="9755" y="8960"/>
                </a:lnTo>
                <a:cubicBezTo>
                  <a:pt x="9916" y="8666"/>
                  <a:pt x="10000" y="8335"/>
                  <a:pt x="10000" y="8000"/>
                </a:cubicBezTo>
                <a:lnTo>
                  <a:pt x="10000" y="2000"/>
                </a:lnTo>
                <a:moveTo>
                  <a:pt x="6453" y="15000"/>
                </a:moveTo>
                <a:lnTo>
                  <a:pt x="17547" y="15000"/>
                </a:lnTo>
                <a:moveTo>
                  <a:pt x="8500" y="2000"/>
                </a:moveTo>
                <a:lnTo>
                  <a:pt x="15500" y="2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0" name="slot.phase.3.icon"/>
          <p:cNvSpPr/>
          <p:nvPr/>
        </p:nvSpPr>
        <p:spPr>
          <a:xfrm>
            <a:off x="7302494" y="150207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1" name="slot.step.1.icon"/>
          <p:cNvSpPr/>
          <p:nvPr/>
        </p:nvSpPr>
        <p:spPr>
          <a:xfrm>
            <a:off x="6667781" y="246841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2" name="slot.step.2.icon"/>
          <p:cNvSpPr/>
          <p:nvPr/>
        </p:nvSpPr>
        <p:spPr>
          <a:xfrm>
            <a:off x="7347054" y="246841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3" name="slot.step.3.icon"/>
          <p:cNvSpPr/>
          <p:nvPr/>
        </p:nvSpPr>
        <p:spPr>
          <a:xfrm>
            <a:off x="8026326" y="2468410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159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4" name="slot.phase.4.icon"/>
          <p:cNvSpPr/>
          <p:nvPr/>
        </p:nvSpPr>
        <p:spPr>
          <a:xfrm>
            <a:off x="9527802" y="1502073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7000"/>
                </a:moveTo>
                <a:lnTo>
                  <a:pt x="22000" y="7000"/>
                </a:lnTo>
                <a:lnTo>
                  <a:pt x="22000" y="13000"/>
                </a:lnTo>
                <a:moveTo>
                  <a:pt x="22000" y="7000"/>
                </a:moveTo>
                <a:lnTo>
                  <a:pt x="13500" y="15500"/>
                </a:lnTo>
                <a:lnTo>
                  <a:pt x="8500" y="10500"/>
                </a:lnTo>
                <a:lnTo>
                  <a:pt x="2000" y="17000"/>
                </a:lnTo>
              </a:path>
            </a:pathLst>
          </a:custGeom>
          <a:noFill/>
          <a:ln w="1968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5" name="slot.loop.step.1.icon"/>
          <p:cNvSpPr/>
          <p:nvPr/>
        </p:nvSpPr>
        <p:spPr>
          <a:xfrm>
            <a:off x="6743721" y="553837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6" name="slot.loop.step.2.icon"/>
          <p:cNvSpPr/>
          <p:nvPr/>
        </p:nvSpPr>
        <p:spPr>
          <a:xfrm>
            <a:off x="7708670" y="553837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7" name="slot.loop.step.3.icon"/>
          <p:cNvSpPr/>
          <p:nvPr/>
        </p:nvSpPr>
        <p:spPr>
          <a:xfrm>
            <a:off x="8655014" y="553837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8" name="slot.loop.step.4.icon"/>
          <p:cNvSpPr/>
          <p:nvPr/>
        </p:nvSpPr>
        <p:spPr>
          <a:xfrm>
            <a:off x="9693645" y="553837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536" y="21686"/>
                </a:moveTo>
                <a:cubicBezTo>
                  <a:pt x="14614" y="21880"/>
                  <a:pt x="14804" y="22005"/>
                  <a:pt x="15013" y="22000"/>
                </a:cubicBezTo>
                <a:cubicBezTo>
                  <a:pt x="15222" y="21994"/>
                  <a:pt x="15405" y="21860"/>
                  <a:pt x="15473" y="21662"/>
                </a:cubicBezTo>
                <a:lnTo>
                  <a:pt x="21973" y="2662"/>
                </a:lnTo>
                <a:cubicBezTo>
                  <a:pt x="22038" y="2481"/>
                  <a:pt x="21993" y="2279"/>
                  <a:pt x="21857" y="2143"/>
                </a:cubicBezTo>
                <a:cubicBezTo>
                  <a:pt x="21721" y="2007"/>
                  <a:pt x="21519" y="1962"/>
                  <a:pt x="21338" y="2027"/>
                </a:cubicBezTo>
                <a:lnTo>
                  <a:pt x="2338" y="8527"/>
                </a:lnTo>
                <a:cubicBezTo>
                  <a:pt x="2140" y="8595"/>
                  <a:pt x="2006" y="8778"/>
                  <a:pt x="2000" y="8987"/>
                </a:cubicBezTo>
                <a:cubicBezTo>
                  <a:pt x="1995" y="9196"/>
                  <a:pt x="2120" y="9386"/>
                  <a:pt x="2314" y="9464"/>
                </a:cubicBezTo>
                <a:lnTo>
                  <a:pt x="10244" y="12644"/>
                </a:lnTo>
                <a:cubicBezTo>
                  <a:pt x="10751" y="12847"/>
                  <a:pt x="11152" y="13248"/>
                  <a:pt x="11356" y="13754"/>
                </a:cubicBezTo>
                <a:close/>
                <a:moveTo>
                  <a:pt x="21854" y="2147"/>
                </a:moveTo>
                <a:lnTo>
                  <a:pt x="10914" y="13086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9" name="slot.loop.step.5.icon"/>
          <p:cNvSpPr/>
          <p:nvPr/>
        </p:nvSpPr>
        <p:spPr>
          <a:xfrm>
            <a:off x="10746030" y="553837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2413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cope-and-assumptions:paired-scope-panels-bands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Scope is fixed at six regions, three brands and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public sources only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in.panel"/>
          <p:cNvSpPr/>
          <p:nvPr/>
        </p:nvSpPr>
        <p:spPr>
          <a:xfrm>
            <a:off x="457200" y="777240"/>
            <a:ext cx="6126480" cy="3474720"/>
          </a:xfrm>
          <a:prstGeom prst="roundRect">
            <a:avLst>
              <a:gd name="adj" fmla="val 13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in.header"/>
          <p:cNvSpPr/>
          <p:nvPr/>
        </p:nvSpPr>
        <p:spPr>
          <a:xfrm>
            <a:off x="457200" y="777240"/>
            <a:ext cx="6126480" cy="3840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in.header.icon"/>
          <p:cNvSpPr/>
          <p:nvPr/>
        </p:nvSpPr>
        <p:spPr>
          <a:xfrm>
            <a:off x="658368" y="854050"/>
            <a:ext cx="230429" cy="23042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6000" y="9000"/>
                </a:moveTo>
                <a:lnTo>
                  <a:pt x="10500" y="14500"/>
                </a:lnTo>
                <a:lnTo>
                  <a:pt x="8000" y="12000"/>
                </a:lnTo>
              </a:path>
            </a:pathLst>
          </a:custGeom>
          <a:noFill/>
          <a:ln w="190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" name="in.header.text"/>
          <p:cNvSpPr txBox="1"/>
          <p:nvPr/>
        </p:nvSpPr>
        <p:spPr>
          <a:xfrm>
            <a:off x="998525" y="777240"/>
            <a:ext cx="5383987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 scope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in.1.disc"/>
          <p:cNvSpPr/>
          <p:nvPr/>
        </p:nvSpPr>
        <p:spPr>
          <a:xfrm>
            <a:off x="658368" y="1362456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in.1.text"/>
          <p:cNvSpPr txBox="1"/>
          <p:nvPr/>
        </p:nvSpPr>
        <p:spPr>
          <a:xfrm>
            <a:off x="1152144" y="1362456"/>
            <a:ext cx="4440613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Six regions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North first, then Coastal, Inland, Highland, Lakeside and Delta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in.2.disc"/>
          <p:cNvSpPr/>
          <p:nvPr/>
        </p:nvSpPr>
        <p:spPr>
          <a:xfrm>
            <a:off x="658368" y="1956415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in.2.text"/>
          <p:cNvSpPr txBox="1"/>
          <p:nvPr/>
        </p:nvSpPr>
        <p:spPr>
          <a:xfrm>
            <a:off x="1152144" y="1956415"/>
            <a:ext cx="3037991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Three brands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competitor brief per brand each week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in.3.disc"/>
          <p:cNvSpPr/>
          <p:nvPr/>
        </p:nvSpPr>
        <p:spPr>
          <a:xfrm>
            <a:off x="658368" y="2550373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in.3.text"/>
          <p:cNvSpPr txBox="1"/>
          <p:nvPr/>
        </p:nvSpPr>
        <p:spPr>
          <a:xfrm>
            <a:off x="1152144" y="2550373"/>
            <a:ext cx="3288148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Three agents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Signal scan, brief writer and the review queue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in.4.disc"/>
          <p:cNvSpPr/>
          <p:nvPr/>
        </p:nvSpPr>
        <p:spPr>
          <a:xfrm>
            <a:off x="658368" y="314433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in.4.text"/>
          <p:cNvSpPr txBox="1"/>
          <p:nvPr/>
        </p:nvSpPr>
        <p:spPr>
          <a:xfrm>
            <a:off x="1152144" y="3144332"/>
            <a:ext cx="2868342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Governed foundation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 ledger, claim store and audit log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in.5.disc"/>
          <p:cNvSpPr/>
          <p:nvPr/>
        </p:nvSpPr>
        <p:spPr>
          <a:xfrm>
            <a:off x="658368" y="3738290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in.5.text"/>
          <p:cNvSpPr txBox="1"/>
          <p:nvPr/>
        </p:nvSpPr>
        <p:spPr>
          <a:xfrm>
            <a:off x="1152144" y="3738290"/>
            <a:ext cx="3520571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Two field channels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The existing field app and a Monday email digest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out.panel"/>
          <p:cNvSpPr/>
          <p:nvPr/>
        </p:nvSpPr>
        <p:spPr>
          <a:xfrm>
            <a:off x="6766560" y="777240"/>
            <a:ext cx="5032248" cy="3474720"/>
          </a:xfrm>
          <a:prstGeom prst="roundRect">
            <a:avLst>
              <a:gd name="adj" fmla="val 13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8" name="out.header"/>
          <p:cNvSpPr/>
          <p:nvPr/>
        </p:nvSpPr>
        <p:spPr>
          <a:xfrm>
            <a:off x="6766560" y="777240"/>
            <a:ext cx="5032248" cy="384048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9" name="out.header.icon"/>
          <p:cNvSpPr/>
          <p:nvPr/>
        </p:nvSpPr>
        <p:spPr>
          <a:xfrm>
            <a:off x="6967728" y="854050"/>
            <a:ext cx="230429" cy="23042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4929" y="4929"/>
                </a:moveTo>
                <a:lnTo>
                  <a:pt x="19070" y="19071"/>
                </a:lnTo>
              </a:path>
            </a:pathLst>
          </a:custGeom>
          <a:noFill/>
          <a:ln w="190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0" name="out.header.text"/>
          <p:cNvSpPr txBox="1"/>
          <p:nvPr/>
        </p:nvSpPr>
        <p:spPr>
          <a:xfrm>
            <a:off x="7307885" y="777240"/>
            <a:ext cx="4289755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Out of scope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out.1.disc"/>
          <p:cNvSpPr/>
          <p:nvPr/>
        </p:nvSpPr>
        <p:spPr>
          <a:xfrm>
            <a:off x="6967728" y="1362456"/>
            <a:ext cx="347472" cy="34747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out.1.text"/>
          <p:cNvSpPr txBox="1"/>
          <p:nvPr/>
        </p:nvSpPr>
        <p:spPr>
          <a:xfrm>
            <a:off x="7461504" y="1362456"/>
            <a:ext cx="2046072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Promotional content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 customer-facing material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out.2.disc"/>
          <p:cNvSpPr/>
          <p:nvPr/>
        </p:nvSpPr>
        <p:spPr>
          <a:xfrm>
            <a:off x="6967728" y="1956415"/>
            <a:ext cx="347472" cy="34747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out.2.text"/>
          <p:cNvSpPr txBox="1"/>
          <p:nvPr/>
        </p:nvSpPr>
        <p:spPr>
          <a:xfrm>
            <a:off x="7461504" y="1956415"/>
            <a:ext cx="2582325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Paid data feeds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Public sources unless licensed later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out.3.disc"/>
          <p:cNvSpPr/>
          <p:nvPr/>
        </p:nvSpPr>
        <p:spPr>
          <a:xfrm>
            <a:off x="6967728" y="2550373"/>
            <a:ext cx="347472" cy="34747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out.3.text"/>
          <p:cNvSpPr txBox="1"/>
          <p:nvPr/>
        </p:nvSpPr>
        <p:spPr>
          <a:xfrm>
            <a:off x="7461504" y="2550373"/>
            <a:ext cx="2368028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CRM changes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Briefs use existing field channels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out.4.disc"/>
          <p:cNvSpPr/>
          <p:nvPr/>
        </p:nvSpPr>
        <p:spPr>
          <a:xfrm>
            <a:off x="6967728" y="3144332"/>
            <a:ext cx="347472" cy="34747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out.4.text"/>
          <p:cNvSpPr txBox="1"/>
          <p:nvPr/>
        </p:nvSpPr>
        <p:spPr>
          <a:xfrm>
            <a:off x="7461504" y="3144332"/>
            <a:ext cx="2770021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decisions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Reviewers sign, agents never approve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out.5.disc"/>
          <p:cNvSpPr/>
          <p:nvPr/>
        </p:nvSpPr>
        <p:spPr>
          <a:xfrm>
            <a:off x="6967728" y="3738290"/>
            <a:ext cx="347472" cy="34747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out.5.text"/>
          <p:cNvSpPr txBox="1"/>
          <p:nvPr/>
        </p:nvSpPr>
        <p:spPr>
          <a:xfrm>
            <a:off x="7461504" y="3738290"/>
            <a:ext cx="1894707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Other markets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 regions beyond the six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assume.band"/>
          <p:cNvSpPr/>
          <p:nvPr/>
        </p:nvSpPr>
        <p:spPr>
          <a:xfrm>
            <a:off x="457200" y="4434840"/>
            <a:ext cx="11341608" cy="818388"/>
          </a:xfrm>
          <a:prstGeom prst="roundRect">
            <a:avLst>
              <a:gd name="adj" fmla="val 558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2" name="assume.label.block"/>
          <p:cNvSpPr/>
          <p:nvPr/>
        </p:nvSpPr>
        <p:spPr>
          <a:xfrm>
            <a:off x="457200" y="4434840"/>
            <a:ext cx="1828800" cy="818388"/>
          </a:xfrm>
          <a:prstGeom prst="roundRect">
            <a:avLst>
              <a:gd name="adj" fmla="val 5586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3" name="assume.label"/>
          <p:cNvSpPr txBox="1"/>
          <p:nvPr/>
        </p:nvSpPr>
        <p:spPr>
          <a:xfrm>
            <a:off x="603504" y="4526280"/>
            <a:ext cx="1536192" cy="6355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Assumptions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assume.1.text"/>
          <p:cNvSpPr txBox="1"/>
          <p:nvPr/>
        </p:nvSpPr>
        <p:spPr>
          <a:xfrm>
            <a:off x="2487168" y="4573468"/>
            <a:ext cx="2106168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Reviewer time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Reviewer and deputy per brand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assume.2.text"/>
          <p:cNvSpPr txBox="1"/>
          <p:nvPr/>
        </p:nvSpPr>
        <p:spPr>
          <a:xfrm>
            <a:off x="4821936" y="4573468"/>
            <a:ext cx="2106168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 list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and legal sign by 20 Nov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assume.3.text"/>
          <p:cNvSpPr txBox="1"/>
          <p:nvPr/>
        </p:nvSpPr>
        <p:spPr>
          <a:xfrm>
            <a:off x="7156704" y="4573468"/>
            <a:ext cx="2106168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Access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Feeds and channels open at kickoff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assume.4.text"/>
          <p:cNvSpPr txBox="1"/>
          <p:nvPr/>
        </p:nvSpPr>
        <p:spPr>
          <a:xfrm>
            <a:off x="9491472" y="4573468"/>
            <a:ext cx="2106168" cy="3810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Pilot reps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North reps rate every brief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depend.band"/>
          <p:cNvSpPr/>
          <p:nvPr/>
        </p:nvSpPr>
        <p:spPr>
          <a:xfrm>
            <a:off x="457200" y="5436108"/>
            <a:ext cx="11341608" cy="818388"/>
          </a:xfrm>
          <a:prstGeom prst="roundRect">
            <a:avLst>
              <a:gd name="adj" fmla="val 5586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9" name="depend.label.block"/>
          <p:cNvSpPr/>
          <p:nvPr/>
        </p:nvSpPr>
        <p:spPr>
          <a:xfrm>
            <a:off x="457200" y="5436108"/>
            <a:ext cx="1828800" cy="818388"/>
          </a:xfrm>
          <a:prstGeom prst="roundRect">
            <a:avLst>
              <a:gd name="adj" fmla="val 5586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0" name="depend.label"/>
          <p:cNvSpPr txBox="1"/>
          <p:nvPr/>
        </p:nvSpPr>
        <p:spPr>
          <a:xfrm>
            <a:off x="603504" y="5527548"/>
            <a:ext cx="1536192" cy="63550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Dependencies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depend.1.text"/>
          <p:cNvSpPr txBox="1"/>
          <p:nvPr/>
        </p:nvSpPr>
        <p:spPr>
          <a:xfrm>
            <a:off x="2487168" y="5574736"/>
            <a:ext cx="2106168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review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Signs every brief before release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depend.2.text"/>
          <p:cNvSpPr txBox="1"/>
          <p:nvPr/>
        </p:nvSpPr>
        <p:spPr>
          <a:xfrm>
            <a:off x="4821936" y="5574736"/>
            <a:ext cx="2106168" cy="3810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 excellence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Owns rollout and rep training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depend.3.text"/>
          <p:cNvSpPr txBox="1"/>
          <p:nvPr/>
        </p:nvSpPr>
        <p:spPr>
          <a:xfrm>
            <a:off x="7156704" y="5574736"/>
            <a:ext cx="2106168" cy="3810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IT security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Clears agent access to feeds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depend.4.text"/>
          <p:cNvSpPr txBox="1"/>
          <p:nvPr/>
        </p:nvSpPr>
        <p:spPr>
          <a:xfrm>
            <a:off x="9491472" y="5574736"/>
            <a:ext cx="2106168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Legal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Sets the claim and source rules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age-matrix:stepped-header-bars-tabbed-rows-control-band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Each workstream has a defined job in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every phase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, under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control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hdr.1"/>
          <p:cNvSpPr/>
          <p:nvPr/>
        </p:nvSpPr>
        <p:spPr>
          <a:xfrm>
            <a:off x="2971800" y="777240"/>
            <a:ext cx="2069592" cy="502920"/>
          </a:xfrm>
          <a:prstGeom prst="roundRect">
            <a:avLst>
              <a:gd name="adj" fmla="val 909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hdr.1.disc"/>
          <p:cNvSpPr/>
          <p:nvPr/>
        </p:nvSpPr>
        <p:spPr>
          <a:xfrm>
            <a:off x="3099816" y="873252"/>
            <a:ext cx="310896" cy="31089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0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hdr.1.text"/>
          <p:cNvSpPr txBox="1"/>
          <p:nvPr/>
        </p:nvSpPr>
        <p:spPr>
          <a:xfrm>
            <a:off x="3520440" y="921996"/>
            <a:ext cx="1392936" cy="21340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Assess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hdr.2"/>
          <p:cNvSpPr/>
          <p:nvPr/>
        </p:nvSpPr>
        <p:spPr>
          <a:xfrm>
            <a:off x="5224272" y="777240"/>
            <a:ext cx="2069592" cy="502920"/>
          </a:xfrm>
          <a:prstGeom prst="roundRect">
            <a:avLst>
              <a:gd name="adj" fmla="val 9090"/>
            </a:avLst>
          </a:prstGeom>
          <a:solidFill>
            <a:schemeClr val="tx2"/>
          </a:solidFill>
          <a:ln>
            <a:noFill/>
          </a:ln>
          <a:effectLst/>
        </p:spPr>
        <p:txBody>
          <a:bodyPr/>
          <a:p/>
        </p:txBody>
      </p:sp>
      <p:sp>
        <p:nvSpPr>
          <p:cNvPr id="7" name="hdr.2.disc"/>
          <p:cNvSpPr/>
          <p:nvPr/>
        </p:nvSpPr>
        <p:spPr>
          <a:xfrm>
            <a:off x="5352288" y="873252"/>
            <a:ext cx="310896" cy="31089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0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hdr.2.text"/>
          <p:cNvSpPr txBox="1"/>
          <p:nvPr/>
        </p:nvSpPr>
        <p:spPr>
          <a:xfrm>
            <a:off x="5772912" y="921996"/>
            <a:ext cx="1392936" cy="21340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Pilot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hdr.3"/>
          <p:cNvSpPr/>
          <p:nvPr/>
        </p:nvSpPr>
        <p:spPr>
          <a:xfrm>
            <a:off x="7476744" y="777240"/>
            <a:ext cx="2069592" cy="502920"/>
          </a:xfrm>
          <a:prstGeom prst="roundRect">
            <a:avLst>
              <a:gd name="adj" fmla="val 909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0" name="hdr.3.disc"/>
          <p:cNvSpPr/>
          <p:nvPr/>
        </p:nvSpPr>
        <p:spPr>
          <a:xfrm>
            <a:off x="7604760" y="873252"/>
            <a:ext cx="310896" cy="31089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0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hdr.3.text"/>
          <p:cNvSpPr txBox="1"/>
          <p:nvPr/>
        </p:nvSpPr>
        <p:spPr>
          <a:xfrm>
            <a:off x="8025384" y="921996"/>
            <a:ext cx="1392936" cy="21340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Scale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hdr.4"/>
          <p:cNvSpPr/>
          <p:nvPr/>
        </p:nvSpPr>
        <p:spPr>
          <a:xfrm>
            <a:off x="9729216" y="777240"/>
            <a:ext cx="2069592" cy="502920"/>
          </a:xfrm>
          <a:prstGeom prst="roundRect">
            <a:avLst>
              <a:gd name="adj" fmla="val 909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3" name="hdr.4.disc"/>
          <p:cNvSpPr/>
          <p:nvPr/>
        </p:nvSpPr>
        <p:spPr>
          <a:xfrm>
            <a:off x="9857232" y="873252"/>
            <a:ext cx="310896" cy="310896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0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hdr.4.text"/>
          <p:cNvSpPr txBox="1"/>
          <p:nvPr/>
        </p:nvSpPr>
        <p:spPr>
          <a:xfrm>
            <a:off x="10277856" y="921996"/>
            <a:ext cx="1392936" cy="21340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Run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ail.head"/>
          <p:cNvSpPr txBox="1"/>
          <p:nvPr/>
        </p:nvSpPr>
        <p:spPr>
          <a:xfrm>
            <a:off x="457200" y="905256"/>
            <a:ext cx="233172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WORKSTREAM</a:t>
            </a:r>
            <a:endParaRPr lang="en-US" sz="9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control.label.block"/>
          <p:cNvSpPr/>
          <p:nvPr/>
        </p:nvSpPr>
        <p:spPr>
          <a:xfrm>
            <a:off x="457200" y="1426464"/>
            <a:ext cx="2331720" cy="566928"/>
          </a:xfrm>
          <a:prstGeom prst="roundRect">
            <a:avLst>
              <a:gd name="adj" fmla="val 806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7" name="control.icon"/>
          <p:cNvSpPr/>
          <p:nvPr/>
        </p:nvSpPr>
        <p:spPr>
          <a:xfrm>
            <a:off x="621792" y="1572768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" name="control.label"/>
          <p:cNvSpPr txBox="1"/>
          <p:nvPr/>
        </p:nvSpPr>
        <p:spPr>
          <a:xfrm>
            <a:off x="1005840" y="1618468"/>
            <a:ext cx="1691640" cy="182921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 control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ontrol.band"/>
          <p:cNvSpPr/>
          <p:nvPr/>
        </p:nvSpPr>
        <p:spPr>
          <a:xfrm>
            <a:off x="2971800" y="1426464"/>
            <a:ext cx="8827008" cy="566928"/>
          </a:xfrm>
          <a:prstGeom prst="roundRect">
            <a:avLst>
              <a:gd name="adj" fmla="val 806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0" name="control.text"/>
          <p:cNvSpPr txBox="1"/>
          <p:nvPr/>
        </p:nvSpPr>
        <p:spPr>
          <a:xfrm>
            <a:off x="3172968" y="1618468"/>
            <a:ext cx="8424672" cy="182921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review signs every brief in every phase. </a:t>
            </a: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Nothing reaches the field unsigned.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ow.1.tab"/>
          <p:cNvSpPr/>
          <p:nvPr/>
        </p:nvSpPr>
        <p:spPr>
          <a:xfrm>
            <a:off x="457200" y="2139696"/>
            <a:ext cx="2331720" cy="594360"/>
          </a:xfrm>
          <a:prstGeom prst="roundRect">
            <a:avLst>
              <a:gd name="adj" fmla="val 76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2" name="row.1.icon"/>
          <p:cNvSpPr/>
          <p:nvPr/>
        </p:nvSpPr>
        <p:spPr>
          <a:xfrm>
            <a:off x="621792" y="229971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3" name="row.1.label"/>
          <p:cNvSpPr txBox="1"/>
          <p:nvPr/>
        </p:nvSpPr>
        <p:spPr>
          <a:xfrm>
            <a:off x="1005840" y="2255227"/>
            <a:ext cx="1691640" cy="3632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Signal scan agent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 engineer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cell.1.1"/>
          <p:cNvSpPr/>
          <p:nvPr/>
        </p:nvSpPr>
        <p:spPr>
          <a:xfrm>
            <a:off x="2971800" y="2139696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5" name="cell.1.1.text"/>
          <p:cNvSpPr txBox="1"/>
          <p:nvPr/>
        </p:nvSpPr>
        <p:spPr>
          <a:xfrm>
            <a:off x="3118104" y="2269199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 the source list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cell.1.2"/>
          <p:cNvSpPr/>
          <p:nvPr/>
        </p:nvSpPr>
        <p:spPr>
          <a:xfrm>
            <a:off x="5224272" y="2139696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7" name="cell.1.2.text"/>
          <p:cNvSpPr txBox="1"/>
          <p:nvPr/>
        </p:nvSpPr>
        <p:spPr>
          <a:xfrm>
            <a:off x="5370576" y="2269199"/>
            <a:ext cx="1776984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 feeds for every brand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cell.1.3"/>
          <p:cNvSpPr/>
          <p:nvPr/>
        </p:nvSpPr>
        <p:spPr>
          <a:xfrm>
            <a:off x="7476744" y="2139696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9" name="cell.1.3.text"/>
          <p:cNvSpPr txBox="1"/>
          <p:nvPr/>
        </p:nvSpPr>
        <p:spPr>
          <a:xfrm>
            <a:off x="7623048" y="2269199"/>
            <a:ext cx="1776984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Add feeds for each region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cell.1.4"/>
          <p:cNvSpPr/>
          <p:nvPr/>
        </p:nvSpPr>
        <p:spPr>
          <a:xfrm>
            <a:off x="9729216" y="2139696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1" name="cell.1.4.text"/>
          <p:cNvSpPr txBox="1"/>
          <p:nvPr/>
        </p:nvSpPr>
        <p:spPr>
          <a:xfrm>
            <a:off x="9875520" y="2269199"/>
            <a:ext cx="1776984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 scan, repeats dropped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row.2.tab"/>
          <p:cNvSpPr/>
          <p:nvPr/>
        </p:nvSpPr>
        <p:spPr>
          <a:xfrm>
            <a:off x="457200" y="2843784"/>
            <a:ext cx="2331720" cy="594360"/>
          </a:xfrm>
          <a:prstGeom prst="roundRect">
            <a:avLst>
              <a:gd name="adj" fmla="val 76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3" name="row.2.icon"/>
          <p:cNvSpPr/>
          <p:nvPr/>
        </p:nvSpPr>
        <p:spPr>
          <a:xfrm>
            <a:off x="621792" y="3003804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34" name="row.2.label"/>
          <p:cNvSpPr txBox="1"/>
          <p:nvPr/>
        </p:nvSpPr>
        <p:spPr>
          <a:xfrm>
            <a:off x="1005840" y="2959315"/>
            <a:ext cx="1691640" cy="3632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Brief writer agent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 engineer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cell.2.1"/>
          <p:cNvSpPr/>
          <p:nvPr/>
        </p:nvSpPr>
        <p:spPr>
          <a:xfrm>
            <a:off x="2971800" y="2843784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6" name="cell.2.1.text"/>
          <p:cNvSpPr txBox="1"/>
          <p:nvPr/>
        </p:nvSpPr>
        <p:spPr>
          <a:xfrm>
            <a:off x="3118104" y="2973287"/>
            <a:ext cx="1776984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Agree the one-page format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cell.2.2"/>
          <p:cNvSpPr/>
          <p:nvPr/>
        </p:nvSpPr>
        <p:spPr>
          <a:xfrm>
            <a:off x="5224272" y="2843784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8" name="cell.2.2.text"/>
          <p:cNvSpPr txBox="1"/>
          <p:nvPr/>
        </p:nvSpPr>
        <p:spPr>
          <a:xfrm>
            <a:off x="5370576" y="2973287"/>
            <a:ext cx="1776984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 briefs for North reps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cell.2.3"/>
          <p:cNvSpPr/>
          <p:nvPr/>
        </p:nvSpPr>
        <p:spPr>
          <a:xfrm>
            <a:off x="7476744" y="2843784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0" name="cell.2.3.text"/>
          <p:cNvSpPr txBox="1"/>
          <p:nvPr/>
        </p:nvSpPr>
        <p:spPr>
          <a:xfrm>
            <a:off x="7623048" y="2973287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brief per territory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cell.2.4"/>
          <p:cNvSpPr/>
          <p:nvPr/>
        </p:nvSpPr>
        <p:spPr>
          <a:xfrm>
            <a:off x="9729216" y="2843784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2" name="cell.2.4.text"/>
          <p:cNvSpPr txBox="1"/>
          <p:nvPr/>
        </p:nvSpPr>
        <p:spPr>
          <a:xfrm>
            <a:off x="9875520" y="2973287"/>
            <a:ext cx="1776984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 brief, every claim sourced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row.3.tab"/>
          <p:cNvSpPr/>
          <p:nvPr/>
        </p:nvSpPr>
        <p:spPr>
          <a:xfrm>
            <a:off x="457200" y="3547872"/>
            <a:ext cx="2331720" cy="594360"/>
          </a:xfrm>
          <a:prstGeom prst="roundRect">
            <a:avLst>
              <a:gd name="adj" fmla="val 76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4" name="row.3.icon"/>
          <p:cNvSpPr/>
          <p:nvPr/>
        </p:nvSpPr>
        <p:spPr>
          <a:xfrm>
            <a:off x="621792" y="370789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45" name="row.3.label"/>
          <p:cNvSpPr txBox="1"/>
          <p:nvPr/>
        </p:nvSpPr>
        <p:spPr>
          <a:xfrm>
            <a:off x="1005840" y="3663403"/>
            <a:ext cx="1691640" cy="3632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reviewer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cell.3.1"/>
          <p:cNvSpPr/>
          <p:nvPr/>
        </p:nvSpPr>
        <p:spPr>
          <a:xfrm>
            <a:off x="2971800" y="3547872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7" name="cell.3.1.text"/>
          <p:cNvSpPr txBox="1"/>
          <p:nvPr/>
        </p:nvSpPr>
        <p:spPr>
          <a:xfrm>
            <a:off x="3118104" y="3677375"/>
            <a:ext cx="1776984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Name a reviewer and deputy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cell.3.2"/>
          <p:cNvSpPr/>
          <p:nvPr/>
        </p:nvSpPr>
        <p:spPr>
          <a:xfrm>
            <a:off x="5224272" y="3547872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9" name="cell.3.2.text"/>
          <p:cNvSpPr txBox="1"/>
          <p:nvPr/>
        </p:nvSpPr>
        <p:spPr>
          <a:xfrm>
            <a:off x="5370576" y="3677375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 every pilot brief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cell.3.3"/>
          <p:cNvSpPr/>
          <p:nvPr/>
        </p:nvSpPr>
        <p:spPr>
          <a:xfrm>
            <a:off x="7476744" y="3547872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1" name="cell.3.3.text"/>
          <p:cNvSpPr txBox="1"/>
          <p:nvPr/>
        </p:nvSpPr>
        <p:spPr>
          <a:xfrm>
            <a:off x="7623048" y="3677375"/>
            <a:ext cx="1776984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Track review load weekly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cell.3.4"/>
          <p:cNvSpPr/>
          <p:nvPr/>
        </p:nvSpPr>
        <p:spPr>
          <a:xfrm>
            <a:off x="9729216" y="3547872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3" name="cell.3.4.text"/>
          <p:cNvSpPr txBox="1"/>
          <p:nvPr/>
        </p:nvSpPr>
        <p:spPr>
          <a:xfrm>
            <a:off x="9875520" y="3677375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Approve, edit or reject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row.4.tab"/>
          <p:cNvSpPr/>
          <p:nvPr/>
        </p:nvSpPr>
        <p:spPr>
          <a:xfrm>
            <a:off x="457200" y="4251960"/>
            <a:ext cx="2331720" cy="594360"/>
          </a:xfrm>
          <a:prstGeom prst="roundRect">
            <a:avLst>
              <a:gd name="adj" fmla="val 76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5" name="row.4.icon"/>
          <p:cNvSpPr/>
          <p:nvPr/>
        </p:nvSpPr>
        <p:spPr>
          <a:xfrm>
            <a:off x="621792" y="441198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56" name="row.4.label"/>
          <p:cNvSpPr txBox="1"/>
          <p:nvPr/>
        </p:nvSpPr>
        <p:spPr>
          <a:xfrm>
            <a:off x="1005840" y="4367491"/>
            <a:ext cx="1691640" cy="3632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Data foundation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Data engineer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cell.4.1"/>
          <p:cNvSpPr/>
          <p:nvPr/>
        </p:nvSpPr>
        <p:spPr>
          <a:xfrm>
            <a:off x="2971800" y="4251960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8" name="cell.4.1.text"/>
          <p:cNvSpPr txBox="1"/>
          <p:nvPr/>
        </p:nvSpPr>
        <p:spPr>
          <a:xfrm>
            <a:off x="3118104" y="4381463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Map the signal sources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cell.4.2"/>
          <p:cNvSpPr/>
          <p:nvPr/>
        </p:nvSpPr>
        <p:spPr>
          <a:xfrm>
            <a:off x="5224272" y="4251960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0" name="cell.4.2.text"/>
          <p:cNvSpPr txBox="1"/>
          <p:nvPr/>
        </p:nvSpPr>
        <p:spPr>
          <a:xfrm>
            <a:off x="5370576" y="4381463"/>
            <a:ext cx="1776984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Land and refine the feeds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cell.4.3"/>
          <p:cNvSpPr/>
          <p:nvPr/>
        </p:nvSpPr>
        <p:spPr>
          <a:xfrm>
            <a:off x="7476744" y="4251960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2" name="cell.4.3.text"/>
          <p:cNvSpPr txBox="1"/>
          <p:nvPr/>
        </p:nvSpPr>
        <p:spPr>
          <a:xfrm>
            <a:off x="7623048" y="4381463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Certify regional data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cell.4.4"/>
          <p:cNvSpPr/>
          <p:nvPr/>
        </p:nvSpPr>
        <p:spPr>
          <a:xfrm>
            <a:off x="9729216" y="4251960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4" name="cell.4.4.text"/>
          <p:cNvSpPr txBox="1"/>
          <p:nvPr/>
        </p:nvSpPr>
        <p:spPr>
          <a:xfrm>
            <a:off x="9875520" y="4381463"/>
            <a:ext cx="1776984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Watch freshness and access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row.5.tab"/>
          <p:cNvSpPr/>
          <p:nvPr/>
        </p:nvSpPr>
        <p:spPr>
          <a:xfrm>
            <a:off x="457200" y="4956048"/>
            <a:ext cx="2331720" cy="594360"/>
          </a:xfrm>
          <a:prstGeom prst="roundRect">
            <a:avLst>
              <a:gd name="adj" fmla="val 76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6" name="row.5.icon"/>
          <p:cNvSpPr/>
          <p:nvPr/>
        </p:nvSpPr>
        <p:spPr>
          <a:xfrm>
            <a:off x="621792" y="5116068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536" y="21686"/>
                </a:moveTo>
                <a:cubicBezTo>
                  <a:pt x="14614" y="21880"/>
                  <a:pt x="14804" y="22005"/>
                  <a:pt x="15013" y="22000"/>
                </a:cubicBezTo>
                <a:cubicBezTo>
                  <a:pt x="15222" y="21994"/>
                  <a:pt x="15405" y="21860"/>
                  <a:pt x="15473" y="21662"/>
                </a:cubicBezTo>
                <a:lnTo>
                  <a:pt x="21973" y="2662"/>
                </a:lnTo>
                <a:cubicBezTo>
                  <a:pt x="22038" y="2481"/>
                  <a:pt x="21993" y="2279"/>
                  <a:pt x="21857" y="2143"/>
                </a:cubicBezTo>
                <a:cubicBezTo>
                  <a:pt x="21721" y="2007"/>
                  <a:pt x="21519" y="1962"/>
                  <a:pt x="21338" y="2027"/>
                </a:cubicBezTo>
                <a:lnTo>
                  <a:pt x="2338" y="8527"/>
                </a:lnTo>
                <a:cubicBezTo>
                  <a:pt x="2140" y="8595"/>
                  <a:pt x="2006" y="8778"/>
                  <a:pt x="2000" y="8987"/>
                </a:cubicBezTo>
                <a:cubicBezTo>
                  <a:pt x="1995" y="9196"/>
                  <a:pt x="2120" y="9386"/>
                  <a:pt x="2314" y="9464"/>
                </a:cubicBezTo>
                <a:lnTo>
                  <a:pt x="10244" y="12644"/>
                </a:lnTo>
                <a:cubicBezTo>
                  <a:pt x="10751" y="12847"/>
                  <a:pt x="11152" y="13248"/>
                  <a:pt x="11356" y="13754"/>
                </a:cubicBezTo>
                <a:close/>
                <a:moveTo>
                  <a:pt x="21854" y="2147"/>
                </a:moveTo>
                <a:lnTo>
                  <a:pt x="10914" y="13086"/>
                </a:lnTo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7" name="row.5.label"/>
          <p:cNvSpPr txBox="1"/>
          <p:nvPr/>
        </p:nvSpPr>
        <p:spPr>
          <a:xfrm>
            <a:off x="1005840" y="5071579"/>
            <a:ext cx="1691640" cy="3632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 release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Field lead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cell.5.1"/>
          <p:cNvSpPr/>
          <p:nvPr/>
        </p:nvSpPr>
        <p:spPr>
          <a:xfrm>
            <a:off x="2971800" y="4956048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9" name="cell.5.1.text"/>
          <p:cNvSpPr txBox="1"/>
          <p:nvPr/>
        </p:nvSpPr>
        <p:spPr>
          <a:xfrm>
            <a:off x="3118104" y="5085551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Pick the pilot territories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cell.5.2"/>
          <p:cNvSpPr/>
          <p:nvPr/>
        </p:nvSpPr>
        <p:spPr>
          <a:xfrm>
            <a:off x="5224272" y="4956048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1" name="cell.5.2.text"/>
          <p:cNvSpPr txBox="1"/>
          <p:nvPr/>
        </p:nvSpPr>
        <p:spPr>
          <a:xfrm>
            <a:off x="5370576" y="5085551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North region only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cell.5.3"/>
          <p:cNvSpPr/>
          <p:nvPr/>
        </p:nvSpPr>
        <p:spPr>
          <a:xfrm>
            <a:off x="7476744" y="4956048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3" name="cell.5.3.text"/>
          <p:cNvSpPr txBox="1"/>
          <p:nvPr/>
        </p:nvSpPr>
        <p:spPr>
          <a:xfrm>
            <a:off x="7623048" y="5085551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region live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cell.5.4"/>
          <p:cNvSpPr/>
          <p:nvPr/>
        </p:nvSpPr>
        <p:spPr>
          <a:xfrm>
            <a:off x="9729216" y="4956048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5" name="cell.5.4.text"/>
          <p:cNvSpPr txBox="1"/>
          <p:nvPr/>
        </p:nvSpPr>
        <p:spPr>
          <a:xfrm>
            <a:off x="9875520" y="5085551"/>
            <a:ext cx="1776984" cy="3353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rep before Monday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row.6.tab"/>
          <p:cNvSpPr/>
          <p:nvPr/>
        </p:nvSpPr>
        <p:spPr>
          <a:xfrm>
            <a:off x="457200" y="5660136"/>
            <a:ext cx="2331720" cy="594360"/>
          </a:xfrm>
          <a:prstGeom prst="roundRect">
            <a:avLst>
              <a:gd name="adj" fmla="val 76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7" name="row.6.icon"/>
          <p:cNvSpPr/>
          <p:nvPr/>
        </p:nvSpPr>
        <p:spPr>
          <a:xfrm>
            <a:off x="621792" y="5820156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4000" y="22000"/>
                </a:moveTo>
                <a:lnTo>
                  <a:pt x="4000" y="4000"/>
                </a:lnTo>
                <a:cubicBezTo>
                  <a:pt x="4000" y="3685"/>
                  <a:pt x="4148" y="3389"/>
                  <a:pt x="4400" y="3200"/>
                </a:cubicBezTo>
                <a:cubicBezTo>
                  <a:pt x="5439" y="2421"/>
                  <a:pt x="6702" y="2000"/>
                  <a:pt x="8000" y="2000"/>
                </a:cubicBezTo>
                <a:cubicBezTo>
                  <a:pt x="11000" y="2000"/>
                  <a:pt x="13000" y="4000"/>
                  <a:pt x="15333" y="4000"/>
                </a:cubicBezTo>
                <a:cubicBezTo>
                  <a:pt x="16666" y="4000"/>
                  <a:pt x="17689" y="3733"/>
                  <a:pt x="18400" y="3200"/>
                </a:cubicBezTo>
                <a:cubicBezTo>
                  <a:pt x="18703" y="2973"/>
                  <a:pt x="19108" y="2936"/>
                  <a:pt x="19447" y="3106"/>
                </a:cubicBezTo>
                <a:cubicBezTo>
                  <a:pt x="19786" y="3275"/>
                  <a:pt x="20000" y="3621"/>
                  <a:pt x="20000" y="4000"/>
                </a:cubicBezTo>
                <a:lnTo>
                  <a:pt x="20000" y="14000"/>
                </a:lnTo>
                <a:cubicBezTo>
                  <a:pt x="20000" y="14315"/>
                  <a:pt x="19852" y="14611"/>
                  <a:pt x="19600" y="14800"/>
                </a:cubicBezTo>
                <a:cubicBezTo>
                  <a:pt x="18561" y="15579"/>
                  <a:pt x="17298" y="16000"/>
                  <a:pt x="16000" y="16000"/>
                </a:cubicBezTo>
                <a:cubicBezTo>
                  <a:pt x="13000" y="16000"/>
                  <a:pt x="11000" y="14000"/>
                  <a:pt x="8000" y="14000"/>
                </a:cubicBezTo>
                <a:cubicBezTo>
                  <a:pt x="6524" y="14000"/>
                  <a:pt x="5100" y="14544"/>
                  <a:pt x="4000" y="15528"/>
                </a:cubicBezTo>
              </a:path>
            </a:pathLst>
          </a:custGeom>
          <a:noFill/>
          <a:ln w="2286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78" name="row.6.label"/>
          <p:cNvSpPr txBox="1"/>
          <p:nvPr/>
        </p:nvSpPr>
        <p:spPr>
          <a:xfrm>
            <a:off x="1005840" y="5775667"/>
            <a:ext cx="1691640" cy="36329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Exit gate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Delivery manager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cell.6.1"/>
          <p:cNvSpPr/>
          <p:nvPr/>
        </p:nvSpPr>
        <p:spPr>
          <a:xfrm>
            <a:off x="2971800" y="5660136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80" name="cell.6.1.text"/>
          <p:cNvSpPr txBox="1"/>
          <p:nvPr/>
        </p:nvSpPr>
        <p:spPr>
          <a:xfrm>
            <a:off x="3118104" y="5873477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Gate one, 20 Nov 2026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cell.6.2"/>
          <p:cNvSpPr/>
          <p:nvPr/>
        </p:nvSpPr>
        <p:spPr>
          <a:xfrm>
            <a:off x="5224272" y="5660136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82" name="cell.6.2.text"/>
          <p:cNvSpPr txBox="1"/>
          <p:nvPr/>
        </p:nvSpPr>
        <p:spPr>
          <a:xfrm>
            <a:off x="5370576" y="5873477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Gate two, 18 Dec 2026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cell.6.3"/>
          <p:cNvSpPr/>
          <p:nvPr/>
        </p:nvSpPr>
        <p:spPr>
          <a:xfrm>
            <a:off x="7476744" y="5660136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84" name="cell.6.3.text"/>
          <p:cNvSpPr txBox="1"/>
          <p:nvPr/>
        </p:nvSpPr>
        <p:spPr>
          <a:xfrm>
            <a:off x="7623048" y="5873477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Gate three, 8 Jan 2027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cell.6.4"/>
          <p:cNvSpPr/>
          <p:nvPr/>
        </p:nvSpPr>
        <p:spPr>
          <a:xfrm>
            <a:off x="9729216" y="5660136"/>
            <a:ext cx="2069592" cy="594360"/>
          </a:xfrm>
          <a:prstGeom prst="roundRect">
            <a:avLst>
              <a:gd name="adj" fmla="val 769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86" name="cell.6.4.text"/>
          <p:cNvSpPr txBox="1"/>
          <p:nvPr/>
        </p:nvSpPr>
        <p:spPr>
          <a:xfrm>
            <a:off x="9875520" y="5873477"/>
            <a:ext cx="1776984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Full rollout, 22 Jan 2027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ection-divider:brand-block-numeral">
    <p:spTree>
      <p:nvGrpSpPr>
        <p:cNvPr id="1" name=""/>
        <p:cNvGrpSpPr/>
        <p:nvPr/>
      </p:nvGrpSpPr>
      <p:grpSpPr/>
      <p:sp>
        <p:nvSpPr>
          <p:cNvPr id="2" name="divider.block"/>
          <p:cNvSpPr/>
          <p:nvPr/>
        </p:nvSpPr>
        <p:spPr>
          <a:xfrm>
            <a:off x="457200" y="777240"/>
            <a:ext cx="4206240" cy="5477256"/>
          </a:xfrm>
          <a:prstGeom prst="roundRect">
            <a:avLst>
              <a:gd name="adj" fmla="val 1086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" name="divider.numeral"/>
          <p:cNvSpPr txBox="1"/>
          <p:nvPr/>
        </p:nvSpPr>
        <p:spPr>
          <a:xfrm>
            <a:off x="786384" y="3541231"/>
            <a:ext cx="3657600" cy="243894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06</a:t>
            </a:r>
            <a:endParaRPr lang="en-US" sz="16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5394960" y="2556570"/>
            <a:ext cx="6403848" cy="82314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Why the </a:t>
            </a:r>
            <a:r>
              <a:rPr lang="en-US" sz="5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firm</a:t>
            </a:r>
            <a:endParaRPr lang="en-US" sz="5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" name="divider.track"/>
          <p:cNvCxnSpPr/>
          <p:nvPr/>
        </p:nvCxnSpPr>
        <p:spPr>
          <a:xfrm>
            <a:off x="5605272" y="4001506"/>
            <a:ext cx="310896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6" name="divider.pos.1"/>
          <p:cNvSpPr/>
          <p:nvPr/>
        </p:nvSpPr>
        <p:spPr>
          <a:xfrm>
            <a:off x="5394960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1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divider.pos.2"/>
          <p:cNvSpPr/>
          <p:nvPr/>
        </p:nvSpPr>
        <p:spPr>
          <a:xfrm>
            <a:off x="6016752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divider.pos.3"/>
          <p:cNvSpPr/>
          <p:nvPr/>
        </p:nvSpPr>
        <p:spPr>
          <a:xfrm>
            <a:off x="6638544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3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divider.pos.4"/>
          <p:cNvSpPr/>
          <p:nvPr/>
        </p:nvSpPr>
        <p:spPr>
          <a:xfrm>
            <a:off x="7260336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4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divider.pos.5"/>
          <p:cNvSpPr/>
          <p:nvPr/>
        </p:nvSpPr>
        <p:spPr>
          <a:xfrm>
            <a:off x="7882128" y="3791194"/>
            <a:ext cx="420624" cy="4206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5</a:t>
            </a:r>
            <a:endParaRPr lang="en-US" sz="14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divider.pos.6"/>
          <p:cNvSpPr/>
          <p:nvPr/>
        </p:nvSpPr>
        <p:spPr>
          <a:xfrm>
            <a:off x="8503920" y="3791194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why-us:numbered-cards-enabler-band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Four reasons to choose the firm, each backed by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working proof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ason.1.card"/>
          <p:cNvSpPr/>
          <p:nvPr/>
        </p:nvSpPr>
        <p:spPr>
          <a:xfrm>
            <a:off x="457200" y="777240"/>
            <a:ext cx="2663952" cy="3260187"/>
          </a:xfrm>
          <a:prstGeom prst="roundRect">
            <a:avLst>
              <a:gd name="adj" fmla="val 171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reason.1.num.block"/>
          <p:cNvSpPr/>
          <p:nvPr/>
        </p:nvSpPr>
        <p:spPr>
          <a:xfrm>
            <a:off x="658368" y="978408"/>
            <a:ext cx="594360" cy="59436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reason.1.num"/>
          <p:cNvSpPr txBox="1"/>
          <p:nvPr/>
        </p:nvSpPr>
        <p:spPr>
          <a:xfrm>
            <a:off x="658368" y="1092667"/>
            <a:ext cx="594360" cy="3658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01</a:t>
            </a:r>
            <a:endParaRPr lang="en-US" sz="2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ason.1.icon"/>
          <p:cNvSpPr/>
          <p:nvPr/>
        </p:nvSpPr>
        <p:spPr>
          <a:xfrm>
            <a:off x="2462784" y="10469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8000"/>
                </a:moveTo>
                <a:lnTo>
                  <a:pt x="12000" y="4000"/>
                </a:lnTo>
                <a:lnTo>
                  <a:pt x="8000" y="4000"/>
                </a:lnTo>
                <a:moveTo>
                  <a:pt x="6000" y="8000"/>
                </a:moveTo>
                <a:lnTo>
                  <a:pt x="18000" y="8000"/>
                </a:lnTo>
                <a:cubicBezTo>
                  <a:pt x="19105" y="8000"/>
                  <a:pt x="20000" y="8895"/>
                  <a:pt x="20000" y="10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10000"/>
                </a:lnTo>
                <a:cubicBezTo>
                  <a:pt x="4000" y="8895"/>
                  <a:pt x="4895" y="8000"/>
                  <a:pt x="6000" y="8000"/>
                </a:cubicBezTo>
                <a:close/>
                <a:moveTo>
                  <a:pt x="2000" y="14000"/>
                </a:moveTo>
                <a:lnTo>
                  <a:pt x="4000" y="14000"/>
                </a:lnTo>
                <a:moveTo>
                  <a:pt x="20000" y="14000"/>
                </a:moveTo>
                <a:lnTo>
                  <a:pt x="22000" y="14000"/>
                </a:lnTo>
                <a:moveTo>
                  <a:pt x="15000" y="13000"/>
                </a:moveTo>
                <a:lnTo>
                  <a:pt x="15000" y="15000"/>
                </a:lnTo>
                <a:moveTo>
                  <a:pt x="9000" y="13000"/>
                </a:moveTo>
                <a:lnTo>
                  <a:pt x="9000" y="15000"/>
                </a:lnTo>
              </a:path>
            </a:pathLst>
          </a:custGeom>
          <a:noFill/>
          <a:ln w="381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" name="reason.1.text"/>
          <p:cNvSpPr txBox="1"/>
          <p:nvPr/>
        </p:nvSpPr>
        <p:spPr>
          <a:xfrm>
            <a:off x="658368" y="1737360"/>
            <a:ext cx="2261616" cy="85361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Agents already built</a:t>
            </a:r>
            <a:endParaRPr lang="en-US" sz="15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Scan, writer and review agents are configured, not invented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" name="reason.1.rule"/>
          <p:cNvCxnSpPr/>
          <p:nvPr/>
        </p:nvCxnSpPr>
        <p:spPr>
          <a:xfrm>
            <a:off x="658368" y="2649374"/>
            <a:ext cx="226161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9" name="reason.1.proof"/>
          <p:cNvSpPr txBox="1"/>
          <p:nvPr/>
        </p:nvSpPr>
        <p:spPr>
          <a:xfrm>
            <a:off x="658368" y="2777390"/>
            <a:ext cx="2261616" cy="98571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PROOF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Running for a specialty pharma field team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OWNED BY  </a:t>
            </a:r>
            <a:r>
              <a:rPr lang="en-US" sz="12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Firm agent engineer</a:t>
            </a:r>
            <a:endParaRPr lang="en-US" sz="12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ason.2.card"/>
          <p:cNvSpPr/>
          <p:nvPr/>
        </p:nvSpPr>
        <p:spPr>
          <a:xfrm>
            <a:off x="3349752" y="777240"/>
            <a:ext cx="2663952" cy="3260187"/>
          </a:xfrm>
          <a:prstGeom prst="roundRect">
            <a:avLst>
              <a:gd name="adj" fmla="val 171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1" name="reason.2.num.block"/>
          <p:cNvSpPr/>
          <p:nvPr/>
        </p:nvSpPr>
        <p:spPr>
          <a:xfrm>
            <a:off x="3550920" y="978408"/>
            <a:ext cx="594360" cy="59436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2" name="reason.2.num"/>
          <p:cNvSpPr txBox="1"/>
          <p:nvPr/>
        </p:nvSpPr>
        <p:spPr>
          <a:xfrm>
            <a:off x="3550920" y="1092667"/>
            <a:ext cx="594360" cy="3658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02</a:t>
            </a:r>
            <a:endParaRPr lang="en-US" sz="2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ason.2.icon"/>
          <p:cNvSpPr/>
          <p:nvPr/>
        </p:nvSpPr>
        <p:spPr>
          <a:xfrm>
            <a:off x="5355336" y="10469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2000"/>
                </a:moveTo>
                <a:lnTo>
                  <a:pt x="11000" y="4000"/>
                </a:lnTo>
                <a:moveTo>
                  <a:pt x="5000" y="2000"/>
                </a:moveTo>
                <a:lnTo>
                  <a:pt x="5000" y="4000"/>
                </a:lnTo>
                <a:moveTo>
                  <a:pt x="5000" y="3000"/>
                </a:move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9000"/>
                </a:lnTo>
                <a:cubicBezTo>
                  <a:pt x="2000" y="12314"/>
                  <a:pt x="4686" y="15000"/>
                  <a:pt x="8000" y="15000"/>
                </a:cubicBezTo>
                <a:cubicBezTo>
                  <a:pt x="11314" y="15000"/>
                  <a:pt x="14000" y="12314"/>
                  <a:pt x="14000" y="9000"/>
                </a:cubicBezTo>
                <a:lnTo>
                  <a:pt x="14000" y="5000"/>
                </a:lnTo>
                <a:cubicBezTo>
                  <a:pt x="14000" y="3895"/>
                  <a:pt x="13105" y="3000"/>
                  <a:pt x="12000" y="3000"/>
                </a:cubicBezTo>
                <a:lnTo>
                  <a:pt x="11000" y="3000"/>
                </a:lnTo>
                <a:moveTo>
                  <a:pt x="8000" y="15000"/>
                </a:moveTo>
                <a:cubicBezTo>
                  <a:pt x="8000" y="18314"/>
                  <a:pt x="10686" y="21000"/>
                  <a:pt x="14000" y="21000"/>
                </a:cubicBezTo>
                <a:cubicBezTo>
                  <a:pt x="17314" y="21000"/>
                  <a:pt x="20000" y="18314"/>
                  <a:pt x="20000" y="15000"/>
                </a:cubicBezTo>
                <a:lnTo>
                  <a:pt x="20000" y="12000"/>
                </a:lnTo>
                <a:moveTo>
                  <a:pt x="22000" y="10000"/>
                </a:moveTo>
                <a:cubicBezTo>
                  <a:pt x="22000" y="11105"/>
                  <a:pt x="21105" y="12000"/>
                  <a:pt x="20000" y="12000"/>
                </a:cubicBezTo>
                <a:cubicBezTo>
                  <a:pt x="18895" y="12000"/>
                  <a:pt x="18000" y="11105"/>
                  <a:pt x="18000" y="10000"/>
                </a:cubicBezTo>
                <a:cubicBezTo>
                  <a:pt x="18000" y="8895"/>
                  <a:pt x="18895" y="8000"/>
                  <a:pt x="20000" y="8000"/>
                </a:cubicBezTo>
                <a:cubicBezTo>
                  <a:pt x="21105" y="8000"/>
                  <a:pt x="22000" y="8895"/>
                  <a:pt x="22000" y="1000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4" name="reason.2.text"/>
          <p:cNvSpPr txBox="1"/>
          <p:nvPr/>
        </p:nvSpPr>
        <p:spPr>
          <a:xfrm>
            <a:off x="3550920" y="1737360"/>
            <a:ext cx="2261616" cy="89934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review by design</a:t>
            </a:r>
            <a:endParaRPr lang="en-US" sz="15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The review queue signs every brief before release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" name="reason.2.rule"/>
          <p:cNvCxnSpPr/>
          <p:nvPr/>
        </p:nvCxnSpPr>
        <p:spPr>
          <a:xfrm>
            <a:off x="3550920" y="2832295"/>
            <a:ext cx="226161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6" name="reason.2.proof"/>
          <p:cNvSpPr txBox="1"/>
          <p:nvPr/>
        </p:nvSpPr>
        <p:spPr>
          <a:xfrm>
            <a:off x="3550920" y="2960311"/>
            <a:ext cx="2261616" cy="80279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PROOF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No unsigned release in any delivered brief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OWNED BY  </a:t>
            </a:r>
            <a:r>
              <a:rPr lang="en-US" sz="12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reviewer</a:t>
            </a:r>
            <a:endParaRPr lang="en-US" sz="12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ason.3.card"/>
          <p:cNvSpPr/>
          <p:nvPr/>
        </p:nvSpPr>
        <p:spPr>
          <a:xfrm>
            <a:off x="6242304" y="777240"/>
            <a:ext cx="2663952" cy="3260187"/>
          </a:xfrm>
          <a:prstGeom prst="roundRect">
            <a:avLst>
              <a:gd name="adj" fmla="val 171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8" name="reason.3.num.block"/>
          <p:cNvSpPr/>
          <p:nvPr/>
        </p:nvSpPr>
        <p:spPr>
          <a:xfrm>
            <a:off x="6443472" y="978408"/>
            <a:ext cx="594360" cy="59436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9" name="reason.3.num"/>
          <p:cNvSpPr txBox="1"/>
          <p:nvPr/>
        </p:nvSpPr>
        <p:spPr>
          <a:xfrm>
            <a:off x="6443472" y="1092667"/>
            <a:ext cx="594360" cy="3658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03</a:t>
            </a:r>
            <a:endParaRPr lang="en-US" sz="2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ason.3.icon"/>
          <p:cNvSpPr/>
          <p:nvPr/>
        </p:nvSpPr>
        <p:spPr>
          <a:xfrm>
            <a:off x="8247888" y="10469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381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1" name="reason.3.text"/>
          <p:cNvSpPr txBox="1"/>
          <p:nvPr/>
        </p:nvSpPr>
        <p:spPr>
          <a:xfrm>
            <a:off x="6443472" y="1737360"/>
            <a:ext cx="2261616" cy="89934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governed foundation</a:t>
            </a:r>
            <a:endParaRPr lang="en-US" sz="15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claim traces back to an approved public source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" name="reason.3.rule"/>
          <p:cNvCxnSpPr/>
          <p:nvPr/>
        </p:nvCxnSpPr>
        <p:spPr>
          <a:xfrm>
            <a:off x="6443472" y="2832295"/>
            <a:ext cx="226161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3" name="reason.3.proof"/>
          <p:cNvSpPr txBox="1"/>
          <p:nvPr/>
        </p:nvSpPr>
        <p:spPr>
          <a:xfrm>
            <a:off x="6443472" y="2960311"/>
            <a:ext cx="2261616" cy="80279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PROOF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source ledger kept for every claim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OWNED BY  </a:t>
            </a:r>
            <a:r>
              <a:rPr lang="en-US" sz="12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 engineer</a:t>
            </a:r>
            <a:endParaRPr lang="en-US" sz="12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ason.4.card"/>
          <p:cNvSpPr/>
          <p:nvPr/>
        </p:nvSpPr>
        <p:spPr>
          <a:xfrm>
            <a:off x="9134856" y="777240"/>
            <a:ext cx="2663952" cy="3260187"/>
          </a:xfrm>
          <a:prstGeom prst="roundRect">
            <a:avLst>
              <a:gd name="adj" fmla="val 171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5" name="reason.4.num.block"/>
          <p:cNvSpPr/>
          <p:nvPr/>
        </p:nvSpPr>
        <p:spPr>
          <a:xfrm>
            <a:off x="9336024" y="978408"/>
            <a:ext cx="594360" cy="59436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6" name="reason.4.num"/>
          <p:cNvSpPr txBox="1"/>
          <p:nvPr/>
        </p:nvSpPr>
        <p:spPr>
          <a:xfrm>
            <a:off x="9336024" y="1092667"/>
            <a:ext cx="594360" cy="3658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04</a:t>
            </a:r>
            <a:endParaRPr lang="en-US" sz="2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ason.4.icon"/>
          <p:cNvSpPr/>
          <p:nvPr/>
        </p:nvSpPr>
        <p:spPr>
          <a:xfrm>
            <a:off x="11140440" y="10469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8" name="reason.4.text"/>
          <p:cNvSpPr txBox="1"/>
          <p:nvPr/>
        </p:nvSpPr>
        <p:spPr>
          <a:xfrm>
            <a:off x="9336024" y="1737360"/>
            <a:ext cx="2261616" cy="89934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joint team from day one</a:t>
            </a:r>
            <a:endParaRPr lang="en-US" sz="15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Firm engineers sit with field excellence and medical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9" name="reason.4.rule"/>
          <p:cNvCxnSpPr/>
          <p:nvPr/>
        </p:nvCxnSpPr>
        <p:spPr>
          <a:xfrm>
            <a:off x="9336024" y="2832295"/>
            <a:ext cx="226161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0" name="reason.4.proof"/>
          <p:cNvSpPr txBox="1"/>
          <p:nvPr/>
        </p:nvSpPr>
        <p:spPr>
          <a:xfrm>
            <a:off x="9336024" y="2960311"/>
            <a:ext cx="2261616" cy="80279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PROOF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The same team shape in every delivery</a:t>
            </a:r>
            <a:endParaRPr lang="en-US" sz="12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OWNED BY  </a:t>
            </a:r>
            <a:r>
              <a:rPr lang="en-US" sz="12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Engagement lead</a:t>
            </a:r>
            <a:endParaRPr lang="en-US" sz="12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enablers.header"/>
          <p:cNvSpPr/>
          <p:nvPr/>
        </p:nvSpPr>
        <p:spPr>
          <a:xfrm>
            <a:off x="457200" y="4266027"/>
            <a:ext cx="11341608" cy="42062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2" name="enablers.header.text"/>
          <p:cNvSpPr txBox="1"/>
          <p:nvPr/>
        </p:nvSpPr>
        <p:spPr>
          <a:xfrm>
            <a:off x="658368" y="4377257"/>
            <a:ext cx="10939272" cy="19816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backs every reason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enablers.panel"/>
          <p:cNvSpPr/>
          <p:nvPr/>
        </p:nvSpPr>
        <p:spPr>
          <a:xfrm>
            <a:off x="457200" y="4686651"/>
            <a:ext cx="11341608" cy="15678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34" name="enabler.1.icon"/>
          <p:cNvSpPr/>
          <p:nvPr/>
        </p:nvSpPr>
        <p:spPr>
          <a:xfrm>
            <a:off x="1272794" y="4869531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35" name="enabler.1.text"/>
          <p:cNvSpPr txBox="1"/>
          <p:nvPr/>
        </p:nvSpPr>
        <p:spPr>
          <a:xfrm>
            <a:off x="658368" y="5345019"/>
            <a:ext cx="1594612" cy="72659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Approved source list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and legal agree the feeds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enabler.2.icon"/>
          <p:cNvSpPr/>
          <p:nvPr/>
        </p:nvSpPr>
        <p:spPr>
          <a:xfrm>
            <a:off x="3141726" y="4869531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37" name="enabler.2.text"/>
          <p:cNvSpPr txBox="1"/>
          <p:nvPr/>
        </p:nvSpPr>
        <p:spPr>
          <a:xfrm>
            <a:off x="2527300" y="5345019"/>
            <a:ext cx="159461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Evaluation suite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Sourcing checked on every brief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8" name="enabler.2.rule"/>
          <p:cNvCxnSpPr/>
          <p:nvPr/>
        </p:nvCxnSpPr>
        <p:spPr>
          <a:xfrm>
            <a:off x="2390140" y="4869531"/>
            <a:ext cx="0" cy="1202085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9" name="enabler.3.icon"/>
          <p:cNvSpPr/>
          <p:nvPr/>
        </p:nvSpPr>
        <p:spPr>
          <a:xfrm>
            <a:off x="5010658" y="4869531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0" name="enabler.3.text"/>
          <p:cNvSpPr txBox="1"/>
          <p:nvPr/>
        </p:nvSpPr>
        <p:spPr>
          <a:xfrm>
            <a:off x="4396232" y="5345019"/>
            <a:ext cx="159461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Release log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Each brief kept with its signature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" name="enabler.3.rule"/>
          <p:cNvCxnSpPr/>
          <p:nvPr/>
        </p:nvCxnSpPr>
        <p:spPr>
          <a:xfrm>
            <a:off x="4259072" y="4869531"/>
            <a:ext cx="0" cy="1202085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42" name="enabler.4.icon"/>
          <p:cNvSpPr/>
          <p:nvPr/>
        </p:nvSpPr>
        <p:spPr>
          <a:xfrm>
            <a:off x="6879590" y="4869531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3" name="enabler.4.text"/>
          <p:cNvSpPr txBox="1"/>
          <p:nvPr/>
        </p:nvSpPr>
        <p:spPr>
          <a:xfrm>
            <a:off x="6265164" y="5345019"/>
            <a:ext cx="159461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Access by role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Reps see only their territory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4" name="enabler.4.rule"/>
          <p:cNvCxnSpPr/>
          <p:nvPr/>
        </p:nvCxnSpPr>
        <p:spPr>
          <a:xfrm>
            <a:off x="6128004" y="4869531"/>
            <a:ext cx="0" cy="1202085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45" name="enabler.5.icon"/>
          <p:cNvSpPr/>
          <p:nvPr/>
        </p:nvSpPr>
        <p:spPr>
          <a:xfrm>
            <a:off x="8748522" y="4869531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21000" y="3000"/>
                </a:lnTo>
                <a:cubicBezTo>
                  <a:pt x="21552" y="3000"/>
                  <a:pt x="22000" y="3448"/>
                  <a:pt x="22000" y="4000"/>
                </a:cubicBezTo>
                <a:lnTo>
                  <a:pt x="22000" y="7000"/>
                </a:lnTo>
                <a:cubicBezTo>
                  <a:pt x="22000" y="7552"/>
                  <a:pt x="21552" y="8000"/>
                  <a:pt x="21000" y="8000"/>
                </a:cubicBezTo>
                <a:lnTo>
                  <a:pt x="3000" y="8000"/>
                </a:lnTo>
                <a:cubicBezTo>
                  <a:pt x="2448" y="8000"/>
                  <a:pt x="2000" y="7552"/>
                  <a:pt x="2000" y="7000"/>
                </a:cubicBezTo>
                <a:lnTo>
                  <a:pt x="2000" y="4000"/>
                </a:lnTo>
                <a:cubicBezTo>
                  <a:pt x="2000" y="3448"/>
                  <a:pt x="2448" y="3000"/>
                  <a:pt x="3000" y="3000"/>
                </a:cubicBezTo>
                <a:close/>
                <a:moveTo>
                  <a:pt x="4000" y="8000"/>
                </a:moveTo>
                <a:lnTo>
                  <a:pt x="4000" y="19000"/>
                </a:lnTo>
                <a:cubicBezTo>
                  <a:pt x="4000" y="20105"/>
                  <a:pt x="4895" y="21000"/>
                  <a:pt x="6000" y="21000"/>
                </a:cubicBezTo>
                <a:lnTo>
                  <a:pt x="18000" y="21000"/>
                </a:lnTo>
                <a:cubicBezTo>
                  <a:pt x="19105" y="21000"/>
                  <a:pt x="20000" y="20105"/>
                  <a:pt x="20000" y="19000"/>
                </a:cubicBezTo>
                <a:lnTo>
                  <a:pt x="20000" y="8000"/>
                </a:lnTo>
                <a:moveTo>
                  <a:pt x="10000" y="12000"/>
                </a:moveTo>
                <a:lnTo>
                  <a:pt x="14000" y="12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6" name="enabler.5.text"/>
          <p:cNvSpPr txBox="1"/>
          <p:nvPr/>
        </p:nvSpPr>
        <p:spPr>
          <a:xfrm>
            <a:off x="8134096" y="5345019"/>
            <a:ext cx="159461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 archive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past brief, searchable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7" name="enabler.5.rule"/>
          <p:cNvCxnSpPr/>
          <p:nvPr/>
        </p:nvCxnSpPr>
        <p:spPr>
          <a:xfrm>
            <a:off x="7996936" y="4869531"/>
            <a:ext cx="0" cy="1202085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48" name="enabler.6.icon"/>
          <p:cNvSpPr/>
          <p:nvPr/>
        </p:nvSpPr>
        <p:spPr>
          <a:xfrm>
            <a:off x="10617454" y="4869531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49" name="enabler.6.text"/>
          <p:cNvSpPr txBox="1"/>
          <p:nvPr/>
        </p:nvSpPr>
        <p:spPr>
          <a:xfrm>
            <a:off x="10003028" y="5345019"/>
            <a:ext cx="159461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Traces and alarms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agent run traced and watched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0" name="enabler.6.rule"/>
          <p:cNvCxnSpPr/>
          <p:nvPr/>
        </p:nvCxnSpPr>
        <p:spPr>
          <a:xfrm>
            <a:off x="9865868" y="4869531"/>
            <a:ext cx="0" cy="1202085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redentials:stat-band-mark-wall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The team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already ships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on the major cloud, data and agent platforms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facts.band"/>
          <p:cNvSpPr/>
          <p:nvPr/>
        </p:nvSpPr>
        <p:spPr>
          <a:xfrm>
            <a:off x="457200" y="777240"/>
            <a:ext cx="11341608" cy="1188720"/>
          </a:xfrm>
          <a:prstGeom prst="roundRect">
            <a:avLst>
              <a:gd name="adj" fmla="val 3846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grpSp>
        <p:nvGrpSpPr>
          <p:cNvPr id="7" name="facts.1" descr="stat kind delivered"/>
          <p:cNvGrpSpPr/>
          <p:nvPr/>
        </p:nvGrpSpPr>
        <p:grpSpPr>
          <a:xfrm>
            <a:off x="658368" y="1027415"/>
            <a:ext cx="3402584" cy="688370"/>
            <a:chOff x="658368" y="1027415"/>
            <a:chExt cx="3402584" cy="688370"/>
          </a:xfrm>
          <a:effectLst/>
        </p:grpSpPr>
        <p:sp>
          <p:nvSpPr>
            <p:cNvPr id="4" name="facts.1.value"/>
            <p:cNvSpPr txBox="1"/>
            <p:nvPr/>
          </p:nvSpPr>
          <p:spPr>
            <a:xfrm>
              <a:off x="658368" y="1027415"/>
              <a:ext cx="3402584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100+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" name="facts.1.rule"/>
            <p:cNvCxnSpPr/>
            <p:nvPr/>
          </p:nvCxnSpPr>
          <p:spPr>
            <a:xfrm>
              <a:off x="658368" y="1508487"/>
              <a:ext cx="3402584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6" name="facts.1.label"/>
            <p:cNvSpPr txBox="1"/>
            <p:nvPr/>
          </p:nvSpPr>
          <p:spPr>
            <a:xfrm>
              <a:off x="658368" y="1563351"/>
              <a:ext cx="3402584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AI products delivered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1" name="facts.2" descr="stat kind delivered"/>
          <p:cNvGrpSpPr/>
          <p:nvPr/>
        </p:nvGrpSpPr>
        <p:grpSpPr>
          <a:xfrm>
            <a:off x="4426712" y="1027415"/>
            <a:ext cx="3402584" cy="688370"/>
            <a:chOff x="4426712" y="1027415"/>
            <a:chExt cx="3402584" cy="688370"/>
          </a:xfrm>
          <a:effectLst/>
        </p:grpSpPr>
        <p:sp>
          <p:nvSpPr>
            <p:cNvPr id="8" name="facts.2.value"/>
            <p:cNvSpPr txBox="1"/>
            <p:nvPr/>
          </p:nvSpPr>
          <p:spPr>
            <a:xfrm>
              <a:off x="4426712" y="1027415"/>
              <a:ext cx="3402584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20+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9" name="facts.2.rule"/>
            <p:cNvCxnSpPr/>
            <p:nvPr/>
          </p:nvCxnSpPr>
          <p:spPr>
            <a:xfrm>
              <a:off x="4426712" y="1508487"/>
              <a:ext cx="3402584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0" name="facts.2.label"/>
            <p:cNvSpPr txBox="1"/>
            <p:nvPr/>
          </p:nvSpPr>
          <p:spPr>
            <a:xfrm>
              <a:off x="4426712" y="1563351"/>
              <a:ext cx="3402584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production-ready agents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5" name="facts.3" descr="stat kind measured"/>
          <p:cNvGrpSpPr/>
          <p:nvPr/>
        </p:nvGrpSpPr>
        <p:grpSpPr>
          <a:xfrm>
            <a:off x="8195056" y="1027415"/>
            <a:ext cx="3402584" cy="688370"/>
            <a:chOff x="8195056" y="1027415"/>
            <a:chExt cx="3402584" cy="688370"/>
          </a:xfrm>
          <a:effectLst/>
        </p:grpSpPr>
        <p:sp>
          <p:nvSpPr>
            <p:cNvPr id="12" name="facts.3.value"/>
            <p:cNvSpPr txBox="1"/>
            <p:nvPr/>
          </p:nvSpPr>
          <p:spPr>
            <a:xfrm>
              <a:off x="8195056" y="1027415"/>
              <a:ext cx="3402584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~1,700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3" name="facts.3.rule"/>
            <p:cNvCxnSpPr/>
            <p:nvPr/>
          </p:nvCxnSpPr>
          <p:spPr>
            <a:xfrm>
              <a:off x="8195056" y="1508487"/>
              <a:ext cx="3402584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4" name="facts.3.label"/>
            <p:cNvSpPr txBox="1"/>
            <p:nvPr/>
          </p:nvSpPr>
          <p:spPr>
            <a:xfrm>
              <a:off x="8195056" y="1563351"/>
              <a:ext cx="3402584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people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6" name="recog.1.card"/>
          <p:cNvSpPr/>
          <p:nvPr/>
        </p:nvSpPr>
        <p:spPr>
          <a:xfrm>
            <a:off x="457200" y="5468112"/>
            <a:ext cx="3658616" cy="786384"/>
          </a:xfrm>
          <a:prstGeom prst="roundRect">
            <a:avLst>
              <a:gd name="adj" fmla="val 581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7" name="recog.1.icon"/>
          <p:cNvSpPr/>
          <p:nvPr/>
        </p:nvSpPr>
        <p:spPr>
          <a:xfrm>
            <a:off x="658368" y="559200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17000"/>
                </a:moveTo>
                <a:lnTo>
                  <a:pt x="13000" y="19000"/>
                </a:lnTo>
                <a:cubicBezTo>
                  <a:pt x="13828" y="19828"/>
                  <a:pt x="15172" y="19828"/>
                  <a:pt x="16000" y="19000"/>
                </a:cubicBezTo>
                <a:cubicBezTo>
                  <a:pt x="16828" y="18172"/>
                  <a:pt x="16828" y="16828"/>
                  <a:pt x="16000" y="16000"/>
                </a:cubicBezTo>
                <a:moveTo>
                  <a:pt x="14000" y="14000"/>
                </a:moveTo>
                <a:lnTo>
                  <a:pt x="16500" y="16500"/>
                </a:lnTo>
                <a:cubicBezTo>
                  <a:pt x="17328" y="17328"/>
                  <a:pt x="18672" y="17328"/>
                  <a:pt x="19500" y="16500"/>
                </a:cubicBezTo>
                <a:cubicBezTo>
                  <a:pt x="20328" y="15672"/>
                  <a:pt x="20328" y="14328"/>
                  <a:pt x="19500" y="13500"/>
                </a:cubicBezTo>
                <a:lnTo>
                  <a:pt x="15620" y="9620"/>
                </a:lnTo>
                <a:cubicBezTo>
                  <a:pt x="14449" y="8450"/>
                  <a:pt x="12551" y="8450"/>
                  <a:pt x="11380" y="9620"/>
                </a:cubicBezTo>
                <a:lnTo>
                  <a:pt x="10500" y="10500"/>
                </a:lnTo>
                <a:cubicBezTo>
                  <a:pt x="9672" y="11328"/>
                  <a:pt x="8328" y="11328"/>
                  <a:pt x="7500" y="10500"/>
                </a:cubicBezTo>
                <a:cubicBezTo>
                  <a:pt x="6672" y="9672"/>
                  <a:pt x="6672" y="8328"/>
                  <a:pt x="7500" y="7500"/>
                </a:cubicBezTo>
                <a:lnTo>
                  <a:pt x="10310" y="4690"/>
                </a:lnTo>
                <a:cubicBezTo>
                  <a:pt x="12187" y="2818"/>
                  <a:pt x="15095" y="2460"/>
                  <a:pt x="17370" y="3820"/>
                </a:cubicBezTo>
                <a:lnTo>
                  <a:pt x="17840" y="4100"/>
                </a:lnTo>
                <a:cubicBezTo>
                  <a:pt x="18266" y="4357"/>
                  <a:pt x="18772" y="4446"/>
                  <a:pt x="19260" y="4350"/>
                </a:cubicBezTo>
                <a:lnTo>
                  <a:pt x="21000" y="4000"/>
                </a:lnTo>
                <a:moveTo>
                  <a:pt x="21000" y="3000"/>
                </a:moveTo>
                <a:lnTo>
                  <a:pt x="22000" y="14000"/>
                </a:lnTo>
                <a:lnTo>
                  <a:pt x="20000" y="14000"/>
                </a:lnTo>
                <a:moveTo>
                  <a:pt x="3000" y="3000"/>
                </a:moveTo>
                <a:lnTo>
                  <a:pt x="2000" y="14000"/>
                </a:lnTo>
                <a:lnTo>
                  <a:pt x="8500" y="20500"/>
                </a:lnTo>
                <a:cubicBezTo>
                  <a:pt x="9328" y="21328"/>
                  <a:pt x="10672" y="21328"/>
                  <a:pt x="11500" y="20500"/>
                </a:cubicBezTo>
                <a:cubicBezTo>
                  <a:pt x="12328" y="19672"/>
                  <a:pt x="12328" y="18328"/>
                  <a:pt x="11500" y="17500"/>
                </a:cubicBezTo>
                <a:moveTo>
                  <a:pt x="3000" y="4000"/>
                </a:moveTo>
                <a:lnTo>
                  <a:pt x="11000" y="4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18" name="recog.1.text"/>
          <p:cNvSpPr txBox="1"/>
          <p:nvPr/>
        </p:nvSpPr>
        <p:spPr>
          <a:xfrm>
            <a:off x="1170432" y="5592005"/>
            <a:ext cx="2780792" cy="355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Claude Partner Network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Member firm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og.2.card"/>
          <p:cNvSpPr/>
          <p:nvPr/>
        </p:nvSpPr>
        <p:spPr>
          <a:xfrm>
            <a:off x="4298696" y="5468112"/>
            <a:ext cx="3658616" cy="786384"/>
          </a:xfrm>
          <a:prstGeom prst="roundRect">
            <a:avLst>
              <a:gd name="adj" fmla="val 581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0" name="recog.2.icon"/>
          <p:cNvSpPr/>
          <p:nvPr/>
        </p:nvSpPr>
        <p:spPr>
          <a:xfrm>
            <a:off x="4499864" y="559200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</a:path>
              <a:path w="24000" h="24000">
                <a:moveTo>
                  <a:pt x="8000" y="7500"/>
                </a:moveTo>
                <a:cubicBezTo>
                  <a:pt x="8000" y="7776"/>
                  <a:pt x="7776" y="8000"/>
                  <a:pt x="7500" y="8000"/>
                </a:cubicBezTo>
                <a:cubicBezTo>
                  <a:pt x="7224" y="8000"/>
                  <a:pt x="7000" y="7776"/>
                  <a:pt x="7000" y="7500"/>
                </a:cubicBezTo>
                <a:cubicBezTo>
                  <a:pt x="7000" y="7224"/>
                  <a:pt x="7224" y="7000"/>
                  <a:pt x="7500" y="7000"/>
                </a:cubicBezTo>
                <a:cubicBezTo>
                  <a:pt x="7776" y="7000"/>
                  <a:pt x="8000" y="7224"/>
                  <a:pt x="8000" y="7500"/>
                </a:cubicBezTo>
                <a:close/>
                <a:moveTo>
                  <a:pt x="19000" y="5500"/>
                </a:moveTo>
                <a:cubicBezTo>
                  <a:pt x="19000" y="5776"/>
                  <a:pt x="18776" y="6000"/>
                  <a:pt x="18500" y="6000"/>
                </a:cubicBezTo>
                <a:cubicBezTo>
                  <a:pt x="18224" y="6000"/>
                  <a:pt x="18000" y="5776"/>
                  <a:pt x="18000" y="5500"/>
                </a:cubicBezTo>
                <a:cubicBezTo>
                  <a:pt x="18000" y="5224"/>
                  <a:pt x="18224" y="5000"/>
                  <a:pt x="18500" y="5000"/>
                </a:cubicBezTo>
                <a:cubicBezTo>
                  <a:pt x="18776" y="5000"/>
                  <a:pt x="19000" y="5224"/>
                  <a:pt x="19000" y="5500"/>
                </a:cubicBezTo>
                <a:close/>
                <a:moveTo>
                  <a:pt x="12000" y="11500"/>
                </a:moveTo>
                <a:cubicBezTo>
                  <a:pt x="12000" y="11776"/>
                  <a:pt x="11776" y="12000"/>
                  <a:pt x="11500" y="12000"/>
                </a:cubicBezTo>
                <a:cubicBezTo>
                  <a:pt x="11224" y="12000"/>
                  <a:pt x="11000" y="11776"/>
                  <a:pt x="11000" y="11500"/>
                </a:cubicBezTo>
                <a:cubicBezTo>
                  <a:pt x="11000" y="11224"/>
                  <a:pt x="11224" y="11000"/>
                  <a:pt x="11500" y="11000"/>
                </a:cubicBezTo>
                <a:cubicBezTo>
                  <a:pt x="11776" y="11000"/>
                  <a:pt x="12000" y="11224"/>
                  <a:pt x="12000" y="11500"/>
                </a:cubicBezTo>
                <a:close/>
                <a:moveTo>
                  <a:pt x="8000" y="16500"/>
                </a:moveTo>
                <a:cubicBezTo>
                  <a:pt x="8000" y="16776"/>
                  <a:pt x="7776" y="17000"/>
                  <a:pt x="7500" y="17000"/>
                </a:cubicBezTo>
                <a:cubicBezTo>
                  <a:pt x="7224" y="17000"/>
                  <a:pt x="7000" y="16776"/>
                  <a:pt x="7000" y="16500"/>
                </a:cubicBezTo>
                <a:cubicBezTo>
                  <a:pt x="7000" y="16224"/>
                  <a:pt x="7224" y="16000"/>
                  <a:pt x="7500" y="16000"/>
                </a:cubicBezTo>
                <a:cubicBezTo>
                  <a:pt x="7776" y="16000"/>
                  <a:pt x="8000" y="16224"/>
                  <a:pt x="8000" y="16500"/>
                </a:cubicBezTo>
                <a:close/>
                <a:moveTo>
                  <a:pt x="18000" y="14500"/>
                </a:moveTo>
                <a:cubicBezTo>
                  <a:pt x="18000" y="14776"/>
                  <a:pt x="17776" y="15000"/>
                  <a:pt x="17500" y="15000"/>
                </a:cubicBezTo>
                <a:cubicBezTo>
                  <a:pt x="17224" y="15000"/>
                  <a:pt x="17000" y="14776"/>
                  <a:pt x="17000" y="14500"/>
                </a:cubicBezTo>
                <a:cubicBezTo>
                  <a:pt x="17000" y="14224"/>
                  <a:pt x="17224" y="14000"/>
                  <a:pt x="17500" y="14000"/>
                </a:cubicBezTo>
                <a:cubicBezTo>
                  <a:pt x="17776" y="14000"/>
                  <a:pt x="18000" y="14224"/>
                  <a:pt x="18000" y="14500"/>
                </a:cubicBezTo>
                <a:close/>
              </a:path>
            </a:pathLst>
          </a:custGeom>
          <a:solidFill>
            <a:schemeClr val="accent1"/>
          </a:solidFill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1" name="recog.2.text"/>
          <p:cNvSpPr txBox="1"/>
          <p:nvPr/>
        </p:nvSpPr>
        <p:spPr>
          <a:xfrm>
            <a:off x="5011928" y="5592005"/>
            <a:ext cx="2780792" cy="53859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Gartner, Emerging Tech: AI Vendor Race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Named in the 2026 report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og.3.card"/>
          <p:cNvSpPr/>
          <p:nvPr/>
        </p:nvSpPr>
        <p:spPr>
          <a:xfrm>
            <a:off x="8140192" y="5468112"/>
            <a:ext cx="3658616" cy="786384"/>
          </a:xfrm>
          <a:prstGeom prst="roundRect">
            <a:avLst>
              <a:gd name="adj" fmla="val 581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3" name="recog.3.icon"/>
          <p:cNvSpPr/>
          <p:nvPr/>
        </p:nvSpPr>
        <p:spPr>
          <a:xfrm>
            <a:off x="8341360" y="559200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8000"/>
                </a:moveTo>
                <a:lnTo>
                  <a:pt x="10000" y="11000"/>
                </a:lnTo>
                <a:moveTo>
                  <a:pt x="11119" y="2205"/>
                </a:moveTo>
                <a:cubicBezTo>
                  <a:pt x="11675" y="1932"/>
                  <a:pt x="12325" y="1932"/>
                  <a:pt x="12881" y="2205"/>
                </a:cubicBezTo>
                <a:lnTo>
                  <a:pt x="20721" y="6051"/>
                </a:lnTo>
                <a:cubicBezTo>
                  <a:pt x="20930" y="6153"/>
                  <a:pt x="21041" y="6387"/>
                  <a:pt x="20988" y="6613"/>
                </a:cubicBezTo>
                <a:cubicBezTo>
                  <a:pt x="20935" y="6840"/>
                  <a:pt x="20733" y="7000"/>
                  <a:pt x="20500" y="7000"/>
                </a:cubicBezTo>
                <a:lnTo>
                  <a:pt x="3500" y="7000"/>
                </a:lnTo>
                <a:cubicBezTo>
                  <a:pt x="3267" y="7000"/>
                  <a:pt x="3065" y="6840"/>
                  <a:pt x="3013" y="6613"/>
                </a:cubicBezTo>
                <a:cubicBezTo>
                  <a:pt x="2960" y="6386"/>
                  <a:pt x="3071" y="6153"/>
                  <a:pt x="3280" y="6051"/>
                </a:cubicBezTo>
                <a:close/>
                <a:moveTo>
                  <a:pt x="14000" y="18000"/>
                </a:moveTo>
                <a:lnTo>
                  <a:pt x="14000" y="11000"/>
                </a:lnTo>
                <a:moveTo>
                  <a:pt x="18000" y="18000"/>
                </a:moveTo>
                <a:lnTo>
                  <a:pt x="18000" y="11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6000" y="18000"/>
                </a:moveTo>
                <a:lnTo>
                  <a:pt x="6000" y="11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24" name="recog.3.text"/>
          <p:cNvSpPr txBox="1"/>
          <p:nvPr/>
        </p:nvSpPr>
        <p:spPr>
          <a:xfrm>
            <a:off x="8853424" y="5592005"/>
            <a:ext cx="2780792" cy="355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Series B, founded 2013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Head office in San Francisco</a:t>
            </a:r>
            <a:endParaRPr lang="en-US" sz="105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wall.1.tab"/>
          <p:cNvSpPr/>
          <p:nvPr/>
        </p:nvSpPr>
        <p:spPr>
          <a:xfrm>
            <a:off x="457200" y="2167128"/>
            <a:ext cx="1901104" cy="365760"/>
          </a:xfrm>
          <a:prstGeom prst="round2SameRect">
            <a:avLst>
              <a:gd name="adj1" fmla="val 125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Cloud and models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wall.1.body"/>
          <p:cNvSpPr/>
          <p:nvPr/>
        </p:nvSpPr>
        <p:spPr>
          <a:xfrm>
            <a:off x="457200" y="2532888"/>
            <a:ext cx="1901104" cy="2734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pic>
        <p:nvPicPr>
          <p:cNvPr id="27" name="vendor.aws/ml/bedrock.wall-1.1" descr="Amazon Bedrock (vendor mark aws/ml/bedrock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99" y="2801871"/>
            <a:ext cx="579059" cy="579059"/>
          </a:xfrm>
          <a:prstGeom prst="rect">
            <a:avLst/>
          </a:prstGeom>
          <a:effectLst/>
        </p:spPr>
      </p:pic>
      <p:sp>
        <p:nvSpPr>
          <p:cNvPr id="28" name="wall.1.1.caption"/>
          <p:cNvSpPr txBox="1"/>
          <p:nvPr/>
        </p:nvSpPr>
        <p:spPr>
          <a:xfrm>
            <a:off x="640080" y="3472369"/>
            <a:ext cx="731096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Amazon Bedrock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9" name="vendor.azure/ml/azure-open-ai.wall-1.2" descr="Azure OpenAI (vendor mark azure/ml/azure-open-a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347" y="2801871"/>
            <a:ext cx="579059" cy="579059"/>
          </a:xfrm>
          <a:prstGeom prst="rect">
            <a:avLst/>
          </a:prstGeom>
          <a:effectLst/>
        </p:spPr>
      </p:pic>
      <p:sp>
        <p:nvSpPr>
          <p:cNvPr id="30" name="wall.1.2.caption"/>
          <p:cNvSpPr txBox="1"/>
          <p:nvPr/>
        </p:nvSpPr>
        <p:spPr>
          <a:xfrm>
            <a:off x="1444328" y="3472369"/>
            <a:ext cx="731096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Azure OpenAI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1" name="vendor.gcp/ml/vertex-ai.wall-1.3" descr="Vertex AI (vendor mark gcp/ml/vertex-ai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99" y="4022595"/>
            <a:ext cx="579059" cy="579059"/>
          </a:xfrm>
          <a:prstGeom prst="rect">
            <a:avLst/>
          </a:prstGeom>
          <a:effectLst/>
        </p:spPr>
      </p:pic>
      <p:sp>
        <p:nvSpPr>
          <p:cNvPr id="32" name="wall.1.3.caption"/>
          <p:cNvSpPr txBox="1"/>
          <p:nvPr/>
        </p:nvSpPr>
        <p:spPr>
          <a:xfrm>
            <a:off x="640080" y="4693093"/>
            <a:ext cx="731096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Vertex AI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mark.claude-spark.wall-1.4" descr="Claude (brand mark claude-spark)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0347" y="4022595"/>
            <a:ext cx="579059" cy="579059"/>
          </a:xfrm>
          <a:prstGeom prst="rect">
            <a:avLst/>
          </a:prstGeom>
          <a:effectLst/>
        </p:spPr>
      </p:pic>
      <p:sp>
        <p:nvSpPr>
          <p:cNvPr id="34" name="wall.1.4.caption"/>
          <p:cNvSpPr txBox="1"/>
          <p:nvPr/>
        </p:nvSpPr>
        <p:spPr>
          <a:xfrm>
            <a:off x="1444328" y="4693093"/>
            <a:ext cx="731096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Claude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wall.2.tab"/>
          <p:cNvSpPr/>
          <p:nvPr/>
        </p:nvSpPr>
        <p:spPr>
          <a:xfrm>
            <a:off x="2504608" y="2167128"/>
            <a:ext cx="3063364" cy="365760"/>
          </a:xfrm>
          <a:prstGeom prst="round2SameRect">
            <a:avLst>
              <a:gd name="adj1" fmla="val 125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Data platforms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wall.2.body"/>
          <p:cNvSpPr/>
          <p:nvPr/>
        </p:nvSpPr>
        <p:spPr>
          <a:xfrm>
            <a:off x="2504608" y="2532888"/>
            <a:ext cx="3063364" cy="2734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pic>
        <p:nvPicPr>
          <p:cNvPr id="37" name="vendor.onprem/analytics/databricks.wall-2.1" descr="Databricks (vendor mark onprem/analytics/databricks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5009" y="2801871"/>
            <a:ext cx="579059" cy="579059"/>
          </a:xfrm>
          <a:prstGeom prst="rect">
            <a:avLst/>
          </a:prstGeom>
          <a:effectLst/>
        </p:spPr>
      </p:pic>
      <p:sp>
        <p:nvSpPr>
          <p:cNvPr id="38" name="wall.2.1.caption"/>
          <p:cNvSpPr txBox="1"/>
          <p:nvPr/>
        </p:nvSpPr>
        <p:spPr>
          <a:xfrm>
            <a:off x="2687488" y="3472369"/>
            <a:ext cx="814100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Databricks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9" name="vendor.saas/analytics/snowflake.wall-2.2" descr="Snowflake (vendor mark saas/analytics/snowflak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8263" y="2812669"/>
            <a:ext cx="579059" cy="557462"/>
          </a:xfrm>
          <a:prstGeom prst="rect">
            <a:avLst/>
          </a:prstGeom>
          <a:effectLst/>
        </p:spPr>
      </p:pic>
      <p:sp>
        <p:nvSpPr>
          <p:cNvPr id="40" name="wall.2.2.caption"/>
          <p:cNvSpPr txBox="1"/>
          <p:nvPr/>
        </p:nvSpPr>
        <p:spPr>
          <a:xfrm>
            <a:off x="3574740" y="3472369"/>
            <a:ext cx="1006104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Snowflake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" name="vendor.onprem/analytics/dbt.wall-2.3" descr="dbt (vendor mark onprem/analytics/dbt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0015" y="2815442"/>
            <a:ext cx="579059" cy="551915"/>
          </a:xfrm>
          <a:prstGeom prst="rect">
            <a:avLst/>
          </a:prstGeom>
          <a:effectLst/>
        </p:spPr>
      </p:pic>
      <p:sp>
        <p:nvSpPr>
          <p:cNvPr id="42" name="wall.2.3.caption"/>
          <p:cNvSpPr txBox="1"/>
          <p:nvPr/>
        </p:nvSpPr>
        <p:spPr>
          <a:xfrm>
            <a:off x="4653996" y="3472369"/>
            <a:ext cx="731096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dbt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vendor.onprem/database/postgresql.wall-2.4" descr="PostgreSQL (vendor mark onprem/database/postgresql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7133" y="4022595"/>
            <a:ext cx="579059" cy="579059"/>
          </a:xfrm>
          <a:prstGeom prst="rect">
            <a:avLst/>
          </a:prstGeom>
          <a:effectLst/>
        </p:spPr>
      </p:pic>
      <p:sp>
        <p:nvSpPr>
          <p:cNvPr id="44" name="wall.2.4.caption"/>
          <p:cNvSpPr txBox="1"/>
          <p:nvPr/>
        </p:nvSpPr>
        <p:spPr>
          <a:xfrm>
            <a:off x="3089613" y="4693093"/>
            <a:ext cx="814100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PostgreSQL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5" name="mark.dataiku-logo.wall-2.5" descr="Dataiku (brand mark dataiku-logo)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4333" t="28402" r="24667" b="30473"/>
          <a:stretch>
            <a:fillRect/>
          </a:stretch>
        </p:blipFill>
        <p:spPr>
          <a:xfrm>
            <a:off x="4050016" y="4117131"/>
            <a:ext cx="859800" cy="389985"/>
          </a:xfrm>
          <a:prstGeom prst="rect">
            <a:avLst/>
          </a:prstGeom>
          <a:effectLst/>
        </p:spPr>
      </p:pic>
      <p:sp>
        <p:nvSpPr>
          <p:cNvPr id="46" name="wall.2.5.caption"/>
          <p:cNvSpPr txBox="1"/>
          <p:nvPr/>
        </p:nvSpPr>
        <p:spPr>
          <a:xfrm>
            <a:off x="3976864" y="4693093"/>
            <a:ext cx="1006104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Dataiku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wall.3.tab"/>
          <p:cNvSpPr/>
          <p:nvPr/>
        </p:nvSpPr>
        <p:spPr>
          <a:xfrm>
            <a:off x="5714276" y="2167128"/>
            <a:ext cx="3232875" cy="365760"/>
          </a:xfrm>
          <a:prstGeom prst="round2SameRect">
            <a:avLst>
              <a:gd name="adj1" fmla="val 125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Agents and evaluation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wall.3.body"/>
          <p:cNvSpPr/>
          <p:nvPr/>
        </p:nvSpPr>
        <p:spPr>
          <a:xfrm>
            <a:off x="5714276" y="2532888"/>
            <a:ext cx="3232875" cy="2734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pic>
        <p:nvPicPr>
          <p:cNvPr id="49" name="mark.langgraph-logo.wall-3.1" descr="LangGraph (brand mark langgraph-logo)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r="1167"/>
          <a:stretch>
            <a:fillRect/>
          </a:stretch>
        </p:blipFill>
        <p:spPr>
          <a:xfrm>
            <a:off x="5970308" y="2957349"/>
            <a:ext cx="1250677" cy="268102"/>
          </a:xfrm>
          <a:prstGeom prst="rect">
            <a:avLst/>
          </a:prstGeom>
          <a:effectLst/>
        </p:spPr>
      </p:pic>
      <p:sp>
        <p:nvSpPr>
          <p:cNvPr id="50" name="wall.3.1.caption"/>
          <p:cNvSpPr txBox="1"/>
          <p:nvPr/>
        </p:nvSpPr>
        <p:spPr>
          <a:xfrm>
            <a:off x="5897156" y="3472369"/>
            <a:ext cx="1396981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LangGraph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1" name="mark.langchain-logo.wall-3.2" descr="LangChain (brand mark langchain-logo)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r="1167"/>
          <a:stretch>
            <a:fillRect/>
          </a:stretch>
        </p:blipFill>
        <p:spPr>
          <a:xfrm>
            <a:off x="7440442" y="2957349"/>
            <a:ext cx="1250677" cy="268102"/>
          </a:xfrm>
          <a:prstGeom prst="rect">
            <a:avLst/>
          </a:prstGeom>
          <a:effectLst/>
        </p:spPr>
      </p:pic>
      <p:sp>
        <p:nvSpPr>
          <p:cNvPr id="52" name="wall.3.2.caption"/>
          <p:cNvSpPr txBox="1"/>
          <p:nvPr/>
        </p:nvSpPr>
        <p:spPr>
          <a:xfrm>
            <a:off x="7367290" y="3472369"/>
            <a:ext cx="1396981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LangChain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3" name="mark.langfuse-icon.wall-3.3" descr="Langfuse (brand mark langfuse-icon)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10667" t="25333" r="10667" b="25333"/>
          <a:stretch>
            <a:fillRect/>
          </a:stretch>
        </p:blipFill>
        <p:spPr>
          <a:xfrm>
            <a:off x="6230037" y="4082843"/>
            <a:ext cx="731219" cy="458561"/>
          </a:xfrm>
          <a:prstGeom prst="rect">
            <a:avLst/>
          </a:prstGeom>
          <a:effectLst/>
        </p:spPr>
      </p:pic>
      <p:sp>
        <p:nvSpPr>
          <p:cNvPr id="54" name="wall.3.3.caption"/>
          <p:cNvSpPr txBox="1"/>
          <p:nvPr/>
        </p:nvSpPr>
        <p:spPr>
          <a:xfrm>
            <a:off x="5897156" y="4693093"/>
            <a:ext cx="1396981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Langfuse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5" name="mark.anthropic-symbol.wall-3.4" descr="Anthropic API (brand mark anthropic-symbol)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18647" y="4070640"/>
            <a:ext cx="694267" cy="482968"/>
          </a:xfrm>
          <a:prstGeom prst="rect">
            <a:avLst/>
          </a:prstGeom>
          <a:effectLst/>
        </p:spPr>
      </p:pic>
      <p:sp>
        <p:nvSpPr>
          <p:cNvPr id="56" name="wall.3.4.caption"/>
          <p:cNvSpPr txBox="1"/>
          <p:nvPr/>
        </p:nvSpPr>
        <p:spPr>
          <a:xfrm>
            <a:off x="7367290" y="4693093"/>
            <a:ext cx="1396981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Anthropic API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wall.4.tab"/>
          <p:cNvSpPr/>
          <p:nvPr/>
        </p:nvSpPr>
        <p:spPr>
          <a:xfrm>
            <a:off x="9093455" y="2167128"/>
            <a:ext cx="2705353" cy="365760"/>
          </a:xfrm>
          <a:prstGeom prst="round2SameRect">
            <a:avLst>
              <a:gd name="adj1" fmla="val 125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Delivery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wall.4.body"/>
          <p:cNvSpPr/>
          <p:nvPr/>
        </p:nvSpPr>
        <p:spPr>
          <a:xfrm>
            <a:off x="9093455" y="2532888"/>
            <a:ext cx="2705353" cy="2734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pic>
        <p:nvPicPr>
          <p:cNvPr id="59" name="vendor.programming/language/python.wall-4.1" descr="Python (vendor mark programming/language/python)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52354" y="2801871"/>
            <a:ext cx="579059" cy="579059"/>
          </a:xfrm>
          <a:prstGeom prst="rect">
            <a:avLst/>
          </a:prstGeom>
          <a:effectLst/>
        </p:spPr>
      </p:pic>
      <p:sp>
        <p:nvSpPr>
          <p:cNvPr id="60" name="wall.4.1.caption"/>
          <p:cNvSpPr txBox="1"/>
          <p:nvPr/>
        </p:nvSpPr>
        <p:spPr>
          <a:xfrm>
            <a:off x="9276335" y="3472369"/>
            <a:ext cx="731096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Python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1" name="vendor.programming/framework/fastapi.wall-4.2" descr="FastAPI (vendor mark programming/framework/fastapi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56602" y="2801871"/>
            <a:ext cx="579059" cy="579059"/>
          </a:xfrm>
          <a:prstGeom prst="rect">
            <a:avLst/>
          </a:prstGeom>
          <a:effectLst/>
        </p:spPr>
      </p:pic>
      <p:sp>
        <p:nvSpPr>
          <p:cNvPr id="62" name="wall.4.2.caption"/>
          <p:cNvSpPr txBox="1"/>
          <p:nvPr/>
        </p:nvSpPr>
        <p:spPr>
          <a:xfrm>
            <a:off x="10080584" y="3472369"/>
            <a:ext cx="731096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FastAPI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3" name="vendor.programming/framework/react.wall-4.3" descr="React (vendor mark programming/framework/react)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960851" y="2801871"/>
            <a:ext cx="579059" cy="579059"/>
          </a:xfrm>
          <a:prstGeom prst="rect">
            <a:avLst/>
          </a:prstGeom>
          <a:effectLst/>
        </p:spPr>
      </p:pic>
      <p:sp>
        <p:nvSpPr>
          <p:cNvPr id="64" name="wall.4.3.caption"/>
          <p:cNvSpPr txBox="1"/>
          <p:nvPr/>
        </p:nvSpPr>
        <p:spPr>
          <a:xfrm>
            <a:off x="10884832" y="3472369"/>
            <a:ext cx="731096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React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vendor.onprem/iac/terraform.wall-4.4" descr="Terraform (vendor mark onprem/iac/terraform)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52354" y="4022595"/>
            <a:ext cx="579059" cy="579059"/>
          </a:xfrm>
          <a:prstGeom prst="rect">
            <a:avLst/>
          </a:prstGeom>
          <a:effectLst/>
        </p:spPr>
      </p:pic>
      <p:sp>
        <p:nvSpPr>
          <p:cNvPr id="66" name="wall.4.4.caption"/>
          <p:cNvSpPr txBox="1"/>
          <p:nvPr/>
        </p:nvSpPr>
        <p:spPr>
          <a:xfrm>
            <a:off x="9276335" y="4693093"/>
            <a:ext cx="731096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Terraform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7" name="vendor.onprem/ci/github-actions.wall-4.5" descr="GitHub Actions (vendor mark onprem/ci/github-actions)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156602" y="4022595"/>
            <a:ext cx="579059" cy="579059"/>
          </a:xfrm>
          <a:prstGeom prst="rect">
            <a:avLst/>
          </a:prstGeom>
          <a:effectLst/>
        </p:spPr>
      </p:pic>
      <p:sp>
        <p:nvSpPr>
          <p:cNvPr id="68" name="wall.4.5.caption"/>
          <p:cNvSpPr txBox="1"/>
          <p:nvPr/>
        </p:nvSpPr>
        <p:spPr>
          <a:xfrm>
            <a:off x="10080584" y="4693093"/>
            <a:ext cx="731096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GitHub Actions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vendor.aws/compute/elastic-kubernetes-service.wall-4.6" descr="Amazon EKS (vendor mark aws/compute/elastic-kubernetes-service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960851" y="4022595"/>
            <a:ext cx="579059" cy="579059"/>
          </a:xfrm>
          <a:prstGeom prst="rect">
            <a:avLst/>
          </a:prstGeom>
          <a:effectLst/>
        </p:spPr>
      </p:pic>
      <p:sp>
        <p:nvSpPr>
          <p:cNvPr id="70" name="wall.4.6.caption"/>
          <p:cNvSpPr txBox="1"/>
          <p:nvPr/>
        </p:nvSpPr>
        <p:spPr>
          <a:xfrm>
            <a:off x="10884832" y="4693093"/>
            <a:ext cx="731096" cy="304868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Amazon EKS</a:t>
            </a:r>
            <a:endParaRPr lang="en-US" sz="10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ase-study:need-build-before-after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 specialty pharma field team cut brief lead time from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four days to one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need.panel"/>
          <p:cNvSpPr/>
          <p:nvPr/>
        </p:nvSpPr>
        <p:spPr>
          <a:xfrm>
            <a:off x="457200" y="777240"/>
            <a:ext cx="3315652" cy="5477256"/>
          </a:xfrm>
          <a:prstGeom prst="roundRect">
            <a:avLst>
              <a:gd name="adj" fmla="val 13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need.header"/>
          <p:cNvSpPr/>
          <p:nvPr/>
        </p:nvSpPr>
        <p:spPr>
          <a:xfrm>
            <a:off x="457200" y="777240"/>
            <a:ext cx="3315652" cy="384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" name="need.header.icon"/>
          <p:cNvSpPr/>
          <p:nvPr/>
        </p:nvSpPr>
        <p:spPr>
          <a:xfrm>
            <a:off x="658368" y="854050"/>
            <a:ext cx="230429" cy="23042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190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" name="need.header.text"/>
          <p:cNvSpPr txBox="1"/>
          <p:nvPr/>
        </p:nvSpPr>
        <p:spPr>
          <a:xfrm>
            <a:off x="998525" y="777240"/>
            <a:ext cx="257316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need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need.1.disc"/>
          <p:cNvSpPr/>
          <p:nvPr/>
        </p:nvSpPr>
        <p:spPr>
          <a:xfrm>
            <a:off x="658368" y="1362456"/>
            <a:ext cx="347472" cy="34747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need.1.text"/>
          <p:cNvSpPr txBox="1"/>
          <p:nvPr/>
        </p:nvSpPr>
        <p:spPr>
          <a:xfrm>
            <a:off x="1152144" y="1362456"/>
            <a:ext cx="2189430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Briefs reached reps late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Four days from a competitor move to the field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need.2.disc"/>
          <p:cNvSpPr/>
          <p:nvPr/>
        </p:nvSpPr>
        <p:spPr>
          <a:xfrm>
            <a:off x="658368" y="2766020"/>
            <a:ext cx="347472" cy="34747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need.2.text"/>
          <p:cNvSpPr txBox="1"/>
          <p:nvPr/>
        </p:nvSpPr>
        <p:spPr>
          <a:xfrm>
            <a:off x="1152144" y="2766020"/>
            <a:ext cx="2224902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Eight regional versions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region rewrote the same weekly brief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need.3.disc"/>
          <p:cNvSpPr/>
          <p:nvPr/>
        </p:nvSpPr>
        <p:spPr>
          <a:xfrm>
            <a:off x="658368" y="4169585"/>
            <a:ext cx="347472" cy="34747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need.3.text"/>
          <p:cNvSpPr txBox="1"/>
          <p:nvPr/>
        </p:nvSpPr>
        <p:spPr>
          <a:xfrm>
            <a:off x="1152144" y="4169585"/>
            <a:ext cx="2419540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came last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read briefs after reps had used them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need.4.disc"/>
          <p:cNvSpPr/>
          <p:nvPr/>
        </p:nvSpPr>
        <p:spPr>
          <a:xfrm>
            <a:off x="658368" y="5573149"/>
            <a:ext cx="347472" cy="34747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need.4.text"/>
          <p:cNvSpPr txBox="1"/>
          <p:nvPr/>
        </p:nvSpPr>
        <p:spPr>
          <a:xfrm>
            <a:off x="1152144" y="5573149"/>
            <a:ext cx="2144785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No source on claims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Reps could not show where a claim came from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build.panel"/>
          <p:cNvSpPr/>
          <p:nvPr/>
        </p:nvSpPr>
        <p:spPr>
          <a:xfrm>
            <a:off x="4138613" y="777240"/>
            <a:ext cx="3315652" cy="5477256"/>
          </a:xfrm>
          <a:prstGeom prst="roundRect">
            <a:avLst>
              <a:gd name="adj" fmla="val 13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6" name="build.header"/>
          <p:cNvSpPr/>
          <p:nvPr/>
        </p:nvSpPr>
        <p:spPr>
          <a:xfrm>
            <a:off x="4138613" y="777240"/>
            <a:ext cx="3315652" cy="3840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7" name="build.header.icon"/>
          <p:cNvSpPr/>
          <p:nvPr/>
        </p:nvSpPr>
        <p:spPr>
          <a:xfrm>
            <a:off x="4339780" y="854050"/>
            <a:ext cx="230429" cy="23042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830" y="2180"/>
                </a:moveTo>
                <a:cubicBezTo>
                  <a:pt x="12303" y="1940"/>
                  <a:pt x="11697" y="1940"/>
                  <a:pt x="11170" y="2180"/>
                </a:cubicBezTo>
                <a:lnTo>
                  <a:pt x="2600" y="6080"/>
                </a:lnTo>
                <a:cubicBezTo>
                  <a:pt x="2237" y="6240"/>
                  <a:pt x="2003" y="6599"/>
                  <a:pt x="2003" y="6995"/>
                </a:cubicBezTo>
                <a:cubicBezTo>
                  <a:pt x="2003" y="7391"/>
                  <a:pt x="2237" y="7750"/>
                  <a:pt x="2600" y="7910"/>
                </a:cubicBezTo>
                <a:lnTo>
                  <a:pt x="11180" y="11820"/>
                </a:lnTo>
                <a:cubicBezTo>
                  <a:pt x="11707" y="12060"/>
                  <a:pt x="12313" y="12060"/>
                  <a:pt x="12840" y="11820"/>
                </a:cubicBezTo>
                <a:lnTo>
                  <a:pt x="21420" y="7920"/>
                </a:lnTo>
                <a:cubicBezTo>
                  <a:pt x="21783" y="7760"/>
                  <a:pt x="22017" y="7401"/>
                  <a:pt x="22017" y="7005"/>
                </a:cubicBezTo>
                <a:cubicBezTo>
                  <a:pt x="22017" y="6609"/>
                  <a:pt x="21783" y="6250"/>
                  <a:pt x="21420" y="6090"/>
                </a:cubicBezTo>
                <a:close/>
                <a:moveTo>
                  <a:pt x="2000" y="12000"/>
                </a:moveTo>
                <a:cubicBezTo>
                  <a:pt x="1999" y="12391"/>
                  <a:pt x="2226" y="12746"/>
                  <a:pt x="2580" y="12910"/>
                </a:cubicBezTo>
                <a:lnTo>
                  <a:pt x="11180" y="16820"/>
                </a:lnTo>
                <a:cubicBezTo>
                  <a:pt x="11704" y="17057"/>
                  <a:pt x="12306" y="17057"/>
                  <a:pt x="12830" y="16820"/>
                </a:cubicBezTo>
                <a:lnTo>
                  <a:pt x="21410" y="12920"/>
                </a:lnTo>
                <a:cubicBezTo>
                  <a:pt x="21772" y="12757"/>
                  <a:pt x="22003" y="12397"/>
                  <a:pt x="22000" y="12000"/>
                </a:cubicBezTo>
                <a:moveTo>
                  <a:pt x="2000" y="17000"/>
                </a:moveTo>
                <a:cubicBezTo>
                  <a:pt x="1999" y="17391"/>
                  <a:pt x="2226" y="17746"/>
                  <a:pt x="2580" y="17910"/>
                </a:cubicBezTo>
                <a:lnTo>
                  <a:pt x="11180" y="21820"/>
                </a:lnTo>
                <a:cubicBezTo>
                  <a:pt x="11704" y="22057"/>
                  <a:pt x="12306" y="22057"/>
                  <a:pt x="12830" y="21820"/>
                </a:cubicBezTo>
                <a:lnTo>
                  <a:pt x="21410" y="17920"/>
                </a:lnTo>
                <a:cubicBezTo>
                  <a:pt x="21772" y="17757"/>
                  <a:pt x="22003" y="17397"/>
                  <a:pt x="22000" y="17000"/>
                </a:cubicBezTo>
              </a:path>
            </a:pathLst>
          </a:custGeom>
          <a:noFill/>
          <a:ln w="190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" name="build.header.text"/>
          <p:cNvSpPr txBox="1"/>
          <p:nvPr/>
        </p:nvSpPr>
        <p:spPr>
          <a:xfrm>
            <a:off x="4679937" y="777240"/>
            <a:ext cx="2573160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What was built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build.1.disc"/>
          <p:cNvSpPr/>
          <p:nvPr/>
        </p:nvSpPr>
        <p:spPr>
          <a:xfrm>
            <a:off x="4339780" y="1362456"/>
            <a:ext cx="347472" cy="34747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build.1.text"/>
          <p:cNvSpPr txBox="1"/>
          <p:nvPr/>
        </p:nvSpPr>
        <p:spPr>
          <a:xfrm>
            <a:off x="4833556" y="1362456"/>
            <a:ext cx="2242478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sourced brief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claim cites its source, on one page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build.2.disc"/>
          <p:cNvSpPr/>
          <p:nvPr/>
        </p:nvSpPr>
        <p:spPr>
          <a:xfrm>
            <a:off x="4339780" y="2766020"/>
            <a:ext cx="347472" cy="34747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build.2.text"/>
          <p:cNvSpPr txBox="1"/>
          <p:nvPr/>
        </p:nvSpPr>
        <p:spPr>
          <a:xfrm>
            <a:off x="4833556" y="2766020"/>
            <a:ext cx="2419541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Review in the flow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approves before the brief goes out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build.3.disc"/>
          <p:cNvSpPr/>
          <p:nvPr/>
        </p:nvSpPr>
        <p:spPr>
          <a:xfrm>
            <a:off x="4339780" y="4169585"/>
            <a:ext cx="347472" cy="34747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build.3.text"/>
          <p:cNvSpPr txBox="1"/>
          <p:nvPr/>
        </p:nvSpPr>
        <p:spPr>
          <a:xfrm>
            <a:off x="4833556" y="4169585"/>
            <a:ext cx="2198615" cy="57161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Regions add one line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Local notes ride on the shared brief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build.4.disc"/>
          <p:cNvSpPr/>
          <p:nvPr/>
        </p:nvSpPr>
        <p:spPr>
          <a:xfrm>
            <a:off x="4339780" y="5573149"/>
            <a:ext cx="347472" cy="34747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4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build.4.text"/>
          <p:cNvSpPr txBox="1"/>
          <p:nvPr/>
        </p:nvSpPr>
        <p:spPr>
          <a:xfrm>
            <a:off x="4833556" y="5573149"/>
            <a:ext cx="2323693" cy="40394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Ten weeks, three gates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Pilot in one region, then all eight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after.header"/>
          <p:cNvSpPr/>
          <p:nvPr/>
        </p:nvSpPr>
        <p:spPr>
          <a:xfrm>
            <a:off x="7820025" y="777240"/>
            <a:ext cx="3978783" cy="3840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8" name="after.header.icon"/>
          <p:cNvSpPr/>
          <p:nvPr/>
        </p:nvSpPr>
        <p:spPr>
          <a:xfrm>
            <a:off x="7984617" y="854050"/>
            <a:ext cx="230429" cy="230429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190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9" name="after.header.text"/>
          <p:cNvSpPr txBox="1"/>
          <p:nvPr/>
        </p:nvSpPr>
        <p:spPr>
          <a:xfrm>
            <a:off x="8324774" y="777240"/>
            <a:ext cx="3199714" cy="38404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outcome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after.head"/>
          <p:cNvSpPr txBox="1"/>
          <p:nvPr/>
        </p:nvSpPr>
        <p:spPr>
          <a:xfrm>
            <a:off x="7820025" y="1362456"/>
            <a:ext cx="3978783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Days from a move to the field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31" name="after" descr="Column chart: Before 4 days, After 1 day (chart kind illustrative)"/>
          <p:cNvGraphicFramePr>
            <a:graphicFrameLocks noGrp="1"/>
          </p:cNvGraphicFramePr>
          <p:nvPr/>
        </p:nvGraphicFramePr>
        <p:xfrm>
          <a:off x="7820025" y="1728216"/>
          <a:ext cx="3978783" cy="336787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after.cat.1"/>
          <p:cNvSpPr txBox="1"/>
          <p:nvPr/>
        </p:nvSpPr>
        <p:spPr>
          <a:xfrm>
            <a:off x="7911465" y="4870507"/>
            <a:ext cx="1861375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Before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after.cat.2"/>
          <p:cNvSpPr txBox="1"/>
          <p:nvPr/>
        </p:nvSpPr>
        <p:spPr>
          <a:xfrm>
            <a:off x="9845992" y="4870507"/>
            <a:ext cx="1861375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After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after.value.1"/>
          <p:cNvSpPr txBox="1"/>
          <p:nvPr/>
        </p:nvSpPr>
        <p:spPr>
          <a:xfrm>
            <a:off x="7893177" y="1999522"/>
            <a:ext cx="1897951" cy="204253"/>
          </a:xfrm>
          <a:prstGeom prst="rect">
            <a:avLst/>
          </a:prstGeom>
          <a:noFill/>
          <a:effectLst/>
        </p:spPr>
        <p:txBody>
          <a:bodyPr wrap="square" lIns="0" tIns="0" rIns="0" bIns="0" anchor="b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4 days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after.value.2"/>
          <p:cNvSpPr txBox="1"/>
          <p:nvPr/>
        </p:nvSpPr>
        <p:spPr>
          <a:xfrm>
            <a:off x="9827704" y="3908889"/>
            <a:ext cx="1897951" cy="219497"/>
          </a:xfrm>
          <a:prstGeom prst="rect">
            <a:avLst/>
          </a:prstGeom>
          <a:noFill/>
          <a:effectLst/>
        </p:spPr>
        <p:txBody>
          <a:bodyPr wrap="square" lIns="0" tIns="0" rIns="0" bIns="0" anchor="b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 day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after.basis"/>
          <p:cNvSpPr txBox="1"/>
          <p:nvPr/>
        </p:nvSpPr>
        <p:spPr>
          <a:xfrm>
            <a:off x="10684319" y="1783080"/>
            <a:ext cx="1059625" cy="15547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Illustrative figures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after.note.1.text"/>
          <p:cNvSpPr txBox="1"/>
          <p:nvPr/>
        </p:nvSpPr>
        <p:spPr>
          <a:xfrm>
            <a:off x="10120047" y="3649772"/>
            <a:ext cx="1313266" cy="204253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shared brief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after.text"/>
          <p:cNvSpPr txBox="1"/>
          <p:nvPr/>
        </p:nvSpPr>
        <p:spPr>
          <a:xfrm>
            <a:off x="7820025" y="5370413"/>
            <a:ext cx="3978783" cy="88408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brief, not eight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The same reps, briefed the day after a move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claim sourced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signs off before the brief goes out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ase-wall:icon-case-columns-stat-close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Four delivered briefs show the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same pattern holds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across sectors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ase.1.tile"/>
          <p:cNvSpPr/>
          <p:nvPr/>
        </p:nvSpPr>
        <p:spPr>
          <a:xfrm>
            <a:off x="457200" y="777240"/>
            <a:ext cx="566928" cy="566928"/>
          </a:xfrm>
          <a:prstGeom prst="roundRect">
            <a:avLst>
              <a:gd name="adj" fmla="val 806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case.1.icon"/>
          <p:cNvSpPr/>
          <p:nvPr/>
        </p:nvSpPr>
        <p:spPr>
          <a:xfrm>
            <a:off x="585216" y="90525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500" y="20500"/>
                </a:moveTo>
                <a:lnTo>
                  <a:pt x="20500" y="10500"/>
                </a:lnTo>
                <a:cubicBezTo>
                  <a:pt x="21772" y="9254"/>
                  <a:pt x="22276" y="7421"/>
                  <a:pt x="21821" y="5700"/>
                </a:cubicBezTo>
                <a:cubicBezTo>
                  <a:pt x="21366" y="3978"/>
                  <a:pt x="20022" y="2634"/>
                  <a:pt x="18300" y="2179"/>
                </a:cubicBezTo>
                <a:cubicBezTo>
                  <a:pt x="16579" y="1724"/>
                  <a:pt x="14746" y="2228"/>
                  <a:pt x="13500" y="3500"/>
                </a:cubicBezTo>
                <a:lnTo>
                  <a:pt x="3500" y="13500"/>
                </a:lnTo>
                <a:cubicBezTo>
                  <a:pt x="2228" y="14746"/>
                  <a:pt x="1724" y="16579"/>
                  <a:pt x="2179" y="18300"/>
                </a:cubicBezTo>
                <a:cubicBezTo>
                  <a:pt x="2634" y="20022"/>
                  <a:pt x="3978" y="21366"/>
                  <a:pt x="5700" y="21821"/>
                </a:cubicBezTo>
                <a:cubicBezTo>
                  <a:pt x="7421" y="22276"/>
                  <a:pt x="9254" y="21772"/>
                  <a:pt x="10500" y="20500"/>
                </a:cubicBezTo>
                <a:close/>
                <a:moveTo>
                  <a:pt x="8500" y="8500"/>
                </a:moveTo>
                <a:lnTo>
                  <a:pt x="15500" y="155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5" name="case.1.sector"/>
          <p:cNvSpPr txBox="1"/>
          <p:nvPr/>
        </p:nvSpPr>
        <p:spPr>
          <a:xfrm>
            <a:off x="1170432" y="810460"/>
            <a:ext cx="1779270" cy="50048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SPECIALTY PHARMA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Field excellence and medical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case.1.head"/>
          <p:cNvSpPr txBox="1"/>
          <p:nvPr/>
        </p:nvSpPr>
        <p:spPr>
          <a:xfrm>
            <a:off x="457200" y="1545336"/>
            <a:ext cx="2492502" cy="48778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Weekly competitor brief</a:t>
            </a:r>
            <a:endParaRPr lang="en-US" sz="1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" name="case.1.rule.1"/>
          <p:cNvCxnSpPr/>
          <p:nvPr/>
        </p:nvCxnSpPr>
        <p:spPr>
          <a:xfrm>
            <a:off x="457200" y="2197717"/>
            <a:ext cx="249250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8" name="case.1.field.1"/>
          <p:cNvSpPr txBox="1"/>
          <p:nvPr/>
        </p:nvSpPr>
        <p:spPr>
          <a:xfrm>
            <a:off x="457200" y="2307445"/>
            <a:ext cx="2492502" cy="65340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NEED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Reps heard of moves after customers did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" name="case.1.rule.2"/>
          <p:cNvCxnSpPr/>
          <p:nvPr/>
        </p:nvCxnSpPr>
        <p:spPr>
          <a:xfrm>
            <a:off x="457200" y="3077234"/>
            <a:ext cx="249250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10" name="case.1.field.2"/>
          <p:cNvSpPr txBox="1"/>
          <p:nvPr/>
        </p:nvSpPr>
        <p:spPr>
          <a:xfrm>
            <a:off x="457200" y="3186962"/>
            <a:ext cx="249250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DELIVERED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Scan, draft and review agents on approved feeds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5" name="case.1.stat" descr="stat kind illustrative"/>
          <p:cNvGrpSpPr/>
          <p:nvPr/>
        </p:nvGrpSpPr>
        <p:grpSpPr>
          <a:xfrm>
            <a:off x="457200" y="4066480"/>
            <a:ext cx="2492502" cy="953576"/>
            <a:chOff x="457200" y="4066480"/>
            <a:chExt cx="2492502" cy="953576"/>
          </a:xfrm>
          <a:effectLst/>
        </p:grpSpPr>
        <p:sp>
          <p:nvSpPr>
            <p:cNvPr id="11" name="case.1.stat.value"/>
            <p:cNvSpPr txBox="1"/>
            <p:nvPr/>
          </p:nvSpPr>
          <p:spPr>
            <a:xfrm>
              <a:off x="457200" y="4066480"/>
              <a:ext cx="2492502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 day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2" name="case.1.stat.rule"/>
            <p:cNvCxnSpPr/>
            <p:nvPr/>
          </p:nvCxnSpPr>
          <p:spPr>
            <a:xfrm>
              <a:off x="457200" y="4547551"/>
              <a:ext cx="2492502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3" name="case.1.stat.label"/>
            <p:cNvSpPr txBox="1"/>
            <p:nvPr/>
          </p:nvSpPr>
          <p:spPr>
            <a:xfrm>
              <a:off x="457200" y="4602415"/>
              <a:ext cx="2492502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from signal to field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4" name="case.1.stat.basis"/>
            <p:cNvSpPr/>
            <p:nvPr/>
          </p:nvSpPr>
          <p:spPr>
            <a:xfrm>
              <a:off x="457200" y="4809713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6" name="case.2.tile"/>
          <p:cNvSpPr/>
          <p:nvPr/>
        </p:nvSpPr>
        <p:spPr>
          <a:xfrm>
            <a:off x="3406902" y="777240"/>
            <a:ext cx="566928" cy="566928"/>
          </a:xfrm>
          <a:prstGeom prst="roundRect">
            <a:avLst>
              <a:gd name="adj" fmla="val 806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17" name="case.2.icon"/>
          <p:cNvSpPr/>
          <p:nvPr/>
        </p:nvSpPr>
        <p:spPr>
          <a:xfrm>
            <a:off x="3534918" y="90525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18000"/>
                </a:moveTo>
                <a:lnTo>
                  <a:pt x="14000" y="18000"/>
                </a:lnTo>
                <a:moveTo>
                  <a:pt x="3000" y="22000"/>
                </a:moveTo>
                <a:lnTo>
                  <a:pt x="21000" y="22000"/>
                </a:lnTo>
                <a:moveTo>
                  <a:pt x="14000" y="22000"/>
                </a:moveTo>
                <a:cubicBezTo>
                  <a:pt x="17866" y="22000"/>
                  <a:pt x="21000" y="18866"/>
                  <a:pt x="21000" y="15000"/>
                </a:cubicBezTo>
                <a:cubicBezTo>
                  <a:pt x="21000" y="11134"/>
                  <a:pt x="17866" y="8000"/>
                  <a:pt x="14000" y="8000"/>
                </a:cubicBezTo>
                <a:lnTo>
                  <a:pt x="13000" y="8000"/>
                </a:lnTo>
                <a:moveTo>
                  <a:pt x="9000" y="14000"/>
                </a:moveTo>
                <a:lnTo>
                  <a:pt x="11000" y="14000"/>
                </a:lnTo>
                <a:moveTo>
                  <a:pt x="9000" y="12000"/>
                </a:moveTo>
                <a:cubicBezTo>
                  <a:pt x="7895" y="12000"/>
                  <a:pt x="7000" y="11105"/>
                  <a:pt x="7000" y="10000"/>
                </a:cubicBezTo>
                <a:lnTo>
                  <a:pt x="7000" y="6000"/>
                </a:lnTo>
                <a:lnTo>
                  <a:pt x="13000" y="6000"/>
                </a:lnTo>
                <a:lnTo>
                  <a:pt x="13000" y="10000"/>
                </a:lnTo>
                <a:cubicBezTo>
                  <a:pt x="13000" y="11105"/>
                  <a:pt x="12105" y="12000"/>
                  <a:pt x="11000" y="12000"/>
                </a:cubicBezTo>
                <a:close/>
                <a:moveTo>
                  <a:pt x="12000" y="6000"/>
                </a:moveTo>
                <a:lnTo>
                  <a:pt x="12000" y="3000"/>
                </a:lnTo>
                <a:cubicBezTo>
                  <a:pt x="12000" y="2448"/>
                  <a:pt x="11552" y="2000"/>
                  <a:pt x="11000" y="2000"/>
                </a:cubicBezTo>
                <a:lnTo>
                  <a:pt x="9000" y="2000"/>
                </a:lnTo>
                <a:cubicBezTo>
                  <a:pt x="8448" y="2000"/>
                  <a:pt x="8000" y="2448"/>
                  <a:pt x="8000" y="3000"/>
                </a:cubicBezTo>
                <a:lnTo>
                  <a:pt x="8000" y="6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18" name="case.2.sector"/>
          <p:cNvSpPr txBox="1"/>
          <p:nvPr/>
        </p:nvSpPr>
        <p:spPr>
          <a:xfrm>
            <a:off x="4120134" y="810460"/>
            <a:ext cx="1779270" cy="50048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ONCOLOGY LAUNCH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Oncology medical affairs team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case.2.head"/>
          <p:cNvSpPr txBox="1"/>
          <p:nvPr/>
        </p:nvSpPr>
        <p:spPr>
          <a:xfrm>
            <a:off x="3406902" y="1545336"/>
            <a:ext cx="2492502" cy="48778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Congress signal digest</a:t>
            </a:r>
            <a:endParaRPr lang="en-US" sz="1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" name="case.2.rule.1"/>
          <p:cNvCxnSpPr/>
          <p:nvPr/>
        </p:nvCxnSpPr>
        <p:spPr>
          <a:xfrm>
            <a:off x="3406902" y="2197717"/>
            <a:ext cx="249250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1" name="case.2.field.1"/>
          <p:cNvSpPr txBox="1"/>
          <p:nvPr/>
        </p:nvSpPr>
        <p:spPr>
          <a:xfrm>
            <a:off x="3406902" y="2307445"/>
            <a:ext cx="2492502" cy="65340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NEED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Too many abstracts for the medical team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2" name="case.2.rule.2"/>
          <p:cNvCxnSpPr/>
          <p:nvPr/>
        </p:nvCxnSpPr>
        <p:spPr>
          <a:xfrm>
            <a:off x="3406902" y="3077234"/>
            <a:ext cx="249250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23" name="case.2.field.2"/>
          <p:cNvSpPr txBox="1"/>
          <p:nvPr/>
        </p:nvSpPr>
        <p:spPr>
          <a:xfrm>
            <a:off x="3406902" y="3186962"/>
            <a:ext cx="249250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DELIVERED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Congress feeds read and linked by an agent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8" name="case.2.stat" descr="stat kind illustrative"/>
          <p:cNvGrpSpPr/>
          <p:nvPr/>
        </p:nvGrpSpPr>
        <p:grpSpPr>
          <a:xfrm>
            <a:off x="3406902" y="4066480"/>
            <a:ext cx="2492502" cy="953576"/>
            <a:chOff x="3406902" y="4066480"/>
            <a:chExt cx="2492502" cy="953576"/>
          </a:xfrm>
          <a:effectLst/>
        </p:grpSpPr>
        <p:sp>
          <p:nvSpPr>
            <p:cNvPr id="24" name="case.2.stat.value"/>
            <p:cNvSpPr txBox="1"/>
            <p:nvPr/>
          </p:nvSpPr>
          <p:spPr>
            <a:xfrm>
              <a:off x="3406902" y="4066480"/>
              <a:ext cx="2492502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98%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25" name="case.2.stat.rule"/>
            <p:cNvCxnSpPr/>
            <p:nvPr/>
          </p:nvCxnSpPr>
          <p:spPr>
            <a:xfrm>
              <a:off x="3406902" y="4547551"/>
              <a:ext cx="2492502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26" name="case.2.stat.label"/>
            <p:cNvSpPr txBox="1"/>
            <p:nvPr/>
          </p:nvSpPr>
          <p:spPr>
            <a:xfrm>
              <a:off x="3406902" y="4602415"/>
              <a:ext cx="2492502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claims linked to a source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7" name="case.2.stat.basis"/>
            <p:cNvSpPr/>
            <p:nvPr/>
          </p:nvSpPr>
          <p:spPr>
            <a:xfrm>
              <a:off x="3406902" y="4809713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cxnSp>
        <p:nvCxnSpPr>
          <p:cNvPr id="29" name="case.2.divider"/>
          <p:cNvCxnSpPr/>
          <p:nvPr/>
        </p:nvCxnSpPr>
        <p:spPr>
          <a:xfrm>
            <a:off x="3178302" y="777240"/>
            <a:ext cx="0" cy="4242816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30" name="case.3.tile"/>
          <p:cNvSpPr/>
          <p:nvPr/>
        </p:nvSpPr>
        <p:spPr>
          <a:xfrm>
            <a:off x="6356604" y="777240"/>
            <a:ext cx="566928" cy="566928"/>
          </a:xfrm>
          <a:prstGeom prst="roundRect">
            <a:avLst>
              <a:gd name="adj" fmla="val 806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1" name="case.3.icon"/>
          <p:cNvSpPr/>
          <p:nvPr/>
        </p:nvSpPr>
        <p:spPr>
          <a:xfrm>
            <a:off x="6484620" y="90525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8000" y="2000"/>
                </a:moveTo>
                <a:lnTo>
                  <a:pt x="22000" y="6000"/>
                </a:lnTo>
                <a:moveTo>
                  <a:pt x="17000" y="7000"/>
                </a:moveTo>
                <a:lnTo>
                  <a:pt x="20000" y="4000"/>
                </a:lnTo>
                <a:moveTo>
                  <a:pt x="19000" y="9000"/>
                </a:moveTo>
                <a:lnTo>
                  <a:pt x="8700" y="19300"/>
                </a:lnTo>
                <a:cubicBezTo>
                  <a:pt x="7700" y="20300"/>
                  <a:pt x="6200" y="20300"/>
                  <a:pt x="5300" y="19300"/>
                </a:cubicBezTo>
                <a:lnTo>
                  <a:pt x="4700" y="18700"/>
                </a:lnTo>
                <a:cubicBezTo>
                  <a:pt x="3700" y="17700"/>
                  <a:pt x="3700" y="16200"/>
                  <a:pt x="4700" y="15300"/>
                </a:cubicBezTo>
                <a:lnTo>
                  <a:pt x="15000" y="5000"/>
                </a:lnTo>
                <a:moveTo>
                  <a:pt x="9000" y="11000"/>
                </a:moveTo>
                <a:lnTo>
                  <a:pt x="13000" y="15000"/>
                </a:lnTo>
                <a:moveTo>
                  <a:pt x="5000" y="19000"/>
                </a:moveTo>
                <a:lnTo>
                  <a:pt x="2000" y="22000"/>
                </a:lnTo>
                <a:moveTo>
                  <a:pt x="14000" y="4000"/>
                </a:moveTo>
                <a:lnTo>
                  <a:pt x="20000" y="10000"/>
                </a:lnTo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32" name="case.3.sector"/>
          <p:cNvSpPr txBox="1"/>
          <p:nvPr/>
        </p:nvSpPr>
        <p:spPr>
          <a:xfrm>
            <a:off x="7069836" y="810460"/>
            <a:ext cx="1779270" cy="50048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BIOSIMILARS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Regional marketing leads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case.3.head"/>
          <p:cNvSpPr txBox="1"/>
          <p:nvPr/>
        </p:nvSpPr>
        <p:spPr>
          <a:xfrm>
            <a:off x="6356604" y="1545336"/>
            <a:ext cx="2492502" cy="24389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regional brief</a:t>
            </a:r>
            <a:endParaRPr lang="en-US" sz="1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" name="case.3.rule.1"/>
          <p:cNvCxnSpPr/>
          <p:nvPr/>
        </p:nvCxnSpPr>
        <p:spPr>
          <a:xfrm>
            <a:off x="6356604" y="2197717"/>
            <a:ext cx="249250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5" name="case.3.field.1"/>
          <p:cNvSpPr txBox="1"/>
          <p:nvPr/>
        </p:nvSpPr>
        <p:spPr>
          <a:xfrm>
            <a:off x="6356604" y="2307445"/>
            <a:ext cx="2492502" cy="65340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NEED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Four regions rewrote the same summary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6" name="case.3.rule.2"/>
          <p:cNvCxnSpPr/>
          <p:nvPr/>
        </p:nvCxnSpPr>
        <p:spPr>
          <a:xfrm>
            <a:off x="6356604" y="3077234"/>
            <a:ext cx="249250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37" name="case.3.field.2"/>
          <p:cNvSpPr txBox="1"/>
          <p:nvPr/>
        </p:nvSpPr>
        <p:spPr>
          <a:xfrm>
            <a:off x="6356604" y="3186962"/>
            <a:ext cx="249250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DELIVERED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page with a section per region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42" name="case.3.stat" descr="stat kind illustrative"/>
          <p:cNvGrpSpPr/>
          <p:nvPr/>
        </p:nvGrpSpPr>
        <p:grpSpPr>
          <a:xfrm>
            <a:off x="6356604" y="4066480"/>
            <a:ext cx="2492502" cy="953576"/>
            <a:chOff x="6356604" y="4066480"/>
            <a:chExt cx="2492502" cy="953576"/>
          </a:xfrm>
          <a:effectLst/>
        </p:grpSpPr>
        <p:sp>
          <p:nvSpPr>
            <p:cNvPr id="38" name="case.3.stat.value"/>
            <p:cNvSpPr txBox="1"/>
            <p:nvPr/>
          </p:nvSpPr>
          <p:spPr>
            <a:xfrm>
              <a:off x="6356604" y="4066480"/>
              <a:ext cx="2492502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 page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39" name="case.3.stat.rule"/>
            <p:cNvCxnSpPr/>
            <p:nvPr/>
          </p:nvCxnSpPr>
          <p:spPr>
            <a:xfrm>
              <a:off x="6356604" y="4547551"/>
              <a:ext cx="2492502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40" name="case.3.stat.label"/>
            <p:cNvSpPr txBox="1"/>
            <p:nvPr/>
          </p:nvSpPr>
          <p:spPr>
            <a:xfrm>
              <a:off x="6356604" y="4602415"/>
              <a:ext cx="2492502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in place of four versions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1" name="case.3.stat.basis"/>
            <p:cNvSpPr/>
            <p:nvPr/>
          </p:nvSpPr>
          <p:spPr>
            <a:xfrm>
              <a:off x="6356604" y="4809713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cxnSp>
        <p:nvCxnSpPr>
          <p:cNvPr id="43" name="case.3.divider"/>
          <p:cNvCxnSpPr/>
          <p:nvPr/>
        </p:nvCxnSpPr>
        <p:spPr>
          <a:xfrm>
            <a:off x="6128004" y="777240"/>
            <a:ext cx="0" cy="4242816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44" name="case.4.tile"/>
          <p:cNvSpPr/>
          <p:nvPr/>
        </p:nvSpPr>
        <p:spPr>
          <a:xfrm>
            <a:off x="9306306" y="777240"/>
            <a:ext cx="566928" cy="566928"/>
          </a:xfrm>
          <a:prstGeom prst="roundRect">
            <a:avLst>
              <a:gd name="adj" fmla="val 806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45" name="case.4.icon"/>
          <p:cNvSpPr/>
          <p:nvPr/>
        </p:nvSpPr>
        <p:spPr>
          <a:xfrm>
            <a:off x="9434322" y="905256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1000" y="2000"/>
                </a:moveTo>
                <a:lnTo>
                  <a:pt x="11000" y="4000"/>
                </a:lnTo>
                <a:moveTo>
                  <a:pt x="5000" y="2000"/>
                </a:moveTo>
                <a:lnTo>
                  <a:pt x="5000" y="4000"/>
                </a:lnTo>
                <a:moveTo>
                  <a:pt x="5000" y="3000"/>
                </a:move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9000"/>
                </a:lnTo>
                <a:cubicBezTo>
                  <a:pt x="2000" y="12314"/>
                  <a:pt x="4686" y="15000"/>
                  <a:pt x="8000" y="15000"/>
                </a:cubicBezTo>
                <a:cubicBezTo>
                  <a:pt x="11314" y="15000"/>
                  <a:pt x="14000" y="12314"/>
                  <a:pt x="14000" y="9000"/>
                </a:cubicBezTo>
                <a:lnTo>
                  <a:pt x="14000" y="5000"/>
                </a:lnTo>
                <a:cubicBezTo>
                  <a:pt x="14000" y="3895"/>
                  <a:pt x="13105" y="3000"/>
                  <a:pt x="12000" y="3000"/>
                </a:cubicBezTo>
                <a:lnTo>
                  <a:pt x="11000" y="3000"/>
                </a:lnTo>
                <a:moveTo>
                  <a:pt x="8000" y="15000"/>
                </a:moveTo>
                <a:cubicBezTo>
                  <a:pt x="8000" y="18314"/>
                  <a:pt x="10686" y="21000"/>
                  <a:pt x="14000" y="21000"/>
                </a:cubicBezTo>
                <a:cubicBezTo>
                  <a:pt x="17314" y="21000"/>
                  <a:pt x="20000" y="18314"/>
                  <a:pt x="20000" y="15000"/>
                </a:cubicBezTo>
                <a:lnTo>
                  <a:pt x="20000" y="12000"/>
                </a:lnTo>
                <a:moveTo>
                  <a:pt x="22000" y="10000"/>
                </a:moveTo>
                <a:cubicBezTo>
                  <a:pt x="22000" y="11105"/>
                  <a:pt x="21105" y="12000"/>
                  <a:pt x="20000" y="12000"/>
                </a:cubicBezTo>
                <a:cubicBezTo>
                  <a:pt x="18895" y="12000"/>
                  <a:pt x="18000" y="11105"/>
                  <a:pt x="18000" y="10000"/>
                </a:cubicBezTo>
                <a:cubicBezTo>
                  <a:pt x="18000" y="8895"/>
                  <a:pt x="18895" y="8000"/>
                  <a:pt x="20000" y="8000"/>
                </a:cubicBezTo>
                <a:cubicBezTo>
                  <a:pt x="21105" y="8000"/>
                  <a:pt x="22000" y="8895"/>
                  <a:pt x="22000" y="10000"/>
                </a:cubicBezTo>
                <a:close/>
              </a:path>
            </a:pathLst>
          </a:custGeom>
          <a:noFill/>
          <a:ln w="2603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46" name="case.4.sector"/>
          <p:cNvSpPr txBox="1"/>
          <p:nvPr/>
        </p:nvSpPr>
        <p:spPr>
          <a:xfrm>
            <a:off x="10019538" y="810460"/>
            <a:ext cx="1779270" cy="50048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MEDICAL AFFAIRS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information analysts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case.4.head"/>
          <p:cNvSpPr txBox="1"/>
          <p:nvPr/>
        </p:nvSpPr>
        <p:spPr>
          <a:xfrm>
            <a:off x="9306306" y="1545336"/>
            <a:ext cx="2492502" cy="24389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Signal triage agent</a:t>
            </a:r>
            <a:endParaRPr lang="en-US" sz="16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8" name="case.4.rule.1"/>
          <p:cNvCxnSpPr/>
          <p:nvPr/>
        </p:nvCxnSpPr>
        <p:spPr>
          <a:xfrm>
            <a:off x="9306306" y="2197717"/>
            <a:ext cx="249250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49" name="case.4.field.1"/>
          <p:cNvSpPr txBox="1"/>
          <p:nvPr/>
        </p:nvSpPr>
        <p:spPr>
          <a:xfrm>
            <a:off x="9306306" y="2307445"/>
            <a:ext cx="2492502" cy="65340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NEED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Analysts read every feed by hand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0" name="case.4.rule.2"/>
          <p:cNvCxnSpPr/>
          <p:nvPr/>
        </p:nvCxnSpPr>
        <p:spPr>
          <a:xfrm>
            <a:off x="9306306" y="3077234"/>
            <a:ext cx="249250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51" name="case.4.field.2"/>
          <p:cNvSpPr txBox="1"/>
          <p:nvPr/>
        </p:nvSpPr>
        <p:spPr>
          <a:xfrm>
            <a:off x="9306306" y="3186962"/>
            <a:ext cx="249250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DELIVERED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ranking agent ahead of the analyst queue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56" name="case.4.stat" descr="stat kind illustrative"/>
          <p:cNvGrpSpPr/>
          <p:nvPr/>
        </p:nvGrpSpPr>
        <p:grpSpPr>
          <a:xfrm>
            <a:off x="9306306" y="4066480"/>
            <a:ext cx="2492502" cy="953576"/>
            <a:chOff x="9306306" y="4066480"/>
            <a:chExt cx="2492502" cy="953576"/>
          </a:xfrm>
          <a:effectLst/>
        </p:grpSpPr>
        <p:sp>
          <p:nvSpPr>
            <p:cNvPr id="52" name="case.4.stat.value"/>
            <p:cNvSpPr txBox="1"/>
            <p:nvPr/>
          </p:nvSpPr>
          <p:spPr>
            <a:xfrm>
              <a:off x="9306306" y="4066480"/>
              <a:ext cx="2492502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60+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53" name="case.4.stat.rule"/>
            <p:cNvCxnSpPr/>
            <p:nvPr/>
          </p:nvCxnSpPr>
          <p:spPr>
            <a:xfrm>
              <a:off x="9306306" y="4547551"/>
              <a:ext cx="2492502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54" name="case.4.stat.label"/>
            <p:cNvSpPr txBox="1"/>
            <p:nvPr/>
          </p:nvSpPr>
          <p:spPr>
            <a:xfrm>
              <a:off x="9306306" y="4602415"/>
              <a:ext cx="2492502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signals screened each week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5" name="case.4.stat.basis"/>
            <p:cNvSpPr/>
            <p:nvPr/>
          </p:nvSpPr>
          <p:spPr>
            <a:xfrm>
              <a:off x="9306306" y="4809713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cxnSp>
        <p:nvCxnSpPr>
          <p:cNvPr id="57" name="case.4.divider"/>
          <p:cNvCxnSpPr/>
          <p:nvPr/>
        </p:nvCxnSpPr>
        <p:spPr>
          <a:xfrm>
            <a:off x="9077706" y="777240"/>
            <a:ext cx="0" cy="4242816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58" name="pattern.band"/>
          <p:cNvSpPr/>
          <p:nvPr/>
        </p:nvSpPr>
        <p:spPr>
          <a:xfrm>
            <a:off x="457200" y="5294376"/>
            <a:ext cx="11341608" cy="960120"/>
          </a:xfrm>
          <a:prstGeom prst="roundRect">
            <a:avLst>
              <a:gd name="adj" fmla="val 4761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9" name="pattern.label.block"/>
          <p:cNvSpPr/>
          <p:nvPr/>
        </p:nvSpPr>
        <p:spPr>
          <a:xfrm>
            <a:off x="457200" y="5294376"/>
            <a:ext cx="1828800" cy="960120"/>
          </a:xfrm>
          <a:prstGeom prst="roundRect">
            <a:avLst>
              <a:gd name="adj" fmla="val 4761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0" name="pattern.label"/>
          <p:cNvSpPr txBox="1"/>
          <p:nvPr/>
        </p:nvSpPr>
        <p:spPr>
          <a:xfrm>
            <a:off x="603504" y="5385816"/>
            <a:ext cx="1536192" cy="777240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 pattern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pattern.1.text"/>
          <p:cNvSpPr txBox="1"/>
          <p:nvPr/>
        </p:nvSpPr>
        <p:spPr>
          <a:xfrm>
            <a:off x="2487168" y="5503870"/>
            <a:ext cx="1639214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Approved sources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Feeds agreed before the first brief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pattern.2.text"/>
          <p:cNvSpPr txBox="1"/>
          <p:nvPr/>
        </p:nvSpPr>
        <p:spPr>
          <a:xfrm>
            <a:off x="4354982" y="5503870"/>
            <a:ext cx="1639214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Medical sign-off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Every brief signed before release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pattern.3.text"/>
          <p:cNvSpPr txBox="1"/>
          <p:nvPr/>
        </p:nvSpPr>
        <p:spPr>
          <a:xfrm>
            <a:off x="6222797" y="5503870"/>
            <a:ext cx="1639214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page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 format for every territory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pattern.4.text"/>
          <p:cNvSpPr txBox="1"/>
          <p:nvPr/>
        </p:nvSpPr>
        <p:spPr>
          <a:xfrm>
            <a:off x="8090611" y="5503870"/>
            <a:ext cx="1639214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Weekly cadence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 the field before Monday calls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pattern.5.text"/>
          <p:cNvSpPr txBox="1"/>
          <p:nvPr/>
        </p:nvSpPr>
        <p:spPr>
          <a:xfrm>
            <a:off x="9958426" y="5503870"/>
            <a:ext cx="1639214" cy="54113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 ledger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Every claim traced to its source feed</a:t>
            </a:r>
            <a:endParaRPr lang="en-US" sz="105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eam-roster:paired-counterparts-bracket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Each Quillmont role works beside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two firm roles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from kickoff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am.firm.tab"/>
          <p:cNvSpPr/>
          <p:nvPr/>
        </p:nvSpPr>
        <p:spPr>
          <a:xfrm>
            <a:off x="457200" y="777240"/>
            <a:ext cx="3931920" cy="384048"/>
          </a:xfrm>
          <a:prstGeom prst="round2SameRect">
            <a:avLst>
              <a:gd name="adj1" fmla="val 11904"/>
              <a:gd name="adj2" fmla="val 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firm, six roles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am.client.tab"/>
          <p:cNvSpPr/>
          <p:nvPr/>
        </p:nvSpPr>
        <p:spPr>
          <a:xfrm>
            <a:off x="7866888" y="777240"/>
            <a:ext cx="3931920" cy="384048"/>
          </a:xfrm>
          <a:prstGeom prst="round2SameRect">
            <a:avLst>
              <a:gd name="adj1" fmla="val 11904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91440" tIns="18288" rIns="91440" bIns="18288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Quillmont, three roles</a:t>
            </a:r>
            <a:endParaRPr lang="en-US" sz="10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am.firm.1"/>
          <p:cNvSpPr/>
          <p:nvPr/>
        </p:nvSpPr>
        <p:spPr>
          <a:xfrm>
            <a:off x="3730752" y="1373886"/>
            <a:ext cx="658368" cy="658368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" name="team.firm.1.initials"/>
          <p:cNvSpPr txBox="1"/>
          <p:nvPr/>
        </p:nvSpPr>
        <p:spPr>
          <a:xfrm>
            <a:off x="3827168" y="1470302"/>
            <a:ext cx="465536" cy="4655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EL</a:t>
            </a:r>
            <a:endParaRPr lang="en-US" sz="18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am.firm.1.text"/>
          <p:cNvSpPr txBox="1"/>
          <p:nvPr/>
        </p:nvSpPr>
        <p:spPr>
          <a:xfrm>
            <a:off x="457200" y="1400745"/>
            <a:ext cx="3072384" cy="60464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Engagement lead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Owns scope, gates and the weekly readout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am.firm.2"/>
          <p:cNvSpPr/>
          <p:nvPr/>
        </p:nvSpPr>
        <p:spPr>
          <a:xfrm>
            <a:off x="3730752" y="2201418"/>
            <a:ext cx="658368" cy="658368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9" name="team.firm.2.initials"/>
          <p:cNvSpPr txBox="1"/>
          <p:nvPr/>
        </p:nvSpPr>
        <p:spPr>
          <a:xfrm>
            <a:off x="3827168" y="2297834"/>
            <a:ext cx="465536" cy="4655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DM</a:t>
            </a:r>
            <a:endParaRPr lang="en-US" sz="18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am.firm.2.text"/>
          <p:cNvSpPr txBox="1"/>
          <p:nvPr/>
        </p:nvSpPr>
        <p:spPr>
          <a:xfrm>
            <a:off x="457200" y="2319738"/>
            <a:ext cx="3072384" cy="42172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Delivery manager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Holds the plan, risks and gate dates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am.firm.3"/>
          <p:cNvSpPr/>
          <p:nvPr/>
        </p:nvSpPr>
        <p:spPr>
          <a:xfrm>
            <a:off x="3730752" y="3028950"/>
            <a:ext cx="658368" cy="658368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2" name="team.firm.3.initials"/>
          <p:cNvSpPr txBox="1"/>
          <p:nvPr/>
        </p:nvSpPr>
        <p:spPr>
          <a:xfrm>
            <a:off x="3827168" y="3125366"/>
            <a:ext cx="465536" cy="4655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</a:t>
            </a:r>
            <a:endParaRPr lang="en-US" sz="18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am.firm.3.text"/>
          <p:cNvSpPr txBox="1"/>
          <p:nvPr/>
        </p:nvSpPr>
        <p:spPr>
          <a:xfrm>
            <a:off x="457200" y="3055809"/>
            <a:ext cx="3072384" cy="60464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Evaluation lead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Runs the sourcing checks on every brief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am.firm.4"/>
          <p:cNvSpPr/>
          <p:nvPr/>
        </p:nvSpPr>
        <p:spPr>
          <a:xfrm>
            <a:off x="3730752" y="3856482"/>
            <a:ext cx="658368" cy="658368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5" name="team.firm.4.initials"/>
          <p:cNvSpPr txBox="1"/>
          <p:nvPr/>
        </p:nvSpPr>
        <p:spPr>
          <a:xfrm>
            <a:off x="3827168" y="3952898"/>
            <a:ext cx="465536" cy="4655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AE</a:t>
            </a:r>
            <a:endParaRPr lang="en-US" sz="18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am.firm.4.text"/>
          <p:cNvSpPr txBox="1"/>
          <p:nvPr/>
        </p:nvSpPr>
        <p:spPr>
          <a:xfrm>
            <a:off x="457200" y="3974802"/>
            <a:ext cx="3072384" cy="42172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engineer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Builds the scan and writer agents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am.firm.5"/>
          <p:cNvSpPr/>
          <p:nvPr/>
        </p:nvSpPr>
        <p:spPr>
          <a:xfrm>
            <a:off x="3730752" y="4684014"/>
            <a:ext cx="658368" cy="658368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8" name="team.firm.5.initials"/>
          <p:cNvSpPr txBox="1"/>
          <p:nvPr/>
        </p:nvSpPr>
        <p:spPr>
          <a:xfrm>
            <a:off x="3827168" y="4780430"/>
            <a:ext cx="465536" cy="4655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SA</a:t>
            </a:r>
            <a:endParaRPr lang="en-US" sz="18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am.firm.5.text"/>
          <p:cNvSpPr txBox="1"/>
          <p:nvPr/>
        </p:nvSpPr>
        <p:spPr>
          <a:xfrm>
            <a:off x="457200" y="4710873"/>
            <a:ext cx="3072384" cy="60464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Solution architect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Designs the foundation and the agent flow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am.firm.6"/>
          <p:cNvSpPr/>
          <p:nvPr/>
        </p:nvSpPr>
        <p:spPr>
          <a:xfrm>
            <a:off x="3730752" y="5511546"/>
            <a:ext cx="658368" cy="658368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1" name="team.firm.6.initials"/>
          <p:cNvSpPr txBox="1"/>
          <p:nvPr/>
        </p:nvSpPr>
        <p:spPr>
          <a:xfrm>
            <a:off x="3827168" y="5607962"/>
            <a:ext cx="465536" cy="465536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DE</a:t>
            </a:r>
            <a:endParaRPr lang="en-US" sz="18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am.firm.6.text"/>
          <p:cNvSpPr txBox="1"/>
          <p:nvPr/>
        </p:nvSpPr>
        <p:spPr>
          <a:xfrm>
            <a:off x="457200" y="5629866"/>
            <a:ext cx="3072384" cy="42172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 engineer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Lands and refines the approved feeds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am.client.1"/>
          <p:cNvSpPr/>
          <p:nvPr/>
        </p:nvSpPr>
        <p:spPr>
          <a:xfrm>
            <a:off x="7866888" y="1659636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4" name="team.client.1.initials"/>
          <p:cNvSpPr txBox="1"/>
          <p:nvPr/>
        </p:nvSpPr>
        <p:spPr>
          <a:xfrm>
            <a:off x="8000799" y="1793547"/>
            <a:ext cx="646578" cy="64657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FL</a:t>
            </a:r>
            <a:endParaRPr lang="en-US" sz="25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am.client.1.text"/>
          <p:cNvSpPr txBox="1"/>
          <p:nvPr/>
        </p:nvSpPr>
        <p:spPr>
          <a:xfrm>
            <a:off x="9000744" y="1711623"/>
            <a:ext cx="2798064" cy="81042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lead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Sets the brief format and pilot territories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Seat on the sponsor council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am.pair.1"/>
          <p:cNvSpPr/>
          <p:nvPr/>
        </p:nvSpPr>
        <p:spPr>
          <a:xfrm>
            <a:off x="4389120" y="1703070"/>
            <a:ext cx="3477768" cy="413766"/>
          </a:xfrm>
          <a:custGeom>
            <a:avLst/>
            <a:gdLst/>
            <a:ahLst/>
            <a:cxnLst/>
            <a:rect l="l" t="t" r="r" b="b"/>
            <a:pathLst>
              <a:path w="3477768" h="413766" fill="none">
                <a:moveTo>
                  <a:pt x="0" y="0"/>
                </a:moveTo>
                <a:lnTo>
                  <a:pt x="2974848" y="0"/>
                </a:lnTo>
                <a:lnTo>
                  <a:pt x="2974848" y="413766"/>
                </a:lnTo>
                <a:lnTo>
                  <a:pt x="3477768" y="413766"/>
                </a:lnTo>
              </a:path>
            </a:pathLst>
          </a:custGeom>
          <a:noFill/>
          <a:ln w="12700">
            <a:solidFill>
              <a:schemeClr val="bg1">
                <a:lumMod val="55000"/>
              </a:schemeClr>
            </a:solidFill>
            <a:miter lim="800000"/>
          </a:ln>
          <a:effectLst/>
        </p:spPr>
        <p:txBody>
          <a:bodyPr/>
          <a:p/>
        </p:txBody>
      </p:sp>
      <p:sp>
        <p:nvSpPr>
          <p:cNvPr id="27" name="team.pair.1.text"/>
          <p:cNvSpPr txBox="1"/>
          <p:nvPr/>
        </p:nvSpPr>
        <p:spPr>
          <a:xfrm>
            <a:off x="4526280" y="1489673"/>
            <a:ext cx="270052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Weekly steering</a:t>
            </a:r>
            <a:endParaRPr lang="en-US" sz="110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am.pair.2"/>
          <p:cNvSpPr/>
          <p:nvPr/>
        </p:nvSpPr>
        <p:spPr>
          <a:xfrm>
            <a:off x="4389120" y="2116836"/>
            <a:ext cx="3477768" cy="413766"/>
          </a:xfrm>
          <a:custGeom>
            <a:avLst/>
            <a:gdLst/>
            <a:ahLst/>
            <a:cxnLst/>
            <a:rect l="l" t="t" r="r" b="b"/>
            <a:pathLst>
              <a:path w="3477768" h="413766" fill="none">
                <a:moveTo>
                  <a:pt x="0" y="413766"/>
                </a:moveTo>
                <a:lnTo>
                  <a:pt x="2974848" y="413766"/>
                </a:lnTo>
                <a:lnTo>
                  <a:pt x="2974848" y="0"/>
                </a:lnTo>
                <a:lnTo>
                  <a:pt x="3477768" y="0"/>
                </a:lnTo>
              </a:path>
            </a:pathLst>
          </a:custGeom>
          <a:noFill/>
          <a:ln w="12700">
            <a:solidFill>
              <a:schemeClr val="bg1">
                <a:lumMod val="55000"/>
              </a:schemeClr>
            </a:solidFill>
            <a:miter lim="800000"/>
          </a:ln>
          <a:effectLst/>
        </p:spPr>
        <p:txBody>
          <a:bodyPr/>
          <a:p/>
        </p:txBody>
      </p:sp>
      <p:sp>
        <p:nvSpPr>
          <p:cNvPr id="29" name="team.pair.2.text"/>
          <p:cNvSpPr txBox="1"/>
          <p:nvPr/>
        </p:nvSpPr>
        <p:spPr>
          <a:xfrm>
            <a:off x="4526280" y="2576322"/>
            <a:ext cx="270052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Delivery board, alternate Tuesdays</a:t>
            </a:r>
            <a:endParaRPr lang="en-US" sz="110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am.client.2"/>
          <p:cNvSpPr/>
          <p:nvPr/>
        </p:nvSpPr>
        <p:spPr>
          <a:xfrm>
            <a:off x="7866888" y="331470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1" name="team.client.2.initials"/>
          <p:cNvSpPr txBox="1"/>
          <p:nvPr/>
        </p:nvSpPr>
        <p:spPr>
          <a:xfrm>
            <a:off x="8000799" y="3448611"/>
            <a:ext cx="646578" cy="64657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MR</a:t>
            </a:r>
            <a:endParaRPr lang="en-US" sz="25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am.client.2.text"/>
          <p:cNvSpPr txBox="1"/>
          <p:nvPr/>
        </p:nvSpPr>
        <p:spPr>
          <a:xfrm>
            <a:off x="9000744" y="3366687"/>
            <a:ext cx="2798064" cy="81042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reviewer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Approves, edits or rejects every brief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Chairs the Wednesday brief review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am.pair.3"/>
          <p:cNvSpPr/>
          <p:nvPr/>
        </p:nvSpPr>
        <p:spPr>
          <a:xfrm>
            <a:off x="4389120" y="3358134"/>
            <a:ext cx="3477768" cy="413766"/>
          </a:xfrm>
          <a:custGeom>
            <a:avLst/>
            <a:gdLst/>
            <a:ahLst/>
            <a:cxnLst/>
            <a:rect l="l" t="t" r="r" b="b"/>
            <a:pathLst>
              <a:path w="3477768" h="413766" fill="none">
                <a:moveTo>
                  <a:pt x="0" y="0"/>
                </a:moveTo>
                <a:lnTo>
                  <a:pt x="2974848" y="0"/>
                </a:lnTo>
                <a:lnTo>
                  <a:pt x="2974848" y="413766"/>
                </a:lnTo>
                <a:lnTo>
                  <a:pt x="3477768" y="413766"/>
                </a:lnTo>
              </a:path>
            </a:pathLst>
          </a:custGeom>
          <a:noFill/>
          <a:ln w="12700">
            <a:solidFill>
              <a:schemeClr val="bg1">
                <a:lumMod val="55000"/>
              </a:schemeClr>
            </a:solidFill>
            <a:miter lim="800000"/>
          </a:ln>
          <a:effectLst/>
        </p:spPr>
        <p:txBody>
          <a:bodyPr/>
          <a:p/>
        </p:txBody>
      </p:sp>
      <p:sp>
        <p:nvSpPr>
          <p:cNvPr id="34" name="team.pair.3.text"/>
          <p:cNvSpPr txBox="1"/>
          <p:nvPr/>
        </p:nvSpPr>
        <p:spPr>
          <a:xfrm>
            <a:off x="4526280" y="3144737"/>
            <a:ext cx="270052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Brief review, every Wednesday</a:t>
            </a:r>
            <a:endParaRPr lang="en-US" sz="110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team.pair.4"/>
          <p:cNvSpPr/>
          <p:nvPr/>
        </p:nvSpPr>
        <p:spPr>
          <a:xfrm>
            <a:off x="4389120" y="3771900"/>
            <a:ext cx="3477768" cy="413766"/>
          </a:xfrm>
          <a:custGeom>
            <a:avLst/>
            <a:gdLst/>
            <a:ahLst/>
            <a:cxnLst/>
            <a:rect l="l" t="t" r="r" b="b"/>
            <a:pathLst>
              <a:path w="3477768" h="413766" fill="none">
                <a:moveTo>
                  <a:pt x="0" y="413766"/>
                </a:moveTo>
                <a:lnTo>
                  <a:pt x="2974848" y="413766"/>
                </a:lnTo>
                <a:lnTo>
                  <a:pt x="2974848" y="0"/>
                </a:lnTo>
                <a:lnTo>
                  <a:pt x="3477768" y="0"/>
                </a:lnTo>
              </a:path>
            </a:pathLst>
          </a:custGeom>
          <a:noFill/>
          <a:ln w="12700">
            <a:solidFill>
              <a:schemeClr val="bg1">
                <a:lumMod val="55000"/>
              </a:schemeClr>
            </a:solidFill>
            <a:miter lim="800000"/>
          </a:ln>
          <a:effectLst/>
        </p:spPr>
        <p:txBody>
          <a:bodyPr/>
          <a:p/>
        </p:txBody>
      </p:sp>
      <p:sp>
        <p:nvSpPr>
          <p:cNvPr id="36" name="team.pair.4.text"/>
          <p:cNvSpPr txBox="1"/>
          <p:nvPr/>
        </p:nvSpPr>
        <p:spPr>
          <a:xfrm>
            <a:off x="4526280" y="4231386"/>
            <a:ext cx="270052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Rule tuning, weekly</a:t>
            </a:r>
            <a:endParaRPr lang="en-US" sz="110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am.client.3"/>
          <p:cNvSpPr/>
          <p:nvPr/>
        </p:nvSpPr>
        <p:spPr>
          <a:xfrm>
            <a:off x="7866888" y="4969764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38" name="team.client.3.initials"/>
          <p:cNvSpPr txBox="1"/>
          <p:nvPr/>
        </p:nvSpPr>
        <p:spPr>
          <a:xfrm>
            <a:off x="8000799" y="5103675"/>
            <a:ext cx="646578" cy="646578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DO</a:t>
            </a:r>
            <a:endParaRPr lang="en-US" sz="255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am.client.3.text"/>
          <p:cNvSpPr txBox="1"/>
          <p:nvPr/>
        </p:nvSpPr>
        <p:spPr>
          <a:xfrm>
            <a:off x="9000744" y="5021751"/>
            <a:ext cx="2798064" cy="81042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 owner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Grants feed access and signs data use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Signs the source list at gate 1</a:t>
            </a:r>
            <a:endParaRPr lang="en-US" sz="1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am.pair.5"/>
          <p:cNvSpPr/>
          <p:nvPr/>
        </p:nvSpPr>
        <p:spPr>
          <a:xfrm>
            <a:off x="4389120" y="5013198"/>
            <a:ext cx="3477768" cy="413766"/>
          </a:xfrm>
          <a:custGeom>
            <a:avLst/>
            <a:gdLst/>
            <a:ahLst/>
            <a:cxnLst/>
            <a:rect l="l" t="t" r="r" b="b"/>
            <a:pathLst>
              <a:path w="3477768" h="413766" fill="none">
                <a:moveTo>
                  <a:pt x="0" y="0"/>
                </a:moveTo>
                <a:lnTo>
                  <a:pt x="2974848" y="0"/>
                </a:lnTo>
                <a:lnTo>
                  <a:pt x="2974848" y="413766"/>
                </a:lnTo>
                <a:lnTo>
                  <a:pt x="3477768" y="413766"/>
                </a:lnTo>
              </a:path>
            </a:pathLst>
          </a:custGeom>
          <a:noFill/>
          <a:ln w="12700">
            <a:solidFill>
              <a:schemeClr val="bg1">
                <a:lumMod val="55000"/>
              </a:schemeClr>
            </a:solidFill>
            <a:miter lim="800000"/>
          </a:ln>
          <a:effectLst/>
        </p:spPr>
        <p:txBody>
          <a:bodyPr/>
          <a:p/>
        </p:txBody>
      </p:sp>
      <p:sp>
        <p:nvSpPr>
          <p:cNvPr id="41" name="team.pair.5.text"/>
          <p:cNvSpPr txBox="1"/>
          <p:nvPr/>
        </p:nvSpPr>
        <p:spPr>
          <a:xfrm>
            <a:off x="4526280" y="4799801"/>
            <a:ext cx="270052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Sign-off at each gate</a:t>
            </a:r>
            <a:endParaRPr lang="en-US" sz="110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am.pair.6"/>
          <p:cNvSpPr/>
          <p:nvPr/>
        </p:nvSpPr>
        <p:spPr>
          <a:xfrm>
            <a:off x="4389120" y="5426964"/>
            <a:ext cx="3477768" cy="413766"/>
          </a:xfrm>
          <a:custGeom>
            <a:avLst/>
            <a:gdLst/>
            <a:ahLst/>
            <a:cxnLst/>
            <a:rect l="l" t="t" r="r" b="b"/>
            <a:pathLst>
              <a:path w="3477768" h="413766" fill="none">
                <a:moveTo>
                  <a:pt x="0" y="413766"/>
                </a:moveTo>
                <a:lnTo>
                  <a:pt x="2974848" y="413766"/>
                </a:lnTo>
                <a:lnTo>
                  <a:pt x="2974848" y="0"/>
                </a:lnTo>
                <a:lnTo>
                  <a:pt x="3477768" y="0"/>
                </a:lnTo>
              </a:path>
            </a:pathLst>
          </a:custGeom>
          <a:noFill/>
          <a:ln w="12700">
            <a:solidFill>
              <a:schemeClr val="bg1">
                <a:lumMod val="55000"/>
              </a:schemeClr>
            </a:solidFill>
            <a:miter lim="800000"/>
          </a:ln>
          <a:effectLst/>
        </p:spPr>
        <p:txBody>
          <a:bodyPr/>
          <a:p/>
        </p:txBody>
      </p:sp>
      <p:sp>
        <p:nvSpPr>
          <p:cNvPr id="43" name="team.pair.6.text"/>
          <p:cNvSpPr txBox="1"/>
          <p:nvPr/>
        </p:nvSpPr>
        <p:spPr>
          <a:xfrm>
            <a:off x="4526280" y="5886450"/>
            <a:ext cx="2700528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Source review, monthly</a:t>
            </a:r>
            <a:endParaRPr lang="en-US" sz="1100" b="1" i="0" kern="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mmercials:price-bridge-panel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first-year price of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$468K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covers the build and a year of run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rice.head"/>
          <p:cNvSpPr txBox="1"/>
          <p:nvPr/>
        </p:nvSpPr>
        <p:spPr>
          <a:xfrm>
            <a:off x="457200" y="777240"/>
            <a:ext cx="740664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First-year price, $K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4" name="price" descr="Waterfall: Build, three gates $180K, Run, 12 x $24K $288K, First-year total $468K (chart kind illustrative)"/>
          <p:cNvGraphicFramePr>
            <a:graphicFrameLocks noGrp="1"/>
          </p:cNvGraphicFramePr>
          <p:nvPr/>
        </p:nvGraphicFramePr>
        <p:xfrm>
          <a:off x="457200" y="1143000"/>
          <a:ext cx="7406640" cy="51114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price.cat.1"/>
          <p:cNvSpPr txBox="1"/>
          <p:nvPr/>
        </p:nvSpPr>
        <p:spPr>
          <a:xfrm>
            <a:off x="512064" y="2113795"/>
            <a:ext cx="1305571" cy="18596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Build, three gates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rice.cat.2"/>
          <p:cNvSpPr txBox="1"/>
          <p:nvPr/>
        </p:nvSpPr>
        <p:spPr>
          <a:xfrm>
            <a:off x="512064" y="3710937"/>
            <a:ext cx="1305571" cy="18596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Run, 12 x $24K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price.cat.3"/>
          <p:cNvSpPr txBox="1"/>
          <p:nvPr/>
        </p:nvSpPr>
        <p:spPr>
          <a:xfrm>
            <a:off x="512064" y="5308078"/>
            <a:ext cx="1305571" cy="185965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First-year total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price.value.1"/>
          <p:cNvSpPr txBox="1"/>
          <p:nvPr/>
        </p:nvSpPr>
        <p:spPr>
          <a:xfrm>
            <a:off x="4014802" y="2104651"/>
            <a:ext cx="501266" cy="204253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$180K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price.value.2"/>
          <p:cNvSpPr txBox="1"/>
          <p:nvPr/>
        </p:nvSpPr>
        <p:spPr>
          <a:xfrm>
            <a:off x="7237660" y="3701793"/>
            <a:ext cx="501266" cy="204253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$288K</a:t>
            </a:r>
            <a:endParaRPr lang="en-US" sz="1100" b="0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price.value.3"/>
          <p:cNvSpPr txBox="1"/>
          <p:nvPr/>
        </p:nvSpPr>
        <p:spPr>
          <a:xfrm>
            <a:off x="7237660" y="5291313"/>
            <a:ext cx="553028" cy="219497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$468K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price.carry.1"/>
          <p:cNvCxnSpPr/>
          <p:nvPr/>
        </p:nvCxnSpPr>
        <p:spPr>
          <a:xfrm>
            <a:off x="3941650" y="2457900"/>
            <a:ext cx="0" cy="1094896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cxnSp>
        <p:nvCxnSpPr>
          <p:cNvPr id="12" name="price.carry.2"/>
          <p:cNvCxnSpPr/>
          <p:nvPr/>
        </p:nvCxnSpPr>
        <p:spPr>
          <a:xfrm>
            <a:off x="7164508" y="4055042"/>
            <a:ext cx="0" cy="1094896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13" name="price.basis"/>
          <p:cNvSpPr txBox="1"/>
          <p:nvPr/>
        </p:nvSpPr>
        <p:spPr>
          <a:xfrm>
            <a:off x="6749351" y="1197864"/>
            <a:ext cx="1059625" cy="15547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Illustrative figures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rice.note.1.text"/>
          <p:cNvSpPr txBox="1"/>
          <p:nvPr/>
        </p:nvSpPr>
        <p:spPr>
          <a:xfrm>
            <a:off x="5834970" y="3211383"/>
            <a:ext cx="1974006" cy="204253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From rollout, 22 Jan 2027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anel"/>
          <p:cNvSpPr/>
          <p:nvPr/>
        </p:nvSpPr>
        <p:spPr>
          <a:xfrm>
            <a:off x="8229600" y="777240"/>
            <a:ext cx="3569208" cy="2530541"/>
          </a:xfrm>
          <a:prstGeom prst="roundRect">
            <a:avLst>
              <a:gd name="adj" fmla="val 1806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grpSp>
        <p:nvGrpSpPr>
          <p:cNvPr id="19" name="price.stat" descr="stat kind illustrative"/>
          <p:cNvGrpSpPr/>
          <p:nvPr/>
        </p:nvGrpSpPr>
        <p:grpSpPr>
          <a:xfrm>
            <a:off x="8558784" y="1106424"/>
            <a:ext cx="2910840" cy="688370"/>
            <a:chOff x="8558784" y="1106424"/>
            <a:chExt cx="2910840" cy="688370"/>
          </a:xfrm>
          <a:effectLst/>
        </p:grpSpPr>
        <p:sp>
          <p:nvSpPr>
            <p:cNvPr id="16" name="price.stat.value"/>
            <p:cNvSpPr txBox="1"/>
            <p:nvPr/>
          </p:nvSpPr>
          <p:spPr>
            <a:xfrm>
              <a:off x="8558784" y="1106424"/>
              <a:ext cx="2910840" cy="4353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$468K</a:t>
              </a:r>
              <a:endParaRPr lang="en-US" sz="28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17" name="price.stat.rule"/>
            <p:cNvCxnSpPr/>
            <p:nvPr/>
          </p:nvCxnSpPr>
          <p:spPr>
            <a:xfrm>
              <a:off x="8558784" y="1587496"/>
              <a:ext cx="2910840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18" name="price.stat.label"/>
            <p:cNvSpPr txBox="1"/>
            <p:nvPr/>
          </p:nvSpPr>
          <p:spPr>
            <a:xfrm>
              <a:off x="8558784" y="1642360"/>
              <a:ext cx="2910840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first-year price, build and run</a:t>
              </a:r>
              <a:endParaRPr lang="en-US" sz="10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0" name="panel.terms"/>
          <p:cNvSpPr txBox="1"/>
          <p:nvPr/>
        </p:nvSpPr>
        <p:spPr>
          <a:xfrm>
            <a:off x="8558784" y="2069114"/>
            <a:ext cx="2910840" cy="909483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Build: $180K fixed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Three gates, paid at each sign-off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Run: $24K a month</a:t>
            </a:r>
            <a:endParaRPr lang="en-US" sz="13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From 22 Jan 2027, all six regions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buys.head"/>
          <p:cNvSpPr txBox="1"/>
          <p:nvPr/>
        </p:nvSpPr>
        <p:spPr>
          <a:xfrm>
            <a:off x="8229600" y="3618677"/>
            <a:ext cx="3569208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What the price buys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buys.body"/>
          <p:cNvSpPr txBox="1"/>
          <p:nvPr/>
        </p:nvSpPr>
        <p:spPr>
          <a:xfrm>
            <a:off x="8229600" y="4002725"/>
            <a:ext cx="3569208" cy="2200971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Six firm roles, three client roles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team from kickoff on 2 Nov 2026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4044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Three gates before rollout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20 Nov, 18 Dec 2026 and 8 Jan 2027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4044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One weekly brief, six regions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Sourced claims, medical review in the flow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alue-horizons:reach-line-horizon-cards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Every rep is briefed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within a day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once the six regions go live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ach.head"/>
          <p:cNvSpPr txBox="1"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Reps briefed within a day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4" name="reach" descr="Line chart of Reps over Today, Pilot, Dec 2026, Rollout, Jan 2027, Brand three, Sep 2027 (chart kind illustrative)"/>
          <p:cNvGraphicFramePr>
            <a:graphicFrameLocks noGrp="1"/>
          </p:cNvGraphicFramePr>
          <p:nvPr/>
        </p:nvGraphicFramePr>
        <p:xfrm>
          <a:off x="457200" y="1143000"/>
          <a:ext cx="7269480" cy="51114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ach.cat.1"/>
          <p:cNvSpPr txBox="1"/>
          <p:nvPr/>
        </p:nvSpPr>
        <p:spPr>
          <a:xfrm>
            <a:off x="1005671" y="6028910"/>
            <a:ext cx="1549798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Today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ach.cat.2"/>
          <p:cNvSpPr txBox="1"/>
          <p:nvPr/>
        </p:nvSpPr>
        <p:spPr>
          <a:xfrm>
            <a:off x="2628621" y="6028910"/>
            <a:ext cx="1549798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Pilot, Dec 2026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ach.cat.3"/>
          <p:cNvSpPr txBox="1"/>
          <p:nvPr/>
        </p:nvSpPr>
        <p:spPr>
          <a:xfrm>
            <a:off x="4251571" y="6028910"/>
            <a:ext cx="1549798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Rollout, Jan 2027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ach.cat.4"/>
          <p:cNvSpPr txBox="1"/>
          <p:nvPr/>
        </p:nvSpPr>
        <p:spPr>
          <a:xfrm>
            <a:off x="5874521" y="6028910"/>
            <a:ext cx="1549798" cy="17072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Brand three, Sep 2027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ach.end.1"/>
          <p:cNvSpPr txBox="1"/>
          <p:nvPr/>
        </p:nvSpPr>
        <p:spPr>
          <a:xfrm>
            <a:off x="6777435" y="2291194"/>
            <a:ext cx="876093" cy="204253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Reps 1,200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ach.basis"/>
          <p:cNvSpPr txBox="1"/>
          <p:nvPr/>
        </p:nvSpPr>
        <p:spPr>
          <a:xfrm>
            <a:off x="6612191" y="1197864"/>
            <a:ext cx="1059625" cy="15547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Illustrative figures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reach.note.1.drop"/>
          <p:cNvCxnSpPr/>
          <p:nvPr/>
        </p:nvCxnSpPr>
        <p:spPr>
          <a:xfrm>
            <a:off x="5026470" y="2475617"/>
            <a:ext cx="0" cy="3480141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  <a:prstDash val="dash"/>
          </a:ln>
          <a:effectLst/>
        </p:spPr>
      </p:cxnSp>
      <p:sp>
        <p:nvSpPr>
          <p:cNvPr id="12" name="reach.note.1.dot"/>
          <p:cNvSpPr/>
          <p:nvPr/>
        </p:nvSpPr>
        <p:spPr>
          <a:xfrm>
            <a:off x="4962462" y="2329313"/>
            <a:ext cx="128016" cy="12801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  <a:effectLst/>
        </p:spPr>
        <p:txBody>
          <a:bodyPr/>
          <a:p/>
        </p:txBody>
      </p:sp>
      <p:sp>
        <p:nvSpPr>
          <p:cNvPr id="13" name="reach.note.1.text"/>
          <p:cNvSpPr txBox="1"/>
          <p:nvPr/>
        </p:nvSpPr>
        <p:spPr>
          <a:xfrm>
            <a:off x="4146426" y="2033619"/>
            <a:ext cx="1760087" cy="204253"/>
          </a:xfrm>
          <a:prstGeom prst="rect">
            <a:avLst/>
          </a:prstGeom>
          <a:noFill/>
          <a:effectLst/>
        </p:spPr>
        <p:txBody>
          <a:bodyPr wrap="square" lIns="0" tIns="0" rIns="0" bIns="0" anchor="ctr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1,200 reps, six regions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horizon.1.card"/>
          <p:cNvSpPr/>
          <p:nvPr/>
        </p:nvSpPr>
        <p:spPr>
          <a:xfrm>
            <a:off x="8092440" y="777240"/>
            <a:ext cx="3706368" cy="1496762"/>
          </a:xfrm>
          <a:prstGeom prst="roundRect">
            <a:avLst>
              <a:gd name="adj" fmla="val 305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5" name="horizon.1.disc"/>
          <p:cNvSpPr/>
          <p:nvPr/>
        </p:nvSpPr>
        <p:spPr>
          <a:xfrm>
            <a:off x="8275320" y="1014984"/>
            <a:ext cx="365760" cy="36576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horizon.1.text"/>
          <p:cNvSpPr txBox="1"/>
          <p:nvPr/>
        </p:nvSpPr>
        <p:spPr>
          <a:xfrm>
            <a:off x="8769096" y="1014984"/>
            <a:ext cx="2865120" cy="1021274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Pilot, North region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brand, from Dec 2026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Prove the brief in one region first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Gate: medical signs off two weeks running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horizon.2.card"/>
          <p:cNvSpPr/>
          <p:nvPr/>
        </p:nvSpPr>
        <p:spPr>
          <a:xfrm>
            <a:off x="8092440" y="2767487"/>
            <a:ext cx="3706368" cy="1329085"/>
          </a:xfrm>
          <a:prstGeom prst="roundRect">
            <a:avLst>
              <a:gd name="adj" fmla="val 343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18" name="horizon.2.disc"/>
          <p:cNvSpPr/>
          <p:nvPr/>
        </p:nvSpPr>
        <p:spPr>
          <a:xfrm>
            <a:off x="8275320" y="3005231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2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horizon.2.text"/>
          <p:cNvSpPr txBox="1"/>
          <p:nvPr/>
        </p:nvSpPr>
        <p:spPr>
          <a:xfrm>
            <a:off x="8769096" y="3005231"/>
            <a:ext cx="2865120" cy="85359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Rollout, six regions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All 1,200 reps from 22 Jan 2027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brief replaces six regional versions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Gate: every region reads the one brief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horizon.3.card"/>
          <p:cNvSpPr/>
          <p:nvPr/>
        </p:nvSpPr>
        <p:spPr>
          <a:xfrm>
            <a:off x="8092440" y="4590056"/>
            <a:ext cx="3706368" cy="1664440"/>
          </a:xfrm>
          <a:prstGeom prst="roundRect">
            <a:avLst>
              <a:gd name="adj" fmla="val 274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1" name="horizon.3.disc"/>
          <p:cNvSpPr/>
          <p:nvPr/>
        </p:nvSpPr>
        <p:spPr>
          <a:xfrm>
            <a:off x="8275320" y="4827800"/>
            <a:ext cx="365760" cy="36576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3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horizon.3.text"/>
          <p:cNvSpPr txBox="1"/>
          <p:nvPr/>
        </p:nvSpPr>
        <p:spPr>
          <a:xfrm>
            <a:off x="8769096" y="4827800"/>
            <a:ext cx="2865120" cy="1188952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Run, three brands</a:t>
            </a:r>
            <a:endParaRPr lang="en-US" sz="13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The same reps by Sep 2027</a:t>
            </a:r>
            <a:endParaRPr lang="en-US" sz="1100" b="1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More brands on one service, no new team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Gate: three brands through one review queue</a:t>
            </a:r>
            <a:endParaRPr lang="en-US" sz="11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atalogue:agent-columns-flow-strip-platform-band"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Three components carry every brief from </a:t>
            </a: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signal to signed page</a:t>
            </a:r>
            <a:endParaRPr lang="en-US" sz="21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entry.1.head"/>
          <p:cNvSpPr/>
          <p:nvPr/>
        </p:nvSpPr>
        <p:spPr>
          <a:xfrm>
            <a:off x="457200" y="777240"/>
            <a:ext cx="3597656" cy="73152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4" name="entry.1.icon"/>
          <p:cNvSpPr/>
          <p:nvPr/>
        </p:nvSpPr>
        <p:spPr>
          <a:xfrm>
            <a:off x="658368" y="95097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317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5" name="entry.1.name"/>
          <p:cNvSpPr txBox="1"/>
          <p:nvPr/>
        </p:nvSpPr>
        <p:spPr>
          <a:xfrm>
            <a:off x="1207008" y="938486"/>
            <a:ext cx="2683256" cy="40902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Signal scan agent</a:t>
            </a:r>
            <a:endParaRPr lang="en-US" sz="15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entry.1.card"/>
          <p:cNvSpPr/>
          <p:nvPr/>
        </p:nvSpPr>
        <p:spPr>
          <a:xfrm>
            <a:off x="457200" y="1508760"/>
            <a:ext cx="3597656" cy="3557016"/>
          </a:xfrm>
          <a:prstGeom prst="roundRect">
            <a:avLst>
              <a:gd name="adj" fmla="val 128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" name="entry.1.field.1"/>
          <p:cNvSpPr txBox="1"/>
          <p:nvPr/>
        </p:nvSpPr>
        <p:spPr>
          <a:xfrm>
            <a:off x="658368" y="1599888"/>
            <a:ext cx="3195320" cy="5309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PURPOSE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Finds competitor moves worth a rep's time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" name="entry.1.rule.2"/>
          <p:cNvCxnSpPr/>
          <p:nvPr/>
        </p:nvCxnSpPr>
        <p:spPr>
          <a:xfrm>
            <a:off x="658368" y="2112264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9" name="entry.1.field.2"/>
          <p:cNvSpPr txBox="1"/>
          <p:nvPr/>
        </p:nvSpPr>
        <p:spPr>
          <a:xfrm>
            <a:off x="658368" y="2093664"/>
            <a:ext cx="3195320" cy="5309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READS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Registries, press, congress and payer notices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" name="entry.1.rule.3"/>
          <p:cNvCxnSpPr/>
          <p:nvPr/>
        </p:nvCxnSpPr>
        <p:spPr>
          <a:xfrm>
            <a:off x="658368" y="2606040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11" name="entry.1.field.3"/>
          <p:cNvSpPr txBox="1"/>
          <p:nvPr/>
        </p:nvSpPr>
        <p:spPr>
          <a:xfrm>
            <a:off x="658368" y="2678901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WRITES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Signals ranked by brand and territory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" name="entry.1.rule.4"/>
          <p:cNvCxnSpPr/>
          <p:nvPr/>
        </p:nvCxnSpPr>
        <p:spPr>
          <a:xfrm>
            <a:off x="658368" y="3099816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13" name="entry.1.field.4"/>
          <p:cNvSpPr txBox="1"/>
          <p:nvPr/>
        </p:nvSpPr>
        <p:spPr>
          <a:xfrm>
            <a:off x="658368" y="3172677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RUNS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Daily, on approved feeds only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" name="entry.1.rule.5"/>
          <p:cNvCxnSpPr/>
          <p:nvPr/>
        </p:nvCxnSpPr>
        <p:spPr>
          <a:xfrm>
            <a:off x="658368" y="3593592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15" name="entry.1.field.5"/>
          <p:cNvSpPr txBox="1"/>
          <p:nvPr/>
        </p:nvSpPr>
        <p:spPr>
          <a:xfrm>
            <a:off x="658368" y="3666453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Agent engineer, with the data owner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" name="entry.1.flow.rule"/>
          <p:cNvCxnSpPr/>
          <p:nvPr/>
        </p:nvCxnSpPr>
        <p:spPr>
          <a:xfrm>
            <a:off x="658368" y="4169664"/>
            <a:ext cx="319532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17" name="entry.1.in"/>
          <p:cNvSpPr/>
          <p:nvPr/>
        </p:nvSpPr>
        <p:spPr>
          <a:xfrm>
            <a:off x="658368" y="4590600"/>
            <a:ext cx="1167892" cy="384048"/>
          </a:xfrm>
          <a:prstGeom prst="roundRect">
            <a:avLst>
              <a:gd name="adj" fmla="val 1190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18" name="entry.1.in.text"/>
          <p:cNvSpPr txBox="1"/>
          <p:nvPr/>
        </p:nvSpPr>
        <p:spPr>
          <a:xfrm>
            <a:off x="658368" y="4698785"/>
            <a:ext cx="11678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Approved feeds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entry.1.core"/>
          <p:cNvSpPr/>
          <p:nvPr/>
        </p:nvSpPr>
        <p:spPr>
          <a:xfrm>
            <a:off x="2045716" y="4572312"/>
            <a:ext cx="420624" cy="420624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0" name="entry.1.core.icon"/>
          <p:cNvSpPr/>
          <p:nvPr/>
        </p:nvSpPr>
        <p:spPr>
          <a:xfrm>
            <a:off x="2146300" y="4672896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7000"/>
                </a:move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lnTo>
                  <a:pt x="7000" y="3000"/>
                </a:lnTo>
                <a:moveTo>
                  <a:pt x="17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7000"/>
                </a:lnTo>
                <a:moveTo>
                  <a:pt x="21000" y="17000"/>
                </a:move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7000" y="21000"/>
                </a:lnTo>
                <a:moveTo>
                  <a:pt x="7000" y="21000"/>
                </a:move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7000"/>
                </a:lnTo>
                <a:moveTo>
                  <a:pt x="15000" y="12000"/>
                </a:moveTo>
                <a:cubicBezTo>
                  <a:pt x="15000" y="13657"/>
                  <a:pt x="13657" y="15000"/>
                  <a:pt x="12000" y="15000"/>
                </a:cubicBezTo>
                <a:cubicBezTo>
                  <a:pt x="10343" y="15000"/>
                  <a:pt x="9000" y="13657"/>
                  <a:pt x="9000" y="12000"/>
                </a:cubicBezTo>
                <a:cubicBezTo>
                  <a:pt x="9000" y="10343"/>
                  <a:pt x="10343" y="9000"/>
                  <a:pt x="12000" y="9000"/>
                </a:cubicBezTo>
                <a:cubicBezTo>
                  <a:pt x="13657" y="9000"/>
                  <a:pt x="15000" y="10343"/>
                  <a:pt x="15000" y="12000"/>
                </a:cubicBezTo>
                <a:close/>
                <a:moveTo>
                  <a:pt x="16000" y="16000"/>
                </a:moveTo>
                <a:lnTo>
                  <a:pt x="14100" y="141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1" name="entry.1.out"/>
          <p:cNvSpPr/>
          <p:nvPr/>
        </p:nvSpPr>
        <p:spPr>
          <a:xfrm>
            <a:off x="2685796" y="4590600"/>
            <a:ext cx="1167892" cy="384048"/>
          </a:xfrm>
          <a:prstGeom prst="roundRect">
            <a:avLst>
              <a:gd name="adj" fmla="val 1190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2" name="entry.1.out.text"/>
          <p:cNvSpPr txBox="1"/>
          <p:nvPr/>
        </p:nvSpPr>
        <p:spPr>
          <a:xfrm>
            <a:off x="2685796" y="4698785"/>
            <a:ext cx="11678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Ranked list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3" name="entry.1.arrow.1"/>
          <p:cNvCxnSpPr/>
          <p:nvPr/>
        </p:nvCxnSpPr>
        <p:spPr>
          <a:xfrm>
            <a:off x="1826260" y="4782624"/>
            <a:ext cx="21945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24" name="entry.1.arrow.2"/>
          <p:cNvCxnSpPr/>
          <p:nvPr/>
        </p:nvCxnSpPr>
        <p:spPr>
          <a:xfrm>
            <a:off x="2466340" y="4782624"/>
            <a:ext cx="21945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25" name="entry.2.head"/>
          <p:cNvSpPr/>
          <p:nvPr/>
        </p:nvSpPr>
        <p:spPr>
          <a:xfrm>
            <a:off x="4329176" y="777240"/>
            <a:ext cx="3597656" cy="73152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26" name="entry.2.icon"/>
          <p:cNvSpPr/>
          <p:nvPr/>
        </p:nvSpPr>
        <p:spPr>
          <a:xfrm>
            <a:off x="4530344" y="95097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317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27" name="entry.2.name"/>
          <p:cNvSpPr txBox="1"/>
          <p:nvPr/>
        </p:nvSpPr>
        <p:spPr>
          <a:xfrm>
            <a:off x="5078984" y="938486"/>
            <a:ext cx="2683256" cy="40902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Brief writer agent</a:t>
            </a:r>
            <a:endParaRPr lang="en-US" sz="15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entry.2.card"/>
          <p:cNvSpPr/>
          <p:nvPr/>
        </p:nvSpPr>
        <p:spPr>
          <a:xfrm>
            <a:off x="4329176" y="1508760"/>
            <a:ext cx="3597656" cy="3557016"/>
          </a:xfrm>
          <a:prstGeom prst="roundRect">
            <a:avLst>
              <a:gd name="adj" fmla="val 128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29" name="entry.2.field.1"/>
          <p:cNvSpPr txBox="1"/>
          <p:nvPr/>
        </p:nvSpPr>
        <p:spPr>
          <a:xfrm>
            <a:off x="4530344" y="1599888"/>
            <a:ext cx="3195320" cy="5309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PURPOSE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Turns ranked signals into a one-page brief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0" name="entry.2.rule.2"/>
          <p:cNvCxnSpPr/>
          <p:nvPr/>
        </p:nvCxnSpPr>
        <p:spPr>
          <a:xfrm>
            <a:off x="4530344" y="2112264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31" name="entry.2.field.2"/>
          <p:cNvSpPr txBox="1"/>
          <p:nvPr/>
        </p:nvSpPr>
        <p:spPr>
          <a:xfrm>
            <a:off x="4530344" y="2093664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READS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Ranked signals and the source ledger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2" name="entry.2.rule.3"/>
          <p:cNvCxnSpPr/>
          <p:nvPr/>
        </p:nvCxnSpPr>
        <p:spPr>
          <a:xfrm>
            <a:off x="4530344" y="2606040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33" name="entry.2.field.3"/>
          <p:cNvSpPr txBox="1"/>
          <p:nvPr/>
        </p:nvSpPr>
        <p:spPr>
          <a:xfrm>
            <a:off x="4530344" y="2678901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WRITES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 draft per territory, every claim sourced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" name="entry.2.rule.4"/>
          <p:cNvCxnSpPr/>
          <p:nvPr/>
        </p:nvCxnSpPr>
        <p:spPr>
          <a:xfrm>
            <a:off x="4530344" y="3099816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35" name="entry.2.field.4"/>
          <p:cNvSpPr txBox="1"/>
          <p:nvPr/>
        </p:nvSpPr>
        <p:spPr>
          <a:xfrm>
            <a:off x="4530344" y="3172677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RUNS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Weekly, ahead of medical review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6" name="entry.2.rule.5"/>
          <p:cNvCxnSpPr/>
          <p:nvPr/>
        </p:nvCxnSpPr>
        <p:spPr>
          <a:xfrm>
            <a:off x="4530344" y="3593592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37" name="entry.2.field.5"/>
          <p:cNvSpPr txBox="1"/>
          <p:nvPr/>
        </p:nvSpPr>
        <p:spPr>
          <a:xfrm>
            <a:off x="4530344" y="3666453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Agent engineer, with the evaluation lead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8" name="entry.2.flow.rule"/>
          <p:cNvCxnSpPr/>
          <p:nvPr/>
        </p:nvCxnSpPr>
        <p:spPr>
          <a:xfrm>
            <a:off x="4530344" y="4169664"/>
            <a:ext cx="319532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39" name="entry.2.in"/>
          <p:cNvSpPr/>
          <p:nvPr/>
        </p:nvSpPr>
        <p:spPr>
          <a:xfrm>
            <a:off x="4530344" y="4590600"/>
            <a:ext cx="1167892" cy="384048"/>
          </a:xfrm>
          <a:prstGeom prst="roundRect">
            <a:avLst>
              <a:gd name="adj" fmla="val 1190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40" name="entry.2.in.text"/>
          <p:cNvSpPr txBox="1"/>
          <p:nvPr/>
        </p:nvSpPr>
        <p:spPr>
          <a:xfrm>
            <a:off x="4530344" y="4698785"/>
            <a:ext cx="11678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Ranked list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entry.2.core"/>
          <p:cNvSpPr/>
          <p:nvPr/>
        </p:nvSpPr>
        <p:spPr>
          <a:xfrm>
            <a:off x="5917692" y="4572312"/>
            <a:ext cx="420624" cy="420624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42" name="entry.2.core.icon"/>
          <p:cNvSpPr/>
          <p:nvPr/>
        </p:nvSpPr>
        <p:spPr>
          <a:xfrm>
            <a:off x="6018276" y="4672896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43" name="entry.2.out"/>
          <p:cNvSpPr/>
          <p:nvPr/>
        </p:nvSpPr>
        <p:spPr>
          <a:xfrm>
            <a:off x="6557772" y="4590600"/>
            <a:ext cx="1167892" cy="384048"/>
          </a:xfrm>
          <a:prstGeom prst="roundRect">
            <a:avLst>
              <a:gd name="adj" fmla="val 1190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44" name="entry.2.out.text"/>
          <p:cNvSpPr txBox="1"/>
          <p:nvPr/>
        </p:nvSpPr>
        <p:spPr>
          <a:xfrm>
            <a:off x="6557772" y="4698785"/>
            <a:ext cx="11678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Draft brief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5" name="entry.2.arrow.1"/>
          <p:cNvCxnSpPr/>
          <p:nvPr/>
        </p:nvCxnSpPr>
        <p:spPr>
          <a:xfrm>
            <a:off x="5698236" y="4782624"/>
            <a:ext cx="21945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46" name="entry.2.arrow.2"/>
          <p:cNvCxnSpPr/>
          <p:nvPr/>
        </p:nvCxnSpPr>
        <p:spPr>
          <a:xfrm>
            <a:off x="6338316" y="4782624"/>
            <a:ext cx="21945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47" name="entry.3.head"/>
          <p:cNvSpPr/>
          <p:nvPr/>
        </p:nvSpPr>
        <p:spPr>
          <a:xfrm>
            <a:off x="8201152" y="777240"/>
            <a:ext cx="3597656" cy="73152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48" name="entry.3.icon"/>
          <p:cNvSpPr/>
          <p:nvPr/>
        </p:nvSpPr>
        <p:spPr>
          <a:xfrm>
            <a:off x="8402320" y="950976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31750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49" name="entry.3.name"/>
          <p:cNvSpPr txBox="1"/>
          <p:nvPr/>
        </p:nvSpPr>
        <p:spPr>
          <a:xfrm>
            <a:off x="8950960" y="938486"/>
            <a:ext cx="2683256" cy="40902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Review queue</a:t>
            </a:r>
            <a:endParaRPr lang="en-US" sz="15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Human review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entry.3.card"/>
          <p:cNvSpPr/>
          <p:nvPr/>
        </p:nvSpPr>
        <p:spPr>
          <a:xfrm>
            <a:off x="8201152" y="1508760"/>
            <a:ext cx="3597656" cy="3557016"/>
          </a:xfrm>
          <a:prstGeom prst="roundRect">
            <a:avLst>
              <a:gd name="adj" fmla="val 128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51" name="entry.3.field.1"/>
          <p:cNvSpPr txBox="1"/>
          <p:nvPr/>
        </p:nvSpPr>
        <p:spPr>
          <a:xfrm>
            <a:off x="8402320" y="1599888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PURPOSE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Puts every draft in front of a reviewer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2" name="entry.3.rule.2"/>
          <p:cNvCxnSpPr/>
          <p:nvPr/>
        </p:nvCxnSpPr>
        <p:spPr>
          <a:xfrm>
            <a:off x="8402320" y="2112264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53" name="entry.3.field.2"/>
          <p:cNvSpPr txBox="1"/>
          <p:nvPr/>
        </p:nvSpPr>
        <p:spPr>
          <a:xfrm>
            <a:off x="8402320" y="2093664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READS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 briefs with their sources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4" name="entry.3.rule.3"/>
          <p:cNvCxnSpPr/>
          <p:nvPr/>
        </p:nvCxnSpPr>
        <p:spPr>
          <a:xfrm>
            <a:off x="8402320" y="2606040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55" name="entry.3.field.3"/>
          <p:cNvSpPr txBox="1"/>
          <p:nvPr/>
        </p:nvSpPr>
        <p:spPr>
          <a:xfrm>
            <a:off x="8402320" y="2678901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WRITES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Signed brief and a release log entry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6" name="entry.3.rule.4"/>
          <p:cNvCxnSpPr/>
          <p:nvPr/>
        </p:nvCxnSpPr>
        <p:spPr>
          <a:xfrm>
            <a:off x="8402320" y="3099816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57" name="entry.3.field.4"/>
          <p:cNvSpPr txBox="1"/>
          <p:nvPr/>
        </p:nvSpPr>
        <p:spPr>
          <a:xfrm>
            <a:off x="8402320" y="3172677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RUNS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Weekly, before Monday calls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8" name="entry.3.rule.5"/>
          <p:cNvCxnSpPr/>
          <p:nvPr/>
        </p:nvCxnSpPr>
        <p:spPr>
          <a:xfrm>
            <a:off x="8402320" y="3593592"/>
            <a:ext cx="319532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</p:cxnSp>
      <p:sp>
        <p:nvSpPr>
          <p:cNvPr id="59" name="entry.3.field.5"/>
          <p:cNvSpPr txBox="1"/>
          <p:nvPr/>
        </p:nvSpPr>
        <p:spPr>
          <a:xfrm>
            <a:off x="8402320" y="3666453"/>
            <a:ext cx="3195320" cy="34805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reviewer at Quillmont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0" name="entry.3.flow.rule"/>
          <p:cNvCxnSpPr/>
          <p:nvPr/>
        </p:nvCxnSpPr>
        <p:spPr>
          <a:xfrm>
            <a:off x="8402320" y="4169664"/>
            <a:ext cx="3195320" cy="0"/>
          </a:xfrm>
          <a:prstGeom prst="line">
            <a:avLst/>
          </a:prstGeom>
          <a:ln w="9525">
            <a:solidFill>
              <a:schemeClr val="bg1">
                <a:lumMod val="55000"/>
              </a:schemeClr>
            </a:solidFill>
          </a:ln>
          <a:effectLst/>
        </p:spPr>
      </p:cxnSp>
      <p:sp>
        <p:nvSpPr>
          <p:cNvPr id="61" name="entry.3.in"/>
          <p:cNvSpPr/>
          <p:nvPr/>
        </p:nvSpPr>
        <p:spPr>
          <a:xfrm>
            <a:off x="8402320" y="4590600"/>
            <a:ext cx="1167892" cy="384048"/>
          </a:xfrm>
          <a:prstGeom prst="roundRect">
            <a:avLst>
              <a:gd name="adj" fmla="val 11904"/>
            </a:avLst>
          </a:prstGeom>
          <a:solidFill>
            <a:schemeClr val="bg1"/>
          </a:solidFill>
          <a:ln w="9525">
            <a:solidFill>
              <a:schemeClr val="bg1">
                <a:lumMod val="55000"/>
              </a:schemeClr>
            </a:solidFill>
          </a:ln>
          <a:effectLst/>
        </p:spPr>
        <p:txBody>
          <a:bodyPr/>
          <a:p/>
        </p:txBody>
      </p:sp>
      <p:sp>
        <p:nvSpPr>
          <p:cNvPr id="62" name="entry.3.in.text"/>
          <p:cNvSpPr txBox="1"/>
          <p:nvPr/>
        </p:nvSpPr>
        <p:spPr>
          <a:xfrm>
            <a:off x="8402320" y="4698785"/>
            <a:ext cx="11678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Draft brief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entry.3.core"/>
          <p:cNvSpPr/>
          <p:nvPr/>
        </p:nvSpPr>
        <p:spPr>
          <a:xfrm>
            <a:off x="9789668" y="4572312"/>
            <a:ext cx="420624" cy="420624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64" name="entry.3.core.icon"/>
          <p:cNvSpPr/>
          <p:nvPr/>
        </p:nvSpPr>
        <p:spPr>
          <a:xfrm>
            <a:off x="9890252" y="4672896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1841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  <p:sp>
        <p:nvSpPr>
          <p:cNvPr id="65" name="entry.3.out"/>
          <p:cNvSpPr/>
          <p:nvPr/>
        </p:nvSpPr>
        <p:spPr>
          <a:xfrm>
            <a:off x="10429748" y="4590600"/>
            <a:ext cx="1167892" cy="384048"/>
          </a:xfrm>
          <a:prstGeom prst="roundRect">
            <a:avLst>
              <a:gd name="adj" fmla="val 11904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/>
          <a:p/>
        </p:txBody>
      </p:sp>
      <p:sp>
        <p:nvSpPr>
          <p:cNvPr id="66" name="entry.3.out.text"/>
          <p:cNvSpPr txBox="1"/>
          <p:nvPr/>
        </p:nvSpPr>
        <p:spPr>
          <a:xfrm>
            <a:off x="10429748" y="4698785"/>
            <a:ext cx="1167892" cy="16767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Signed brief</a:t>
            </a:r>
            <a:endParaRPr lang="en-US" sz="11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7" name="entry.3.arrow.1"/>
          <p:cNvCxnSpPr/>
          <p:nvPr/>
        </p:nvCxnSpPr>
        <p:spPr>
          <a:xfrm>
            <a:off x="9570212" y="4782624"/>
            <a:ext cx="21945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cxnSp>
        <p:nvCxnSpPr>
          <p:cNvPr id="68" name="entry.3.arrow.2"/>
          <p:cNvCxnSpPr/>
          <p:nvPr/>
        </p:nvCxnSpPr>
        <p:spPr>
          <a:xfrm>
            <a:off x="10210292" y="4782624"/>
            <a:ext cx="219456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med" len="med"/>
          </a:ln>
          <a:effectLst/>
        </p:spPr>
      </p:cxnSp>
      <p:sp>
        <p:nvSpPr>
          <p:cNvPr id="69" name="shared.band"/>
          <p:cNvSpPr/>
          <p:nvPr/>
        </p:nvSpPr>
        <p:spPr>
          <a:xfrm>
            <a:off x="457200" y="5340096"/>
            <a:ext cx="11341608" cy="914400"/>
          </a:xfrm>
          <a:prstGeom prst="roundRect">
            <a:avLst>
              <a:gd name="adj" fmla="val 500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  <a:effectLst/>
        </p:spPr>
        <p:txBody>
          <a:bodyPr/>
          <a:p/>
        </p:txBody>
      </p:sp>
      <p:sp>
        <p:nvSpPr>
          <p:cNvPr id="70" name="shared.label"/>
          <p:cNvSpPr txBox="1"/>
          <p:nvPr/>
        </p:nvSpPr>
        <p:spPr>
          <a:xfrm>
            <a:off x="731520" y="5583888"/>
            <a:ext cx="1828800" cy="426815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Shared by all three</a:t>
            </a:r>
            <a:endParaRPr lang="en-US" sz="14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hared.1.icon"/>
          <p:cNvSpPr/>
          <p:nvPr/>
        </p:nvSpPr>
        <p:spPr>
          <a:xfrm>
            <a:off x="2560320" y="563270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2" name="shared.1.text"/>
          <p:cNvSpPr txBox="1"/>
          <p:nvPr/>
        </p:nvSpPr>
        <p:spPr>
          <a:xfrm>
            <a:off x="3017520" y="5433998"/>
            <a:ext cx="1646682" cy="72659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Governed data foundation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Amazon S3, four zones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hared.2.icon"/>
          <p:cNvSpPr/>
          <p:nvPr/>
        </p:nvSpPr>
        <p:spPr>
          <a:xfrm>
            <a:off x="4847082" y="563270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21000" y="3000"/>
                </a:lnTo>
                <a:cubicBezTo>
                  <a:pt x="21552" y="3000"/>
                  <a:pt x="22000" y="3448"/>
                  <a:pt x="22000" y="4000"/>
                </a:cubicBezTo>
                <a:lnTo>
                  <a:pt x="22000" y="7000"/>
                </a:lnTo>
                <a:cubicBezTo>
                  <a:pt x="22000" y="7552"/>
                  <a:pt x="21552" y="8000"/>
                  <a:pt x="21000" y="8000"/>
                </a:cubicBezTo>
                <a:lnTo>
                  <a:pt x="3000" y="8000"/>
                </a:lnTo>
                <a:cubicBezTo>
                  <a:pt x="2448" y="8000"/>
                  <a:pt x="2000" y="7552"/>
                  <a:pt x="2000" y="7000"/>
                </a:cubicBezTo>
                <a:lnTo>
                  <a:pt x="2000" y="4000"/>
                </a:lnTo>
                <a:cubicBezTo>
                  <a:pt x="2000" y="3448"/>
                  <a:pt x="2448" y="3000"/>
                  <a:pt x="3000" y="3000"/>
                </a:cubicBezTo>
                <a:close/>
                <a:moveTo>
                  <a:pt x="4000" y="8000"/>
                </a:moveTo>
                <a:lnTo>
                  <a:pt x="4000" y="19000"/>
                </a:lnTo>
                <a:cubicBezTo>
                  <a:pt x="4000" y="20105"/>
                  <a:pt x="4895" y="21000"/>
                  <a:pt x="6000" y="21000"/>
                </a:cubicBezTo>
                <a:lnTo>
                  <a:pt x="18000" y="21000"/>
                </a:lnTo>
                <a:cubicBezTo>
                  <a:pt x="19105" y="21000"/>
                  <a:pt x="20000" y="20105"/>
                  <a:pt x="20000" y="19000"/>
                </a:cubicBezTo>
                <a:lnTo>
                  <a:pt x="20000" y="8000"/>
                </a:lnTo>
                <a:moveTo>
                  <a:pt x="10000" y="12000"/>
                </a:moveTo>
                <a:lnTo>
                  <a:pt x="14000" y="12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4" name="shared.2.text"/>
          <p:cNvSpPr txBox="1"/>
          <p:nvPr/>
        </p:nvSpPr>
        <p:spPr>
          <a:xfrm>
            <a:off x="5304282" y="5525458"/>
            <a:ext cx="164668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Source ledger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Amazon RDS for PostgreSQL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5" name="shared.2.rule"/>
          <p:cNvCxnSpPr/>
          <p:nvPr/>
        </p:nvCxnSpPr>
        <p:spPr>
          <a:xfrm>
            <a:off x="4755642" y="5522976"/>
            <a:ext cx="0" cy="54864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76" name="shared.3.icon"/>
          <p:cNvSpPr/>
          <p:nvPr/>
        </p:nvSpPr>
        <p:spPr>
          <a:xfrm>
            <a:off x="7133844" y="563270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77" name="shared.3.text"/>
          <p:cNvSpPr txBox="1"/>
          <p:nvPr/>
        </p:nvSpPr>
        <p:spPr>
          <a:xfrm>
            <a:off x="7591044" y="5525458"/>
            <a:ext cx="164668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Access by role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Amazon Cognito single sign-on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8" name="shared.3.rule"/>
          <p:cNvCxnSpPr/>
          <p:nvPr/>
        </p:nvCxnSpPr>
        <p:spPr>
          <a:xfrm>
            <a:off x="7042404" y="5522976"/>
            <a:ext cx="0" cy="54864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79" name="shared.4.icon"/>
          <p:cNvSpPr/>
          <p:nvPr/>
        </p:nvSpPr>
        <p:spPr>
          <a:xfrm>
            <a:off x="9420606" y="563270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80" name="shared.4.text"/>
          <p:cNvSpPr txBox="1"/>
          <p:nvPr/>
        </p:nvSpPr>
        <p:spPr>
          <a:xfrm>
            <a:off x="9877806" y="5525458"/>
            <a:ext cx="1646682" cy="543676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Evaluation suite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Langfuse traces and evaluations</a:t>
            </a:r>
            <a:endParaRPr lang="en-US" sz="1100" b="0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1" name="shared.4.rule"/>
          <p:cNvCxnSpPr/>
          <p:nvPr/>
        </p:nvCxnSpPr>
        <p:spPr>
          <a:xfrm>
            <a:off x="9329166" y="5522976"/>
            <a:ext cx="0" cy="54864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-ask:decision-cards-rail">
    <p:spTree>
      <p:nvGrpSpPr>
        <p:cNvPr id="1" name=""/>
        <p:cNvGrpSpPr/>
        <p:nvPr/>
      </p:nvGrpSpPr>
      <p:grpSpPr/>
      <p:sp>
        <p:nvSpPr>
          <p:cNvPr id="2" name="struct.rail.panel"/>
          <p:cNvSpPr/>
          <p:nvPr/>
        </p:nvSpPr>
        <p:spPr>
          <a:xfrm>
            <a:off x="457200" y="3108960"/>
            <a:ext cx="11338560" cy="3145536"/>
          </a:xfrm>
          <a:prstGeom prst="roundRect">
            <a:avLst>
              <a:gd name="adj" fmla="val 145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  <a:effectLst/>
        </p:spPr>
        <p:txBody>
          <a:bodyPr/>
          <a:p/>
        </p:txBody>
      </p:sp>
      <p:sp>
        <p:nvSpPr>
          <p:cNvPr id="3" name="slot.title"/>
          <p:cNvSpPr txBox="1"/>
          <p:nvPr/>
        </p:nvSpPr>
        <p:spPr>
          <a:xfrm>
            <a:off x="457200" y="118872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Four decisions</a:t>
            </a:r>
            <a:r>
              <a:rPr lang="en-US" sz="2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by kickoff put every region on the brief by January</a:t>
            </a:r>
            <a:endParaRPr lang="en-US" sz="2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ot.milestone.1"/>
          <p:cNvSpPr txBox="1"/>
          <p:nvPr/>
        </p:nvSpPr>
        <p:spPr>
          <a:xfrm>
            <a:off x="625035" y="4370831"/>
            <a:ext cx="2278650" cy="8229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2 Nov 2026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Kickoff, team named and sources agreed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milestone.2"/>
          <p:cNvSpPr txBox="1"/>
          <p:nvPr/>
        </p:nvSpPr>
        <p:spPr>
          <a:xfrm>
            <a:off x="3539427" y="4370831"/>
            <a:ext cx="2278650" cy="8229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20 Nov 2026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Gate one, source list signed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milestone.3"/>
          <p:cNvSpPr txBox="1"/>
          <p:nvPr/>
        </p:nvSpPr>
        <p:spPr>
          <a:xfrm>
            <a:off x="6453820" y="4370831"/>
            <a:ext cx="2278650" cy="8229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18 Dec 2026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Gate two, North reps briefed weekly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milestone.4"/>
          <p:cNvSpPr txBox="1"/>
          <p:nvPr/>
        </p:nvSpPr>
        <p:spPr>
          <a:xfrm>
            <a:off x="9368213" y="4370831"/>
            <a:ext cx="2278650" cy="82296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22 Jan 2027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Every region briefed before Monday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" name="struct.rail.line"/>
          <p:cNvCxnSpPr>
            <a:cxnSpLocks/>
          </p:cNvCxnSpPr>
          <p:nvPr/>
        </p:nvCxnSpPr>
        <p:spPr>
          <a:xfrm>
            <a:off x="1869963" y="4133087"/>
            <a:ext cx="8531264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  <a:effectLst/>
        </p:spPr>
      </p:cxnSp>
      <p:grpSp>
        <p:nvGrpSpPr>
          <p:cNvPr id="9" name="struct.rail.dot.4.1"/>
          <p:cNvGrpSpPr/>
          <p:nvPr/>
        </p:nvGrpSpPr>
        <p:grpSpPr>
          <a:xfrm>
            <a:off x="10402042" y="4032503"/>
            <a:ext cx="201168" cy="201168"/>
            <a:chOff x="10388727" y="4364312"/>
            <a:chExt cx="201168" cy="201168"/>
          </a:xfrm>
          <a:effectLst/>
        </p:grpSpPr>
        <p:sp>
          <p:nvSpPr>
            <p:cNvPr id="10" name="struct.rail.dot.4.2"/>
            <p:cNvSpPr/>
            <p:nvPr/>
          </p:nvSpPr>
          <p:spPr>
            <a:xfrm>
              <a:off x="10388727" y="4364312"/>
              <a:ext cx="201168" cy="20116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prstDash val="solid"/>
            </a:ln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struct.rail.dot.4.3"/>
            <p:cNvSpPr/>
            <p:nvPr/>
          </p:nvSpPr>
          <p:spPr>
            <a:xfrm>
              <a:off x="10439019" y="4414604"/>
              <a:ext cx="100584" cy="100584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" name="struct.rail.dot.3.1"/>
          <p:cNvGrpSpPr/>
          <p:nvPr/>
        </p:nvGrpSpPr>
        <p:grpSpPr>
          <a:xfrm>
            <a:off x="7494294" y="4032503"/>
            <a:ext cx="201168" cy="201168"/>
            <a:chOff x="7471599" y="4364312"/>
            <a:chExt cx="201168" cy="201168"/>
          </a:xfrm>
          <a:effectLst/>
        </p:grpSpPr>
        <p:sp>
          <p:nvSpPr>
            <p:cNvPr id="13" name="struct.rail.dot.3.2"/>
            <p:cNvSpPr/>
            <p:nvPr/>
          </p:nvSpPr>
          <p:spPr>
            <a:xfrm>
              <a:off x="7471599" y="4364312"/>
              <a:ext cx="201168" cy="20116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prstDash val="solid"/>
            </a:ln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struct.rail.dot.3.3"/>
            <p:cNvSpPr/>
            <p:nvPr/>
          </p:nvSpPr>
          <p:spPr>
            <a:xfrm>
              <a:off x="7521891" y="4414604"/>
              <a:ext cx="100584" cy="100584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5" name="struct.rail.dot.2.1"/>
          <p:cNvGrpSpPr/>
          <p:nvPr/>
        </p:nvGrpSpPr>
        <p:grpSpPr>
          <a:xfrm>
            <a:off x="4579901" y="4032503"/>
            <a:ext cx="201168" cy="201168"/>
            <a:chOff x="4547805" y="4364312"/>
            <a:chExt cx="201168" cy="201168"/>
          </a:xfrm>
          <a:effectLst/>
        </p:grpSpPr>
        <p:sp>
          <p:nvSpPr>
            <p:cNvPr id="16" name="struct.rail.dot.2.2"/>
            <p:cNvSpPr/>
            <p:nvPr/>
          </p:nvSpPr>
          <p:spPr>
            <a:xfrm>
              <a:off x="4547805" y="4364312"/>
              <a:ext cx="201168" cy="20116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  <a:prstDash val="solid"/>
            </a:ln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struct.rail.dot.2.3"/>
            <p:cNvSpPr/>
            <p:nvPr/>
          </p:nvSpPr>
          <p:spPr>
            <a:xfrm>
              <a:off x="4598097" y="4414604"/>
              <a:ext cx="100584" cy="100584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8" name="struct.rail.dot.1.1"/>
          <p:cNvGrpSpPr/>
          <p:nvPr/>
        </p:nvGrpSpPr>
        <p:grpSpPr>
          <a:xfrm>
            <a:off x="1665509" y="4032503"/>
            <a:ext cx="201168" cy="201168"/>
            <a:chOff x="1624011" y="4364312"/>
            <a:chExt cx="201168" cy="201168"/>
          </a:xfrm>
          <a:effectLst/>
        </p:grpSpPr>
        <p:sp>
          <p:nvSpPr>
            <p:cNvPr id="19" name="struct.rail.dot.1.2"/>
            <p:cNvSpPr/>
            <p:nvPr/>
          </p:nvSpPr>
          <p:spPr>
            <a:xfrm>
              <a:off x="1624011" y="4364312"/>
              <a:ext cx="201168" cy="20116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struct.rail.dot.1.3"/>
            <p:cNvSpPr/>
            <p:nvPr/>
          </p:nvSpPr>
          <p:spPr>
            <a:xfrm>
              <a:off x="1674303" y="4414604"/>
              <a:ext cx="100584" cy="10058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/>
          </p:spPr>
          <p:txBody>
            <a:bodyPr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90000"/>
                    <a:lumOff val="10000"/>
                  </a:schemeClr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90000"/>
                    <a:lumOff val="10000"/>
                  </a:schemeClr>
                </a:solidFill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1" name="struct.card.1"/>
          <p:cNvSpPr/>
          <p:nvPr/>
        </p:nvSpPr>
        <p:spPr>
          <a:xfrm>
            <a:off x="457200" y="1097280"/>
            <a:ext cx="2333337" cy="1883664"/>
          </a:xfrm>
          <a:prstGeom prst="roundRect">
            <a:avLst>
              <a:gd name="adj" fmla="val 2427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2" name="struct.card.3"/>
          <p:cNvSpPr/>
          <p:nvPr/>
        </p:nvSpPr>
        <p:spPr>
          <a:xfrm>
            <a:off x="6459344" y="1097280"/>
            <a:ext cx="2333337" cy="1883664"/>
          </a:xfrm>
          <a:prstGeom prst="roundRect">
            <a:avLst>
              <a:gd name="adj" fmla="val 2427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struct.card.4"/>
          <p:cNvSpPr/>
          <p:nvPr/>
        </p:nvSpPr>
        <p:spPr>
          <a:xfrm>
            <a:off x="9460415" y="1097280"/>
            <a:ext cx="2333337" cy="1883664"/>
          </a:xfrm>
          <a:prstGeom prst="roundRect">
            <a:avLst>
              <a:gd name="adj" fmla="val 2427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4" name="struct.card.2"/>
          <p:cNvSpPr/>
          <p:nvPr/>
        </p:nvSpPr>
        <p:spPr>
          <a:xfrm>
            <a:off x="3458272" y="1097280"/>
            <a:ext cx="2333337" cy="1883664"/>
          </a:xfrm>
          <a:prstGeom prst="roundRect">
            <a:avLst>
              <a:gd name="adj" fmla="val 2427"/>
            </a:avLst>
          </a:prstGeom>
          <a:solidFill>
            <a:schemeClr val="accent1">
              <a:lumMod val="10000"/>
              <a:lumOff val="90000"/>
            </a:schemeClr>
          </a:solidFill>
          <a:ln w="9525">
            <a:solidFill>
              <a:schemeClr val="accent1"/>
            </a:solidFill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Tx/>
              <a:buFont typeface="Arial"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chemeClr val="tx1">
                  <a:lumMod val="90000"/>
                  <a:lumOff val="10000"/>
                </a:schemeClr>
              </a:solidFill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slot.card.1.body"/>
          <p:cNvSpPr txBox="1"/>
          <p:nvPr/>
        </p:nvSpPr>
        <p:spPr>
          <a:xfrm>
            <a:off x="593919" y="2249424"/>
            <a:ext cx="2059898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North reps receive the first signed briefs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lot.card.2.body"/>
          <p:cNvSpPr txBox="1"/>
          <p:nvPr/>
        </p:nvSpPr>
        <p:spPr>
          <a:xfrm>
            <a:off x="3594991" y="2249424"/>
            <a:ext cx="2059898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One medical reviewer and a deputy sign briefs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card.3.body"/>
          <p:cNvSpPr txBox="1"/>
          <p:nvPr/>
        </p:nvSpPr>
        <p:spPr>
          <a:xfrm>
            <a:off x="6596063" y="2249424"/>
            <a:ext cx="2059898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and legal agree the feeds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lot.card.1.head"/>
          <p:cNvSpPr txBox="1"/>
          <p:nvPr/>
        </p:nvSpPr>
        <p:spPr>
          <a:xfrm>
            <a:off x="593919" y="1938528"/>
            <a:ext cx="2059898" cy="31089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Confirm pilot region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lot.card.2.head"/>
          <p:cNvSpPr txBox="1"/>
          <p:nvPr/>
        </p:nvSpPr>
        <p:spPr>
          <a:xfrm>
            <a:off x="3594991" y="1938528"/>
            <a:ext cx="2059898" cy="31089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Name the reviewer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lot.card.3.head"/>
          <p:cNvSpPr txBox="1"/>
          <p:nvPr/>
        </p:nvSpPr>
        <p:spPr>
          <a:xfrm>
            <a:off x="6596063" y="1938528"/>
            <a:ext cx="2059898" cy="31089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Approve source list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card.4.head"/>
          <p:cNvSpPr txBox="1"/>
          <p:nvPr/>
        </p:nvSpPr>
        <p:spPr>
          <a:xfrm>
            <a:off x="9597134" y="1938528"/>
            <a:ext cx="2059898" cy="31089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Agree release rule</a:t>
            </a:r>
            <a:endParaRPr lang="en-US" sz="1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lot.card.4.body"/>
          <p:cNvSpPr txBox="1"/>
          <p:nvPr/>
        </p:nvSpPr>
        <p:spPr>
          <a:xfrm>
            <a:off x="9597134" y="2249424"/>
            <a:ext cx="2059898" cy="51206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Briefs ship only after a medical signature</a:t>
            </a:r>
            <a:endParaRPr lang="en-US" sz="12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3" name="struct.chevrons"/>
          <p:cNvGrpSpPr/>
          <p:nvPr/>
        </p:nvGrpSpPr>
        <p:grpSpPr>
          <a:xfrm>
            <a:off x="2997160" y="1917566"/>
            <a:ext cx="6252341" cy="243091"/>
            <a:chOff x="2959633" y="2219409"/>
            <a:chExt cx="6272510" cy="243091"/>
          </a:xfrm>
          <a:effectLst/>
        </p:grpSpPr>
        <p:grpSp>
          <p:nvGrpSpPr>
            <p:cNvPr id="34" name="struct.chevron.1.1"/>
            <p:cNvGrpSpPr/>
            <p:nvPr/>
          </p:nvGrpSpPr>
          <p:grpSpPr>
            <a:xfrm>
              <a:off x="2959633" y="2219409"/>
              <a:ext cx="251005" cy="243091"/>
              <a:chOff x="2959633" y="2219409"/>
              <a:chExt cx="251005" cy="243091"/>
            </a:xfrm>
            <a:solidFill>
              <a:schemeClr val="accent1"/>
            </a:solidFill>
          </p:grpSpPr>
          <p:sp>
            <p:nvSpPr>
              <p:cNvPr id="35" name="struct.chevron.1.2"/>
              <p:cNvSpPr/>
              <p:nvPr/>
            </p:nvSpPr>
            <p:spPr>
              <a:xfrm>
                <a:off x="3058561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6" name="struct.chevron.1.3"/>
              <p:cNvSpPr/>
              <p:nvPr/>
            </p:nvSpPr>
            <p:spPr>
              <a:xfrm>
                <a:off x="2959633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37" name="struct.chevron.2.1"/>
            <p:cNvGrpSpPr/>
            <p:nvPr/>
          </p:nvGrpSpPr>
          <p:grpSpPr>
            <a:xfrm>
              <a:off x="5970386" y="2219409"/>
              <a:ext cx="251005" cy="243091"/>
              <a:chOff x="5970386" y="2219409"/>
              <a:chExt cx="251005" cy="243091"/>
            </a:xfrm>
            <a:solidFill>
              <a:schemeClr val="accent1"/>
            </a:solidFill>
          </p:grpSpPr>
          <p:sp>
            <p:nvSpPr>
              <p:cNvPr id="38" name="struct.chevron.2.2"/>
              <p:cNvSpPr/>
              <p:nvPr/>
            </p:nvSpPr>
            <p:spPr>
              <a:xfrm>
                <a:off x="6069314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39" name="struct.chevron.2.3"/>
              <p:cNvSpPr/>
              <p:nvPr/>
            </p:nvSpPr>
            <p:spPr>
              <a:xfrm>
                <a:off x="5970386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  <p:grpSp>
          <p:nvGrpSpPr>
            <p:cNvPr id="40" name="struct.chevron.3.1"/>
            <p:cNvGrpSpPr/>
            <p:nvPr/>
          </p:nvGrpSpPr>
          <p:grpSpPr>
            <a:xfrm>
              <a:off x="8981138" y="2219409"/>
              <a:ext cx="251005" cy="243091"/>
              <a:chOff x="8981138" y="2219409"/>
              <a:chExt cx="251005" cy="243091"/>
            </a:xfrm>
            <a:solidFill>
              <a:schemeClr val="accent1"/>
            </a:solidFill>
          </p:grpSpPr>
          <p:sp>
            <p:nvSpPr>
              <p:cNvPr id="41" name="struct.chevron.3.2"/>
              <p:cNvSpPr/>
              <p:nvPr/>
            </p:nvSpPr>
            <p:spPr>
              <a:xfrm>
                <a:off x="9080066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42" name="struct.chevron.3.3"/>
              <p:cNvSpPr/>
              <p:nvPr/>
            </p:nvSpPr>
            <p:spPr>
              <a:xfrm>
                <a:off x="8981138" y="2219409"/>
                <a:ext cx="152077" cy="243091"/>
              </a:xfrm>
              <a:prstGeom prst="chevron">
                <a:avLst/>
              </a:prstGeom>
              <a:grpFill/>
              <a:ln>
                <a:noFill/>
              </a:ln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90000"/>
                      <a:lumOff val="10000"/>
                    </a:schemeClr>
                  </a:buClr>
                  <a:buSzTx/>
                  <a:buFont typeface="Arial"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90000"/>
                      <a:lumOff val="10000"/>
                    </a:schemeClr>
                  </a:solidFill>
                  <a:uLnTx/>
                  <a:uFillTx/>
                  <a:latin typeface="Arial"/>
                  <a:ea typeface="+mn-ea"/>
                  <a:cs typeface="+mn-cs"/>
                  <a:sym typeface="Arial"/>
                </a:endParaRPr>
              </a:p>
            </p:txBody>
          </p:sp>
        </p:grpSp>
      </p:grpSp>
      <p:sp>
        <p:nvSpPr>
          <p:cNvPr id="43" name="slot.card.1.num"/>
          <p:cNvSpPr txBox="1"/>
          <p:nvPr/>
        </p:nvSpPr>
        <p:spPr>
          <a:xfrm>
            <a:off x="593919" y="1298448"/>
            <a:ext cx="638022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01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slot.card.2.num"/>
          <p:cNvSpPr txBox="1"/>
          <p:nvPr/>
        </p:nvSpPr>
        <p:spPr>
          <a:xfrm>
            <a:off x="3594991" y="1298448"/>
            <a:ext cx="638022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02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lot.card.3.num"/>
          <p:cNvSpPr txBox="1"/>
          <p:nvPr/>
        </p:nvSpPr>
        <p:spPr>
          <a:xfrm>
            <a:off x="6596063" y="1298448"/>
            <a:ext cx="638022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03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slot.card.4.num"/>
          <p:cNvSpPr txBox="1"/>
          <p:nvPr/>
        </p:nvSpPr>
        <p:spPr>
          <a:xfrm>
            <a:off x="9597134" y="1298448"/>
            <a:ext cx="638022" cy="384048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04</a:t>
            </a:r>
            <a:endParaRPr lang="en-US" sz="20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lot.rail.label"/>
          <p:cNvSpPr txBox="1"/>
          <p:nvPr/>
        </p:nvSpPr>
        <p:spPr>
          <a:xfrm>
            <a:off x="612148" y="3346704"/>
            <a:ext cx="3645839" cy="310896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What lands and when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lot.card.1.icon"/>
          <p:cNvSpPr/>
          <p:nvPr/>
        </p:nvSpPr>
        <p:spPr>
          <a:xfrm>
            <a:off x="2106134" y="126187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0000"/>
                </a:moveTo>
                <a:cubicBezTo>
                  <a:pt x="20000" y="14993"/>
                  <a:pt x="14461" y="20193"/>
                  <a:pt x="12601" y="21799"/>
                </a:cubicBezTo>
                <a:cubicBezTo>
                  <a:pt x="12245" y="22067"/>
                  <a:pt x="11755" y="22067"/>
                  <a:pt x="11399" y="21799"/>
                </a:cubicBezTo>
                <a:cubicBezTo>
                  <a:pt x="9539" y="20193"/>
                  <a:pt x="4000" y="14993"/>
                  <a:pt x="4000" y="10000"/>
                </a:cubicBezTo>
                <a:cubicBezTo>
                  <a:pt x="4000" y="5582"/>
                  <a:pt x="7582" y="2000"/>
                  <a:pt x="12000" y="2000"/>
                </a:cubicBezTo>
                <a:cubicBezTo>
                  <a:pt x="16418" y="2000"/>
                  <a:pt x="20000" y="5582"/>
                  <a:pt x="20000" y="10000"/>
                </a:cubicBezTo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</a:path>
            </a:pathLst>
          </a:custGeom>
          <a:noFill/>
          <a:ln w="419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3" name="slot.card.2.icon"/>
          <p:cNvSpPr/>
          <p:nvPr/>
        </p:nvSpPr>
        <p:spPr>
          <a:xfrm>
            <a:off x="5107206" y="126187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419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4" name="slot.card.3.icon"/>
          <p:cNvSpPr/>
          <p:nvPr/>
        </p:nvSpPr>
        <p:spPr>
          <a:xfrm>
            <a:off x="8108278" y="126187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419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5" name="slot.card.4.icon"/>
          <p:cNvSpPr/>
          <p:nvPr/>
        </p:nvSpPr>
        <p:spPr>
          <a:xfrm>
            <a:off x="11109349" y="126187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4536" y="21686"/>
                </a:moveTo>
                <a:cubicBezTo>
                  <a:pt x="14614" y="21880"/>
                  <a:pt x="14804" y="22005"/>
                  <a:pt x="15013" y="22000"/>
                </a:cubicBezTo>
                <a:cubicBezTo>
                  <a:pt x="15222" y="21994"/>
                  <a:pt x="15405" y="21860"/>
                  <a:pt x="15473" y="21662"/>
                </a:cubicBezTo>
                <a:lnTo>
                  <a:pt x="21973" y="2662"/>
                </a:lnTo>
                <a:cubicBezTo>
                  <a:pt x="22038" y="2481"/>
                  <a:pt x="21993" y="2279"/>
                  <a:pt x="21857" y="2143"/>
                </a:cubicBezTo>
                <a:cubicBezTo>
                  <a:pt x="21721" y="2007"/>
                  <a:pt x="21519" y="1962"/>
                  <a:pt x="21338" y="2027"/>
                </a:cubicBezTo>
                <a:lnTo>
                  <a:pt x="2338" y="8527"/>
                </a:lnTo>
                <a:cubicBezTo>
                  <a:pt x="2140" y="8595"/>
                  <a:pt x="2006" y="8778"/>
                  <a:pt x="2000" y="8987"/>
                </a:cubicBezTo>
                <a:cubicBezTo>
                  <a:pt x="1995" y="9196"/>
                  <a:pt x="2120" y="9386"/>
                  <a:pt x="2314" y="9464"/>
                </a:cubicBezTo>
                <a:lnTo>
                  <a:pt x="10244" y="12644"/>
                </a:lnTo>
                <a:cubicBezTo>
                  <a:pt x="10751" y="12847"/>
                  <a:pt x="11152" y="13248"/>
                  <a:pt x="11356" y="13754"/>
                </a:cubicBezTo>
                <a:close/>
                <a:moveTo>
                  <a:pt x="21854" y="2147"/>
                </a:moveTo>
                <a:lnTo>
                  <a:pt x="10914" y="13086"/>
                </a:lnTo>
              </a:path>
            </a:pathLst>
          </a:custGeom>
          <a:noFill/>
          <a:ln w="41910" cap="rnd">
            <a:solidFill>
              <a:schemeClr val="accent1"/>
            </a:solidFill>
            <a:round/>
          </a:ln>
          <a:effectLst/>
        </p:spPr>
        <p:txBody>
          <a:bodyPr/>
          <a:p/>
        </p:txBody>
      </p:sp>
      <p:sp>
        <p:nvSpPr>
          <p:cNvPr id="56" name="card.1.owner"/>
          <p:cNvSpPr txBox="1"/>
          <p:nvPr/>
        </p:nvSpPr>
        <p:spPr>
          <a:xfrm>
            <a:off x="1250229" y="1298448"/>
            <a:ext cx="819329" cy="332811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lead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card.2.owner"/>
          <p:cNvSpPr txBox="1"/>
          <p:nvPr/>
        </p:nvSpPr>
        <p:spPr>
          <a:xfrm>
            <a:off x="4251301" y="1298448"/>
            <a:ext cx="819329" cy="332811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lead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card.3.owner"/>
          <p:cNvSpPr txBox="1"/>
          <p:nvPr/>
        </p:nvSpPr>
        <p:spPr>
          <a:xfrm>
            <a:off x="7252373" y="1298448"/>
            <a:ext cx="819329" cy="500489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 owner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card.4.owner"/>
          <p:cNvSpPr txBox="1"/>
          <p:nvPr/>
        </p:nvSpPr>
        <p:spPr>
          <a:xfrm>
            <a:off x="10253444" y="1298448"/>
            <a:ext cx="819329" cy="332811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Field lead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0" name="rail.proof.rule"/>
          <p:cNvCxnSpPr/>
          <p:nvPr/>
        </p:nvCxnSpPr>
        <p:spPr>
          <a:xfrm>
            <a:off x="625035" y="5230367"/>
            <a:ext cx="1100289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</p:cxnSp>
      <p:sp>
        <p:nvSpPr>
          <p:cNvPr id="61" name="rail.proof.1"/>
          <p:cNvSpPr txBox="1"/>
          <p:nvPr/>
        </p:nvSpPr>
        <p:spPr>
          <a:xfrm>
            <a:off x="625035" y="5303519"/>
            <a:ext cx="2278650" cy="90188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 </a:t>
            </a: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Engagement lead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Proof 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Team named, data use signed, feeds agreed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If late 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Build waits on agreed feeds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rail.proof.2"/>
          <p:cNvSpPr txBox="1"/>
          <p:nvPr/>
        </p:nvSpPr>
        <p:spPr>
          <a:xfrm>
            <a:off x="3539427" y="5303519"/>
            <a:ext cx="2278650" cy="90188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 </a:t>
            </a: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 owner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Proof 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Medical and legal sign the approved source list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If late 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Gate one holds on sourcing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rail.proof.3"/>
          <p:cNvSpPr txBox="1"/>
          <p:nvPr/>
        </p:nvSpPr>
        <p:spPr>
          <a:xfrm>
            <a:off x="6453820" y="5303519"/>
            <a:ext cx="2278650" cy="90188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 </a:t>
            </a: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Medical reviewer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Proof 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North briefs signed each week before Monday calls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If late 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Unsigned briefs stop release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rail.proof.4"/>
          <p:cNvSpPr txBox="1"/>
          <p:nvPr/>
        </p:nvSpPr>
        <p:spPr>
          <a:xfrm>
            <a:off x="9368213" y="5303519"/>
            <a:ext cx="2278650" cy="901887"/>
          </a:xfrm>
          <a:prstGeom prst="rect">
            <a:avLst/>
          </a:prstGeom>
          <a:noFill/>
          <a:effectLst/>
        </p:spPr>
        <p:txBody>
          <a:bodyPr wrap="square" lIns="0" tIns="0" rIns="0" bIns="0" anchor="t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Owner </a:t>
            </a: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Delivery manager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Proof 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Reps in all six regions read one signed brief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If late </a:t>
            </a:r>
            <a:r>
              <a:rPr lang="en-US" sz="11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Regions wait another cycle</a:t>
            </a:r>
            <a:endParaRPr lang="en-US" sz="11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69" name="ask.figure.1" descr="stat kind illustrative"/>
          <p:cNvGrpSpPr/>
          <p:nvPr/>
        </p:nvGrpSpPr>
        <p:grpSpPr>
          <a:xfrm>
            <a:off x="3446788" y="3200400"/>
            <a:ext cx="1824353" cy="829190"/>
            <a:chOff x="3446788" y="3200400"/>
            <a:chExt cx="1824353" cy="829190"/>
          </a:xfrm>
          <a:effectLst/>
        </p:grpSpPr>
        <p:sp>
          <p:nvSpPr>
            <p:cNvPr id="65" name="ask.figure.1.value"/>
            <p:cNvSpPr txBox="1"/>
            <p:nvPr/>
          </p:nvSpPr>
          <p:spPr>
            <a:xfrm>
              <a:off x="3446788" y="3200400"/>
              <a:ext cx="1824353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1,200</a:t>
              </a:r>
              <a:endPara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66" name="ask.figure.1.rule"/>
            <p:cNvCxnSpPr/>
            <p:nvPr/>
          </p:nvCxnSpPr>
          <p:spPr>
            <a:xfrm>
              <a:off x="3446788" y="3557085"/>
              <a:ext cx="1824353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67" name="ask.figure.1.label"/>
            <p:cNvSpPr txBox="1"/>
            <p:nvPr/>
          </p:nvSpPr>
          <p:spPr>
            <a:xfrm>
              <a:off x="3446788" y="3611949"/>
              <a:ext cx="1824353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field reps on one brief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8" name="ask.figure.1.basis"/>
            <p:cNvSpPr/>
            <p:nvPr/>
          </p:nvSpPr>
          <p:spPr>
            <a:xfrm>
              <a:off x="3446788" y="3819247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74" name="ask.figure.2" descr="stat kind illustrative"/>
          <p:cNvGrpSpPr/>
          <p:nvPr/>
        </p:nvGrpSpPr>
        <p:grpSpPr>
          <a:xfrm>
            <a:off x="5545461" y="3200400"/>
            <a:ext cx="1824353" cy="829190"/>
            <a:chOff x="5545461" y="3200400"/>
            <a:chExt cx="1824353" cy="829190"/>
          </a:xfrm>
          <a:effectLst/>
        </p:grpSpPr>
        <p:sp>
          <p:nvSpPr>
            <p:cNvPr id="70" name="ask.figure.2.value"/>
            <p:cNvSpPr txBox="1"/>
            <p:nvPr/>
          </p:nvSpPr>
          <p:spPr>
            <a:xfrm>
              <a:off x="5545461" y="3200400"/>
              <a:ext cx="1824353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6</a:t>
              </a:r>
              <a:endPara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71" name="ask.figure.2.rule"/>
            <p:cNvCxnSpPr/>
            <p:nvPr/>
          </p:nvCxnSpPr>
          <p:spPr>
            <a:xfrm>
              <a:off x="5545461" y="3557085"/>
              <a:ext cx="1824353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72" name="ask.figure.2.label"/>
            <p:cNvSpPr txBox="1"/>
            <p:nvPr/>
          </p:nvSpPr>
          <p:spPr>
            <a:xfrm>
              <a:off x="5545461" y="3611949"/>
              <a:ext cx="1824353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regions briefed weekly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3" name="ask.figure.2.basis"/>
            <p:cNvSpPr/>
            <p:nvPr/>
          </p:nvSpPr>
          <p:spPr>
            <a:xfrm>
              <a:off x="5545461" y="3819247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79" name="ask.figure.3" descr="stat kind illustrative"/>
          <p:cNvGrpSpPr/>
          <p:nvPr/>
        </p:nvGrpSpPr>
        <p:grpSpPr>
          <a:xfrm>
            <a:off x="7644134" y="3200400"/>
            <a:ext cx="1824353" cy="829190"/>
            <a:chOff x="7644134" y="3200400"/>
            <a:chExt cx="1824353" cy="829190"/>
          </a:xfrm>
          <a:effectLst/>
        </p:grpSpPr>
        <p:sp>
          <p:nvSpPr>
            <p:cNvPr id="75" name="ask.figure.3.value"/>
            <p:cNvSpPr txBox="1"/>
            <p:nvPr/>
          </p:nvSpPr>
          <p:spPr>
            <a:xfrm>
              <a:off x="7644134" y="3200400"/>
              <a:ext cx="1824353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 day</a:t>
              </a:r>
              <a:endPara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76" name="ask.figure.3.rule"/>
            <p:cNvCxnSpPr/>
            <p:nvPr/>
          </p:nvCxnSpPr>
          <p:spPr>
            <a:xfrm>
              <a:off x="7644134" y="3557085"/>
              <a:ext cx="1824353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77" name="ask.figure.3.label"/>
            <p:cNvSpPr txBox="1"/>
            <p:nvPr/>
          </p:nvSpPr>
          <p:spPr>
            <a:xfrm>
              <a:off x="7644134" y="3611949"/>
              <a:ext cx="1824353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signal to field, from five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8" name="ask.figure.3.basis"/>
            <p:cNvSpPr/>
            <p:nvPr/>
          </p:nvSpPr>
          <p:spPr>
            <a:xfrm>
              <a:off x="7644134" y="3819247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84" name="ask.figure.4" descr="stat kind illustrative"/>
          <p:cNvGrpSpPr/>
          <p:nvPr/>
        </p:nvGrpSpPr>
        <p:grpSpPr>
          <a:xfrm>
            <a:off x="9742807" y="3200400"/>
            <a:ext cx="1824353" cy="829190"/>
            <a:chOff x="9742807" y="3200400"/>
            <a:chExt cx="1824353" cy="829190"/>
          </a:xfrm>
          <a:effectLst/>
        </p:grpSpPr>
        <p:sp>
          <p:nvSpPr>
            <p:cNvPr id="80" name="ask.figure.4.value"/>
            <p:cNvSpPr txBox="1"/>
            <p:nvPr/>
          </p:nvSpPr>
          <p:spPr>
            <a:xfrm>
              <a:off x="9742807" y="3200400"/>
              <a:ext cx="1824353" cy="310965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kern="0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100%</a:t>
              </a:r>
              <a:endPara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81" name="ask.figure.4.rule"/>
            <p:cNvCxnSpPr/>
            <p:nvPr/>
          </p:nvCxnSpPr>
          <p:spPr>
            <a:xfrm>
              <a:off x="9742807" y="3557085"/>
              <a:ext cx="1824353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  <a:effectLst/>
          </p:spPr>
        </p:cxnSp>
        <p:sp>
          <p:nvSpPr>
            <p:cNvPr id="82" name="ask.figure.4.label"/>
            <p:cNvSpPr txBox="1"/>
            <p:nvPr/>
          </p:nvSpPr>
          <p:spPr>
            <a:xfrm>
              <a:off x="9742807" y="3611949"/>
              <a:ext cx="1824353" cy="15243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 rtlCol="0">
              <a:noAutofit/>
            </a:bodyPr>
            <a:lstStyle/>
            <a:p>
              <a:pPr marL="0" indent="0" lv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claims sourced and signed</a:t>
              </a:r>
              <a:endPara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83" name="ask.figure.4.basis"/>
            <p:cNvSpPr/>
            <p:nvPr/>
          </p:nvSpPr>
          <p:spPr>
            <a:xfrm>
              <a:off x="9742807" y="3819247"/>
              <a:ext cx="811329" cy="21034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tlCol="0" anchor="ctr" wrap="square" lIns="36576" tIns="0" rIns="36576" bIns="0">
              <a:noAutofit/>
            </a:bodyPr>
            <a:lstStyle/>
            <a:p>
              <a:pPr marL="0" indent="0"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/>
                  <a:ea typeface="Arial"/>
                  <a:cs typeface="Arial"/>
                </a:rPr>
                <a:t>Illustrative</a:t>
              </a:r>
              <a:endPara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losing:promise-panel-close">
    <p:spTree>
      <p:nvGrpSpPr>
        <p:cNvPr id="1" name=""/>
        <p:cNvGrpSpPr/>
        <p:nvPr/>
      </p:nvGrpSpPr>
      <p:grpSpPr/>
      <p:sp>
        <p:nvSpPr>
          <p:cNvPr id="2" name="bleed.panel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slot.headline"/>
          <p:cNvSpPr txBox="1"/>
          <p:nvPr/>
        </p:nvSpPr>
        <p:spPr>
          <a:xfrm>
            <a:off x="457200" y="1188720"/>
            <a:ext cx="6675120" cy="1700784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Approve the North pilot</a:t>
            </a:r>
            <a:r>
              <a:rPr lang="en-US" sz="34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so every rep hears competitor moves first</a:t>
            </a:r>
            <a:endParaRPr lang="en-US" sz="34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ot.contact.1.label"/>
          <p:cNvSpPr txBox="1"/>
          <p:nvPr/>
        </p:nvSpPr>
        <p:spPr>
          <a:xfrm>
            <a:off x="457200" y="3383280"/>
            <a:ext cx="5486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Quillmont approves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ot.contact.1.line"/>
          <p:cNvSpPr txBox="1"/>
          <p:nvPr/>
        </p:nvSpPr>
        <p:spPr>
          <a:xfrm>
            <a:off x="457200" y="3712464"/>
            <a:ext cx="548640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Field lead, medical reviewer and data owner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ot.contact.2.label"/>
          <p:cNvSpPr txBox="1"/>
          <p:nvPr/>
        </p:nvSpPr>
        <p:spPr>
          <a:xfrm>
            <a:off x="457200" y="4279392"/>
            <a:ext cx="54864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The firm delivers</a:t>
            </a:r>
            <a:endParaRPr lang="en-US" sz="1400" b="1" i="0" kern="0" dirty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lot.contact.2.line.1"/>
          <p:cNvSpPr txBox="1"/>
          <p:nvPr/>
        </p:nvSpPr>
        <p:spPr>
          <a:xfrm>
            <a:off x="457200" y="4608576"/>
            <a:ext cx="603504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Solution architect, agents, review queue and data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contact.2.line.2"/>
          <p:cNvSpPr txBox="1"/>
          <p:nvPr/>
        </p:nvSpPr>
        <p:spPr>
          <a:xfrm>
            <a:off x="457200" y="4937760"/>
            <a:ext cx="603504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Delivery manager, kickoff on 2 Nov 2026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lot.promise"/>
          <p:cNvSpPr txBox="1"/>
          <p:nvPr/>
        </p:nvSpPr>
        <p:spPr>
          <a:xfrm>
            <a:off x="8183879" y="2724912"/>
            <a:ext cx="3520440" cy="1920240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 sourced, medically signed brief in every rep's hands within one day of each move</a:t>
            </a:r>
            <a:endParaRPr lang="en-US" sz="2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lot.contact.2.line.3"/>
          <p:cNvSpPr txBox="1"/>
          <p:nvPr/>
        </p:nvSpPr>
        <p:spPr>
          <a:xfrm>
            <a:off x="457200" y="5266944"/>
            <a:ext cx="603504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0" dirty="0">
                <a:solidFill>
                  <a:schemeClr val="tx1">
                    <a:lumMod val="80000"/>
                    <a:lumOff val="20000"/>
                  </a:schemeClr>
                </a:solidFill>
                <a:latin typeface="Arial"/>
                <a:ea typeface="Arial"/>
                <a:cs typeface="Arial"/>
              </a:rPr>
              <a:t>Evaluation lead, sourcing checks on every brief</a:t>
            </a:r>
            <a:endParaRPr lang="en-US" sz="1300" b="0" i="0" kern="0" dirty="0">
              <a:solidFill>
                <a:schemeClr val="tx1">
                  <a:lumMod val="80000"/>
                  <a:lumOff val="2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ot.promise.icon"/>
          <p:cNvSpPr/>
          <p:nvPr/>
        </p:nvSpPr>
        <p:spPr>
          <a:xfrm>
            <a:off x="8183880" y="1956816"/>
            <a:ext cx="512064" cy="51206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cubicBezTo>
                  <a:pt x="22000" y="17523"/>
                  <a:pt x="17523" y="22000"/>
                  <a:pt x="12000" y="22000"/>
                </a:cubicBezTo>
                <a:cubicBezTo>
                  <a:pt x="6477" y="22000"/>
                  <a:pt x="2000" y="17523"/>
                  <a:pt x="2000" y="12000"/>
                </a:cubicBezTo>
                <a:cubicBezTo>
                  <a:pt x="2000" y="6477"/>
                  <a:pt x="6477" y="2000"/>
                  <a:pt x="12000" y="2000"/>
                </a:cubicBezTo>
                <a:cubicBezTo>
                  <a:pt x="17523" y="2000"/>
                  <a:pt x="22000" y="6477"/>
                  <a:pt x="22000" y="12000"/>
                </a:cubicBezTo>
                <a:close/>
                <a:moveTo>
                  <a:pt x="18000" y="12000"/>
                </a:moveTo>
                <a:cubicBezTo>
                  <a:pt x="18000" y="15314"/>
                  <a:pt x="15314" y="18000"/>
                  <a:pt x="12000" y="18000"/>
                </a:cubicBezTo>
                <a:cubicBezTo>
                  <a:pt x="8686" y="18000"/>
                  <a:pt x="6000" y="15314"/>
                  <a:pt x="6000" y="12000"/>
                </a:cubicBezTo>
                <a:cubicBezTo>
                  <a:pt x="6000" y="8686"/>
                  <a:pt x="8686" y="6000"/>
                  <a:pt x="12000" y="6000"/>
                </a:cubicBezTo>
                <a:cubicBezTo>
                  <a:pt x="15314" y="6000"/>
                  <a:pt x="18000" y="8686"/>
                  <a:pt x="18000" y="12000"/>
                </a:cubicBezTo>
                <a:close/>
                <a:moveTo>
                  <a:pt x="14000" y="12000"/>
                </a:moveTo>
                <a:cubicBezTo>
                  <a:pt x="14000" y="13105"/>
                  <a:pt x="13105" y="14000"/>
                  <a:pt x="12000" y="14000"/>
                </a:cubicBezTo>
                <a:cubicBezTo>
                  <a:pt x="10895" y="14000"/>
                  <a:pt x="10000" y="13105"/>
                  <a:pt x="10000" y="12000"/>
                </a:cubicBezTo>
                <a:cubicBezTo>
                  <a:pt x="10000" y="10895"/>
                  <a:pt x="10895" y="10000"/>
                  <a:pt x="12000" y="10000"/>
                </a:cubicBezTo>
                <a:cubicBezTo>
                  <a:pt x="13105" y="10000"/>
                  <a:pt x="14000" y="10895"/>
                  <a:pt x="14000" y="12000"/>
                </a:cubicBezTo>
                <a:close/>
              </a:path>
            </a:pathLst>
          </a:custGeom>
          <a:noFill/>
          <a:ln w="42545" cap="rnd">
            <a:solidFill>
              <a:schemeClr val="bg1"/>
            </a:solidFill>
            <a:round/>
          </a:ln>
          <a:effectLst/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moid">
  <a:themeElements>
    <a:clrScheme name="sigmoid">
      <a:dk1>
        <a:srgbClr val="000000"/>
      </a:dk1>
      <a:lt1>
        <a:srgbClr val="FFFFFF"/>
      </a:lt1>
      <a:dk2>
        <a:srgbClr val="4B5960"/>
      </a:dk2>
      <a:lt2>
        <a:srgbClr val="E7E6E6"/>
      </a:lt2>
      <a:accent1>
        <a:srgbClr val="D91E18"/>
      </a:accent1>
      <a:accent2>
        <a:srgbClr val="1E3C7D"/>
      </a:accent2>
      <a:accent3>
        <a:srgbClr val="00A0E9"/>
      </a:accent3>
      <a:accent4>
        <a:srgbClr val="A6A6A6"/>
      </a:accent4>
      <a:accent5>
        <a:srgbClr val="D9D9D9"/>
      </a:accent5>
      <a:accent6>
        <a:srgbClr val="6B7983"/>
      </a:accent6>
      <a:hlink>
        <a:srgbClr val="1E3C7D"/>
      </a:hlink>
      <a:folHlink>
        <a:srgbClr val="6B7983"/>
      </a:folHlink>
    </a:clrScheme>
    <a:fontScheme name="sigmoi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gmoi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65</Slides>
  <Company>Sigmoid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Quillmont showcase</dc:title>
  <dc:creator>Sigmoid</dc:creator>
  <cp:lastModifiedBy>Sigmoid</cp:lastModifiedBy>
  <cp:revision>1</cp:revision>
  <dcterms:created xsi:type="dcterms:W3CDTF">2026-10-04T00:00:00Z</dcterms:created>
  <dcterms:modified xsi:type="dcterms:W3CDTF">2026-10-04T00:00:00Z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eckkit:256">
    <vt:lpwstr>cover:stack-brand-field-motif</vt:lpwstr>
  </property>
  <property fmtid="{D5CDD505-2E9C-101B-9397-08002B2CF9AE}" pid="3" name="deckkit:257">
    <vt:lpwstr>agenda:numbered-rows-on-hairlines</vt:lpwstr>
  </property>
  <property fmtid="{D5CDD505-2E9C-101B-9397-08002B2CF9AE}" pid="4" name="deckkit:258">
    <vt:lpwstr>executive-summary:stat-band-columns-assumption-band</vt:lpwstr>
  </property>
  <property fmtid="{D5CDD505-2E9C-101B-9397-08002B2CF9AE}" pid="5" name="deckkit:259">
    <vt:lpwstr>section-divider:brand-block-numeral</vt:lpwstr>
  </property>
  <property fmtid="{D5CDD505-2E9C-101B-9397-08002B2CF9AE}" pid="6" name="deckkit:260">
    <vt:lpwstr>problem-framing:today-mandate-end-state</vt:lpwstr>
  </property>
  <property fmtid="{D5CDD505-2E9C-101B-9397-08002B2CF9AE}" pid="7" name="deckkit:261">
    <vt:lpwstr>as-is-process:process-boxes-numbered-pains-sizing-panel</vt:lpwstr>
  </property>
  <property fmtid="{D5CDD505-2E9C-101B-9397-08002B2CF9AE}" pid="8" name="deckkit:262">
    <vt:lpwstr>headline-figures:stat-band-stage-bars</vt:lpwstr>
  </property>
  <property fmtid="{D5CDD505-2E9C-101B-9397-08002B2CF9AE}" pid="9" name="deckkit:263">
    <vt:lpwstr>gap-analysis:as-built-cards-gap-rows-spine</vt:lpwstr>
  </property>
  <property fmtid="{D5CDD505-2E9C-101B-9397-08002B2CF9AE}" pid="10" name="deckkit:264">
    <vt:lpwstr>maturity-model:rising-curve-foundations-rail</vt:lpwstr>
  </property>
  <property fmtid="{D5CDD505-2E9C-101B-9397-08002B2CF9AE}" pid="11" name="deckkit:265">
    <vt:lpwstr>section-divider:brand-block-numeral</vt:lpwstr>
  </property>
  <property fmtid="{D5CDD505-2E9C-101B-9397-08002B2CF9AE}" pid="12" name="deckkit:266">
    <vt:lpwstr>from-to-shift:channel-mesh-to-agent-hub</vt:lpwstr>
  </property>
  <property fmtid="{D5CDD505-2E9C-101B-9397-08002B2CF9AE}" pid="13" name="deckkit:267">
    <vt:lpwstr>offering-pillars:pillar-artifact-wells</vt:lpwstr>
  </property>
  <property fmtid="{D5CDD505-2E9C-101B-9397-08002B2CF9AE}" pid="14" name="deckkit:268">
    <vt:lpwstr>hub-and-spoke:half-wheel-layered-base</vt:lpwstr>
  </property>
  <property fmtid="{D5CDD505-2E9C-101B-9397-08002B2CF9AE}" pid="15" name="deckkit:269">
    <vt:lpwstr>principles:principle-columns-proof-diagrams</vt:lpwstr>
  </property>
  <property fmtid="{D5CDD505-2E9C-101B-9397-08002B2CF9AE}" pid="16" name="deckkit:270">
    <vt:lpwstr>use-case-map:domain-tabs-agent-mesh</vt:lpwstr>
  </property>
  <property fmtid="{D5CDD505-2E9C-101B-9397-08002B2CF9AE}" pid="17" name="deckkit:271">
    <vt:lpwstr>deep-dive:stage-band-brief-rail</vt:lpwstr>
  </property>
  <property fmtid="{D5CDD505-2E9C-101B-9397-08002B2CF9AE}" pid="18" name="deckkit:272">
    <vt:lpwstr>options-comparison:scored-option-columns</vt:lpwstr>
  </property>
  <property fmtid="{D5CDD505-2E9C-101B-9397-08002B2CF9AE}" pid="19" name="deckkit:273">
    <vt:lpwstr>prioritization-matrix:value-effort-scatter-key</vt:lpwstr>
  </property>
  <property fmtid="{D5CDD505-2E9C-101B-9397-08002B2CF9AE}" pid="20" name="deckkit:274">
    <vt:lpwstr>section-divider:brand-block-numeral</vt:lpwstr>
  </property>
  <property fmtid="{D5CDD505-2E9C-101B-9397-08002B2CF9AE}" pid="21" name="deckkit:275">
    <vt:lpwstr>process-flow:chevron-stages-detail-panel</vt:lpwstr>
  </property>
  <property fmtid="{D5CDD505-2E9C-101B-9397-08002B2CF9AE}" pid="22" name="deckkit:276">
    <vt:lpwstr>input-process-output:gated-pipeline-stage-cards</vt:lpwstr>
  </property>
  <property fmtid="{D5CDD505-2E9C-101B-9397-08002B2CF9AE}" pid="23" name="deckkit:277">
    <vt:lpwstr>layered-architecture:arch-c4-container</vt:lpwstr>
  </property>
  <property fmtid="{D5CDD505-2E9C-101B-9397-08002B2CF9AE}" pid="24" name="deckkit:278">
    <vt:lpwstr>swimlane-handoff:stage-tabs-lanes-handoff-band</vt:lpwstr>
  </property>
  <property fmtid="{D5CDD505-2E9C-101B-9397-08002B2CF9AE}" pid="25" name="deckkit:279">
    <vt:lpwstr>worked-example:stage-columns-hub-trace</vt:lpwstr>
  </property>
  <property fmtid="{D5CDD505-2E9C-101B-9397-08002B2CF9AE}" pid="26" name="deckkit:280">
    <vt:lpwstr>convergence-hub:nested-core-feeders-outcomes</vt:lpwstr>
  </property>
  <property fmtid="{D5CDD505-2E9C-101B-9397-08002B2CF9AE}" pid="27" name="deckkit:281">
    <vt:lpwstr>decision-logic:slanted-lanes</vt:lpwstr>
  </property>
  <property fmtid="{D5CDD505-2E9C-101B-9397-08002B2CF9AE}" pid="28" name="deckkit:282">
    <vt:lpwstr>product-screen:device-on-band</vt:lpwstr>
  </property>
  <property fmtid="{D5CDD505-2E9C-101B-9397-08002B2CF9AE}" pid="29" name="deckkit:283">
    <vt:lpwstr>output-capture:parallel-pages</vt:lpwstr>
  </property>
  <property fmtid="{D5CDD505-2E9C-101B-9397-08002B2CF9AE}" pid="30" name="deckkit:284">
    <vt:lpwstr>reference-table:row-table-question-panel</vt:lpwstr>
  </property>
  <property fmtid="{D5CDD505-2E9C-101B-9397-08002B2CF9AE}" pid="31" name="deckkit:285">
    <vt:lpwstr>section-divider:brand-block-numeral</vt:lpwstr>
  </property>
  <property fmtid="{D5CDD505-2E9C-101B-9397-08002B2CF9AE}" pid="32" name="deckkit:286">
    <vt:lpwstr>layered-architecture:l0-house</vt:lpwstr>
  </property>
  <property fmtid="{D5CDD505-2E9C-101B-9397-08002B2CF9AE}" pid="33" name="deckkit:287">
    <vt:lpwstr>solution-architecture:aws-reference</vt:lpwstr>
  </property>
  <property fmtid="{D5CDD505-2E9C-101B-9397-08002B2CF9AE}" pid="34" name="deckkit:288">
    <vt:lpwstr>swimlane-handoff:arch-sequence</vt:lpwstr>
  </property>
  <property fmtid="{D5CDD505-2E9C-101B-9397-08002B2CF9AE}" pid="35" name="deckkit:289">
    <vt:lpwstr>solution-architecture:arch-c4-context</vt:lpwstr>
  </property>
  <property fmtid="{D5CDD505-2E9C-101B-9397-08002B2CF9AE}" pid="36" name="deckkit:290">
    <vt:lpwstr>solution-architecture:house-deep-dive</vt:lpwstr>
  </property>
  <property fmtid="{D5CDD505-2E9C-101B-9397-08002B2CF9AE}" pid="37" name="deckkit:291">
    <vt:lpwstr>convergence-hub:arch-events</vt:lpwstr>
  </property>
  <property fmtid="{D5CDD505-2E9C-101B-9397-08002B2CF9AE}" pid="38" name="deckkit:292">
    <vt:lpwstr>solution-architecture:arch-deploy-aws</vt:lpwstr>
  </property>
  <property fmtid="{D5CDD505-2E9C-101B-9397-08002B2CF9AE}" pid="39" name="deckkit:293">
    <vt:lpwstr>solution-architecture:arch-dfd</vt:lpwstr>
  </property>
  <property fmtid="{D5CDD505-2E9C-101B-9397-08002B2CF9AE}" pid="40" name="deckkit:294">
    <vt:lpwstr>process-flow:arch-cicd</vt:lpwstr>
  </property>
  <property fmtid="{D5CDD505-2E9C-101B-9397-08002B2CF9AE}" pid="41" name="deckkit:295">
    <vt:lpwstr>solution-architecture:arch-mlops</vt:lpwstr>
  </property>
  <property fmtid="{D5CDD505-2E9C-101B-9397-08002B2CF9AE}" pid="42" name="deckkit:296">
    <vt:lpwstr>input-process-output:arch-medallion</vt:lpwstr>
  </property>
  <property fmtid="{D5CDD505-2E9C-101B-9397-08002B2CF9AE}" pid="43" name="deckkit:297">
    <vt:lpwstr>solution-architecture:arch-dr-aws</vt:lpwstr>
  </property>
  <property fmtid="{D5CDD505-2E9C-101B-9397-08002B2CF9AE}" pid="44" name="deckkit:298">
    <vt:lpwstr>solution-architecture:arch-current-target</vt:lpwstr>
  </property>
  <property fmtid="{D5CDD505-2E9C-101B-9397-08002B2CF9AE}" pid="45" name="deckkit:299">
    <vt:lpwstr>decision-logic:arch-state</vt:lpwstr>
  </property>
  <property fmtid="{D5CDD505-2E9C-101B-9397-08002B2CF9AE}" pid="46" name="deckkit:300">
    <vt:lpwstr>solution-architecture:azure-reference</vt:lpwstr>
  </property>
  <property fmtid="{D5CDD505-2E9C-101B-9397-08002B2CF9AE}" pid="47" name="deckkit:301">
    <vt:lpwstr>solution-architecture:arch-deploy-azure</vt:lpwstr>
  </property>
  <property fmtid="{D5CDD505-2E9C-101B-9397-08002B2CF9AE}" pid="48" name="deckkit:302">
    <vt:lpwstr>section-divider:brand-block-numeral</vt:lpwstr>
  </property>
  <property fmtid="{D5CDD505-2E9C-101B-9397-08002B2CF9AE}" pid="49" name="deckkit:303">
    <vt:lpwstr>engagement-model:stage-panels-gate-cards-shared-strip</vt:lpwstr>
  </property>
  <property fmtid="{D5CDD505-2E9C-101B-9397-08002B2CF9AE}" pid="50" name="deckkit:304">
    <vt:lpwstr>gantt:milestone-axis-phase-cards</vt:lpwstr>
  </property>
  <property fmtid="{D5CDD505-2E9C-101B-9397-08002B2CF9AE}" pid="51" name="deckkit:305">
    <vt:lpwstr>phased-roadmap:phase-lane-milestone-axis-stat-row</vt:lpwstr>
  </property>
  <property fmtid="{D5CDD505-2E9C-101B-9397-08002B2CF9AE}" pid="52" name="deckkit:306">
    <vt:lpwstr>governance-model:forum-calendars-escalation</vt:lpwstr>
  </property>
  <property fmtid="{D5CDD505-2E9C-101B-9397-08002B2CF9AE}" pid="53" name="deckkit:307">
    <vt:lpwstr>lifecycle-loop:gated-rail-phase-columns-loop</vt:lpwstr>
  </property>
  <property fmtid="{D5CDD505-2E9C-101B-9397-08002B2CF9AE}" pid="54" name="deckkit:308">
    <vt:lpwstr>scope-and-assumptions:paired-scope-panels-bands</vt:lpwstr>
  </property>
  <property fmtid="{D5CDD505-2E9C-101B-9397-08002B2CF9AE}" pid="55" name="deckkit:309">
    <vt:lpwstr>coverage-matrix:stepped-header-bars-tabbed-rows-control-band</vt:lpwstr>
  </property>
  <property fmtid="{D5CDD505-2E9C-101B-9397-08002B2CF9AE}" pid="56" name="deckkit:310">
    <vt:lpwstr>section-divider:brand-block-numeral</vt:lpwstr>
  </property>
  <property fmtid="{D5CDD505-2E9C-101B-9397-08002B2CF9AE}" pid="57" name="deckkit:311">
    <vt:lpwstr>why-us:numbered-cards-enabler-band</vt:lpwstr>
  </property>
  <property fmtid="{D5CDD505-2E9C-101B-9397-08002B2CF9AE}" pid="58" name="deckkit:312">
    <vt:lpwstr>credentials:stat-band-mark-wall</vt:lpwstr>
  </property>
  <property fmtid="{D5CDD505-2E9C-101B-9397-08002B2CF9AE}" pid="59" name="deckkit:313">
    <vt:lpwstr>case-study:need-build-before-after</vt:lpwstr>
  </property>
  <property fmtid="{D5CDD505-2E9C-101B-9397-08002B2CF9AE}" pid="60" name="deckkit:314">
    <vt:lpwstr>case-wall:icon-case-columns-stat-close</vt:lpwstr>
  </property>
  <property fmtid="{D5CDD505-2E9C-101B-9397-08002B2CF9AE}" pid="61" name="deckkit:315">
    <vt:lpwstr>team-roster:paired-counterparts-bracket</vt:lpwstr>
  </property>
  <property fmtid="{D5CDD505-2E9C-101B-9397-08002B2CF9AE}" pid="62" name="deckkit:316">
    <vt:lpwstr>commercials:price-bridge-panel</vt:lpwstr>
  </property>
  <property fmtid="{D5CDD505-2E9C-101B-9397-08002B2CF9AE}" pid="63" name="deckkit:317">
    <vt:lpwstr>value-horizons:reach-line-horizon-cards</vt:lpwstr>
  </property>
  <property fmtid="{D5CDD505-2E9C-101B-9397-08002B2CF9AE}" pid="64" name="deckkit:318">
    <vt:lpwstr>catalogue:agent-columns-flow-strip-platform-band</vt:lpwstr>
  </property>
  <property fmtid="{D5CDD505-2E9C-101B-9397-08002B2CF9AE}" pid="65" name="deckkit:319">
    <vt:lpwstr>the-ask:decision-cards-rail</vt:lpwstr>
  </property>
  <property fmtid="{D5CDD505-2E9C-101B-9397-08002B2CF9AE}" pid="66" name="deckkit:320">
    <vt:lpwstr>closing:promise-panel-close</vt:lpwstr>
  </property>
</Properties>
</file>